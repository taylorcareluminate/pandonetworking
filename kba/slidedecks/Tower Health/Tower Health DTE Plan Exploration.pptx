
<file path=[Content_Types].xml><?xml version="1.0" encoding="utf-8"?>
<Types xmlns="http://schemas.openxmlformats.org/package/2006/content-types">
  <Default Extension="emf" ContentType="image/x-emf"/>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6.xml" ContentType="application/vnd.openxmlformats-officedocument.presentationml.tags+xml"/>
  <Override PartName="/ppt/comments/modernComment_7FE53189_F808901F.xml" ContentType="application/vnd.ms-powerpoint.comments+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FE53192_3C36F9F4.xml" ContentType="application/vnd.ms-powerpoint.comments+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0"/>
  </p:notesMasterIdLst>
  <p:sldIdLst>
    <p:sldId id="588" r:id="rId10"/>
    <p:sldId id="454" r:id="rId11"/>
    <p:sldId id="549" r:id="rId12"/>
    <p:sldId id="2145726869" r:id="rId13"/>
    <p:sldId id="452" r:id="rId14"/>
    <p:sldId id="466" r:id="rId15"/>
    <p:sldId id="2145726867" r:id="rId16"/>
    <p:sldId id="559" r:id="rId17"/>
    <p:sldId id="580" r:id="rId18"/>
    <p:sldId id="582" r:id="rId19"/>
    <p:sldId id="558" r:id="rId20"/>
    <p:sldId id="548" r:id="rId21"/>
    <p:sldId id="564" r:id="rId22"/>
    <p:sldId id="499" r:id="rId23"/>
    <p:sldId id="613" r:id="rId24"/>
    <p:sldId id="458" r:id="rId25"/>
    <p:sldId id="2145726859" r:id="rId26"/>
    <p:sldId id="2145726857" r:id="rId27"/>
    <p:sldId id="469" r:id="rId28"/>
    <p:sldId id="2145726856" r:id="rId29"/>
    <p:sldId id="614" r:id="rId30"/>
    <p:sldId id="281" r:id="rId31"/>
    <p:sldId id="283" r:id="rId32"/>
    <p:sldId id="285" r:id="rId33"/>
    <p:sldId id="2145726866" r:id="rId34"/>
    <p:sldId id="583" r:id="rId35"/>
    <p:sldId id="525" r:id="rId36"/>
    <p:sldId id="2145726868" r:id="rId37"/>
    <p:sldId id="571" r:id="rId38"/>
    <p:sldId id="2145726864" r:id="rId39"/>
    <p:sldId id="585" r:id="rId40"/>
    <p:sldId id="536" r:id="rId41"/>
    <p:sldId id="256" r:id="rId42"/>
    <p:sldId id="574" r:id="rId43"/>
    <p:sldId id="572" r:id="rId44"/>
    <p:sldId id="575" r:id="rId45"/>
    <p:sldId id="498" r:id="rId46"/>
    <p:sldId id="326" r:id="rId47"/>
    <p:sldId id="491" r:id="rId48"/>
    <p:sldId id="472" r:id="rId49"/>
  </p:sldIdLst>
  <p:sldSz cx="12192000" cy="6858000"/>
  <p:notesSz cx="7315200" cy="9601200"/>
  <p:custDataLst>
    <p:tags r:id="rId5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D49A48-FDF0-48E5-A552-51726F47B001}" v="11" dt="2025-06-27T23:04:52.618"/>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p:scale>
          <a:sx n="75" d="100"/>
          <a:sy n="75" d="100"/>
        </p:scale>
        <p:origin x="1710" y="576"/>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presProps" Target="presProps.xml"/><Relationship Id="rId58" Type="http://schemas.microsoft.com/office/2018/10/relationships/authors" Target="authors.xml"/><Relationship Id="rId5" Type="http://schemas.openxmlformats.org/officeDocument/2006/relationships/slideMaster" Target="slideMasters/slideMaster2.xml"/><Relationship Id="rId19" Type="http://schemas.openxmlformats.org/officeDocument/2006/relationships/slide" Target="slides/slide1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tags" Target="tags/tag1.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microsoft.com/office/2015/10/relationships/revisionInfo" Target="revisionInfo.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commentAuthors" Target="commentAuthors.xml"/></Relationships>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1.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s>
</file>

<file path=ppt/diagrams/_rels/drawing1.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6/27/2025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7</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1 of updates provided by Jan, but update design to match the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2 of updated ppt provided by Jan, but update to match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72758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Make necessary changes to match slide 4 of updated ppt provided by Jan</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50662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6/27/2025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6/27/2025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6/27/2025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6/27/2025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6/27/2025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6/27/2025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6/27/2025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6/27/2025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6/27/2025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6/27/2025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6/27/2025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6/27/2025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6/27/2025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6/27/2025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6/27/2025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6/27/2025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6/27/2025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6/27/2025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6/27/2025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6/27/2025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6/27/2025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6/27/2025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6/27/2025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6/27/2025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6/27/2025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6/27/2025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6/27/2025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6/27/2025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6/27/2025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6/27/2025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6/27/2025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6/27/2025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6/27/2025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6/27/2025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6/27/2025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6/27/2025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6/27/2025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6/27/2025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6/27/2025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6/27/2025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6/27/2025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6/27/2025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6/27/2025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6/27/2025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6/27/2025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6/27/2025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ags" Target="../tags/tag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6" Type="http://schemas.openxmlformats.org/officeDocument/2006/relationships/tags" Target="../tags/tag5.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theme" Target="../theme/theme6.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6/27/2025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6/27/2025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6/27/2025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6/27/2025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svg"/><Relationship Id="rId18" Type="http://schemas.openxmlformats.org/officeDocument/2006/relationships/image" Target="../media/image32.png"/><Relationship Id="rId3" Type="http://schemas.openxmlformats.org/officeDocument/2006/relationships/image" Target="../media/image17.png"/><Relationship Id="rId21" Type="http://schemas.openxmlformats.org/officeDocument/2006/relationships/image" Target="../media/image35.svg"/><Relationship Id="rId7" Type="http://schemas.openxmlformats.org/officeDocument/2006/relationships/image" Target="../media/image21.svg"/><Relationship Id="rId12" Type="http://schemas.openxmlformats.org/officeDocument/2006/relationships/image" Target="../media/image26.svg"/><Relationship Id="rId17" Type="http://schemas.openxmlformats.org/officeDocument/2006/relationships/image" Target="../media/image31.svg"/><Relationship Id="rId2" Type="http://schemas.openxmlformats.org/officeDocument/2006/relationships/notesSlide" Target="../notesSlides/notesSlide2.xml"/><Relationship Id="rId16" Type="http://schemas.openxmlformats.org/officeDocument/2006/relationships/image" Target="../media/image30.png"/><Relationship Id="rId20"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svg"/><Relationship Id="rId19" Type="http://schemas.openxmlformats.org/officeDocument/2006/relationships/image" Target="../media/image33.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slideLayout" Target="../slideLayouts/slideLayout14.xml"/><Relationship Id="rId1" Type="http://schemas.openxmlformats.org/officeDocument/2006/relationships/tags" Target="../tags/tag6.xml"/><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Layout" Target="../slideLayouts/slideLayout4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5.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8/10/relationships/comments" Target="../comments/modernComment_7FE53189_F808901F.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8" Type="http://schemas.openxmlformats.org/officeDocument/2006/relationships/image" Target="../media/image57.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6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59.png"/></Relationships>
</file>

<file path=ppt/slides/_rels/slide2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7.xml"/><Relationship Id="rId1" Type="http://schemas.openxmlformats.org/officeDocument/2006/relationships/slideLayout" Target="../slideLayouts/slideLayout28.xml"/><Relationship Id="rId6" Type="http://schemas.openxmlformats.org/officeDocument/2006/relationships/image" Target="../media/image63.emf"/><Relationship Id="rId5" Type="http://schemas.openxmlformats.org/officeDocument/2006/relationships/image" Target="../media/image62.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66.svg"/><Relationship Id="rId5" Type="http://schemas.openxmlformats.org/officeDocument/2006/relationships/image" Target="../media/image65.png"/><Relationship Id="rId4" Type="http://schemas.openxmlformats.org/officeDocument/2006/relationships/image" Target="../media/image64.jpe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67.png"/></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jpeg"/><Relationship Id="rId1" Type="http://schemas.openxmlformats.org/officeDocument/2006/relationships/slideLayout" Target="../slideLayouts/slideLayout2.xml"/><Relationship Id="rId6" Type="http://schemas.openxmlformats.org/officeDocument/2006/relationships/image" Target="../media/image71.jpeg"/><Relationship Id="rId5" Type="http://schemas.openxmlformats.org/officeDocument/2006/relationships/image" Target="../media/image70.jpeg"/><Relationship Id="rId4" Type="http://schemas.microsoft.com/office/2007/relationships/hdphoto" Target="../media/hdphoto1.wdp"/></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72.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2.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0.xml.rels><?xml version="1.0" encoding="UTF-8" standalone="yes"?>
<Relationships xmlns="http://schemas.openxmlformats.org/package/2006/relationships"><Relationship Id="rId8" Type="http://schemas.openxmlformats.org/officeDocument/2006/relationships/image" Target="../media/image79.svg"/><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image" Target="../media/image77.svg"/><Relationship Id="rId11" Type="http://schemas.openxmlformats.org/officeDocument/2006/relationships/image" Target="../media/image10.png"/><Relationship Id="rId5" Type="http://schemas.openxmlformats.org/officeDocument/2006/relationships/image" Target="../media/image76.png"/><Relationship Id="rId10" Type="http://schemas.openxmlformats.org/officeDocument/2006/relationships/image" Target="../media/image81.svg"/><Relationship Id="rId4" Type="http://schemas.openxmlformats.org/officeDocument/2006/relationships/image" Target="../media/image75.svg"/><Relationship Id="rId9" Type="http://schemas.openxmlformats.org/officeDocument/2006/relationships/image" Target="../media/image8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Tower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592372" y="3693371"/>
            <a:ext cx="2053120"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Northwest Health Plan</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cstate="print"/>
          <a:stretch>
            <a:fillRect/>
          </a:stretch>
        </p:blipFill>
        <p:spPr>
          <a:xfrm>
            <a:off x="9646920" y="347472"/>
            <a:ext cx="2004169"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cstate="screen">
            <a:alphaModFix amt="35000"/>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b="0" dirty="0">
                <a:solidFill>
                  <a:schemeClr val="tx1">
                    <a:lumMod val="75000"/>
                    <a:lumOff val="25000"/>
                  </a:schemeClr>
                </a:solidFill>
              </a:rPr>
              <a:t>Profit Generation for Tower Health</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5</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latin typeface="Montserrat" panose="00000500000000000000" pitchFamily="2" charset="0"/>
            </a:endParaRPr>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2422202"/>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Patient Steerage</a:t>
            </a:r>
          </a:p>
          <a:p>
            <a:pPr algn="ctr" defTabSz="914411">
              <a:lnSpc>
                <a:spcPct val="90000"/>
              </a:lnSpc>
              <a:spcAft>
                <a:spcPts val="1200"/>
              </a:spcAft>
              <a:buClr>
                <a:schemeClr val="tx1"/>
              </a:buClr>
            </a:pPr>
            <a:r>
              <a:rPr lang="en-US" sz="1600" dirty="0">
                <a:latin typeface="Montserrat" panose="00000500000000000000" pitchFamily="2" charset="0"/>
              </a:rPr>
              <a:t>Covered members of the Key Incentive Plan are more likely to seek services with Tower Health than they would be on another PPO plan because they receive indemnity benefits and the financing credit card. </a:t>
            </a:r>
          </a:p>
          <a:p>
            <a:pPr algn="ctr" defTabSz="914411">
              <a:lnSpc>
                <a:spcPct val="90000"/>
              </a:lnSpc>
              <a:spcAft>
                <a:spcPts val="1200"/>
              </a:spcAft>
              <a:buClr>
                <a:schemeClr val="tx1"/>
              </a:buClr>
            </a:pPr>
            <a:r>
              <a:rPr lang="en-US" sz="1600" dirty="0">
                <a:latin typeface="Montserrat" panose="00000500000000000000" pitchFamily="2" charset="0"/>
              </a:rPr>
              <a:t>These incentives increase Tower Health’s commercial market share and commercial profit within this plan.</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2200602"/>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Increased Margin</a:t>
            </a:r>
          </a:p>
          <a:p>
            <a:pPr algn="ctr" defTabSz="914411">
              <a:lnSpc>
                <a:spcPct val="90000"/>
              </a:lnSpc>
              <a:spcAft>
                <a:spcPts val="1200"/>
              </a:spcAft>
              <a:buClr>
                <a:schemeClr val="tx1"/>
              </a:buClr>
            </a:pPr>
            <a:r>
              <a:rPr lang="en-US" sz="1600" dirty="0">
                <a:latin typeface="Montserrat" panose="00000500000000000000" pitchFamily="2" charset="0"/>
              </a:rPr>
              <a:t>Because of the partnership with Key Benefits, and because patients have a financing path for out-of-pocket medical costs, Tower Health can expect higher realized revenue per patient from members of the Key Incentive Plan. </a:t>
            </a:r>
          </a:p>
          <a:p>
            <a:pPr algn="ctr" defTabSz="914411">
              <a:lnSpc>
                <a:spcPct val="90000"/>
              </a:lnSpc>
              <a:spcAft>
                <a:spcPts val="1200"/>
              </a:spcAft>
              <a:buClr>
                <a:schemeClr val="tx1"/>
              </a:buClr>
            </a:pPr>
            <a:r>
              <a:rPr lang="en-US" sz="1600" dirty="0">
                <a:latin typeface="Montserrat" panose="00000500000000000000" pitchFamily="2" charset="0"/>
              </a:rPr>
              <a:t>This partnership increases Tower Health’s realized revenue per patient and lowers collection costs. </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2</a:t>
            </a:r>
          </a:p>
        </p:txBody>
      </p:sp>
    </p:spTree>
    <p:extLst>
      <p:ext uri="{BB962C8B-B14F-4D97-AF65-F5344CB8AC3E}">
        <p14:creationId xmlns:p14="http://schemas.microsoft.com/office/powerpoint/2010/main" val="4059548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Tower Health</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2">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pic>
        <p:nvPicPr>
          <p:cNvPr id="9" name="Content Placeholder 8"/>
          <p:cNvPicPr>
            <a:picLocks noGrp="1"/>
          </p:cNvPicPr>
          <p:nvPr>
            <p:ph/>
          </p:nvPr>
        </p:nvPicPr>
        <p:blipFill>
          <a:blip r:embed="rId2" cstate="print"/>
          <a:stretch>
            <a:fillRect/>
          </a:stretch>
        </p:blipFill>
        <p:spPr>
          <a:xfrm>
            <a:off x="-795866" y="1981200"/>
            <a:ext cx="6096000" cy="4876800"/>
          </a:xfrm>
          <a:prstGeom prst="rect">
            <a:avLst/>
          </a:prstGeom>
        </p:spPr>
      </p:pic>
      <p:sp>
        <p:nvSpPr>
          <p:cNvPr id="10" name="TextBox 9">
            <a:extLst>
              <a:ext uri="{FF2B5EF4-FFF2-40B4-BE49-F238E27FC236}">
                <a16:creationId xmlns:a16="http://schemas.microsoft.com/office/drawing/2014/main" id="{0DD7AA09-9A31-AEDE-09B9-3C9168729FA0}"/>
              </a:ext>
            </a:extLst>
          </p:cNvPr>
          <p:cNvSpPr txBox="1"/>
          <p:nvPr/>
        </p:nvSpPr>
        <p:spPr>
          <a:xfrm>
            <a:off x="315945" y="1296509"/>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3,920 Employers       900,000</a:t>
            </a:r>
            <a:r>
              <a:rPr lang="en-US" sz="1800" spc="200" dirty="0">
                <a:latin typeface="+mj-lt"/>
                <a:cs typeface="+mj-cs"/>
                <a:sym typeface="Wingdings" panose="05000000000000000000" pitchFamily="2" charset="2"/>
              </a:rPr>
              <a:t>+ Employees       1,400,000+ Members</a:t>
            </a:r>
            <a:endParaRPr lang="en-US" dirty="0"/>
          </a:p>
        </p:txBody>
      </p:sp>
      <p:sp>
        <p:nvSpPr>
          <p:cNvPr id="11" name="Arrow: Chevron 10">
            <a:extLst>
              <a:ext uri="{FF2B5EF4-FFF2-40B4-BE49-F238E27FC236}">
                <a16:creationId xmlns:a16="http://schemas.microsoft.com/office/drawing/2014/main" id="{EB3AD534-F5E2-9F48-F16D-4E7DB376F837}"/>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Arrow: Chevron 11">
            <a:extLst>
              <a:ext uri="{FF2B5EF4-FFF2-40B4-BE49-F238E27FC236}">
                <a16:creationId xmlns:a16="http://schemas.microsoft.com/office/drawing/2014/main" id="{91F94605-69D9-2BA6-04EC-D35D8C2D4351}"/>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graphicFrame>
        <p:nvGraphicFramePr>
          <p:cNvPr id="13" name="Table 12">
            <a:extLst>
              <a:ext uri="{FF2B5EF4-FFF2-40B4-BE49-F238E27FC236}">
                <a16:creationId xmlns:a16="http://schemas.microsoft.com/office/drawing/2014/main" id="{1B8CE1BB-AE14-4279-4354-5BD41F652EE9}"/>
              </a:ext>
            </a:extLst>
          </p:cNvPr>
          <p:cNvGraphicFramePr>
            <a:graphicFrameLocks noGrp="1"/>
          </p:cNvGraphicFramePr>
          <p:nvPr>
            <p:extLst>
              <p:ext uri="{D42A27DB-BD31-4B8C-83A1-F6EECF244321}">
                <p14:modId xmlns:p14="http://schemas.microsoft.com/office/powerpoint/2010/main" val="2024974317"/>
              </p:ext>
            </p:extLst>
          </p:nvPr>
        </p:nvGraphicFramePr>
        <p:xfrm>
          <a:off x="4889297" y="2140949"/>
          <a:ext cx="6949427" cy="4273027"/>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272206">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Total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440748">
                <a:tc>
                  <a:txBody>
                    <a:bodyPr/>
                    <a:lstStyle/>
                    <a:p>
                      <a:pPr algn="l" fontAlgn="b"/>
                      <a:r>
                        <a:rPr lang="en-US" sz="1100" b="0" i="0" u="none" strike="noStrike" dirty="0">
                          <a:solidFill>
                            <a:srgbClr val="000000"/>
                          </a:solidFill>
                          <a:effectLst/>
                          <a:latin typeface="Aptos Narrow" panose="020B0004020202020204" pitchFamily="34"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Tower Health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934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351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257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162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52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56</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43507">
                <a:tc>
                  <a:txBody>
                    <a:bodyPr/>
                    <a:lstStyle/>
                    <a:p>
                      <a:pPr algn="l" fontAlgn="b"/>
                      <a:r>
                        <a:rPr lang="en-US" sz="1100" b="0" i="0" u="none" strike="noStrike">
                          <a:solidFill>
                            <a:srgbClr val="000000"/>
                          </a:solidFill>
                          <a:effectLst/>
                          <a:latin typeface="Aptos Narrow" panose="020B0004020202020204" pitchFamily="34" charset="0"/>
                        </a:rPr>
                        <a:t>Within 11-20 Miles of Tower Health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1,179</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463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295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167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43</a:t>
                      </a:r>
                    </a:p>
                  </a:txBody>
                  <a:tcPr marL="9525" marR="9525" marT="9525" marB="0" anchor="b">
                    <a:lnL>
                      <a:noFill/>
                    </a:lnL>
                    <a:lnR>
                      <a:noFill/>
                    </a:lnR>
                    <a:lnT>
                      <a:noFill/>
                    </a:lnT>
                    <a:lnB>
                      <a:noFill/>
                    </a:lnB>
                    <a:noFill/>
                  </a:tcPr>
                </a:tc>
                <a:extLst>
                  <a:ext uri="{0D108BD9-81ED-4DB2-BD59-A6C34878D82A}">
                    <a16:rowId xmlns:a16="http://schemas.microsoft.com/office/drawing/2014/main" val="3588716138"/>
                  </a:ext>
                </a:extLst>
              </a:tr>
              <a:tr h="243507">
                <a:tc>
                  <a:txBody>
                    <a:bodyPr/>
                    <a:lstStyle/>
                    <a:p>
                      <a:pPr algn="l" fontAlgn="b"/>
                      <a:r>
                        <a:rPr lang="en-US" sz="1100" b="0" i="0" u="none" strike="noStrike">
                          <a:solidFill>
                            <a:srgbClr val="000000"/>
                          </a:solidFill>
                          <a:effectLst/>
                          <a:latin typeface="Aptos Narrow" panose="020B0004020202020204" pitchFamily="34" charset="0"/>
                        </a:rPr>
                        <a:t>Within 21-30 Miles of Tower Health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222</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83</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59</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26</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7</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4</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330736"/>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440748">
                <a:tc>
                  <a:txBody>
                    <a:bodyPr/>
                    <a:lstStyle/>
                    <a:p>
                      <a:pPr algn="l" fontAlgn="b"/>
                      <a:r>
                        <a:rPr lang="en-US" sz="1100" b="0" i="0" u="none" strike="noStrike" dirty="0">
                          <a:solidFill>
                            <a:srgbClr val="000000"/>
                          </a:solidFill>
                          <a:effectLst/>
                          <a:latin typeface="Aptos Narrow" panose="020B0004020202020204" pitchFamily="34" charset="0"/>
                        </a:rPr>
                        <a:t>Employees at Above Firms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43507">
                <a:tc>
                  <a:txBody>
                    <a:bodyPr/>
                    <a:lstStyle/>
                    <a:p>
                      <a:pPr algn="l" fontAlgn="b"/>
                      <a:r>
                        <a:rPr lang="en-US" sz="1100" b="0" i="0" u="none" strike="noStrike">
                          <a:solidFill>
                            <a:srgbClr val="000000"/>
                          </a:solidFill>
                          <a:effectLst/>
                          <a:latin typeface="Aptos Narrow" panose="020B0004020202020204" pitchFamily="34" charset="0"/>
                        </a:rPr>
                        <a:t>Within 10 Miles of Tower Health Hospital</a:t>
                      </a:r>
                    </a:p>
                  </a:txBody>
                  <a:tcPr marL="9525" marR="9525" marT="9525" marB="0" anchor="b">
                    <a:lnL>
                      <a:noFill/>
                    </a:lnL>
                    <a:lnR>
                      <a:noFill/>
                    </a:lnR>
                    <a:lnT>
                      <a:noFill/>
                    </a:lnT>
                    <a:lnB>
                      <a:noFill/>
                    </a:lnB>
                    <a:no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70,050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52,650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77,100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113,400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104,000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504,000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43507">
                <a:tc>
                  <a:txBody>
                    <a:bodyPr/>
                    <a:lstStyle/>
                    <a:p>
                      <a:pPr algn="l" fontAlgn="b"/>
                      <a:r>
                        <a:rPr lang="en-US" sz="1100" b="0" i="0" u="none" strike="noStrike">
                          <a:solidFill>
                            <a:srgbClr val="000000"/>
                          </a:solidFill>
                          <a:effectLst/>
                          <a:latin typeface="Aptos Narrow" panose="020B0004020202020204" pitchFamily="34" charset="0"/>
                        </a:rPr>
                        <a:t>Within 11-20 Miles of Tower Health Hospital</a:t>
                      </a:r>
                    </a:p>
                  </a:txBody>
                  <a:tcPr marL="9525" marR="9525" marT="9525" marB="0" anchor="b">
                    <a:lnL>
                      <a:noFill/>
                    </a:lnL>
                    <a:lnR>
                      <a:noFill/>
                    </a:lnR>
                    <a:lnT>
                      <a:noFill/>
                    </a:lnT>
                    <a:lnB>
                      <a:noFill/>
                    </a:lnB>
                    <a:no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88,425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69,450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88,500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116,900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120,000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387,000</a:t>
                      </a:r>
                    </a:p>
                  </a:txBody>
                  <a:tcPr marL="9525" marR="9525" marT="9525" marB="0" anchor="b">
                    <a:lnL>
                      <a:noFill/>
                    </a:lnL>
                    <a:lnR>
                      <a:noFill/>
                    </a:lnR>
                    <a:lnT>
                      <a:noFill/>
                    </a:lnT>
                    <a:lnB>
                      <a:noFill/>
                    </a:lnB>
                    <a:noFill/>
                  </a:tcPr>
                </a:tc>
                <a:extLst>
                  <a:ext uri="{0D108BD9-81ED-4DB2-BD59-A6C34878D82A}">
                    <a16:rowId xmlns:a16="http://schemas.microsoft.com/office/drawing/2014/main" val="1517699855"/>
                  </a:ext>
                </a:extLst>
              </a:tr>
              <a:tr h="243507">
                <a:tc>
                  <a:txBody>
                    <a:bodyPr/>
                    <a:lstStyle/>
                    <a:p>
                      <a:pPr algn="l" fontAlgn="b"/>
                      <a:r>
                        <a:rPr lang="en-US" sz="1100" b="0" i="0" u="none" strike="noStrike">
                          <a:solidFill>
                            <a:srgbClr val="000000"/>
                          </a:solidFill>
                          <a:effectLst/>
                          <a:latin typeface="Aptos Narrow" panose="020B0004020202020204" pitchFamily="34" charset="0"/>
                        </a:rPr>
                        <a:t>Within 21-30 Miles of Tower Health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rtl="0" fontAlgn="b"/>
                      <a:r>
                        <a:rPr lang="en-US" sz="1100" b="0" i="0" u="none" strike="noStrike" dirty="0">
                          <a:solidFill>
                            <a:srgbClr val="000000"/>
                          </a:solidFill>
                          <a:effectLst/>
                          <a:latin typeface="Aptos Narrow" panose="020B0004020202020204" pitchFamily="34" charset="0"/>
                        </a:rPr>
                        <a:t>16,650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rtl="0" fontAlgn="b"/>
                      <a:r>
                        <a:rPr lang="en-US" sz="1100" b="0" i="0" u="none" strike="noStrike" dirty="0">
                          <a:solidFill>
                            <a:srgbClr val="000000"/>
                          </a:solidFill>
                          <a:effectLst/>
                          <a:latin typeface="Aptos Narrow" panose="020B0004020202020204" pitchFamily="34" charset="0"/>
                        </a:rPr>
                        <a:t>12,450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rtl="0" fontAlgn="b"/>
                      <a:r>
                        <a:rPr lang="en-US" sz="1100" b="0" i="0" u="none" strike="noStrike" dirty="0">
                          <a:solidFill>
                            <a:srgbClr val="000000"/>
                          </a:solidFill>
                          <a:effectLst/>
                          <a:latin typeface="Aptos Narrow" panose="020B0004020202020204" pitchFamily="34" charset="0"/>
                        </a:rPr>
                        <a:t>17,700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rtl="0" fontAlgn="b"/>
                      <a:r>
                        <a:rPr lang="en-US" sz="1100" b="0" i="0" u="none" strike="noStrike" dirty="0">
                          <a:solidFill>
                            <a:srgbClr val="000000"/>
                          </a:solidFill>
                          <a:effectLst/>
                          <a:latin typeface="Aptos Narrow" panose="020B0004020202020204" pitchFamily="34" charset="0"/>
                        </a:rPr>
                        <a:t>18,200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rtl="0" fontAlgn="b"/>
                      <a:r>
                        <a:rPr lang="en-US" sz="1100" b="0" i="0" u="none" strike="noStrike" dirty="0">
                          <a:solidFill>
                            <a:srgbClr val="000000"/>
                          </a:solidFill>
                          <a:effectLst/>
                          <a:latin typeface="Aptos Narrow" panose="020B0004020202020204" pitchFamily="34" charset="0"/>
                        </a:rPr>
                        <a:t>14,000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rtl="0" fontAlgn="b"/>
                      <a:r>
                        <a:rPr lang="en-US" sz="1100" b="0" i="0" u="none" strike="noStrike" dirty="0">
                          <a:solidFill>
                            <a:srgbClr val="000000"/>
                          </a:solidFill>
                          <a:effectLst/>
                          <a:latin typeface="Aptos Narrow" panose="020B0004020202020204" pitchFamily="34" charset="0"/>
                        </a:rPr>
                        <a:t>36,000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794521340"/>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440748">
                <a:tc>
                  <a:txBody>
                    <a:bodyPr/>
                    <a:lstStyle/>
                    <a:p>
                      <a:pPr algn="l" fontAlgn="b"/>
                      <a:r>
                        <a:rPr lang="en-US" sz="1100" b="0" i="0" u="none" strike="noStrike" dirty="0">
                          <a:solidFill>
                            <a:srgbClr val="000000"/>
                          </a:solidFill>
                          <a:effectLst/>
                          <a:latin typeface="Aptos Narrow" panose="020B0004020202020204" pitchFamily="34" charset="0"/>
                        </a:rPr>
                        <a:t>Total Members at Firms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43507">
                <a:tc>
                  <a:txBody>
                    <a:bodyPr/>
                    <a:lstStyle/>
                    <a:p>
                      <a:pPr algn="l" fontAlgn="b"/>
                      <a:r>
                        <a:rPr lang="en-US" sz="1100" b="0" i="0" u="none" strike="noStrike">
                          <a:solidFill>
                            <a:srgbClr val="000000"/>
                          </a:solidFill>
                          <a:effectLst/>
                          <a:latin typeface="Aptos Narrow" panose="020B0004020202020204" pitchFamily="34" charset="0"/>
                        </a:rPr>
                        <a:t>Within 10 Miles of Tower Health Hospital</a:t>
                      </a:r>
                    </a:p>
                  </a:txBody>
                  <a:tcPr marL="9525" marR="9525" marT="9525" marB="0" anchor="b">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112,080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84,240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123,360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181,440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166,400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806,400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r h="243507">
                <a:tc>
                  <a:txBody>
                    <a:bodyPr/>
                    <a:lstStyle/>
                    <a:p>
                      <a:pPr algn="l" fontAlgn="b"/>
                      <a:r>
                        <a:rPr lang="en-US" sz="1100" b="0" i="0" u="none" strike="noStrike">
                          <a:solidFill>
                            <a:srgbClr val="000000"/>
                          </a:solidFill>
                          <a:effectLst/>
                          <a:latin typeface="Aptos Narrow" panose="020B0004020202020204" pitchFamily="34" charset="0"/>
                        </a:rPr>
                        <a:t>Within 11-20 Miles of Tower Health Hospital</a:t>
                      </a:r>
                    </a:p>
                  </a:txBody>
                  <a:tcPr marL="9525" marR="9525" marT="9525" marB="0" anchor="b">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141,480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111,120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141,600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187,040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192,000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619,200</a:t>
                      </a:r>
                    </a:p>
                  </a:txBody>
                  <a:tcPr marL="9525" marR="9525" marT="9525" marB="0" anchor="b">
                    <a:lnL>
                      <a:noFill/>
                    </a:lnL>
                    <a:lnR>
                      <a:noFill/>
                    </a:lnR>
                    <a:lnT>
                      <a:noFill/>
                    </a:lnT>
                    <a:lnB>
                      <a:noFill/>
                    </a:lnB>
                    <a:noFill/>
                  </a:tcPr>
                </a:tc>
                <a:extLst>
                  <a:ext uri="{0D108BD9-81ED-4DB2-BD59-A6C34878D82A}">
                    <a16:rowId xmlns:a16="http://schemas.microsoft.com/office/drawing/2014/main" val="3037142275"/>
                  </a:ext>
                </a:extLst>
              </a:tr>
              <a:tr h="243507">
                <a:tc>
                  <a:txBody>
                    <a:bodyPr/>
                    <a:lstStyle/>
                    <a:p>
                      <a:pPr algn="l" fontAlgn="b"/>
                      <a:r>
                        <a:rPr lang="en-US" sz="1100" b="0" i="0" u="none" strike="noStrike">
                          <a:solidFill>
                            <a:srgbClr val="000000"/>
                          </a:solidFill>
                          <a:effectLst/>
                          <a:latin typeface="Aptos Narrow" panose="020B0004020202020204" pitchFamily="34" charset="0"/>
                        </a:rPr>
                        <a:t>Within 21-30 Miles of Tower Health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rtl="0" fontAlgn="b"/>
                      <a:r>
                        <a:rPr lang="en-US" sz="1100" b="0" i="0" u="none" strike="noStrike" dirty="0">
                          <a:solidFill>
                            <a:srgbClr val="000000"/>
                          </a:solidFill>
                          <a:effectLst/>
                          <a:latin typeface="Aptos Narrow" panose="020B0004020202020204" pitchFamily="34" charset="0"/>
                        </a:rPr>
                        <a:t>26,640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rtl="0" fontAlgn="b"/>
                      <a:r>
                        <a:rPr lang="en-US" sz="1100" b="0" i="0" u="none" strike="noStrike" dirty="0">
                          <a:solidFill>
                            <a:srgbClr val="000000"/>
                          </a:solidFill>
                          <a:effectLst/>
                          <a:latin typeface="Aptos Narrow" panose="020B0004020202020204" pitchFamily="34" charset="0"/>
                        </a:rPr>
                        <a:t>19,920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rtl="0" fontAlgn="b"/>
                      <a:r>
                        <a:rPr lang="en-US" sz="1100" b="0" i="0" u="none" strike="noStrike" dirty="0">
                          <a:solidFill>
                            <a:srgbClr val="000000"/>
                          </a:solidFill>
                          <a:effectLst/>
                          <a:latin typeface="Aptos Narrow" panose="020B0004020202020204" pitchFamily="34" charset="0"/>
                        </a:rPr>
                        <a:t>28,320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rtl="0" fontAlgn="b"/>
                      <a:r>
                        <a:rPr lang="en-US" sz="1100" b="0" i="0" u="none" strike="noStrike" dirty="0">
                          <a:solidFill>
                            <a:srgbClr val="000000"/>
                          </a:solidFill>
                          <a:effectLst/>
                          <a:latin typeface="Aptos Narrow" panose="020B0004020202020204" pitchFamily="34" charset="0"/>
                        </a:rPr>
                        <a:t>29,120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rtl="0" fontAlgn="b"/>
                      <a:r>
                        <a:rPr lang="en-US" sz="1100" b="0" i="0" u="none" strike="noStrike" dirty="0">
                          <a:solidFill>
                            <a:srgbClr val="000000"/>
                          </a:solidFill>
                          <a:effectLst/>
                          <a:latin typeface="Aptos Narrow" panose="020B0004020202020204" pitchFamily="34" charset="0"/>
                        </a:rPr>
                        <a:t>22,400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rtl="0" fontAlgn="b"/>
                      <a:r>
                        <a:rPr lang="en-US" sz="1100" b="0" i="0" u="none" strike="noStrike" dirty="0">
                          <a:solidFill>
                            <a:srgbClr val="000000"/>
                          </a:solidFill>
                          <a:effectLst/>
                          <a:latin typeface="Aptos Narrow" panose="020B0004020202020204" pitchFamily="34" charset="0"/>
                        </a:rPr>
                        <a:t>57,600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545027535"/>
                  </a:ext>
                </a:extLst>
              </a:tr>
            </a:tbl>
          </a:graphicData>
        </a:graphic>
      </p:graphicFrame>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Tower Health service area in Berks, Bucks, Chester, Delaware, Lancaster, Lebanon, Lehigh, Montgomery, Philadelphia, and Schuylkill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3,071K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1,802K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1,364K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790K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$10.34M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$2.15M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$56M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$12.57M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$108.39M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$24.5M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707886"/>
          </a:xfrm>
          <a:prstGeom prst="rect">
            <a:avLst/>
          </a:prstGeom>
          <a:noFill/>
        </p:spPr>
        <p:txBody>
          <a:bodyPr wrap="square" rtlCol="0">
            <a:spAutoFit/>
          </a:bodyPr>
          <a:lstStyle/>
          <a:p>
            <a:r>
              <a:rPr lang="en-US" sz="1000" dirty="0">
                <a:solidFill/>
                <a:latin typeface="Montserrat" panose="00000500000000000000" pitchFamily="2" charset="0"/>
              </a:rPr>
              <a:t>KBA currently estimates that Tower Health has 5% inpatient market share, and 3% outpatient market compared to hospitals/clinics in the Tower Health service area (see slide 8). KBA estimates that members will choose Tower Health with 20%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Tower 27%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16.6%</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21.6%</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26.6%</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cstate="print"/>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867.3K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1,780.3K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2,920.5K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4,380.3K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560.1K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1,647.1K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2,817.3K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4,315.5K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14,500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1,323.8K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2,647.6K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4,380.8K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6,616.0K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174.0K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1,028.6K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2,537.2K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4,316.0K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6,610.0K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456.5K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867.3K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1,460.3K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2,190.1K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138.5K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710.1K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1,318.7K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2,067.7K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57AD-9D57-0448-105A-79BA8850085E}"/>
              </a:ext>
            </a:extLst>
          </p:cNvPr>
          <p:cNvSpPr>
            <a:spLocks noGrp="1"/>
          </p:cNvSpPr>
          <p:nvPr>
            <p:ph type="title"/>
          </p:nvPr>
        </p:nvSpPr>
        <p:spPr>
          <a:xfrm>
            <a:off x="215573" y="136525"/>
            <a:ext cx="11590512" cy="1325563"/>
          </a:xfrm>
        </p:spPr>
        <p:txBody>
          <a:bodyPr>
            <a:noAutofit/>
          </a:bodyPr>
          <a:lstStyle/>
          <a:p>
            <a:pPr>
              <a:lnSpc>
                <a:spcPct val="100000"/>
              </a:lnSpc>
              <a:spcBef>
                <a:spcPts val="1800"/>
              </a:spcBef>
              <a:spcAft>
                <a:spcPts val="600"/>
              </a:spcAft>
            </a:pPr>
            <a:r>
              <a:rPr lang="en-US" sz="3600" dirty="0">
                <a:solidFill>
                  <a:srgbClr val="000B2E"/>
                </a:solidFill>
                <a:cs typeface="Arial" panose="020B0604020202020204" pitchFamily="34" charset="0"/>
              </a:rPr>
              <a:t>BRAND LOYALTY CONCERNS</a:t>
            </a:r>
            <a:endParaRPr lang="en-US" sz="1400" dirty="0">
              <a:solidFill>
                <a:schemeClr val="tx1">
                  <a:lumMod val="75000"/>
                  <a:lumOff val="25000"/>
                </a:schemeClr>
              </a:solidFill>
              <a:cs typeface="Arial" panose="020B0604020202020204" pitchFamily="34" charset="0"/>
            </a:endParaRPr>
          </a:p>
        </p:txBody>
      </p:sp>
      <p:sp>
        <p:nvSpPr>
          <p:cNvPr id="3"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ontserrat" panose="00000500000000000000" pitchFamily="2" charset="0"/>
              </a:rPr>
              <a:t>Based on quality measures and HCAHPS feedback, KBA estimates that Tower has the strongest brand quality in Berks, Bucks, Chester, Delaware, Lancaster, Lebanon, Lehigh, Montgomery, Philadelphia, and Schuylkill Counties.</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3535759553"/>
              </p:ext>
            </p:extLst>
          </p:nvPr>
        </p:nvGraphicFramePr>
        <p:xfrm>
          <a:off x="521596" y="1276269"/>
          <a:ext cx="8317603" cy="5016202"/>
        </p:xfrm>
        <a:graphic>
          <a:graphicData uri="http://schemas.openxmlformats.org/drawingml/2006/table">
            <a:tbl>
              <a:tblPr/>
              <a:tblGrid>
                <a:gridCol w="2527633">
                  <a:extLst>
                    <a:ext uri="{9D8B030D-6E8A-4147-A177-3AD203B41FA5}">
                      <a16:colId xmlns:a16="http://schemas.microsoft.com/office/drawing/2014/main" val="20000"/>
                    </a:ext>
                  </a:extLst>
                </a:gridCol>
                <a:gridCol w="1478156">
                  <a:extLst>
                    <a:ext uri="{9D8B030D-6E8A-4147-A177-3AD203B41FA5}">
                      <a16:colId xmlns:a16="http://schemas.microsoft.com/office/drawing/2014/main" val="20001"/>
                    </a:ext>
                  </a:extLst>
                </a:gridCol>
                <a:gridCol w="989799">
                  <a:extLst>
                    <a:ext uri="{9D8B030D-6E8A-4147-A177-3AD203B41FA5}">
                      <a16:colId xmlns:a16="http://schemas.microsoft.com/office/drawing/2014/main" val="20002"/>
                    </a:ext>
                  </a:extLst>
                </a:gridCol>
                <a:gridCol w="957923">
                  <a:extLst>
                    <a:ext uri="{9D8B030D-6E8A-4147-A177-3AD203B41FA5}">
                      <a16:colId xmlns:a16="http://schemas.microsoft.com/office/drawing/2014/main" val="20003"/>
                    </a:ext>
                  </a:extLst>
                </a:gridCol>
                <a:gridCol w="1166002">
                  <a:extLst>
                    <a:ext uri="{9D8B030D-6E8A-4147-A177-3AD203B41FA5}">
                      <a16:colId xmlns:a16="http://schemas.microsoft.com/office/drawing/2014/main" val="20004"/>
                    </a:ext>
                  </a:extLst>
                </a:gridCol>
                <a:gridCol w="1198090">
                  <a:extLst>
                    <a:ext uri="{9D8B030D-6E8A-4147-A177-3AD203B41FA5}">
                      <a16:colId xmlns:a16="http://schemas.microsoft.com/office/drawing/2014/main" val="20005"/>
                    </a:ext>
                  </a:extLst>
                </a:gridCol>
              </a:tblGrid>
              <a:tr h="466447">
                <a:tc>
                  <a:txBody>
                    <a:bodyPr/>
                    <a:lstStyle/>
                    <a:p>
                      <a:pPr marL="63500" marR="63500" algn="l">
                        <a:lnSpc>
                          <a:spcPct val="100000"/>
                        </a:lnSpc>
                        <a:spcBef>
                          <a:spcPts val="500"/>
                        </a:spcBef>
                        <a:spcAft>
                          <a:spcPts val="500"/>
                        </a:spcAft>
                        <a:buNone/>
                      </a:pPr>
                      <a:r>
                        <a:rPr sz="800" b="1" i="0" u="none" cap="none">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a:solidFill>
                            <a:srgbClr val="000000">
                              <a:alpha val="100000"/>
                            </a:srgbClr>
                          </a:solidFill>
                          <a:latin typeface="Montserrat"/>
                          <a:cs typeface="Arial"/>
                          <a:sym typeface="Arial"/>
                        </a:rPr>
                        <a:t>HCAHPS</a:t>
                      </a:r>
                      <a:br>
                        <a:rPr sz="800" b="1" i="0" u="none" cap="none">
                          <a:solidFill>
                            <a:srgbClr val="000000">
                              <a:alpha val="100000"/>
                            </a:srgbClr>
                          </a:solidFill>
                          <a:latin typeface="Montserrat"/>
                          <a:cs typeface="Arial"/>
                          <a:sym typeface="Arial"/>
                        </a:rPr>
                      </a:br>
                      <a:r>
                        <a:rPr sz="800" b="1" i="0" u="none" cap="none">
                          <a:solidFill>
                            <a:srgbClr val="000000">
                              <a:alpha val="100000"/>
                            </a:srgbClr>
                          </a:solidFill>
                          <a:latin typeface="Montserrat"/>
                          <a:cs typeface="Arial"/>
                          <a:sym typeface="Arial"/>
                        </a:rPr>
                        <a:t>Recommendation</a:t>
                      </a:r>
                      <a:br>
                        <a:rPr sz="800" b="1" i="0" u="none" cap="none">
                          <a:solidFill>
                            <a:srgbClr val="000000">
                              <a:alpha val="100000"/>
                            </a:srgbClr>
                          </a:solidFill>
                          <a:latin typeface="Montserrat"/>
                          <a:cs typeface="Arial"/>
                          <a:sym typeface="Arial"/>
                        </a:rPr>
                      </a:br>
                      <a:r>
                        <a:rPr sz="8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dirty="0">
                          <a:solidFill>
                            <a:srgbClr val="000000">
                              <a:alpha val="100000"/>
                            </a:srgbClr>
                          </a:solidFill>
                          <a:latin typeface="Montserrat"/>
                          <a:cs typeface="Arial"/>
                          <a:sym typeface="Arial"/>
                        </a:rPr>
                        <a:t>CMS Stars</a:t>
                      </a:r>
                      <a:br>
                        <a:rPr sz="800" b="1" i="0" u="none" cap="none" dirty="0">
                          <a:solidFill>
                            <a:srgbClr val="000000">
                              <a:alpha val="100000"/>
                            </a:srgbClr>
                          </a:solidFill>
                          <a:latin typeface="Montserrat"/>
                          <a:cs typeface="Arial"/>
                          <a:sym typeface="Arial"/>
                        </a:rPr>
                      </a:br>
                      <a:r>
                        <a:rPr sz="800" b="1" i="0" u="none" cap="none" dirty="0">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a:solidFill>
                            <a:srgbClr val="000000">
                              <a:alpha val="100000"/>
                            </a:srgbClr>
                          </a:solidFill>
                          <a:latin typeface="Montserrat"/>
                          <a:cs typeface="Arial"/>
                          <a:sym typeface="Arial"/>
                        </a:rPr>
                        <a:t>Mortality</a:t>
                      </a:r>
                      <a:br>
                        <a:rPr sz="800" b="1" i="0" u="none" cap="none">
                          <a:solidFill>
                            <a:srgbClr val="000000">
                              <a:alpha val="100000"/>
                            </a:srgbClr>
                          </a:solidFill>
                          <a:latin typeface="Montserrat"/>
                          <a:cs typeface="Arial"/>
                          <a:sym typeface="Arial"/>
                        </a:rPr>
                      </a:br>
                      <a:r>
                        <a:rPr sz="8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a:solidFill>
                            <a:srgbClr val="000000">
                              <a:alpha val="100000"/>
                            </a:srgbClr>
                          </a:solidFill>
                          <a:latin typeface="Montserrat"/>
                          <a:cs typeface="Arial"/>
                          <a:sym typeface="Arial"/>
                        </a:rPr>
                        <a:t>Readmission</a:t>
                      </a:r>
                      <a:br>
                        <a:rPr sz="800" b="1" i="0" u="none" cap="none">
                          <a:solidFill>
                            <a:srgbClr val="000000">
                              <a:alpha val="100000"/>
                            </a:srgbClr>
                          </a:solidFill>
                          <a:latin typeface="Montserrat"/>
                          <a:cs typeface="Arial"/>
                          <a:sym typeface="Arial"/>
                        </a:rPr>
                      </a:br>
                      <a:r>
                        <a:rPr sz="8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a:solidFill>
                            <a:srgbClr val="000000">
                              <a:alpha val="100000"/>
                            </a:srgbClr>
                          </a:solidFill>
                          <a:latin typeface="Montserrat"/>
                          <a:cs typeface="Arial"/>
                          <a:sym typeface="Arial"/>
                        </a:rPr>
                        <a:t>KBA Brand</a:t>
                      </a:r>
                      <a:br>
                        <a:rPr sz="800" b="1" i="0" u="none" cap="none">
                          <a:solidFill>
                            <a:srgbClr val="000000">
                              <a:alpha val="100000"/>
                            </a:srgbClr>
                          </a:solidFill>
                          <a:latin typeface="Montserrat"/>
                          <a:cs typeface="Arial"/>
                          <a:sym typeface="Arial"/>
                        </a:rPr>
                      </a:br>
                      <a:r>
                        <a:rPr sz="800" b="1" i="0" u="non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19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Doylestown Hospital</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89</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466AA5">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87</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986B6">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381B3">
                        <a:alpha val="100000"/>
                      </a:srgbClr>
                    </a:solidFill>
                  </a:tcPr>
                </a:tc>
                <a:extLst>
                  <a:ext uri="{0D108BD9-81ED-4DB2-BD59-A6C34878D82A}">
                    <a16:rowId xmlns:a16="http://schemas.microsoft.com/office/drawing/2014/main" val="10001"/>
                  </a:ext>
                </a:extLst>
              </a:tr>
              <a:tr h="212233">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Penn Medicine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82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576AD">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98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345B9D">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81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777AE">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986B6">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986B6">
                        <a:alpha val="100000"/>
                      </a:srgbClr>
                    </a:solidFill>
                  </a:tcPr>
                </a:tc>
                <a:extLst>
                  <a:ext uri="{0D108BD9-81ED-4DB2-BD59-A6C34878D82A}">
                    <a16:rowId xmlns:a16="http://schemas.microsoft.com/office/drawing/2014/main" val="10002"/>
                  </a:ext>
                </a:extLst>
              </a:tr>
              <a:tr h="212233">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Main Line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583B4">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88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86CA6">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F7EB2">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extLst>
                  <a:ext uri="{0D108BD9-81ED-4DB2-BD59-A6C34878D82A}">
                    <a16:rowId xmlns:a16="http://schemas.microsoft.com/office/drawing/2014/main" val="10003"/>
                  </a:ext>
                </a:extLst>
              </a:tr>
              <a:tr h="22827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Other Independent Hospitals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100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30589B">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86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C6FA9">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extLst>
                  <a:ext uri="{0D108BD9-81ED-4DB2-BD59-A6C34878D82A}">
                    <a16:rowId xmlns:a16="http://schemas.microsoft.com/office/drawing/2014/main" val="10004"/>
                  </a:ext>
                </a:extLst>
              </a:tr>
              <a:tr h="270361">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St Lukes University Health Network</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100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30589B">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91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267A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extLst>
                  <a:ext uri="{0D108BD9-81ED-4DB2-BD59-A6C34878D82A}">
                    <a16:rowId xmlns:a16="http://schemas.microsoft.com/office/drawing/2014/main" val="10005"/>
                  </a:ext>
                </a:extLst>
              </a:tr>
              <a:tr h="21299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Penn State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extLst>
                  <a:ext uri="{0D108BD9-81ED-4DB2-BD59-A6C34878D82A}">
                    <a16:rowId xmlns:a16="http://schemas.microsoft.com/office/drawing/2014/main" val="10006"/>
                  </a:ext>
                </a:extLst>
              </a:tr>
              <a:tr h="212233">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Redeemer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583B4">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extLst>
                  <a:ext uri="{0D108BD9-81ED-4DB2-BD59-A6C34878D82A}">
                    <a16:rowId xmlns:a16="http://schemas.microsoft.com/office/drawing/2014/main" val="10007"/>
                  </a:ext>
                </a:extLst>
              </a:tr>
              <a:tr h="22819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Lehigh Valley Health Network</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84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172AB">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C88B8">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5A9CB">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extLst>
                  <a:ext uri="{0D108BD9-81ED-4DB2-BD59-A6C34878D82A}">
                    <a16:rowId xmlns:a16="http://schemas.microsoft.com/office/drawing/2014/main" val="10008"/>
                  </a:ext>
                </a:extLst>
              </a:tr>
              <a:tr h="22823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Department of Veterans Affairs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93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3E63A2">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D7CB1">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83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374AC">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extLst>
                  <a:ext uri="{0D108BD9-81ED-4DB2-BD59-A6C34878D82A}">
                    <a16:rowId xmlns:a16="http://schemas.microsoft.com/office/drawing/2014/main" val="10009"/>
                  </a:ext>
                </a:extLst>
              </a:tr>
              <a:tr h="229188">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Cooper University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43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5B7D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180B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DA3C8">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extLst>
                  <a:ext uri="{0D108BD9-81ED-4DB2-BD59-A6C34878D82A}">
                    <a16:rowId xmlns:a16="http://schemas.microsoft.com/office/drawing/2014/main" val="10010"/>
                  </a:ext>
                </a:extLst>
              </a:tr>
              <a:tr h="21299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Jefferson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37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2C1DA">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3A8CB">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extLst>
                  <a:ext uri="{0D108BD9-81ED-4DB2-BD59-A6C34878D82A}">
                    <a16:rowId xmlns:a16="http://schemas.microsoft.com/office/drawing/2014/main" val="10011"/>
                  </a:ext>
                </a:extLst>
              </a:tr>
              <a:tr h="270361">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Temple University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27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7D1E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DA3C8">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extLst>
                  <a:ext uri="{0D108BD9-81ED-4DB2-BD59-A6C34878D82A}">
                    <a16:rowId xmlns:a16="http://schemas.microsoft.com/office/drawing/2014/main" val="10012"/>
                  </a:ext>
                </a:extLst>
              </a:tr>
              <a:tr h="212233">
                <a:tc>
                  <a:txBody>
                    <a:bodyPr/>
                    <a:lstStyle/>
                    <a:p>
                      <a:pPr marL="63500" marR="63500" algn="l">
                        <a:lnSpc>
                          <a:spcPct val="100000"/>
                        </a:lnSpc>
                        <a:spcBef>
                          <a:spcPts val="500"/>
                        </a:spcBef>
                        <a:spcAft>
                          <a:spcPts val="500"/>
                        </a:spcAft>
                        <a:buNone/>
                      </a:pPr>
                      <a:r>
                        <a:rPr sz="800" b="1" i="0" u="none" cap="none" dirty="0">
                          <a:solidFill>
                            <a:srgbClr val="000000">
                              <a:alpha val="100000"/>
                            </a:srgbClr>
                          </a:solidFill>
                          <a:latin typeface="Montserrat"/>
                          <a:cs typeface="Arial"/>
                          <a:sym typeface="Arial"/>
                        </a:rPr>
                        <a:t>Tower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dirty="0">
                          <a:solidFill>
                            <a:srgbClr val="30589B">
                              <a:alpha val="100000"/>
                            </a:srgbClr>
                          </a:solidFill>
                          <a:latin typeface="Montserrat"/>
                          <a:cs typeface="Arial"/>
                          <a:sym typeface="Arial"/>
                        </a:rPr>
                        <a:t>24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DD6E7">
                        <a:alpha val="100000"/>
                      </a:srgbClr>
                    </a:solidFill>
                  </a:tcPr>
                </a:tc>
                <a:tc>
                  <a:txBody>
                    <a:bodyPr/>
                    <a:lstStyle/>
                    <a:p>
                      <a:pPr marL="63500" marR="63500" algn="ctr">
                        <a:lnSpc>
                          <a:spcPct val="100000"/>
                        </a:lnSpc>
                        <a:spcBef>
                          <a:spcPts val="500"/>
                        </a:spcBef>
                        <a:spcAft>
                          <a:spcPts val="500"/>
                        </a:spcAft>
                        <a:buNone/>
                      </a:pPr>
                      <a:r>
                        <a:rPr sz="800" b="1" i="0" u="none" cap="none" dirty="0">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800" b="1" i="0" u="none" cap="none" dirty="0">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800" b="1" i="0" u="none" cap="none" dirty="0">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800" b="1" i="0" u="none" cap="none" dirty="0">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extLst>
                  <a:ext uri="{0D108BD9-81ED-4DB2-BD59-A6C34878D82A}">
                    <a16:rowId xmlns:a16="http://schemas.microsoft.com/office/drawing/2014/main" val="10013"/>
                  </a:ext>
                </a:extLst>
              </a:tr>
              <a:tr h="22823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WellSpan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26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9D3E5">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100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30589B">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F7EB2">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F7EB2">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3A8CB">
                        <a:alpha val="100000"/>
                      </a:srgbClr>
                    </a:solidFill>
                  </a:tcPr>
                </a:tc>
                <a:extLst>
                  <a:ext uri="{0D108BD9-81ED-4DB2-BD59-A6C34878D82A}">
                    <a16:rowId xmlns:a16="http://schemas.microsoft.com/office/drawing/2014/main" val="10014"/>
                  </a:ext>
                </a:extLst>
              </a:tr>
              <a:tr h="212233">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Virtua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16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DE4EF">
                        <a:alpha val="10000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10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EAEEF5">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BAECF">
                        <a:alpha val="10000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7ABCD">
                        <a:alpha val="100000"/>
                      </a:srgbClr>
                    </a:solidFill>
                  </a:tcPr>
                </a:tc>
                <a:extLst>
                  <a:ext uri="{0D108BD9-81ED-4DB2-BD59-A6C34878D82A}">
                    <a16:rowId xmlns:a16="http://schemas.microsoft.com/office/drawing/2014/main" val="10015"/>
                  </a:ext>
                </a:extLst>
              </a:tr>
              <a:tr h="22819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Trinity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14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E2E7F1">
                        <a:alpha val="10000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33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AC7DE">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785B5">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BAECF">
                        <a:alpha val="100000"/>
                      </a:srgbClr>
                    </a:solidFill>
                  </a:tcPr>
                </a:tc>
                <a:extLst>
                  <a:ext uri="{0D108BD9-81ED-4DB2-BD59-A6C34878D82A}">
                    <a16:rowId xmlns:a16="http://schemas.microsoft.com/office/drawing/2014/main" val="10016"/>
                  </a:ext>
                </a:extLst>
              </a:tr>
              <a:tr h="22819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Prospect Medical Holdings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ECEFF6">
                        <a:alpha val="10000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583B4">
                        <a:alpha val="10000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47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DB0D0">
                        <a:alpha val="100000"/>
                      </a:srgbClr>
                    </a:solidFill>
                  </a:tcPr>
                </a:tc>
                <a:extLst>
                  <a:ext uri="{0D108BD9-81ED-4DB2-BD59-A6C34878D82A}">
                    <a16:rowId xmlns:a16="http://schemas.microsoft.com/office/drawing/2014/main" val="10017"/>
                  </a:ext>
                </a:extLst>
              </a:tr>
              <a:tr h="21299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Prime Healthcare Services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EEF1F7">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800" b="0" i="0" u="none" cap="none" dirty="0">
                          <a:solidFill>
                            <a:srgbClr val="30589B">
                              <a:alpha val="100000"/>
                            </a:srgbClr>
                          </a:solidFill>
                          <a:latin typeface="Montserrat"/>
                          <a:cs typeface="Arial"/>
                          <a:sym typeface="Arial"/>
                        </a:rPr>
                        <a:t>45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A1B3D2">
                        <a:alpha val="100000"/>
                      </a:srgbClr>
                    </a:solidFill>
                  </a:tcPr>
                </a:tc>
                <a:extLst>
                  <a:ext uri="{0D108BD9-81ED-4DB2-BD59-A6C34878D82A}">
                    <a16:rowId xmlns:a16="http://schemas.microsoft.com/office/drawing/2014/main" val="10018"/>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14</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23.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Tower’s approved site(s) with network integration, and development of Tower’s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21.6%.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21.6%.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21.6%.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21.6%.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21.6%.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21.6%.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21.6%.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21.6%.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206K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-284K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218K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$ 1,247K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$ 1,029K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269K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-102K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$ 2,495K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$ 2,058K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539K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126K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$1,092K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$ 6,236K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$ 5,144K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$ 1,347K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$1,111K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811K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$4,368K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$24,946K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$20,578K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$ 5,388K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$4,445K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$4,235K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$8,736K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$1,887K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$49,891K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$41,156K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$10,776K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$8,890K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$8,800K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Tower’s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Tower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Tower’s managed care with KBA’s programs positions Tower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Tower’s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Tower’s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Tower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19</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Credit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534623"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a:ln>
                  <a:noFill/>
                </a:ln>
                <a:solidFill>
                  <a:srgbClr val="00539F"/>
                </a:solidFill>
                <a:effectLst/>
                <a:uLnTx/>
                <a:uFillTx/>
                <a:latin typeface="Montserrat" panose="00000500000000000000" pitchFamily="2" charset="0"/>
                <a:ea typeface="+mj-ea"/>
                <a:cs typeface="+mj-cs"/>
              </a:rPr>
              <a:t>THE KBA HEALTHCARE CREDIT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16DA80FC-AC13-8B4D-1B26-8FFCCBE68854}"/>
              </a:ext>
            </a:extLst>
          </p:cNvPr>
          <p:cNvSpPr txBox="1">
            <a:spLocks/>
          </p:cNvSpPr>
          <p:nvPr/>
        </p:nvSpPr>
        <p:spPr>
          <a:xfrm>
            <a:off x="401217" y="172586"/>
            <a:ext cx="11534623" cy="807442"/>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dirty="0">
                <a:ln>
                  <a:noFill/>
                </a:ln>
                <a:solidFill>
                  <a:srgbClr val="44546A"/>
                </a:solidFill>
                <a:effectLst/>
                <a:uLnTx/>
                <a:uFillTx/>
                <a:latin typeface="Montserrat" panose="00000500000000000000" pitchFamily="2" charset="0"/>
                <a:ea typeface="+mj-ea"/>
                <a:cs typeface="+mj-cs"/>
              </a:rPr>
              <a:t>KEY INCENTIVE PLAN (KIP): </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2600" b="0" i="0" u="none" strike="noStrike" kern="1200" cap="none" spc="0" normalizeH="0" baseline="0" noProof="0" dirty="0">
                <a:ln>
                  <a:noFill/>
                </a:ln>
                <a:solidFill>
                  <a:prstClr val="black"/>
                </a:solidFill>
                <a:effectLst/>
                <a:uLnTx/>
                <a:uFillTx/>
                <a:latin typeface="Montserrat" panose="00000500000000000000" pitchFamily="2" charset="0"/>
                <a:ea typeface="+mj-ea"/>
                <a:cs typeface="Arial" panose="020B0604020202020204" pitchFamily="34" charset="0"/>
              </a:rPr>
              <a:t>BASE MEDICAL + BONUS BENEFITS = YOUR DEDUCTIBLE CAN SIMPLY VANISH</a:t>
            </a:r>
          </a:p>
          <a:p>
            <a:pPr marL="0" marR="0" lvl="0" indent="0" algn="ctr" defTabSz="914400" rtl="0" eaLnBrk="1" fontAlgn="auto" latinLnBrk="0" hangingPunct="1">
              <a:lnSpc>
                <a:spcPct val="90000"/>
              </a:lnSpc>
              <a:spcBef>
                <a:spcPts val="1000"/>
              </a:spcBef>
              <a:spcAft>
                <a:spcPts val="0"/>
              </a:spcAft>
              <a:buClrTx/>
              <a:buSzTx/>
              <a:buFontTx/>
              <a:buNone/>
              <a:tabLst/>
              <a:defRPr/>
            </a:pPr>
            <a:endParaRPr kumimoji="0" lang="en-US" sz="3800" b="0" i="0" u="none" strike="noStrike" kern="1200" cap="none" spc="0" normalizeH="0" baseline="0" noProof="0" dirty="0">
              <a:ln>
                <a:noFill/>
              </a:ln>
              <a:solidFill>
                <a:prstClr val="black"/>
              </a:solidFill>
              <a:effectLst/>
              <a:uLnTx/>
              <a:uFillTx/>
              <a:latin typeface="Montserrat" panose="00000500000000000000" pitchFamily="2" charset="0"/>
              <a:ea typeface="+mj-ea"/>
              <a:cs typeface="+mj-cs"/>
            </a:endParaRPr>
          </a:p>
        </p:txBody>
      </p:sp>
      <p:sp>
        <p:nvSpPr>
          <p:cNvPr id="3" name="Slide Number Placeholder 3">
            <a:extLst>
              <a:ext uri="{FF2B5EF4-FFF2-40B4-BE49-F238E27FC236}">
                <a16:creationId xmlns:a16="http://schemas.microsoft.com/office/drawing/2014/main" id="{8B3A2443-C9A5-9840-65A4-36B20C47DD4C}"/>
              </a:ext>
            </a:extLst>
          </p:cNvPr>
          <p:cNvSpPr>
            <a:spLocks noGrp="1"/>
          </p:cNvSpPr>
          <p:nvPr>
            <p:ph type="sldNum" sz="quarter" idx="12"/>
          </p:nvPr>
        </p:nvSpPr>
        <p:spPr>
          <a:xfrm>
            <a:off x="9006827" y="626813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4" name="Picture 12">
            <a:extLst>
              <a:ext uri="{FF2B5EF4-FFF2-40B4-BE49-F238E27FC236}">
                <a16:creationId xmlns:a16="http://schemas.microsoft.com/office/drawing/2014/main" id="{E4909EF0-0675-CA57-8ADA-A19CD01D38EA}"/>
              </a:ext>
            </a:extLst>
          </p:cNvPr>
          <p:cNvPicPr>
            <a:picLocks noChangeAspect="1"/>
          </p:cNvPicPr>
          <p:nvPr/>
        </p:nvPicPr>
        <p:blipFill>
          <a:blip r:embed="rId3"/>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CA353A74-5D89-849A-9B03-BCFB396BAA13}"/>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9">
            <a:extLst>
              <a:ext uri="{FF2B5EF4-FFF2-40B4-BE49-F238E27FC236}">
                <a16:creationId xmlns:a16="http://schemas.microsoft.com/office/drawing/2014/main" id="{065E6D81-E529-3946-F4D6-5D6609CC0FE8}"/>
              </a:ext>
            </a:extLst>
          </p:cNvPr>
          <p:cNvGraphicFramePr>
            <a:graphicFrameLocks noGrp="1"/>
          </p:cNvGraphicFramePr>
          <p:nvPr/>
        </p:nvGraphicFramePr>
        <p:xfrm>
          <a:off x="401217" y="970995"/>
          <a:ext cx="11005538" cy="5271741"/>
        </p:xfrm>
        <a:graphic>
          <a:graphicData uri="http://schemas.openxmlformats.org/drawingml/2006/table">
            <a:tbl>
              <a:tblPr/>
              <a:tblGrid>
                <a:gridCol w="1330055">
                  <a:extLst>
                    <a:ext uri="{9D8B030D-6E8A-4147-A177-3AD203B41FA5}">
                      <a16:colId xmlns:a16="http://schemas.microsoft.com/office/drawing/2014/main" val="3195232096"/>
                    </a:ext>
                  </a:extLst>
                </a:gridCol>
                <a:gridCol w="1699612">
                  <a:extLst>
                    <a:ext uri="{9D8B030D-6E8A-4147-A177-3AD203B41FA5}">
                      <a16:colId xmlns:a16="http://schemas.microsoft.com/office/drawing/2014/main" val="1786901733"/>
                    </a:ext>
                  </a:extLst>
                </a:gridCol>
                <a:gridCol w="2400820">
                  <a:extLst>
                    <a:ext uri="{9D8B030D-6E8A-4147-A177-3AD203B41FA5}">
                      <a16:colId xmlns:a16="http://schemas.microsoft.com/office/drawing/2014/main" val="1392519372"/>
                    </a:ext>
                  </a:extLst>
                </a:gridCol>
                <a:gridCol w="1964908">
                  <a:extLst>
                    <a:ext uri="{9D8B030D-6E8A-4147-A177-3AD203B41FA5}">
                      <a16:colId xmlns:a16="http://schemas.microsoft.com/office/drawing/2014/main" val="660552617"/>
                    </a:ext>
                  </a:extLst>
                </a:gridCol>
                <a:gridCol w="156744">
                  <a:extLst>
                    <a:ext uri="{9D8B030D-6E8A-4147-A177-3AD203B41FA5}">
                      <a16:colId xmlns:a16="http://schemas.microsoft.com/office/drawing/2014/main" val="1136356776"/>
                    </a:ext>
                  </a:extLst>
                </a:gridCol>
                <a:gridCol w="2620433">
                  <a:extLst>
                    <a:ext uri="{9D8B030D-6E8A-4147-A177-3AD203B41FA5}">
                      <a16:colId xmlns:a16="http://schemas.microsoft.com/office/drawing/2014/main" val="713959702"/>
                    </a:ext>
                  </a:extLst>
                </a:gridCol>
                <a:gridCol w="832966">
                  <a:extLst>
                    <a:ext uri="{9D8B030D-6E8A-4147-A177-3AD203B41FA5}">
                      <a16:colId xmlns:a16="http://schemas.microsoft.com/office/drawing/2014/main" val="1233038709"/>
                    </a:ext>
                  </a:extLst>
                </a:gridCol>
              </a:tblGrid>
              <a:tr h="393475">
                <a:tc gridSpan="4">
                  <a:txBody>
                    <a:bodyPr/>
                    <a:lstStyle/>
                    <a:p>
                      <a:pPr algn="ctr" fontAlgn="b"/>
                      <a:r>
                        <a:rPr lang="en-US" sz="1200" b="1" i="0" u="none" strike="noStrike">
                          <a:solidFill>
                            <a:srgbClr val="000000"/>
                          </a:solidFill>
                          <a:effectLst/>
                          <a:latin typeface="Montserrat" panose="00000500000000000000" pitchFamily="2" charset="0"/>
                        </a:rPr>
                        <a:t>BENEFIT EXAMPLE</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a:txBody>
                    <a:bodyPr/>
                    <a:lstStyle/>
                    <a:p>
                      <a:pPr algn="l" fontAlgn="b"/>
                      <a:endParaRPr lang="en-US" sz="800" b="0" i="0" u="none" strike="noStrike">
                        <a:solidFill>
                          <a:srgbClr val="000000"/>
                        </a:solidFill>
                        <a:effectLst/>
                        <a:latin typeface="Montserrat" panose="00000500000000000000" pitchFamily="2" charset="0"/>
                      </a:endParaRPr>
                    </a:p>
                  </a:txBody>
                  <a:tcPr marL="7133" marR="7133" marT="7133" marB="0" anchor="b">
                    <a:lnL w="12700" cmpd="sng">
                      <a:noFill/>
                      <a:prstDash val="solid"/>
                    </a:lnL>
                    <a:lnR>
                      <a:noFill/>
                    </a:lnR>
                    <a:lnT>
                      <a:noFill/>
                    </a:lnT>
                    <a:lnB>
                      <a:noFill/>
                    </a:lnB>
                    <a:lnTlToBr w="12700" cmpd="sng">
                      <a:noFill/>
                      <a:prstDash val="solid"/>
                    </a:lnTlToBr>
                    <a:lnBlToTr w="12700" cmpd="sng">
                      <a:noFill/>
                      <a:prstDash val="solid"/>
                    </a:lnBlToTr>
                    <a:noFill/>
                  </a:tcPr>
                </a:tc>
                <a:tc gridSpan="2">
                  <a:txBody>
                    <a:bodyPr/>
                    <a:lstStyle/>
                    <a:p>
                      <a:pPr algn="ctr" fontAlgn="b"/>
                      <a:r>
                        <a:rPr lang="en-US" sz="1200" b="1" i="0" u="none" strike="noStrike">
                          <a:solidFill>
                            <a:srgbClr val="000000"/>
                          </a:solidFill>
                          <a:effectLst/>
                          <a:latin typeface="Montserrat" panose="00000500000000000000" pitchFamily="2" charset="0"/>
                        </a:rPr>
                        <a:t>CLAIM EXAMPLE  </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extLst>
                  <a:ext uri="{0D108BD9-81ED-4DB2-BD59-A6C34878D82A}">
                    <a16:rowId xmlns:a16="http://schemas.microsoft.com/office/drawing/2014/main" val="4091891274"/>
                  </a:ext>
                </a:extLst>
              </a:tr>
              <a:tr h="708259">
                <a:tc gridSpan="2">
                  <a:txBody>
                    <a:bodyPr/>
                    <a:lstStyle/>
                    <a:p>
                      <a:pPr algn="ctr" rtl="0" fontAlgn="ctr"/>
                      <a:r>
                        <a:rPr lang="en-US" sz="1400" b="1" i="0" u="none" strike="noStrike">
                          <a:solidFill>
                            <a:srgbClr val="FFFFFF"/>
                          </a:solidFill>
                          <a:effectLst/>
                          <a:latin typeface="Montserrat" panose="00000500000000000000" pitchFamily="2" charset="0"/>
                        </a:rPr>
                        <a:t>BASE MEDICAL BENEFITS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ctr"/>
                      <a:r>
                        <a:rPr lang="en-US" sz="1400" b="1" i="0" u="none" strike="noStrike">
                          <a:solidFill>
                            <a:srgbClr val="FFFFFF"/>
                          </a:solidFill>
                          <a:effectLst/>
                          <a:latin typeface="Montserrat" panose="00000500000000000000" pitchFamily="2" charset="0"/>
                        </a:rPr>
                        <a:t>BONUS BENEFITS</a:t>
                      </a:r>
                    </a:p>
                  </a:txBody>
                  <a:tcPr marL="7133" marR="7133" marT="7133"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9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400" b="1" i="0" u="none" strike="noStrike">
                          <a:solidFill>
                            <a:srgbClr val="FFFFFF"/>
                          </a:solidFill>
                          <a:effectLst/>
                          <a:latin typeface="Montserrat" panose="00000500000000000000" pitchFamily="2" charset="0"/>
                        </a:rPr>
                        <a:t>“How Your Deductible Can Vanish”</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792043374"/>
                  </a:ext>
                </a:extLst>
              </a:tr>
              <a:tr h="454683">
                <a:tc gridSpan="2">
                  <a:txBody>
                    <a:bodyPr/>
                    <a:lstStyle/>
                    <a:p>
                      <a:pPr algn="ctr" rtl="0" fontAlgn="b"/>
                      <a:r>
                        <a:rPr lang="en-US" sz="1150" b="1" i="0" u="none" strike="noStrike">
                          <a:solidFill>
                            <a:srgbClr val="000000"/>
                          </a:solidFill>
                          <a:effectLst/>
                          <a:latin typeface="Montserrat" panose="00000500000000000000" pitchFamily="2" charset="0"/>
                        </a:rPr>
                        <a:t>Deductible</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b"/>
                      <a:r>
                        <a:rPr lang="en-US" sz="1150" b="1" i="0" u="none" strike="noStrike">
                          <a:solidFill>
                            <a:srgbClr val="000000"/>
                          </a:solidFill>
                          <a:effectLst/>
                          <a:latin typeface="Montserrat" panose="00000500000000000000" pitchFamily="2" charset="0"/>
                        </a:rPr>
                        <a:t>Benefits Automatically Included In Your Plan,                                                                 At NO Additional Cost To You!</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100" b="1" i="0" u="none" strike="noStrike">
                          <a:solidFill>
                            <a:srgbClr val="000000"/>
                          </a:solidFill>
                          <a:effectLst/>
                          <a:latin typeface="Montserrat" panose="00000500000000000000" pitchFamily="2" charset="0"/>
                        </a:rPr>
                        <a:t>CLAIM EXAMPLE:     Heart Attack, with Surgery</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BFBFBF"/>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531598024"/>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US" sz="1150" b="1" i="0" u="none" strike="noStrike">
                          <a:solidFill>
                            <a:srgbClr val="000000"/>
                          </a:solidFill>
                          <a:effectLst/>
                          <a:latin typeface="Montserrat" panose="00000500000000000000" pitchFamily="2" charset="0"/>
                        </a:rPr>
                        <a:t> 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5  Days at $500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$200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12700" cmpd="sng">
                      <a:noFill/>
                      <a:prstDash val="solid"/>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1804750250"/>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rtl="0" fontAlgn="ctr"/>
                      <a:r>
                        <a:rPr lang="en-US" sz="1150" b="1" i="0" u="none" strike="noStrike">
                          <a:solidFill>
                            <a:srgbClr val="000000"/>
                          </a:solidFill>
                          <a:effectLst/>
                          <a:latin typeface="Montserrat" panose="00000500000000000000" pitchFamily="2" charset="0"/>
                        </a:rPr>
                        <a:t> Non-Preferred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1 Day at $50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52238380"/>
                  </a:ext>
                </a:extLst>
              </a:tr>
              <a:tr h="349758">
                <a:tc>
                  <a:txBody>
                    <a:bodyPr/>
                    <a:lstStyle/>
                    <a:p>
                      <a:pPr algn="r" rtl="0" fontAlgn="ctr"/>
                      <a:r>
                        <a:rPr lang="en-US" sz="1150" b="1" i="0" u="none" strike="noStrike">
                          <a:solidFill>
                            <a:srgbClr val="000000"/>
                          </a:solidFill>
                          <a:effectLst/>
                          <a:latin typeface="Montserrat" panose="00000500000000000000" pitchFamily="2" charset="0"/>
                        </a:rPr>
                        <a:t>Coinsurance</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80% / 20%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Surgery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$700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Preferred Hospital Stay, </a:t>
                      </a:r>
                    </a:p>
                    <a:p>
                      <a:pPr algn="r" rtl="0" fontAlgn="ctr"/>
                      <a:r>
                        <a:rPr lang="en-US" sz="1100" b="1" i="0" u="none" strike="noStrike">
                          <a:solidFill>
                            <a:srgbClr val="000000"/>
                          </a:solidFill>
                          <a:effectLst/>
                          <a:latin typeface="Montserrat" panose="00000500000000000000" pitchFamily="2" charset="0"/>
                        </a:rPr>
                        <a:t>5 Days at $500/Day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$2,500</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703207580"/>
                  </a:ext>
                </a:extLst>
              </a:tr>
              <a:tr h="349758">
                <a:tc gridSpan="2">
                  <a:txBody>
                    <a:bodyPr/>
                    <a:lstStyle/>
                    <a:p>
                      <a:pPr algn="ctr" rtl="0" fontAlgn="b"/>
                      <a:r>
                        <a:rPr lang="en-US" sz="1150" b="1" i="0" u="none" strike="noStrike">
                          <a:solidFill>
                            <a:srgbClr val="000000"/>
                          </a:solidFill>
                          <a:effectLst/>
                          <a:latin typeface="Montserrat" panose="00000500000000000000" pitchFamily="2" charset="0"/>
                        </a:rPr>
                        <a:t>Maximum Out-of-Pocket</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OP Anesthesia</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$250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Critical Illness</a:t>
                      </a:r>
                      <a:r>
                        <a:rPr lang="en-US" sz="1100" b="0" i="0" u="none" strike="noStrike">
                          <a:solidFill>
                            <a:srgbClr val="000000"/>
                          </a:solidFill>
                          <a:effectLst/>
                          <a:latin typeface="Montserrat" panose="00000500000000000000" pitchFamily="2" charset="0"/>
                        </a:rPr>
                        <a:t>   (Heart Attack Benefit)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$2,000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325680797"/>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$200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Health Screening Benefit</a:t>
                      </a:r>
                      <a:r>
                        <a:rPr lang="en-US" sz="1100" b="0" i="0" u="none" strike="noStrike">
                          <a:solidFill>
                            <a:srgbClr val="000000"/>
                          </a:solidFill>
                          <a:effectLst/>
                          <a:latin typeface="Montserrat" panose="00000500000000000000" pitchFamily="2" charset="0"/>
                        </a:rPr>
                        <a:t> (Stress-Test)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266247627"/>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$7,000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lang="en-US" sz="1150" b="1" i="0" u="none" strike="noStrike">
                          <a:solidFill>
                            <a:srgbClr val="000000"/>
                          </a:solidFill>
                          <a:effectLst/>
                          <a:latin typeface="Montserrat" panose="00000500000000000000" pitchFamily="2" charset="0"/>
                        </a:rPr>
                        <a:t> 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Wellness Benefit </a:t>
                      </a:r>
                      <a:r>
                        <a:rPr lang="en-US" sz="1100" b="0" i="0" u="none" strike="noStrike">
                          <a:solidFill>
                            <a:srgbClr val="000000"/>
                          </a:solidFill>
                          <a:effectLst/>
                          <a:latin typeface="Montserrat" panose="00000500000000000000" pitchFamily="2" charset="0"/>
                        </a:rPr>
                        <a:t>(Telephonic Coaching)</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4367116"/>
                  </a:ext>
                </a:extLst>
              </a:tr>
              <a:tr h="349758">
                <a:tc gridSpan="2">
                  <a:txBody>
                    <a:bodyPr/>
                    <a:lstStyle/>
                    <a:p>
                      <a:pPr algn="ctr" rtl="0" fontAlgn="ctr"/>
                      <a:r>
                        <a:rPr lang="en-US" sz="1050" b="0" i="0" u="none" strike="noStrike">
                          <a:solidFill>
                            <a:srgbClr val="000000"/>
                          </a:solidFill>
                          <a:effectLst/>
                          <a:latin typeface="Montserrat" panose="00000500000000000000" pitchFamily="2" charset="0"/>
                        </a:rPr>
                        <a:t>Chronic Disease Management Regimens of Care,   Covered at 100%</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lnL w="6350" cap="flat" cmpd="sng" algn="ctr">
                      <a:solidFill>
                        <a:srgbClr val="80808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fontAlgn="ctr"/>
                      <a:r>
                        <a:rPr lang="en-US" sz="1150" b="1" i="0" u="none" strike="noStrike">
                          <a:solidFill>
                            <a:srgbClr val="000000"/>
                          </a:solidFill>
                          <a:effectLst/>
                          <a:latin typeface="Montserrat" panose="00000500000000000000" pitchFamily="2" charset="0"/>
                        </a:rPr>
                        <a:t> Health Screening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$125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t"/>
                      <a:r>
                        <a:rPr lang="en-US" sz="1100" b="1" i="0" u="none" strike="noStrike">
                          <a:solidFill>
                            <a:srgbClr val="000000"/>
                          </a:solidFill>
                          <a:effectLst/>
                          <a:latin typeface="Montserrat" panose="00000500000000000000" pitchFamily="2" charset="0"/>
                        </a:rPr>
                        <a:t>TOTAL BONUS BENEFIT PAYABLE</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$5,050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extLst>
                  <a:ext uri="{0D108BD9-81ED-4DB2-BD59-A6C34878D82A}">
                    <a16:rowId xmlns:a16="http://schemas.microsoft.com/office/drawing/2014/main" val="1559647697"/>
                  </a:ext>
                </a:extLst>
              </a:tr>
              <a:tr h="393475">
                <a:tc gridSpan="2">
                  <a:txBody>
                    <a:bodyPr/>
                    <a:lstStyle/>
                    <a:p>
                      <a:pPr algn="ctr" rtl="0" fontAlgn="ctr"/>
                      <a:r>
                        <a:rPr lang="en-US" sz="1050" b="0" i="0" u="none" strike="noStrike">
                          <a:solidFill>
                            <a:srgbClr val="000000"/>
                          </a:solidFill>
                          <a:effectLst/>
                          <a:latin typeface="Montserrat" panose="00000500000000000000" pitchFamily="2" charset="0"/>
                        </a:rPr>
                        <a:t>Healthcare Specific, Interest Free Credit Card to Cover Out-of-Pocket Costs </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Wellness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$125/1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0" i="0" u="none" strike="noStrike">
                          <a:solidFill>
                            <a:srgbClr val="000000"/>
                          </a:solidFill>
                          <a:effectLst/>
                          <a:latin typeface="Montserrat" panose="00000500000000000000" pitchFamily="2" charset="0"/>
                        </a:rPr>
                        <a:t>Less Your Maximum  Out-of-Pocket Cost</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rtl="0" fontAlgn="ctr"/>
                      <a:r>
                        <a:rPr lang="en-US" sz="1100" b="1" i="0" u="none" strike="noStrike">
                          <a:solidFill>
                            <a:srgbClr val="A6192E"/>
                          </a:solidFill>
                          <a:effectLst/>
                          <a:latin typeface="Montserrat" panose="00000500000000000000" pitchFamily="2" charset="0"/>
                        </a:rPr>
                        <a:t>($3,500)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4281273"/>
                  </a:ext>
                </a:extLst>
              </a:tr>
              <a:tr h="515890">
                <a:tc rowSpan="2" gridSpan="2">
                  <a:txBody>
                    <a:bodyPr/>
                    <a:lstStyle/>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hMerge="1">
                  <a:txBody>
                    <a:bodyPr/>
                    <a:lstStyle/>
                    <a:p>
                      <a:pPr algn="l" fontAlgn="b"/>
                      <a:endParaRPr lang="en-US" sz="1000" b="0" i="0" u="none" strike="noStrike">
                        <a:solidFill>
                          <a:srgbClr val="000000"/>
                        </a:solidFill>
                        <a:effectLst/>
                        <a:latin typeface="Calibri" panose="020F0502020204030204" pitchFamily="34" charset="0"/>
                      </a:endParaRPr>
                    </a:p>
                  </a:txBody>
                  <a:tcPr marL="7133" marR="7133" marT="7133" marB="0" anchor="b">
                    <a:lnL w="6350" cap="flat" cmpd="sng" algn="ctr">
                      <a:solidFill>
                        <a:srgbClr val="000000"/>
                      </a:solidFill>
                      <a:prstDash val="solid"/>
                      <a:round/>
                      <a:headEnd type="none" w="med" len="med"/>
                      <a:tailEnd type="none" w="med" len="med"/>
                    </a:lnL>
                  </a:tcPr>
                </a:tc>
                <a:tc>
                  <a:txBody>
                    <a:bodyPr/>
                    <a:lstStyle/>
                    <a:p>
                      <a:pPr algn="r" rtl="0" fontAlgn="ctr"/>
                      <a:r>
                        <a:rPr lang="en-US" sz="1150" b="1" i="0" u="none" strike="noStrike">
                          <a:solidFill>
                            <a:srgbClr val="000000"/>
                          </a:solidFill>
                          <a:effectLst/>
                          <a:latin typeface="Montserrat" panose="00000500000000000000" pitchFamily="2" charset="0"/>
                        </a:rPr>
                        <a:t> Critical Illness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$2,000 Lump Sum</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Additional Benefit, </a:t>
                      </a:r>
                    </a:p>
                    <a:p>
                      <a:pPr algn="r" rtl="0" fontAlgn="ctr"/>
                      <a:r>
                        <a:rPr lang="en-US" sz="1100" b="1" i="0" u="none" strike="noStrike">
                          <a:solidFill>
                            <a:srgbClr val="000000"/>
                          </a:solidFill>
                          <a:effectLst/>
                          <a:latin typeface="Montserrat" panose="00000500000000000000" pitchFamily="2" charset="0"/>
                        </a:rPr>
                        <a:t>Payable Directly to You!</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100" b="1" i="0" u="none" strike="noStrike">
                          <a:solidFill>
                            <a:srgbClr val="000000"/>
                          </a:solidFill>
                          <a:effectLst/>
                          <a:latin typeface="Montserrat" panose="00000500000000000000" pitchFamily="2" charset="0"/>
                        </a:rPr>
                        <a:t>$1,550!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10967084"/>
                  </a:ext>
                </a:extLst>
              </a:tr>
              <a:tr h="349758">
                <a:tc gridSpan="2" vMerge="1">
                  <a:txBody>
                    <a:bodyPr/>
                    <a:lstStyle/>
                    <a:p>
                      <a:endParaRPr/>
                    </a:p>
                  </a:txBody>
                  <a:tcPr marL="7133" marR="7133" marT="7133" marB="0" anchor="b">
                    <a:lnL w="25400" cap="flat" cmpd="dbl"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hMerge="1" vMerge="1">
                  <a:txBody>
                    <a:bodyPr/>
                    <a:lstStyle/>
                    <a:p>
                      <a:endParaRPr/>
                    </a:p>
                  </a:txBody>
                  <a:tcPr marL="7133" marR="7133" marT="7133" marB="0" anchor="b">
                    <a:lnL>
                      <a:noFill/>
                    </a:lnL>
                    <a:lnR w="6350" cap="flat" cmpd="sng" algn="ctr">
                      <a:solidFill>
                        <a:srgbClr val="000000"/>
                      </a:solidFill>
                      <a:prstDash val="solid"/>
                      <a:round/>
                      <a:headEnd type="none" w="med" len="med"/>
                      <a:tailEnd type="none" w="med" len="med"/>
                    </a:lnR>
                    <a:lnB>
                      <a:noFill/>
                    </a:lnB>
                    <a:noFill/>
                  </a:tcPr>
                </a:tc>
                <a:tc gridSpan="2">
                  <a:txBody>
                    <a:bodyPr/>
                    <a:lstStyle/>
                    <a:p>
                      <a:pPr algn="ctr" fontAlgn="b"/>
                      <a:r>
                        <a:rPr lang="en-US" sz="1150" b="0" i="0" u="none" strike="noStrike">
                          <a:solidFill>
                            <a:srgbClr val="000000"/>
                          </a:solidFill>
                          <a:effectLst/>
                          <a:latin typeface="Montserrat" panose="00000500000000000000" pitchFamily="2" charset="0"/>
                        </a:rPr>
                        <a:t>*Critical Illness Benefits pays for 1st Diagnosis:  </a:t>
                      </a:r>
                    </a:p>
                    <a:p>
                      <a:pPr algn="ctr" fontAlgn="b"/>
                      <a:r>
                        <a:rPr lang="en-US" sz="1150" b="0" i="0" u="none" strike="noStrike">
                          <a:solidFill>
                            <a:srgbClr val="000000"/>
                          </a:solidFill>
                          <a:effectLst/>
                          <a:latin typeface="Montserrat" panose="00000500000000000000" pitchFamily="2" charset="0"/>
                        </a:rPr>
                        <a:t>Heart Attack, Stroke, Internal Cancer</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757171"/>
                      </a:solidFill>
                      <a:prstDash val="dot"/>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679086056"/>
                  </a:ext>
                </a:extLst>
              </a:tr>
            </a:tbl>
          </a:graphicData>
        </a:graphic>
      </p:graphicFrame>
    </p:spTree>
    <p:extLst>
      <p:ext uri="{BB962C8B-B14F-4D97-AF65-F5344CB8AC3E}">
        <p14:creationId xmlns:p14="http://schemas.microsoft.com/office/powerpoint/2010/main" val="2605732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6242924E-816E-0617-E717-FD91AE2D016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 y="1500695"/>
            <a:ext cx="7241309" cy="4525818"/>
          </a:xfrm>
          <a:prstGeom prst="rect">
            <a:avLst/>
          </a:prstGeom>
        </p:spPr>
      </p:pic>
      <p:sp>
        <p:nvSpPr>
          <p:cNvPr id="3" name="Title 2">
            <a:extLst>
              <a:ext uri="{FF2B5EF4-FFF2-40B4-BE49-F238E27FC236}">
                <a16:creationId xmlns:a16="http://schemas.microsoft.com/office/drawing/2014/main" id="{DD2743DB-6003-F77F-2D46-16EC76C23EA4}"/>
              </a:ext>
            </a:extLst>
          </p:cNvPr>
          <p:cNvSpPr txBox="1">
            <a:spLocks/>
          </p:cNvSpPr>
          <p:nvPr/>
        </p:nvSpPr>
        <p:spPr>
          <a:xfrm>
            <a:off x="117445" y="207689"/>
            <a:ext cx="11534623" cy="1082169"/>
          </a:xfrm>
          <a:prstGeom prst="rect">
            <a:avLst/>
          </a:prstGeom>
        </p:spPr>
        <p:txBody>
          <a:bodyPr vert="horz" lIns="91440" tIns="45720" rIns="91440" bIns="45720" rtlCol="0">
            <a:normAutofit fontScale="62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TOWER HEALTH</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
        <p:nvSpPr>
          <p:cNvPr id="4" name="Slide Number Placeholder 1">
            <a:extLst>
              <a:ext uri="{FF2B5EF4-FFF2-40B4-BE49-F238E27FC236}">
                <a16:creationId xmlns:a16="http://schemas.microsoft.com/office/drawing/2014/main" id="{A82E6EAB-830B-F36B-F482-0339C23492B5}"/>
              </a:ext>
            </a:extLst>
          </p:cNvPr>
          <p:cNvSpPr>
            <a:spLocks noGrp="1"/>
          </p:cNvSpPr>
          <p:nvPr>
            <p:ph type="sldNum" sz="quarter" idx="12"/>
          </p:nvPr>
        </p:nvSpPr>
        <p:spPr>
          <a:xfrm>
            <a:off x="8960395" y="633560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5" name="Picture 14">
            <a:extLst>
              <a:ext uri="{FF2B5EF4-FFF2-40B4-BE49-F238E27FC236}">
                <a16:creationId xmlns:a16="http://schemas.microsoft.com/office/drawing/2014/main" id="{18EE2CCA-91EC-8D14-02DB-5622F72597A9}"/>
              </a:ext>
            </a:extLst>
          </p:cNvPr>
          <p:cNvPicPr>
            <a:picLocks noChangeAspect="1"/>
          </p:cNvPicPr>
          <p:nvPr/>
        </p:nvPicPr>
        <p:blipFill>
          <a:blip r:embed="rId4"/>
          <a:stretch>
            <a:fillRect/>
          </a:stretch>
        </p:blipFill>
        <p:spPr>
          <a:xfrm>
            <a:off x="215573" y="6356350"/>
            <a:ext cx="2125097" cy="463658"/>
          </a:xfrm>
          <a:prstGeom prst="rect">
            <a:avLst/>
          </a:prstGeom>
        </p:spPr>
      </p:pic>
      <p:sp>
        <p:nvSpPr>
          <p:cNvPr id="6" name="Freeform 15">
            <a:extLst>
              <a:ext uri="{FF2B5EF4-FFF2-40B4-BE49-F238E27FC236}">
                <a16:creationId xmlns:a16="http://schemas.microsoft.com/office/drawing/2014/main" id="{1E58FADC-8A75-0ED5-B025-55AFCAF82465}"/>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7" name="Rectangle 10">
            <a:extLst>
              <a:ext uri="{FF2B5EF4-FFF2-40B4-BE49-F238E27FC236}">
                <a16:creationId xmlns:a16="http://schemas.microsoft.com/office/drawing/2014/main" id="{4B00F08C-D58D-B160-274C-358241C0A9BA}"/>
              </a:ext>
            </a:extLst>
          </p:cNvPr>
          <p:cNvSpPr/>
          <p:nvPr/>
        </p:nvSpPr>
        <p:spPr>
          <a:xfrm>
            <a:off x="8037505" y="1852181"/>
            <a:ext cx="3737727" cy="3975527"/>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pic>
        <p:nvPicPr>
          <p:cNvPr id="8" name="Picture 16">
            <a:extLst>
              <a:ext uri="{FF2B5EF4-FFF2-40B4-BE49-F238E27FC236}">
                <a16:creationId xmlns:a16="http://schemas.microsoft.com/office/drawing/2014/main" id="{5AC4AED8-CD54-569B-E7E6-AF890B69A91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22899" y="1981860"/>
            <a:ext cx="1197168" cy="261201"/>
          </a:xfrm>
          <a:prstGeom prst="rect">
            <a:avLst/>
          </a:prstGeom>
        </p:spPr>
      </p:pic>
      <p:pic>
        <p:nvPicPr>
          <p:cNvPr id="9" name="Picture 1">
            <a:extLst>
              <a:ext uri="{FF2B5EF4-FFF2-40B4-BE49-F238E27FC236}">
                <a16:creationId xmlns:a16="http://schemas.microsoft.com/office/drawing/2014/main" id="{77CEF25D-7C3B-E3B1-4CB8-566FCA777CFA}"/>
              </a:ext>
            </a:extLst>
          </p:cNvPr>
          <p:cNvPicPr>
            <a:picLocks noChangeAspect="1"/>
          </p:cNvPicPr>
          <p:nvPr/>
        </p:nvPicPr>
        <p:blipFill>
          <a:blip r:embed="rId6"/>
          <a:stretch>
            <a:fillRect/>
          </a:stretch>
        </p:blipFill>
        <p:spPr>
          <a:xfrm>
            <a:off x="8122899" y="2243061"/>
            <a:ext cx="3600450" cy="3429000"/>
          </a:xfrm>
          <a:prstGeom prst="rect">
            <a:avLst/>
          </a:prstGeom>
        </p:spPr>
      </p:pic>
      <p:sp>
        <p:nvSpPr>
          <p:cNvPr id="10" name="Arrow: Pentagon 17">
            <a:extLst>
              <a:ext uri="{FF2B5EF4-FFF2-40B4-BE49-F238E27FC236}">
                <a16:creationId xmlns:a16="http://schemas.microsoft.com/office/drawing/2014/main" id="{04BF0C8D-2E38-04D3-C1BE-5EA5D09D3B9B}"/>
              </a:ext>
            </a:extLst>
          </p:cNvPr>
          <p:cNvSpPr/>
          <p:nvPr/>
        </p:nvSpPr>
        <p:spPr>
          <a:xfrm>
            <a:off x="0" y="5080000"/>
            <a:ext cx="7639406" cy="766181"/>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TextBox 2">
            <a:extLst>
              <a:ext uri="{FF2B5EF4-FFF2-40B4-BE49-F238E27FC236}">
                <a16:creationId xmlns:a16="http://schemas.microsoft.com/office/drawing/2014/main" id="{4D269B07-A1ED-07AD-3675-D58BFB1D18D7}"/>
              </a:ext>
            </a:extLst>
          </p:cNvPr>
          <p:cNvSpPr txBox="1"/>
          <p:nvPr/>
        </p:nvSpPr>
        <p:spPr>
          <a:xfrm>
            <a:off x="57992" y="5309201"/>
            <a:ext cx="760735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Tower patients will often receive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cash</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not bills </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after care episodes!</a:t>
            </a:r>
          </a:p>
        </p:txBody>
      </p:sp>
    </p:spTree>
    <p:extLst>
      <p:ext uri="{BB962C8B-B14F-4D97-AF65-F5344CB8AC3E}">
        <p14:creationId xmlns:p14="http://schemas.microsoft.com/office/powerpoint/2010/main" val="5140314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a:bodyPr>
          <a:lstStyle/>
          <a:p>
            <a:r>
              <a:rPr lang="en-US" sz="2800" dirty="0">
                <a:solidFill/>
                <a:latin typeface="Montserrat" panose="00000500000000000000" pitchFamily="2" charset="0"/>
                <a:cs typeface="Arial" panose="020B0604020202020204" pitchFamily="34" charset="0"/>
              </a:rPr>
              <a:t>ESTIMATION OF TOWER’S 2022 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432474"/>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Tower</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274,036</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$1,729,498K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66,350</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$262,406K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25%</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7,009</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$160,437K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3%</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13,826</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-$95,894K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5%</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186,851</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$1,308,513K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67%</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2021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Tower estimates commercial insurance reimbursements at 281%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1,308,513K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281%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1,187,458K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2,495,971</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1,829,260</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$666,712K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27%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281%</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465,949K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422,843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888,792</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1,829,260</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-940,467</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-106%</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56.1%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5%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3%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803318088"/>
              </p:ext>
            </p:extLst>
          </p:nvPr>
        </p:nvGraphicFramePr>
        <p:xfrm>
          <a:off x="103415" y="1745342"/>
          <a:ext cx="9829800" cy="3367316"/>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1676141">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Percent of Market Total (Assuming 56.1%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338235">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Reading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561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$2,021,777.8K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$ 2,012,475.6K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338235">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Pottstown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185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464,846.7K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474,286.2K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338235">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Phoenixville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130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507,242.9K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459,469.6K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338235">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St Christophers Hospital for Children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188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556,513.3K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900,535.2K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338235">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Tower Behavioral Health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144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133,888.5K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2,950.7K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381472736"/>
              </p:ext>
            </p:extLst>
          </p:nvPr>
        </p:nvGraphicFramePr>
        <p:xfrm>
          <a:off x="-1" y="0"/>
          <a:ext cx="12192001" cy="6857992"/>
        </p:xfrm>
        <a:graphic>
          <a:graphicData uri="http://schemas.openxmlformats.org/drawingml/2006/table">
            <a:tbl>
              <a:tblPr/>
              <a:tblGrid>
                <a:gridCol w="3182097">
                  <a:extLst>
                    <a:ext uri="{9D8B030D-6E8A-4147-A177-3AD203B41FA5}">
                      <a16:colId xmlns:a16="http://schemas.microsoft.com/office/drawing/2014/main" val="20000"/>
                    </a:ext>
                  </a:extLst>
                </a:gridCol>
                <a:gridCol w="1365650">
                  <a:extLst>
                    <a:ext uri="{9D8B030D-6E8A-4147-A177-3AD203B41FA5}">
                      <a16:colId xmlns:a16="http://schemas.microsoft.com/office/drawing/2014/main" val="20001"/>
                    </a:ext>
                  </a:extLst>
                </a:gridCol>
                <a:gridCol w="1488368">
                  <a:extLst>
                    <a:ext uri="{9D8B030D-6E8A-4147-A177-3AD203B41FA5}">
                      <a16:colId xmlns:a16="http://schemas.microsoft.com/office/drawing/2014/main" val="20002"/>
                    </a:ext>
                  </a:extLst>
                </a:gridCol>
                <a:gridCol w="1627017">
                  <a:extLst>
                    <a:ext uri="{9D8B030D-6E8A-4147-A177-3AD203B41FA5}">
                      <a16:colId xmlns:a16="http://schemas.microsoft.com/office/drawing/2014/main" val="20003"/>
                    </a:ext>
                  </a:extLst>
                </a:gridCol>
                <a:gridCol w="2679030">
                  <a:extLst>
                    <a:ext uri="{9D8B030D-6E8A-4147-A177-3AD203B41FA5}">
                      <a16:colId xmlns:a16="http://schemas.microsoft.com/office/drawing/2014/main" val="20004"/>
                    </a:ext>
                  </a:extLst>
                </a:gridCol>
                <a:gridCol w="1849839">
                  <a:extLst>
                    <a:ext uri="{9D8B030D-6E8A-4147-A177-3AD203B41FA5}">
                      <a16:colId xmlns:a16="http://schemas.microsoft.com/office/drawing/2014/main" val="20005"/>
                    </a:ext>
                  </a:extLst>
                </a:gridCol>
              </a:tblGrid>
              <a:tr h="323291">
                <a:tc gridSpan="6">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514085">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Reading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Pottstown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Phoenixville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St Christophers Hospital for Children</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Tower Behavioral Health</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$574,185K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$68,797K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$88,768K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$86,816K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$47,263K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$571,543K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$70,194K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Montserrat"/>
                          <a:cs typeface="Arial"/>
                          <a:sym typeface="Arial"/>
                        </a:rPr>
                        <a:t>$80,407K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$140,483K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$1,042K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$185,999K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$31,475K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$41,687K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$1,110K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$2,135K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45048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$126,515K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$18,299K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$15,623K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$835,106K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$89,457K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$111,982K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$225,781K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$46,186K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$76,072K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$13,190K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$6,632K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$540,239K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$90,595K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$102,429K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$127,257K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$38,988K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$537,753K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$92,435K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$92,782K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$205,923K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$859K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$1,077,992K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$183,030K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$195,210K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$333,180K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$39,847K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$69,628K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$-43,798K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$-25,919K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$-106,289K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$8,474K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27.9%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33.9%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31.3%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0.8%</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45048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3.8%</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63.2%</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55.8%</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63.3%</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93.4%</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93.9%</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2914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37.1%</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20.2%</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28.5%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-45.6%</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23.6%</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59692">
                <a:tc gridSpan="6">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59692">
                <a:tc gridSpan="6">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59692">
                <a:tc gridSpan="6">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59692">
                <a:tc gridSpan="6">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Tower Health has 5% inpatient market share, and 3% outpatient market compared to hospitals/clinics in the Tower Health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Tower Health.</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668063119"/>
              </p:ext>
            </p:extLst>
          </p:nvPr>
        </p:nvGraphicFramePr>
        <p:xfrm>
          <a:off x="390844" y="1054579"/>
          <a:ext cx="8266775" cy="4940842"/>
        </p:xfrm>
        <a:graphic>
          <a:graphicData uri="http://schemas.openxmlformats.org/drawingml/2006/table">
            <a:tbl>
              <a:tblPr/>
              <a:tblGrid>
                <a:gridCol w="1653355">
                  <a:extLst>
                    <a:ext uri="{9D8B030D-6E8A-4147-A177-3AD203B41FA5}">
                      <a16:colId xmlns:a16="http://schemas.microsoft.com/office/drawing/2014/main" val="20000"/>
                    </a:ext>
                  </a:extLst>
                </a:gridCol>
                <a:gridCol w="1653355">
                  <a:extLst>
                    <a:ext uri="{9D8B030D-6E8A-4147-A177-3AD203B41FA5}">
                      <a16:colId xmlns:a16="http://schemas.microsoft.com/office/drawing/2014/main" val="20001"/>
                    </a:ext>
                  </a:extLst>
                </a:gridCol>
                <a:gridCol w="1653355">
                  <a:extLst>
                    <a:ext uri="{9D8B030D-6E8A-4147-A177-3AD203B41FA5}">
                      <a16:colId xmlns:a16="http://schemas.microsoft.com/office/drawing/2014/main" val="20002"/>
                    </a:ext>
                  </a:extLst>
                </a:gridCol>
                <a:gridCol w="1653355">
                  <a:extLst>
                    <a:ext uri="{9D8B030D-6E8A-4147-A177-3AD203B41FA5}">
                      <a16:colId xmlns:a16="http://schemas.microsoft.com/office/drawing/2014/main" val="20003"/>
                    </a:ext>
                  </a:extLst>
                </a:gridCol>
                <a:gridCol w="1653355">
                  <a:extLst>
                    <a:ext uri="{9D8B030D-6E8A-4147-A177-3AD203B41FA5}">
                      <a16:colId xmlns:a16="http://schemas.microsoft.com/office/drawing/2014/main" val="20004"/>
                    </a:ext>
                  </a:extLst>
                </a:gridCol>
              </a:tblGrid>
              <a:tr h="765482">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Tower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Tower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24,800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17,700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31,900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40,000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27,000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48,600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31,900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57,400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36,700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81,500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48,700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87,700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53,700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96,700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99,700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56,700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103,700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20%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9,600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$ 1,637,580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$ 1,741,998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$ 813,498.3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$ 4,193,076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$ 353,717.3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$ 376,271.6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$ 175,715.6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$ 905,704.5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$ 4,265,076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$ 115,200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$ 4,269,876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$ 4,200,276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$ 6,528,130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$ 11,868,282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$ 5,542,387</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$ 23,938,799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$ 1,410,076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$ 2,563,549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$ 1,197,156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$ 5,170,781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5% (inpatient) and 3%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21.6%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20% inpatient and 20%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21.6%, with a 10 percentage-point reduction to reflect competitive-edge rates and a 10 percentage-point increase due to lower billing costs and higher patient responsibility collections because of the member credit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0"/>
          <a:ext cx="12198096" cy="741426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21431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14313">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14313">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$852.9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$4,264.5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$921.1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$340.1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$680.3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$3,401.3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$17,006.7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$734.7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$3,673.4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$2,548.4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$12,742.2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$110.1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$550.5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$2,752.3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$90.7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$181.5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$907.3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$4,536.5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$979.9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$1,236.7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$6,183.7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$30,918.5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$1,335.7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$6,678.4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$527.6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$1,055.3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$5,276.4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$26,382.1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$114.0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$227.9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$1,139.7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$5,698.5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$84.7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$423.7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$2,118.5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$457.6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$288.8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$577.5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$2,887.7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$14,438.7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$623.8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$3,118.8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$492.8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$2,464.0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$12,320.2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$53.2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$106.4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$532.2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$2,661.2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14313">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$-101.8</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$126.5</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$1,952.4</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$11,082.0</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986301016"/>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$218.4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$436.8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$2,183.9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$10,919.5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$471.7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$2,358.6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$1,247.3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$2,494.6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$12,472.8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$62,363.9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$1,028.9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$2,057.8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$10,288.9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$51,444.5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$538.8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$2,694.1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$13,470.6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$222.2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$444.5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$2,222.4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$11,112.0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$-101.8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$126.5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$1,952.4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$11,082.0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651631866"/>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$218.4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$436.8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$2,183.9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$10,919.5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$471.7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$2,358.6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$1,559.1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$3,118.2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$15,591.0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$77,954.9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$1,340.7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$2,681.4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$13,407.1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$67,035.5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$414.7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$829.4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$4,147.2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$20,736.0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$735.1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$3,675.5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$18,377.4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$43.5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$417.1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$3,405.5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$18,347.4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646804574"/>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$218.4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$436.8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$2,183.9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$10,919.5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$471.7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$2,358.6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$935.5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$1,870.9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$9,354.6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$46,773.0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$717.1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$1,434.1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$7,170.7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$35,853.5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$1,552.9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$7,764.3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$1,081.1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$5,405.7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$-215.9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$-101.8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$811.1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$5,375.7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37</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543108"/>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Tower’s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Tower Health</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38</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Tower</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Tower’s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39</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40</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46153</TotalTime>
  <Words>4688</Words>
  <Application>Microsoft Office PowerPoint</Application>
  <PresentationFormat>Widescreen</PresentationFormat>
  <Paragraphs>1385</Paragraphs>
  <Slides>40</Slides>
  <Notes>9</Notes>
  <HiddenSlides>0</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40</vt:i4>
      </vt:variant>
    </vt:vector>
  </HeadingPairs>
  <TitlesOfParts>
    <vt:vector size="50" baseType="lpstr">
      <vt:lpstr>Aptos Narrow</vt:lpstr>
      <vt:lpstr>Arial</vt:lpstr>
      <vt:lpstr>Montserrat</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PowerPoint Presentation</vt:lpstr>
      <vt:lpstr>DIRECT-TO-EMPLOYER (DTE)  </vt:lpstr>
      <vt:lpstr>Profit Generation for Tower Health</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BRAND LOYALTY CONCERNS</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TOWER’S 2022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2025-06-27T23:10:36Z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