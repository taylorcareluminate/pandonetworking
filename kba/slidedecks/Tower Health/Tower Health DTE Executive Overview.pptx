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9"/>
  </p:notesMasterIdLst>
  <p:sldIdLst>
    <p:sldId id="588" r:id="rId8"/>
    <p:sldId id="454" r:id="rId9"/>
    <p:sldId id="549" r:id="rId10"/>
    <p:sldId id="2145726869" r:id="rId11"/>
    <p:sldId id="559" r:id="rId12"/>
    <p:sldId id="580" r:id="rId13"/>
    <p:sldId id="582" r:id="rId14"/>
    <p:sldId id="548" r:id="rId15"/>
    <p:sldId id="585" r:id="rId16"/>
    <p:sldId id="536" r:id="rId17"/>
    <p:sldId id="472" r:id="rId18"/>
  </p:sldIdLst>
  <p:sldSz cx="12192000" cy="6858000"/>
  <p:notesSz cx="7315200" cy="96012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75" d="100"/>
          <a:sy n="75" d="100"/>
        </p:scale>
        <p:origin x="171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C25AB725-4F04-42DD-8489-0B9AF78DD492}"/>
    <pc:docChg chg="delSld delMainMaster">
      <pc:chgData name="Taylor Davis" userId="5c9e72a0-c39f-4aa1-9d7d-64125e78cbe6" providerId="ADAL" clId="{C25AB725-4F04-42DD-8489-0B9AF78DD492}" dt="2025-06-27T23:12:14.588" v="3" actId="47"/>
      <pc:docMkLst>
        <pc:docMk/>
      </pc:docMkLst>
      <pc:sldChg chg="del">
        <pc:chgData name="Taylor Davis" userId="5c9e72a0-c39f-4aa1-9d7d-64125e78cbe6" providerId="ADAL" clId="{C25AB725-4F04-42DD-8489-0B9AF78DD492}" dt="2025-06-27T23:12:14.588" v="3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C25AB725-4F04-42DD-8489-0B9AF78DD492}" dt="2025-06-27T23:12:14.588" v="3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C25AB725-4F04-42DD-8489-0B9AF78DD492}" dt="2025-06-27T23:11:51.895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C25AB725-4F04-42DD-8489-0B9AF78DD492}" dt="2025-06-27T23:11:51.895" v="0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C25AB725-4F04-42DD-8489-0B9AF78DD492}" dt="2025-06-27T23:12:14.588" v="3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C25AB725-4F04-42DD-8489-0B9AF78DD492}" dt="2025-06-27T23:12:14.588" v="3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C25AB725-4F04-42DD-8489-0B9AF78DD492}" dt="2025-06-27T23:11:56.643" v="1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4064752386" sldId="564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C25AB725-4F04-42DD-8489-0B9AF78DD492}" dt="2025-06-27T23:12:14.588" v="3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C25AB725-4F04-42DD-8489-0B9AF78DD492}" dt="2025-06-27T23:12:14.588" v="3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C25AB725-4F04-42DD-8489-0B9AF78DD492}" dt="2025-06-27T23:12:14.588" v="3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C25AB725-4F04-42DD-8489-0B9AF78DD492}" dt="2025-06-27T23:11:51.895" v="0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C25AB725-4F04-42DD-8489-0B9AF78DD492}" dt="2025-06-27T23:12:09.863" v="2" actId="47"/>
        <pc:sldMkLst>
          <pc:docMk/>
          <pc:sldMk cId="4087636236" sldId="2145726868"/>
        </pc:sldMkLst>
      </pc:sldChg>
      <pc:sldMasterChg chg="del delSldLayout">
        <pc:chgData name="Taylor Davis" userId="5c9e72a0-c39f-4aa1-9d7d-64125e78cbe6" providerId="ADAL" clId="{C25AB725-4F04-42DD-8489-0B9AF78DD492}" dt="2025-06-27T23:12:09.863" v="2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C25AB725-4F04-42DD-8489-0B9AF78DD492}" dt="2025-06-27T23:12:09.863" v="2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C25AB725-4F04-42DD-8489-0B9AF78DD492}" dt="2025-06-27T23:12:09.863" v="2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6/27/2025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6/27/2025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6/27/2025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11" Type="http://schemas.openxmlformats.org/officeDocument/2006/relationships/image" Target="../media/image10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Tower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646920" y="347472"/>
            <a:ext cx="2004169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795866" y="1981200"/>
            <a:ext cx="6096000" cy="4876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D7AA09-9A31-AEDE-09B9-3C9168729FA0}"/>
              </a:ext>
            </a:extLst>
          </p:cNvPr>
          <p:cNvSpPr txBox="1"/>
          <p:nvPr/>
        </p:nvSpPr>
        <p:spPr>
          <a:xfrm>
            <a:off x="315945" y="1296509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3,920 Employers       900,000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1,400,000+ Members</a:t>
            </a:r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EB3AD534-F5E2-9F48-F16D-4E7DB376F837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1F94605-69D9-2BA6-04EC-D35D8C2D4351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B8CE1BB-AE14-4279-4354-5BD41F652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974317"/>
              </p:ext>
            </p:extLst>
          </p:nvPr>
        </p:nvGraphicFramePr>
        <p:xfrm>
          <a:off x="4889297" y="2140949"/>
          <a:ext cx="6949427" cy="4273027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27220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16138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736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Employees at Above Firms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70,050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52,650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77,100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113,400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104,000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88,425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69,450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88,500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116,900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387,000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9985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16,650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12,450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52134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at Firms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112,080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84,240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123,360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181,440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166,400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806,400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141,480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111,120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141,600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187,040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BE5D6"/>
                          </a:highlight>
                          <a:latin typeface="Aptos Narrow" panose="020B0004020202020204" pitchFamily="34" charset="0"/>
                        </a:rPr>
                        <a:t>192,000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619,200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14227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Tower Health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26,640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19,920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28,320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29,120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027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Tower Health service area in Berks, Bucks, Chester, Delaware, Lancaster, Lebanon, Lehigh, Montgomery, Philadelphia, and Schuylkill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3,071K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1,802K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1,364K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790K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$10.34M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$2.15M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$56M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$12.57M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$108.39M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$24.5M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867.3K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1,780.3K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2,920.5K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4,380.3K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560.1K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1,647.1K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2,817.3K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4,315.5K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1,323.8K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2,647.6K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4,380.8K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6,616.0K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174.0K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1,028.6K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2,537.2K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4,316.0K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6,610.0K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456.5K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867.3K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1,460.3K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2,190.1K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138.5K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710.1K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1,318.7K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2,067.7K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Tower Health has 5% inpatient market share, and 3% outpatient market compared to hospitals/clinics in the Tower Health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Tower Health.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063119"/>
              </p:ext>
            </p:extLst>
          </p:nvPr>
        </p:nvGraphicFramePr>
        <p:xfrm>
          <a:off x="390844" y="1054579"/>
          <a:ext cx="8266775" cy="4940842"/>
        </p:xfrm>
        <a:graphic>
          <a:graphicData uri="http://schemas.openxmlformats.org/drawingml/2006/table">
            <a:tbl>
              <a:tblPr/>
              <a:tblGrid>
                <a:gridCol w="1653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3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3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54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Tower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Tower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7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9,600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$ 1,637,580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$ 1,741,998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$ 813,498.3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$ 4,193,076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$ 353,717.3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$ 376,271.6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$ 175,715.6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$ 905,704.5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$ 4,265,076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$ 115,200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$ 4,269,876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$ 4,200,276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$ 6,528,130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$ 11,868,282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$ 5,542,387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$ 23,938,799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$ 1,410,076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$ 2,563,549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$ 1,197,156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$ 5,170,781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5% (inpatient) and 3%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21.6%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20% inpatient and 20%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21.6%, with a 10 percentage-point reduction to reflect competitive-edge rates and a 10 percentage-point increase due to lower billing costs and higher patient responsibility collections because of the member credit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11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46155</TotalTime>
  <Words>1163</Words>
  <Application>Microsoft Office PowerPoint</Application>
  <PresentationFormat>Widescreen</PresentationFormat>
  <Paragraphs>441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DIRECT-TO-EMPLOYER (DTE)  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2025-06-27T23:12:17Z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