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4" r:id="rId4"/>
  </p:sldMasterIdLst>
  <p:notesMasterIdLst>
    <p:notesMasterId r:id="rId14"/>
  </p:notesMasterIdLst>
  <p:sldIdLst>
    <p:sldId id="488" r:id="rId5"/>
    <p:sldId id="549" r:id="rId6"/>
    <p:sldId id="487" r:id="rId7"/>
    <p:sldId id="520" r:id="rId8"/>
    <p:sldId id="551" r:id="rId9"/>
    <p:sldId id="552" r:id="rId10"/>
    <p:sldId id="553" r:id="rId11"/>
    <p:sldId id="454" r:id="rId12"/>
    <p:sldId id="472" r:id="rId13"/>
  </p:sldIdLst>
  <p:sldSz cx="12192000" cy="6858000"/>
  <p:notesSz cx="7315200" cy="9601200"/>
  <p:custDataLst>
    <p:tags r:id="rId1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ill, Jack" initials="HJ" lastIdx="1" clrIdx="0">
    <p:extLst>
      <p:ext uri="{19B8F6BF-5375-455C-9EA6-DF929625EA0E}">
        <p15:presenceInfo xmlns:p15="http://schemas.microsoft.com/office/powerpoint/2012/main" userId="S::Jack.Hill@ahdi.com::a2532604-23e3-4156-966c-b672b0683ed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  <a:srgbClr val="01A050"/>
    <a:srgbClr val="30589B"/>
    <a:srgbClr val="6A8C98"/>
    <a:srgbClr val="59CAE8"/>
    <a:srgbClr val="244F9A"/>
    <a:srgbClr val="254F96"/>
    <a:srgbClr val="61A606"/>
    <a:srgbClr val="019CA5"/>
    <a:srgbClr val="7D3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2443E7-3792-472E-B7AB-F14324256492}" v="2" dt="2024-07-28T01:57:56.481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76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ylor Davis" userId="5c9e72a0-c39f-4aa1-9d7d-64125e78cbe6" providerId="ADAL" clId="{A42443E7-3792-472E-B7AB-F14324256492}"/>
    <pc:docChg chg="addSld delSld modSld sldOrd">
      <pc:chgData name="Taylor Davis" userId="5c9e72a0-c39f-4aa1-9d7d-64125e78cbe6" providerId="ADAL" clId="{A42443E7-3792-472E-B7AB-F14324256492}" dt="2024-07-28T01:57:58.006" v="13" actId="47"/>
      <pc:docMkLst>
        <pc:docMk/>
      </pc:docMkLst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0" sldId="25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11951504" sldId="325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25422285" sldId="32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619324413" sldId="33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420959824" sldId="337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1700621358" sldId="45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902706633" sldId="461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804806607" sldId="462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680122054" sldId="469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325436177" sldId="489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660124243" sldId="491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144192130" sldId="498"/>
        </pc:sldMkLst>
      </pc:sldChg>
      <pc:sldChg chg="modSp del mod ord">
        <pc:chgData name="Taylor Davis" userId="5c9e72a0-c39f-4aa1-9d7d-64125e78cbe6" providerId="ADAL" clId="{A42443E7-3792-472E-B7AB-F14324256492}" dt="2024-07-28T01:57:58.006" v="13" actId="47"/>
        <pc:sldMkLst>
          <pc:docMk/>
          <pc:sldMk cId="2203540903" sldId="499"/>
        </pc:sldMkLst>
        <pc:spChg chg="mod">
          <ac:chgData name="Taylor Davis" userId="5c9e72a0-c39f-4aa1-9d7d-64125e78cbe6" providerId="ADAL" clId="{A42443E7-3792-472E-B7AB-F14324256492}" dt="2024-07-23T20:55:23.212" v="8"/>
          <ac:spMkLst>
            <pc:docMk/>
            <pc:sldMk cId="2203540903" sldId="499"/>
            <ac:spMk id="9" creationId="{AB8821D0-DEDE-002D-E87D-13E033D5D75F}"/>
          </ac:spMkLst>
        </pc:spChg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684971926" sldId="501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348736581" sldId="518"/>
        </pc:sldMkLst>
      </pc:sldChg>
      <pc:sldChg chg="del ord">
        <pc:chgData name="Taylor Davis" userId="5c9e72a0-c39f-4aa1-9d7d-64125e78cbe6" providerId="ADAL" clId="{A42443E7-3792-472E-B7AB-F14324256492}" dt="2024-07-28T01:57:48.529" v="11" actId="47"/>
        <pc:sldMkLst>
          <pc:docMk/>
          <pc:sldMk cId="1206251189" sldId="519"/>
        </pc:sldMkLst>
      </pc:sldChg>
      <pc:sldChg chg="ord">
        <pc:chgData name="Taylor Davis" userId="5c9e72a0-c39f-4aa1-9d7d-64125e78cbe6" providerId="ADAL" clId="{A42443E7-3792-472E-B7AB-F14324256492}" dt="2024-07-23T20:54:57.650" v="1"/>
        <pc:sldMkLst>
          <pc:docMk/>
          <pc:sldMk cId="2103269747" sldId="520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500461553" sldId="521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1147401429" sldId="524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6791873" sldId="525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2977719417" sldId="52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034923006" sldId="527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0" sldId="531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1094723212" sldId="543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94944115" sldId="546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616502281" sldId="547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15794589" sldId="548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634830496" sldId="550"/>
        </pc:sldMkLst>
      </pc:sldChg>
      <pc:sldChg chg="ord">
        <pc:chgData name="Taylor Davis" userId="5c9e72a0-c39f-4aa1-9d7d-64125e78cbe6" providerId="ADAL" clId="{A42443E7-3792-472E-B7AB-F14324256492}" dt="2024-07-23T20:55:01.742" v="3"/>
        <pc:sldMkLst>
          <pc:docMk/>
          <pc:sldMk cId="2173439670" sldId="551"/>
        </pc:sldMkLst>
      </pc:sldChg>
      <pc:sldChg chg="add">
        <pc:chgData name="Taylor Davis" userId="5c9e72a0-c39f-4aa1-9d7d-64125e78cbe6" providerId="ADAL" clId="{A42443E7-3792-472E-B7AB-F14324256492}" dt="2024-07-28T01:57:38.531" v="10"/>
        <pc:sldMkLst>
          <pc:docMk/>
          <pc:sldMk cId="3531208169" sldId="552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4086215144" sldId="552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3267291185" sldId="553"/>
        </pc:sldMkLst>
      </pc:sldChg>
      <pc:sldChg chg="add setBg">
        <pc:chgData name="Taylor Davis" userId="5c9e72a0-c39f-4aa1-9d7d-64125e78cbe6" providerId="ADAL" clId="{A42443E7-3792-472E-B7AB-F14324256492}" dt="2024-07-28T01:57:56.476" v="12"/>
        <pc:sldMkLst>
          <pc:docMk/>
          <pc:sldMk cId="3804544720" sldId="553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0" sldId="554"/>
        </pc:sldMkLst>
      </pc:sldChg>
      <pc:sldChg chg="del">
        <pc:chgData name="Taylor Davis" userId="5c9e72a0-c39f-4aa1-9d7d-64125e78cbe6" providerId="ADAL" clId="{A42443E7-3792-472E-B7AB-F14324256492}" dt="2024-07-23T20:55:40.977" v="9" actId="47"/>
        <pc:sldMkLst>
          <pc:docMk/>
          <pc:sldMk cId="1217837094" sldId="5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3"/>
            <a:ext cx="3169920" cy="481726"/>
          </a:xfrm>
          <a:prstGeom prst="rect">
            <a:avLst/>
          </a:prstGeom>
        </p:spPr>
        <p:txBody>
          <a:bodyPr vert="horz" lIns="95178" tIns="47590" rIns="95178" bIns="47590" rtlCol="0"/>
          <a:lstStyle>
            <a:lvl1pPr algn="r">
              <a:defRPr sz="1200"/>
            </a:lvl1pPr>
          </a:lstStyle>
          <a:p>
            <a:fld id="{7444AE22-21A2-46C1-A42F-3B4E8AE858E0}" type="datetimeFigureOut">
              <a:rPr lang="en-US" smtClean="0"/>
              <a:t>7/27/2024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9463" y="1200150"/>
            <a:ext cx="5756275" cy="32385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178" tIns="47590" rIns="95178" bIns="4759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80"/>
            <a:ext cx="5852160" cy="3780473"/>
          </a:xfrm>
          <a:prstGeom prst="rect">
            <a:avLst/>
          </a:prstGeom>
        </p:spPr>
        <p:txBody>
          <a:bodyPr vert="horz" lIns="95178" tIns="47590" rIns="95178" bIns="4759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7"/>
            <a:ext cx="3169920" cy="481725"/>
          </a:xfrm>
          <a:prstGeom prst="rect">
            <a:avLst/>
          </a:prstGeom>
        </p:spPr>
        <p:txBody>
          <a:bodyPr vert="horz" lIns="95178" tIns="47590" rIns="95178" bIns="47590" rtlCol="0" anchor="b"/>
          <a:lstStyle>
            <a:lvl1pPr algn="r">
              <a:defRPr sz="1200"/>
            </a:lvl1pPr>
          </a:lstStyle>
          <a:p>
            <a:fld id="{4139CA89-B4B2-4050-B038-8DF8E3A335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22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0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9E3A3-CB7F-45DB-8359-15D56BF69054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3C3935"/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426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1" y="6471095"/>
            <a:ext cx="2743200" cy="250380"/>
          </a:xfrm>
        </p:spPr>
        <p:txBody>
          <a:bodyPr/>
          <a:lstStyle/>
          <a:p>
            <a:fld id="{F72A7C2C-8CBA-48FC-B47E-140B6C446377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2" y="6471095"/>
            <a:ext cx="4114800" cy="250380"/>
          </a:xfrm>
        </p:spPr>
        <p:txBody>
          <a:bodyPr/>
          <a:lstStyle>
            <a:lvl1pPr>
              <a:defRPr u="none" spc="300"/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1" y="6471095"/>
            <a:ext cx="2743200" cy="250380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0943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1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FEA2DF-E8B3-4F59-892A-C88743D6614D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8758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F09CE-D3E6-4C73-9F86-6AA671224F8D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811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0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AF486B-7A2A-4144-9105-81B5F9A702C4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090408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 spc="150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1" y="6480530"/>
            <a:ext cx="2743200" cy="365125"/>
          </a:xfrm>
        </p:spPr>
        <p:txBody>
          <a:bodyPr/>
          <a:lstStyle/>
          <a:p>
            <a:fld id="{13273CBB-1638-4F86-93C5-F289BAB372F8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2" y="6480530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542866" y="6480530"/>
            <a:ext cx="2743200" cy="365125"/>
          </a:xfrm>
        </p:spPr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5804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1223EA-AE71-4F47-9CA1-AC76DEC2B9E8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469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B31445-0B45-4F5C-971D-F971BB7E35C1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44534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0"/>
            </a:lvl2pPr>
            <a:lvl3pPr marL="914411" indent="0">
              <a:buNone/>
              <a:defRPr sz="1200"/>
            </a:lvl3pPr>
            <a:lvl4pPr marL="1371617" indent="0">
              <a:buNone/>
              <a:defRPr sz="1000"/>
            </a:lvl4pPr>
            <a:lvl5pPr marL="1828823" indent="0">
              <a:buNone/>
              <a:defRPr sz="1000"/>
            </a:lvl5pPr>
            <a:lvl6pPr marL="2286029" indent="0">
              <a:buNone/>
              <a:defRPr sz="1000"/>
            </a:lvl6pPr>
            <a:lvl7pPr marL="2743234" indent="0">
              <a:buNone/>
              <a:defRPr sz="1000"/>
            </a:lvl7pPr>
            <a:lvl8pPr marL="3200440" indent="0">
              <a:buNone/>
              <a:defRPr sz="1000"/>
            </a:lvl8pPr>
            <a:lvl9pPr marL="3657646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79F89-B9FD-40DA-A4A8-5549A4F97D5C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CDCB60-C599-4AF2-9C31-DCD390D25F3F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2236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87DF3D-F650-432E-A6F6-439A0FF53FA0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98819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D48873-4569-48AE-9711-BF92EE297A77}" type="datetime1">
              <a:rPr lang="en-US" smtClean="0"/>
              <a:t>7/27/2024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spc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Key Benefit Administrators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C719D-C4A7-4544-876E-D411D11AF6C9}" type="slidenum">
              <a:rPr lang="en-US" smtClean="0"/>
              <a:t>‹#›</a:t>
            </a:fld>
            <a:endParaRPr lang="en-US" dirty="0"/>
          </a:p>
        </p:txBody>
      </p:sp>
    </p:spTree>
    <p:custDataLst>
      <p:tags r:id="rId13"/>
    </p:custDataLst>
    <p:extLst>
      <p:ext uri="{BB962C8B-B14F-4D97-AF65-F5344CB8AC3E}">
        <p14:creationId xmlns:p14="http://schemas.microsoft.com/office/powerpoint/2010/main" val="3019070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hf hdr="0" dt="0"/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3" indent="-228603" algn="l" defTabSz="91441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3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3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hyperlink" Target="mailto:jack.hill@keybenefit.com" TargetMode="External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.svg"/><Relationship Id="rId11" Type="http://schemas.openxmlformats.org/officeDocument/2006/relationships/image" Target="../media/image14.png"/><Relationship Id="rId5" Type="http://schemas.openxmlformats.org/officeDocument/2006/relationships/image" Target="../media/image18.png"/><Relationship Id="rId10" Type="http://schemas.openxmlformats.org/officeDocument/2006/relationships/image" Target="../media/image23.svg"/><Relationship Id="rId4" Type="http://schemas.openxmlformats.org/officeDocument/2006/relationships/image" Target="../media/image17.svg"/><Relationship Id="rId9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81BBA2-A3ED-6F7B-693B-880E5B031B26}"/>
              </a:ext>
            </a:extLst>
          </p:cNvPr>
          <p:cNvSpPr txBox="1"/>
          <p:nvPr/>
        </p:nvSpPr>
        <p:spPr>
          <a:xfrm>
            <a:off x="896984" y="0"/>
            <a:ext cx="11295016" cy="707886"/>
          </a:xfrm>
          <a:prstGeom prst="rect">
            <a:avLst/>
          </a:prstGeom>
          <a:solidFill>
            <a:srgbClr val="30589B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DIRECT-TO-EMPLOYER PLAN </a:t>
            </a:r>
          </a:p>
          <a:p>
            <a:r>
              <a:rPr lang="en-US" sz="2000" b="1" dirty="0">
                <a:solidFill>
                  <a:schemeClr val="bg1"/>
                </a:solidFill>
              </a:rPr>
              <a:t>July 23, 2024</a:t>
            </a:r>
          </a:p>
        </p:txBody>
      </p:sp>
      <p:pic>
        <p:nvPicPr>
          <p:cNvPr id="6" name="Picture 5" descr="A close-up of a logo&#10;&#10;Description automatically generated with medium confidence">
            <a:extLst>
              <a:ext uri="{FF2B5EF4-FFF2-40B4-BE49-F238E27FC236}">
                <a16:creationId xmlns:a16="http://schemas.microsoft.com/office/drawing/2014/main" id="{F66A7945-0E55-35D5-B6B3-1588521B85C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16318" y="735756"/>
            <a:ext cx="1493520" cy="818092"/>
          </a:xfrm>
          <a:prstGeom prst="rect">
            <a:avLst/>
          </a:prstGeom>
        </p:spPr>
      </p:pic>
      <p:pic>
        <p:nvPicPr>
          <p:cNvPr id="1026" name="Picture 2" descr="Health Matters: Baptist Health Hospital reaches huge milestone with 300th  heart transplant | KARK">
            <a:extLst>
              <a:ext uri="{FF2B5EF4-FFF2-40B4-BE49-F238E27FC236}">
                <a16:creationId xmlns:a16="http://schemas.microsoft.com/office/drawing/2014/main" id="{C610B09C-55C6-5EBE-6389-01FC6A2E5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36711" y="397719"/>
            <a:ext cx="2661713" cy="149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4388EB57-683A-D0AC-CB85-5350D636F3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981075" y="1651247"/>
            <a:ext cx="11201399" cy="52067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00464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E4D4BA5E-072E-BFC4-86A7-A8EC0FA16D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3975" y="1574349"/>
            <a:ext cx="7705725" cy="465772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6CABA5-B853-4CE2-9D0B-B06245726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6376" y="6471095"/>
            <a:ext cx="4114800" cy="250380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4C8217-D749-4511-B7B5-02F77484B378}"/>
              </a:ext>
            </a:extLst>
          </p:cNvPr>
          <p:cNvSpPr/>
          <p:nvPr/>
        </p:nvSpPr>
        <p:spPr>
          <a:xfrm>
            <a:off x="10887075" y="0"/>
            <a:ext cx="1304925" cy="6872068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EC4C45-7E95-496F-9B8E-C3FD224C0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2</a:t>
            </a:fld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3571B1-9896-47E3-8ADF-78C386484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376" y="1023915"/>
            <a:ext cx="9984796" cy="502882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800" b="1" spc="150" dirty="0">
                <a:solidFill>
                  <a:srgbClr val="0F5DA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Healthcare Leader in Private Labeled DTE Plans</a:t>
            </a:r>
            <a:endParaRPr lang="en-US" sz="2800" b="1" cap="all" spc="150" dirty="0">
              <a:solidFill>
                <a:srgbClr val="0F5DA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42" name="Picture 2">
            <a:extLst>
              <a:ext uri="{FF2B5EF4-FFF2-40B4-BE49-F238E27FC236}">
                <a16:creationId xmlns:a16="http://schemas.microsoft.com/office/drawing/2014/main" id="{654A305B-9BE0-4449-826C-ACCCBB29F8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6376" y="293729"/>
            <a:ext cx="3645898" cy="629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0AE72B-2936-B7FD-B16B-B7DDE61C48BF}"/>
              </a:ext>
            </a:extLst>
          </p:cNvPr>
          <p:cNvSpPr/>
          <p:nvPr/>
        </p:nvSpPr>
        <p:spPr>
          <a:xfrm>
            <a:off x="2659533" y="39740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Bentonville, AR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Northwest Health Plan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3BAAF75-9BFE-8A09-84C8-29127AD11CC8}"/>
              </a:ext>
            </a:extLst>
          </p:cNvPr>
          <p:cNvSpPr/>
          <p:nvPr/>
        </p:nvSpPr>
        <p:spPr>
          <a:xfrm>
            <a:off x="3572730" y="525764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Meridian, MS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Affinity Health Plan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F76DEC-1B86-5F34-4522-EE137E2BEDC5}"/>
              </a:ext>
            </a:extLst>
          </p:cNvPr>
          <p:cNvSpPr/>
          <p:nvPr/>
        </p:nvSpPr>
        <p:spPr>
          <a:xfrm>
            <a:off x="7452111" y="5382713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Fort Myers, FL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Lee Health Care Partners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522D9FB-03E8-0475-A3A5-AF33059EA7E6}"/>
              </a:ext>
            </a:extLst>
          </p:cNvPr>
          <p:cNvSpPr/>
          <p:nvPr/>
        </p:nvSpPr>
        <p:spPr>
          <a:xfrm>
            <a:off x="7208737" y="4373211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Knoxville, TN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East Tennessee Health Plan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3AB3343-FA0C-E9FA-637F-E45BB11DFFC1}"/>
              </a:ext>
            </a:extLst>
          </p:cNvPr>
          <p:cNvSpPr/>
          <p:nvPr/>
        </p:nvSpPr>
        <p:spPr>
          <a:xfrm>
            <a:off x="7047737" y="3363709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Cincinnati, OH</a:t>
            </a:r>
          </a:p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TCH Optimal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F1AA97-617E-DEDA-E780-8518ACB143FB}"/>
              </a:ext>
            </a:extLst>
          </p:cNvPr>
          <p:cNvSpPr/>
          <p:nvPr/>
        </p:nvSpPr>
        <p:spPr>
          <a:xfrm>
            <a:off x="3870663" y="2934468"/>
            <a:ext cx="2272613" cy="610340"/>
          </a:xfrm>
          <a:prstGeom prst="roundRect">
            <a:avLst>
              <a:gd name="adj" fmla="val 42849"/>
            </a:avLst>
          </a:prstGeom>
          <a:solidFill>
            <a:srgbClr val="30589B"/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Louisville, KY</a:t>
            </a:r>
          </a:p>
          <a:p>
            <a:pPr algn="ctr"/>
            <a:r>
              <a:rPr lang="en-US" sz="1200" dirty="0" err="1">
                <a:latin typeface="Arial" panose="020B0604020202020204" pitchFamily="34" charset="0"/>
                <a:cs typeface="Arial" panose="020B0604020202020204" pitchFamily="34" charset="0"/>
              </a:rPr>
              <a:t>OneHealth</a:t>
            </a:r>
            <a:r>
              <a:rPr lang="en-US" sz="1200" dirty="0">
                <a:latin typeface="Arial" panose="020B0604020202020204" pitchFamily="34" charset="0"/>
                <a:cs typeface="Arial" panose="020B0604020202020204" pitchFamily="34" charset="0"/>
              </a:rPr>
              <a:t> Plan</a:t>
            </a:r>
          </a:p>
        </p:txBody>
      </p:sp>
    </p:spTree>
    <p:extLst>
      <p:ext uri="{BB962C8B-B14F-4D97-AF65-F5344CB8AC3E}">
        <p14:creationId xmlns:p14="http://schemas.microsoft.com/office/powerpoint/2010/main" val="263972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F9CFB-714A-4CB7-9915-2C74E697A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9959" y="1292697"/>
            <a:ext cx="3677156" cy="30439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(DTE)</a:t>
            </a: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1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Your plan focused on Your relationship with Employers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62E5-A9EF-46A8-AEE5-C69E2BA73B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763" y="1468132"/>
            <a:ext cx="5672318" cy="4660901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Pick the Name of the Health Plan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Determine the Fees Charged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/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Practice the Medicine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400" b="1" dirty="0">
                <a:solidFill>
                  <a:srgbClr val="59CAE8"/>
                </a:solidFill>
                <a:latin typeface="Arial Black" panose="020B0A04020102020204" pitchFamily="34" charset="0"/>
              </a:rPr>
              <a:t>YOU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Receive the Profits  </a:t>
            </a:r>
          </a:p>
          <a:p>
            <a:pPr mar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z="2700" b="1" dirty="0">
                <a:solidFill>
                  <a:srgbClr val="59CAE8"/>
                </a:solidFill>
                <a:latin typeface="Arial Black" panose="020B0A04020102020204" pitchFamily="34" charset="0"/>
              </a:rPr>
              <a:t>WE</a:t>
            </a:r>
            <a:r>
              <a:rPr lang="en-US" sz="2700" dirty="0">
                <a:solidFill>
                  <a:srgbClr val="9900CC"/>
                </a:solidFill>
              </a:rPr>
              <a:t> </a:t>
            </a:r>
            <a:r>
              <a:rPr lang="en-US" sz="27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Make it Successful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3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B2B5697-E648-40EC-88C5-97A77999C18D}"/>
              </a:ext>
            </a:extLst>
          </p:cNvPr>
          <p:cNvSpPr/>
          <p:nvPr/>
        </p:nvSpPr>
        <p:spPr>
          <a:xfrm>
            <a:off x="0" y="0"/>
            <a:ext cx="981075" cy="6858000"/>
          </a:xfrm>
          <a:prstGeom prst="rect">
            <a:avLst/>
          </a:prstGeom>
          <a:solidFill>
            <a:srgbClr val="254F9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A11C0D-6225-4F5F-9034-762253C251A2}"/>
              </a:ext>
            </a:extLst>
          </p:cNvPr>
          <p:cNvGrpSpPr/>
          <p:nvPr/>
        </p:nvGrpSpPr>
        <p:grpSpPr>
          <a:xfrm>
            <a:off x="5489623" y="1468132"/>
            <a:ext cx="640080" cy="4254692"/>
            <a:chOff x="5315974" y="943768"/>
            <a:chExt cx="640080" cy="4254692"/>
          </a:xfrm>
          <a:noFill/>
        </p:grpSpPr>
        <p:pic>
          <p:nvPicPr>
            <p:cNvPr id="308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D8A1C779-0B9F-4A67-8037-7D25A11FFA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4558380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1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78B72E30-7B45-40B1-9302-CE9A3F3AD9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3678222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2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9D9240A2-869D-4166-9772-32124160B4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2798065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3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E8C8DD14-AAF4-4762-B170-F052A3B228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1870916"/>
              <a:ext cx="640080" cy="640080"/>
            </a:xfrm>
            <a:prstGeom prst="rect">
              <a:avLst/>
            </a:prstGeom>
            <a:grpFill/>
          </p:spPr>
        </p:pic>
        <p:pic>
          <p:nvPicPr>
            <p:cNvPr id="54" name="Picture 10" descr="Blue check mark - Transparent PNG &amp; SVG vector file">
              <a:extLst>
                <a:ext uri="{FF2B5EF4-FFF2-40B4-BE49-F238E27FC236}">
                  <a16:creationId xmlns:a16="http://schemas.microsoft.com/office/drawing/2014/main" id="{C05F6E83-E756-4853-B3A8-49C6BE03258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>
              <a:duotone>
                <a:schemeClr val="accent6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15974" y="943768"/>
              <a:ext cx="640080" cy="640080"/>
            </a:xfrm>
            <a:prstGeom prst="rect">
              <a:avLst/>
            </a:prstGeom>
            <a:grpFill/>
          </p:spPr>
        </p:pic>
      </p:grpSp>
      <p:pic>
        <p:nvPicPr>
          <p:cNvPr id="6" name="Picture 2" descr="Health Matters: Baptist Health Hospital reaches huge milestone with 300th  heart transplant | KARK">
            <a:extLst>
              <a:ext uri="{FF2B5EF4-FFF2-40B4-BE49-F238E27FC236}">
                <a16:creationId xmlns:a16="http://schemas.microsoft.com/office/drawing/2014/main" id="{CCDBD195-A044-D3B6-D537-EA062F6F6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153922" y="-160244"/>
            <a:ext cx="2661713" cy="1497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28335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8D2E8DAF-1D68-E498-59FF-722789499308}"/>
              </a:ext>
            </a:extLst>
          </p:cNvPr>
          <p:cNvSpPr/>
          <p:nvPr/>
        </p:nvSpPr>
        <p:spPr>
          <a:xfrm>
            <a:off x="1666276" y="3067446"/>
            <a:ext cx="8418286" cy="2191657"/>
          </a:xfrm>
          <a:custGeom>
            <a:avLst/>
            <a:gdLst>
              <a:gd name="connsiteX0" fmla="*/ 8157028 w 8418286"/>
              <a:gd name="connsiteY0" fmla="*/ 2191657 h 2191657"/>
              <a:gd name="connsiteX1" fmla="*/ 0 w 8418286"/>
              <a:gd name="connsiteY1" fmla="*/ 0 h 2191657"/>
              <a:gd name="connsiteX2" fmla="*/ 1088571 w 8418286"/>
              <a:gd name="connsiteY2" fmla="*/ 14515 h 2191657"/>
              <a:gd name="connsiteX3" fmla="*/ 8418286 w 8418286"/>
              <a:gd name="connsiteY3" fmla="*/ 2177143 h 2191657"/>
              <a:gd name="connsiteX4" fmla="*/ 8157028 w 8418286"/>
              <a:gd name="connsiteY4" fmla="*/ 2191657 h 21916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18286" h="2191657">
                <a:moveTo>
                  <a:pt x="8157028" y="2191657"/>
                </a:moveTo>
                <a:lnTo>
                  <a:pt x="0" y="0"/>
                </a:lnTo>
                <a:lnTo>
                  <a:pt x="1088571" y="14515"/>
                </a:lnTo>
                <a:lnTo>
                  <a:pt x="8418286" y="2177143"/>
                </a:lnTo>
                <a:lnTo>
                  <a:pt x="8157028" y="21916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6AC806E-BA4D-AF7F-5FBB-58FA9ECC5E79}"/>
              </a:ext>
            </a:extLst>
          </p:cNvPr>
          <p:cNvSpPr/>
          <p:nvPr/>
        </p:nvSpPr>
        <p:spPr>
          <a:xfrm>
            <a:off x="1680790" y="3081961"/>
            <a:ext cx="5544457" cy="2206171"/>
          </a:xfrm>
          <a:custGeom>
            <a:avLst/>
            <a:gdLst>
              <a:gd name="connsiteX0" fmla="*/ 5370286 w 5544457"/>
              <a:gd name="connsiteY0" fmla="*/ 2206171 h 2206171"/>
              <a:gd name="connsiteX1" fmla="*/ 0 w 5544457"/>
              <a:gd name="connsiteY1" fmla="*/ 0 h 2206171"/>
              <a:gd name="connsiteX2" fmla="*/ 1117600 w 5544457"/>
              <a:gd name="connsiteY2" fmla="*/ 0 h 2206171"/>
              <a:gd name="connsiteX3" fmla="*/ 5544457 w 5544457"/>
              <a:gd name="connsiteY3" fmla="*/ 2177142 h 2206171"/>
              <a:gd name="connsiteX4" fmla="*/ 5370286 w 5544457"/>
              <a:gd name="connsiteY4" fmla="*/ 2206171 h 22061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544457" h="2206171">
                <a:moveTo>
                  <a:pt x="5370286" y="2206171"/>
                </a:moveTo>
                <a:lnTo>
                  <a:pt x="0" y="0"/>
                </a:lnTo>
                <a:lnTo>
                  <a:pt x="1117600" y="0"/>
                </a:lnTo>
                <a:lnTo>
                  <a:pt x="5544457" y="2177142"/>
                </a:lnTo>
                <a:lnTo>
                  <a:pt x="5370286" y="22061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3FC6F23-9DB4-CE0C-FCDC-AE4293BB605A}"/>
              </a:ext>
            </a:extLst>
          </p:cNvPr>
          <p:cNvSpPr/>
          <p:nvPr/>
        </p:nvSpPr>
        <p:spPr>
          <a:xfrm>
            <a:off x="1666276" y="3067446"/>
            <a:ext cx="2859314" cy="2220686"/>
          </a:xfrm>
          <a:custGeom>
            <a:avLst/>
            <a:gdLst>
              <a:gd name="connsiteX0" fmla="*/ 2627086 w 2859314"/>
              <a:gd name="connsiteY0" fmla="*/ 2133600 h 2220686"/>
              <a:gd name="connsiteX1" fmla="*/ 0 w 2859314"/>
              <a:gd name="connsiteY1" fmla="*/ 0 h 2220686"/>
              <a:gd name="connsiteX2" fmla="*/ 1103086 w 2859314"/>
              <a:gd name="connsiteY2" fmla="*/ 0 h 2220686"/>
              <a:gd name="connsiteX3" fmla="*/ 2859314 w 2859314"/>
              <a:gd name="connsiteY3" fmla="*/ 2220686 h 2220686"/>
              <a:gd name="connsiteX4" fmla="*/ 2627086 w 2859314"/>
              <a:gd name="connsiteY4" fmla="*/ 2133600 h 22206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59314" h="2220686">
                <a:moveTo>
                  <a:pt x="2627086" y="2133600"/>
                </a:moveTo>
                <a:lnTo>
                  <a:pt x="0" y="0"/>
                </a:lnTo>
                <a:lnTo>
                  <a:pt x="1103086" y="0"/>
                </a:lnTo>
                <a:lnTo>
                  <a:pt x="2859314" y="2220686"/>
                </a:lnTo>
                <a:lnTo>
                  <a:pt x="2627086" y="213360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5553759E-194C-3BE9-0812-4BDD6E106166}"/>
              </a:ext>
            </a:extLst>
          </p:cNvPr>
          <p:cNvSpPr/>
          <p:nvPr/>
        </p:nvSpPr>
        <p:spPr>
          <a:xfrm>
            <a:off x="679304" y="3343218"/>
            <a:ext cx="2365829" cy="1959428"/>
          </a:xfrm>
          <a:custGeom>
            <a:avLst/>
            <a:gdLst>
              <a:gd name="connsiteX0" fmla="*/ 696686 w 2365829"/>
              <a:gd name="connsiteY0" fmla="*/ 1959428 h 1959428"/>
              <a:gd name="connsiteX1" fmla="*/ 0 w 2365829"/>
              <a:gd name="connsiteY1" fmla="*/ 0 h 1959428"/>
              <a:gd name="connsiteX2" fmla="*/ 2365829 w 2365829"/>
              <a:gd name="connsiteY2" fmla="*/ 0 h 1959428"/>
              <a:gd name="connsiteX3" fmla="*/ 1596572 w 2365829"/>
              <a:gd name="connsiteY3" fmla="*/ 1930400 h 1959428"/>
              <a:gd name="connsiteX4" fmla="*/ 696686 w 2365829"/>
              <a:gd name="connsiteY4" fmla="*/ 1959428 h 19594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365829" h="1959428">
                <a:moveTo>
                  <a:pt x="696686" y="1959428"/>
                </a:moveTo>
                <a:lnTo>
                  <a:pt x="0" y="0"/>
                </a:lnTo>
                <a:lnTo>
                  <a:pt x="2365829" y="0"/>
                </a:lnTo>
                <a:lnTo>
                  <a:pt x="1596572" y="1930400"/>
                </a:lnTo>
                <a:lnTo>
                  <a:pt x="696686" y="1959428"/>
                </a:lnTo>
                <a:close/>
              </a:path>
            </a:pathLst>
          </a:custGeom>
          <a:solidFill>
            <a:srgbClr val="01A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DDCACF-3B2C-45F6-88BB-41D64A301D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45DC2E-CAD1-4A3B-BB6C-627FC995D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4</a:t>
            </a:fld>
            <a:endParaRPr lang="en-US" dirty="0"/>
          </a:p>
        </p:txBody>
      </p:sp>
      <p:sp>
        <p:nvSpPr>
          <p:cNvPr id="8" name="Flowchart: Terminator 7">
            <a:extLst>
              <a:ext uri="{FF2B5EF4-FFF2-40B4-BE49-F238E27FC236}">
                <a16:creationId xmlns:a16="http://schemas.microsoft.com/office/drawing/2014/main" id="{8D335AB1-AB15-7067-B3BD-167BDAD9B16A}"/>
              </a:ext>
            </a:extLst>
          </p:cNvPr>
          <p:cNvSpPr/>
          <p:nvPr/>
        </p:nvSpPr>
        <p:spPr>
          <a:xfrm>
            <a:off x="609598" y="5204675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01A050"/>
                </a:solidFill>
              </a:rPr>
              <a:t>BH DTE</a:t>
            </a:r>
          </a:p>
        </p:txBody>
      </p:sp>
      <p:sp>
        <p:nvSpPr>
          <p:cNvPr id="18" name="Flowchart: Terminator 17">
            <a:extLst>
              <a:ext uri="{FF2B5EF4-FFF2-40B4-BE49-F238E27FC236}">
                <a16:creationId xmlns:a16="http://schemas.microsoft.com/office/drawing/2014/main" id="{5F2996B7-8D0A-1EEE-8045-797310EFC387}"/>
              </a:ext>
            </a:extLst>
          </p:cNvPr>
          <p:cNvSpPr/>
          <p:nvPr/>
        </p:nvSpPr>
        <p:spPr>
          <a:xfrm>
            <a:off x="6449794" y="5204675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#2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420D1CFD-2433-B308-F247-7CAA7C100A3E}"/>
              </a:ext>
            </a:extLst>
          </p:cNvPr>
          <p:cNvSpPr/>
          <p:nvPr/>
        </p:nvSpPr>
        <p:spPr>
          <a:xfrm>
            <a:off x="9369892" y="5204675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#3</a:t>
            </a: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BA085909-3DBA-1031-1C78-985B4CD8D4FC}"/>
              </a:ext>
            </a:extLst>
          </p:cNvPr>
          <p:cNvSpPr/>
          <p:nvPr/>
        </p:nvSpPr>
        <p:spPr>
          <a:xfrm>
            <a:off x="4612676" y="2849732"/>
            <a:ext cx="1291771" cy="2409371"/>
          </a:xfrm>
          <a:custGeom>
            <a:avLst/>
            <a:gdLst>
              <a:gd name="connsiteX0" fmla="*/ 0 w 1291771"/>
              <a:gd name="connsiteY0" fmla="*/ 2409371 h 2409371"/>
              <a:gd name="connsiteX1" fmla="*/ 391886 w 1291771"/>
              <a:gd name="connsiteY1" fmla="*/ 14514 h 2409371"/>
              <a:gd name="connsiteX2" fmla="*/ 1291771 w 1291771"/>
              <a:gd name="connsiteY2" fmla="*/ 0 h 2409371"/>
              <a:gd name="connsiteX3" fmla="*/ 246743 w 1291771"/>
              <a:gd name="connsiteY3" fmla="*/ 2380343 h 2409371"/>
              <a:gd name="connsiteX4" fmla="*/ 0 w 1291771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91771" h="2409371">
                <a:moveTo>
                  <a:pt x="0" y="2409371"/>
                </a:moveTo>
                <a:lnTo>
                  <a:pt x="391886" y="14514"/>
                </a:lnTo>
                <a:lnTo>
                  <a:pt x="1291771" y="0"/>
                </a:lnTo>
                <a:lnTo>
                  <a:pt x="246743" y="2380343"/>
                </a:lnTo>
                <a:lnTo>
                  <a:pt x="0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Terminator 9">
            <a:extLst>
              <a:ext uri="{FF2B5EF4-FFF2-40B4-BE49-F238E27FC236}">
                <a16:creationId xmlns:a16="http://schemas.microsoft.com/office/drawing/2014/main" id="{75CE525B-6A36-CBFD-DAEC-08C2DCCA890E}"/>
              </a:ext>
            </a:extLst>
          </p:cNvPr>
          <p:cNvSpPr/>
          <p:nvPr/>
        </p:nvSpPr>
        <p:spPr>
          <a:xfrm>
            <a:off x="3529696" y="5204675"/>
            <a:ext cx="2241613" cy="849086"/>
          </a:xfrm>
          <a:prstGeom prst="flowChartTerminator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PPO #1</a:t>
            </a: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25DD61BC-D896-8689-4F94-1C5E1AD8A77C}"/>
              </a:ext>
            </a:extLst>
          </p:cNvPr>
          <p:cNvSpPr/>
          <p:nvPr/>
        </p:nvSpPr>
        <p:spPr>
          <a:xfrm>
            <a:off x="5120676" y="2762646"/>
            <a:ext cx="4702628" cy="2496457"/>
          </a:xfrm>
          <a:custGeom>
            <a:avLst/>
            <a:gdLst>
              <a:gd name="connsiteX0" fmla="*/ 0 w 4702628"/>
              <a:gd name="connsiteY0" fmla="*/ 2496457 h 2496457"/>
              <a:gd name="connsiteX1" fmla="*/ 4209143 w 4702628"/>
              <a:gd name="connsiteY1" fmla="*/ 0 h 2496457"/>
              <a:gd name="connsiteX2" fmla="*/ 4702628 w 4702628"/>
              <a:gd name="connsiteY2" fmla="*/ 14515 h 2496457"/>
              <a:gd name="connsiteX3" fmla="*/ 0 w 4702628"/>
              <a:gd name="connsiteY3" fmla="*/ 2496457 h 2496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702628" h="2496457">
                <a:moveTo>
                  <a:pt x="0" y="2496457"/>
                </a:moveTo>
                <a:lnTo>
                  <a:pt x="4209143" y="0"/>
                </a:lnTo>
                <a:lnTo>
                  <a:pt x="4702628" y="14515"/>
                </a:lnTo>
                <a:lnTo>
                  <a:pt x="0" y="2496457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F58DA010-867A-9491-969D-99ECC30A6783}"/>
              </a:ext>
            </a:extLst>
          </p:cNvPr>
          <p:cNvSpPr/>
          <p:nvPr/>
        </p:nvSpPr>
        <p:spPr>
          <a:xfrm>
            <a:off x="4990047" y="2849732"/>
            <a:ext cx="2641600" cy="2423886"/>
          </a:xfrm>
          <a:custGeom>
            <a:avLst/>
            <a:gdLst>
              <a:gd name="connsiteX0" fmla="*/ 2481943 w 2641600"/>
              <a:gd name="connsiteY0" fmla="*/ 2423886 h 2423886"/>
              <a:gd name="connsiteX1" fmla="*/ 0 w 2641600"/>
              <a:gd name="connsiteY1" fmla="*/ 29029 h 2423886"/>
              <a:gd name="connsiteX2" fmla="*/ 914400 w 2641600"/>
              <a:gd name="connsiteY2" fmla="*/ 0 h 2423886"/>
              <a:gd name="connsiteX3" fmla="*/ 2641600 w 2641600"/>
              <a:gd name="connsiteY3" fmla="*/ 2409371 h 2423886"/>
              <a:gd name="connsiteX4" fmla="*/ 2481943 w 2641600"/>
              <a:gd name="connsiteY4" fmla="*/ 2423886 h 2423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41600" h="2423886">
                <a:moveTo>
                  <a:pt x="2481943" y="2423886"/>
                </a:moveTo>
                <a:lnTo>
                  <a:pt x="0" y="29029"/>
                </a:lnTo>
                <a:lnTo>
                  <a:pt x="914400" y="0"/>
                </a:lnTo>
                <a:lnTo>
                  <a:pt x="2641600" y="2409371"/>
                </a:lnTo>
                <a:lnTo>
                  <a:pt x="2481943" y="2423886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8277868-FEA1-C248-ED39-1002FE8ADFE4}"/>
              </a:ext>
            </a:extLst>
          </p:cNvPr>
          <p:cNvSpPr/>
          <p:nvPr/>
        </p:nvSpPr>
        <p:spPr>
          <a:xfrm>
            <a:off x="7907419" y="2748132"/>
            <a:ext cx="1901371" cy="2525486"/>
          </a:xfrm>
          <a:custGeom>
            <a:avLst/>
            <a:gdLst>
              <a:gd name="connsiteX0" fmla="*/ 0 w 1901371"/>
              <a:gd name="connsiteY0" fmla="*/ 2510971 h 2525486"/>
              <a:gd name="connsiteX1" fmla="*/ 1422400 w 1901371"/>
              <a:gd name="connsiteY1" fmla="*/ 14514 h 2525486"/>
              <a:gd name="connsiteX2" fmla="*/ 1901371 w 1901371"/>
              <a:gd name="connsiteY2" fmla="*/ 0 h 2525486"/>
              <a:gd name="connsiteX3" fmla="*/ 87085 w 1901371"/>
              <a:gd name="connsiteY3" fmla="*/ 2510971 h 2525486"/>
              <a:gd name="connsiteX4" fmla="*/ 58057 w 1901371"/>
              <a:gd name="connsiteY4" fmla="*/ 2481943 h 2525486"/>
              <a:gd name="connsiteX5" fmla="*/ 72571 w 1901371"/>
              <a:gd name="connsiteY5" fmla="*/ 2481943 h 2525486"/>
              <a:gd name="connsiteX6" fmla="*/ 58057 w 1901371"/>
              <a:gd name="connsiteY6" fmla="*/ 2525486 h 2525486"/>
              <a:gd name="connsiteX7" fmla="*/ 0 w 1901371"/>
              <a:gd name="connsiteY7" fmla="*/ 2510971 h 2525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901371" h="2525486">
                <a:moveTo>
                  <a:pt x="0" y="2510971"/>
                </a:moveTo>
                <a:lnTo>
                  <a:pt x="1422400" y="14514"/>
                </a:lnTo>
                <a:lnTo>
                  <a:pt x="1901371" y="0"/>
                </a:lnTo>
                <a:lnTo>
                  <a:pt x="87085" y="2510971"/>
                </a:lnTo>
                <a:lnTo>
                  <a:pt x="58057" y="2481943"/>
                </a:lnTo>
                <a:lnTo>
                  <a:pt x="72571" y="2481943"/>
                </a:lnTo>
                <a:lnTo>
                  <a:pt x="58057" y="2525486"/>
                </a:lnTo>
                <a:lnTo>
                  <a:pt x="0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544170D-73AC-E85A-8695-7AC58167EAA4}"/>
              </a:ext>
            </a:extLst>
          </p:cNvPr>
          <p:cNvSpPr/>
          <p:nvPr/>
        </p:nvSpPr>
        <p:spPr>
          <a:xfrm>
            <a:off x="4990047" y="2849732"/>
            <a:ext cx="5631543" cy="2409371"/>
          </a:xfrm>
          <a:custGeom>
            <a:avLst/>
            <a:gdLst>
              <a:gd name="connsiteX0" fmla="*/ 5413829 w 5631543"/>
              <a:gd name="connsiteY0" fmla="*/ 2409371 h 2409371"/>
              <a:gd name="connsiteX1" fmla="*/ 0 w 5631543"/>
              <a:gd name="connsiteY1" fmla="*/ 14514 h 2409371"/>
              <a:gd name="connsiteX2" fmla="*/ 957943 w 5631543"/>
              <a:gd name="connsiteY2" fmla="*/ 0 h 2409371"/>
              <a:gd name="connsiteX3" fmla="*/ 5631543 w 5631543"/>
              <a:gd name="connsiteY3" fmla="*/ 2380343 h 2409371"/>
              <a:gd name="connsiteX4" fmla="*/ 5413829 w 5631543"/>
              <a:gd name="connsiteY4" fmla="*/ 2409371 h 2409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1543" h="2409371">
                <a:moveTo>
                  <a:pt x="5413829" y="2409371"/>
                </a:moveTo>
                <a:lnTo>
                  <a:pt x="0" y="14514"/>
                </a:lnTo>
                <a:lnTo>
                  <a:pt x="957943" y="0"/>
                </a:lnTo>
                <a:lnTo>
                  <a:pt x="5631543" y="2380343"/>
                </a:lnTo>
                <a:lnTo>
                  <a:pt x="5413829" y="24093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29D0B6-560E-A26C-A57F-320C6F7E2095}"/>
              </a:ext>
            </a:extLst>
          </p:cNvPr>
          <p:cNvSpPr/>
          <p:nvPr/>
        </p:nvSpPr>
        <p:spPr>
          <a:xfrm>
            <a:off x="9286276" y="2777161"/>
            <a:ext cx="1698171" cy="2510971"/>
          </a:xfrm>
          <a:custGeom>
            <a:avLst/>
            <a:gdLst>
              <a:gd name="connsiteX0" fmla="*/ 1698171 w 1698171"/>
              <a:gd name="connsiteY0" fmla="*/ 2510971 h 2510971"/>
              <a:gd name="connsiteX1" fmla="*/ 0 w 1698171"/>
              <a:gd name="connsiteY1" fmla="*/ 43542 h 2510971"/>
              <a:gd name="connsiteX2" fmla="*/ 537028 w 1698171"/>
              <a:gd name="connsiteY2" fmla="*/ 0 h 2510971"/>
              <a:gd name="connsiteX3" fmla="*/ 1698171 w 1698171"/>
              <a:gd name="connsiteY3" fmla="*/ 2510971 h 25109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98171" h="2510971">
                <a:moveTo>
                  <a:pt x="1698171" y="2510971"/>
                </a:moveTo>
                <a:lnTo>
                  <a:pt x="0" y="43542"/>
                </a:lnTo>
                <a:lnTo>
                  <a:pt x="537028" y="0"/>
                </a:lnTo>
                <a:lnTo>
                  <a:pt x="1698171" y="251097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CDDEEC9E-0778-EDDC-EEB1-1D8F9A97B0BD}"/>
              </a:ext>
            </a:extLst>
          </p:cNvPr>
          <p:cNvSpPr/>
          <p:nvPr/>
        </p:nvSpPr>
        <p:spPr>
          <a:xfrm>
            <a:off x="-2867" y="1732122"/>
            <a:ext cx="12194867" cy="16401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2" descr="Health Matters: Baptist Health Hospital reaches huge milestone with 300th  heart transplant | KARK">
            <a:extLst>
              <a:ext uri="{FF2B5EF4-FFF2-40B4-BE49-F238E27FC236}">
                <a16:creationId xmlns:a16="http://schemas.microsoft.com/office/drawing/2014/main" id="{CCDBD195-A044-D3B6-D537-EA062F6F60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598" y="1645973"/>
            <a:ext cx="2887933" cy="162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17577AE-8F82-2A0F-1540-500008EECC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35030" y="1682722"/>
            <a:ext cx="3703405" cy="16246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University of Arkansas Medical School">
            <a:extLst>
              <a:ext uri="{FF2B5EF4-FFF2-40B4-BE49-F238E27FC236}">
                <a16:creationId xmlns:a16="http://schemas.microsoft.com/office/drawing/2014/main" id="{FF7B095B-1D77-BE07-C43A-585663A996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074333" y="1816320"/>
            <a:ext cx="2474685" cy="1237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836188A-EFBC-8764-E841-9B9BD8AA4A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6174" y="234835"/>
            <a:ext cx="10652404" cy="1091529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2800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Direct-to-Employer Strategy:</a:t>
            </a:r>
            <a:br>
              <a:rPr lang="en-US" sz="40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>
                <a:solidFill>
                  <a:srgbClr val="000B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Increased Capture of Commercial Market Share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3269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17A82-FACC-9CE3-5CE6-640CE608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Key Benefit Administrators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EE2C0-9C88-E3B0-3307-08132DDFD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9963971-9E27-D1D8-44A6-33EAA3782592}"/>
              </a:ext>
            </a:extLst>
          </p:cNvPr>
          <p:cNvSpPr txBox="1"/>
          <p:nvPr/>
        </p:nvSpPr>
        <p:spPr>
          <a:xfrm>
            <a:off x="227045" y="1275695"/>
            <a:ext cx="117379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spc="200" dirty="0">
                <a:solidFill>
                  <a:schemeClr val="accent2">
                    <a:lumMod val="75000"/>
                  </a:schemeClr>
                </a:solidFill>
                <a:latin typeface="+mj-lt"/>
                <a:cs typeface="+mj-cs"/>
              </a:rPr>
              <a:t>Target Market</a:t>
            </a:r>
            <a:br>
              <a:rPr lang="en-US" sz="1800" spc="200" dirty="0">
                <a:latin typeface="+mj-lt"/>
                <a:cs typeface="+mj-cs"/>
              </a:rPr>
            </a:br>
            <a:r>
              <a:rPr lang="en-US" sz="1800" spc="200" dirty="0">
                <a:latin typeface="+mj-lt"/>
                <a:cs typeface="+mj-cs"/>
              </a:rPr>
              <a:t>1,073 Employers       120,000</a:t>
            </a:r>
            <a:r>
              <a:rPr lang="en-US" sz="1800" spc="200" dirty="0">
                <a:latin typeface="+mj-lt"/>
                <a:cs typeface="+mj-cs"/>
                <a:sym typeface="Wingdings" panose="05000000000000000000" pitchFamily="2" charset="2"/>
              </a:rPr>
              <a:t>+ Employees       190,000+ Members</a:t>
            </a:r>
            <a:endParaRPr lang="en-US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CCED4F75-71FE-39B7-D7A7-16E95303FB5C}"/>
              </a:ext>
            </a:extLst>
          </p:cNvPr>
          <p:cNvSpPr/>
          <p:nvPr/>
        </p:nvSpPr>
        <p:spPr>
          <a:xfrm>
            <a:off x="4333487" y="1656396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40F1AD2-D85A-D177-8D19-AC9B027C53E2}"/>
              </a:ext>
            </a:extLst>
          </p:cNvPr>
          <p:cNvSpPr/>
          <p:nvPr/>
        </p:nvSpPr>
        <p:spPr>
          <a:xfrm>
            <a:off x="7280031" y="1647719"/>
            <a:ext cx="223374" cy="209073"/>
          </a:xfrm>
          <a:prstGeom prst="chevron">
            <a:avLst/>
          </a:prstGeom>
          <a:solidFill>
            <a:srgbClr val="59CAE8"/>
          </a:solidFill>
          <a:ln>
            <a:solidFill>
              <a:srgbClr val="7D32A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tx1"/>
                </a:solidFill>
              </a:rPr>
              <a:t>     </a:t>
            </a:r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BE1B27-9F04-9265-C933-6FD598A73D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6382928"/>
              </p:ext>
            </p:extLst>
          </p:nvPr>
        </p:nvGraphicFramePr>
        <p:xfrm>
          <a:off x="4889297" y="2140949"/>
          <a:ext cx="6949427" cy="4273027"/>
        </p:xfrm>
        <a:graphic>
          <a:graphicData uri="http://schemas.openxmlformats.org/drawingml/2006/table">
            <a:tbl>
              <a:tblPr/>
              <a:tblGrid>
                <a:gridCol w="2681975">
                  <a:extLst>
                    <a:ext uri="{9D8B030D-6E8A-4147-A177-3AD203B41FA5}">
                      <a16:colId xmlns:a16="http://schemas.microsoft.com/office/drawing/2014/main" val="1559488425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447311937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754037008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1458190780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957112869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257020552"/>
                    </a:ext>
                  </a:extLst>
                </a:gridCol>
                <a:gridCol w="711242">
                  <a:extLst>
                    <a:ext uri="{9D8B030D-6E8A-4147-A177-3AD203B41FA5}">
                      <a16:colId xmlns:a16="http://schemas.microsoft.com/office/drawing/2014/main" val="3699895334"/>
                    </a:ext>
                  </a:extLst>
                </a:gridCol>
              </a:tblGrid>
              <a:tr h="272206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Employees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116657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Commercial Employers With Headquarters: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1961423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9977521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88716138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0736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967609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Employees at Above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00053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32,025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26,850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37,500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52,000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29911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10,875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9,300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1769985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3,450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3,900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7,700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4521340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517032"/>
                  </a:ext>
                </a:extLst>
              </a:tr>
              <a:tr h="440748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Members at Firms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50-100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101-200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201-400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401-1000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1001-3000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3000+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36592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51,240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42,960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75,040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83,200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264,000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1610804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11-20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11,520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14,880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23,520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12,800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17,600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7142275"/>
                  </a:ext>
                </a:extLst>
              </a:tr>
              <a:tr h="243507">
                <a:tc>
                  <a:txBody>
                    <a:bodyPr/>
                    <a:lstStyle/>
                    <a:p>
                      <a:pPr algn="l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Within 21-30 Miles of a BBH Hospital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6,720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5,520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6,240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12,320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6,400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5027535"/>
                  </a:ext>
                </a:extLst>
              </a:tr>
            </a:tbl>
          </a:graphicData>
        </a:graphic>
      </p:graphicFrame>
      <p:sp>
        <p:nvSpPr>
          <p:cNvPr id="16" name="Title 1">
            <a:extLst>
              <a:ext uri="{FF2B5EF4-FFF2-40B4-BE49-F238E27FC236}">
                <a16:creationId xmlns:a16="http://schemas.microsoft.com/office/drawing/2014/main" id="{012C7A76-8C4C-0C17-C582-24A807F19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490" y="-66318"/>
            <a:ext cx="11001020" cy="1325563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</a:pPr>
            <a:r>
              <a:rPr lang="en-US" sz="3600" dirty="0">
                <a:solidFill>
                  <a:srgbClr val="000B2E"/>
                </a:solidFill>
              </a:rPr>
              <a:t>Significant Opportunity for Baptist Health</a:t>
            </a: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 descr="A screenshot of a map&#10;&#10;Description automatically generated">
            <a:extLst>
              <a:ext uri="{FF2B5EF4-FFF2-40B4-BE49-F238E27FC236}">
                <a16:creationId xmlns:a16="http://schemas.microsoft.com/office/drawing/2014/main" id="{8104C534-952B-E2B0-54DE-078062DD57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298" t="33576" r="30776" b="31218"/>
          <a:stretch/>
        </p:blipFill>
        <p:spPr>
          <a:xfrm>
            <a:off x="-1" y="2331288"/>
            <a:ext cx="3797271" cy="2937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439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EBC102-0292-B21D-323C-61E512F17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Key Benefit Administrators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7DC0F-0600-2929-C50B-65887D04A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864769-7530-1C3E-AA58-26FAB6C19A22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4ED7B9-92F8-AFD1-B5A1-41759F44ED98}"/>
              </a:ext>
            </a:extLst>
          </p:cNvPr>
          <p:cNvSpPr txBox="1">
            <a:spLocks/>
          </p:cNvSpPr>
          <p:nvPr/>
        </p:nvSpPr>
        <p:spPr>
          <a:xfrm rot="16200000">
            <a:off x="-2814764" y="2993452"/>
            <a:ext cx="6553884" cy="75204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1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SINGLE-YEAR PROJECTION</a:t>
            </a:r>
          </a:p>
        </p:txBody>
      </p:sp>
      <p:sp>
        <p:nvSpPr>
          <p:cNvPr id="9" name="AutoShape 4">
            <a:extLst>
              <a:ext uri="{FF2B5EF4-FFF2-40B4-BE49-F238E27FC236}">
                <a16:creationId xmlns:a16="http://schemas.microsoft.com/office/drawing/2014/main" id="{106C6F00-FF77-9938-4004-A9A20659EF5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C492FF3-DF1B-F12B-D5ED-5B279CB47C24}"/>
              </a:ext>
            </a:extLst>
          </p:cNvPr>
          <p:cNvSpPr txBox="1"/>
          <p:nvPr/>
        </p:nvSpPr>
        <p:spPr>
          <a:xfrm>
            <a:off x="8958246" y="1382680"/>
            <a:ext cx="31205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Core Model Assumptions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D262C4-7EB6-BACC-2D76-818773A77342}"/>
              </a:ext>
            </a:extLst>
          </p:cNvPr>
          <p:cNvSpPr txBox="1"/>
          <p:nvPr/>
        </p:nvSpPr>
        <p:spPr>
          <a:xfrm>
            <a:off x="8853714" y="2288738"/>
            <a:ext cx="322510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Commercial care margin is 26% (conservatively 70% of observed margin)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DTE pricing is 5% below current commercial levels (employers pay ~10% less but SLUHN saves with easier billing)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Estimated 38% inpatient market share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Estimated 23% outpatient market share</a:t>
            </a:r>
          </a:p>
        </p:txBody>
      </p:sp>
      <p:pic>
        <p:nvPicPr>
          <p:cNvPr id="8" name="Picture 7" descr="A graph on a screen&#10;&#10;Description automatically generated">
            <a:extLst>
              <a:ext uri="{FF2B5EF4-FFF2-40B4-BE49-F238E27FC236}">
                <a16:creationId xmlns:a16="http://schemas.microsoft.com/office/drawing/2014/main" id="{9A72AA95-996B-623F-8583-200C97A3C2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986" y="757234"/>
            <a:ext cx="8035023" cy="5624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08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1584104-3166-4FA8-92FB-C6ABEB17DCED}"/>
              </a:ext>
            </a:extLst>
          </p:cNvPr>
          <p:cNvSpPr/>
          <p:nvPr/>
        </p:nvSpPr>
        <p:spPr>
          <a:xfrm>
            <a:off x="0" y="0"/>
            <a:ext cx="97840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DF93BA-77DA-4714-87BA-6C154521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02199" y="6465009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12CE32-70CB-45CC-841F-9F408BFEE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6B699B2-0ED4-420C-8D6A-E40BF532CD0F}"/>
              </a:ext>
            </a:extLst>
          </p:cNvPr>
          <p:cNvSpPr/>
          <p:nvPr/>
        </p:nvSpPr>
        <p:spPr>
          <a:xfrm>
            <a:off x="0" y="-27866"/>
            <a:ext cx="978408" cy="6858000"/>
          </a:xfrm>
          <a:prstGeom prst="rect">
            <a:avLst/>
          </a:prstGeom>
          <a:solidFill>
            <a:srgbClr val="254F96">
              <a:alpha val="8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1A9C655-FF92-49E3-BB7D-E5BBC008C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2583404" y="3031902"/>
            <a:ext cx="6145216" cy="7520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3600" b="0" dirty="0">
                <a:solidFill>
                  <a:schemeClr val="bg1"/>
                </a:solidFill>
              </a:rPr>
              <a:t>SINGLE YEAR SUMMARY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B8821D0-DEDE-002D-E87D-13E033D5D75F}"/>
              </a:ext>
            </a:extLst>
          </p:cNvPr>
          <p:cNvSpPr txBox="1"/>
          <p:nvPr/>
        </p:nvSpPr>
        <p:spPr>
          <a:xfrm>
            <a:off x="1091590" y="5162550"/>
            <a:ext cx="1088133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NOTE:  Please see detailed financial analysis and assumptions used starting on page 34.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Financial projections do not include 340B contribution margin, which could represent $136 pmpm based upon optimizing 340B through plan design, SLUHN’s approved site(s) with network integration, and development of SLUHN’s proprietary PBM program.</a:t>
            </a:r>
            <a:r>
              <a:rPr lang="en-US" sz="1600" dirty="0">
                <a:highlight>
                  <a:srgbClr val="FFFF00"/>
                </a:highlight>
              </a:rPr>
              <a:t>   </a:t>
            </a:r>
          </a:p>
        </p:txBody>
      </p:sp>
      <p:graphicFrame>
        <p:nvGraphicFramePr>
          <p:cNvPr id="2" name="Content Placeholder 2">
            <a:extLst>
              <a:ext uri="{FF2B5EF4-FFF2-40B4-BE49-F238E27FC236}">
                <a16:creationId xmlns:a16="http://schemas.microsoft.com/office/drawing/2014/main" id="{9044144D-BDD9-407D-D37E-C03EE39A20CC}"/>
              </a:ext>
            </a:extLst>
          </p:cNvPr>
          <p:cNvGraphicFramePr>
            <a:graphicFrameLocks noGrp="1"/>
          </p:cNvGraphicFramePr>
          <p:nvPr/>
        </p:nvGraphicFramePr>
        <p:xfrm>
          <a:off x="2005977" y="389750"/>
          <a:ext cx="9052560" cy="476504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20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Covered Members Financial Analysis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4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Low (conservative) estimate. All monetary values in thousands of dollars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4A72B0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Members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Pre-DTE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Revenue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Total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DTE Incr. Margin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ctr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200" b="1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Net Margin Less DTE Fees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7EC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521K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134K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1,033K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512K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214K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-249K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2,603K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668K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5,165K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2,562K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$ 1,068K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399K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 75K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5,207K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$ 1,337K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$ 10,331K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5,124K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$ 2,136K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799K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  481K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2,500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$ 13,017K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$ 3,342K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$ 25,827K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$ 12,811K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$ 5,339K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$ 1,997K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$ 1,697K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10,000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$ 52,067K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$13,367K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$103,309K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$ 51,243K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$21,357K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$ 7,990K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$ 7,780K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20,000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$104,133K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$26,734K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E8F4F9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$206,618K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$102,485K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$42,714K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$15,980K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C6E2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100" b="1" i="0" u="none" cap="none">
                          <a:solidFill>
                            <a:srgbClr val="FFFFFF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$15,890K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0047AB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 gridSpan="8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endParaRPr sz="1000" b="0" i="0" u="none" cap="none" dirty="0">
                        <a:solidFill>
                          <a:srgbClr val="000000">
                            <a:alpha val="100000"/>
                          </a:srgbClr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27000" marR="127000" algn="l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sz="1000" b="0" i="0" u="none" cap="none">
                          <a:solidFill>
                            <a:srgbClr val="000000">
                              <a:alpha val="100000"/>
                            </a:srgbClr>
                          </a:solidFill>
                          <a:latin typeface="Arial"/>
                          <a:cs typeface="Arial"/>
                          <a:sym typeface="Arial"/>
                        </a:rPr>
                        <a:t>Note: DTE = Direct-to-Employer</a:t>
                      </a:r>
                    </a:p>
                  </a:txBody>
                  <a:tcPr marL="0" marR="0" marT="127000" marB="127000" anchor="ctr">
                    <a:lnL w="0" cap="flat" cmpd="sng" algn="ctr">
                      <a:noFill/>
                      <a:prstDash val="solid"/>
                    </a:lnL>
                    <a:lnR w="0" cap="flat" cmpd="sng" algn="ctr">
                      <a:noFill/>
                      <a:prstDash val="solid"/>
                    </a:lnR>
                    <a:lnT w="0" cap="flat" cmpd="sng" algn="ctr">
                      <a:noFill/>
                      <a:prstDash val="solid"/>
                    </a:lnT>
                    <a:lnB w="0" cap="flat" cmpd="sng" algn="ctr">
                      <a:noFill/>
                      <a:prstDash val="solid"/>
                    </a:lnB>
                    <a:solidFill>
                      <a:srgbClr val="F7F7F7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4544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B5D2E5F-7796-4A80-A1F0-244E8AA938D3}"/>
              </a:ext>
            </a:extLst>
          </p:cNvPr>
          <p:cNvSpPr/>
          <p:nvPr/>
        </p:nvSpPr>
        <p:spPr>
          <a:xfrm>
            <a:off x="0" y="0"/>
            <a:ext cx="3095625" cy="6845654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172" name="Picture 4" descr="Key Benefit Administrators Office Photos | Glassdoor">
            <a:extLst>
              <a:ext uri="{FF2B5EF4-FFF2-40B4-BE49-F238E27FC236}">
                <a16:creationId xmlns:a16="http://schemas.microsoft.com/office/drawing/2014/main" id="{6CEA05B0-D867-49BD-BC20-745975B6F4C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2828926" y="0"/>
            <a:ext cx="936307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9E7BDA1-C2F0-47FC-8E35-E6C155FA1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-4227"/>
            <a:ext cx="3000375" cy="1000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B0828E-DA28-4FBB-9235-C683F78A9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/>
              <a:t>8</a:t>
            </a:fld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8F9B5E8-D3C0-4885-9F6B-379525D51687}"/>
              </a:ext>
            </a:extLst>
          </p:cNvPr>
          <p:cNvSpPr/>
          <p:nvPr/>
        </p:nvSpPr>
        <p:spPr>
          <a:xfrm>
            <a:off x="-3796" y="1415180"/>
            <a:ext cx="7385671" cy="5439997"/>
          </a:xfrm>
          <a:prstGeom prst="rect">
            <a:avLst/>
          </a:prstGeom>
          <a:gradFill flip="none" rotWithShape="1">
            <a:gsLst>
              <a:gs pos="0">
                <a:srgbClr val="C6C5C5"/>
              </a:gs>
              <a:gs pos="68000">
                <a:srgbClr val="B7B6B6"/>
              </a:gs>
              <a:gs pos="43000">
                <a:srgbClr val="A8A7A7"/>
              </a:gs>
              <a:gs pos="93000">
                <a:srgbClr val="A8A7A7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: Single Corner Rounded 4">
            <a:extLst>
              <a:ext uri="{FF2B5EF4-FFF2-40B4-BE49-F238E27FC236}">
                <a16:creationId xmlns:a16="http://schemas.microsoft.com/office/drawing/2014/main" id="{AD1D7B3D-91CE-4826-90BB-5F92F8BB9481}"/>
              </a:ext>
            </a:extLst>
          </p:cNvPr>
          <p:cNvSpPr/>
          <p:nvPr/>
        </p:nvSpPr>
        <p:spPr>
          <a:xfrm>
            <a:off x="0" y="1009650"/>
            <a:ext cx="7477760" cy="5845528"/>
          </a:xfrm>
          <a:prstGeom prst="round1Rect">
            <a:avLst>
              <a:gd name="adj" fmla="val 12082"/>
            </a:avLst>
          </a:prstGeom>
          <a:solidFill>
            <a:srgbClr val="254F96">
              <a:alpha val="9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274320" rtlCol="0" anchor="ctr"/>
          <a:lstStyle/>
          <a:p>
            <a:pPr marL="457206" lvl="1" defTabSz="914411" fontAlgn="base">
              <a:defRPr/>
            </a:pPr>
            <a:endParaRPr lang="en-US" dirty="0">
              <a:solidFill>
                <a:prstClr val="whit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16A404-B324-4680-9ED6-0746BB2B3A16}"/>
              </a:ext>
            </a:extLst>
          </p:cNvPr>
          <p:cNvSpPr/>
          <p:nvPr/>
        </p:nvSpPr>
        <p:spPr>
          <a:xfrm rot="16200000">
            <a:off x="5385400" y="4759020"/>
            <a:ext cx="1873602" cy="2318710"/>
          </a:xfrm>
          <a:custGeom>
            <a:avLst/>
            <a:gdLst>
              <a:gd name="connsiteX0" fmla="*/ 2160577 w 2160577"/>
              <a:gd name="connsiteY0" fmla="*/ 3114245 h 3114245"/>
              <a:gd name="connsiteX1" fmla="*/ 0 w 2160577"/>
              <a:gd name="connsiteY1" fmla="*/ 3114245 h 3114245"/>
              <a:gd name="connsiteX2" fmla="*/ 0 w 2160577"/>
              <a:gd name="connsiteY2" fmla="*/ 0 h 3114245"/>
              <a:gd name="connsiteX3" fmla="*/ 40185 w 2160577"/>
              <a:gd name="connsiteY3" fmla="*/ 231682 h 3114245"/>
              <a:gd name="connsiteX4" fmla="*/ 2101086 w 2160577"/>
              <a:gd name="connsiteY4" fmla="*/ 3114244 h 3114245"/>
              <a:gd name="connsiteX5" fmla="*/ 2158168 w 2160577"/>
              <a:gd name="connsiteY5" fmla="*/ 3108162 h 3114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60577" h="3114245">
                <a:moveTo>
                  <a:pt x="2160577" y="3114245"/>
                </a:moveTo>
                <a:lnTo>
                  <a:pt x="0" y="3114245"/>
                </a:lnTo>
                <a:lnTo>
                  <a:pt x="0" y="0"/>
                </a:lnTo>
                <a:lnTo>
                  <a:pt x="40185" y="231682"/>
                </a:lnTo>
                <a:cubicBezTo>
                  <a:pt x="379730" y="1925643"/>
                  <a:pt x="1174627" y="3114244"/>
                  <a:pt x="2101086" y="3114244"/>
                </a:cubicBezTo>
                <a:lnTo>
                  <a:pt x="2158168" y="3108162"/>
                </a:lnTo>
                <a:close/>
              </a:path>
            </a:pathLst>
          </a:custGeom>
          <a:solidFill>
            <a:srgbClr val="59CAE8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914411">
              <a:defRPr/>
            </a:pPr>
            <a:endParaRPr lang="en-US" dirty="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009B747-65C4-4EA6-8340-1E1EB3FE580D}"/>
              </a:ext>
            </a:extLst>
          </p:cNvPr>
          <p:cNvSpPr txBox="1"/>
          <p:nvPr/>
        </p:nvSpPr>
        <p:spPr>
          <a:xfrm>
            <a:off x="452402" y="2374741"/>
            <a:ext cx="6650809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Founded in 1979 and headquartered in Indianapolis, IN​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Full-service TPA specializing in the administration of self-funded health plans and population health management​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of the country’s largest independently-owned TPAs </a:t>
            </a:r>
          </a:p>
          <a:p>
            <a:pPr marL="285753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Key Family is a commonly-held group of benefits related organizations with:​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3,000+ corporate clients​</a:t>
            </a:r>
          </a:p>
          <a:p>
            <a:pPr marL="742960" lvl="1" indent="-285753" defTabSz="914411" fontAlgn="base"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en-US" sz="1600" spc="150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3.0 million members under management​</a:t>
            </a:r>
          </a:p>
          <a:p>
            <a:pPr marL="285753" indent="-285753" defTabSz="914411">
              <a:lnSpc>
                <a:spcPct val="150000"/>
              </a:lnSpc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Exclusive Relationship</a:t>
            </a:r>
          </a:p>
          <a:p>
            <a:pPr marL="285753" indent="-285753" defTabSz="914411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sz="1600" spc="15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know The Market – Agents, Networks, and MGAs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B33B55-1AEB-4BBC-9F3F-C887F0C42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07458" y="6360415"/>
            <a:ext cx="4114800" cy="365125"/>
          </a:xfrm>
        </p:spPr>
        <p:txBody>
          <a:bodyPr/>
          <a:lstStyle/>
          <a:p>
            <a:r>
              <a:rPr lang="en-US" dirty="0"/>
              <a:t>Key Benefit Administrators</a:t>
            </a:r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BA081F8A-34EF-4672-9370-DBC0CA8BE7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2402" y="1312679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9135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4" descr="Key Benefit Administrators Office Photos | Glassdoor">
            <a:extLst>
              <a:ext uri="{FF2B5EF4-FFF2-40B4-BE49-F238E27FC236}">
                <a16:creationId xmlns:a16="http://schemas.microsoft.com/office/drawing/2014/main" id="{1892E4D4-7A08-4B2B-AE4B-53A6D73CC08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4"/>
          <a:stretch/>
        </p:blipFill>
        <p:spPr bwMode="auto">
          <a:xfrm>
            <a:off x="0" y="-1057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BE43D6C-8B57-42E8-B1DC-2390ECA42EAC}"/>
              </a:ext>
            </a:extLst>
          </p:cNvPr>
          <p:cNvSpPr/>
          <p:nvPr/>
        </p:nvSpPr>
        <p:spPr>
          <a:xfrm>
            <a:off x="1" y="-1057"/>
            <a:ext cx="12203289" cy="6865412"/>
          </a:xfrm>
          <a:prstGeom prst="rect">
            <a:avLst/>
          </a:prstGeom>
          <a:solidFill>
            <a:srgbClr val="59CAE8">
              <a:alpha val="7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B9A266-2718-4687-903B-B87AB1E45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266" y="560444"/>
            <a:ext cx="6850224" cy="78254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A Partner You Can Trust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9F6874-178E-4F82-9DAB-D6100F3B6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80530"/>
            <a:ext cx="4114800" cy="36512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Key Benefit Administrators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C4E82-3249-4BC7-AAC4-401977969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C719D-C4A7-4544-876E-D411D11AF6C9}" type="slidenum">
              <a:rPr lang="en-US" smtClean="0">
                <a:solidFill>
                  <a:schemeClr val="bg1"/>
                </a:solidFill>
              </a:rPr>
              <a:t>9</a:t>
            </a:fld>
            <a:endParaRPr lang="en-US" dirty="0">
              <a:solidFill>
                <a:schemeClr val="bg1"/>
              </a:solidFill>
            </a:endParaRP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E5A4C1D-715F-46F5-A80B-647078B97ADE}"/>
              </a:ext>
            </a:extLst>
          </p:cNvPr>
          <p:cNvGrpSpPr/>
          <p:nvPr/>
        </p:nvGrpSpPr>
        <p:grpSpPr>
          <a:xfrm>
            <a:off x="667280" y="3021140"/>
            <a:ext cx="10857442" cy="1200329"/>
            <a:chOff x="908754" y="2695500"/>
            <a:chExt cx="10558665" cy="1200329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E53A35DC-3649-45F8-BE1C-71234D1F47FC}"/>
                </a:ext>
              </a:extLst>
            </p:cNvPr>
            <p:cNvSpPr/>
            <p:nvPr/>
          </p:nvSpPr>
          <p:spPr>
            <a:xfrm>
              <a:off x="908754" y="2695500"/>
              <a:ext cx="205881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OUR OBJECTIVES ARE ALIGNED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BB7B37B-58E4-4EF5-8BCD-B5AFD3FF7576}"/>
                </a:ext>
              </a:extLst>
            </p:cNvPr>
            <p:cNvSpPr/>
            <p:nvPr/>
          </p:nvSpPr>
          <p:spPr>
            <a:xfrm>
              <a:off x="3464860" y="2695500"/>
              <a:ext cx="2096575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KNOW THE </a:t>
              </a:r>
            </a:p>
            <a:p>
              <a:r>
                <a:rPr lang="en-US" b="1" dirty="0">
                  <a:solidFill>
                    <a:schemeClr val="bg1"/>
                  </a:solidFill>
                </a:rPr>
                <a:t>MARKET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712D71E1-CFC6-401F-B564-C6DB174E5C25}"/>
                </a:ext>
              </a:extLst>
            </p:cNvPr>
            <p:cNvSpPr/>
            <p:nvPr/>
          </p:nvSpPr>
          <p:spPr>
            <a:xfrm>
              <a:off x="6105045" y="2695500"/>
              <a:ext cx="1861517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COMPLETELY TRANSPARENT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3219F81E-41A2-4D21-B41F-E66CCE1EAA9D}"/>
                </a:ext>
              </a:extLst>
            </p:cNvPr>
            <p:cNvSpPr/>
            <p:nvPr/>
          </p:nvSpPr>
          <p:spPr>
            <a:xfrm>
              <a:off x="9062157" y="2695500"/>
              <a:ext cx="2405262" cy="12003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WE HAVE THE SOPHISTICATION AND INFRASTRUCTURE TO EFFECTIVELY COMPETE</a:t>
              </a:r>
            </a:p>
          </p:txBody>
        </p:sp>
      </p:grp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6766B73-ED58-4B01-BD6B-A7599019575A}"/>
              </a:ext>
            </a:extLst>
          </p:cNvPr>
          <p:cNvCxnSpPr>
            <a:cxnSpLocks/>
          </p:cNvCxnSpPr>
          <p:nvPr/>
        </p:nvCxnSpPr>
        <p:spPr>
          <a:xfrm>
            <a:off x="2917120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9A43ED8-AB6C-4F7E-9885-C690563292F2}"/>
              </a:ext>
            </a:extLst>
          </p:cNvPr>
          <p:cNvCxnSpPr>
            <a:cxnSpLocks/>
          </p:cNvCxnSpPr>
          <p:nvPr/>
        </p:nvCxnSpPr>
        <p:spPr>
          <a:xfrm>
            <a:off x="8372475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BD031DC-C93A-4161-9A46-6F11F2AEF085}"/>
              </a:ext>
            </a:extLst>
          </p:cNvPr>
          <p:cNvCxnSpPr>
            <a:cxnSpLocks/>
          </p:cNvCxnSpPr>
          <p:nvPr/>
        </p:nvCxnSpPr>
        <p:spPr>
          <a:xfrm>
            <a:off x="5468408" y="2646538"/>
            <a:ext cx="0" cy="182880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CFD71DC-84A4-44EC-928A-6D9297F1CEFD}"/>
              </a:ext>
            </a:extLst>
          </p:cNvPr>
          <p:cNvGrpSpPr/>
          <p:nvPr/>
        </p:nvGrpSpPr>
        <p:grpSpPr>
          <a:xfrm>
            <a:off x="1051119" y="1991365"/>
            <a:ext cx="9064429" cy="723514"/>
            <a:chOff x="1051119" y="1877065"/>
            <a:chExt cx="8870575" cy="723514"/>
          </a:xfrm>
        </p:grpSpPr>
        <p:pic>
          <p:nvPicPr>
            <p:cNvPr id="36" name="Graphic 35" descr="Cycle with people">
              <a:extLst>
                <a:ext uri="{FF2B5EF4-FFF2-40B4-BE49-F238E27FC236}">
                  <a16:creationId xmlns:a16="http://schemas.microsoft.com/office/drawing/2014/main" id="{DD87A908-9804-4DB4-9FF4-150E55D0A4D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51119" y="1877065"/>
              <a:ext cx="723514" cy="723514"/>
            </a:xfrm>
            <a:prstGeom prst="rect">
              <a:avLst/>
            </a:prstGeom>
          </p:spPr>
        </p:pic>
        <p:pic>
          <p:nvPicPr>
            <p:cNvPr id="38" name="Graphic 37" descr="Bar graph with upward trend">
              <a:extLst>
                <a:ext uri="{FF2B5EF4-FFF2-40B4-BE49-F238E27FC236}">
                  <a16:creationId xmlns:a16="http://schemas.microsoft.com/office/drawing/2014/main" id="{A43C7D21-D600-499C-ADE1-3389B478D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742481" y="1952990"/>
              <a:ext cx="571664" cy="571664"/>
            </a:xfrm>
            <a:prstGeom prst="rect">
              <a:avLst/>
            </a:prstGeom>
          </p:spPr>
        </p:pic>
        <p:pic>
          <p:nvPicPr>
            <p:cNvPr id="42" name="Graphic 41" descr="Research">
              <a:extLst>
                <a:ext uri="{FF2B5EF4-FFF2-40B4-BE49-F238E27FC236}">
                  <a16:creationId xmlns:a16="http://schemas.microsoft.com/office/drawing/2014/main" id="{EB5D0031-3DC4-4608-96CB-BE0770B1915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6417105" y="1930239"/>
              <a:ext cx="617166" cy="617166"/>
            </a:xfrm>
            <a:prstGeom prst="rect">
              <a:avLst/>
            </a:prstGeom>
          </p:spPr>
        </p:pic>
        <p:pic>
          <p:nvPicPr>
            <p:cNvPr id="48" name="Graphic 47" descr="Bullseye">
              <a:extLst>
                <a:ext uri="{FF2B5EF4-FFF2-40B4-BE49-F238E27FC236}">
                  <a16:creationId xmlns:a16="http://schemas.microsoft.com/office/drawing/2014/main" id="{F0079980-31B3-4896-9D2D-D82AEDFA3E2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9285554" y="1920753"/>
              <a:ext cx="636140" cy="636140"/>
            </a:xfrm>
            <a:prstGeom prst="rect">
              <a:avLst/>
            </a:prstGeom>
          </p:spPr>
        </p:pic>
      </p:grpSp>
      <p:pic>
        <p:nvPicPr>
          <p:cNvPr id="28" name="Picture 4">
            <a:extLst>
              <a:ext uri="{FF2B5EF4-FFF2-40B4-BE49-F238E27FC236}">
                <a16:creationId xmlns:a16="http://schemas.microsoft.com/office/drawing/2014/main" id="{9A68CCDA-F69E-4E1A-9343-202FFC37DC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120176" y="4961762"/>
            <a:ext cx="3951647" cy="767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37AD4757-49A8-4E8D-B5EB-262D21C155F1}"/>
              </a:ext>
            </a:extLst>
          </p:cNvPr>
          <p:cNvSpPr txBox="1"/>
          <p:nvPr/>
        </p:nvSpPr>
        <p:spPr>
          <a:xfrm>
            <a:off x="2976561" y="5746908"/>
            <a:ext cx="6238875" cy="646331"/>
          </a:xfrm>
          <a:prstGeom prst="rect">
            <a:avLst/>
          </a:prstGeom>
          <a:solidFill>
            <a:srgbClr val="244F9A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Jack Hill, Executive Vice President – KBA</a:t>
            </a:r>
          </a:p>
          <a:p>
            <a:pPr algn="ctr"/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630-878-7539 * </a:t>
            </a: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jack.hill@keybenefit.com</a:t>
            </a:r>
            <a:endParaRPr lang="en-US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728394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COUNT" val="29"/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643EB6F1B5124D9F8A552D994B00B3" ma:contentTypeVersion="15" ma:contentTypeDescription="Create a new document." ma:contentTypeScope="" ma:versionID="07f1af8f4acde182c1b3188558a15fee">
  <xsd:schema xmlns:xsd="http://www.w3.org/2001/XMLSchema" xmlns:xs="http://www.w3.org/2001/XMLSchema" xmlns:p="http://schemas.microsoft.com/office/2006/metadata/properties" xmlns:ns1="http://schemas.microsoft.com/sharepoint/v3" xmlns:ns3="73b4665c-884a-4375-a2af-95b1b9fefebd" xmlns:ns4="f00513cd-d03f-4a36-8031-96ec2b1a2332" targetNamespace="http://schemas.microsoft.com/office/2006/metadata/properties" ma:root="true" ma:fieldsID="b940c9d8acf570648efc7a679d034003" ns1:_="" ns3:_="" ns4:_="">
    <xsd:import namespace="http://schemas.microsoft.com/sharepoint/v3"/>
    <xsd:import namespace="73b4665c-884a-4375-a2af-95b1b9fefebd"/>
    <xsd:import namespace="f00513cd-d03f-4a36-8031-96ec2b1a233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OCR" minOccurs="0"/>
                <xsd:element ref="ns3:MediaServiceEventHashCode" minOccurs="0"/>
                <xsd:element ref="ns3:MediaServiceGenerationTime" minOccurs="0"/>
                <xsd:element ref="ns3:MediaServiceLocation" minOccurs="0"/>
                <xsd:element ref="ns1:_ip_UnifiedCompliancePolicyProperties" minOccurs="0"/>
                <xsd:element ref="ns1:_ip_UnifiedCompliancePolicyUIAc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b4665c-884a-4375-a2af-95b1b9fefe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2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0513cd-d03f-4a36-8031-96ec2b1a233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DF0AA1-9465-45DA-A905-9501DB639AB6}">
  <ds:schemaRefs>
    <ds:schemaRef ds:uri="http://schemas.openxmlformats.org/package/2006/metadata/core-properties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terms/"/>
    <ds:schemaRef ds:uri="http://purl.org/dc/elements/1.1/"/>
    <ds:schemaRef ds:uri="73b4665c-884a-4375-a2af-95b1b9fefebd"/>
    <ds:schemaRef ds:uri="http://www.w3.org/XML/1998/namespace"/>
    <ds:schemaRef ds:uri="http://schemas.microsoft.com/office/infopath/2007/PartnerControls"/>
    <ds:schemaRef ds:uri="f00513cd-d03f-4a36-8031-96ec2b1a2332"/>
  </ds:schemaRefs>
</ds:datastoreItem>
</file>

<file path=customXml/itemProps2.xml><?xml version="1.0" encoding="utf-8"?>
<ds:datastoreItem xmlns:ds="http://schemas.openxmlformats.org/officeDocument/2006/customXml" ds:itemID="{BF208B6D-7736-4F94-9580-EE469D7406F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3b4665c-884a-4375-a2af-95b1b9fefebd"/>
    <ds:schemaRef ds:uri="f00513cd-d03f-4a36-8031-96ec2b1a23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6F5604B-F201-4300-A086-2482203EA6B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38390</TotalTime>
  <Words>674</Words>
  <Application>Microsoft Office PowerPoint</Application>
  <PresentationFormat>Widescreen</PresentationFormat>
  <Paragraphs>215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 Narrow</vt:lpstr>
      <vt:lpstr>Arial</vt:lpstr>
      <vt:lpstr>Arial Black</vt:lpstr>
      <vt:lpstr>Calibri</vt:lpstr>
      <vt:lpstr>Calibri Light</vt:lpstr>
      <vt:lpstr>Wingdings</vt:lpstr>
      <vt:lpstr>Office Theme</vt:lpstr>
      <vt:lpstr>PowerPoint Presentation</vt:lpstr>
      <vt:lpstr>Healthcare Leader in Private Labeled DTE Plans</vt:lpstr>
      <vt:lpstr>Direct-to-Employer (DTE)  Your plan focused on Your relationship with Employers</vt:lpstr>
      <vt:lpstr>Direct-to-Employer Strategy: Increased Capture of Commercial Market Share</vt:lpstr>
      <vt:lpstr>Significant Opportunity for Baptist Health</vt:lpstr>
      <vt:lpstr>PowerPoint Presentation</vt:lpstr>
      <vt:lpstr>SINGLE YEAR SUMMARY</vt:lpstr>
      <vt:lpstr>PowerPoint Presentation</vt:lpstr>
      <vt:lpstr>A Partner You Can Trust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Hill, Jack</dc:creator>
  <cp:lastModifiedBy>Taylor Davis</cp:lastModifiedBy>
  <cp:revision>99</cp:revision>
  <cp:lastPrinted>2023-07-13T10:24:43Z</cp:lastPrinted>
  <dcterms:created xsi:type="dcterms:W3CDTF">2021-01-20T14:12:11Z</dcterms:created>
  <dcterms:modified xsi:type="dcterms:W3CDTF">2024-07-28T01:58:01Z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0x01010070643EB6F1B5124D9F8A552D994B00B3</vt:lpwstr>
  </property>
</Properties>
</file>