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19"/>
  </p:notesMasterIdLst>
  <p:sldIdLst>
    <p:sldId id="588" r:id="rId8"/>
    <p:sldId id="454" r:id="rId9"/>
    <p:sldId id="549" r:id="rId10"/>
    <p:sldId id="2145726869" r:id="rId11"/>
    <p:sldId id="559" r:id="rId12"/>
    <p:sldId id="580" r:id="rId13"/>
    <p:sldId id="582" r:id="rId14"/>
    <p:sldId id="548" r:id="rId15"/>
    <p:sldId id="585" r:id="rId16"/>
    <p:sldId id="536" r:id="rId17"/>
    <p:sldId id="472" r:id="rId18"/>
  </p:sldIdLst>
  <p:sldSz cx="12192000" cy="6858000"/>
  <p:notesSz cx="7315200" cy="96012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66" d="100"/>
          <a:sy n="66" d="100"/>
        </p:scale>
        <p:origin x="2070" y="7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EFCE2C98-E5B8-45BB-92C5-C134A3FFDD04}"/>
    <pc:docChg chg="delSld delMainMaster">
      <pc:chgData name="Taylor Davis" userId="5c9e72a0-c39f-4aa1-9d7d-64125e78cbe6" providerId="ADAL" clId="{EFCE2C98-E5B8-45BB-92C5-C134A3FFDD04}" dt="2025-05-12T17:55:32.753" v="3" actId="47"/>
      <pc:docMkLst>
        <pc:docMk/>
      </pc:docMkLst>
      <pc:sldChg chg="del">
        <pc:chgData name="Taylor Davis" userId="5c9e72a0-c39f-4aa1-9d7d-64125e78cbe6" providerId="ADAL" clId="{EFCE2C98-E5B8-45BB-92C5-C134A3FFDD04}" dt="2025-05-12T17:55:32.753" v="3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EFCE2C98-E5B8-45BB-92C5-C134A3FFDD04}" dt="2025-05-12T17:55:32.753" v="3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EFCE2C98-E5B8-45BB-92C5-C134A3FFDD04}" dt="2025-05-12T17:55:09.988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EFCE2C98-E5B8-45BB-92C5-C134A3FFDD04}" dt="2025-05-12T17:55:09.988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EFCE2C98-E5B8-45BB-92C5-C134A3FFDD04}" dt="2025-05-12T17:55:32.753" v="3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EFCE2C98-E5B8-45BB-92C5-C134A3FFDD04}" dt="2025-05-12T17:55:32.753" v="3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500461553" sldId="521"/>
        </pc:sldMkLst>
      </pc:sldChg>
      <pc:sldChg chg="del">
        <pc:chgData name="Taylor Davis" userId="5c9e72a0-c39f-4aa1-9d7d-64125e78cbe6" providerId="ADAL" clId="{EFCE2C98-E5B8-45BB-92C5-C134A3FFDD04}" dt="2025-05-12T17:55:14.338" v="1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4064752386" sldId="564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EFCE2C98-E5B8-45BB-92C5-C134A3FFDD04}" dt="2025-05-12T17:55:32.753" v="3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EFCE2C98-E5B8-45BB-92C5-C134A3FFDD04}" dt="2025-05-12T17:55:32.753" v="3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EFCE2C98-E5B8-45BB-92C5-C134A3FFDD04}" dt="2025-05-12T17:55:32.753" v="3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3618341172" sldId="584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EFCE2C98-E5B8-45BB-92C5-C134A3FFDD04}" dt="2025-05-12T17:55:09.988" v="0" actId="47"/>
        <pc:sldMkLst>
          <pc:docMk/>
          <pc:sldMk cId="0" sldId="2145726867"/>
        </pc:sldMkLst>
      </pc:sldChg>
      <pc:sldChg chg="del">
        <pc:chgData name="Taylor Davis" userId="5c9e72a0-c39f-4aa1-9d7d-64125e78cbe6" providerId="ADAL" clId="{EFCE2C98-E5B8-45BB-92C5-C134A3FFDD04}" dt="2025-05-12T17:55:27.230" v="2" actId="47"/>
        <pc:sldMkLst>
          <pc:docMk/>
          <pc:sldMk cId="4087636236" sldId="2145726868"/>
        </pc:sldMkLst>
      </pc:sldChg>
      <pc:sldMasterChg chg="del delSldLayout">
        <pc:chgData name="Taylor Davis" userId="5c9e72a0-c39f-4aa1-9d7d-64125e78cbe6" providerId="ADAL" clId="{EFCE2C98-E5B8-45BB-92C5-C134A3FFDD04}" dt="2025-05-12T17:55:27.230" v="2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EFCE2C98-E5B8-45BB-92C5-C134A3FFDD04}" dt="2025-05-12T17:55:27.230" v="2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EFCE2C98-E5B8-45BB-92C5-C134A3FFDD04}" dt="2025-05-12T17:55:27.230" v="2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5/12/2025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5/12/2025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svg"/><Relationship Id="rId11" Type="http://schemas.openxmlformats.org/officeDocument/2006/relationships/image" Target="../media/image10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Kootenai Health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8810001" y="340347"/>
            <a:ext cx="2823972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500+ Employers       100,000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190,000+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181545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917968" y="1752255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Kootenai Health service area in Benewah, Clearwater, Idaho, Kootenai, Latah, Lewis, Nez Perce, Shoshone, Wallowa, Spokane, and Whitman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463K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265K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173K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98K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$5.83M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$1.46M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$34.64M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$9.68M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$70.96M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$20M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552.6K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1,105.1K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1,987.7K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3,172.0K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228.6K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937.1K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1,826.9K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3,020.8K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773.6K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1,436.7K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2,733.0K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4,361.5K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452.0K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1,272.3K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2,579.4K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4,221.1K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331.5K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663.1K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1,242.3K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1,982.5K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490.3K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1,074.3K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1,820.5K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Kootenai Health has 16% inpatient market share, and 13% outpatient market compared to hospitals/clinics in the Kootenai Health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Kootenai Health.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585902"/>
              </p:ext>
            </p:extLst>
          </p:nvPr>
        </p:nvGraphicFramePr>
        <p:xfrm>
          <a:off x="554739" y="1054570"/>
          <a:ext cx="7646730" cy="4832101"/>
        </p:xfrm>
        <a:graphic>
          <a:graphicData uri="http://schemas.openxmlformats.org/drawingml/2006/table">
            <a:tbl>
              <a:tblPr/>
              <a:tblGrid>
                <a:gridCol w="1529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13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Kootenai Health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Kootenai Health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2,400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$ 1,088,063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$ 1,589,654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$ 742,355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$ 3,420,073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$ 304,657.7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$ 445,103.2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$ 207,859.4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$ 957,620.4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$ 3,143,225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$ 28,800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$ 3,148,025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$ 2,992,025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$ 4,439,695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$ 6,957,219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$ 3,248,962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$ 14,645,876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$ 1,243,114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$ 1,948,021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$ 909,709.4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$ 4,100,845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16% (inpatient) and 13%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28%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28%,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11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46168</TotalTime>
  <Words>1085</Words>
  <Application>Microsoft Office PowerPoint</Application>
  <PresentationFormat>Widescreen</PresentationFormat>
  <Paragraphs>398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DIRECT-TO-EMPLOYER (DTE)  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2025-05-12T17:55:38Z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