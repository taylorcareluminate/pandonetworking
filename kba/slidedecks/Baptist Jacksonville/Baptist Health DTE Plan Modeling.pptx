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97" r:id="rId8"/>
  </p:sldMasterIdLst>
  <p:notesMasterIdLst>
    <p:notesMasterId r:id="rId53"/>
  </p:notesMasterIdLst>
  <p:sldIdLst>
    <p:sldId id="588" r:id="rId9"/>
    <p:sldId id="454" r:id="rId10"/>
    <p:sldId id="2145726874" r:id="rId11"/>
    <p:sldId id="2145726912" r:id="rId12"/>
    <p:sldId id="2145726869" r:id="rId13"/>
    <p:sldId id="466" r:id="rId14"/>
    <p:sldId id="2145726867" r:id="rId15"/>
    <p:sldId id="559" r:id="rId16"/>
    <p:sldId id="580" r:id="rId17"/>
    <p:sldId id="582" r:id="rId18"/>
    <p:sldId id="558" r:id="rId19"/>
    <p:sldId id="548" r:id="rId20"/>
    <p:sldId id="521" r:id="rId21"/>
    <p:sldId id="564" r:id="rId22"/>
    <p:sldId id="2145726913" r:id="rId23"/>
    <p:sldId id="2145726911" r:id="rId24"/>
    <p:sldId id="499" r:id="rId25"/>
    <p:sldId id="613" r:id="rId26"/>
    <p:sldId id="458" r:id="rId27"/>
    <p:sldId id="2145726859" r:id="rId28"/>
    <p:sldId id="2145726857" r:id="rId29"/>
    <p:sldId id="469" r:id="rId30"/>
    <p:sldId id="2145726856" r:id="rId31"/>
    <p:sldId id="614" r:id="rId32"/>
    <p:sldId id="459" r:id="rId33"/>
    <p:sldId id="2145726870" r:id="rId34"/>
    <p:sldId id="281" r:id="rId35"/>
    <p:sldId id="2145726866" r:id="rId36"/>
    <p:sldId id="583" r:id="rId37"/>
    <p:sldId id="584"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58336E-4726-4136-958F-388648A34701}" v="1" dt="2026-07-14T12:24:57.26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6935" autoAdjust="0"/>
  </p:normalViewPr>
  <p:slideViewPr>
    <p:cSldViewPr snapToGrid="0">
      <p:cViewPr>
        <p:scale>
          <a:sx n="75" d="100"/>
          <a:sy n="75" d="100"/>
        </p:scale>
        <p:origin x="1710" y="45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viewProps" Target="viewProp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5" Type="http://schemas.openxmlformats.org/officeDocument/2006/relationships/image" Target="../media/image45.svg"/><Relationship Id="rId4"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5" Type="http://schemas.openxmlformats.org/officeDocument/2006/relationships/image" Target="../media/image45.svg"/><Relationship Id="rId4"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7/14/2026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25</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26</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7/14/2026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7/14/2026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7/14/2026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7/14/2026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7/14/2026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7/14/2026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7/14/2026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7/14/2026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7/14/2026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7/14/2026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7/14/2026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7/14/2026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7/14/2026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7/14/2026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7/14/2026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7/14/2026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7/14/2026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7/14/2026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7/14/2026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7/14/2026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7/14/2026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7/14/2026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7/14/2026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7/14/2026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7/14/2026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7/14/2026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7/14/2026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7/14/2026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7/14/2026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7/14/2026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7/14/2026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ags" Target="../tags/tag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4.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4.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5.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7/14/2026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25"/>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 id="2147483786" r:id="rId13"/>
    <p:sldLayoutId id="2147483787" r:id="rId14"/>
    <p:sldLayoutId id="2147483788" r:id="rId15"/>
    <p:sldLayoutId id="2147483789" r:id="rId16"/>
    <p:sldLayoutId id="2147483790" r:id="rId17"/>
    <p:sldLayoutId id="2147483791" r:id="rId18"/>
    <p:sldLayoutId id="2147483792" r:id="rId19"/>
    <p:sldLayoutId id="2147483793" r:id="rId20"/>
    <p:sldLayoutId id="2147483794" r:id="rId21"/>
    <p:sldLayoutId id="2147483795" r:id="rId22"/>
    <p:sldLayoutId id="2147483796" r:id="rId23"/>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7/14/2026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7/14/2026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44.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13.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26.xml"/><Relationship Id="rId1" Type="http://schemas.openxmlformats.org/officeDocument/2006/relationships/tags" Target="../tags/tag5.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9.pn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7FE53189_F808901F.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3.png"/><Relationship Id="rId1" Type="http://schemas.openxmlformats.org/officeDocument/2006/relationships/slideLayout" Target="../slideLayouts/slideLayout30.xml"/><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40.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24.xml"/><Relationship Id="rId5" Type="http://schemas.openxmlformats.org/officeDocument/2006/relationships/image" Target="../media/image52.svg"/><Relationship Id="rId4" Type="http://schemas.openxmlformats.org/officeDocument/2006/relationships/image" Target="../media/image51.jpe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jpe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8.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8.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60.svg"/><Relationship Id="rId7" Type="http://schemas.openxmlformats.org/officeDocument/2006/relationships/image" Target="../media/image8.png"/><Relationship Id="rId2" Type="http://schemas.openxmlformats.org/officeDocument/2006/relationships/image" Target="../media/image59.jpeg"/><Relationship Id="rId1" Type="http://schemas.openxmlformats.org/officeDocument/2006/relationships/slideLayout" Target="../slideLayouts/slideLayout6.xml"/><Relationship Id="rId6" Type="http://schemas.openxmlformats.org/officeDocument/2006/relationships/image" Target="../media/image63.svg"/><Relationship Id="rId5" Type="http://schemas.openxmlformats.org/officeDocument/2006/relationships/image" Target="../media/image62.svg"/><Relationship Id="rId4" Type="http://schemas.openxmlformats.org/officeDocument/2006/relationships/image" Target="../media/image6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Baptist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6"/>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646920" y="347472"/>
            <a:ext cx="1874231"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Baptist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sp>
        <p:nvSpPr>
          <p:cNvPr id="12" name="TextBox 5">
            <a:extLst>
              <a:ext uri="{FF2B5EF4-FFF2-40B4-BE49-F238E27FC236}">
                <a16:creationId xmlns:a16="http://schemas.microsoft.com/office/drawing/2014/main" id="{C41E963B-490E-1AA1-D531-F60B0FFC48AC}"/>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1,500</a:t>
            </a:r>
            <a:r>
              <a:rPr lang="en-US" spc="200" dirty="0">
                <a:latin typeface="+mj-lt"/>
                <a:cs typeface="+mj-cs"/>
              </a:rPr>
              <a:t>+</a:t>
            </a:r>
            <a:r>
              <a:rPr lang="en-US" sz="1800" spc="200" dirty="0">
                <a:latin typeface="+mj-lt"/>
                <a:cs typeface="+mj-cs"/>
              </a:rPr>
              <a:t> Employers       400,000</a:t>
            </a:r>
            <a:r>
              <a:rPr lang="en-US" sz="1800" spc="200" dirty="0">
                <a:latin typeface="+mj-lt"/>
                <a:cs typeface="+mj-cs"/>
                <a:sym typeface="Wingdings" panose="05000000000000000000" pitchFamily="2" charset="2"/>
              </a:rPr>
              <a:t>+ Employees       600,000+ Members</a:t>
            </a:r>
            <a:endParaRPr lang="en-US" dirty="0"/>
          </a:p>
        </p:txBody>
      </p:sp>
      <p:sp>
        <p:nvSpPr>
          <p:cNvPr id="13" name="Arrow: Chevron 8">
            <a:extLst>
              <a:ext uri="{FF2B5EF4-FFF2-40B4-BE49-F238E27FC236}">
                <a16:creationId xmlns:a16="http://schemas.microsoft.com/office/drawing/2014/main" id="{76E7292F-0E36-EE61-1EC1-C7BB26515D40}"/>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Arrow: Chevron 9">
            <a:extLst>
              <a:ext uri="{FF2B5EF4-FFF2-40B4-BE49-F238E27FC236}">
                <a16:creationId xmlns:a16="http://schemas.microsoft.com/office/drawing/2014/main" id="{450AA4CD-C67E-6FDD-A996-C5CF6873A4E4}"/>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5" name="Table 12">
            <a:extLst>
              <a:ext uri="{FF2B5EF4-FFF2-40B4-BE49-F238E27FC236}">
                <a16:creationId xmlns:a16="http://schemas.microsoft.com/office/drawing/2014/main" id="{CF9DCDB0-AACF-7C97-0D88-7CFAD0914AC3}"/>
              </a:ext>
            </a:extLst>
          </p:cNvPr>
          <p:cNvGraphicFramePr>
            <a:graphicFrameLocks noGrp="1"/>
          </p:cNvGraphicFramePr>
          <p:nvPr>
            <p:extLst>
              <p:ext uri="{D42A27DB-BD31-4B8C-83A1-F6EECF244321}">
                <p14:modId xmlns:p14="http://schemas.microsoft.com/office/powerpoint/2010/main" val="1999819591"/>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911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352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192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29</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68,325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57,600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98,700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319,000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122,985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95,040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103,680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177,660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201,600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574,200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16" name="Picture 4" descr="A map of the state of mississippi&#10;&#10;Description automatically generated">
            <a:extLst>
              <a:ext uri="{FF2B5EF4-FFF2-40B4-BE49-F238E27FC236}">
                <a16:creationId xmlns:a16="http://schemas.microsoft.com/office/drawing/2014/main" id="{1A91D067-249E-9215-3B70-514051EEDB5E}"/>
              </a:ext>
            </a:extLst>
          </p:cNvPr>
          <p:cNvPicPr>
            <a:picLocks noChangeAspect="1"/>
          </p:cNvPicPr>
          <p:nvPr/>
        </p:nvPicPr>
        <p:blipFill>
          <a:blip r:embed="rId2">
            <a:extLst>
              <a:ext uri="{28A0092B-C50C-407E-A947-70E740481C1C}">
                <a14:useLocalDpi xmlns:a14="http://schemas.microsoft.com/office/drawing/2010/main" val="0"/>
              </a:ext>
            </a:extLst>
          </a:blip>
          <a:srcRect l="23808" t="26001" r="27827" b="22851"/>
          <a:stretch/>
        </p:blipFill>
        <p:spPr>
          <a:xfrm>
            <a:off x="0" y="2266932"/>
            <a:ext cx="3980211" cy="3507765"/>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Baptist Health service area in Baker, Clay, Duval, Nassau, St. Johns, Camden, and Charlton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1,681K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978K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656K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397K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$21.36M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$5.73M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$129.89M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$35.81M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$269.11M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$74.29M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Baptist Health has 30% inpatient market share, and 18% outpatient market compared to hospitals/clinics in the Baptist Health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Baptist Health 34%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22.2%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27.2%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32.2%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3,556.3K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6,890.9K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11,328.7K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1,519.2K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3,423.1K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6,787.7K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11,265.1K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2,464.1K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4,924.1K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9,582.7K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15,533.1K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2,166.5K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4,808.9K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9,509.5K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15,512.7K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1,095.1K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2,188.5K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4,306.8K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7,007.4K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779.5K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2,037.3K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4,174.8K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6,899.4K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1308240"/>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BAPTIST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Baptist Health has one of the strongest brands in Baker, Clay, Duval, Nassau, St. Johns, Camden, and Charlton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70560336"/>
              </p:ext>
            </p:extLst>
          </p:nvPr>
        </p:nvGraphicFramePr>
        <p:xfrm>
          <a:off x="254558" y="1645920"/>
          <a:ext cx="9157281" cy="3830433"/>
        </p:xfrm>
        <a:graphic>
          <a:graphicData uri="http://schemas.openxmlformats.org/drawingml/2006/table">
            <a:tbl>
              <a:tblPr/>
              <a:tblGrid>
                <a:gridCol w="2593212">
                  <a:extLst>
                    <a:ext uri="{9D8B030D-6E8A-4147-A177-3AD203B41FA5}">
                      <a16:colId xmlns:a16="http://schemas.microsoft.com/office/drawing/2014/main" val="20000"/>
                    </a:ext>
                  </a:extLst>
                </a:gridCol>
                <a:gridCol w="1675781">
                  <a:extLst>
                    <a:ext uri="{9D8B030D-6E8A-4147-A177-3AD203B41FA5}">
                      <a16:colId xmlns:a16="http://schemas.microsoft.com/office/drawing/2014/main" val="20001"/>
                    </a:ext>
                  </a:extLst>
                </a:gridCol>
                <a:gridCol w="1122132">
                  <a:extLst>
                    <a:ext uri="{9D8B030D-6E8A-4147-A177-3AD203B41FA5}">
                      <a16:colId xmlns:a16="http://schemas.microsoft.com/office/drawing/2014/main" val="20002"/>
                    </a:ext>
                  </a:extLst>
                </a:gridCol>
                <a:gridCol w="1085994">
                  <a:extLst>
                    <a:ext uri="{9D8B030D-6E8A-4147-A177-3AD203B41FA5}">
                      <a16:colId xmlns:a16="http://schemas.microsoft.com/office/drawing/2014/main" val="20003"/>
                    </a:ext>
                  </a:extLst>
                </a:gridCol>
                <a:gridCol w="1321892">
                  <a:extLst>
                    <a:ext uri="{9D8B030D-6E8A-4147-A177-3AD203B41FA5}">
                      <a16:colId xmlns:a16="http://schemas.microsoft.com/office/drawing/2014/main" val="20004"/>
                    </a:ext>
                  </a:extLst>
                </a:gridCol>
                <a:gridCol w="1358270">
                  <a:extLst>
                    <a:ext uri="{9D8B030D-6E8A-4147-A177-3AD203B41FA5}">
                      <a16:colId xmlns:a16="http://schemas.microsoft.com/office/drawing/2014/main" val="20005"/>
                    </a:ext>
                  </a:extLst>
                </a:gridCol>
              </a:tblGrid>
              <a:tr h="952712">
                <a:tc>
                  <a:txBody>
                    <a:bodyPr/>
                    <a:lstStyle/>
                    <a:p>
                      <a:pPr marL="63500" marR="63500" algn="l">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HCAHPS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Recommendation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CMS Stars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Mortality</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Readmission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KBA Brand</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92691">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Mayo Clinic</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45B9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F7EB2">
                        <a:alpha val="100000"/>
                      </a:srgbClr>
                    </a:solidFill>
                  </a:tcPr>
                </a:tc>
                <a:extLst>
                  <a:ext uri="{0D108BD9-81ED-4DB2-BD59-A6C34878D82A}">
                    <a16:rowId xmlns:a16="http://schemas.microsoft.com/office/drawing/2014/main" val="10001"/>
                  </a:ext>
                </a:extLst>
              </a:tr>
              <a:tr h="592691">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Baptist Health (Jacksonville FL)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extLst>
                  <a:ext uri="{0D108BD9-81ED-4DB2-BD59-A6C34878D82A}">
                    <a16:rowId xmlns:a16="http://schemas.microsoft.com/office/drawing/2014/main" val="10002"/>
                  </a:ext>
                </a:extLst>
              </a:tr>
              <a:tr h="592691">
                <a:tc>
                  <a:txBody>
                    <a:bodyPr/>
                    <a:lstStyle/>
                    <a:p>
                      <a:pPr marL="63500" marR="63500" algn="l">
                        <a:lnSpc>
                          <a:spcPct val="100000"/>
                        </a:lnSpc>
                        <a:spcBef>
                          <a:spcPts val="500"/>
                        </a:spcBef>
                        <a:spcAft>
                          <a:spcPts val="500"/>
                        </a:spcAft>
                        <a:buNone/>
                      </a:pPr>
                      <a:r>
                        <a:rPr sz="1100" b="0" i="0" u="none" strike="noStrike" cap="none" dirty="0">
                          <a:solidFill>
                            <a:srgbClr val="000000">
                              <a:alpha val="100000"/>
                            </a:srgbClr>
                          </a:solidFill>
                          <a:latin typeface="Montserrat"/>
                          <a:cs typeface="Arial"/>
                          <a:sym typeface="Arial"/>
                        </a:rPr>
                        <a:t>University of Florida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3"/>
                  </a:ext>
                </a:extLst>
              </a:tr>
              <a:tr h="548844">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Ascension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CBCD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4"/>
                  </a:ext>
                </a:extLst>
              </a:tr>
              <a:tr h="550804">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86CA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dirty="0">
                <a:solidFill>
                  <a:srgbClr val="C00000"/>
                </a:solidFill>
                <a:cs typeface="Arial" panose="020B0604020202020204" pitchFamily="34" charset="0"/>
              </a:rPr>
              <a:t>Affordability Without Compromise</a:t>
            </a:r>
          </a:p>
          <a:p>
            <a:r>
              <a:rPr lang="en-US" altLang="en-US" sz="2600" dirty="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dirty="0">
                <a:solidFill>
                  <a:srgbClr val="FFFFFF"/>
                </a:solidFill>
                <a:cs typeface="Arial" panose="020B0604020202020204" pitchFamily="34" charset="0"/>
              </a:rPr>
              <a:t>*Daily Inpatient Hospital Benefit, OP Surgery/Anesthesia,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 y="231140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B9513E0E-7997-5087-8A07-209BA195F47F}"/>
              </a:ext>
            </a:extLst>
          </p:cNvPr>
          <p:cNvSpPr txBox="1"/>
          <p:nvPr/>
        </p:nvSpPr>
        <p:spPr>
          <a:xfrm>
            <a:off x="571062" y="2690336"/>
            <a:ext cx="3326860" cy="738664"/>
          </a:xfrm>
          <a:prstGeom prst="rect">
            <a:avLst/>
          </a:prstGeom>
          <a:solidFill>
            <a:schemeClr val="bg1"/>
          </a:solidFill>
        </p:spPr>
        <p:txBody>
          <a:bodyPr wrap="square" rtlCol="0">
            <a:spAutoFit/>
          </a:bodyPr>
          <a:lstStyle/>
          <a:p>
            <a:pPr algn="r"/>
            <a:r>
              <a:rPr lang="en-US" b="1" dirty="0">
                <a:solidFill>
                  <a:srgbClr val="00529F"/>
                </a:solidFill>
              </a:rPr>
              <a:t>Basic Medical Benefit</a:t>
            </a:r>
          </a:p>
          <a:p>
            <a:pPr algn="r"/>
            <a:r>
              <a:rPr lang="en-US" sz="1200" dirty="0"/>
              <a:t>Customized major medical plan with access to a broad network of providers</a:t>
            </a:r>
          </a:p>
        </p:txBody>
      </p:sp>
      <p:sp>
        <p:nvSpPr>
          <p:cNvPr id="12" name="TextBox 11">
            <a:extLst>
              <a:ext uri="{FF2B5EF4-FFF2-40B4-BE49-F238E27FC236}">
                <a16:creationId xmlns:a16="http://schemas.microsoft.com/office/drawing/2014/main" id="{B30CC588-ADF1-8271-E978-1C05B8F21774}"/>
              </a:ext>
            </a:extLst>
          </p:cNvPr>
          <p:cNvSpPr txBox="1"/>
          <p:nvPr/>
        </p:nvSpPr>
        <p:spPr>
          <a:xfrm>
            <a:off x="571062" y="3721139"/>
            <a:ext cx="3326860" cy="1107996"/>
          </a:xfrm>
          <a:prstGeom prst="rect">
            <a:avLst/>
          </a:prstGeom>
          <a:solidFill>
            <a:schemeClr val="bg1"/>
          </a:solidFill>
        </p:spPr>
        <p:txBody>
          <a:bodyPr wrap="square" rtlCol="0">
            <a:spAutoFit/>
          </a:bodyPr>
          <a:lstStyle/>
          <a:p>
            <a:pPr algn="r"/>
            <a:r>
              <a:rPr lang="en-US" b="1" dirty="0">
                <a:solidFill>
                  <a:srgbClr val="E86D01"/>
                </a:solidFill>
              </a:rPr>
              <a:t>Health Guardian Account</a:t>
            </a:r>
          </a:p>
          <a:p>
            <a:pPr algn="r"/>
            <a:r>
              <a:rPr lang="en-US" sz="1200" dirty="0"/>
              <a:t>You get the care you need. We do the work to track and administer your Preferred Plus Benefits, Out-of-Pocket Expenses, and Healthcare Convenience Card</a:t>
            </a:r>
          </a:p>
        </p:txBody>
      </p:sp>
      <p:sp>
        <p:nvSpPr>
          <p:cNvPr id="13" name="TextBox 12">
            <a:extLst>
              <a:ext uri="{FF2B5EF4-FFF2-40B4-BE49-F238E27FC236}">
                <a16:creationId xmlns:a16="http://schemas.microsoft.com/office/drawing/2014/main" id="{6330D609-9D4F-4462-7DFB-73AFB229B6DF}"/>
              </a:ext>
            </a:extLst>
          </p:cNvPr>
          <p:cNvSpPr txBox="1"/>
          <p:nvPr/>
        </p:nvSpPr>
        <p:spPr>
          <a:xfrm>
            <a:off x="166688" y="4926349"/>
            <a:ext cx="3818783" cy="1015663"/>
          </a:xfrm>
          <a:prstGeom prst="rect">
            <a:avLst/>
          </a:prstGeom>
          <a:solidFill>
            <a:schemeClr val="bg1"/>
          </a:solidFill>
        </p:spPr>
        <p:txBody>
          <a:bodyPr wrap="square" rtlCol="0">
            <a:spAutoFit/>
          </a:bodyPr>
          <a:lstStyle/>
          <a:p>
            <a:pPr algn="r"/>
            <a:r>
              <a:rPr lang="en-US" b="1" dirty="0">
                <a:solidFill>
                  <a:srgbClr val="F3B03C"/>
                </a:solidFill>
              </a:rPr>
              <a:t>Chronic Disease and Acute Illness Management</a:t>
            </a:r>
          </a:p>
          <a:p>
            <a:pPr algn="r"/>
            <a:r>
              <a:rPr lang="en-US" sz="1200" dirty="0"/>
              <a:t>Patented and proven program focusing on 28 chronic illnesses with a proven 11%-17% savings and a $14:$1 ROI</a:t>
            </a:r>
          </a:p>
        </p:txBody>
      </p:sp>
      <p:sp>
        <p:nvSpPr>
          <p:cNvPr id="14" name="TextBox 13">
            <a:extLst>
              <a:ext uri="{FF2B5EF4-FFF2-40B4-BE49-F238E27FC236}">
                <a16:creationId xmlns:a16="http://schemas.microsoft.com/office/drawing/2014/main" id="{D5A7278E-5F43-01FB-27CE-523F5D70FFF8}"/>
              </a:ext>
            </a:extLst>
          </p:cNvPr>
          <p:cNvSpPr txBox="1"/>
          <p:nvPr/>
        </p:nvSpPr>
        <p:spPr>
          <a:xfrm>
            <a:off x="8496840" y="2967335"/>
            <a:ext cx="3326860" cy="923330"/>
          </a:xfrm>
          <a:prstGeom prst="rect">
            <a:avLst/>
          </a:prstGeom>
          <a:solidFill>
            <a:schemeClr val="bg1"/>
          </a:solidFill>
        </p:spPr>
        <p:txBody>
          <a:bodyPr wrap="square" rtlCol="0">
            <a:spAutoFit/>
          </a:bodyPr>
          <a:lstStyle/>
          <a:p>
            <a:r>
              <a:rPr lang="en-US" b="1" dirty="0">
                <a:solidFill>
                  <a:srgbClr val="00529F"/>
                </a:solidFill>
              </a:rPr>
              <a:t>Preferred Plus Benefits*</a:t>
            </a:r>
          </a:p>
          <a:p>
            <a:r>
              <a:rPr lang="en-US" sz="1200" dirty="0"/>
              <a:t>Benefits payable at KIP preferred providers, offering real dollars to members who get the are they need, when they need it!*</a:t>
            </a:r>
          </a:p>
        </p:txBody>
      </p:sp>
      <p:sp>
        <p:nvSpPr>
          <p:cNvPr id="15" name="TextBox 14">
            <a:extLst>
              <a:ext uri="{FF2B5EF4-FFF2-40B4-BE49-F238E27FC236}">
                <a16:creationId xmlns:a16="http://schemas.microsoft.com/office/drawing/2014/main" id="{A3BA68FB-A0A4-0328-8E6A-0F114DC881F6}"/>
              </a:ext>
            </a:extLst>
          </p:cNvPr>
          <p:cNvSpPr txBox="1"/>
          <p:nvPr/>
        </p:nvSpPr>
        <p:spPr>
          <a:xfrm>
            <a:off x="8496840" y="4054772"/>
            <a:ext cx="3326860" cy="923330"/>
          </a:xfrm>
          <a:prstGeom prst="rect">
            <a:avLst/>
          </a:prstGeom>
          <a:solidFill>
            <a:schemeClr val="bg1"/>
          </a:solidFill>
        </p:spPr>
        <p:txBody>
          <a:bodyPr wrap="square" rtlCol="0">
            <a:spAutoFit/>
          </a:bodyPr>
          <a:lstStyle/>
          <a:p>
            <a:r>
              <a:rPr lang="en-US" b="1" dirty="0">
                <a:solidFill>
                  <a:srgbClr val="C0CF31"/>
                </a:solidFill>
              </a:rPr>
              <a:t>Healthcare Convenience Card</a:t>
            </a:r>
          </a:p>
          <a:p>
            <a:r>
              <a:rPr lang="en-US" sz="1200" dirty="0"/>
              <a:t>0% interest, no-fee Convenience Card, giving members a simple and convenient way to pay for out-of-pocket expenses at Preferred Providers</a:t>
            </a:r>
          </a:p>
        </p:txBody>
      </p:sp>
      <p:sp>
        <p:nvSpPr>
          <p:cNvPr id="16" name="TextBox 15">
            <a:extLst>
              <a:ext uri="{FF2B5EF4-FFF2-40B4-BE49-F238E27FC236}">
                <a16:creationId xmlns:a16="http://schemas.microsoft.com/office/drawing/2014/main" id="{26B6C314-B6EE-234A-324E-DD5719029ACB}"/>
              </a:ext>
            </a:extLst>
          </p:cNvPr>
          <p:cNvSpPr txBox="1"/>
          <p:nvPr/>
        </p:nvSpPr>
        <p:spPr>
          <a:xfrm>
            <a:off x="8116111" y="5113874"/>
            <a:ext cx="4060808" cy="1323439"/>
          </a:xfrm>
          <a:prstGeom prst="rect">
            <a:avLst/>
          </a:prstGeom>
          <a:solidFill>
            <a:schemeClr val="bg1"/>
          </a:solidFill>
        </p:spPr>
        <p:txBody>
          <a:bodyPr wrap="square" rtlCol="0">
            <a:spAutoFit/>
          </a:bodyPr>
          <a:lstStyle/>
          <a:p>
            <a:r>
              <a:rPr lang="en-US" sz="1600" b="1" dirty="0">
                <a:solidFill>
                  <a:srgbClr val="3C4EAD"/>
                </a:solidFill>
              </a:rPr>
              <a:t>Pharmacy Benefit Manager, Specialty Rx, and Obesity Management Program (GLP-1)</a:t>
            </a:r>
          </a:p>
          <a:p>
            <a:r>
              <a:rPr lang="en-US" sz="1200" dirty="0"/>
              <a:t>Truly transparent and innovative Rx programs that offer real savings and 1-on-1, personalized coaching for members. ~20%+ savings on Rx spend, 10% savings on overall claims spend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Baptist Health’s approved site(s) with network integration, and development of Baptist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of 45%+ Steerage and a Commercial Margin of 22.4%.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$ 1,322K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2,978K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$ 2,645K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5,956K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$ 3,311K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583K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$ 6,612K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$ 1,799K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$ 14,890K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$ 8,278K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$ 4,050K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$ 1,952K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$26,449K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$ 7,194K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$ 59,560K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$33,111K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$16,200K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$ 9,006K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$ 8,796K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$52,898K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$14,388K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$119,120K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$66,222K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$32,401K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$18,012K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$17,922K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Baptist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Baptist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Baptist Health’s managed care with KBA’s programs positions Baptist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Baptist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Baptist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Baptist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25</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extLst>
              <p:ext uri="{D42A27DB-BD31-4B8C-83A1-F6EECF244321}">
                <p14:modId xmlns:p14="http://schemas.microsoft.com/office/powerpoint/2010/main" val="283628372"/>
              </p:ext>
            </p:extLst>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a:solidFill>
                            <a:srgbClr val="000000"/>
                          </a:solidFill>
                          <a:effectLst/>
                          <a:latin typeface="Arial" panose="020B0604020202020204" pitchFamily="34" charset="0"/>
                        </a:rPr>
                        <a:t>Healthcare Convenience </a:t>
                      </a:r>
                      <a:r>
                        <a:rPr lang="en-US" sz="1100" b="0" i="1" u="none" strike="noStrike" dirty="0">
                          <a:solidFill>
                            <a:srgbClr val="000000"/>
                          </a:solidFill>
                          <a:effectLst/>
                          <a:latin typeface="Arial" panose="020B0604020202020204" pitchFamily="34" charset="0"/>
                        </a:rPr>
                        <a:t>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26</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Baptist Health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BAPTIST</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BAPTIST HEALTH</a:t>
            </a:r>
            <a:r>
              <a:rPr lang="en-US" sz="2800" dirty="0">
                <a:latin typeface="Montserrat" panose="00000500000000000000" pitchFamily="2" charset="0"/>
                <a:cs typeface="Arial" panose="020B0604020202020204" pitchFamily="34" charset="0"/>
              </a:rPr>
              <a:t>’S 2024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Baptist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325,307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$2,793,958K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85,328</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$388,949K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26%</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8,170</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$0K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17,004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-$152,535K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214,805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$2,399,596K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67%</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2024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43191" y="166345"/>
            <a:ext cx="11110611" cy="1325563"/>
          </a:xfrm>
        </p:spPr>
        <p:txBody>
          <a:bodyPr>
            <a:normAutofit/>
          </a:bodyPr>
          <a:lstStyle/>
          <a:p>
            <a:r>
              <a:rPr lang="en-US" sz="3600" dirty="0">
                <a:latin typeface="Montserrat" panose="00000500000000000000" pitchFamily="2" charset="0"/>
                <a:cs typeface="Arial" panose="020B0604020202020204" pitchFamily="34" charset="0"/>
              </a:rPr>
              <a:t>ESTIMATION OF MARGIN FOR </a:t>
            </a:r>
            <a:br>
              <a:rPr lang="en-US" sz="3600" dirty="0">
                <a:latin typeface="Montserrat" panose="00000500000000000000" pitchFamily="2" charset="0"/>
                <a:cs typeface="Arial" panose="020B0604020202020204" pitchFamily="34" charset="0"/>
              </a:rPr>
            </a:br>
            <a:r>
              <a:rPr lang="en-US" sz="3600" dirty="0">
                <a:latin typeface="Montserrat" panose="00000500000000000000" pitchFamily="2" charset="0"/>
                <a:cs typeface="Arial" panose="020B0604020202020204" pitchFamily="34" charset="0"/>
              </a:rPr>
              <a:t>COMMERCIAL VS. GOVERNMENT PAY</a:t>
            </a:r>
          </a:p>
        </p:txBody>
      </p:sp>
      <p:sp>
        <p:nvSpPr>
          <p:cNvPr id="3" name="Content Placeholder 2">
            <a:extLst>
              <a:ext uri="{FF2B5EF4-FFF2-40B4-BE49-F238E27FC236}">
                <a16:creationId xmlns:a16="http://schemas.microsoft.com/office/drawing/2014/main" id="{18BFBD36-1E96-1E59-E3A7-CCEF02D0CF96}"/>
              </a:ext>
            </a:extLst>
          </p:cNvPr>
          <p:cNvSpPr txBox="1">
            <a:spLocks/>
          </p:cNvSpPr>
          <p:nvPr/>
        </p:nvSpPr>
        <p:spPr>
          <a:xfrm>
            <a:off x="838200" y="2900636"/>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4" name="TextBox 7">
            <a:extLst>
              <a:ext uri="{FF2B5EF4-FFF2-40B4-BE49-F238E27FC236}">
                <a16:creationId xmlns:a16="http://schemas.microsoft.com/office/drawing/2014/main" id="{85163DF1-EB5C-1C3C-A93D-5F16CEEC2B92}"/>
              </a:ext>
            </a:extLst>
          </p:cNvPr>
          <p:cNvSpPr txBox="1"/>
          <p:nvPr/>
        </p:nvSpPr>
        <p:spPr>
          <a:xfrm>
            <a:off x="838199" y="1486335"/>
            <a:ext cx="4742179"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5" name="TextBox 8">
            <a:extLst>
              <a:ext uri="{FF2B5EF4-FFF2-40B4-BE49-F238E27FC236}">
                <a16:creationId xmlns:a16="http://schemas.microsoft.com/office/drawing/2014/main" id="{020B90EA-11B9-6E81-60B7-F3AFEA7FC5A7}"/>
              </a:ext>
            </a:extLst>
          </p:cNvPr>
          <p:cNvSpPr txBox="1"/>
          <p:nvPr/>
        </p:nvSpPr>
        <p:spPr>
          <a:xfrm>
            <a:off x="6827522" y="1486335"/>
            <a:ext cx="4358640"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6"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558318255"/>
              </p:ext>
            </p:extLst>
          </p:nvPr>
        </p:nvGraphicFramePr>
        <p:xfrm>
          <a:off x="964071" y="2952518"/>
          <a:ext cx="4994602" cy="2021840"/>
        </p:xfrm>
        <a:graphic>
          <a:graphicData uri="http://schemas.openxmlformats.org/drawingml/2006/table">
            <a:tbl>
              <a:tblPr bandRow="1">
                <a:tableStyleId>{2D5ABB26-0587-4C30-8999-92F81FD0307C}</a:tableStyleId>
              </a:tblPr>
              <a:tblGrid>
                <a:gridCol w="3106554">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3,623,156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2,402,767</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$1,220,389K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7"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535693315"/>
              </p:ext>
            </p:extLst>
          </p:nvPr>
        </p:nvGraphicFramePr>
        <p:xfrm>
          <a:off x="6827521" y="2947438"/>
          <a:ext cx="4994601" cy="2026920"/>
        </p:xfrm>
        <a:graphic>
          <a:graphicData uri="http://schemas.openxmlformats.org/drawingml/2006/table">
            <a:tbl>
              <a:tblPr bandRow="1">
                <a:tableStyleId>{2D5ABB26-0587-4C30-8999-92F81FD0307C}</a:tableStyleId>
              </a:tblPr>
              <a:tblGrid>
                <a:gridCol w="3106553">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1,155,749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2,402,767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-1,247,018</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-108%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8" name="TextBox 12">
            <a:extLst>
              <a:ext uri="{FF2B5EF4-FFF2-40B4-BE49-F238E27FC236}">
                <a16:creationId xmlns:a16="http://schemas.microsoft.com/office/drawing/2014/main" id="{879CF531-03B5-98C7-7BF8-469C9D55F9E4}"/>
              </a:ext>
            </a:extLst>
          </p:cNvPr>
          <p:cNvSpPr txBox="1"/>
          <p:nvPr/>
        </p:nvSpPr>
        <p:spPr>
          <a:xfrm>
            <a:off x="1043940" y="5245372"/>
            <a:ext cx="4398148"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commercial revenue by the current commercial inpatient day payer mix.  </a:t>
            </a:r>
          </a:p>
        </p:txBody>
      </p:sp>
      <p:sp>
        <p:nvSpPr>
          <p:cNvPr id="9" name="TextBox 13">
            <a:extLst>
              <a:ext uri="{FF2B5EF4-FFF2-40B4-BE49-F238E27FC236}">
                <a16:creationId xmlns:a16="http://schemas.microsoft.com/office/drawing/2014/main" id="{5FAEC66D-2C5F-1BA4-6070-07C2BC7D18E6}"/>
              </a:ext>
            </a:extLst>
          </p:cNvPr>
          <p:cNvSpPr txBox="1"/>
          <p:nvPr/>
        </p:nvSpPr>
        <p:spPr>
          <a:xfrm>
            <a:off x="6827522" y="5244982"/>
            <a:ext cx="4114800"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gov-pay revenue by the current gov-pay inpatient day payer mix.  </a:t>
            </a:r>
          </a:p>
        </p:txBody>
      </p:sp>
      <p:pic>
        <p:nvPicPr>
          <p:cNvPr id="10" name="Picture 2">
            <a:extLst>
              <a:ext uri="{FF2B5EF4-FFF2-40B4-BE49-F238E27FC236}">
                <a16:creationId xmlns:a16="http://schemas.microsoft.com/office/drawing/2014/main" id="{25A167A4-5C97-27E1-FBEE-8922D71233A8}"/>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07EB3B47-BC36-6F8F-B527-35236149E2A8}"/>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18341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30%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18%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1281421449"/>
              </p:ext>
            </p:extLst>
          </p:nvPr>
        </p:nvGraphicFramePr>
        <p:xfrm>
          <a:off x="265176" y="914400"/>
          <a:ext cx="9829800" cy="5382315"/>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804621">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6490">
                <a:tc>
                  <a:txBody>
                    <a:bodyPr/>
                    <a:lstStyle/>
                    <a:p>
                      <a:pPr marL="63500" marR="63500" algn="l">
                        <a:lnSpc>
                          <a:spcPct val="100000"/>
                        </a:lnSpc>
                        <a:spcBef>
                          <a:spcPts val="1"/>
                        </a:spcBef>
                        <a:spcAft>
                          <a:spcPts val="1"/>
                        </a:spcAft>
                        <a:buNone/>
                      </a:pPr>
                      <a:r>
                        <a:rPr sz="800" b="1" i="0" u="none" strike="noStrike" cap="none" dirty="0">
                          <a:solidFill>
                            <a:schemeClr val="accent1"/>
                          </a:solidFill>
                          <a:latin typeface="Montserrat"/>
                          <a:cs typeface="Arial"/>
                          <a:sym typeface="Arial"/>
                        </a:rPr>
                        <a:t>Baptist Medical Center Jacksonville (FKA BMC Downtown)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dirty="0">
                          <a:solidFill>
                            <a:schemeClr val="accent1"/>
                          </a:solidFill>
                          <a:latin typeface="Montserrat"/>
                          <a:cs typeface="Arial"/>
                          <a:sym typeface="Arial"/>
                        </a:rPr>
                        <a:t>949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strike="noStrike" cap="none">
                          <a:solidFill>
                            <a:schemeClr val="accent1"/>
                          </a:solidFill>
                          <a:latin typeface="Montserrat"/>
                          <a:cs typeface="Arial"/>
                          <a:sym typeface="Arial"/>
                        </a:rPr>
                        <a:t>$5,809,067.0K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strike="noStrike" cap="none">
                          <a:solidFill>
                            <a:schemeClr val="accent1"/>
                          </a:solidFill>
                          <a:latin typeface="Montserrat"/>
                          <a:cs typeface="Arial"/>
                          <a:sym typeface="Arial"/>
                        </a:rPr>
                        <a:t>$6,118,772.2K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a:solidFill>
                            <a:schemeClr val="accent1"/>
                          </a:solidFill>
                          <a:latin typeface="Montserrat"/>
                          <a:cs typeface="Arial"/>
                          <a:sym typeface="Arial"/>
                        </a:rPr>
                        <a:t>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a:solidFill>
                            <a:schemeClr val="accent1"/>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62367">
                <a:tc>
                  <a:txBody>
                    <a:bodyPr/>
                    <a:lstStyle/>
                    <a:p>
                      <a:pPr marL="63500" marR="63500" algn="l">
                        <a:lnSpc>
                          <a:spcPct val="100000"/>
                        </a:lnSpc>
                        <a:spcBef>
                          <a:spcPts val="1"/>
                        </a:spcBef>
                        <a:spcAft>
                          <a:spcPts val="1"/>
                        </a:spcAft>
                        <a:buNone/>
                      </a:pPr>
                      <a:r>
                        <a:rPr sz="800" b="1" i="0" u="none" strike="noStrike" cap="none" dirty="0">
                          <a:solidFill>
                            <a:schemeClr val="accent1"/>
                          </a:solidFill>
                          <a:latin typeface="Montserrat"/>
                          <a:cs typeface="Arial"/>
                          <a:sym typeface="Arial"/>
                        </a:rPr>
                        <a:t>Baptist Medical Center Beaches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dirty="0">
                          <a:solidFill>
                            <a:schemeClr val="accent1"/>
                          </a:solidFill>
                          <a:latin typeface="Montserrat"/>
                          <a:cs typeface="Arial"/>
                          <a:sym typeface="Arial"/>
                        </a:rPr>
                        <a:t>135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strike="noStrike" cap="none" dirty="0">
                          <a:solidFill>
                            <a:schemeClr val="accent1"/>
                          </a:solidFill>
                          <a:latin typeface="Montserrat"/>
                          <a:cs typeface="Arial"/>
                          <a:sym typeface="Arial"/>
                        </a:rPr>
                        <a:t>$  579,496.5K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strike="noStrike" cap="none" dirty="0">
                          <a:solidFill>
                            <a:schemeClr val="accent1"/>
                          </a:solidFill>
                          <a:latin typeface="Montserrat"/>
                          <a:cs typeface="Arial"/>
                          <a:sym typeface="Arial"/>
                        </a:rPr>
                        <a:t>$  641,913.5K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a:solidFill>
                            <a:schemeClr val="accent1"/>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dirty="0">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62367">
                <a:tc>
                  <a:txBody>
                    <a:bodyPr/>
                    <a:lstStyle/>
                    <a:p>
                      <a:pPr marL="63500" marR="63500" algn="l">
                        <a:lnSpc>
                          <a:spcPct val="100000"/>
                        </a:lnSpc>
                        <a:spcBef>
                          <a:spcPts val="1"/>
                        </a:spcBef>
                        <a:spcAft>
                          <a:spcPts val="1"/>
                        </a:spcAft>
                        <a:buNone/>
                      </a:pPr>
                      <a:r>
                        <a:rPr sz="800" b="1" i="0" u="none" strike="noStrike" cap="none">
                          <a:solidFill>
                            <a:schemeClr val="accent1"/>
                          </a:solidFill>
                          <a:latin typeface="Montserrat"/>
                          <a:cs typeface="Arial"/>
                          <a:sym typeface="Arial"/>
                        </a:rPr>
                        <a:t>Baptist Medical Center Nassau</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a:solidFill>
                            <a:schemeClr val="accent1"/>
                          </a:solidFill>
                          <a:latin typeface="Montserrat"/>
                          <a:cs typeface="Arial"/>
                          <a:sym typeface="Arial"/>
                        </a:rPr>
                        <a:t>54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strike="noStrike" cap="none" dirty="0">
                          <a:solidFill>
                            <a:schemeClr val="accent1"/>
                          </a:solidFill>
                          <a:latin typeface="Montserrat"/>
                          <a:cs typeface="Arial"/>
                          <a:sym typeface="Arial"/>
                        </a:rPr>
                        <a:t>$  179,518.0K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strike="noStrike" cap="none" dirty="0">
                          <a:solidFill>
                            <a:schemeClr val="accent1"/>
                          </a:solidFill>
                          <a:latin typeface="Montserrat"/>
                          <a:cs typeface="Arial"/>
                          <a:sym typeface="Arial"/>
                        </a:rPr>
                        <a:t>$  343,616.0K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strike="noStrik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UF Health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462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$2,510,444.3K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$2,655,680.3K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Ascension St Vincents Riverside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$1,369,093.4K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$1,674,217.1K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Ed Fraser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17,337.7K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74,697.1K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Naval Hospital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56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Mayo Clinic Hospital - Florida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307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$2,065,758.2K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$1,899,884.2K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HCA Florida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360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$3,970,615.0K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$2,150,274.6K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HCA Florida Orange Park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316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$3,636,532.0K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$2,022,425.7K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16490">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Ascension St Vincents Southside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650,099.9K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  926,517.2K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16490">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Ascension St Vincents Clay County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443,545.4K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545,952.5K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16490">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PAM Health Specialty Hospital of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107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77,452.4K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105.5K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Kindred Hospital North Florida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58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133,213.6K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377.9K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16490">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Brooks Rehabilitation Hospital - University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224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397,858.6K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159,063.0K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16490">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Encompass Heath Rehabilitation Hospital of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34,605.8K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16490">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Reunion Rehabilitation Hospital Jacksonville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32,709.7K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North Florida Rehabilitation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12,164.7K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UF Health North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Northeast Florida State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7,602.8K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River Point Behavioral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84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45,371.6K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5,562.9K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62367">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Wekiva Springs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120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44,308.0K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10,026.5K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216490">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Southeast Georgia Health System - Camden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38,967.8K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  159,797.6K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0" i="0" u="none" strike="noStrik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354484418"/>
              </p:ext>
            </p:extLst>
          </p:nvPr>
        </p:nvGraphicFramePr>
        <p:xfrm>
          <a:off x="0" y="0"/>
          <a:ext cx="12192000" cy="6858000"/>
        </p:xfrm>
        <a:graphic>
          <a:graphicData uri="http://schemas.openxmlformats.org/drawingml/2006/table">
            <a:tbl>
              <a:tblPr/>
              <a:tblGrid>
                <a:gridCol w="5029199">
                  <a:extLst>
                    <a:ext uri="{9D8B030D-6E8A-4147-A177-3AD203B41FA5}">
                      <a16:colId xmlns:a16="http://schemas.microsoft.com/office/drawing/2014/main" val="20000"/>
                    </a:ext>
                  </a:extLst>
                </a:gridCol>
                <a:gridCol w="2445492">
                  <a:extLst>
                    <a:ext uri="{9D8B030D-6E8A-4147-A177-3AD203B41FA5}">
                      <a16:colId xmlns:a16="http://schemas.microsoft.com/office/drawing/2014/main" val="20001"/>
                    </a:ext>
                  </a:extLst>
                </a:gridCol>
                <a:gridCol w="2398154">
                  <a:extLst>
                    <a:ext uri="{9D8B030D-6E8A-4147-A177-3AD203B41FA5}">
                      <a16:colId xmlns:a16="http://schemas.microsoft.com/office/drawing/2014/main" val="20002"/>
                    </a:ext>
                  </a:extLst>
                </a:gridCol>
                <a:gridCol w="2319155">
                  <a:extLst>
                    <a:ext uri="{9D8B030D-6E8A-4147-A177-3AD203B41FA5}">
                      <a16:colId xmlns:a16="http://schemas.microsoft.com/office/drawing/2014/main" val="20003"/>
                    </a:ext>
                  </a:extLst>
                </a:gridCol>
              </a:tblGrid>
              <a:tr h="329400">
                <a:tc gridSpan="4">
                  <a:txBody>
                    <a:bodyPr/>
                    <a:lstStyle/>
                    <a:p>
                      <a:pPr marL="63500" marR="63500" algn="ctr">
                        <a:lnSpc>
                          <a:spcPct val="100000"/>
                        </a:lnSpc>
                        <a:spcBef>
                          <a:spcPts val="500"/>
                        </a:spcBef>
                        <a:spcAft>
                          <a:spcPts val="500"/>
                        </a:spcAft>
                        <a:buNone/>
                      </a:pPr>
                      <a:r>
                        <a:rPr sz="1200" b="1" i="0" u="none" strike="noStrike" cap="none" dirty="0">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718200">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Baptist Medical Center Jacksonville (FKA BMC Downtown)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Baptist Medical Center Beaches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Baptist Medical Center Nassau</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$1,208,286K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$100,832K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$34,467K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$1,272,705K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$111,693K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$65,974K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$327,811K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$41,525K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$19,613K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$2,147,400K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$171,232K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$80,963K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$130,623K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$13,847K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$8,065K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$1,038,535K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$86,577K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$30,146K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$1,093,903K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$95,902K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$57,703K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$2,132,438K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$182,479K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$87,849K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$342,773K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$30,278K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$12,727K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33.0%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67.7%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59.8%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46.0%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64600">
                <a:tc gridSpan="4">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64600">
                <a:tc gridSpan="4">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64600">
                <a:tc gridSpan="4">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64600">
                <a:tc gridSpan="4">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Baptist Health has 30% inpatient market share, and 18% outpatient market compared to hospitals/clinics in the Baptist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Baptist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613712833"/>
              </p:ext>
            </p:extLst>
          </p:nvPr>
        </p:nvGraphicFramePr>
        <p:xfrm>
          <a:off x="647700" y="1054578"/>
          <a:ext cx="7389875" cy="4940842"/>
        </p:xfrm>
        <a:graphic>
          <a:graphicData uri="http://schemas.openxmlformats.org/drawingml/2006/table">
            <a:tbl>
              <a:tblPr/>
              <a:tblGrid>
                <a:gridCol w="1477975">
                  <a:extLst>
                    <a:ext uri="{9D8B030D-6E8A-4147-A177-3AD203B41FA5}">
                      <a16:colId xmlns:a16="http://schemas.microsoft.com/office/drawing/2014/main" val="20000"/>
                    </a:ext>
                  </a:extLst>
                </a:gridCol>
                <a:gridCol w="1477975">
                  <a:extLst>
                    <a:ext uri="{9D8B030D-6E8A-4147-A177-3AD203B41FA5}">
                      <a16:colId xmlns:a16="http://schemas.microsoft.com/office/drawing/2014/main" val="20001"/>
                    </a:ext>
                  </a:extLst>
                </a:gridCol>
                <a:gridCol w="1477975">
                  <a:extLst>
                    <a:ext uri="{9D8B030D-6E8A-4147-A177-3AD203B41FA5}">
                      <a16:colId xmlns:a16="http://schemas.microsoft.com/office/drawing/2014/main" val="20002"/>
                    </a:ext>
                  </a:extLst>
                </a:gridCol>
                <a:gridCol w="1477975">
                  <a:extLst>
                    <a:ext uri="{9D8B030D-6E8A-4147-A177-3AD203B41FA5}">
                      <a16:colId xmlns:a16="http://schemas.microsoft.com/office/drawing/2014/main" val="20003"/>
                    </a:ext>
                  </a:extLst>
                </a:gridCol>
                <a:gridCol w="1477975">
                  <a:extLst>
                    <a:ext uri="{9D8B030D-6E8A-4147-A177-3AD203B41FA5}">
                      <a16:colId xmlns:a16="http://schemas.microsoft.com/office/drawing/2014/main" val="20004"/>
                    </a:ext>
                  </a:extLst>
                </a:gridCol>
              </a:tblGrid>
              <a:tr h="76548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Baptist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Baptist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8768">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9,700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$ 9,825,129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$ 10,791,230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$ 5,039,412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$ 25,655,771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$ 2,672,435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$ 2,935,214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$ 1,370,720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$ 6,978,370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$ 11,212,265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$ 116,400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$ 11,328,665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$ 11,148,665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$ 20,329,329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$ 31,730,248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$ 14,817,756</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$ 66,877,333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$ 5,529,577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$ 8,630,627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$ 4,030,430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$ 18,190,635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30% (inpatient) and 18%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27.2%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62% inpatient and 53%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27.2%,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189842304"/>
              </p:ext>
            </p:extLst>
          </p:nvPr>
        </p:nvGraphicFramePr>
        <p:xfrm>
          <a:off x="0" y="0"/>
          <a:ext cx="12198096" cy="6857998"/>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938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7232">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7891">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$506.4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$1,012.9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$5,064.5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$25,322.5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789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$275.5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$6,887.7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789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$1,871.4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$9,356.8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$46,784.1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789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$509.0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$2,545.1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$12,725.3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$858.5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$4,292.3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$21,461.6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$1,167.5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$5,837.6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$556.2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$1,112.5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$5,562.5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$27,812.4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$1,513.0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$7,565.0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789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$1,392.2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$2,784.4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$13,921.9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$69,609.4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789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$378.7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$757.4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$3,786.8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$18,933.8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$835.9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$1,671.9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$8,359.4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$41,797.0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$227.4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$454.8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$2,273.8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$11,368.8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$259.8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$519.5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$2,597.6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$12,988.2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$650.1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dirty="0">
                          <a:solidFill>
                            <a:srgbClr val="000000">
                              <a:alpha val="100000"/>
                            </a:srgbClr>
                          </a:solidFill>
                          <a:latin typeface="Montserrat"/>
                          <a:cs typeface="Arial"/>
                          <a:sym typeface="Arial"/>
                        </a:rPr>
                        <a:t>$1,300.3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$6,501.4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$32,507.0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789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$1,768.4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$8,841.9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$390.4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$780.8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$3,903.8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$19,518.8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402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$106.2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$1,061.8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$5,309.1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7891">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$126.3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$582.6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$4,233.1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$22,485.5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637804945"/>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of 45%+ Steerage and a Commercial Margin of 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$1,322.5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$2,644.9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$13,224.6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$66,123.1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$17,985.5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$2,978.0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$5,956.0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$29,780.1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$148,900.5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$16,555.5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$82,777.4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$1,620.0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$8,100.2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$40,500.9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$900.6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$4,503.1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$22,515.5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$126.3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$582.6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$4,233.1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$22,485.5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8430936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of 55%+ Steerage and a Commercial Margin of 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of 55%+ Steerage and a Commercial Margin of 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of 55%+ Steerage and a Commercial Margin of 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of 55%+ Steerage and a Commercial Margin of 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of 55%+ Steerage and a Commercial Margin of 27.4%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$1,322.5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$2,644.9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$13,224.6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$66,123.1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$17,985.5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$3,600.9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$7,201.8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$36,008.8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$180,044.1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$4,556.8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$22,784.2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$113,920.9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$1,159.5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$2,319.0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$11,594.8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$57,974.2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$7,997.7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$39,988.7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$475.8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$1,281.5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$7,727.7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$39,958.7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8992962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of 35%+ Steerage and a Commercial Margin of 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of 35%+ Steerage and a Commercial Margin of 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of 35%+ Steerage and a Commercial Margin of 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of 35%+ Steerage and a Commercial Margin of 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of 35%+ Steerage and a Commercial Margin of 17.4%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$1,322.5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$2,644.9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$13,224.6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$66,123.1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$17,985.5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$2,351.7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$4,703.4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$23,516.8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$117,583.9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$10,292.2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$51,460.8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$1,044.1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$5,220.7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$26,103.6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$8,118.1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$-161.6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$1,353.6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$8,088.1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40</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Baptist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Baptist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Baptist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Baptist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Baptist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Baptist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43</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44</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46161</TotalTime>
  <Words>5550</Words>
  <Application>Microsoft Office PowerPoint</Application>
  <PresentationFormat>Widescreen</PresentationFormat>
  <Paragraphs>1417</Paragraphs>
  <Slides>44</Slides>
  <Notes>11</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44</vt:i4>
      </vt:variant>
    </vt:vector>
  </HeadingPairs>
  <TitlesOfParts>
    <vt:vector size="57"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BAPTIST HEALTH IS PATIENT RECOMMENDED</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BAPTIST HEALTH’S 2024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2026-07-14T12:30:58Z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