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1"/>
  </p:notesMasterIdLst>
  <p:sldIdLst>
    <p:sldId id="588" r:id="rId8"/>
    <p:sldId id="454" r:id="rId9"/>
    <p:sldId id="2145726874" r:id="rId10"/>
    <p:sldId id="2145726912" r:id="rId11"/>
    <p:sldId id="559" r:id="rId12"/>
    <p:sldId id="580" r:id="rId13"/>
    <p:sldId id="582" r:id="rId14"/>
    <p:sldId id="548" r:id="rId15"/>
    <p:sldId id="521" r:id="rId16"/>
    <p:sldId id="564" r:id="rId17"/>
    <p:sldId id="585" r:id="rId18"/>
    <p:sldId id="536" r:id="rId19"/>
    <p:sldId id="472" r:id="rId20"/>
  </p:sldIdLst>
  <p:sldSz cx="12192000" cy="6858000"/>
  <p:notesSz cx="7315200" cy="96012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6935" autoAdjust="0"/>
  </p:normalViewPr>
  <p:slideViewPr>
    <p:cSldViewPr snapToGrid="0">
      <p:cViewPr>
        <p:scale>
          <a:sx n="75" d="100"/>
          <a:sy n="75" d="100"/>
        </p:scale>
        <p:origin x="1710" y="4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78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1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86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1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18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28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409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06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2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0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657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24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95" r:id="rId21"/>
    <p:sldLayoutId id="2147483796" r:id="rId22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Baptist Health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E9585457-04EC-9F2F-1461-7D06991F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6" y="691197"/>
            <a:ext cx="8657166" cy="54559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96923" y="3710892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2439551" y="460543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Dallas Fort Worth, TX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3058516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4CD584-8CF7-DD3D-64A2-A93AEE54754C}"/>
              </a:ext>
            </a:extLst>
          </p:cNvPr>
          <p:cNvSpPr/>
          <p:nvPr/>
        </p:nvSpPr>
        <p:spPr>
          <a:xfrm>
            <a:off x="6962035" y="2256594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Cleveland, OH</a:t>
            </a:r>
          </a:p>
        </p:txBody>
      </p:sp>
    </p:spTree>
    <p:extLst>
      <p:ext uri="{BB962C8B-B14F-4D97-AF65-F5344CB8AC3E}">
        <p14:creationId xmlns:p14="http://schemas.microsoft.com/office/powerpoint/2010/main" val="35807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C41E963B-490E-1AA1-D531-F60B0FFC48AC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1,500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400,000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600,000+ Members</a:t>
            </a:r>
            <a:endParaRPr lang="en-US" dirty="0"/>
          </a:p>
        </p:txBody>
      </p:sp>
      <p:sp>
        <p:nvSpPr>
          <p:cNvPr id="13" name="Arrow: Chevron 8">
            <a:extLst>
              <a:ext uri="{FF2B5EF4-FFF2-40B4-BE49-F238E27FC236}">
                <a16:creationId xmlns:a16="http://schemas.microsoft.com/office/drawing/2014/main" id="{76E7292F-0E36-EE61-1EC1-C7BB26515D40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Arrow: Chevron 9">
            <a:extLst>
              <a:ext uri="{FF2B5EF4-FFF2-40B4-BE49-F238E27FC236}">
                <a16:creationId xmlns:a16="http://schemas.microsoft.com/office/drawing/2014/main" id="{450AA4CD-C67E-6FDD-A996-C5CF6873A4E4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CF9DCDB0-AACF-7C97-0D88-7CFAD0914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819591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911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68,325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57,600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98,700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319,000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122,985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95,040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103,680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177,660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201,600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574,200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16" name="Picture 4" descr="A map of the state of mississippi&#10;&#10;Description automatically generated">
            <a:extLst>
              <a:ext uri="{FF2B5EF4-FFF2-40B4-BE49-F238E27FC236}">
                <a16:creationId xmlns:a16="http://schemas.microsoft.com/office/drawing/2014/main" id="{1A91D067-249E-9215-3B70-514051EED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8" t="26001" r="27827" b="22851"/>
          <a:stretch/>
        </p:blipFill>
        <p:spPr>
          <a:xfrm>
            <a:off x="0" y="2266932"/>
            <a:ext cx="3980211" cy="350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Baptist Health service area in Baker, Clay, Duval, Nassau, St. Johns, Camden, and Charlton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1,681K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978K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656K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397K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$21.36M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$5.73M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$129.89M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$35.81M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$269.11M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$74.29M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3,556.3K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6,890.9K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11,328.7K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1,519.2K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3,423.1K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6,787.7K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11,265.1K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2,464.1K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4,924.1K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9,582.7K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15,533.1K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2,166.5K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4,808.9K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9,509.5K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15,512.7K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1,095.1K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2,188.5K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4,306.8K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7,007.4K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779.5K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2,037.3K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4,174.8K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6,899.4K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508760" y="2834640"/>
            <a:ext cx="3154680" cy="130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BAPTIST HEALTH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</a:rPr>
              <a:t>Based on quality measures and HCAHPS feedback, KBA estimates that Baptist Health has one of the strongest brands in Baker, Clay, Duval, Nassau, St. Johns, Camden, and Charlton Counties.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560336"/>
              </p:ext>
            </p:extLst>
          </p:nvPr>
        </p:nvGraphicFramePr>
        <p:xfrm>
          <a:off x="254558" y="1645920"/>
          <a:ext cx="9157281" cy="3830433"/>
        </p:xfrm>
        <a:graphic>
          <a:graphicData uri="http://schemas.openxmlformats.org/drawingml/2006/table">
            <a:tbl>
              <a:tblPr/>
              <a:tblGrid>
                <a:gridCol w="2593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271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9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Mayo Clinic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45B9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058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F7EB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69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Baptist Health (Jacksonville FL)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69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University of Florida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1D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69E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84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Ascension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CBCD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69E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979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69E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0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DE4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2D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86C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9ADC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Baptist Health has 30% inpatient market share, and 18% outpatient market compared to hospitals/clinics in the Baptist Health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Baptist Health.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712833"/>
              </p:ext>
            </p:extLst>
          </p:nvPr>
        </p:nvGraphicFramePr>
        <p:xfrm>
          <a:off x="647700" y="1054578"/>
          <a:ext cx="7389875" cy="4940842"/>
        </p:xfrm>
        <a:graphic>
          <a:graphicData uri="http://schemas.openxmlformats.org/drawingml/2006/table">
            <a:tbl>
              <a:tblPr/>
              <a:tblGrid>
                <a:gridCol w="14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4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Baptist Health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Baptist Health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93,200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9,700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$ 9,825,129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$ 10,791,230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$ 5,039,412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$ 25,655,771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$ 2,672,435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$ 2,935,214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$ 1,370,720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$ 6,978,370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$ 11,212,265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$ 116,400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$ 11,328,665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$ 11,148,665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$ 20,329,329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$ 31,730,248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$ 14,817,756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$ 66,877,333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$ 5,529,577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$ 8,630,627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$ 4,030,430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$ 18,190,635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30% (inpatient) and 18%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27.2%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62% inpatient and 53%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27.2%,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13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46163</TotalTime>
  <Words>1161</Words>
  <Application>Microsoft Office PowerPoint</Application>
  <PresentationFormat>Widescreen</PresentationFormat>
  <Paragraphs>429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BAPTIST HEALTH IS PATIENT RECOMMENDED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2026-07-14T12:32:23Z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