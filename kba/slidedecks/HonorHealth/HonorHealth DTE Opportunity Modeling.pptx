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7"/>
  </p:notesMasterIdLst>
  <p:sldIdLst>
    <p:sldId id="577" r:id="rId5"/>
    <p:sldId id="454" r:id="rId6"/>
    <p:sldId id="549" r:id="rId7"/>
    <p:sldId id="487" r:id="rId8"/>
    <p:sldId id="452" r:id="rId9"/>
    <p:sldId id="518" r:id="rId10"/>
    <p:sldId id="466" r:id="rId11"/>
    <p:sldId id="559" r:id="rId12"/>
    <p:sldId id="580" r:id="rId13"/>
    <p:sldId id="582" r:id="rId14"/>
    <p:sldId id="558" r:id="rId15"/>
    <p:sldId id="548" r:id="rId16"/>
    <p:sldId id="521" r:id="rId17"/>
    <p:sldId id="564" r:id="rId18"/>
    <p:sldId id="456" r:id="rId19"/>
    <p:sldId id="489" r:id="rId20"/>
    <p:sldId id="499" r:id="rId21"/>
    <p:sldId id="458" r:id="rId22"/>
    <p:sldId id="446" r:id="rId23"/>
    <p:sldId id="461" r:id="rId24"/>
    <p:sldId id="462" r:id="rId25"/>
    <p:sldId id="469" r:id="rId26"/>
    <p:sldId id="336" r:id="rId27"/>
    <p:sldId id="337" r:id="rId28"/>
    <p:sldId id="578" r:id="rId29"/>
    <p:sldId id="583" r:id="rId30"/>
    <p:sldId id="584" r:id="rId31"/>
    <p:sldId id="527" r:id="rId32"/>
    <p:sldId id="571" r:id="rId33"/>
    <p:sldId id="546" r:id="rId34"/>
    <p:sldId id="547" r:id="rId35"/>
    <p:sldId id="585" r:id="rId36"/>
    <p:sldId id="536" r:id="rId37"/>
    <p:sldId id="256" r:id="rId38"/>
    <p:sldId id="574" r:id="rId39"/>
    <p:sldId id="572" r:id="rId40"/>
    <p:sldId id="575" r:id="rId41"/>
    <p:sldId id="498" r:id="rId42"/>
    <p:sldId id="325" r:id="rId43"/>
    <p:sldId id="326" r:id="rId44"/>
    <p:sldId id="491" r:id="rId45"/>
    <p:sldId id="472" r:id="rId46"/>
  </p:sldIdLst>
  <p:sldSz cx="12192000" cy="6858000"/>
  <p:notesSz cx="7315200" cy="9601200"/>
  <p:custDataLst>
    <p:tags r:id="rId4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1B8570-5AD3-41A1-98CF-61C1CD80937F}" v="1" dt="2024-11-27T13:32:57.623"/>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609" autoAdjust="0"/>
  </p:normalViewPr>
  <p:slideViewPr>
    <p:cSldViewPr snapToGrid="0">
      <p:cViewPr>
        <p:scale>
          <a:sx n="75" d="100"/>
          <a:sy n="75" d="100"/>
        </p:scale>
        <p:origin x="1872" y="516"/>
      </p:cViewPr>
      <p:guideLst/>
    </p:cSldViewPr>
  </p:slideViewPr>
  <p:notesTextViewPr>
    <p:cViewPr>
      <p:scale>
        <a:sx n="66" d="100"/>
        <a:sy n="66"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0D1B8570-5AD3-41A1-98CF-61C1CD80937F}"/>
    <pc:docChg chg="modSld">
      <pc:chgData name="Taylor Davis" userId="5c9e72a0-c39f-4aa1-9d7d-64125e78cbe6" providerId="ADAL" clId="{0D1B8570-5AD3-41A1-98CF-61C1CD80937F}" dt="2024-11-27T13:33:55.093" v="148" actId="1076"/>
      <pc:docMkLst>
        <pc:docMk/>
      </pc:docMkLst>
      <pc:sldChg chg="modSp mod">
        <pc:chgData name="Taylor Davis" userId="5c9e72a0-c39f-4aa1-9d7d-64125e78cbe6" providerId="ADAL" clId="{0D1B8570-5AD3-41A1-98CF-61C1CD80937F}" dt="2024-11-27T13:31:24.400" v="1" actId="20577"/>
        <pc:sldMkLst>
          <pc:docMk/>
          <pc:sldMk cId="0" sldId="256"/>
        </pc:sldMkLst>
        <pc:graphicFrameChg chg="modGraphic">
          <ac:chgData name="Taylor Davis" userId="5c9e72a0-c39f-4aa1-9d7d-64125e78cbe6" providerId="ADAL" clId="{0D1B8570-5AD3-41A1-98CF-61C1CD80937F}" dt="2024-11-27T13:31:24.400" v="1" actId="20577"/>
          <ac:graphicFrameMkLst>
            <pc:docMk/>
            <pc:sldMk cId="0" sldId="256"/>
            <ac:graphicFrameMk id="2" creationId="{00000000-0000-0000-0000-000000000000}"/>
          </ac:graphicFrameMkLst>
        </pc:graphicFrameChg>
      </pc:sldChg>
      <pc:sldChg chg="addSp modSp mod">
        <pc:chgData name="Taylor Davis" userId="5c9e72a0-c39f-4aa1-9d7d-64125e78cbe6" providerId="ADAL" clId="{0D1B8570-5AD3-41A1-98CF-61C1CD80937F}" dt="2024-11-27T13:33:55.093" v="148" actId="1076"/>
        <pc:sldMkLst>
          <pc:docMk/>
          <pc:sldMk cId="315794589" sldId="548"/>
        </pc:sldMkLst>
        <pc:spChg chg="add mod">
          <ac:chgData name="Taylor Davis" userId="5c9e72a0-c39f-4aa1-9d7d-64125e78cbe6" providerId="ADAL" clId="{0D1B8570-5AD3-41A1-98CF-61C1CD80937F}" dt="2024-11-27T13:33:55.093" v="148" actId="1076"/>
          <ac:spMkLst>
            <pc:docMk/>
            <pc:sldMk cId="315794589" sldId="548"/>
            <ac:spMk id="8" creationId="{5C9AD5B0-6177-EBC9-732C-E469CE02E3BE}"/>
          </ac:spMkLst>
        </pc:spChg>
      </pc:sldChg>
      <pc:sldChg chg="modSp mod">
        <pc:chgData name="Taylor Davis" userId="5c9e72a0-c39f-4aa1-9d7d-64125e78cbe6" providerId="ADAL" clId="{0D1B8570-5AD3-41A1-98CF-61C1CD80937F}" dt="2024-11-27T13:31:38.512" v="4" actId="20577"/>
        <pc:sldMkLst>
          <pc:docMk/>
          <pc:sldMk cId="0" sldId="572"/>
        </pc:sldMkLst>
        <pc:graphicFrameChg chg="modGraphic">
          <ac:chgData name="Taylor Davis" userId="5c9e72a0-c39f-4aa1-9d7d-64125e78cbe6" providerId="ADAL" clId="{0D1B8570-5AD3-41A1-98CF-61C1CD80937F}" dt="2024-11-27T13:31:38.512" v="4" actId="20577"/>
          <ac:graphicFrameMkLst>
            <pc:docMk/>
            <pc:sldMk cId="0" sldId="572"/>
            <ac:graphicFrameMk id="2" creationId="{00000000-0000-0000-0000-000000000000}"/>
          </ac:graphicFrameMkLst>
        </pc:graphicFrameChg>
      </pc:sldChg>
      <pc:sldChg chg="modSp mod">
        <pc:chgData name="Taylor Davis" userId="5c9e72a0-c39f-4aa1-9d7d-64125e78cbe6" providerId="ADAL" clId="{0D1B8570-5AD3-41A1-98CF-61C1CD80937F}" dt="2024-11-27T13:31:34.023" v="3" actId="20577"/>
        <pc:sldMkLst>
          <pc:docMk/>
          <pc:sldMk cId="1064222983" sldId="574"/>
        </pc:sldMkLst>
        <pc:graphicFrameChg chg="modGraphic">
          <ac:chgData name="Taylor Davis" userId="5c9e72a0-c39f-4aa1-9d7d-64125e78cbe6" providerId="ADAL" clId="{0D1B8570-5AD3-41A1-98CF-61C1CD80937F}" dt="2024-11-27T13:31:34.023" v="3" actId="20577"/>
          <ac:graphicFrameMkLst>
            <pc:docMk/>
            <pc:sldMk cId="1064222983" sldId="574"/>
            <ac:graphicFrameMk id="2" creationId="{00000000-0000-0000-0000-000000000000}"/>
          </ac:graphicFrameMkLst>
        </pc:graphicFrameChg>
      </pc:sldChg>
      <pc:sldChg chg="modSp mod">
        <pc:chgData name="Taylor Davis" userId="5c9e72a0-c39f-4aa1-9d7d-64125e78cbe6" providerId="ADAL" clId="{0D1B8570-5AD3-41A1-98CF-61C1CD80937F}" dt="2024-11-27T13:31:44.466" v="5" actId="20577"/>
        <pc:sldMkLst>
          <pc:docMk/>
          <pc:sldMk cId="3790917938" sldId="575"/>
        </pc:sldMkLst>
        <pc:graphicFrameChg chg="modGraphic">
          <ac:chgData name="Taylor Davis" userId="5c9e72a0-c39f-4aa1-9d7d-64125e78cbe6" providerId="ADAL" clId="{0D1B8570-5AD3-41A1-98CF-61C1CD80937F}" dt="2024-11-27T13:31:44.466" v="5" actId="20577"/>
          <ac:graphicFrameMkLst>
            <pc:docMk/>
            <pc:sldMk cId="3790917938" sldId="575"/>
            <ac:graphicFrameMk id="2" creationId="{00000000-0000-0000-0000-000000000000}"/>
          </ac:graphicFrameMkLst>
        </pc:graphicFrame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image" Target="../media/image25.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image" Target="../media/image25.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54060E05-1455-499C-A6BB-E47A1C8EFC1A}" type="presOf" srcId="{B1FA3D48-7F41-4C46-99D6-6C8591F4198C}" destId="{8C4E3136-41AF-48D5-891D-C7A5263CF655}" srcOrd="0" destOrd="1" presId="urn:microsoft.com/office/officeart/2005/8/layout/bList2"/>
    <dgm:cxn modelId="{EBF30808-A408-4F9D-B9C2-E5FC4507A989}" srcId="{137481BD-655E-4B21-9249-6EBB92970AA3}" destId="{B1FA3D48-7F41-4C46-99D6-6C8591F4198C}" srcOrd="1" destOrd="0" parTransId="{012C922E-7A6C-43B7-A753-53C75D0CB07F}" sibTransId="{4E6B45C1-37A8-43E1-8B00-EA4364BA9A53}"/>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1"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92EAACA0-EC69-4A7A-A0D6-B767ABABFD4D}" type="presOf" srcId="{8AA02574-A625-4CCB-B607-53FB332909CE}" destId="{9E8AA967-F63D-4462-B3DF-2E61DCE37D82}" srcOrd="0" destOrd="0" presId="urn:microsoft.com/office/officeart/2005/8/layout/bList2"/>
    <dgm:cxn modelId="{FB851ADA-FDC3-4AC9-B5D1-634F1680EA45}" type="presOf" srcId="{D23E581B-AA16-403B-8AF5-1BB3E719881C}" destId="{5F2862EE-15F0-400F-BA0C-7A5864BA0266}" srcOrd="0" destOrd="0" presId="urn:microsoft.com/office/officeart/2005/8/layout/bList2"/>
    <dgm:cxn modelId="{D5EF1BE8-567B-4AEB-9931-155FFDAC15D1}" srcId="{8AA02574-A625-4CCB-B607-53FB332909CE}" destId="{5E564713-3E5C-4216-AC76-2C8D569707A1}" srcOrd="1" destOrd="0" parTransId="{0C8DA182-D421-4374-AA69-62A4033F8D61}" sibTransId="{C594015F-2B43-47FD-9E44-22D00FC6EB48}"/>
    <dgm:cxn modelId="{AECB39EB-1DBA-434A-8146-CF9B196B8451}" type="presOf" srcId="{8F0095CA-0C27-493A-9874-D794A8A73536}" destId="{35B06EAE-30F4-4745-ACED-5452905F1416}" srcOrd="0" destOrd="0" presId="urn:microsoft.com/office/officeart/2005/8/layout/bList2"/>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11/27/2024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11/27/2024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11/27/2024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11/27/2024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11/27/2024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11/27/2024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11/27/2024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11/27/2024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11/27/2024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11/27/2024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11/27/2024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11/27/2024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11/27/2024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4.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jpeg"/><Relationship Id="rId7" Type="http://schemas.openxmlformats.org/officeDocument/2006/relationships/image" Target="../media/image33.jpe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jpeg"/><Relationship Id="rId4" Type="http://schemas.openxmlformats.org/officeDocument/2006/relationships/image" Target="../media/image30.png"/><Relationship Id="rId9"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image" Target="../media/image41.jpeg"/><Relationship Id="rId4" Type="http://schemas.microsoft.com/office/2007/relationships/hdphoto" Target="../media/hdphoto2.wdp"/></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2.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jpeg"/><Relationship Id="rId1" Type="http://schemas.openxmlformats.org/officeDocument/2006/relationships/slideLayout" Target="../slideLayouts/slideLayout6.xml"/><Relationship Id="rId6" Type="http://schemas.openxmlformats.org/officeDocument/2006/relationships/image" Target="../media/image48.svg"/><Relationship Id="rId11" Type="http://schemas.openxmlformats.org/officeDocument/2006/relationships/image" Target="../media/image6.pn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HONORHEALTH DIRECT-TO-EMPLOYER PLAN </a:t>
            </a:r>
          </a:p>
          <a:p>
            <a:r>
              <a:rPr lang="en-US" sz="2000" b="1" dirty="0">
                <a:solidFill>
                  <a:schemeClr val="bg1"/>
                </a:solidFill>
              </a:rPr>
              <a:t>November 27,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7" name="Content Placeholder 6"/>
          <p:cNvPicPr>
            <a:picLocks noGrp="1"/>
          </p:cNvPicPr>
          <p:nvPr>
            <p:ph/>
          </p:nvPr>
        </p:nvPicPr>
        <p:blipFill>
          <a:blip r:embed="rId3" cstate="print"/>
          <a:stretch>
            <a:fillRect/>
          </a:stretch>
        </p:blipFill>
        <p:spPr>
          <a:xfrm>
            <a:off x="987552" y="1636776"/>
            <a:ext cx="11201400" cy="5221224"/>
          </a:xfrm>
          <a:prstGeom prst="rect">
            <a:avLst/>
          </a:prstGeom>
        </p:spPr>
      </p:pic>
      <p:pic>
        <p:nvPicPr>
          <p:cNvPr id="8" name="Content Placeholder 7"/>
          <p:cNvPicPr>
            <a:picLocks noGrp="1"/>
          </p:cNvPicPr>
          <p:nvPr>
            <p:ph/>
          </p:nvPr>
        </p:nvPicPr>
        <p:blipFill>
          <a:blip r:embed="rId4" cstate="print"/>
          <a:stretch>
            <a:fillRect/>
          </a:stretch>
        </p:blipFill>
        <p:spPr>
          <a:xfrm>
            <a:off x="9528751" y="796163"/>
            <a:ext cx="2398188" cy="704088"/>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13" name="Content Placeholder 12"/>
          <p:cNvPicPr>
            <a:picLocks noGrp="1"/>
          </p:cNvPicPr>
          <p:nvPr>
            <p:ph/>
          </p:nvPr>
        </p:nvPicPr>
        <p:blipFill>
          <a:blip r:embed="rId3" cstate="print"/>
          <a:stretch>
            <a:fillRect/>
          </a:stretch>
        </p:blipFill>
        <p:spPr>
          <a:xfrm>
            <a:off x="8913390" y="348830"/>
            <a:ext cx="2647350" cy="777240"/>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HonorHealth</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solidFill/>
              </a:rPr>
              <a:t>HonorHealth is a quality and access leader </a:t>
            </a:r>
            <a:r>
              <a:rPr lang="en-US" dirty="0"/>
              <a:t>in </a:t>
            </a:r>
            <a:r>
              <a:rPr lang="en-US" sz="1800" dirty="0">
                <a:solidFill>
                  <a:srgbClr val="000B2E"/>
                </a:solidFill>
              </a:rPr>
              <a:t>Maricopa, Pinal and Gila Counties</a:t>
            </a:r>
            <a:r>
              <a:rPr lang="en-US" dirty="0"/>
              <a:t>. </a:t>
            </a:r>
            <a:r>
              <a:rPr lang="en-US" dirty="0">
                <a:solidFill/>
              </a:rPr>
              <a:t>KBA is confident that an HonorHealth DTE plan would successfully sell.</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dirty="0">
                <a:solidFill/>
              </a:rPr>
              <a:t>Profit growth will hold if these assumptions accurately play out as expected for HonorHealth.</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4"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5"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~$1.50 of loss</a:t>
            </a:r>
          </a:p>
        </p:txBody>
      </p:sp>
      <p:sp>
        <p:nvSpPr>
          <p:cNvPr id="7"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9"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0"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~$0.44 of profit</a:t>
            </a:r>
          </a:p>
        </p:txBody>
      </p:sp>
      <p:sp>
        <p:nvSpPr>
          <p:cNvPr id="13" name="TextBox 6">
            <a:extLst>
              <a:ext uri="{FF2B5EF4-FFF2-40B4-BE49-F238E27FC236}">
                <a16:creationId xmlns:a16="http://schemas.microsoft.com/office/drawing/2014/main" id="{820D1BA4-6D19-00FD-17FF-A0AD0AAAF7EE}"/>
              </a:ext>
            </a:extLst>
          </p:cNvPr>
          <p:cNvSpPr txBox="1"/>
          <p:nvPr/>
        </p:nvSpPr>
        <p:spPr>
          <a:xfrm>
            <a:off x="1973943" y="5562552"/>
            <a:ext cx="9132180" cy="369332"/>
          </a:xfrm>
          <a:prstGeom prst="rect">
            <a:avLst/>
          </a:prstGeom>
          <a:noFill/>
        </p:spPr>
        <p:txBody>
          <a:bodyPr wrap="none" rtlCol="0">
            <a:spAutoFit/>
          </a:bodyPr>
          <a:lstStyle/>
          <a:p>
            <a:r>
              <a:rPr lang="en-US" dirty="0"/>
              <a:t>See slide 24 for more details on the calculation of commercial and government-pay net income.</a:t>
            </a:r>
          </a:p>
        </p:txBody>
      </p:sp>
      <p:pic>
        <p:nvPicPr>
          <p:cNvPr id="14" name="Content Placeholder 13"/>
          <p:cNvPicPr>
            <a:picLocks noGrp="1"/>
          </p:cNvPicPr>
          <p:nvPr>
            <p:ph/>
          </p:nvPr>
        </p:nvPicPr>
        <p:blipFill>
          <a:blip r:embed="rId2" cstate="print"/>
          <a:stretch>
            <a:fillRect/>
          </a:stretch>
        </p:blipFill>
        <p:spPr>
          <a:xfrm>
            <a:off x="8680228" y="322385"/>
            <a:ext cx="2647350" cy="777240"/>
          </a:xfrm>
          <a:prstGeom prst="rect">
            <a:avLst/>
          </a:prstGeom>
        </p:spPr>
      </p:pic>
    </p:spTree>
    <p:extLst>
      <p:ext uri="{BB962C8B-B14F-4D97-AF65-F5344CB8AC3E}">
        <p14:creationId xmlns:p14="http://schemas.microsoft.com/office/powerpoint/2010/main" val="3348736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solidFill/>
              </a:rPr>
              <a:t>“At the table” with HonorHealth</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5,000</a:t>
            </a:r>
            <a:r>
              <a:rPr lang="en-US" spc="200" dirty="0">
                <a:latin typeface="+mj-lt"/>
                <a:cs typeface="+mj-cs"/>
              </a:rPr>
              <a:t>+</a:t>
            </a:r>
            <a:r>
              <a:rPr lang="en-US" sz="1800" spc="200" dirty="0">
                <a:latin typeface="+mj-lt"/>
                <a:cs typeface="+mj-cs"/>
              </a:rPr>
              <a:t> Employers       7</a:t>
            </a:r>
            <a:r>
              <a:rPr lang="en-US" spc="200" dirty="0">
                <a:latin typeface="+mj-lt"/>
                <a:cs typeface="+mj-cs"/>
              </a:rPr>
              <a:t>0</a:t>
            </a:r>
            <a:r>
              <a:rPr lang="en-US" sz="1800" spc="200" dirty="0">
                <a:latin typeface="+mj-lt"/>
                <a:cs typeface="+mj-cs"/>
              </a:rPr>
              <a:t>0,000</a:t>
            </a:r>
            <a:r>
              <a:rPr lang="en-US" sz="1800" spc="200" dirty="0">
                <a:latin typeface="+mj-lt"/>
                <a:cs typeface="+mj-cs"/>
                <a:sym typeface="Wingdings" panose="05000000000000000000" pitchFamily="2" charset="2"/>
              </a:rPr>
              <a:t>+ Employees       1,200,000+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Maricopa, Pinal and Gila Counties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443968948"/>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3,524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1387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876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502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151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116</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264,300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208,100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262,800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351,400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302,000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696,000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475,700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374,600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473,000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632,500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543,600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1,252,800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rcRect l="24940" t="30509" r="28230" b="35038"/>
          <a:stretch/>
        </p:blipFill>
        <p:spPr>
          <a:xfrm>
            <a:off x="-1" y="2564004"/>
            <a:ext cx="4114799" cy="283531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r>
              <a:rPr lang="en-US" dirty="0">
                <a:solidFill/>
              </a:rPr>
              <a:t>Estimates include Gila, Maricopa, and Pinal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4,918K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2,875K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1,935K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1,200K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$75.56M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$26.7M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$555.58M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$197.43M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$1158.14M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$411.52M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3"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11</a:t>
            </a:fld>
            <a:endParaRPr lang="en-US" dirty="0"/>
          </a:p>
        </p:txBody>
      </p:sp>
      <p:sp>
        <p:nvSpPr>
          <p:cNvPr id="5"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8" name="TextBox 12">
            <a:extLst>
              <a:ext uri="{FF2B5EF4-FFF2-40B4-BE49-F238E27FC236}">
                <a16:creationId xmlns:a16="http://schemas.microsoft.com/office/drawing/2014/main" id="{025AE6BF-C458-13D4-626E-DAD4C1439055}"/>
              </a:ext>
            </a:extLst>
          </p:cNvPr>
          <p:cNvSpPr txBox="1"/>
          <p:nvPr/>
        </p:nvSpPr>
        <p:spPr>
          <a:xfrm>
            <a:off x="7466120" y="2250333"/>
            <a:ext cx="4616389" cy="900246"/>
          </a:xfrm>
          <a:prstGeom prst="rect">
            <a:avLst/>
          </a:prstGeom>
          <a:noFill/>
        </p:spPr>
        <p:txBody>
          <a:bodyPr wrap="square" rtlCol="0">
            <a:spAutoFit/>
          </a:bodyPr>
          <a:lstStyle/>
          <a:p>
            <a:r>
              <a:rPr lang="en-US" sz="1050" dirty="0">
                <a:solidFill/>
              </a:rPr>
              <a:t>KBA currently estimates that HonorHealth has 18% inpatient market share, and 11% outpatient market compared to hospitals/clinics in Maricopa, Pinal and Gila Counties. The DTE tiered structure will create immediate steerage, with additional steerage over time from patient bonus benefits and the patient card (see slide 33 for estimates of target steerage). </a:t>
            </a:r>
            <a:endParaRPr lang="en-US" sz="1050" dirty="0"/>
          </a:p>
        </p:txBody>
      </p:sp>
      <p:sp>
        <p:nvSpPr>
          <p:cNvPr id="9" name="Rectangle 20">
            <a:extLst>
              <a:ext uri="{FF2B5EF4-FFF2-40B4-BE49-F238E27FC236}">
                <a16:creationId xmlns:a16="http://schemas.microsoft.com/office/drawing/2014/main" id="{620CA171-241C-9006-DA4D-7174E70B2EF3}"/>
              </a:ext>
            </a:extLst>
          </p:cNvPr>
          <p:cNvSpPr/>
          <p:nvPr/>
        </p:nvSpPr>
        <p:spPr>
          <a:xfrm>
            <a:off x="7634847" y="551828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13" name="TextBox 24">
            <a:extLst>
              <a:ext uri="{FF2B5EF4-FFF2-40B4-BE49-F238E27FC236}">
                <a16:creationId xmlns:a16="http://schemas.microsoft.com/office/drawing/2014/main" id="{32C9D62D-25B0-6CD9-8AD7-E6855B1B1B26}"/>
              </a:ext>
            </a:extLst>
          </p:cNvPr>
          <p:cNvSpPr txBox="1"/>
          <p:nvPr/>
        </p:nvSpPr>
        <p:spPr>
          <a:xfrm>
            <a:off x="7509029" y="4771081"/>
            <a:ext cx="4616389" cy="738664"/>
          </a:xfrm>
          <a:prstGeom prst="rect">
            <a:avLst/>
          </a:prstGeom>
          <a:noFill/>
        </p:spPr>
        <p:txBody>
          <a:bodyPr wrap="square" rtlCol="0">
            <a:spAutoFit/>
          </a:bodyPr>
          <a:lstStyle/>
          <a:p>
            <a:r>
              <a:rPr lang="en-US" sz="1050" dirty="0">
                <a:solidFill/>
              </a:rPr>
              <a:t>KBA observes a HonorHealth 44% commercial margin. Conservatively, we model the DTE to on par with commercial rates given prices 10% below market, but with a 10 percentage-point increase through friendlier billing practices and improved patient collections with the patient card.</a:t>
            </a:r>
          </a:p>
        </p:txBody>
      </p:sp>
      <p:sp>
        <p:nvSpPr>
          <p:cNvPr id="14" name="TextBox 25">
            <a:extLst>
              <a:ext uri="{FF2B5EF4-FFF2-40B4-BE49-F238E27FC236}">
                <a16:creationId xmlns:a16="http://schemas.microsoft.com/office/drawing/2014/main" id="{A76920ED-352E-9285-CC83-BDA6AB18978D}"/>
              </a:ext>
            </a:extLst>
          </p:cNvPr>
          <p:cNvSpPr txBox="1"/>
          <p:nvPr/>
        </p:nvSpPr>
        <p:spPr>
          <a:xfrm>
            <a:off x="7744436" y="5470869"/>
            <a:ext cx="488916" cy="307777"/>
          </a:xfrm>
          <a:prstGeom prst="rect">
            <a:avLst/>
          </a:prstGeom>
          <a:noFill/>
        </p:spPr>
        <p:txBody>
          <a:bodyPr wrap="none" rtlCol="0">
            <a:spAutoFit/>
          </a:bodyPr>
          <a:lstStyle/>
          <a:p>
            <a:r>
              <a:rPr lang="en-US" sz="1400" b="1" dirty="0"/>
              <a:t>Low</a:t>
            </a:r>
          </a:p>
        </p:txBody>
      </p:sp>
      <p:sp>
        <p:nvSpPr>
          <p:cNvPr id="15" name="TextBox 26">
            <a:extLst>
              <a:ext uri="{FF2B5EF4-FFF2-40B4-BE49-F238E27FC236}">
                <a16:creationId xmlns:a16="http://schemas.microsoft.com/office/drawing/2014/main" id="{2559AB8C-6F23-81D3-4546-DE75EBD91879}"/>
              </a:ext>
            </a:extLst>
          </p:cNvPr>
          <p:cNvSpPr txBox="1"/>
          <p:nvPr/>
        </p:nvSpPr>
        <p:spPr>
          <a:xfrm>
            <a:off x="9609806" y="5470869"/>
            <a:ext cx="643509" cy="307777"/>
          </a:xfrm>
          <a:prstGeom prst="rect">
            <a:avLst/>
          </a:prstGeom>
          <a:noFill/>
        </p:spPr>
        <p:txBody>
          <a:bodyPr wrap="none" rtlCol="0">
            <a:spAutoFit/>
          </a:bodyPr>
          <a:lstStyle/>
          <a:p>
            <a:r>
              <a:rPr lang="en-US" sz="1400" b="1" dirty="0"/>
              <a:t>Target</a:t>
            </a:r>
          </a:p>
        </p:txBody>
      </p:sp>
      <p:sp>
        <p:nvSpPr>
          <p:cNvPr id="16" name="TextBox 27">
            <a:extLst>
              <a:ext uri="{FF2B5EF4-FFF2-40B4-BE49-F238E27FC236}">
                <a16:creationId xmlns:a16="http://schemas.microsoft.com/office/drawing/2014/main" id="{314AFF5C-ABDA-A82B-40C8-14E2DB160036}"/>
              </a:ext>
            </a:extLst>
          </p:cNvPr>
          <p:cNvSpPr txBox="1"/>
          <p:nvPr/>
        </p:nvSpPr>
        <p:spPr>
          <a:xfrm>
            <a:off x="11473829" y="5470869"/>
            <a:ext cx="524503" cy="307777"/>
          </a:xfrm>
          <a:prstGeom prst="rect">
            <a:avLst/>
          </a:prstGeom>
          <a:noFill/>
        </p:spPr>
        <p:txBody>
          <a:bodyPr wrap="none" rtlCol="0">
            <a:spAutoFit/>
          </a:bodyPr>
          <a:lstStyle/>
          <a:p>
            <a:r>
              <a:rPr lang="en-US" sz="1400" b="1" dirty="0"/>
              <a:t>High</a:t>
            </a:r>
          </a:p>
        </p:txBody>
      </p:sp>
      <p:sp>
        <p:nvSpPr>
          <p:cNvPr id="17" name="TextBox 28">
            <a:extLst>
              <a:ext uri="{FF2B5EF4-FFF2-40B4-BE49-F238E27FC236}">
                <a16:creationId xmlns:a16="http://schemas.microsoft.com/office/drawing/2014/main" id="{2C03026B-6D1E-F7B1-9995-7D9DC1019C60}"/>
              </a:ext>
            </a:extLst>
          </p:cNvPr>
          <p:cNvSpPr txBox="1"/>
          <p:nvPr/>
        </p:nvSpPr>
        <p:spPr>
          <a:xfrm>
            <a:off x="7696987" y="5729722"/>
            <a:ext cx="785793" cy="369332"/>
          </a:xfrm>
          <a:prstGeom prst="rect">
            <a:avLst/>
          </a:prstGeom>
          <a:noFill/>
        </p:spPr>
        <p:txBody>
          <a:bodyPr wrap="none" rtlCol="0">
            <a:spAutoFit/>
          </a:bodyPr>
          <a:lstStyle/>
          <a:p>
            <a:r>
              <a:rPr lang="en-US" dirty="0">
                <a:solidFill/>
              </a:rPr>
              <a:t>30.2%</a:t>
            </a:r>
          </a:p>
        </p:txBody>
      </p:sp>
      <p:sp>
        <p:nvSpPr>
          <p:cNvPr id="18" name="TextBox 29">
            <a:extLst>
              <a:ext uri="{FF2B5EF4-FFF2-40B4-BE49-F238E27FC236}">
                <a16:creationId xmlns:a16="http://schemas.microsoft.com/office/drawing/2014/main" id="{9C64CEEB-E16A-926D-5DF0-DC8275443A40}"/>
              </a:ext>
            </a:extLst>
          </p:cNvPr>
          <p:cNvSpPr txBox="1"/>
          <p:nvPr/>
        </p:nvSpPr>
        <p:spPr>
          <a:xfrm>
            <a:off x="9617102" y="5741694"/>
            <a:ext cx="885179" cy="369332"/>
          </a:xfrm>
          <a:prstGeom prst="rect">
            <a:avLst/>
          </a:prstGeom>
          <a:noFill/>
        </p:spPr>
        <p:txBody>
          <a:bodyPr wrap="none" rtlCol="0">
            <a:spAutoFit/>
          </a:bodyPr>
          <a:lstStyle/>
          <a:p>
            <a:r>
              <a:rPr lang="en-US" dirty="0">
                <a:solidFill/>
              </a:rPr>
              <a:t>35.2%</a:t>
            </a:r>
          </a:p>
        </p:txBody>
      </p:sp>
      <p:sp>
        <p:nvSpPr>
          <p:cNvPr id="19" name="TextBox 30">
            <a:extLst>
              <a:ext uri="{FF2B5EF4-FFF2-40B4-BE49-F238E27FC236}">
                <a16:creationId xmlns:a16="http://schemas.microsoft.com/office/drawing/2014/main" id="{716000A2-AFB1-117D-BFF0-2BDA3EA8A77D}"/>
              </a:ext>
            </a:extLst>
          </p:cNvPr>
          <p:cNvSpPr txBox="1"/>
          <p:nvPr/>
        </p:nvSpPr>
        <p:spPr>
          <a:xfrm>
            <a:off x="11426380" y="5741694"/>
            <a:ext cx="832279" cy="369332"/>
          </a:xfrm>
          <a:prstGeom prst="rect">
            <a:avLst/>
          </a:prstGeom>
          <a:noFill/>
        </p:spPr>
        <p:txBody>
          <a:bodyPr wrap="none" rtlCol="0">
            <a:spAutoFit/>
          </a:bodyPr>
          <a:lstStyle/>
          <a:p>
            <a:r>
              <a:rPr lang="en-US" dirty="0">
                <a:solidFill/>
              </a:rPr>
              <a:t>40.2%</a:t>
            </a:r>
          </a:p>
        </p:txBody>
      </p:sp>
      <p:sp>
        <p:nvSpPr>
          <p:cNvPr id="20"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22" name="Rectangle 19">
            <a:extLst>
              <a:ext uri="{FF2B5EF4-FFF2-40B4-BE49-F238E27FC236}">
                <a16:creationId xmlns:a16="http://schemas.microsoft.com/office/drawing/2014/main" id="{F6627BBC-E6C5-1195-07E5-6C53EE01CC8B}"/>
              </a:ext>
            </a:extLst>
          </p:cNvPr>
          <p:cNvSpPr/>
          <p:nvPr/>
        </p:nvSpPr>
        <p:spPr>
          <a:xfrm>
            <a:off x="7597806" y="320341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5">
            <a:extLst>
              <a:ext uri="{FF2B5EF4-FFF2-40B4-BE49-F238E27FC236}">
                <a16:creationId xmlns:a16="http://schemas.microsoft.com/office/drawing/2014/main" id="{C22B0D02-4198-9ACE-8A8D-89E646CD21E5}"/>
              </a:ext>
            </a:extLst>
          </p:cNvPr>
          <p:cNvSpPr txBox="1"/>
          <p:nvPr/>
        </p:nvSpPr>
        <p:spPr>
          <a:xfrm>
            <a:off x="8366143" y="3171997"/>
            <a:ext cx="488916" cy="307777"/>
          </a:xfrm>
          <a:prstGeom prst="rect">
            <a:avLst/>
          </a:prstGeom>
          <a:noFill/>
        </p:spPr>
        <p:txBody>
          <a:bodyPr wrap="none" rtlCol="0">
            <a:spAutoFit/>
          </a:bodyPr>
          <a:lstStyle/>
          <a:p>
            <a:r>
              <a:rPr lang="en-US" sz="1400" b="1" dirty="0"/>
              <a:t>Low</a:t>
            </a:r>
          </a:p>
        </p:txBody>
      </p:sp>
      <p:sp>
        <p:nvSpPr>
          <p:cNvPr id="24" name="TextBox 27">
            <a:extLst>
              <a:ext uri="{FF2B5EF4-FFF2-40B4-BE49-F238E27FC236}">
                <a16:creationId xmlns:a16="http://schemas.microsoft.com/office/drawing/2014/main" id="{E8084D42-778C-82F6-630D-9D8469AFEE15}"/>
              </a:ext>
            </a:extLst>
          </p:cNvPr>
          <p:cNvSpPr txBox="1"/>
          <p:nvPr/>
        </p:nvSpPr>
        <p:spPr>
          <a:xfrm>
            <a:off x="10950749" y="3163290"/>
            <a:ext cx="524503" cy="307777"/>
          </a:xfrm>
          <a:prstGeom prst="rect">
            <a:avLst/>
          </a:prstGeom>
          <a:noFill/>
        </p:spPr>
        <p:txBody>
          <a:bodyPr wrap="none" rtlCol="0">
            <a:spAutoFit/>
          </a:bodyPr>
          <a:lstStyle/>
          <a:p>
            <a:r>
              <a:rPr lang="en-US" sz="1400" b="1" dirty="0"/>
              <a:t>High</a:t>
            </a:r>
          </a:p>
        </p:txBody>
      </p:sp>
      <p:sp>
        <p:nvSpPr>
          <p:cNvPr id="25" name="TextBox 28">
            <a:extLst>
              <a:ext uri="{FF2B5EF4-FFF2-40B4-BE49-F238E27FC236}">
                <a16:creationId xmlns:a16="http://schemas.microsoft.com/office/drawing/2014/main" id="{F168AC10-2BD6-A49E-428D-30E6B39D197A}"/>
              </a:ext>
            </a:extLst>
          </p:cNvPr>
          <p:cNvSpPr txBox="1"/>
          <p:nvPr/>
        </p:nvSpPr>
        <p:spPr>
          <a:xfrm>
            <a:off x="7647303" y="3407458"/>
            <a:ext cx="1825756" cy="369332"/>
          </a:xfrm>
          <a:prstGeom prst="rect">
            <a:avLst/>
          </a:prstGeom>
          <a:noFill/>
        </p:spPr>
        <p:txBody>
          <a:bodyPr wrap="none" rtlCol="0">
            <a:spAutoFit/>
          </a:bodyPr>
          <a:lstStyle/>
          <a:p>
            <a:r>
              <a:rPr lang="en-US" dirty="0">
                <a:solidFill/>
              </a:rPr>
              <a:t>10% below target</a:t>
            </a:r>
          </a:p>
        </p:txBody>
      </p:sp>
      <p:sp>
        <p:nvSpPr>
          <p:cNvPr id="26" name="TextBox 30">
            <a:extLst>
              <a:ext uri="{FF2B5EF4-FFF2-40B4-BE49-F238E27FC236}">
                <a16:creationId xmlns:a16="http://schemas.microsoft.com/office/drawing/2014/main" id="{85A3284B-C2CB-7693-6750-302A3F66B386}"/>
              </a:ext>
            </a:extLst>
          </p:cNvPr>
          <p:cNvSpPr txBox="1"/>
          <p:nvPr/>
        </p:nvSpPr>
        <p:spPr>
          <a:xfrm>
            <a:off x="10299672" y="3405178"/>
            <a:ext cx="1820178" cy="369332"/>
          </a:xfrm>
          <a:prstGeom prst="rect">
            <a:avLst/>
          </a:prstGeom>
          <a:noFill/>
        </p:spPr>
        <p:txBody>
          <a:bodyPr wrap="none" rtlCol="0">
            <a:spAutoFit/>
          </a:bodyPr>
          <a:lstStyle/>
          <a:p>
            <a:r>
              <a:rPr lang="en-US" dirty="0">
                <a:solidFill/>
              </a:rPr>
              <a:t>10% above target</a:t>
            </a:r>
          </a:p>
        </p:txBody>
      </p:sp>
      <p:pic>
        <p:nvPicPr>
          <p:cNvPr id="27" name="Content Placeholder 26"/>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5,089.8K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10,008.2K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18,870.3K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30,660.1K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4,794.6K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9,896.6K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18,805.5K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30,656.5K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6,844.9K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13,871.0K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25,946.6K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42,131.5K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6,561.7K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13,785.8K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25,925.0K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42,193.9K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3,159.2K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6,321.0K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11,793.9K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19,188.6K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2,850.8K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6,184.2K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11,685.9K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19,119.0K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
        <p:nvSpPr>
          <p:cNvPr id="8" name="TextBox 7">
            <a:extLst>
              <a:ext uri="{FF2B5EF4-FFF2-40B4-BE49-F238E27FC236}">
                <a16:creationId xmlns:a16="http://schemas.microsoft.com/office/drawing/2014/main" id="{5C9AD5B0-6177-EBC9-732C-E469CE02E3BE}"/>
              </a:ext>
            </a:extLst>
          </p:cNvPr>
          <p:cNvSpPr txBox="1"/>
          <p:nvPr/>
        </p:nvSpPr>
        <p:spPr>
          <a:xfrm>
            <a:off x="2271712" y="219075"/>
            <a:ext cx="2802370" cy="338554"/>
          </a:xfrm>
          <a:prstGeom prst="rect">
            <a:avLst/>
          </a:prstGeom>
          <a:solidFill>
            <a:schemeClr val="bg1"/>
          </a:solidFill>
        </p:spPr>
        <p:txBody>
          <a:bodyPr wrap="none" rtlCol="0">
            <a:spAutoFit/>
          </a:bodyPr>
          <a:lstStyle/>
          <a:p>
            <a:r>
              <a:rPr lang="en-US" sz="800" dirty="0"/>
              <a:t>Variation by Member Growth With Target Estimate Assuming</a:t>
            </a:r>
          </a:p>
          <a:p>
            <a:r>
              <a:rPr lang="en-US" sz="800" dirty="0"/>
              <a:t>50%+ Within-Plan Steerage and a Commercial Margin of 35.2%</a:t>
            </a:r>
          </a:p>
        </p:txBody>
      </p:sp>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p:cNvPicPr>
            <a:picLocks noGrp="1"/>
          </p:cNvPicPr>
          <p:nvPr>
            <p:ph/>
          </p:nvPr>
        </p:nvPicPr>
        <p:blipFill>
          <a:blip r:embed="rId2" cstate="print"/>
          <a:stretch>
            <a:fillRect/>
          </a:stretch>
        </p:blipFill>
        <p:spPr>
          <a:xfrm>
            <a:off x="1508760" y="2834640"/>
            <a:ext cx="3154680" cy="926188"/>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HonorHealth is Patient Recommended</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Based on quality measures and HCAHPS feedback, KBA estimates that HonorHealth has the strongest brand quality in Gila, Maricopa, and Pinal Counties.</a:t>
            </a:r>
          </a:p>
        </p:txBody>
      </p:sp>
      <p:graphicFrame>
        <p:nvGraphicFramePr>
          <p:cNvPr id="7" name="Table 6"/>
          <p:cNvGraphicFramePr>
            <a:graphicFrameLocks noGrp="1"/>
          </p:cNvGraphicFramePr>
          <p:nvPr/>
        </p:nvGraphicFramePr>
        <p:xfrm>
          <a:off x="1581912" y="1645920"/>
          <a:ext cx="7674673" cy="3684144"/>
        </p:xfrm>
        <a:graphic>
          <a:graphicData uri="http://schemas.openxmlformats.org/drawingml/2006/table">
            <a:tbl>
              <a:tblPr/>
              <a:tblGrid>
                <a:gridCol w="2062071">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Arial"/>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HCAHPS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Recommendation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CMS Stars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Mortality</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Readmission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KBA Brand</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Mayo Clinic</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99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259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100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D7CB1">
                        <a:alpha val="100000"/>
                      </a:srgbClr>
                    </a:solidFill>
                  </a:tcPr>
                </a:tc>
                <a:extLst>
                  <a:ext uri="{0D108BD9-81ED-4DB2-BD59-A6C34878D82A}">
                    <a16:rowId xmlns:a16="http://schemas.microsoft.com/office/drawing/2014/main" val="10001"/>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CommonSpirit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extLst>
                  <a:ext uri="{0D108BD9-81ED-4DB2-BD59-A6C34878D82A}">
                    <a16:rowId xmlns:a16="http://schemas.microsoft.com/office/drawing/2014/main" val="10002"/>
                  </a:ext>
                </a:extLst>
              </a:tr>
              <a:tr h="362888">
                <a:tc>
                  <a:txBody>
                    <a:bodyPr/>
                    <a:lstStyle/>
                    <a:p>
                      <a:pPr marL="63500" marR="63500" algn="l">
                        <a:lnSpc>
                          <a:spcPct val="100000"/>
                        </a:lnSpc>
                        <a:spcBef>
                          <a:spcPts val="500"/>
                        </a:spcBef>
                        <a:spcAft>
                          <a:spcPts val="500"/>
                        </a:spcAft>
                        <a:buNone/>
                      </a:pPr>
                      <a:r>
                        <a:rPr sz="1100" b="0" i="0" u="none" cap="none" dirty="0">
                          <a:solidFill>
                            <a:srgbClr val="000000">
                              <a:alpha val="100000"/>
                            </a:srgbClr>
                          </a:solidFill>
                          <a:latin typeface="Arial"/>
                          <a:cs typeface="Arial"/>
                          <a:sym typeface="Arial"/>
                        </a:rPr>
                        <a:t>HonorHealth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extLst>
                  <a:ext uri="{0D108BD9-81ED-4DB2-BD59-A6C34878D82A}">
                    <a16:rowId xmlns:a16="http://schemas.microsoft.com/office/drawing/2014/main" val="10003"/>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Banner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8C6D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extLst>
                  <a:ext uri="{0D108BD9-81ED-4DB2-BD59-A6C34878D82A}">
                    <a16:rowId xmlns:a16="http://schemas.microsoft.com/office/drawing/2014/main" val="10004"/>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Indian Health Service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24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DD6E7">
                        <a:alpha val="100000"/>
                      </a:srgbClr>
                    </a:solidFill>
                  </a:tcPr>
                </a:tc>
                <a:tc>
                  <a:txBody>
                    <a:bodyPr/>
                    <a:lstStyle/>
                    <a:p>
                      <a:pPr marL="63500" marR="63500" algn="ctr">
                        <a:lnSpc>
                          <a:spcPct val="100000"/>
                        </a:lnSpc>
                        <a:spcBef>
                          <a:spcPts val="500"/>
                        </a:spcBef>
                        <a:spcAft>
                          <a:spcPts val="500"/>
                        </a:spcAft>
                        <a:buNone/>
                      </a:pPr>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3B5D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5"/>
                  </a:ext>
                </a:extLst>
              </a:tr>
              <a:tr h="390173">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Valleywise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21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3DBE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extLst>
                  <a:ext uri="{0D108BD9-81ED-4DB2-BD59-A6C34878D82A}">
                    <a16:rowId xmlns:a16="http://schemas.microsoft.com/office/drawing/2014/main" val="10006"/>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Steward Health Care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11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8ECF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24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DD6E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extLst>
                  <a:ext uri="{0D108BD9-81ED-4DB2-BD59-A6C34878D82A}">
                    <a16:rowId xmlns:a16="http://schemas.microsoft.com/office/drawing/2014/main" val="10007"/>
                  </a:ext>
                </a:extLst>
              </a:tr>
              <a:tr h="36288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Tenet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0F3F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22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D1DAE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Arial"/>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FB2D1">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HonorHealth’s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HonorHealth’s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HonorHealth</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graphicFrame>
        <p:nvGraphicFramePr>
          <p:cNvPr id="8"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Content Placeholder 8"/>
          <p:cNvPicPr>
            <a:picLocks noGrp="1"/>
          </p:cNvPicPr>
          <p:nvPr>
            <p:ph/>
          </p:nvPr>
        </p:nvPicPr>
        <p:blipFill>
          <a:blip r:embed="rId7" cstate="print"/>
          <a:stretch>
            <a:fillRect/>
          </a:stretch>
        </p:blipFill>
        <p:spPr>
          <a:xfrm>
            <a:off x="9727691" y="4301236"/>
            <a:ext cx="1042416" cy="306045"/>
          </a:xfrm>
          <a:prstGeom prst="rect">
            <a:avLst/>
          </a:prstGeom>
        </p:spPr>
      </p:pic>
      <p:sp>
        <p:nvSpPr>
          <p:cNvPr id="12" name="Title 1">
            <a:extLst>
              <a:ext uri="{FF2B5EF4-FFF2-40B4-BE49-F238E27FC236}">
                <a16:creationId xmlns:a16="http://schemas.microsoft.com/office/drawing/2014/main" id="{A5AA1125-F9A3-7E15-4FAA-4727D049F837}"/>
              </a:ext>
            </a:extLst>
          </p:cNvPr>
          <p:cNvSpPr txBox="1">
            <a:spLocks/>
          </p:cNvSpPr>
          <p:nvPr/>
        </p:nvSpPr>
        <p:spPr>
          <a:xfrm rot="16200000">
            <a:off x="-2911931" y="3052978"/>
            <a:ext cx="6802269"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000" b="1" kern="1200" spc="150" baseline="0">
                <a:solidFill>
                  <a:schemeClr val="tx1"/>
                </a:solidFill>
                <a:latin typeface="Arial" panose="020B0604020202020204" pitchFamily="34" charset="0"/>
                <a:ea typeface="+mj-ea"/>
                <a:cs typeface="Arial" panose="020B0604020202020204" pitchFamily="34" charset="0"/>
              </a:defRPr>
            </a:lvl1pPr>
          </a:lstStyle>
          <a:p>
            <a:pPr algn="ctr">
              <a:lnSpc>
                <a:spcPct val="100000"/>
              </a:lnSpc>
              <a:spcBef>
                <a:spcPts val="600"/>
              </a:spcBef>
            </a:pPr>
            <a:r>
              <a:rPr lang="en-US" sz="3600" b="0" dirty="0">
                <a:solidFill>
                  <a:schemeClr val="bg1"/>
                </a:solidFill>
              </a:rPr>
              <a:t>HonorHealth Network</a:t>
            </a:r>
          </a:p>
        </p:txBody>
      </p:sp>
    </p:spTree>
    <p:extLst>
      <p:ext uri="{BB962C8B-B14F-4D97-AF65-F5344CB8AC3E}">
        <p14:creationId xmlns:p14="http://schemas.microsoft.com/office/powerpoint/2010/main" val="1700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16</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257546"/>
            <a:ext cx="11877152" cy="523220"/>
          </a:xfrm>
          <a:prstGeom prst="rect">
            <a:avLst/>
          </a:prstGeom>
          <a:noFill/>
        </p:spPr>
        <p:txBody>
          <a:bodyPr wrap="square">
            <a:spAutoFit/>
          </a:bodyPr>
          <a:lstStyle/>
          <a:p>
            <a:pPr algn="ctr"/>
            <a:r>
              <a:rPr lang="en-US" sz="2800" b="1" dirty="0">
                <a:solidFill>
                  <a:schemeClr val="bg1"/>
                </a:solidFill>
              </a:rPr>
              <a:t>BENEFIT PLAN DESIGNS THAT OPTIMIZE STEERAGE TO HONORHEALTH</a:t>
            </a:r>
          </a:p>
        </p:txBody>
      </p:sp>
      <p:pic>
        <p:nvPicPr>
          <p:cNvPr id="9" name="Content Placeholder 8"/>
          <p:cNvPicPr>
            <a:picLocks noGrp="1"/>
          </p:cNvPicPr>
          <p:nvPr>
            <p:ph/>
          </p:nvPr>
        </p:nvPicPr>
        <p:blipFill>
          <a:blip r:embed="rId3" cstate="print"/>
          <a:stretch>
            <a:fillRect/>
          </a:stretch>
        </p:blipFill>
        <p:spPr>
          <a:xfrm>
            <a:off x="8357201" y="5234652"/>
            <a:ext cx="3114530" cy="914400"/>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25.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HonorHealth’s approved site(s) with network integration, and development of HonorHealth’s proprietary PBM program.</a:t>
            </a:r>
            <a:r>
              <a:rPr lang="en-US" sz="1600" dirty="0">
                <a:highlight>
                  <a:srgbClr val="FFFF00"/>
                </a:highlight>
              </a:rPr>
              <a:t>   </a:t>
            </a:r>
          </a:p>
        </p:txBody>
      </p:sp>
      <p:graphicFrame>
        <p:nvGraphicFramePr>
          <p:cNvPr id="8" name="Table 7"/>
          <p:cNvGraphicFramePr>
            <a:graphicFrameLocks noGrp="1"/>
          </p:cNvGraphicFramePr>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25%+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25%+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25%+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25%+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25%+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25%+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25%+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25%+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$ 1,157K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548K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$ 4,952K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$ 1,425K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$ 4,061K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$ 16,441K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$ 5,787K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$ 4,358K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$ 4,058K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$ 5,718K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$ 65,763K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$49,520K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$23,149K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$17,431K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$17,221K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$32,486K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$131,526K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$99,040K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$46,297K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$34,862K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$34,772K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18</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HonorHealth’s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HonorHealth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HonorHealth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HonorHealth’s managed care processes to KBA’s patented care management programs will turbocharge results – Positioning HonorHealth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HonorHealth </a:t>
            </a:r>
            <a:r>
              <a:rPr lang="en-US" sz="2400" b="1" cap="small" dirty="0">
                <a:solidFill>
                  <a:srgbClr val="000B2E"/>
                </a:solidFill>
              </a:rPr>
              <a:t>CAN PROMOTE THESE RESULTS FROM DAY ONE!!</a:t>
            </a:r>
          </a:p>
        </p:txBody>
      </p:sp>
      <p:pic>
        <p:nvPicPr>
          <p:cNvPr id="8"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3"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4"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5"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19</a:t>
            </a:fld>
            <a:endParaRPr lang="en-US" dirty="0"/>
          </a:p>
        </p:txBody>
      </p:sp>
      <p:sp>
        <p:nvSpPr>
          <p:cNvPr id="6"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7"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10"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11"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5"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HonorHealth’s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HonorHealth’s 340B drug pricing program</a:t>
            </a:r>
          </a:p>
          <a:p>
            <a:pPr marL="285753" indent="-285753">
              <a:spcBef>
                <a:spcPts val="600"/>
              </a:spcBef>
              <a:buFont typeface="Wingdings" panose="05000000000000000000" pitchFamily="2" charset="2"/>
              <a:buChar char="§"/>
            </a:pPr>
            <a:r>
              <a:rPr lang="en-US" sz="2000" dirty="0">
                <a:solidFill>
                  <a:schemeClr val="bg1"/>
                </a:solidFill>
              </a:rPr>
              <a:t>Allows HonorHealth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3"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4"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21</a:t>
            </a:fld>
            <a:endParaRPr lang="en-US" dirty="0"/>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4"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1186276558"/>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23</a:t>
            </a:fld>
            <a:endParaRPr lang="en-US" sz="1100" dirty="0">
              <a:solidFill>
                <a:schemeClr val="tx1">
                  <a:lumMod val="50000"/>
                  <a:lumOff val="50000"/>
                </a:schemeClr>
              </a:solidFill>
            </a:endParaRPr>
          </a:p>
        </p:txBody>
      </p:sp>
      <p:sp>
        <p:nvSpPr>
          <p:cNvPr id="6"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
        <p:nvSpPr>
          <p:cNvPr id="7" name="TextBox 3">
            <a:extLst>
              <a:ext uri="{FF2B5EF4-FFF2-40B4-BE49-F238E27FC236}">
                <a16:creationId xmlns:a16="http://schemas.microsoft.com/office/drawing/2014/main" id="{812A6EF0-F485-2EBB-BDEB-7A43025A5A29}"/>
              </a:ext>
            </a:extLst>
          </p:cNvPr>
          <p:cNvSpPr txBox="1"/>
          <p:nvPr/>
        </p:nvSpPr>
        <p:spPr>
          <a:xfrm>
            <a:off x="856622" y="2393645"/>
            <a:ext cx="2811026" cy="1515800"/>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Distribution Agents</a:t>
            </a:r>
          </a:p>
          <a:p>
            <a:pPr marL="285750" lvl="0" indent="-285750">
              <a:lnSpc>
                <a:spcPct val="100000"/>
              </a:lnSpc>
              <a:spcAft>
                <a:spcPts val="300"/>
              </a:spcAft>
              <a:buFont typeface="Arial" panose="020B0604020202020204" pitchFamily="34" charset="0"/>
              <a:buChar char="•"/>
            </a:pPr>
            <a:r>
              <a:rPr lang="en-US" sz="1700" b="0" dirty="0"/>
              <a:t>Training and Development</a:t>
            </a:r>
          </a:p>
          <a:p>
            <a:pPr marL="285750" lvl="0" indent="-285750">
              <a:lnSpc>
                <a:spcPct val="100000"/>
              </a:lnSpc>
              <a:spcAft>
                <a:spcPts val="300"/>
              </a:spcAft>
              <a:buFont typeface="Arial" panose="020B0604020202020204" pitchFamily="34" charset="0"/>
              <a:buChar char="•"/>
            </a:pPr>
            <a:r>
              <a:rPr lang="en-US" sz="1700" b="0" dirty="0"/>
              <a:t>Quote Evaluation</a:t>
            </a:r>
          </a:p>
          <a:p>
            <a:pPr marL="285750" lvl="0" indent="-285750">
              <a:lnSpc>
                <a:spcPct val="100000"/>
              </a:lnSpc>
              <a:spcAft>
                <a:spcPts val="300"/>
              </a:spcAft>
              <a:buFont typeface="Arial" panose="020B0604020202020204" pitchFamily="34" charset="0"/>
              <a:buChar char="•"/>
            </a:pPr>
            <a:r>
              <a:rPr lang="en-US" sz="1700" b="0" dirty="0"/>
              <a:t>Compensation</a:t>
            </a:r>
          </a:p>
        </p:txBody>
      </p:sp>
      <p:sp>
        <p:nvSpPr>
          <p:cNvPr id="8" name="TextBox 9">
            <a:extLst>
              <a:ext uri="{FF2B5EF4-FFF2-40B4-BE49-F238E27FC236}">
                <a16:creationId xmlns:a16="http://schemas.microsoft.com/office/drawing/2014/main" id="{537397C7-FB49-032A-7017-50CDF43FA202}"/>
              </a:ext>
            </a:extLst>
          </p:cNvPr>
          <p:cNvSpPr txBox="1"/>
          <p:nvPr/>
        </p:nvSpPr>
        <p:spPr>
          <a:xfrm>
            <a:off x="4499567" y="2425401"/>
            <a:ext cx="2885971" cy="207749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Targets</a:t>
            </a:r>
          </a:p>
          <a:p>
            <a:pPr marL="285750" lvl="0" indent="-285750">
              <a:lnSpc>
                <a:spcPct val="100000"/>
              </a:lnSpc>
              <a:spcAft>
                <a:spcPts val="300"/>
              </a:spcAft>
              <a:buFont typeface="Arial" panose="020B0604020202020204" pitchFamily="34" charset="0"/>
              <a:buChar char="•"/>
            </a:pPr>
            <a:r>
              <a:rPr lang="en-US" sz="1700" b="0" dirty="0">
                <a:solidFill/>
              </a:rPr>
              <a:t>Working with HonorHealth to Engage Specific Employers</a:t>
            </a:r>
          </a:p>
          <a:p>
            <a:pPr marL="285750" lvl="0" indent="-285750">
              <a:lnSpc>
                <a:spcPct val="100000"/>
              </a:lnSpc>
              <a:spcAft>
                <a:spcPts val="300"/>
              </a:spcAft>
              <a:buFont typeface="Arial" panose="020B0604020202020204" pitchFamily="34" charset="0"/>
              <a:buChar char="•"/>
            </a:pPr>
            <a:r>
              <a:rPr lang="en-US" sz="1700" b="0" dirty="0"/>
              <a:t>Meet and Greet</a:t>
            </a:r>
          </a:p>
          <a:p>
            <a:pPr marL="285750" lvl="0" indent="-285750">
              <a:lnSpc>
                <a:spcPct val="100000"/>
              </a:lnSpc>
              <a:spcAft>
                <a:spcPts val="300"/>
              </a:spcAft>
              <a:buFont typeface="Arial" panose="020B0604020202020204" pitchFamily="34" charset="0"/>
              <a:buChar char="•"/>
            </a:pPr>
            <a:r>
              <a:rPr lang="en-US" sz="1700" b="0" dirty="0"/>
              <a:t>Sales Process</a:t>
            </a:r>
          </a:p>
          <a:p>
            <a:pPr marL="285750" lvl="0" indent="-285750">
              <a:lnSpc>
                <a:spcPct val="100000"/>
              </a:lnSpc>
              <a:spcAft>
                <a:spcPts val="300"/>
              </a:spcAft>
              <a:buFont typeface="Arial" panose="020B0604020202020204" pitchFamily="34" charset="0"/>
              <a:buChar char="•"/>
            </a:pPr>
            <a:r>
              <a:rPr lang="en-US" sz="1700" b="0" dirty="0"/>
              <a:t>Closing</a:t>
            </a:r>
          </a:p>
        </p:txBody>
      </p:sp>
      <p:sp>
        <p:nvSpPr>
          <p:cNvPr id="9" name="TextBox 11">
            <a:extLst>
              <a:ext uri="{FF2B5EF4-FFF2-40B4-BE49-F238E27FC236}">
                <a16:creationId xmlns:a16="http://schemas.microsoft.com/office/drawing/2014/main" id="{32AE8163-8376-4B77-CD83-691410ECD2AE}"/>
              </a:ext>
            </a:extLst>
          </p:cNvPr>
          <p:cNvSpPr txBox="1"/>
          <p:nvPr/>
        </p:nvSpPr>
        <p:spPr>
          <a:xfrm>
            <a:off x="8217457" y="2425401"/>
            <a:ext cx="2690445" cy="155427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Quote System</a:t>
            </a:r>
          </a:p>
          <a:p>
            <a:pPr marL="285750" lvl="0" indent="-285750">
              <a:lnSpc>
                <a:spcPct val="100000"/>
              </a:lnSpc>
              <a:spcAft>
                <a:spcPts val="300"/>
              </a:spcAft>
              <a:buFont typeface="Arial" panose="020B0604020202020204" pitchFamily="34" charset="0"/>
              <a:buChar char="•"/>
            </a:pPr>
            <a:r>
              <a:rPr lang="en-US" sz="1700" b="0" dirty="0"/>
              <a:t>Proposal Development</a:t>
            </a:r>
          </a:p>
          <a:p>
            <a:pPr marL="285750" lvl="0" indent="-285750">
              <a:lnSpc>
                <a:spcPct val="100000"/>
              </a:lnSpc>
              <a:spcAft>
                <a:spcPts val="300"/>
              </a:spcAft>
              <a:buFont typeface="Arial" panose="020B0604020202020204" pitchFamily="34" charset="0"/>
              <a:buChar char="•"/>
            </a:pPr>
            <a:r>
              <a:rPr lang="en-US" sz="1700" b="0" dirty="0"/>
              <a:t>Stop Loss Negotiations</a:t>
            </a:r>
          </a:p>
          <a:p>
            <a:pPr marL="285750" lvl="0" indent="-285750">
              <a:lnSpc>
                <a:spcPct val="100000"/>
              </a:lnSpc>
              <a:spcAft>
                <a:spcPts val="300"/>
              </a:spcAft>
              <a:buFont typeface="Arial" panose="020B0604020202020204" pitchFamily="34" charset="0"/>
              <a:buChar char="•"/>
            </a:pPr>
            <a:r>
              <a:rPr lang="en-US" sz="1700" b="0" dirty="0"/>
              <a:t>Reporting &amp; Analysis</a:t>
            </a:r>
          </a:p>
          <a:p>
            <a:pPr marL="342900" lvl="0" indent="-342900">
              <a:lnSpc>
                <a:spcPct val="100000"/>
              </a:lnSpc>
              <a:spcAft>
                <a:spcPts val="300"/>
              </a:spcAft>
              <a:buFont typeface="Arial" panose="020B0604020202020204" pitchFamily="34" charset="0"/>
              <a:buChar char="•"/>
            </a:pPr>
            <a:endParaRPr lang="en-US" sz="1700" b="0" dirty="0"/>
          </a:p>
        </p:txBody>
      </p:sp>
    </p:spTree>
    <p:extLst>
      <p:ext uri="{BB962C8B-B14F-4D97-AF65-F5344CB8AC3E}">
        <p14:creationId xmlns:p14="http://schemas.microsoft.com/office/powerpoint/2010/main" val="619324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5"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6"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7"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8"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9"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0"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1"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2"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3"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24</a:t>
            </a:fld>
            <a:endParaRPr lang="en-US" sz="1100" dirty="0">
              <a:solidFill>
                <a:schemeClr val="tx1">
                  <a:lumMod val="50000"/>
                  <a:lumOff val="50000"/>
                </a:schemeClr>
              </a:solidFill>
            </a:endParaRPr>
          </a:p>
        </p:txBody>
      </p:sp>
      <p:sp>
        <p:nvSpPr>
          <p:cNvPr id="14"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1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25</a:t>
            </a:fld>
            <a:endParaRPr lang="en-US"/>
          </a:p>
        </p:txBody>
      </p:sp>
      <p:pic>
        <p:nvPicPr>
          <p:cNvPr id="4"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HonorHealth</a:t>
            </a:r>
            <a:r>
              <a:rPr lang="en-US" sz="4000" b="1">
                <a:latin typeface="+mn-lt"/>
                <a:cs typeface="Arial" panose="020B0604020202020204" pitchFamily="34" charset="0"/>
              </a:rPr>
              <a:t>’s 2022 </a:t>
            </a:r>
            <a:r>
              <a:rPr lang="en-US" sz="4000" b="1" dirty="0">
                <a:latin typeface="+mn-lt"/>
                <a:cs typeface="Arial" panose="020B0604020202020204" pitchFamily="34" charset="0"/>
              </a:rPr>
              <a:t>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1653538269"/>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HonorHealth</a:t>
                      </a:r>
                    </a:p>
                  </a:txBody>
                  <a:tcPr>
                    <a:solidFill>
                      <a:schemeClr val="accent3">
                        <a:lumMod val="20000"/>
                        <a:lumOff val="80000"/>
                      </a:schemeClr>
                    </a:solidFill>
                  </a:tcPr>
                </a:tc>
                <a:tc>
                  <a:txBody>
                    <a:bodyPr/>
                    <a:lstStyle/>
                    <a:p>
                      <a:pPr algn="ctr"/>
                      <a:r>
                        <a:rPr lang="en-US" sz="1400" dirty="0">
                          <a:solidFill>
                            <a:schemeClr val="accent1">
                              <a:lumMod val="75000"/>
                            </a:schemeClr>
                          </a:solidFill>
                        </a:rPr>
                        <a:t>316,366</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$2,454,928K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90,592</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$407,071K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28%</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59,251</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$177,637K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19%</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28,453</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-$251,184K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9%</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138,070</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$1,868,887K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43%</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a:t>
            </a:r>
            <a:br>
              <a:rPr lang="en-US" b="1" dirty="0">
                <a:latin typeface="+mn-lt"/>
                <a:cs typeface="Arial" panose="020B0604020202020204" pitchFamily="34" charset="0"/>
              </a:rPr>
            </a:br>
            <a:r>
              <a:rPr lang="en-US" b="1" dirty="0">
                <a:latin typeface="+mn-lt"/>
                <a:cs typeface="Arial" panose="020B0604020202020204" pitchFamily="34" charset="0"/>
              </a:rPr>
              <a:t>Commercial vs. Government Pay</a:t>
            </a:r>
          </a:p>
        </p:txBody>
      </p:sp>
      <p:sp>
        <p:nvSpPr>
          <p:cNvPr id="3"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6" name="TextBox 7">
            <a:extLst>
              <a:ext uri="{FF2B5EF4-FFF2-40B4-BE49-F238E27FC236}">
                <a16:creationId xmlns:a16="http://schemas.microsoft.com/office/drawing/2014/main" id="{85163DF1-EB5C-1C3C-A93D-5F16CEEC2B92}"/>
              </a:ext>
            </a:extLst>
          </p:cNvPr>
          <p:cNvSpPr txBox="1"/>
          <p:nvPr/>
        </p:nvSpPr>
        <p:spPr>
          <a:xfrm>
            <a:off x="838199" y="1933595"/>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7" name="TextBox 8">
            <a:extLst>
              <a:ext uri="{FF2B5EF4-FFF2-40B4-BE49-F238E27FC236}">
                <a16:creationId xmlns:a16="http://schemas.microsoft.com/office/drawing/2014/main" id="{020B90EA-11B9-6E81-60B7-F3AFEA7FC5A7}"/>
              </a:ext>
            </a:extLst>
          </p:cNvPr>
          <p:cNvSpPr txBox="1"/>
          <p:nvPr/>
        </p:nvSpPr>
        <p:spPr>
          <a:xfrm>
            <a:off x="6827522" y="1933595"/>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8"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3084429148"/>
              </p:ext>
            </p:extLst>
          </p:nvPr>
        </p:nvGraphicFramePr>
        <p:xfrm>
          <a:off x="964071" y="3022094"/>
          <a:ext cx="4478017" cy="2021840"/>
        </p:xfrm>
        <a:graphic>
          <a:graphicData uri="http://schemas.openxmlformats.org/drawingml/2006/table">
            <a:tbl>
              <a:tblPr bandRow="1">
                <a:tableStyleId>{2D5ABB26-0587-4C30-8999-92F81FD0307C}</a:tableStyleId>
              </a:tblPr>
              <a:tblGrid>
                <a:gridCol w="2785247">
                  <a:extLst>
                    <a:ext uri="{9D8B030D-6E8A-4147-A177-3AD203B41FA5}">
                      <a16:colId xmlns:a16="http://schemas.microsoft.com/office/drawing/2014/main" val="1477699201"/>
                    </a:ext>
                  </a:extLst>
                </a:gridCol>
                <a:gridCol w="1692770">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Commercial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4,525,851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2,538,946</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$1,986,905K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44%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9"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837596021"/>
              </p:ext>
            </p:extLst>
          </p:nvPr>
        </p:nvGraphicFramePr>
        <p:xfrm>
          <a:off x="6827522" y="3017014"/>
          <a:ext cx="4358640" cy="2026920"/>
        </p:xfrm>
        <a:graphic>
          <a:graphicData uri="http://schemas.openxmlformats.org/drawingml/2006/table">
            <a:tbl>
              <a:tblPr bandRow="1">
                <a:tableStyleId>{2D5ABB26-0587-4C30-8999-92F81FD0307C}</a:tableStyleId>
              </a:tblPr>
              <a:tblGrid>
                <a:gridCol w="2710997">
                  <a:extLst>
                    <a:ext uri="{9D8B030D-6E8A-4147-A177-3AD203B41FA5}">
                      <a16:colId xmlns:a16="http://schemas.microsoft.com/office/drawing/2014/main" val="1477699201"/>
                    </a:ext>
                  </a:extLst>
                </a:gridCol>
                <a:gridCol w="1647643">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Gov-Pay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1,054,765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2,538,946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-1,484,181</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-141%</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10" name="TextBox 12">
            <a:extLst>
              <a:ext uri="{FF2B5EF4-FFF2-40B4-BE49-F238E27FC236}">
                <a16:creationId xmlns:a16="http://schemas.microsoft.com/office/drawing/2014/main" id="{879CF531-03B5-98C7-7BF8-469C9D55F9E4}"/>
              </a:ext>
            </a:extLst>
          </p:cNvPr>
          <p:cNvSpPr txBox="1"/>
          <p:nvPr/>
        </p:nvSpPr>
        <p:spPr>
          <a:xfrm>
            <a:off x="1043940" y="5314948"/>
            <a:ext cx="4398148" cy="523220"/>
          </a:xfrm>
          <a:prstGeom prst="rect">
            <a:avLst/>
          </a:prstGeom>
          <a:noFill/>
        </p:spPr>
        <p:txBody>
          <a:bodyPr wrap="square" rtlCol="0">
            <a:spAutoFit/>
          </a:bodyPr>
          <a:lstStyle/>
          <a:p>
            <a:r>
              <a:rPr lang="en-US" sz="1400" dirty="0"/>
              <a:t>Calculated by dividing the current commercial revenue by the current commercial inpatient day payer mix.  </a:t>
            </a:r>
          </a:p>
        </p:txBody>
      </p:sp>
      <p:sp>
        <p:nvSpPr>
          <p:cNvPr id="11" name="TextBox 13">
            <a:extLst>
              <a:ext uri="{FF2B5EF4-FFF2-40B4-BE49-F238E27FC236}">
                <a16:creationId xmlns:a16="http://schemas.microsoft.com/office/drawing/2014/main" id="{5FAEC66D-2C5F-1BA4-6070-07C2BC7D18E6}"/>
              </a:ext>
            </a:extLst>
          </p:cNvPr>
          <p:cNvSpPr txBox="1"/>
          <p:nvPr/>
        </p:nvSpPr>
        <p:spPr>
          <a:xfrm>
            <a:off x="6827522" y="5314558"/>
            <a:ext cx="4114800" cy="523220"/>
          </a:xfrm>
          <a:prstGeom prst="rect">
            <a:avLst/>
          </a:prstGeom>
          <a:noFill/>
        </p:spPr>
        <p:txBody>
          <a:bodyPr wrap="square" rtlCol="0">
            <a:spAutoFit/>
          </a:bodyPr>
          <a:lstStyle/>
          <a:p>
            <a:r>
              <a:rPr lang="en-US" sz="1400" dirty="0"/>
              <a:t>Calculated by dividing the current gov-pay revenue by the current gov-pay inpatient day payer mix.  </a:t>
            </a:r>
          </a:p>
        </p:txBody>
      </p:sp>
    </p:spTree>
    <p:extLst>
      <p:ext uri="{BB962C8B-B14F-4D97-AF65-F5344CB8AC3E}">
        <p14:creationId xmlns:p14="http://schemas.microsoft.com/office/powerpoint/2010/main" val="3618341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28</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38199" y="6088454"/>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53.7%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201608060"/>
              </p:ext>
            </p:extLst>
          </p:nvPr>
        </p:nvGraphicFramePr>
        <p:xfrm>
          <a:off x="342898" y="771732"/>
          <a:ext cx="11506201" cy="5120036"/>
        </p:xfrm>
        <a:graphic>
          <a:graphicData uri="http://schemas.openxmlformats.org/drawingml/2006/table">
            <a:tbl>
              <a:tblPr/>
              <a:tblGrid>
                <a:gridCol w="3211033">
                  <a:extLst>
                    <a:ext uri="{9D8B030D-6E8A-4147-A177-3AD203B41FA5}">
                      <a16:colId xmlns:a16="http://schemas.microsoft.com/office/drawing/2014/main" val="20000"/>
                    </a:ext>
                  </a:extLst>
                </a:gridCol>
                <a:gridCol w="1337930">
                  <a:extLst>
                    <a:ext uri="{9D8B030D-6E8A-4147-A177-3AD203B41FA5}">
                      <a16:colId xmlns:a16="http://schemas.microsoft.com/office/drawing/2014/main" val="20001"/>
                    </a:ext>
                  </a:extLst>
                </a:gridCol>
                <a:gridCol w="1605516">
                  <a:extLst>
                    <a:ext uri="{9D8B030D-6E8A-4147-A177-3AD203B41FA5}">
                      <a16:colId xmlns:a16="http://schemas.microsoft.com/office/drawing/2014/main" val="20002"/>
                    </a:ext>
                  </a:extLst>
                </a:gridCol>
                <a:gridCol w="1605516">
                  <a:extLst>
                    <a:ext uri="{9D8B030D-6E8A-4147-A177-3AD203B41FA5}">
                      <a16:colId xmlns:a16="http://schemas.microsoft.com/office/drawing/2014/main" val="20003"/>
                    </a:ext>
                  </a:extLst>
                </a:gridCol>
                <a:gridCol w="1873103">
                  <a:extLst>
                    <a:ext uri="{9D8B030D-6E8A-4147-A177-3AD203B41FA5}">
                      <a16:colId xmlns:a16="http://schemas.microsoft.com/office/drawing/2014/main" val="20004"/>
                    </a:ext>
                  </a:extLst>
                </a:gridCol>
                <a:gridCol w="1873103">
                  <a:extLst>
                    <a:ext uri="{9D8B030D-6E8A-4147-A177-3AD203B41FA5}">
                      <a16:colId xmlns:a16="http://schemas.microsoft.com/office/drawing/2014/main" val="20005"/>
                    </a:ext>
                  </a:extLst>
                </a:gridCol>
              </a:tblGrid>
              <a:tr h="463662">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53.7%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88598">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HonorHealth John C Lincoln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239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$1,464,184.4K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$2,878,410.0K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88598">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HonorHealth Scottsdale Osborn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337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$1,645,605.1K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$1,147,463.6K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88598">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HonorHealth Scottsdale Shea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427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$2,113,233.9K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$1,844,851.4K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88598">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HonorHealth Deer Valley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204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$1,582,239.1K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$1,081,885.1K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77196">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HonorHealth Scottsdale Thompson Peak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568,079.1K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698,007.4K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88598">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HonorHealth Sonoran Crossing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217,378.9K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471,742.9K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70878">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Banner - University Medical Center Phoenix</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656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$3,258,832.2K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$1,613,148.7K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70878">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Banner Casa Grande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141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315,674.3K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414,281.3K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70878">
                <a:tc>
                  <a:txBody>
                    <a:bodyPr/>
                    <a:lstStyle/>
                    <a:p>
                      <a:pPr marL="63500" marR="63500" algn="l">
                        <a:lnSpc>
                          <a:spcPct val="100000"/>
                        </a:lnSpc>
                        <a:spcBef>
                          <a:spcPts val="0"/>
                        </a:spcBef>
                        <a:spcAft>
                          <a:spcPts val="0"/>
                        </a:spcAft>
                        <a:buNone/>
                      </a:pPr>
                      <a:r>
                        <a:rPr sz="600" b="0" i="0" u="none" cap="none" dirty="0" err="1">
                          <a:solidFill>
                            <a:srgbClr val="000000">
                              <a:alpha val="100000"/>
                            </a:srgbClr>
                          </a:solidFill>
                          <a:latin typeface="Arial"/>
                          <a:cs typeface="Arial"/>
                          <a:sym typeface="Arial"/>
                        </a:rPr>
                        <a:t>Valleywise</a:t>
                      </a:r>
                      <a:r>
                        <a:rPr sz="600" b="0" i="0" u="none" cap="none" dirty="0">
                          <a:solidFill>
                            <a:srgbClr val="000000">
                              <a:alpha val="100000"/>
                            </a:srgbClr>
                          </a:solidFill>
                          <a:latin typeface="Arial"/>
                          <a:cs typeface="Arial"/>
                          <a:sym typeface="Arial"/>
                        </a:rPr>
                        <a:t> Health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301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$1,334,731.2K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$1,283,208.6K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70878">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St Josephs Hospital and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515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$3,307,306.1K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$2,181,042.9K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70878">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Abrazo Central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153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694,563.1K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486,026.0K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70878">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Chandler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429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dirty="0">
                          <a:solidFill>
                            <a:srgbClr val="000000">
                              <a:alpha val="100000"/>
                            </a:srgbClr>
                          </a:solidFill>
                          <a:latin typeface="Arial"/>
                          <a:cs typeface="Arial"/>
                          <a:sym typeface="Arial"/>
                        </a:rPr>
                        <a:t>$3,133,441.6K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$1,607,349.0K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70878">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Tempe St Lukes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74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155,132.9K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200,443.7K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70878">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Banner Boswell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410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$1,221,341.2K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733,644.1K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Banner Desert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835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dirty="0">
                          <a:solidFill>
                            <a:srgbClr val="000000">
                              <a:alpha val="100000"/>
                            </a:srgbClr>
                          </a:solidFill>
                          <a:latin typeface="Arial"/>
                          <a:cs typeface="Arial"/>
                          <a:sym typeface="Arial"/>
                        </a:rPr>
                        <a:t>$2,371,909.4K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$1,415,300.3K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Abrazo Scottsdale Campus</a:t>
                      </a:r>
                    </a:p>
                  </a:txBody>
                  <a:tcPr marL="0" marR="0" marT="0" marB="0"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128</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dirty="0">
                          <a:solidFill>
                            <a:srgbClr val="000000">
                              <a:alpha val="100000"/>
                            </a:srgbClr>
                          </a:solidFill>
                          <a:latin typeface="Arial"/>
                          <a:cs typeface="Arial"/>
                          <a:sym typeface="Arial"/>
                        </a:rPr>
                        <a:t>$  584,997.9K</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681,454.8K</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Banner Baywood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323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774,964.4K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676,290.6K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Banner Thunderbird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539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dirty="0">
                          <a:solidFill>
                            <a:srgbClr val="000000">
                              <a:alpha val="100000"/>
                            </a:srgbClr>
                          </a:solidFill>
                          <a:latin typeface="Arial"/>
                          <a:cs typeface="Arial"/>
                          <a:sym typeface="Arial"/>
                        </a:rPr>
                        <a:t>$1,845,057.7K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dirty="0">
                          <a:solidFill>
                            <a:srgbClr val="000000">
                              <a:alpha val="100000"/>
                            </a:srgbClr>
                          </a:solidFill>
                          <a:latin typeface="Arial"/>
                          <a:cs typeface="Arial"/>
                          <a:sym typeface="Arial"/>
                        </a:rPr>
                        <a:t>$1,272,169.6K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70878">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Banner Del E Webb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337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$1,007,046.9K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dirty="0">
                          <a:solidFill>
                            <a:srgbClr val="000000">
                              <a:alpha val="100000"/>
                            </a:srgbClr>
                          </a:solidFill>
                          <a:latin typeface="Arial"/>
                          <a:cs typeface="Arial"/>
                          <a:sym typeface="Arial"/>
                        </a:rPr>
                        <a:t>$  698,193.7K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Abrazo Arrowhead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276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$2,224,012.9K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$1,686,101.2K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Mayo Clinic Hospital - Arizona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353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$2,173,118.2K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dirty="0">
                          <a:solidFill>
                            <a:srgbClr val="000000">
                              <a:alpha val="100000"/>
                            </a:srgbClr>
                          </a:solidFill>
                          <a:latin typeface="Arial"/>
                          <a:cs typeface="Arial"/>
                          <a:sym typeface="Arial"/>
                        </a:rPr>
                        <a:t>$3,965,934.9K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Banner Heart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108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535,154.7K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dirty="0">
                          <a:solidFill>
                            <a:srgbClr val="000000">
                              <a:alpha val="100000"/>
                            </a:srgbClr>
                          </a:solidFill>
                          <a:latin typeface="Arial"/>
                          <a:cs typeface="Arial"/>
                          <a:sym typeface="Arial"/>
                        </a:rPr>
                        <a:t>$  279,979.1K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Arizona Spine &amp; Joint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86,705.1K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179,796.9K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CORE Institute Specialty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70,948.9K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446,241.6K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Abrazo West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207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$1,688,007.2K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$1,230,156.0K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Dignity Health Arizona Specialty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48,302.2K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dirty="0">
                          <a:solidFill>
                            <a:srgbClr val="000000">
                              <a:alpha val="100000"/>
                            </a:srgbClr>
                          </a:solidFill>
                          <a:latin typeface="Arial"/>
                          <a:cs typeface="Arial"/>
                          <a:sym typeface="Arial"/>
                        </a:rPr>
                        <a:t>$  125,976.6K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7"/>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Banner Estrella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317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$1,057,850.1K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856,897.0K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Mercy Gilbert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197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$1,306,811.7K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$1,019,204.4K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9"/>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Mountain Vista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162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525,741.3K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579,900.7K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0"/>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Banner Gateway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185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918,748.3K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$1,570,875.3K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1"/>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Banner Ironwood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89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234,533.7K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299,618.9K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2"/>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Arizona Specialty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64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dirty="0">
                          <a:solidFill>
                            <a:srgbClr val="000000">
                              <a:alpha val="100000"/>
                            </a:srgbClr>
                          </a:solidFill>
                          <a:latin typeface="Arial"/>
                          <a:cs typeface="Arial"/>
                          <a:sym typeface="Arial"/>
                        </a:rPr>
                        <a:t>$  125,373.3K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236,130.1K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3"/>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Banner Goldfield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26,134.9K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105,373.5K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4"/>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Arizona General Hospital - Laveen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23,233.0K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652,397.0K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5"/>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City of Hope Phoenix</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38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859,828.0K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dirty="0">
                          <a:solidFill>
                            <a:srgbClr val="000000">
                              <a:alpha val="100000"/>
                            </a:srgbClr>
                          </a:solidFill>
                          <a:latin typeface="Arial"/>
                          <a:cs typeface="Arial"/>
                          <a:sym typeface="Arial"/>
                        </a:rPr>
                        <a:t>$  749,849.6K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6"/>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Dignity Health Arizona General Hospital - Mesa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129,986.8K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659,612.2K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7"/>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Banner Ocotillo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94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182,257.8K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237,217.7K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8"/>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Exceptional Community Hospital - Maricopa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11,403.4K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277,881.8K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9"/>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East Valley ER &amp;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22,317.1K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41,795.8K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0"/>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Wickenburg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19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9,462.2K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124,061.2K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1"/>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Cobre Valley Regional Medical Center</a:t>
                      </a:r>
                    </a:p>
                  </a:txBody>
                  <a:tcPr marL="0" marR="0" marT="0" marB="0"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67,425.0K</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154,591.0K</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3"/>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Banner Payson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23,424.1K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   81,761.9K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4"/>
                  </a:ext>
                </a:extLst>
              </a:tr>
              <a:tr h="70878">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Phoenix Childrens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a:solidFill>
                            <a:srgbClr val="000000">
                              <a:alpha val="100000"/>
                            </a:srgbClr>
                          </a:solidFill>
                          <a:latin typeface="Arial"/>
                          <a:cs typeface="Arial"/>
                          <a:sym typeface="Arial"/>
                        </a:rPr>
                        <a:t>383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$2,090,953.6K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600" b="0" i="0" u="none" cap="none">
                          <a:solidFill>
                            <a:srgbClr val="000000">
                              <a:alpha val="100000"/>
                            </a:srgbClr>
                          </a:solidFill>
                          <a:latin typeface="Arial"/>
                          <a:cs typeface="Arial"/>
                          <a:sym typeface="Arial"/>
                        </a:rPr>
                        <a:t>$2,223,592.7K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600" b="0" i="0" u="none" cap="none" dirty="0">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5"/>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684065304"/>
              </p:ext>
            </p:extLst>
          </p:nvPr>
        </p:nvGraphicFramePr>
        <p:xfrm>
          <a:off x="0" y="0"/>
          <a:ext cx="12192000" cy="6858002"/>
        </p:xfrm>
        <a:graphic>
          <a:graphicData uri="http://schemas.openxmlformats.org/drawingml/2006/table">
            <a:tbl>
              <a:tblPr/>
              <a:tblGrid>
                <a:gridCol w="1687993">
                  <a:extLst>
                    <a:ext uri="{9D8B030D-6E8A-4147-A177-3AD203B41FA5}">
                      <a16:colId xmlns:a16="http://schemas.microsoft.com/office/drawing/2014/main" val="20000"/>
                    </a:ext>
                  </a:extLst>
                </a:gridCol>
                <a:gridCol w="1657462">
                  <a:extLst>
                    <a:ext uri="{9D8B030D-6E8A-4147-A177-3AD203B41FA5}">
                      <a16:colId xmlns:a16="http://schemas.microsoft.com/office/drawing/2014/main" val="20001"/>
                    </a:ext>
                  </a:extLst>
                </a:gridCol>
                <a:gridCol w="1779851">
                  <a:extLst>
                    <a:ext uri="{9D8B030D-6E8A-4147-A177-3AD203B41FA5}">
                      <a16:colId xmlns:a16="http://schemas.microsoft.com/office/drawing/2014/main" val="20002"/>
                    </a:ext>
                  </a:extLst>
                </a:gridCol>
                <a:gridCol w="1694378">
                  <a:extLst>
                    <a:ext uri="{9D8B030D-6E8A-4147-A177-3AD203B41FA5}">
                      <a16:colId xmlns:a16="http://schemas.microsoft.com/office/drawing/2014/main" val="20003"/>
                    </a:ext>
                  </a:extLst>
                </a:gridCol>
                <a:gridCol w="1523327">
                  <a:extLst>
                    <a:ext uri="{9D8B030D-6E8A-4147-A177-3AD203B41FA5}">
                      <a16:colId xmlns:a16="http://schemas.microsoft.com/office/drawing/2014/main" val="20004"/>
                    </a:ext>
                  </a:extLst>
                </a:gridCol>
                <a:gridCol w="2085502">
                  <a:extLst>
                    <a:ext uri="{9D8B030D-6E8A-4147-A177-3AD203B41FA5}">
                      <a16:colId xmlns:a16="http://schemas.microsoft.com/office/drawing/2014/main" val="20005"/>
                    </a:ext>
                  </a:extLst>
                </a:gridCol>
                <a:gridCol w="1763487">
                  <a:extLst>
                    <a:ext uri="{9D8B030D-6E8A-4147-A177-3AD203B41FA5}">
                      <a16:colId xmlns:a16="http://schemas.microsoft.com/office/drawing/2014/main" val="20006"/>
                    </a:ext>
                  </a:extLst>
                </a:gridCol>
              </a:tblGrid>
              <a:tr h="356032">
                <a:tc gridSpan="7">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776267">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HonorHealth John C Lincoln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HonorHealth Scottsdale Osborn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HonorHealth Scottsdale Shea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HonorHealth Deer Valley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HonorHealth Scottsdale Thompson Peak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HonorHealth Sonoran Crossing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49611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$232,805K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$260,006K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$333,891K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$231,007K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$90,325K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$33,911K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49611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$457,667K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$181,299K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$291,487K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$157,955K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$110,983K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$73,592K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2101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$56,559K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$84,517K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$127,659K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$59,685K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$62,790K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67120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$62,156K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$34,570K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$32,900K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$35,025K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49611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$571,138K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$320,928K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$466,785K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$293,556K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$132,859K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$83,622K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2101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$72,343K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$46,092K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$42,887K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$64,362K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$10,287K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$15,214K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2101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$253,731K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$257,225K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$348,269K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$225,444K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$90,267K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$36,826K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2101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$498,804K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$179,360K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$304,038K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$154,152K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$110,913K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$79,917K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2101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$752,535K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$436,585K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$652,307K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$379,596K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$201,180K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$116,743K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2101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$-62,682K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$3,431K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$-24,962K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$8,670K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$-9,344K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49611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52.1%</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49.6%</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32.4%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85993">
                <a:tc gridSpan="7">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85993">
                <a:tc gridSpan="7">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85993">
                <a:tc gridSpan="7">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85993">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4"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158892166"/>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a:t>
                      </a:r>
                      <a:r>
                        <a:rPr lang="en-US" sz="1400" b="1" u="none" strike="noStrike" dirty="0">
                          <a:solidFill/>
                          <a:effectLst/>
                        </a:rPr>
                        <a:t>to Maricopa, Pinal and Gila County </a:t>
                      </a:r>
                      <a:r>
                        <a:rPr lang="en-US" sz="1400" b="1" u="none" strike="noStrike" dirty="0">
                          <a:effectLst/>
                        </a:rPr>
                        <a:t>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$ 3,401</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$ 6,184</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$ 2,888</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5"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6"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30</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31</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3741339683"/>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8"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rPr>
              <a:t>KBA is modeling steerage in line with other observed DTE networks.</a:t>
            </a:r>
          </a:p>
        </p:txBody>
      </p:sp>
    </p:spTree>
    <p:extLst>
      <p:ext uri="{BB962C8B-B14F-4D97-AF65-F5344CB8AC3E}">
        <p14:creationId xmlns:p14="http://schemas.microsoft.com/office/powerpoint/2010/main" val="3616502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D3DCB03-C008-AD89-6957-4E05EFDE3F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45156905-E918-9971-55DA-1B3D3593A1EC}"/>
              </a:ext>
            </a:extLst>
          </p:cNvPr>
          <p:cNvSpPr>
            <a:spLocks noGrp="1"/>
          </p:cNvSpPr>
          <p:nvPr>
            <p:ph type="sldNum" sz="quarter" idx="12"/>
          </p:nvPr>
        </p:nvSpPr>
        <p:spPr/>
        <p:txBody>
          <a:bodyPr/>
          <a:lstStyle/>
          <a:p>
            <a:fld id="{3AFC719D-C4A7-4544-876E-D411D11AF6C9}" type="slidenum">
              <a:rPr lang="en-US" smtClean="0"/>
              <a:t>32</a:t>
            </a:fld>
            <a:endParaRPr lang="en-US" dirty="0"/>
          </a:p>
        </p:txBody>
      </p:sp>
      <p:sp>
        <p:nvSpPr>
          <p:cNvPr id="4" name="Rectangle 6">
            <a:extLst>
              <a:ext uri="{FF2B5EF4-FFF2-40B4-BE49-F238E27FC236}">
                <a16:creationId xmlns:a16="http://schemas.microsoft.com/office/drawing/2014/main" id="{8E28090C-2F27-C065-17C4-ABD81529AB09}"/>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A1043D87-228F-7EE7-994A-5E1D92DA9012}"/>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PROJECTED PLAN GROWTH</a:t>
            </a:r>
          </a:p>
        </p:txBody>
      </p:sp>
      <p:sp>
        <p:nvSpPr>
          <p:cNvPr id="6" name="TextBox 12">
            <a:extLst>
              <a:ext uri="{FF2B5EF4-FFF2-40B4-BE49-F238E27FC236}">
                <a16:creationId xmlns:a16="http://schemas.microsoft.com/office/drawing/2014/main" id="{E799F91A-3FD1-47AB-858A-263DC729BC42}"/>
              </a:ext>
            </a:extLst>
          </p:cNvPr>
          <p:cNvSpPr txBox="1"/>
          <p:nvPr/>
        </p:nvSpPr>
        <p:spPr>
          <a:xfrm>
            <a:off x="8932985" y="1054579"/>
            <a:ext cx="2868171" cy="3754874"/>
          </a:xfrm>
          <a:prstGeom prst="rect">
            <a:avLst/>
          </a:prstGeom>
          <a:noFill/>
        </p:spPr>
        <p:txBody>
          <a:bodyPr wrap="square" rtlCol="0">
            <a:spAutoFit/>
          </a:bodyPr>
          <a:lstStyle/>
          <a:p>
            <a:r>
              <a:rPr lang="en-US" sz="1400" dirty="0">
                <a:solidFill/>
              </a:rPr>
              <a:t>KBA currently estimates that HonorHealth has 18% inpatient market share, and 11% outpatient market compared to hospitals/clinics in the Maricopa, Pinal and Gila Counties.</a:t>
            </a:r>
          </a:p>
          <a:p>
            <a:endParaRPr lang="en-US" sz="1400" dirty="0">
              <a:solidFill/>
            </a:endParaRPr>
          </a:p>
          <a:p>
            <a:r>
              <a:rPr lang="en-US" sz="1400" dirty="0">
                <a:solidFill/>
              </a:rPr>
              <a:t>Based on previous DTE experience, KBA expects a significant bump in patient steerage to HonorHealth.</a:t>
            </a:r>
          </a:p>
          <a:p>
            <a:endParaRPr lang="en-US" sz="1400" dirty="0">
              <a:solidFill/>
            </a:endParaRPr>
          </a:p>
          <a:p>
            <a:r>
              <a:rPr lang="en-US" sz="1400" dirty="0">
                <a:solidFill/>
              </a:rPr>
              <a:t>Additional steerage will occur from additional steerage patient benefits and the patient card.  </a:t>
            </a:r>
          </a:p>
          <a:p>
            <a:endParaRPr lang="en-US" sz="1400" dirty="0">
              <a:solidFill/>
            </a:endParaRPr>
          </a:p>
          <a:p>
            <a:r>
              <a:rPr lang="en-US" sz="1400" dirty="0">
                <a:solidFill/>
              </a:rPr>
              <a:t>High estimates start nearly 10% higher than target with low estimates at 10% lower than target</a:t>
            </a:r>
          </a:p>
        </p:txBody>
      </p:sp>
      <p:graphicFrame>
        <p:nvGraphicFramePr>
          <p:cNvPr id="7" name="Table 6"/>
          <p:cNvGraphicFramePr>
            <a:graphicFrameLocks noGrp="1"/>
          </p:cNvGraphicFramePr>
          <p:nvPr>
            <p:extLst>
              <p:ext uri="{D42A27DB-BD31-4B8C-83A1-F6EECF244321}">
                <p14:modId xmlns:p14="http://schemas.microsoft.com/office/powerpoint/2010/main" val="945904518"/>
              </p:ext>
            </p:extLst>
          </p:nvPr>
        </p:nvGraphicFramePr>
        <p:xfrm>
          <a:off x="1316736" y="384048"/>
          <a:ext cx="6858000" cy="567876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8763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HonorHealth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HonorHealth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154,100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0"/>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1"/>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2"/>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3"/>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179,600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4"/>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33</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1212883613"/>
              </p:ext>
            </p:extLst>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14,700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$ 9,028,466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$ 10,122,108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$ 4,726,938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$ 23,877,512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$ 3,178,020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$ 3,562,982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$ 1,663,882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$ 8,404,884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3096761847"/>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88395">
                  <a:extLst>
                    <a:ext uri="{9D8B030D-6E8A-4147-A177-3AD203B41FA5}">
                      <a16:colId xmlns:a16="http://schemas.microsoft.com/office/drawing/2014/main" val="1938271373"/>
                    </a:ext>
                  </a:extLst>
                </a:gridCol>
                <a:gridCol w="1745656">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$ 30,483,653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$ 176,400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$ 30,488,453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$ 30,480,053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435280258"/>
              </p:ext>
            </p:extLst>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$ 33,488,170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$ 52,481,987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$ 24,508,642</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$ 110,478,798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$ 11,787,836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$ 18,473,659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$ 8,627,042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$ 38,888,537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18% (inpatient) and 11%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35.2%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67% inpatient and 58%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35.2%, </a:t>
            </a:r>
            <a:r>
              <a:rPr lang="en-US" sz="1400" dirty="0">
                <a:solidFill/>
                <a:latin typeface="Arial" panose="020B0604020202020204" pitchFamily="34" charset="0"/>
                <a:cs typeface="Arial" panose="020B0604020202020204" pitchFamily="34" charset="0"/>
              </a:rPr>
              <a:t>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a:t>
            </a:r>
            <a:r>
              <a:rPr lang="en-US" sz="3200" b="1">
                <a:latin typeface="Calibri" panose="020F0502020204030204" pitchFamily="34" charset="0"/>
                <a:cs typeface="Calibri" panose="020F0502020204030204" pitchFamily="34" charset="0"/>
              </a:rPr>
              <a:t>4 Projected </a:t>
            </a:r>
            <a:r>
              <a:rPr lang="en-US" sz="3200" b="1" dirty="0">
                <a:latin typeface="Calibri" panose="020F0502020204030204" pitchFamily="34" charset="0"/>
                <a:cs typeface="Calibri" panose="020F0502020204030204" pitchFamily="34" charset="0"/>
              </a:rPr>
              <a:t>Revenue and Profit</a:t>
            </a:r>
          </a:p>
        </p:txBody>
      </p:sp>
    </p:spTree>
    <p:extLst>
      <p:ext uri="{BB962C8B-B14F-4D97-AF65-F5344CB8AC3E}">
        <p14:creationId xmlns:p14="http://schemas.microsoft.com/office/powerpoint/2010/main" val="1419816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793895200"/>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84592">
                <a:tc gridSpan="5">
                  <a:txBody>
                    <a:bodyPr/>
                    <a:lstStyle/>
                    <a:p>
                      <a:pPr marL="63500" marR="635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Target Estimate Assuming </a:t>
                      </a:r>
                      <a:r>
                        <a:rPr lang="en-US" sz="2000" b="1" i="0" u="none" cap="none" dirty="0">
                          <a:solidFill>
                            <a:srgbClr val="FFFFFF">
                              <a:alpha val="100000"/>
                            </a:srgbClr>
                          </a:solidFill>
                          <a:latin typeface="Arial"/>
                          <a:cs typeface="Arial"/>
                          <a:sym typeface="Arial"/>
                        </a:rPr>
                        <a:t>50</a:t>
                      </a:r>
                      <a:r>
                        <a:rPr sz="2000" b="1" i="0" u="none" cap="none" dirty="0">
                          <a:solidFill>
                            <a:srgbClr val="FFFFFF">
                              <a:alpha val="100000"/>
                            </a:srgbClr>
                          </a:solidFill>
                          <a:latin typeface="Arial"/>
                          <a:cs typeface="Arial"/>
                          <a:sym typeface="Arial"/>
                        </a:rPr>
                        <a:t>%+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25%+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25%+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25%+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25%+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52613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11042">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$812.2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$1,624.3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$8,121.6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$40,608.0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$2,858.8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$14,294.0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$3,288.2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$6,576.3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$32,881.6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$164,407.9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$2,476.0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$4,952.0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$24,760.0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$123,799.9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$1,157.4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$2,314.9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$11,574.3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$57,871.6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$871.6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$1,743.1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$8,715.5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$43,577.6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11042">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$547.6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$1,425.1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$8,445.5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$43,547.6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2503051"/>
              </p:ext>
            </p:extLst>
          </p:nvPr>
        </p:nvGraphicFramePr>
        <p:xfrm>
          <a:off x="0" y="0"/>
          <a:ext cx="12198096" cy="685800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068">
                <a:tc gridSpan="5">
                  <a:txBody>
                    <a:bodyPr/>
                    <a:lstStyle/>
                    <a:p>
                      <a:pPr marL="63500" marR="635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Target Estimate Assuming </a:t>
                      </a:r>
                      <a:r>
                        <a:rPr lang="en-US" sz="2000" b="1" i="0" u="none" cap="none" dirty="0">
                          <a:solidFill>
                            <a:srgbClr val="FFFFFF">
                              <a:alpha val="100000"/>
                            </a:srgbClr>
                          </a:solidFill>
                          <a:latin typeface="Arial"/>
                          <a:cs typeface="Arial"/>
                          <a:sym typeface="Arial"/>
                        </a:rPr>
                        <a:t>50</a:t>
                      </a:r>
                      <a:r>
                        <a:rPr sz="2000" b="1" i="0" u="none" cap="none" dirty="0">
                          <a:solidFill>
                            <a:srgbClr val="FFFFFF">
                              <a:alpha val="100000"/>
                            </a:srgbClr>
                          </a:solidFill>
                          <a:latin typeface="Arial"/>
                          <a:cs typeface="Arial"/>
                          <a:sym typeface="Arial"/>
                        </a:rPr>
                        <a:t>%+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25%+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25%+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25%+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25%+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616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31377">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$614.2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$3,070.9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$15,354.5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$1,081.0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$5,404.8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$10,203.0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$51,014.8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$718.3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$3,591.4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$17,957.2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$713.2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$7,132.0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$35,660.2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$251.0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$502.1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$2,510.5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$12,552.4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$344.3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$688.6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$3,442.9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$17,214.5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$1,211.9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$6,059.5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$15,459.3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$77,296.4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$1,088.3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$5,441.7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$27,208.3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$2,403.3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$12,016.4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$60,081.9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$423.0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$846.0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$4,229.8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$21,148.8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$160.8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$321.6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$1,607.8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$8,039.0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$2,829.7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$36,096.8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$12,706.1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$1,122.3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$28,057.7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$197.5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$395.1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$1,975.3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$9,876.3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31377">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$547.6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$1,425.1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$8,445.5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$43,547.6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711395807"/>
              </p:ext>
            </p:extLst>
          </p:nvPr>
        </p:nvGraphicFramePr>
        <p:xfrm>
          <a:off x="0" y="-1"/>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High Estimate Assuming </a:t>
                      </a:r>
                      <a:r>
                        <a:rPr lang="en-US" sz="2000" b="1" i="0" u="none" cap="none" dirty="0">
                          <a:solidFill>
                            <a:srgbClr val="FFFFFF">
                              <a:alpha val="100000"/>
                            </a:srgbClr>
                          </a:solidFill>
                          <a:latin typeface="Arial"/>
                          <a:cs typeface="Arial"/>
                          <a:sym typeface="Arial"/>
                        </a:rPr>
                        <a:t>6</a:t>
                      </a:r>
                      <a:r>
                        <a:rPr sz="2000" b="1" i="0" u="none" cap="none" dirty="0">
                          <a:solidFill>
                            <a:srgbClr val="FFFFFF">
                              <a:alpha val="100000"/>
                            </a:srgbClr>
                          </a:solidFill>
                          <a:latin typeface="Arial"/>
                          <a:cs typeface="Arial"/>
                          <a:sym typeface="Arial"/>
                        </a:rPr>
                        <a:t>0%+ Within-Plan Steerage and a Commercial Margin of 40.2%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50%+ Within-Plan Steerage and a Commercial Margin of 40.2%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50%+ Within-Plan Steerage and a Commercial Margin of 40.2%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50%+ Within-Plan Steerage and a Commercial Margin of 40.2%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50%+ Within-Plan Steerage and a Commercial Margin of 40.2%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$812.2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$1,624.3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$8,121.6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$40,608.0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$2,858.8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$14,294.0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$3,912.3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$7,824.5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$39,122.7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$195,613.3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$3,100.1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$6,200.2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$31,001.1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$155,005.3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$1,572.7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$3,145.5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$15,727.3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$78,636.5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$1,286.9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$2,573.7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$12,868.5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$64,342.5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$962.9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$2,255.7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$12,598.5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$64,312.5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42775273"/>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Low Estimate Assuming </a:t>
                      </a:r>
                      <a:r>
                        <a:rPr lang="en-US" sz="2000" b="1" i="0" u="none" cap="none" dirty="0">
                          <a:solidFill>
                            <a:srgbClr val="FFFFFF">
                              <a:alpha val="100000"/>
                            </a:srgbClr>
                          </a:solidFill>
                          <a:latin typeface="Arial"/>
                          <a:cs typeface="Arial"/>
                          <a:sym typeface="Arial"/>
                        </a:rPr>
                        <a:t>4</a:t>
                      </a:r>
                      <a:r>
                        <a:rPr sz="2000" b="1" i="0" u="none" cap="none" dirty="0">
                          <a:solidFill>
                            <a:srgbClr val="FFFFFF">
                              <a:alpha val="100000"/>
                            </a:srgbClr>
                          </a:solidFill>
                          <a:latin typeface="Arial"/>
                          <a:cs typeface="Arial"/>
                          <a:sym typeface="Arial"/>
                        </a:rPr>
                        <a:t>0%+ Within-Plan Steerage and a Commercial Margin of 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50%+ Within-Plan Steerage and a Commercial Margin of 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50%+ Within-Plan Steerage and a Commercial Margin of 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50%+ Within-Plan Steerage and a Commercial Margin of 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50%+ Within-Plan Steerage and a Commercial Margin of 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$812.2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$1,624.3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$8,121.6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$40,608.0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$2,858.8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$14,294.0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$2,662.9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$5,325.7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$26,628.6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$133,143.2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$1,850.7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$3,701.4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$18,507.0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$92,535.2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$1,608.4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$8,041.8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$40,209.2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$1,036.6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$5,183.0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$25,915.2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$194.3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$718.6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$4,913.0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$25,885.2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b="1" spc="300" dirty="0"/>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500" spc="70" dirty="0">
              <a:latin typeface="+mj-lt"/>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38</a:t>
            </a:fld>
            <a:endParaRPr lang="en-US"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69332"/>
          </a:xfrm>
          <a:prstGeom prst="rect">
            <a:avLst/>
          </a:prstGeom>
          <a:noFill/>
        </p:spPr>
        <p:txBody>
          <a:bodyPr wrap="square">
            <a:spAutoFit/>
          </a:bodyPr>
          <a:lstStyle/>
          <a:p>
            <a:r>
              <a:rPr lang="en-US" b="1" spc="300" dirty="0">
                <a:solidFill>
                  <a:schemeClr val="bg1"/>
                </a:solidFill>
              </a:rPr>
              <a:t>HonorHealth’s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2092881"/>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500" spc="70" dirty="0">
                <a:solidFill>
                  <a:schemeClr val="bg1"/>
                </a:solidFill>
                <a:latin typeface="+mj-lt"/>
              </a:rPr>
              <a:t>Reduced Spend</a:t>
            </a:r>
          </a:p>
          <a:p>
            <a:pPr marL="285753" indent="-285753">
              <a:spcAft>
                <a:spcPts val="200"/>
              </a:spcAft>
              <a:buFont typeface="Wingdings" panose="05000000000000000000" pitchFamily="2" charset="2"/>
              <a:buChar char="§"/>
            </a:pPr>
            <a:r>
              <a:rPr lang="en-US" sz="1500" spc="70" dirty="0">
                <a:solidFill>
                  <a:schemeClr val="bg1"/>
                </a:solidFill>
                <a:latin typeface="+mj-lt"/>
              </a:rPr>
              <a:t>“At The Table” with HonorHealth</a:t>
            </a:r>
          </a:p>
          <a:p>
            <a:pPr marL="285753" indent="-285753">
              <a:spcAft>
                <a:spcPts val="200"/>
              </a:spcAft>
              <a:buFont typeface="Wingdings" panose="05000000000000000000" pitchFamily="2" charset="2"/>
              <a:buChar char="§"/>
            </a:pPr>
            <a:r>
              <a:rPr lang="en-US" sz="1500" spc="70" dirty="0">
                <a:solidFill>
                  <a:schemeClr val="bg1"/>
                </a:solidFill>
                <a:latin typeface="+mj-lt"/>
              </a:rPr>
              <a:t>Improved Analytics</a:t>
            </a:r>
          </a:p>
          <a:p>
            <a:pPr marL="285753" indent="-285753">
              <a:spcAft>
                <a:spcPts val="200"/>
              </a:spcAft>
              <a:buFont typeface="Wingdings" panose="05000000000000000000" pitchFamily="2" charset="2"/>
              <a:buChar char="§"/>
            </a:pPr>
            <a:r>
              <a:rPr lang="en-US" sz="1500" spc="70" dirty="0">
                <a:solidFill>
                  <a:schemeClr val="bg1"/>
                </a:solidFill>
                <a:latin typeface="+mj-lt"/>
              </a:rPr>
              <a:t>Complete Transparency</a:t>
            </a:r>
          </a:p>
          <a:p>
            <a:pPr marL="285753" indent="-285753">
              <a:spcAft>
                <a:spcPts val="200"/>
              </a:spcAft>
              <a:buFont typeface="Wingdings" panose="05000000000000000000" pitchFamily="2" charset="2"/>
              <a:buChar char="§"/>
            </a:pPr>
            <a:r>
              <a:rPr lang="en-US" sz="1500" spc="70" dirty="0">
                <a:solidFill>
                  <a:schemeClr val="bg1"/>
                </a:solidFill>
                <a:latin typeface="+mj-lt"/>
              </a:rPr>
              <a:t>Lower Stop-Loss</a:t>
            </a:r>
          </a:p>
          <a:p>
            <a:pPr marL="285753" indent="-285753">
              <a:spcAft>
                <a:spcPts val="200"/>
              </a:spcAft>
              <a:buFont typeface="Wingdings" panose="05000000000000000000" pitchFamily="2" charset="2"/>
              <a:buChar char="§"/>
            </a:pPr>
            <a:r>
              <a:rPr lang="en-US" sz="1500" spc="70" dirty="0">
                <a:solidFill>
                  <a:schemeClr val="bg1"/>
                </a:solidFill>
                <a:latin typeface="+mj-lt"/>
              </a:rPr>
              <a:t>Benefit Plan Stabilization </a:t>
            </a:r>
          </a:p>
          <a:p>
            <a:pPr marL="285753" indent="-285753">
              <a:spcAft>
                <a:spcPts val="200"/>
              </a:spcAft>
              <a:buFont typeface="Wingdings" panose="05000000000000000000" pitchFamily="2" charset="2"/>
              <a:buChar char="§"/>
            </a:pPr>
            <a:r>
              <a:rPr lang="en-US" sz="1500" spc="70" dirty="0">
                <a:solidFill>
                  <a:schemeClr val="bg1"/>
                </a:solidFill>
                <a:latin typeface="+mj-lt"/>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HonorHealth</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HonorHealth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39</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3235786818"/>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a:t>Determine Gaps in Medical Service Delivery</a:t>
            </a:r>
          </a:p>
          <a:p>
            <a:pPr marL="285750" lvl="0" indent="-285750">
              <a:buFont typeface="Arial" panose="020B0604020202020204" pitchFamily="34" charset="0"/>
              <a:buChar char="•"/>
            </a:pPr>
            <a:r>
              <a:rPr lang="en-US" sz="1800" dirty="0">
                <a:solidFill/>
              </a:rPr>
              <a:t>Identify Other Key Providers to Potentially Contract with on Behalf of HonorHealth</a:t>
            </a:r>
          </a:p>
          <a:p>
            <a:pPr marL="285750" lvl="0" indent="-285750">
              <a:buFont typeface="Arial" panose="020B0604020202020204" pitchFamily="34" charset="0"/>
              <a:buChar char="•"/>
            </a:pPr>
            <a:r>
              <a:rPr lang="en-US" sz="1800" dirty="0"/>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rPr>
              <a:t>To Dial in Competitive Stop-Loss Rates and HonorHealth’s Net Revenues/Margins</a:t>
            </a:r>
          </a:p>
          <a:p>
            <a:pPr marL="285750" lvl="0" indent="-285750">
              <a:buFont typeface="Arial" panose="020B0604020202020204" pitchFamily="34" charset="0"/>
              <a:buChar char="•"/>
            </a:pPr>
            <a:r>
              <a:rPr lang="en-US" sz="1800" dirty="0"/>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42</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46092</TotalTime>
  <Words>5803</Words>
  <Application>Microsoft Office PowerPoint</Application>
  <PresentationFormat>Widescreen</PresentationFormat>
  <Paragraphs>1724</Paragraphs>
  <Slides>42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Aptos Narrow</vt:lpstr>
      <vt:lpstr>Arial</vt:lpstr>
      <vt:lpstr>Arial Black</vt:lpstr>
      <vt:lpstr>Calibri</vt:lpstr>
      <vt:lpstr>Calibri Light</vt:lpstr>
      <vt:lpstr>Century Gothic</vt:lpstr>
      <vt:lpstr>Wingdings</vt:lpstr>
      <vt:lpstr>Office Theme</vt:lpstr>
      <vt:lpstr>PowerPoint Presentation</vt:lpstr>
      <vt:lpstr>PowerPoint Presentation</vt:lpstr>
      <vt:lpstr>Market Leader in Private Labeled DTE Plans</vt:lpstr>
      <vt:lpstr>Direct-to-Employer (DTE)  Your Health Plan Focused on a Direct Relationship with Self-Funded Employers in Your Market</vt:lpstr>
      <vt:lpstr>DTE Keys to Success for HonorHealth</vt:lpstr>
      <vt:lpstr>Every $1 of Care</vt:lpstr>
      <vt:lpstr>Direct-to-Employer Strategy: Powerful Employer Value</vt:lpstr>
      <vt:lpstr>Significant Opportunity for Plan Growth Researched for Maricopa, Pinal and Gila Counties</vt:lpstr>
      <vt:lpstr>Plan Potential Growth Paths</vt:lpstr>
      <vt:lpstr>Growing Powerful, Lasting Profitability</vt:lpstr>
      <vt:lpstr>Estimated Financial Returns and Assumptions</vt:lpstr>
      <vt:lpstr>FOUR-YEAR PROJECTIONS</vt:lpstr>
      <vt:lpstr>Direct-to-Employer Strategy: Only Available to Premier Health Systems</vt:lpstr>
      <vt:lpstr>HonorHealth is Patient Recommended</vt:lpstr>
      <vt:lpstr>PowerPoint Presentation</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HonorHealth’s 2022 Payer Mix</vt:lpstr>
      <vt:lpstr>Estimation of Margin for  Commercial vs. Government Pay</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2024-11-27T13:34:06Z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