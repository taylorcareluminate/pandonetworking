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16"/>
  </p:notesMasterIdLst>
  <p:sldIdLst>
    <p:sldId id="577" r:id="rId5"/>
    <p:sldId id="454" r:id="rId6"/>
    <p:sldId id="549" r:id="rId7"/>
    <p:sldId id="559" r:id="rId8"/>
    <p:sldId id="580" r:id="rId9"/>
    <p:sldId id="582" r:id="rId10"/>
    <p:sldId id="548" r:id="rId11"/>
    <p:sldId id="521" r:id="rId12"/>
    <p:sldId id="564" r:id="rId13"/>
    <p:sldId id="536" r:id="rId14"/>
    <p:sldId id="472" r:id="rId15"/>
  </p:sldIdLst>
  <p:sldSz cx="12192000" cy="6858000"/>
  <p:notesSz cx="7315200" cy="96012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89B"/>
    <a:srgbClr val="2F5597"/>
    <a:srgbClr val="6087CE"/>
    <a:srgbClr val="4468A5"/>
    <a:srgbClr val="F2F2F2"/>
    <a:srgbClr val="C55A11"/>
    <a:srgbClr val="F424AA"/>
    <a:srgbClr val="E23440"/>
    <a:srgbClr val="02758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6D574-82BB-4CB5-99BF-9CC8BA33C466}" v="3" dt="2024-11-27T13:34:23.002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609" autoAdjust="0"/>
  </p:normalViewPr>
  <p:slideViewPr>
    <p:cSldViewPr snapToGrid="0">
      <p:cViewPr varScale="1">
        <p:scale>
          <a:sx n="95" d="100"/>
          <a:sy n="95" d="100"/>
        </p:scale>
        <p:origin x="1110" y="90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3066D574-82BB-4CB5-99BF-9CC8BA33C466}"/>
    <pc:docChg chg="delSld modSld">
      <pc:chgData name="Taylor Davis" userId="5c9e72a0-c39f-4aa1-9d7d-64125e78cbe6" providerId="ADAL" clId="{3066D574-82BB-4CB5-99BF-9CC8BA33C466}" dt="2024-11-27T13:34:23.002" v="5"/>
      <pc:docMkLst>
        <pc:docMk/>
      </pc:docMkLst>
      <pc:sldChg chg="del">
        <pc:chgData name="Taylor Davis" userId="5c9e72a0-c39f-4aa1-9d7d-64125e78cbe6" providerId="ADAL" clId="{3066D574-82BB-4CB5-99BF-9CC8BA33C466}" dt="2024-11-27T03:54:53.021" v="3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3066D574-82BB-4CB5-99BF-9CC8BA33C466}" dt="2024-11-27T03:54:53.021" v="3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3066D574-82BB-4CB5-99BF-9CC8BA33C466}" dt="2024-11-27T03:54:53.021" v="3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619324413" sldId="336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420959824" sldId="337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2984433661" sldId="446"/>
        </pc:sldMkLst>
      </pc:sldChg>
      <pc:sldChg chg="del">
        <pc:chgData name="Taylor Davis" userId="5c9e72a0-c39f-4aa1-9d7d-64125e78cbe6" providerId="ADAL" clId="{3066D574-82BB-4CB5-99BF-9CC8BA33C466}" dt="2024-11-27T03:54:26.971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902706633" sldId="461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3804806607" sldId="462"/>
        </pc:sldMkLst>
      </pc:sldChg>
      <pc:sldChg chg="del">
        <pc:chgData name="Taylor Davis" userId="5c9e72a0-c39f-4aa1-9d7d-64125e78cbe6" providerId="ADAL" clId="{3066D574-82BB-4CB5-99BF-9CC8BA33C466}" dt="2024-11-27T03:54:26.971" v="0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3066D574-82BB-4CB5-99BF-9CC8BA33C466}" dt="2024-11-27T03:54:26.971" v="0" actId="47"/>
        <pc:sldMkLst>
          <pc:docMk/>
          <pc:sldMk cId="1552833548" sldId="487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3066D574-82BB-4CB5-99BF-9CC8BA33C466}" dt="2024-11-27T03:54:53.021" v="3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3066D574-82BB-4CB5-99BF-9CC8BA33C466}" dt="2024-11-27T03:54:53.021" v="3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3066D574-82BB-4CB5-99BF-9CC8BA33C466}" dt="2024-11-27T03:54:26.971" v="0" actId="47"/>
        <pc:sldMkLst>
          <pc:docMk/>
          <pc:sldMk cId="3348736581" sldId="518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3034923006" sldId="527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94944115" sldId="546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3616502281" sldId="547"/>
        </pc:sldMkLst>
      </pc:sldChg>
      <pc:sldChg chg="addSp modSp">
        <pc:chgData name="Taylor Davis" userId="5c9e72a0-c39f-4aa1-9d7d-64125e78cbe6" providerId="ADAL" clId="{3066D574-82BB-4CB5-99BF-9CC8BA33C466}" dt="2024-11-27T13:34:23.002" v="5"/>
        <pc:sldMkLst>
          <pc:docMk/>
          <pc:sldMk cId="315794589" sldId="548"/>
        </pc:sldMkLst>
        <pc:spChg chg="add mod">
          <ac:chgData name="Taylor Davis" userId="5c9e72a0-c39f-4aa1-9d7d-64125e78cbe6" providerId="ADAL" clId="{3066D574-82BB-4CB5-99BF-9CC8BA33C466}" dt="2024-11-27T13:34:18.482" v="4"/>
          <ac:spMkLst>
            <pc:docMk/>
            <pc:sldMk cId="315794589" sldId="548"/>
            <ac:spMk id="8" creationId="{36076E7E-6F5A-723C-0A9F-833C327F4F24}"/>
          </ac:spMkLst>
        </pc:spChg>
        <pc:spChg chg="add mod">
          <ac:chgData name="Taylor Davis" userId="5c9e72a0-c39f-4aa1-9d7d-64125e78cbe6" providerId="ADAL" clId="{3066D574-82BB-4CB5-99BF-9CC8BA33C466}" dt="2024-11-27T13:34:23.002" v="5"/>
          <ac:spMkLst>
            <pc:docMk/>
            <pc:sldMk cId="315794589" sldId="548"/>
            <ac:spMk id="9" creationId="{4C0D4E7C-3914-BFBD-3422-32912679B137}"/>
          </ac:spMkLst>
        </pc:spChg>
      </pc:sldChg>
      <pc:sldChg chg="del">
        <pc:chgData name="Taylor Davis" userId="5c9e72a0-c39f-4aa1-9d7d-64125e78cbe6" providerId="ADAL" clId="{3066D574-82BB-4CB5-99BF-9CC8BA33C466}" dt="2024-11-27T03:54:32.097" v="1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3066D574-82BB-4CB5-99BF-9CC8BA33C466}" dt="2024-11-27T03:54:53.021" v="3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3066D574-82BB-4CB5-99BF-9CC8BA33C466}" dt="2024-11-27T03:54:53.021" v="3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3066D574-82BB-4CB5-99BF-9CC8BA33C466}" dt="2024-11-27T03:54:53.021" v="3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3277395919" sldId="578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3618341172" sldId="584"/>
        </pc:sldMkLst>
      </pc:sldChg>
      <pc:sldChg chg="del">
        <pc:chgData name="Taylor Davis" userId="5c9e72a0-c39f-4aa1-9d7d-64125e78cbe6" providerId="ADAL" clId="{3066D574-82BB-4CB5-99BF-9CC8BA33C466}" dt="2024-11-27T03:54:48.271" v="2" actId="47"/>
        <pc:sldMkLst>
          <pc:docMk/>
          <pc:sldMk cId="2011724879" sldId="5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11/27/2024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11/27/2024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11/27/2024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11/27/2024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11" Type="http://schemas.openxmlformats.org/officeDocument/2006/relationships/image" Target="../media/image6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HONORHEALTH DIRECT-TO-EMPLOYER PLAN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November 27, 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87552" y="1636776"/>
            <a:ext cx="11201400" cy="5221224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9528751" y="796163"/>
            <a:ext cx="2398188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700 Employees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Relationships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56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Leader in Private Labeled DTE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0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1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2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275695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5,000</a:t>
            </a:r>
            <a:r>
              <a:rPr lang="en-US" spc="200" dirty="0">
                <a:latin typeface="+mj-lt"/>
                <a:cs typeface="+mj-cs"/>
              </a:rPr>
              <a:t>+</a:t>
            </a:r>
            <a:r>
              <a:rPr lang="en-US" sz="1800" spc="200" dirty="0">
                <a:latin typeface="+mj-lt"/>
                <a:cs typeface="+mj-cs"/>
              </a:rPr>
              <a:t> Employers       7</a:t>
            </a:r>
            <a:r>
              <a:rPr lang="en-US" spc="200" dirty="0">
                <a:latin typeface="+mj-lt"/>
                <a:cs typeface="+mj-cs"/>
              </a:rPr>
              <a:t>0</a:t>
            </a:r>
            <a:r>
              <a:rPr lang="en-US" sz="1800" spc="200" dirty="0">
                <a:latin typeface="+mj-lt"/>
                <a:cs typeface="+mj-cs"/>
              </a:rPr>
              <a:t>0,000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1,200,000+ Members</a:t>
            </a:r>
            <a:endParaRPr lang="en-US" dirty="0"/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2" y="43143"/>
            <a:ext cx="11801383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Opportunity for </a:t>
            </a:r>
            <a:r>
              <a:rPr lang="en-US" sz="3600" dirty="0">
                <a:solidFill>
                  <a:srgbClr val="000B2E"/>
                </a:solidFill>
              </a:rPr>
              <a:t>Plan Growth</a:t>
            </a:r>
            <a:br>
              <a:rPr lang="en-US" sz="3600" dirty="0">
                <a:solidFill>
                  <a:srgbClr val="000B2E"/>
                </a:solidFill>
              </a:rPr>
            </a:br>
            <a:r>
              <a:rPr lang="en-US" sz="2400" dirty="0">
                <a:solidFill>
                  <a:srgbClr val="000B2E"/>
                </a:solidFill>
              </a:rPr>
              <a:t>Researched for Maricopa, Pinal and Gila Counties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968948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3,524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1387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264,300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208,100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262,800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351,400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475,700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374,600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632,500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543,600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1,252,800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rcRect l="24940" t="30509" r="28230" b="35038"/>
          <a:stretch/>
        </p:blipFill>
        <p:spPr>
          <a:xfrm>
            <a:off x="-1" y="2564004"/>
            <a:ext cx="4114799" cy="283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dirty="0"/>
              <a:t>Plan Potential Growth Paths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1359766" y="1855590"/>
            <a:ext cx="3960468" cy="3636786"/>
            <a:chOff x="1724978" y="2161521"/>
            <a:chExt cx="8274685" cy="4307840"/>
          </a:xfrm>
        </p:grpSpPr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9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12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3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4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6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7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19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20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22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29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1699594" y="5848141"/>
            <a:ext cx="951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/>
              </a:rPr>
              <a:t>Estimates include Gila, Maricopa, and Pinal Counties</a:t>
            </a:r>
          </a:p>
        </p:txBody>
      </p:sp>
      <p:sp>
        <p:nvSpPr>
          <p:cNvPr id="31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3297507" y="4821984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4,918K</a:t>
            </a:r>
          </a:p>
        </p:txBody>
      </p:sp>
      <p:sp>
        <p:nvSpPr>
          <p:cNvPr id="32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3520440" y="3896929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2,875K</a:t>
            </a:r>
          </a:p>
        </p:txBody>
      </p:sp>
      <p:sp>
        <p:nvSpPr>
          <p:cNvPr id="33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3739896" y="2954184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1,935K</a:t>
            </a:r>
          </a:p>
        </p:txBody>
      </p:sp>
      <p:sp>
        <p:nvSpPr>
          <p:cNvPr id="34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3959352" y="2022649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1,200K</a:t>
            </a:r>
          </a:p>
        </p:txBody>
      </p:sp>
      <p:pic>
        <p:nvPicPr>
          <p:cNvPr id="35" name="Content Placeholder 34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oyalty-Free photo: Green tall trees near on the lake with overlooking  mountain during daytime | PickPik">
            <a:extLst>
              <a:ext uri="{FF2B5EF4-FFF2-40B4-BE49-F238E27FC236}">
                <a16:creationId xmlns:a16="http://schemas.microsoft.com/office/drawing/2014/main" id="{2478D38F-2055-3BED-F325-F30BC961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8"/>
          <a:stretch/>
        </p:blipFill>
        <p:spPr bwMode="auto">
          <a:xfrm>
            <a:off x="-31771" y="1"/>
            <a:ext cx="10918845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0515600" cy="1325563"/>
          </a:xfrm>
        </p:spPr>
        <p:txBody>
          <a:bodyPr/>
          <a:lstStyle/>
          <a:p>
            <a:r>
              <a:rPr lang="en-US" dirty="0"/>
              <a:t>Growing Powerful, Lasting Profitability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2413" y="648052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038F2-C307-DC75-4AEA-316E0211A3AE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4401177" y="1868993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6315910" y="1868991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8230644" y="1868990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572430" y="1636954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35286" y="2293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2219510" y="2293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9001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$75.56M</a:t>
            </a:r>
            <a:endParaRPr lang="en-US" sz="2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1922550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$26.7M</a:t>
            </a:r>
            <a:endParaRPr lang="en-US" sz="2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781431" y="3151370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277" y="380829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2210501" y="380829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19992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$555.58M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1913541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$197.43M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729525" y="4771937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35286" y="542886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2219510" y="542886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9001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$1158.14M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1922550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$411.52M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25" name="Content Placeholder 24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4078224" y="1472184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5,089.8K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10,008.2K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18,870.3K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30,660.1K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176.4K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4,794.6K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9,896.6K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18,805.5K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30,656.5K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6,844.9K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13,871.0K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25,946.6K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42,131.5K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6,561.7K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13,785.8K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25,925.0K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42,193.9K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3,159.2K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6,321.0K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11,793.9K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19,188.6K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21.6K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2,850.8K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6,184.2K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11,685.9K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19,119.0K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0D4E7C-3914-BFBD-3422-32912679B137}"/>
              </a:ext>
            </a:extLst>
          </p:cNvPr>
          <p:cNvSpPr txBox="1"/>
          <p:nvPr/>
        </p:nvSpPr>
        <p:spPr>
          <a:xfrm>
            <a:off x="2271712" y="219075"/>
            <a:ext cx="280237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/>
              <a:t>Variation by Member Growth With Target Estimate Assuming</a:t>
            </a:r>
          </a:p>
          <a:p>
            <a:r>
              <a:rPr lang="en-US" sz="800" dirty="0"/>
              <a:t>50%+ Within-Plan Steerage and a Commercial Margin of 35.2%</a:t>
            </a:r>
          </a:p>
        </p:txBody>
      </p:sp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82" y="13652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Available to </a:t>
            </a:r>
            <a:r>
              <a:rPr lang="en-US" sz="40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Premier</a:t>
            </a: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243" y="1829480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508760" y="2834640"/>
            <a:ext cx="3154680" cy="92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29718EC-0FBE-02AB-65D1-5F9EA788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1A8707D-53C1-F2FE-8133-D607A372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3A94DB-FE92-CA1C-15F4-F7EC71D30241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5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HonorHealth is Patient Recommended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0219A2-C97D-9E0E-9C52-C5207AB41BD4}"/>
              </a:ext>
            </a:extLst>
          </p:cNvPr>
          <p:cNvSpPr/>
          <p:nvPr/>
        </p:nvSpPr>
        <p:spPr>
          <a:xfrm>
            <a:off x="9405257" y="1989573"/>
            <a:ext cx="2532185" cy="3486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Based on quality measures and HCAHPS feedback, KBA estimates that HonorHealth has the strongest brand quality in Gila, Maricopa, and Pinal Counties.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81912" y="1645920"/>
          <a:ext cx="7674673" cy="3684144"/>
        </p:xfrm>
        <a:graphic>
          <a:graphicData uri="http://schemas.openxmlformats.org/drawingml/2006/table">
            <a:tbl>
              <a:tblPr/>
              <a:tblGrid>
                <a:gridCol w="2062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752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Quality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Mayo Clinic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2599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30589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777A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D7CB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D7CB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24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CommonSpirit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180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A6DA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9C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F7EB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E8AB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8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HonorHealth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E8AB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95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Banner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8C6D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99FC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Indian Health Service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D6E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/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9C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3B5D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173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Valleywise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3DB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ECB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88B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FB2D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3A8C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Steward Health Care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8EC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DD6E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99FC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BAEC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88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Tenet Healthcare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0F3F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1DAE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FB2D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752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E4D1330-6559-4480-ECC7-66909D09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Key Benefit Administrators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AD03FEC-C905-CEF4-1EA9-88A13341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883613"/>
              </p:ext>
            </p:extLst>
          </p:nvPr>
        </p:nvGraphicFramePr>
        <p:xfrm>
          <a:off x="418056" y="764777"/>
          <a:ext cx="6972297" cy="132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Pre-DTE Cohort of 14,700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$ 9,028,466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$ 10,122,108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$ 4,726,938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$ 23,877,512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$ 3,178,020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$ 3,562,982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$ 1,663,882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$ 8,404,884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761847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88395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45656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$ 30,483,653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$ 176,400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$ 30,488,453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$ 30,480,053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7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80258"/>
              </p:ext>
            </p:extLst>
          </p:nvPr>
        </p:nvGraphicFramePr>
        <p:xfrm>
          <a:off x="418055" y="2234768"/>
          <a:ext cx="6972296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600" dirty="0"/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$ 33,488,170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$ 52,481,987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$ 24,508,642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$ 110,478,798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$ 11,787,836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$ 18,473,659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$ 8,627,042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$ 38,888,537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8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† Assuming proportional revenues from market shares of 18% (inpatient) and 11% (outpatient)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‡ Conservatively assuming a commercial margin of 35.2% (80% of the estimated commercial margin)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⁰ Assuming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67% inpatient and 58%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market steerage based on KBA narrow network DTE experience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(see previous slide)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 Conservatively assuming a commercial margin of 35.2%,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with a 10 percentage-point reduction to reflect competitive-edge rates and a 10 percentage-point increase due to lower billing costs and higher patient responsibility collections because of the member credit card.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6286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Year </a:t>
            </a:r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4 Projected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Revenue and Profit</a:t>
            </a: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6" y="560444"/>
            <a:ext cx="6850224" cy="7825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solidFill>
                  <a:schemeClr val="bg1"/>
                </a:solidFill>
              </a:r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200329"/>
            <a:chOff x="908754" y="2695500"/>
            <a:chExt cx="10558665" cy="1200329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KNOW THE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646331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46093</TotalTime>
  <Words>943</Words>
  <Application>Microsoft Office PowerPoint</Application>
  <PresentationFormat>Widescreen</PresentationFormat>
  <Paragraphs>347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 Narrow</vt:lpstr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Market Leader in Private Labeled DTE Plans</vt:lpstr>
      <vt:lpstr>Significant Opportunity for Plan Growth Researched for Maricopa, Pinal and Gila Counties</vt:lpstr>
      <vt:lpstr>Plan Potential Growth Paths</vt:lpstr>
      <vt:lpstr>Growing Powerful, Lasting Profitability</vt:lpstr>
      <vt:lpstr>FOUR-YEAR PROJECTIONS</vt:lpstr>
      <vt:lpstr>Direct-to-Employer Strategy: Only Available to Premier Health Systems</vt:lpstr>
      <vt:lpstr>HonorHealth is Patient Recommended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111</cp:revision>
  <cp:lastPrinted>2023-07-13T10:24:43Z</cp:lastPrinted>
  <dcterms:created xsi:type="dcterms:W3CDTF">2021-01-20T14:12:11Z</dcterms:created>
  <dcterms:modified xsi:type="dcterms:W3CDTF">2024-11-27T13:34:28Z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