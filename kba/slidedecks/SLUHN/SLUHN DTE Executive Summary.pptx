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4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5.xml" ContentType="application/vnd.openxmlformats-officedocument.theme+xml"/>
  <Override PartName="/ppt/tags/tag3.xml" ContentType="application/vnd.openxmlformats-officedocument.presentationml.tags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  <p:sldMasterId id="2147483651" r:id="rId2"/>
    <p:sldMasterId id="2147483663" r:id="rId3"/>
    <p:sldMasterId id="2147483678" r:id="rId4"/>
    <p:sldMasterId id="2147483690" r:id="rId5"/>
  </p:sldMasterIdLst>
  <p:notesMasterIdLst>
    <p:notesMasterId r:id="rId17"/>
  </p:notesMasterIdLst>
  <p:sldIdLst>
    <p:sldId id="256" r:id="rId6"/>
    <p:sldId id="454" r:id="rId7"/>
    <p:sldId id="549" r:id="rId8"/>
    <p:sldId id="285" r:id="rId9"/>
    <p:sldId id="2145726856" r:id="rId10"/>
    <p:sldId id="614" r:id="rId11"/>
    <p:sldId id="551" r:id="rId12"/>
    <p:sldId id="559" r:id="rId13"/>
    <p:sldId id="585" r:id="rId14"/>
    <p:sldId id="2145726869" r:id="rId15"/>
    <p:sldId id="582" r:id="rId16"/>
  </p:sldIdLst>
  <p:sldSz cx="12192000" cy="6858000"/>
  <p:notesSz cx="6858000" cy="12192000"/>
  <p:embeddedFontLst>
    <p:embeddedFont>
      <p:font typeface="Montserrat" panose="00000500000000000000" pitchFamily="2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2E2597A-94BE-EE4F-A6CE-E20FE57E2F9C}" name="Guest User" initials="GU" userId="S::urn:spo:anon#4882e948f16bd08fe685987adb7b014b58869755eb6e2ab80c2be75a5daf6f48::" providerId="AD"/>
  <p188:author id="{6244F3C6-ED6E-17B5-41BE-FE4DD862B991}" name="Taylor Davis" initials="TD" userId="S::taylordavis@careluminate.com::5c9e72a0-c39f-4aa1-9d7d-64125e78cbe6" providerId="AD"/>
  <p188:author id="{66F9D3D0-34A3-8F09-07C8-70124CEFC9C1}" name="Guest User" initials="GU" userId="S::urn:spo:anon#24b610c975cf575f85befe109f115faf394b3198ecce54128fd3ac5d0276f2d0::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39F"/>
    <a:srgbClr val="30589B"/>
    <a:srgbClr val="F2F2F2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576C2B-4D17-4C5B-9EEE-0127A9D85FB7}" v="10" dt="2025-01-02T17:46:46.8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font" Target="fonts/font1.fntdata"/><Relationship Id="rId26" Type="http://schemas.microsoft.com/office/2016/11/relationships/changesInfo" Target="changesInfos/changesInfo1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4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28" Type="http://schemas.microsoft.com/office/2018/10/relationships/authors" Target="authors.xml"/><Relationship Id="rId10" Type="http://schemas.openxmlformats.org/officeDocument/2006/relationships/slide" Target="slides/slide5.xml"/><Relationship Id="rId19" Type="http://schemas.openxmlformats.org/officeDocument/2006/relationships/font" Target="fonts/font2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ylor Davis" userId="5c9e72a0-c39f-4aa1-9d7d-64125e78cbe6" providerId="ADAL" clId="{D5576C2B-4D17-4C5B-9EEE-0127A9D85FB7}"/>
    <pc:docChg chg="undo custSel addSld delSld modSld sldOrd">
      <pc:chgData name="Taylor Davis" userId="5c9e72a0-c39f-4aa1-9d7d-64125e78cbe6" providerId="ADAL" clId="{D5576C2B-4D17-4C5B-9EEE-0127A9D85FB7}" dt="2025-01-02T18:45:09.158" v="1793"/>
      <pc:docMkLst>
        <pc:docMk/>
      </pc:docMkLst>
      <pc:sldChg chg="addSp delSp modSp mod">
        <pc:chgData name="Taylor Davis" userId="5c9e72a0-c39f-4aa1-9d7d-64125e78cbe6" providerId="ADAL" clId="{D5576C2B-4D17-4C5B-9EEE-0127A9D85FB7}" dt="2024-12-31T14:32:18.734" v="1365" actId="20577"/>
        <pc:sldMkLst>
          <pc:docMk/>
          <pc:sldMk cId="0" sldId="256"/>
        </pc:sldMkLst>
        <pc:spChg chg="add del">
          <ac:chgData name="Taylor Davis" userId="5c9e72a0-c39f-4aa1-9d7d-64125e78cbe6" providerId="ADAL" clId="{D5576C2B-4D17-4C5B-9EEE-0127A9D85FB7}" dt="2024-12-31T14:32:01.203" v="1340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Taylor Davis" userId="5c9e72a0-c39f-4aa1-9d7d-64125e78cbe6" providerId="ADAL" clId="{D5576C2B-4D17-4C5B-9EEE-0127A9D85FB7}" dt="2024-12-31T14:32:18.734" v="1365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Taylor Davis" userId="5c9e72a0-c39f-4aa1-9d7d-64125e78cbe6" providerId="ADAL" clId="{D5576C2B-4D17-4C5B-9EEE-0127A9D85FB7}" dt="2024-12-31T14:31:47.960" v="1338" actId="20577"/>
          <ac:spMkLst>
            <pc:docMk/>
            <pc:sldMk cId="0" sldId="256"/>
            <ac:spMk id="7" creationId="{00000000-0000-0000-0000-000000000000}"/>
          </ac:spMkLst>
        </pc:spChg>
      </pc:sldChg>
      <pc:sldChg chg="del">
        <pc:chgData name="Taylor Davis" userId="5c9e72a0-c39f-4aa1-9d7d-64125e78cbe6" providerId="ADAL" clId="{D5576C2B-4D17-4C5B-9EEE-0127A9D85FB7}" dt="2024-12-31T14:07:26.059" v="0" actId="47"/>
        <pc:sldMkLst>
          <pc:docMk/>
          <pc:sldMk cId="0" sldId="257"/>
        </pc:sldMkLst>
      </pc:sldChg>
      <pc:sldChg chg="del">
        <pc:chgData name="Taylor Davis" userId="5c9e72a0-c39f-4aa1-9d7d-64125e78cbe6" providerId="ADAL" clId="{D5576C2B-4D17-4C5B-9EEE-0127A9D85FB7}" dt="2024-12-31T14:07:26.059" v="0" actId="47"/>
        <pc:sldMkLst>
          <pc:docMk/>
          <pc:sldMk cId="0" sldId="258"/>
        </pc:sldMkLst>
      </pc:sldChg>
      <pc:sldChg chg="del">
        <pc:chgData name="Taylor Davis" userId="5c9e72a0-c39f-4aa1-9d7d-64125e78cbe6" providerId="ADAL" clId="{D5576C2B-4D17-4C5B-9EEE-0127A9D85FB7}" dt="2024-12-31T14:07:26.059" v="0" actId="47"/>
        <pc:sldMkLst>
          <pc:docMk/>
          <pc:sldMk cId="0" sldId="259"/>
        </pc:sldMkLst>
      </pc:sldChg>
      <pc:sldChg chg="del">
        <pc:chgData name="Taylor Davis" userId="5c9e72a0-c39f-4aa1-9d7d-64125e78cbe6" providerId="ADAL" clId="{D5576C2B-4D17-4C5B-9EEE-0127A9D85FB7}" dt="2024-12-31T14:07:26.059" v="0" actId="47"/>
        <pc:sldMkLst>
          <pc:docMk/>
          <pc:sldMk cId="0" sldId="260"/>
        </pc:sldMkLst>
      </pc:sldChg>
      <pc:sldChg chg="del">
        <pc:chgData name="Taylor Davis" userId="5c9e72a0-c39f-4aa1-9d7d-64125e78cbe6" providerId="ADAL" clId="{D5576C2B-4D17-4C5B-9EEE-0127A9D85FB7}" dt="2024-12-31T14:26:32.622" v="1195" actId="47"/>
        <pc:sldMkLst>
          <pc:docMk/>
          <pc:sldMk cId="0" sldId="262"/>
        </pc:sldMkLst>
      </pc:sldChg>
      <pc:sldChg chg="del">
        <pc:chgData name="Taylor Davis" userId="5c9e72a0-c39f-4aa1-9d7d-64125e78cbe6" providerId="ADAL" clId="{D5576C2B-4D17-4C5B-9EEE-0127A9D85FB7}" dt="2024-12-31T14:26:35.831" v="1196" actId="47"/>
        <pc:sldMkLst>
          <pc:docMk/>
          <pc:sldMk cId="0" sldId="263"/>
        </pc:sldMkLst>
      </pc:sldChg>
      <pc:sldChg chg="del">
        <pc:chgData name="Taylor Davis" userId="5c9e72a0-c39f-4aa1-9d7d-64125e78cbe6" providerId="ADAL" clId="{D5576C2B-4D17-4C5B-9EEE-0127A9D85FB7}" dt="2024-12-31T14:27:14.286" v="1198" actId="47"/>
        <pc:sldMkLst>
          <pc:docMk/>
          <pc:sldMk cId="0" sldId="264"/>
        </pc:sldMkLst>
      </pc:sldChg>
      <pc:sldChg chg="del">
        <pc:chgData name="Taylor Davis" userId="5c9e72a0-c39f-4aa1-9d7d-64125e78cbe6" providerId="ADAL" clId="{D5576C2B-4D17-4C5B-9EEE-0127A9D85FB7}" dt="2024-12-31T14:07:31.610" v="1" actId="47"/>
        <pc:sldMkLst>
          <pc:docMk/>
          <pc:sldMk cId="2557803739" sldId="276"/>
        </pc:sldMkLst>
      </pc:sldChg>
      <pc:sldChg chg="del">
        <pc:chgData name="Taylor Davis" userId="5c9e72a0-c39f-4aa1-9d7d-64125e78cbe6" providerId="ADAL" clId="{D5576C2B-4D17-4C5B-9EEE-0127A9D85FB7}" dt="2024-12-31T14:26:20.380" v="1194" actId="47"/>
        <pc:sldMkLst>
          <pc:docMk/>
          <pc:sldMk cId="3543401867" sldId="281"/>
        </pc:sldMkLst>
      </pc:sldChg>
      <pc:sldChg chg="del">
        <pc:chgData name="Taylor Davis" userId="5c9e72a0-c39f-4aa1-9d7d-64125e78cbe6" providerId="ADAL" clId="{D5576C2B-4D17-4C5B-9EEE-0127A9D85FB7}" dt="2024-12-31T14:26:20.380" v="1194" actId="47"/>
        <pc:sldMkLst>
          <pc:docMk/>
          <pc:sldMk cId="2605732402" sldId="283"/>
        </pc:sldMkLst>
      </pc:sldChg>
      <pc:sldChg chg="addSp delSp modSp mod ord">
        <pc:chgData name="Taylor Davis" userId="5c9e72a0-c39f-4aa1-9d7d-64125e78cbe6" providerId="ADAL" clId="{D5576C2B-4D17-4C5B-9EEE-0127A9D85FB7}" dt="2024-12-31T15:48:09.765" v="1386" actId="20577"/>
        <pc:sldMkLst>
          <pc:docMk/>
          <pc:sldMk cId="514031403" sldId="285"/>
        </pc:sldMkLst>
        <pc:spChg chg="mod">
          <ac:chgData name="Taylor Davis" userId="5c9e72a0-c39f-4aa1-9d7d-64125e78cbe6" providerId="ADAL" clId="{D5576C2B-4D17-4C5B-9EEE-0127A9D85FB7}" dt="2024-12-31T14:19:24.001" v="631" actId="1076"/>
          <ac:spMkLst>
            <pc:docMk/>
            <pc:sldMk cId="514031403" sldId="285"/>
            <ac:spMk id="3" creationId="{4D269B07-A1ED-07AD-3675-D58BFB1D18D7}"/>
          </ac:spMkLst>
        </pc:spChg>
        <pc:spChg chg="add mod">
          <ac:chgData name="Taylor Davis" userId="5c9e72a0-c39f-4aa1-9d7d-64125e78cbe6" providerId="ADAL" clId="{D5576C2B-4D17-4C5B-9EEE-0127A9D85FB7}" dt="2024-12-31T14:22:07.438" v="911" actId="20577"/>
          <ac:spMkLst>
            <pc:docMk/>
            <pc:sldMk cId="514031403" sldId="285"/>
            <ac:spMk id="4" creationId="{E8F9BADC-2338-A27F-DD8C-E7D0560B16C7}"/>
          </ac:spMkLst>
        </pc:spChg>
        <pc:spChg chg="add mod">
          <ac:chgData name="Taylor Davis" userId="5c9e72a0-c39f-4aa1-9d7d-64125e78cbe6" providerId="ADAL" clId="{D5576C2B-4D17-4C5B-9EEE-0127A9D85FB7}" dt="2024-12-31T14:22:32.491" v="914" actId="2085"/>
          <ac:spMkLst>
            <pc:docMk/>
            <pc:sldMk cId="514031403" sldId="285"/>
            <ac:spMk id="5" creationId="{99FC09F6-BF36-8079-D933-8419E223E4AC}"/>
          </ac:spMkLst>
        </pc:spChg>
        <pc:spChg chg="add mod">
          <ac:chgData name="Taylor Davis" userId="5c9e72a0-c39f-4aa1-9d7d-64125e78cbe6" providerId="ADAL" clId="{D5576C2B-4D17-4C5B-9EEE-0127A9D85FB7}" dt="2024-12-31T14:30:30.826" v="1291" actId="6549"/>
          <ac:spMkLst>
            <pc:docMk/>
            <pc:sldMk cId="514031403" sldId="285"/>
            <ac:spMk id="6" creationId="{5E774969-9664-5C07-064D-88B09D141ED5}"/>
          </ac:spMkLst>
        </pc:spChg>
        <pc:spChg chg="mod">
          <ac:chgData name="Taylor Davis" userId="5c9e72a0-c39f-4aa1-9d7d-64125e78cbe6" providerId="ADAL" clId="{D5576C2B-4D17-4C5B-9EEE-0127A9D85FB7}" dt="2024-12-31T15:48:09.765" v="1386" actId="20577"/>
          <ac:spMkLst>
            <pc:docMk/>
            <pc:sldMk cId="514031403" sldId="285"/>
            <ac:spMk id="9" creationId="{DD2743DB-6003-F77F-2D46-16EC76C23EA4}"/>
          </ac:spMkLst>
        </pc:spChg>
        <pc:spChg chg="mod">
          <ac:chgData name="Taylor Davis" userId="5c9e72a0-c39f-4aa1-9d7d-64125e78cbe6" providerId="ADAL" clId="{D5576C2B-4D17-4C5B-9EEE-0127A9D85FB7}" dt="2024-12-31T14:19:03.492" v="627" actId="14100"/>
          <ac:spMkLst>
            <pc:docMk/>
            <pc:sldMk cId="514031403" sldId="285"/>
            <ac:spMk id="18" creationId="{04BF0C8D-2E38-04D3-C1BE-5EA5D09D3B9B}"/>
          </ac:spMkLst>
        </pc:spChg>
        <pc:picChg chg="mod modCrop">
          <ac:chgData name="Taylor Davis" userId="5c9e72a0-c39f-4aa1-9d7d-64125e78cbe6" providerId="ADAL" clId="{D5576C2B-4D17-4C5B-9EEE-0127A9D85FB7}" dt="2024-12-31T14:25:00.671" v="1176" actId="732"/>
          <ac:picMkLst>
            <pc:docMk/>
            <pc:sldMk cId="514031403" sldId="285"/>
            <ac:picMk id="13" creationId="{6242924E-816E-0617-E717-FD91AE2D0160}"/>
          </ac:picMkLst>
        </pc:picChg>
      </pc:sldChg>
      <pc:sldChg chg="addSp delSp modSp add del mod ord">
        <pc:chgData name="Taylor Davis" userId="5c9e72a0-c39f-4aa1-9d7d-64125e78cbe6" providerId="ADAL" clId="{D5576C2B-4D17-4C5B-9EEE-0127A9D85FB7}" dt="2024-12-31T15:48:15.115" v="1388"/>
        <pc:sldMkLst>
          <pc:docMk/>
          <pc:sldMk cId="377091382" sldId="454"/>
        </pc:sldMkLst>
        <pc:picChg chg="add ord">
          <ac:chgData name="Taylor Davis" userId="5c9e72a0-c39f-4aa1-9d7d-64125e78cbe6" providerId="ADAL" clId="{D5576C2B-4D17-4C5B-9EEE-0127A9D85FB7}" dt="2024-12-31T15:31:14.898" v="1371" actId="167"/>
          <ac:picMkLst>
            <pc:docMk/>
            <pc:sldMk cId="377091382" sldId="454"/>
            <ac:picMk id="4" creationId="{CB035A46-E704-31B3-71E4-D60348FB8547}"/>
          </ac:picMkLst>
        </pc:picChg>
      </pc:sldChg>
      <pc:sldChg chg="del">
        <pc:chgData name="Taylor Davis" userId="5c9e72a0-c39f-4aa1-9d7d-64125e78cbe6" providerId="ADAL" clId="{D5576C2B-4D17-4C5B-9EEE-0127A9D85FB7}" dt="2024-12-31T14:26:20.380" v="1194" actId="47"/>
        <pc:sldMkLst>
          <pc:docMk/>
          <pc:sldMk cId="3958060990" sldId="458"/>
        </pc:sldMkLst>
      </pc:sldChg>
      <pc:sldChg chg="del">
        <pc:chgData name="Taylor Davis" userId="5c9e72a0-c39f-4aa1-9d7d-64125e78cbe6" providerId="ADAL" clId="{D5576C2B-4D17-4C5B-9EEE-0127A9D85FB7}" dt="2024-12-31T14:26:32.622" v="1195" actId="47"/>
        <pc:sldMkLst>
          <pc:docMk/>
          <pc:sldMk cId="1832852241" sldId="521"/>
        </pc:sldMkLst>
      </pc:sldChg>
      <pc:sldChg chg="del">
        <pc:chgData name="Taylor Davis" userId="5c9e72a0-c39f-4aa1-9d7d-64125e78cbe6" providerId="ADAL" clId="{D5576C2B-4D17-4C5B-9EEE-0127A9D85FB7}" dt="2024-12-31T14:27:14.286" v="1198" actId="47"/>
        <pc:sldMkLst>
          <pc:docMk/>
          <pc:sldMk cId="36791873" sldId="525"/>
        </pc:sldMkLst>
      </pc:sldChg>
      <pc:sldChg chg="del">
        <pc:chgData name="Taylor Davis" userId="5c9e72a0-c39f-4aa1-9d7d-64125e78cbe6" providerId="ADAL" clId="{D5576C2B-4D17-4C5B-9EEE-0127A9D85FB7}" dt="2024-12-31T14:26:50.606" v="1197" actId="47"/>
        <pc:sldMkLst>
          <pc:docMk/>
          <pc:sldMk cId="3034923006" sldId="527"/>
        </pc:sldMkLst>
      </pc:sldChg>
      <pc:sldChg chg="del">
        <pc:chgData name="Taylor Davis" userId="5c9e72a0-c39f-4aa1-9d7d-64125e78cbe6" providerId="ADAL" clId="{D5576C2B-4D17-4C5B-9EEE-0127A9D85FB7}" dt="2024-12-31T14:27:14.286" v="1198" actId="47"/>
        <pc:sldMkLst>
          <pc:docMk/>
          <pc:sldMk cId="1419816550" sldId="536"/>
        </pc:sldMkLst>
      </pc:sldChg>
      <pc:sldChg chg="del">
        <pc:chgData name="Taylor Davis" userId="5c9e72a0-c39f-4aa1-9d7d-64125e78cbe6" providerId="ADAL" clId="{D5576C2B-4D17-4C5B-9EEE-0127A9D85FB7}" dt="2024-12-31T14:27:14.286" v="1198" actId="47"/>
        <pc:sldMkLst>
          <pc:docMk/>
          <pc:sldMk cId="315794589" sldId="548"/>
        </pc:sldMkLst>
      </pc:sldChg>
      <pc:sldChg chg="addSp delSp modSp mod">
        <pc:chgData name="Taylor Davis" userId="5c9e72a0-c39f-4aa1-9d7d-64125e78cbe6" providerId="ADAL" clId="{D5576C2B-4D17-4C5B-9EEE-0127A9D85FB7}" dt="2024-12-31T14:14:28.836" v="215" actId="1076"/>
        <pc:sldMkLst>
          <pc:docMk/>
          <pc:sldMk cId="263972108" sldId="549"/>
        </pc:sldMkLst>
        <pc:spChg chg="mod">
          <ac:chgData name="Taylor Davis" userId="5c9e72a0-c39f-4aa1-9d7d-64125e78cbe6" providerId="ADAL" clId="{D5576C2B-4D17-4C5B-9EEE-0127A9D85FB7}" dt="2024-12-31T14:09:22.657" v="82" actId="1076"/>
          <ac:spMkLst>
            <pc:docMk/>
            <pc:sldMk cId="263972108" sldId="549"/>
            <ac:spMk id="4" creationId="{F34C8217-D749-4511-B7B5-02F77484B378}"/>
          </ac:spMkLst>
        </pc:spChg>
        <pc:spChg chg="add mod">
          <ac:chgData name="Taylor Davis" userId="5c9e72a0-c39f-4aa1-9d7d-64125e78cbe6" providerId="ADAL" clId="{D5576C2B-4D17-4C5B-9EEE-0127A9D85FB7}" dt="2024-12-31T14:14:28.836" v="215" actId="1076"/>
          <ac:spMkLst>
            <pc:docMk/>
            <pc:sldMk cId="263972108" sldId="549"/>
            <ac:spMk id="6" creationId="{89E5139B-FFDD-AE47-84CB-EC58FDDF4191}"/>
          </ac:spMkLst>
        </pc:spChg>
        <pc:spChg chg="add mod ord">
          <ac:chgData name="Taylor Davis" userId="5c9e72a0-c39f-4aa1-9d7d-64125e78cbe6" providerId="ADAL" clId="{D5576C2B-4D17-4C5B-9EEE-0127A9D85FB7}" dt="2024-12-31T14:12:56.980" v="151" actId="1036"/>
          <ac:spMkLst>
            <pc:docMk/>
            <pc:sldMk cId="263972108" sldId="549"/>
            <ac:spMk id="7" creationId="{0CC32214-268D-4638-0400-B6FC07385B87}"/>
          </ac:spMkLst>
        </pc:spChg>
        <pc:spChg chg="mod">
          <ac:chgData name="Taylor Davis" userId="5c9e72a0-c39f-4aa1-9d7d-64125e78cbe6" providerId="ADAL" clId="{D5576C2B-4D17-4C5B-9EEE-0127A9D85FB7}" dt="2024-12-31T14:12:16.874" v="148" actId="1076"/>
          <ac:spMkLst>
            <pc:docMk/>
            <pc:sldMk cId="263972108" sldId="549"/>
            <ac:spMk id="8" creationId="{880AE72B-2936-B7FD-B16B-B7DDE61C48BF}"/>
          </ac:spMkLst>
        </pc:spChg>
        <pc:spChg chg="mod">
          <ac:chgData name="Taylor Davis" userId="5c9e72a0-c39f-4aa1-9d7d-64125e78cbe6" providerId="ADAL" clId="{D5576C2B-4D17-4C5B-9EEE-0127A9D85FB7}" dt="2024-12-31T14:12:16.874" v="148" actId="1076"/>
          <ac:spMkLst>
            <pc:docMk/>
            <pc:sldMk cId="263972108" sldId="549"/>
            <ac:spMk id="9" creationId="{83BAAF75-9BFE-8A09-84C8-29127AD11CC8}"/>
          </ac:spMkLst>
        </pc:spChg>
        <pc:spChg chg="mod">
          <ac:chgData name="Taylor Davis" userId="5c9e72a0-c39f-4aa1-9d7d-64125e78cbe6" providerId="ADAL" clId="{D5576C2B-4D17-4C5B-9EEE-0127A9D85FB7}" dt="2024-12-31T14:12:16.874" v="148" actId="1076"/>
          <ac:spMkLst>
            <pc:docMk/>
            <pc:sldMk cId="263972108" sldId="549"/>
            <ac:spMk id="10" creationId="{F7F76DEC-1B86-5F34-4522-EE137E2BEDC5}"/>
          </ac:spMkLst>
        </pc:spChg>
        <pc:spChg chg="mod">
          <ac:chgData name="Taylor Davis" userId="5c9e72a0-c39f-4aa1-9d7d-64125e78cbe6" providerId="ADAL" clId="{D5576C2B-4D17-4C5B-9EEE-0127A9D85FB7}" dt="2024-12-31T14:12:16.874" v="148" actId="1076"/>
          <ac:spMkLst>
            <pc:docMk/>
            <pc:sldMk cId="263972108" sldId="549"/>
            <ac:spMk id="11" creationId="{B522D9FB-03E8-0475-A3A5-AF33059EA7E6}"/>
          </ac:spMkLst>
        </pc:spChg>
        <pc:spChg chg="mod">
          <ac:chgData name="Taylor Davis" userId="5c9e72a0-c39f-4aa1-9d7d-64125e78cbe6" providerId="ADAL" clId="{D5576C2B-4D17-4C5B-9EEE-0127A9D85FB7}" dt="2024-12-31T14:12:16.874" v="148" actId="1076"/>
          <ac:spMkLst>
            <pc:docMk/>
            <pc:sldMk cId="263972108" sldId="549"/>
            <ac:spMk id="12" creationId="{F3AB3343-FA0C-E9FA-637F-E45BB11DFFC1}"/>
          </ac:spMkLst>
        </pc:spChg>
        <pc:spChg chg="mod">
          <ac:chgData name="Taylor Davis" userId="5c9e72a0-c39f-4aa1-9d7d-64125e78cbe6" providerId="ADAL" clId="{D5576C2B-4D17-4C5B-9EEE-0127A9D85FB7}" dt="2024-12-31T14:12:16.874" v="148" actId="1076"/>
          <ac:spMkLst>
            <pc:docMk/>
            <pc:sldMk cId="263972108" sldId="549"/>
            <ac:spMk id="13" creationId="{A5F1AA97-617E-DEDA-E780-8518ACB143FB}"/>
          </ac:spMkLst>
        </pc:spChg>
        <pc:spChg chg="mod">
          <ac:chgData name="Taylor Davis" userId="5c9e72a0-c39f-4aa1-9d7d-64125e78cbe6" providerId="ADAL" clId="{D5576C2B-4D17-4C5B-9EEE-0127A9D85FB7}" dt="2024-12-31T14:09:26.906" v="83" actId="1076"/>
          <ac:spMkLst>
            <pc:docMk/>
            <pc:sldMk cId="263972108" sldId="549"/>
            <ac:spMk id="15" creationId="{7C6371C7-344C-3C21-F253-96E09F12864E}"/>
          </ac:spMkLst>
        </pc:spChg>
        <pc:picChg chg="mod">
          <ac:chgData name="Taylor Davis" userId="5c9e72a0-c39f-4aa1-9d7d-64125e78cbe6" providerId="ADAL" clId="{D5576C2B-4D17-4C5B-9EEE-0127A9D85FB7}" dt="2024-12-31T14:12:16.874" v="148" actId="1076"/>
          <ac:picMkLst>
            <pc:docMk/>
            <pc:sldMk cId="263972108" sldId="549"/>
            <ac:picMk id="2" creationId="{E4D4BA5E-072E-BFC4-86A7-A8EC0FA16D37}"/>
          </ac:picMkLst>
        </pc:picChg>
      </pc:sldChg>
      <pc:sldChg chg="del">
        <pc:chgData name="Taylor Davis" userId="5c9e72a0-c39f-4aa1-9d7d-64125e78cbe6" providerId="ADAL" clId="{D5576C2B-4D17-4C5B-9EEE-0127A9D85FB7}" dt="2024-12-31T14:26:32.622" v="1195" actId="47"/>
        <pc:sldMkLst>
          <pc:docMk/>
          <pc:sldMk cId="4064752386" sldId="564"/>
        </pc:sldMkLst>
      </pc:sldChg>
      <pc:sldChg chg="del">
        <pc:chgData name="Taylor Davis" userId="5c9e72a0-c39f-4aa1-9d7d-64125e78cbe6" providerId="ADAL" clId="{D5576C2B-4D17-4C5B-9EEE-0127A9D85FB7}" dt="2024-12-31T14:26:50.606" v="1197" actId="47"/>
        <pc:sldMkLst>
          <pc:docMk/>
          <pc:sldMk cId="1082327325" sldId="580"/>
        </pc:sldMkLst>
      </pc:sldChg>
      <pc:sldChg chg="modSp mod">
        <pc:chgData name="Taylor Davis" userId="5c9e72a0-c39f-4aa1-9d7d-64125e78cbe6" providerId="ADAL" clId="{D5576C2B-4D17-4C5B-9EEE-0127A9D85FB7}" dt="2025-01-02T17:45:27.236" v="1578" actId="1076"/>
        <pc:sldMkLst>
          <pc:docMk/>
          <pc:sldMk cId="4294051359" sldId="582"/>
        </pc:sldMkLst>
        <pc:spChg chg="mod">
          <ac:chgData name="Taylor Davis" userId="5c9e72a0-c39f-4aa1-9d7d-64125e78cbe6" providerId="ADAL" clId="{D5576C2B-4D17-4C5B-9EEE-0127A9D85FB7}" dt="2025-01-02T17:45:27.236" v="1578" actId="1076"/>
          <ac:spMkLst>
            <pc:docMk/>
            <pc:sldMk cId="4294051359" sldId="582"/>
            <ac:spMk id="27" creationId="{E4DF244E-6669-0458-66C1-F88A39CC9FA7}"/>
          </ac:spMkLst>
        </pc:spChg>
      </pc:sldChg>
      <pc:sldChg chg="del">
        <pc:chgData name="Taylor Davis" userId="5c9e72a0-c39f-4aa1-9d7d-64125e78cbe6" providerId="ADAL" clId="{D5576C2B-4D17-4C5B-9EEE-0127A9D85FB7}" dt="2024-12-31T14:07:31.610" v="1" actId="47"/>
        <pc:sldMkLst>
          <pc:docMk/>
          <pc:sldMk cId="3112792114" sldId="612"/>
        </pc:sldMkLst>
      </pc:sldChg>
      <pc:sldChg chg="del">
        <pc:chgData name="Taylor Davis" userId="5c9e72a0-c39f-4aa1-9d7d-64125e78cbe6" providerId="ADAL" clId="{D5576C2B-4D17-4C5B-9EEE-0127A9D85FB7}" dt="2024-12-31T14:26:20.380" v="1194" actId="47"/>
        <pc:sldMkLst>
          <pc:docMk/>
          <pc:sldMk cId="4042275972" sldId="613"/>
        </pc:sldMkLst>
      </pc:sldChg>
      <pc:sldChg chg="del">
        <pc:chgData name="Taylor Davis" userId="5c9e72a0-c39f-4aa1-9d7d-64125e78cbe6" providerId="ADAL" clId="{D5576C2B-4D17-4C5B-9EEE-0127A9D85FB7}" dt="2024-12-31T14:26:32.622" v="1195" actId="47"/>
        <pc:sldMkLst>
          <pc:docMk/>
          <pc:sldMk cId="4161310751" sldId="2145726857"/>
        </pc:sldMkLst>
      </pc:sldChg>
      <pc:sldChg chg="new del">
        <pc:chgData name="Taylor Davis" userId="5c9e72a0-c39f-4aa1-9d7d-64125e78cbe6" providerId="ADAL" clId="{D5576C2B-4D17-4C5B-9EEE-0127A9D85FB7}" dt="2025-01-02T17:42:24.772" v="1391" actId="47"/>
        <pc:sldMkLst>
          <pc:docMk/>
          <pc:sldMk cId="4288192800" sldId="2145726857"/>
        </pc:sldMkLst>
      </pc:sldChg>
      <pc:sldChg chg="del">
        <pc:chgData name="Taylor Davis" userId="5c9e72a0-c39f-4aa1-9d7d-64125e78cbe6" providerId="ADAL" clId="{D5576C2B-4D17-4C5B-9EEE-0127A9D85FB7}" dt="2024-12-31T14:26:32.622" v="1195" actId="47"/>
        <pc:sldMkLst>
          <pc:docMk/>
          <pc:sldMk cId="1389453819" sldId="2145726859"/>
        </pc:sldMkLst>
      </pc:sldChg>
      <pc:sldChg chg="del">
        <pc:chgData name="Taylor Davis" userId="5c9e72a0-c39f-4aa1-9d7d-64125e78cbe6" providerId="ADAL" clId="{D5576C2B-4D17-4C5B-9EEE-0127A9D85FB7}" dt="2024-12-31T14:27:14.286" v="1198" actId="47"/>
        <pc:sldMkLst>
          <pc:docMk/>
          <pc:sldMk cId="0" sldId="2145726861"/>
        </pc:sldMkLst>
      </pc:sldChg>
      <pc:sldChg chg="del">
        <pc:chgData name="Taylor Davis" userId="5c9e72a0-c39f-4aa1-9d7d-64125e78cbe6" providerId="ADAL" clId="{D5576C2B-4D17-4C5B-9EEE-0127A9D85FB7}" dt="2024-12-31T14:27:14.286" v="1198" actId="47"/>
        <pc:sldMkLst>
          <pc:docMk/>
          <pc:sldMk cId="0" sldId="2145726862"/>
        </pc:sldMkLst>
      </pc:sldChg>
      <pc:sldChg chg="del">
        <pc:chgData name="Taylor Davis" userId="5c9e72a0-c39f-4aa1-9d7d-64125e78cbe6" providerId="ADAL" clId="{D5576C2B-4D17-4C5B-9EEE-0127A9D85FB7}" dt="2024-12-31T14:27:25.540" v="1199" actId="47"/>
        <pc:sldMkLst>
          <pc:docMk/>
          <pc:sldMk cId="3075360364" sldId="2145726863"/>
        </pc:sldMkLst>
      </pc:sldChg>
      <pc:sldChg chg="del">
        <pc:chgData name="Taylor Davis" userId="5c9e72a0-c39f-4aa1-9d7d-64125e78cbe6" providerId="ADAL" clId="{D5576C2B-4D17-4C5B-9EEE-0127A9D85FB7}" dt="2024-12-31T14:26:50.606" v="1197" actId="47"/>
        <pc:sldMkLst>
          <pc:docMk/>
          <pc:sldMk cId="0" sldId="2145726864"/>
        </pc:sldMkLst>
      </pc:sldChg>
      <pc:sldChg chg="del">
        <pc:chgData name="Taylor Davis" userId="5c9e72a0-c39f-4aa1-9d7d-64125e78cbe6" providerId="ADAL" clId="{D5576C2B-4D17-4C5B-9EEE-0127A9D85FB7}" dt="2024-12-31T14:27:25.540" v="1199" actId="47"/>
        <pc:sldMkLst>
          <pc:docMk/>
          <pc:sldMk cId="0" sldId="2145726865"/>
        </pc:sldMkLst>
      </pc:sldChg>
      <pc:sldChg chg="del">
        <pc:chgData name="Taylor Davis" userId="5c9e72a0-c39f-4aa1-9d7d-64125e78cbe6" providerId="ADAL" clId="{D5576C2B-4D17-4C5B-9EEE-0127A9D85FB7}" dt="2024-12-31T14:27:25.540" v="1199" actId="47"/>
        <pc:sldMkLst>
          <pc:docMk/>
          <pc:sldMk cId="1010235892" sldId="2145726866"/>
        </pc:sldMkLst>
      </pc:sldChg>
      <pc:sldChg chg="del">
        <pc:chgData name="Taylor Davis" userId="5c9e72a0-c39f-4aa1-9d7d-64125e78cbe6" providerId="ADAL" clId="{D5576C2B-4D17-4C5B-9EEE-0127A9D85FB7}" dt="2024-12-31T14:26:20.380" v="1194" actId="47"/>
        <pc:sldMkLst>
          <pc:docMk/>
          <pc:sldMk cId="0" sldId="2145726867"/>
        </pc:sldMkLst>
      </pc:sldChg>
      <pc:sldChg chg="add del">
        <pc:chgData name="Taylor Davis" userId="5c9e72a0-c39f-4aa1-9d7d-64125e78cbe6" providerId="ADAL" clId="{D5576C2B-4D17-4C5B-9EEE-0127A9D85FB7}" dt="2025-01-02T17:42:28.898" v="1392" actId="47"/>
        <pc:sldMkLst>
          <pc:docMk/>
          <pc:sldMk cId="1848128338" sldId="2145726868"/>
        </pc:sldMkLst>
      </pc:sldChg>
      <pc:sldChg chg="addSp delSp modSp add del mod ord">
        <pc:chgData name="Taylor Davis" userId="5c9e72a0-c39f-4aa1-9d7d-64125e78cbe6" providerId="ADAL" clId="{D5576C2B-4D17-4C5B-9EEE-0127A9D85FB7}" dt="2025-01-02T18:45:09.158" v="1793"/>
        <pc:sldMkLst>
          <pc:docMk/>
          <pc:sldMk cId="2673992035" sldId="2145726869"/>
        </pc:sldMkLst>
        <pc:spChg chg="add mod">
          <ac:chgData name="Taylor Davis" userId="5c9e72a0-c39f-4aa1-9d7d-64125e78cbe6" providerId="ADAL" clId="{D5576C2B-4D17-4C5B-9EEE-0127A9D85FB7}" dt="2025-01-02T17:48:22.053" v="1705" actId="207"/>
          <ac:spMkLst>
            <pc:docMk/>
            <pc:sldMk cId="2673992035" sldId="2145726869"/>
            <ac:spMk id="7" creationId="{0F853B71-D53C-FD0C-7012-58A67744D6EF}"/>
          </ac:spMkLst>
        </pc:spChg>
        <pc:spChg chg="add mod">
          <ac:chgData name="Taylor Davis" userId="5c9e72a0-c39f-4aa1-9d7d-64125e78cbe6" providerId="ADAL" clId="{D5576C2B-4D17-4C5B-9EEE-0127A9D85FB7}" dt="2025-01-02T17:45:29.821" v="1579"/>
          <ac:spMkLst>
            <pc:docMk/>
            <pc:sldMk cId="2673992035" sldId="2145726869"/>
            <ac:spMk id="9" creationId="{D58E6247-6A5E-B675-2C5C-0C3412331DEF}"/>
          </ac:spMkLst>
        </pc:spChg>
        <pc:spChg chg="add mod">
          <ac:chgData name="Taylor Davis" userId="5c9e72a0-c39f-4aa1-9d7d-64125e78cbe6" providerId="ADAL" clId="{D5576C2B-4D17-4C5B-9EEE-0127A9D85FB7}" dt="2025-01-02T18:43:03.457" v="1781" actId="20577"/>
          <ac:spMkLst>
            <pc:docMk/>
            <pc:sldMk cId="2673992035" sldId="2145726869"/>
            <ac:spMk id="10" creationId="{BBABF3D5-B649-173E-B868-E39F6A30E85B}"/>
          </ac:spMkLst>
        </pc:spChg>
        <pc:graphicFrameChg chg="mod modGraphic">
          <ac:chgData name="Taylor Davis" userId="5c9e72a0-c39f-4aa1-9d7d-64125e78cbe6" providerId="ADAL" clId="{D5576C2B-4D17-4C5B-9EEE-0127A9D85FB7}" dt="2025-01-02T18:43:10.619" v="1791" actId="20577"/>
          <ac:graphicFrameMkLst>
            <pc:docMk/>
            <pc:sldMk cId="2673992035" sldId="2145726869"/>
            <ac:graphicFrameMk id="2" creationId="{FF31B421-803D-783C-996A-705B35C3EBCB}"/>
          </ac:graphicFrameMkLst>
        </pc:graphicFrameChg>
        <pc:graphicFrameChg chg="del">
          <ac:chgData name="Taylor Davis" userId="5c9e72a0-c39f-4aa1-9d7d-64125e78cbe6" providerId="ADAL" clId="{D5576C2B-4D17-4C5B-9EEE-0127A9D85FB7}" dt="2025-01-02T17:43:00.550" v="1394" actId="478"/>
          <ac:graphicFrameMkLst>
            <pc:docMk/>
            <pc:sldMk cId="2673992035" sldId="2145726869"/>
            <ac:graphicFrameMk id="3" creationId="{F176E5B1-18BF-9D7D-627E-37C3838D5E78}"/>
          </ac:graphicFrameMkLst>
        </pc:graphicFrameChg>
        <pc:graphicFrameChg chg="del">
          <ac:chgData name="Taylor Davis" userId="5c9e72a0-c39f-4aa1-9d7d-64125e78cbe6" providerId="ADAL" clId="{D5576C2B-4D17-4C5B-9EEE-0127A9D85FB7}" dt="2025-01-02T17:43:00.550" v="1394" actId="478"/>
          <ac:graphicFrameMkLst>
            <pc:docMk/>
            <pc:sldMk cId="2673992035" sldId="2145726869"/>
            <ac:graphicFrameMk id="4" creationId="{0BC51C5C-4428-6CE3-D9AA-0661AC6D900E}"/>
          </ac:graphicFrameMkLst>
        </pc:graphicFrameChg>
        <pc:picChg chg="mod">
          <ac:chgData name="Taylor Davis" userId="5c9e72a0-c39f-4aa1-9d7d-64125e78cbe6" providerId="ADAL" clId="{D5576C2B-4D17-4C5B-9EEE-0127A9D85FB7}" dt="2025-01-02T17:47:43.271" v="1702" actId="1076"/>
          <ac:picMkLst>
            <pc:docMk/>
            <pc:sldMk cId="2673992035" sldId="2145726869"/>
            <ac:picMk id="5" creationId="{2749AB45-407B-FB06-5620-6D1765BA5AB4}"/>
          </ac:picMkLst>
        </pc:picChg>
        <pc:picChg chg="add mod">
          <ac:chgData name="Taylor Davis" userId="5c9e72a0-c39f-4aa1-9d7d-64125e78cbe6" providerId="ADAL" clId="{D5576C2B-4D17-4C5B-9EEE-0127A9D85FB7}" dt="2025-01-02T17:45:29.821" v="1579"/>
          <ac:picMkLst>
            <pc:docMk/>
            <pc:sldMk cId="2673992035" sldId="2145726869"/>
            <ac:picMk id="8" creationId="{B49D73D4-DF7A-1733-EAB6-C892ED874EFE}"/>
          </ac:picMkLst>
        </pc:picChg>
      </pc:sldChg>
      <pc:sldChg chg="del">
        <pc:chgData name="Taylor Davis" userId="5c9e72a0-c39f-4aa1-9d7d-64125e78cbe6" providerId="ADAL" clId="{D5576C2B-4D17-4C5B-9EEE-0127A9D85FB7}" dt="2024-12-31T14:27:25.540" v="1199" actId="47"/>
        <pc:sldMkLst>
          <pc:docMk/>
          <pc:sldMk cId="1384521124" sldId="2145726870"/>
        </pc:sldMkLst>
      </pc:sldChg>
      <pc:sldChg chg="del">
        <pc:chgData name="Taylor Davis" userId="5c9e72a0-c39f-4aa1-9d7d-64125e78cbe6" providerId="ADAL" clId="{D5576C2B-4D17-4C5B-9EEE-0127A9D85FB7}" dt="2024-12-31T14:07:31.610" v="1" actId="47"/>
        <pc:sldMkLst>
          <pc:docMk/>
          <pc:sldMk cId="2428862142" sldId="2145726872"/>
        </pc:sldMkLst>
      </pc:sldChg>
      <pc:sldChg chg="del">
        <pc:chgData name="Taylor Davis" userId="5c9e72a0-c39f-4aa1-9d7d-64125e78cbe6" providerId="ADAL" clId="{D5576C2B-4D17-4C5B-9EEE-0127A9D85FB7}" dt="2024-12-31T14:26:20.380" v="1194" actId="47"/>
        <pc:sldMkLst>
          <pc:docMk/>
          <pc:sldMk cId="487005971" sldId="2145726873"/>
        </pc:sldMkLst>
      </pc:sldChg>
      <pc:sldChg chg="del">
        <pc:chgData name="Taylor Davis" userId="5c9e72a0-c39f-4aa1-9d7d-64125e78cbe6" providerId="ADAL" clId="{D5576C2B-4D17-4C5B-9EEE-0127A9D85FB7}" dt="2024-12-31T14:26:32.622" v="1195" actId="47"/>
        <pc:sldMkLst>
          <pc:docMk/>
          <pc:sldMk cId="0" sldId="2145726875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F1B84F-4F37-4E4B-B28C-05C8DFC9475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0911CD98-B2F6-4E17-9C61-BB702C3250BF}">
      <dgm:prSet/>
      <dgm:spPr/>
      <dgm:t>
        <a:bodyPr/>
        <a:lstStyle/>
        <a:p>
          <a:r>
            <a:rPr lang="en-US"/>
            <a:t>Locally based sales rep with strong community ties</a:t>
          </a:r>
        </a:p>
      </dgm:t>
    </dgm:pt>
    <dgm:pt modelId="{1B3485FF-7759-40EC-AD38-B4C3F252244B}" type="parTrans" cxnId="{A168C851-557D-4049-B12D-0918348F3F6B}">
      <dgm:prSet/>
      <dgm:spPr/>
      <dgm:t>
        <a:bodyPr/>
        <a:lstStyle/>
        <a:p>
          <a:endParaRPr lang="en-US"/>
        </a:p>
      </dgm:t>
    </dgm:pt>
    <dgm:pt modelId="{9180CA49-E8E8-4099-ADFF-9A61D44E83A0}" type="sibTrans" cxnId="{A168C851-557D-4049-B12D-0918348F3F6B}">
      <dgm:prSet/>
      <dgm:spPr/>
      <dgm:t>
        <a:bodyPr/>
        <a:lstStyle/>
        <a:p>
          <a:endParaRPr lang="en-US"/>
        </a:p>
      </dgm:t>
    </dgm:pt>
    <dgm:pt modelId="{9AFA7D91-6390-4F95-BF06-02D171762A63}">
      <dgm:prSet/>
      <dgm:spPr/>
      <dgm:t>
        <a:bodyPr/>
        <a:lstStyle/>
        <a:p>
          <a:r>
            <a:rPr lang="en-US"/>
            <a:t>Collaboration with DTE provider partners to identify strategic employers for early adoption and sales</a:t>
          </a:r>
        </a:p>
      </dgm:t>
    </dgm:pt>
    <dgm:pt modelId="{D0587002-3B85-493B-96BA-C0B5C3BC8362}" type="parTrans" cxnId="{8425CA16-C12A-4854-A8A6-A903ECA909CC}">
      <dgm:prSet/>
      <dgm:spPr/>
      <dgm:t>
        <a:bodyPr/>
        <a:lstStyle/>
        <a:p>
          <a:endParaRPr lang="en-US"/>
        </a:p>
      </dgm:t>
    </dgm:pt>
    <dgm:pt modelId="{0B994676-137E-4272-9E37-A6B069477E49}" type="sibTrans" cxnId="{8425CA16-C12A-4854-A8A6-A903ECA909CC}">
      <dgm:prSet/>
      <dgm:spPr/>
      <dgm:t>
        <a:bodyPr/>
        <a:lstStyle/>
        <a:p>
          <a:endParaRPr lang="en-US"/>
        </a:p>
      </dgm:t>
    </dgm:pt>
    <dgm:pt modelId="{9D9C157A-8184-4810-813C-F9ABE512F84B}">
      <dgm:prSet/>
      <dgm:spPr/>
      <dgm:t>
        <a:bodyPr/>
        <a:lstStyle/>
        <a:p>
          <a:r>
            <a:rPr lang="en-US"/>
            <a:t>Work with select broker distribution partners with aligned incentives and goals</a:t>
          </a:r>
        </a:p>
      </dgm:t>
    </dgm:pt>
    <dgm:pt modelId="{D8EDC1F2-E417-46FD-8716-E1D397B83704}" type="parTrans" cxnId="{D6C9B23D-AA21-442F-A1F4-60E86C0DFD38}">
      <dgm:prSet/>
      <dgm:spPr/>
      <dgm:t>
        <a:bodyPr/>
        <a:lstStyle/>
        <a:p>
          <a:endParaRPr lang="en-US"/>
        </a:p>
      </dgm:t>
    </dgm:pt>
    <dgm:pt modelId="{A9D49BD5-FFD1-45FF-B858-025048928466}" type="sibTrans" cxnId="{D6C9B23D-AA21-442F-A1F4-60E86C0DFD38}">
      <dgm:prSet/>
      <dgm:spPr/>
      <dgm:t>
        <a:bodyPr/>
        <a:lstStyle/>
        <a:p>
          <a:endParaRPr lang="en-US"/>
        </a:p>
      </dgm:t>
    </dgm:pt>
    <dgm:pt modelId="{39D9786D-012C-4B3E-84F3-BFD2C13FD7FC}">
      <dgm:prSet/>
      <dgm:spPr/>
      <dgm:t>
        <a:bodyPr/>
        <a:lstStyle/>
        <a:p>
          <a:r>
            <a:rPr lang="en-US"/>
            <a:t>Pipeline reporting and collaboration with our DTE provider partners</a:t>
          </a:r>
        </a:p>
      </dgm:t>
    </dgm:pt>
    <dgm:pt modelId="{C689F240-B9AE-4A72-BADB-436944BA27AA}" type="parTrans" cxnId="{9F11DF62-E12D-48E8-9AF7-8969B05FD323}">
      <dgm:prSet/>
      <dgm:spPr/>
      <dgm:t>
        <a:bodyPr/>
        <a:lstStyle/>
        <a:p>
          <a:endParaRPr lang="en-US"/>
        </a:p>
      </dgm:t>
    </dgm:pt>
    <dgm:pt modelId="{0FD7031B-D881-49AA-97BB-5ACDC9BF069B}" type="sibTrans" cxnId="{9F11DF62-E12D-48E8-9AF7-8969B05FD323}">
      <dgm:prSet/>
      <dgm:spPr/>
      <dgm:t>
        <a:bodyPr/>
        <a:lstStyle/>
        <a:p>
          <a:endParaRPr lang="en-US"/>
        </a:p>
      </dgm:t>
    </dgm:pt>
    <dgm:pt modelId="{B99A3672-DF6D-4974-8FC9-C3A40F7EE8D6}">
      <dgm:prSet/>
      <dgm:spPr/>
      <dgm:t>
        <a:bodyPr/>
        <a:lstStyle/>
        <a:p>
          <a:r>
            <a:rPr lang="en-US"/>
            <a:t>Marketing and promotion of the new option in the community</a:t>
          </a:r>
        </a:p>
      </dgm:t>
    </dgm:pt>
    <dgm:pt modelId="{F021CB03-DC97-4F5D-A6E0-B31CA8867184}" type="parTrans" cxnId="{BA63E6F6-73E3-400D-860F-4F734F4C4B3F}">
      <dgm:prSet/>
      <dgm:spPr/>
      <dgm:t>
        <a:bodyPr/>
        <a:lstStyle/>
        <a:p>
          <a:endParaRPr lang="en-US"/>
        </a:p>
      </dgm:t>
    </dgm:pt>
    <dgm:pt modelId="{FF3C2DEC-F562-4F34-AE34-A164E841B7EF}" type="sibTrans" cxnId="{BA63E6F6-73E3-400D-860F-4F734F4C4B3F}">
      <dgm:prSet/>
      <dgm:spPr/>
      <dgm:t>
        <a:bodyPr/>
        <a:lstStyle/>
        <a:p>
          <a:endParaRPr lang="en-US"/>
        </a:p>
      </dgm:t>
    </dgm:pt>
    <dgm:pt modelId="{37E61AA2-39C5-4D3B-A37D-5BFF2E9B8AED}" type="pres">
      <dgm:prSet presAssocID="{A1F1B84F-4F37-4E4B-B28C-05C8DFC94756}" presName="root" presStyleCnt="0">
        <dgm:presLayoutVars>
          <dgm:dir/>
          <dgm:resizeHandles val="exact"/>
        </dgm:presLayoutVars>
      </dgm:prSet>
      <dgm:spPr/>
    </dgm:pt>
    <dgm:pt modelId="{DFD5F05F-A43A-4652-80DD-25D35540632C}" type="pres">
      <dgm:prSet presAssocID="{0911CD98-B2F6-4E17-9C61-BB702C3250BF}" presName="compNode" presStyleCnt="0"/>
      <dgm:spPr/>
    </dgm:pt>
    <dgm:pt modelId="{EF2B0188-8507-44E9-B757-7CDCC1B0E1A1}" type="pres">
      <dgm:prSet presAssocID="{0911CD98-B2F6-4E17-9C61-BB702C3250BF}" presName="bgRect" presStyleLbl="bgShp" presStyleIdx="0" presStyleCnt="5"/>
      <dgm:spPr>
        <a:solidFill>
          <a:srgbClr val="00539F"/>
        </a:solidFill>
      </dgm:spPr>
    </dgm:pt>
    <dgm:pt modelId="{62DBE401-C7C8-4CFE-9E6C-C1AF672BE62E}" type="pres">
      <dgm:prSet presAssocID="{0911CD98-B2F6-4E17-9C61-BB702C3250B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ers with solid fill"/>
        </a:ext>
      </dgm:extLst>
    </dgm:pt>
    <dgm:pt modelId="{5865C594-3822-4E5D-A8F0-237AFF390341}" type="pres">
      <dgm:prSet presAssocID="{0911CD98-B2F6-4E17-9C61-BB702C3250BF}" presName="spaceRect" presStyleCnt="0"/>
      <dgm:spPr/>
    </dgm:pt>
    <dgm:pt modelId="{4CB68EC3-6DDF-4EA3-93EC-B1D00317444B}" type="pres">
      <dgm:prSet presAssocID="{0911CD98-B2F6-4E17-9C61-BB702C3250BF}" presName="parTx" presStyleLbl="revTx" presStyleIdx="0" presStyleCnt="5">
        <dgm:presLayoutVars>
          <dgm:chMax val="0"/>
          <dgm:chPref val="0"/>
        </dgm:presLayoutVars>
      </dgm:prSet>
      <dgm:spPr/>
    </dgm:pt>
    <dgm:pt modelId="{8F49C51A-DAE6-4363-9FDF-3E95B30C7DB1}" type="pres">
      <dgm:prSet presAssocID="{9180CA49-E8E8-4099-ADFF-9A61D44E83A0}" presName="sibTrans" presStyleCnt="0"/>
      <dgm:spPr/>
    </dgm:pt>
    <dgm:pt modelId="{8EF2CCDE-7F5C-4F5F-B2FA-43FDCA78B104}" type="pres">
      <dgm:prSet presAssocID="{9AFA7D91-6390-4F95-BF06-02D171762A63}" presName="compNode" presStyleCnt="0"/>
      <dgm:spPr/>
    </dgm:pt>
    <dgm:pt modelId="{B3E1CF03-EDE1-471D-890C-AA2901FB45D9}" type="pres">
      <dgm:prSet presAssocID="{9AFA7D91-6390-4F95-BF06-02D171762A63}" presName="bgRect" presStyleLbl="bgShp" presStyleIdx="1" presStyleCnt="5"/>
      <dgm:spPr>
        <a:solidFill>
          <a:srgbClr val="00539F"/>
        </a:solidFill>
      </dgm:spPr>
    </dgm:pt>
    <dgm:pt modelId="{ECC08DA8-E403-48CD-BD4C-54248151AF43}" type="pres">
      <dgm:prSet presAssocID="{9AFA7D91-6390-4F95-BF06-02D171762A6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FE4C47F7-8462-46EB-8C62-1EA1F9B6F345}" type="pres">
      <dgm:prSet presAssocID="{9AFA7D91-6390-4F95-BF06-02D171762A63}" presName="spaceRect" presStyleCnt="0"/>
      <dgm:spPr/>
    </dgm:pt>
    <dgm:pt modelId="{29DB6DFD-5EF2-4FE9-B832-B73DBBA6C818}" type="pres">
      <dgm:prSet presAssocID="{9AFA7D91-6390-4F95-BF06-02D171762A63}" presName="parTx" presStyleLbl="revTx" presStyleIdx="1" presStyleCnt="5">
        <dgm:presLayoutVars>
          <dgm:chMax val="0"/>
          <dgm:chPref val="0"/>
        </dgm:presLayoutVars>
      </dgm:prSet>
      <dgm:spPr/>
    </dgm:pt>
    <dgm:pt modelId="{BBD30813-D29A-4BFF-871C-E33ABBA55401}" type="pres">
      <dgm:prSet presAssocID="{0B994676-137E-4272-9E37-A6B069477E49}" presName="sibTrans" presStyleCnt="0"/>
      <dgm:spPr/>
    </dgm:pt>
    <dgm:pt modelId="{94B5DC3D-A2E9-423D-897A-CA8E16E3511B}" type="pres">
      <dgm:prSet presAssocID="{9D9C157A-8184-4810-813C-F9ABE512F84B}" presName="compNode" presStyleCnt="0"/>
      <dgm:spPr/>
    </dgm:pt>
    <dgm:pt modelId="{495539A5-77BE-4439-9E54-31CB6AC437BE}" type="pres">
      <dgm:prSet presAssocID="{9D9C157A-8184-4810-813C-F9ABE512F84B}" presName="bgRect" presStyleLbl="bgShp" presStyleIdx="2" presStyleCnt="5"/>
      <dgm:spPr>
        <a:solidFill>
          <a:srgbClr val="00539F"/>
        </a:solidFill>
      </dgm:spPr>
    </dgm:pt>
    <dgm:pt modelId="{66BBB871-A6BE-4530-8850-268C29376138}" type="pres">
      <dgm:prSet presAssocID="{9D9C157A-8184-4810-813C-F9ABE512F84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09342166-EBA1-4B27-8ACE-D6FAC2A4DB0C}" type="pres">
      <dgm:prSet presAssocID="{9D9C157A-8184-4810-813C-F9ABE512F84B}" presName="spaceRect" presStyleCnt="0"/>
      <dgm:spPr/>
    </dgm:pt>
    <dgm:pt modelId="{85678566-6F19-4FD8-B582-931B4C3F49E3}" type="pres">
      <dgm:prSet presAssocID="{9D9C157A-8184-4810-813C-F9ABE512F84B}" presName="parTx" presStyleLbl="revTx" presStyleIdx="2" presStyleCnt="5">
        <dgm:presLayoutVars>
          <dgm:chMax val="0"/>
          <dgm:chPref val="0"/>
        </dgm:presLayoutVars>
      </dgm:prSet>
      <dgm:spPr/>
    </dgm:pt>
    <dgm:pt modelId="{44ECB50D-A07B-4D5E-844D-7D32E84393B1}" type="pres">
      <dgm:prSet presAssocID="{A9D49BD5-FFD1-45FF-B858-025048928466}" presName="sibTrans" presStyleCnt="0"/>
      <dgm:spPr/>
    </dgm:pt>
    <dgm:pt modelId="{CE6CF16D-32CC-42ED-9AB1-8FA8B428B507}" type="pres">
      <dgm:prSet presAssocID="{39D9786D-012C-4B3E-84F3-BFD2C13FD7FC}" presName="compNode" presStyleCnt="0"/>
      <dgm:spPr/>
    </dgm:pt>
    <dgm:pt modelId="{98428F15-F0D5-4130-9147-37C3DDCA1DC9}" type="pres">
      <dgm:prSet presAssocID="{39D9786D-012C-4B3E-84F3-BFD2C13FD7FC}" presName="bgRect" presStyleLbl="bgShp" presStyleIdx="3" presStyleCnt="5"/>
      <dgm:spPr>
        <a:solidFill>
          <a:srgbClr val="00539F"/>
        </a:solidFill>
      </dgm:spPr>
    </dgm:pt>
    <dgm:pt modelId="{317B8A92-F6D8-485E-BFCD-F23A414CD080}" type="pres">
      <dgm:prSet presAssocID="{39D9786D-012C-4B3E-84F3-BFD2C13FD7F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 with solid fill"/>
        </a:ext>
      </dgm:extLst>
    </dgm:pt>
    <dgm:pt modelId="{D67C9A0B-8E41-46E6-8087-A85826FA64FA}" type="pres">
      <dgm:prSet presAssocID="{39D9786D-012C-4B3E-84F3-BFD2C13FD7FC}" presName="spaceRect" presStyleCnt="0"/>
      <dgm:spPr/>
    </dgm:pt>
    <dgm:pt modelId="{ECF200B6-4CF1-49FA-82CB-D36753C29C94}" type="pres">
      <dgm:prSet presAssocID="{39D9786D-012C-4B3E-84F3-BFD2C13FD7FC}" presName="parTx" presStyleLbl="revTx" presStyleIdx="3" presStyleCnt="5">
        <dgm:presLayoutVars>
          <dgm:chMax val="0"/>
          <dgm:chPref val="0"/>
        </dgm:presLayoutVars>
      </dgm:prSet>
      <dgm:spPr/>
    </dgm:pt>
    <dgm:pt modelId="{D6C45ADB-0B0E-41AD-966C-A24E2BDD5A10}" type="pres">
      <dgm:prSet presAssocID="{0FD7031B-D881-49AA-97BB-5ACDC9BF069B}" presName="sibTrans" presStyleCnt="0"/>
      <dgm:spPr/>
    </dgm:pt>
    <dgm:pt modelId="{2A54FCFA-8C28-4B8F-83AC-553D4CE8145D}" type="pres">
      <dgm:prSet presAssocID="{B99A3672-DF6D-4974-8FC9-C3A40F7EE8D6}" presName="compNode" presStyleCnt="0"/>
      <dgm:spPr/>
    </dgm:pt>
    <dgm:pt modelId="{7566ED39-D6F5-4DF5-8A39-A79490273A0B}" type="pres">
      <dgm:prSet presAssocID="{B99A3672-DF6D-4974-8FC9-C3A40F7EE8D6}" presName="bgRect" presStyleLbl="bgShp" presStyleIdx="4" presStyleCnt="5"/>
      <dgm:spPr>
        <a:solidFill>
          <a:srgbClr val="00539F"/>
        </a:solidFill>
      </dgm:spPr>
    </dgm:pt>
    <dgm:pt modelId="{B3F6EF59-567A-4333-BF88-50EE8E8487A2}" type="pres">
      <dgm:prSet presAssocID="{B99A3672-DF6D-4974-8FC9-C3A40F7EE8D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nections"/>
        </a:ext>
      </dgm:extLst>
    </dgm:pt>
    <dgm:pt modelId="{C07678B5-F1A8-408B-99D7-F5DF97732B8E}" type="pres">
      <dgm:prSet presAssocID="{B99A3672-DF6D-4974-8FC9-C3A40F7EE8D6}" presName="spaceRect" presStyleCnt="0"/>
      <dgm:spPr/>
    </dgm:pt>
    <dgm:pt modelId="{AEFC0EFB-BD3D-4AF8-8A4E-66BB21DDE307}" type="pres">
      <dgm:prSet presAssocID="{B99A3672-DF6D-4974-8FC9-C3A40F7EE8D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E984370F-FCB1-497C-85E7-CE8CDEE5CE72}" type="presOf" srcId="{0911CD98-B2F6-4E17-9C61-BB702C3250BF}" destId="{4CB68EC3-6DDF-4EA3-93EC-B1D00317444B}" srcOrd="0" destOrd="0" presId="urn:microsoft.com/office/officeart/2018/2/layout/IconVerticalSolidList"/>
    <dgm:cxn modelId="{8425CA16-C12A-4854-A8A6-A903ECA909CC}" srcId="{A1F1B84F-4F37-4E4B-B28C-05C8DFC94756}" destId="{9AFA7D91-6390-4F95-BF06-02D171762A63}" srcOrd="1" destOrd="0" parTransId="{D0587002-3B85-493B-96BA-C0B5C3BC8362}" sibTransId="{0B994676-137E-4272-9E37-A6B069477E49}"/>
    <dgm:cxn modelId="{0E351628-9811-4200-BF32-763ECC730587}" type="presOf" srcId="{A1F1B84F-4F37-4E4B-B28C-05C8DFC94756}" destId="{37E61AA2-39C5-4D3B-A37D-5BFF2E9B8AED}" srcOrd="0" destOrd="0" presId="urn:microsoft.com/office/officeart/2018/2/layout/IconVerticalSolidList"/>
    <dgm:cxn modelId="{D6C9B23D-AA21-442F-A1F4-60E86C0DFD38}" srcId="{A1F1B84F-4F37-4E4B-B28C-05C8DFC94756}" destId="{9D9C157A-8184-4810-813C-F9ABE512F84B}" srcOrd="2" destOrd="0" parTransId="{D8EDC1F2-E417-46FD-8716-E1D397B83704}" sibTransId="{A9D49BD5-FFD1-45FF-B858-025048928466}"/>
    <dgm:cxn modelId="{7673B861-15F1-4DFB-91C8-F9338D4E2FD3}" type="presOf" srcId="{9AFA7D91-6390-4F95-BF06-02D171762A63}" destId="{29DB6DFD-5EF2-4FE9-B832-B73DBBA6C818}" srcOrd="0" destOrd="0" presId="urn:microsoft.com/office/officeart/2018/2/layout/IconVerticalSolidList"/>
    <dgm:cxn modelId="{9F11DF62-E12D-48E8-9AF7-8969B05FD323}" srcId="{A1F1B84F-4F37-4E4B-B28C-05C8DFC94756}" destId="{39D9786D-012C-4B3E-84F3-BFD2C13FD7FC}" srcOrd="3" destOrd="0" parTransId="{C689F240-B9AE-4A72-BADB-436944BA27AA}" sibTransId="{0FD7031B-D881-49AA-97BB-5ACDC9BF069B}"/>
    <dgm:cxn modelId="{A168C851-557D-4049-B12D-0918348F3F6B}" srcId="{A1F1B84F-4F37-4E4B-B28C-05C8DFC94756}" destId="{0911CD98-B2F6-4E17-9C61-BB702C3250BF}" srcOrd="0" destOrd="0" parTransId="{1B3485FF-7759-40EC-AD38-B4C3F252244B}" sibTransId="{9180CA49-E8E8-4099-ADFF-9A61D44E83A0}"/>
    <dgm:cxn modelId="{6C0ED558-1C36-4942-87C9-E5CDEBD5215A}" type="presOf" srcId="{B99A3672-DF6D-4974-8FC9-C3A40F7EE8D6}" destId="{AEFC0EFB-BD3D-4AF8-8A4E-66BB21DDE307}" srcOrd="0" destOrd="0" presId="urn:microsoft.com/office/officeart/2018/2/layout/IconVerticalSolidList"/>
    <dgm:cxn modelId="{907FDB82-6D78-4B5B-B8D5-FBD143D2D9B7}" type="presOf" srcId="{9D9C157A-8184-4810-813C-F9ABE512F84B}" destId="{85678566-6F19-4FD8-B582-931B4C3F49E3}" srcOrd="0" destOrd="0" presId="urn:microsoft.com/office/officeart/2018/2/layout/IconVerticalSolidList"/>
    <dgm:cxn modelId="{A6F3D9AA-9AE5-4F50-98F3-131244F0904B}" type="presOf" srcId="{39D9786D-012C-4B3E-84F3-BFD2C13FD7FC}" destId="{ECF200B6-4CF1-49FA-82CB-D36753C29C94}" srcOrd="0" destOrd="0" presId="urn:microsoft.com/office/officeart/2018/2/layout/IconVerticalSolidList"/>
    <dgm:cxn modelId="{BA63E6F6-73E3-400D-860F-4F734F4C4B3F}" srcId="{A1F1B84F-4F37-4E4B-B28C-05C8DFC94756}" destId="{B99A3672-DF6D-4974-8FC9-C3A40F7EE8D6}" srcOrd="4" destOrd="0" parTransId="{F021CB03-DC97-4F5D-A6E0-B31CA8867184}" sibTransId="{FF3C2DEC-F562-4F34-AE34-A164E841B7EF}"/>
    <dgm:cxn modelId="{842AB080-082E-4C17-94CA-7742D671B3ED}" type="presParOf" srcId="{37E61AA2-39C5-4D3B-A37D-5BFF2E9B8AED}" destId="{DFD5F05F-A43A-4652-80DD-25D35540632C}" srcOrd="0" destOrd="0" presId="urn:microsoft.com/office/officeart/2018/2/layout/IconVerticalSolidList"/>
    <dgm:cxn modelId="{6EF39C1D-FAFD-4A04-A11A-1030AC4CFC8B}" type="presParOf" srcId="{DFD5F05F-A43A-4652-80DD-25D35540632C}" destId="{EF2B0188-8507-44E9-B757-7CDCC1B0E1A1}" srcOrd="0" destOrd="0" presId="urn:microsoft.com/office/officeart/2018/2/layout/IconVerticalSolidList"/>
    <dgm:cxn modelId="{6D810C82-4D92-4389-B5AA-752860BBE629}" type="presParOf" srcId="{DFD5F05F-A43A-4652-80DD-25D35540632C}" destId="{62DBE401-C7C8-4CFE-9E6C-C1AF672BE62E}" srcOrd="1" destOrd="0" presId="urn:microsoft.com/office/officeart/2018/2/layout/IconVerticalSolidList"/>
    <dgm:cxn modelId="{19579CB1-0E46-435D-B65A-526C3672873F}" type="presParOf" srcId="{DFD5F05F-A43A-4652-80DD-25D35540632C}" destId="{5865C594-3822-4E5D-A8F0-237AFF390341}" srcOrd="2" destOrd="0" presId="urn:microsoft.com/office/officeart/2018/2/layout/IconVerticalSolidList"/>
    <dgm:cxn modelId="{F4A6F0DC-71D2-4A28-8F71-A32E7CC21BE4}" type="presParOf" srcId="{DFD5F05F-A43A-4652-80DD-25D35540632C}" destId="{4CB68EC3-6DDF-4EA3-93EC-B1D00317444B}" srcOrd="3" destOrd="0" presId="urn:microsoft.com/office/officeart/2018/2/layout/IconVerticalSolidList"/>
    <dgm:cxn modelId="{7298B435-A464-40AF-81C1-277811F934A6}" type="presParOf" srcId="{37E61AA2-39C5-4D3B-A37D-5BFF2E9B8AED}" destId="{8F49C51A-DAE6-4363-9FDF-3E95B30C7DB1}" srcOrd="1" destOrd="0" presId="urn:microsoft.com/office/officeart/2018/2/layout/IconVerticalSolidList"/>
    <dgm:cxn modelId="{80208897-E320-4A70-A0C1-2D462611E667}" type="presParOf" srcId="{37E61AA2-39C5-4D3B-A37D-5BFF2E9B8AED}" destId="{8EF2CCDE-7F5C-4F5F-B2FA-43FDCA78B104}" srcOrd="2" destOrd="0" presId="urn:microsoft.com/office/officeart/2018/2/layout/IconVerticalSolidList"/>
    <dgm:cxn modelId="{8631143E-C593-472F-A2DF-22ED3A77E9C2}" type="presParOf" srcId="{8EF2CCDE-7F5C-4F5F-B2FA-43FDCA78B104}" destId="{B3E1CF03-EDE1-471D-890C-AA2901FB45D9}" srcOrd="0" destOrd="0" presId="urn:microsoft.com/office/officeart/2018/2/layout/IconVerticalSolidList"/>
    <dgm:cxn modelId="{10D11F1E-AA15-4AA8-8E34-D7EDB0314473}" type="presParOf" srcId="{8EF2CCDE-7F5C-4F5F-B2FA-43FDCA78B104}" destId="{ECC08DA8-E403-48CD-BD4C-54248151AF43}" srcOrd="1" destOrd="0" presId="urn:microsoft.com/office/officeart/2018/2/layout/IconVerticalSolidList"/>
    <dgm:cxn modelId="{906D20FF-7949-4A1E-8CD3-654B8ABBD8B6}" type="presParOf" srcId="{8EF2CCDE-7F5C-4F5F-B2FA-43FDCA78B104}" destId="{FE4C47F7-8462-46EB-8C62-1EA1F9B6F345}" srcOrd="2" destOrd="0" presId="urn:microsoft.com/office/officeart/2018/2/layout/IconVerticalSolidList"/>
    <dgm:cxn modelId="{C4FEB834-80E4-4B2F-AE68-1B09BC0B63E4}" type="presParOf" srcId="{8EF2CCDE-7F5C-4F5F-B2FA-43FDCA78B104}" destId="{29DB6DFD-5EF2-4FE9-B832-B73DBBA6C818}" srcOrd="3" destOrd="0" presId="urn:microsoft.com/office/officeart/2018/2/layout/IconVerticalSolidList"/>
    <dgm:cxn modelId="{37736754-2A48-4138-ABD2-2E7DB36CA19F}" type="presParOf" srcId="{37E61AA2-39C5-4D3B-A37D-5BFF2E9B8AED}" destId="{BBD30813-D29A-4BFF-871C-E33ABBA55401}" srcOrd="3" destOrd="0" presId="urn:microsoft.com/office/officeart/2018/2/layout/IconVerticalSolidList"/>
    <dgm:cxn modelId="{2ABD4FB5-C6B5-4317-ACF2-B5CDA0D2D5BD}" type="presParOf" srcId="{37E61AA2-39C5-4D3B-A37D-5BFF2E9B8AED}" destId="{94B5DC3D-A2E9-423D-897A-CA8E16E3511B}" srcOrd="4" destOrd="0" presId="urn:microsoft.com/office/officeart/2018/2/layout/IconVerticalSolidList"/>
    <dgm:cxn modelId="{5D74FEC5-780E-4A88-9479-49C0D344EB21}" type="presParOf" srcId="{94B5DC3D-A2E9-423D-897A-CA8E16E3511B}" destId="{495539A5-77BE-4439-9E54-31CB6AC437BE}" srcOrd="0" destOrd="0" presId="urn:microsoft.com/office/officeart/2018/2/layout/IconVerticalSolidList"/>
    <dgm:cxn modelId="{D99BB2F5-81E7-487E-81C0-21F85C306EA1}" type="presParOf" srcId="{94B5DC3D-A2E9-423D-897A-CA8E16E3511B}" destId="{66BBB871-A6BE-4530-8850-268C29376138}" srcOrd="1" destOrd="0" presId="urn:microsoft.com/office/officeart/2018/2/layout/IconVerticalSolidList"/>
    <dgm:cxn modelId="{8B962ACB-D181-409F-88AC-9E2B1F991553}" type="presParOf" srcId="{94B5DC3D-A2E9-423D-897A-CA8E16E3511B}" destId="{09342166-EBA1-4B27-8ACE-D6FAC2A4DB0C}" srcOrd="2" destOrd="0" presId="urn:microsoft.com/office/officeart/2018/2/layout/IconVerticalSolidList"/>
    <dgm:cxn modelId="{C553F894-B963-4961-A07F-A8686370A1B7}" type="presParOf" srcId="{94B5DC3D-A2E9-423D-897A-CA8E16E3511B}" destId="{85678566-6F19-4FD8-B582-931B4C3F49E3}" srcOrd="3" destOrd="0" presId="urn:microsoft.com/office/officeart/2018/2/layout/IconVerticalSolidList"/>
    <dgm:cxn modelId="{5B7F9F0D-3160-4A91-87B9-34FD02B96799}" type="presParOf" srcId="{37E61AA2-39C5-4D3B-A37D-5BFF2E9B8AED}" destId="{44ECB50D-A07B-4D5E-844D-7D32E84393B1}" srcOrd="5" destOrd="0" presId="urn:microsoft.com/office/officeart/2018/2/layout/IconVerticalSolidList"/>
    <dgm:cxn modelId="{6ABCCA69-7FE2-4620-B149-176B6A2139E3}" type="presParOf" srcId="{37E61AA2-39C5-4D3B-A37D-5BFF2E9B8AED}" destId="{CE6CF16D-32CC-42ED-9AB1-8FA8B428B507}" srcOrd="6" destOrd="0" presId="urn:microsoft.com/office/officeart/2018/2/layout/IconVerticalSolidList"/>
    <dgm:cxn modelId="{1411B764-7C10-4824-81F9-5712E11B9478}" type="presParOf" srcId="{CE6CF16D-32CC-42ED-9AB1-8FA8B428B507}" destId="{98428F15-F0D5-4130-9147-37C3DDCA1DC9}" srcOrd="0" destOrd="0" presId="urn:microsoft.com/office/officeart/2018/2/layout/IconVerticalSolidList"/>
    <dgm:cxn modelId="{69CF457E-E251-47A1-A455-671F5086320B}" type="presParOf" srcId="{CE6CF16D-32CC-42ED-9AB1-8FA8B428B507}" destId="{317B8A92-F6D8-485E-BFCD-F23A414CD080}" srcOrd="1" destOrd="0" presId="urn:microsoft.com/office/officeart/2018/2/layout/IconVerticalSolidList"/>
    <dgm:cxn modelId="{E8FBD433-CB19-48B7-943E-4B7E5146EE63}" type="presParOf" srcId="{CE6CF16D-32CC-42ED-9AB1-8FA8B428B507}" destId="{D67C9A0B-8E41-46E6-8087-A85826FA64FA}" srcOrd="2" destOrd="0" presId="urn:microsoft.com/office/officeart/2018/2/layout/IconVerticalSolidList"/>
    <dgm:cxn modelId="{14639D21-D3D9-425C-9A7E-08E6E10AF458}" type="presParOf" srcId="{CE6CF16D-32CC-42ED-9AB1-8FA8B428B507}" destId="{ECF200B6-4CF1-49FA-82CB-D36753C29C94}" srcOrd="3" destOrd="0" presId="urn:microsoft.com/office/officeart/2018/2/layout/IconVerticalSolidList"/>
    <dgm:cxn modelId="{0A1FA13D-2846-47A2-8450-A2943D76228F}" type="presParOf" srcId="{37E61AA2-39C5-4D3B-A37D-5BFF2E9B8AED}" destId="{D6C45ADB-0B0E-41AD-966C-A24E2BDD5A10}" srcOrd="7" destOrd="0" presId="urn:microsoft.com/office/officeart/2018/2/layout/IconVerticalSolidList"/>
    <dgm:cxn modelId="{B1096B87-C599-42D7-8BC1-D3901BD2E7A7}" type="presParOf" srcId="{37E61AA2-39C5-4D3B-A37D-5BFF2E9B8AED}" destId="{2A54FCFA-8C28-4B8F-83AC-553D4CE8145D}" srcOrd="8" destOrd="0" presId="urn:microsoft.com/office/officeart/2018/2/layout/IconVerticalSolidList"/>
    <dgm:cxn modelId="{952352DE-697E-41A0-AA50-DA440E7D7B84}" type="presParOf" srcId="{2A54FCFA-8C28-4B8F-83AC-553D4CE8145D}" destId="{7566ED39-D6F5-4DF5-8A39-A79490273A0B}" srcOrd="0" destOrd="0" presId="urn:microsoft.com/office/officeart/2018/2/layout/IconVerticalSolidList"/>
    <dgm:cxn modelId="{3F91414F-7B45-4BE9-91C9-7DDDF27875CB}" type="presParOf" srcId="{2A54FCFA-8C28-4B8F-83AC-553D4CE8145D}" destId="{B3F6EF59-567A-4333-BF88-50EE8E8487A2}" srcOrd="1" destOrd="0" presId="urn:microsoft.com/office/officeart/2018/2/layout/IconVerticalSolidList"/>
    <dgm:cxn modelId="{589CE084-1CA3-4809-B2B9-4C3A6957C4E5}" type="presParOf" srcId="{2A54FCFA-8C28-4B8F-83AC-553D4CE8145D}" destId="{C07678B5-F1A8-408B-99D7-F5DF97732B8E}" srcOrd="2" destOrd="0" presId="urn:microsoft.com/office/officeart/2018/2/layout/IconVerticalSolidList"/>
    <dgm:cxn modelId="{4FAF5214-1D30-44F5-A655-91B4158F77D6}" type="presParOf" srcId="{2A54FCFA-8C28-4B8F-83AC-553D4CE8145D}" destId="{AEFC0EFB-BD3D-4AF8-8A4E-66BB21DDE30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2B0188-8507-44E9-B757-7CDCC1B0E1A1}">
      <dsp:nvSpPr>
        <dsp:cNvPr id="0" name=""/>
        <dsp:cNvSpPr/>
      </dsp:nvSpPr>
      <dsp:spPr>
        <a:xfrm>
          <a:off x="0" y="4366"/>
          <a:ext cx="6245265" cy="930102"/>
        </a:xfrm>
        <a:prstGeom prst="roundRect">
          <a:avLst>
            <a:gd name="adj" fmla="val 10000"/>
          </a:avLst>
        </a:prstGeom>
        <a:solidFill>
          <a:srgbClr val="00539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DBE401-C7C8-4CFE-9E6C-C1AF672BE62E}">
      <dsp:nvSpPr>
        <dsp:cNvPr id="0" name=""/>
        <dsp:cNvSpPr/>
      </dsp:nvSpPr>
      <dsp:spPr>
        <a:xfrm>
          <a:off x="281355" y="213639"/>
          <a:ext cx="511556" cy="5115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B68EC3-6DDF-4EA3-93EC-B1D00317444B}">
      <dsp:nvSpPr>
        <dsp:cNvPr id="0" name=""/>
        <dsp:cNvSpPr/>
      </dsp:nvSpPr>
      <dsp:spPr>
        <a:xfrm>
          <a:off x="1074268" y="4366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Locally based sales rep with strong community ties</a:t>
          </a:r>
        </a:p>
      </dsp:txBody>
      <dsp:txXfrm>
        <a:off x="1074268" y="4366"/>
        <a:ext cx="5170996" cy="930102"/>
      </dsp:txXfrm>
    </dsp:sp>
    <dsp:sp modelId="{B3E1CF03-EDE1-471D-890C-AA2901FB45D9}">
      <dsp:nvSpPr>
        <dsp:cNvPr id="0" name=""/>
        <dsp:cNvSpPr/>
      </dsp:nvSpPr>
      <dsp:spPr>
        <a:xfrm>
          <a:off x="0" y="1166994"/>
          <a:ext cx="6245265" cy="930102"/>
        </a:xfrm>
        <a:prstGeom prst="roundRect">
          <a:avLst>
            <a:gd name="adj" fmla="val 10000"/>
          </a:avLst>
        </a:prstGeom>
        <a:solidFill>
          <a:srgbClr val="00539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C08DA8-E403-48CD-BD4C-54248151AF43}">
      <dsp:nvSpPr>
        <dsp:cNvPr id="0" name=""/>
        <dsp:cNvSpPr/>
      </dsp:nvSpPr>
      <dsp:spPr>
        <a:xfrm>
          <a:off x="281355" y="1376267"/>
          <a:ext cx="511556" cy="5115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DB6DFD-5EF2-4FE9-B832-B73DBBA6C818}">
      <dsp:nvSpPr>
        <dsp:cNvPr id="0" name=""/>
        <dsp:cNvSpPr/>
      </dsp:nvSpPr>
      <dsp:spPr>
        <a:xfrm>
          <a:off x="1074268" y="1166994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Collaboration with DTE provider partners to identify strategic employers for early adoption and sales</a:t>
          </a:r>
        </a:p>
      </dsp:txBody>
      <dsp:txXfrm>
        <a:off x="1074268" y="1166994"/>
        <a:ext cx="5170996" cy="930102"/>
      </dsp:txXfrm>
    </dsp:sp>
    <dsp:sp modelId="{495539A5-77BE-4439-9E54-31CB6AC437BE}">
      <dsp:nvSpPr>
        <dsp:cNvPr id="0" name=""/>
        <dsp:cNvSpPr/>
      </dsp:nvSpPr>
      <dsp:spPr>
        <a:xfrm>
          <a:off x="0" y="2329622"/>
          <a:ext cx="6245265" cy="930102"/>
        </a:xfrm>
        <a:prstGeom prst="roundRect">
          <a:avLst>
            <a:gd name="adj" fmla="val 10000"/>
          </a:avLst>
        </a:prstGeom>
        <a:solidFill>
          <a:srgbClr val="00539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BBB871-A6BE-4530-8850-268C29376138}">
      <dsp:nvSpPr>
        <dsp:cNvPr id="0" name=""/>
        <dsp:cNvSpPr/>
      </dsp:nvSpPr>
      <dsp:spPr>
        <a:xfrm>
          <a:off x="281355" y="2538895"/>
          <a:ext cx="511556" cy="5115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678566-6F19-4FD8-B582-931B4C3F49E3}">
      <dsp:nvSpPr>
        <dsp:cNvPr id="0" name=""/>
        <dsp:cNvSpPr/>
      </dsp:nvSpPr>
      <dsp:spPr>
        <a:xfrm>
          <a:off x="1074268" y="2329622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Work with select broker distribution partners with aligned incentives and goals</a:t>
          </a:r>
        </a:p>
      </dsp:txBody>
      <dsp:txXfrm>
        <a:off x="1074268" y="2329622"/>
        <a:ext cx="5170996" cy="930102"/>
      </dsp:txXfrm>
    </dsp:sp>
    <dsp:sp modelId="{98428F15-F0D5-4130-9147-37C3DDCA1DC9}">
      <dsp:nvSpPr>
        <dsp:cNvPr id="0" name=""/>
        <dsp:cNvSpPr/>
      </dsp:nvSpPr>
      <dsp:spPr>
        <a:xfrm>
          <a:off x="0" y="3492250"/>
          <a:ext cx="6245265" cy="930102"/>
        </a:xfrm>
        <a:prstGeom prst="roundRect">
          <a:avLst>
            <a:gd name="adj" fmla="val 10000"/>
          </a:avLst>
        </a:prstGeom>
        <a:solidFill>
          <a:srgbClr val="00539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7B8A92-F6D8-485E-BFCD-F23A414CD080}">
      <dsp:nvSpPr>
        <dsp:cNvPr id="0" name=""/>
        <dsp:cNvSpPr/>
      </dsp:nvSpPr>
      <dsp:spPr>
        <a:xfrm>
          <a:off x="281355" y="3701523"/>
          <a:ext cx="511556" cy="5115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F200B6-4CF1-49FA-82CB-D36753C29C94}">
      <dsp:nvSpPr>
        <dsp:cNvPr id="0" name=""/>
        <dsp:cNvSpPr/>
      </dsp:nvSpPr>
      <dsp:spPr>
        <a:xfrm>
          <a:off x="1074268" y="3492250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Pipeline reporting and collaboration with our DTE provider partners</a:t>
          </a:r>
        </a:p>
      </dsp:txBody>
      <dsp:txXfrm>
        <a:off x="1074268" y="3492250"/>
        <a:ext cx="5170996" cy="930102"/>
      </dsp:txXfrm>
    </dsp:sp>
    <dsp:sp modelId="{7566ED39-D6F5-4DF5-8A39-A79490273A0B}">
      <dsp:nvSpPr>
        <dsp:cNvPr id="0" name=""/>
        <dsp:cNvSpPr/>
      </dsp:nvSpPr>
      <dsp:spPr>
        <a:xfrm>
          <a:off x="0" y="4654878"/>
          <a:ext cx="6245265" cy="930102"/>
        </a:xfrm>
        <a:prstGeom prst="roundRect">
          <a:avLst>
            <a:gd name="adj" fmla="val 10000"/>
          </a:avLst>
        </a:prstGeom>
        <a:solidFill>
          <a:srgbClr val="00539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F6EF59-567A-4333-BF88-50EE8E8487A2}">
      <dsp:nvSpPr>
        <dsp:cNvPr id="0" name=""/>
        <dsp:cNvSpPr/>
      </dsp:nvSpPr>
      <dsp:spPr>
        <a:xfrm>
          <a:off x="281355" y="4864151"/>
          <a:ext cx="511556" cy="51155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FC0EFB-BD3D-4AF8-8A4E-66BB21DDE307}">
      <dsp:nvSpPr>
        <dsp:cNvPr id="0" name=""/>
        <dsp:cNvSpPr/>
      </dsp:nvSpPr>
      <dsp:spPr>
        <a:xfrm>
          <a:off x="1074268" y="4654878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Marketing and promotion of the new option in the community</a:t>
          </a:r>
        </a:p>
      </dsp:txBody>
      <dsp:txXfrm>
        <a:off x="1074268" y="4654878"/>
        <a:ext cx="5170996" cy="9301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9964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>
                <a:latin typeface="Montserrat" panose="00000500000000000000" pitchFamily="2" charset="0"/>
              </a:rPr>
              <a:t>1</a:t>
            </a:fld>
            <a:endParaRPr lang="en-US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Montserrat" panose="00000500000000000000" pitchFamily="2" charset="0"/>
              </a:rPr>
              <a:t>Make necessary changes to match slide 4 of updated ppt provided by Jan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73F6DB-F15B-884B-AA15-B75C0F48DEC7}" type="slidenum">
              <a:rPr lang="en-US" smtClean="0">
                <a:latin typeface="Montserrat" panose="00000500000000000000" pitchFamily="2" charset="0"/>
              </a:rPr>
              <a:t>4</a:t>
            </a:fld>
            <a:endParaRPr lang="en-US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0662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F90F11E-B424-48C6-BD86-192B859FFD4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22410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>
              <a:latin typeface="Montserrat" panose="00000500000000000000" pitchFamily="2" charset="0"/>
            </a:endParaRPr>
          </a:p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39CA89-B4B2-4050-B038-8DF8E3A3351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9351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1A9E3A3-CB7F-45DB-8359-15D56BF69054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791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72A7C2C-8CBA-48FC-B47E-140B6C446377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494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9FFEA2DF-E8B3-4F59-892A-C88743D6614D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155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B0F09CE-D3E6-4C73-9F86-6AA671224F8D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8500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3AF486B-7A2A-4144-9105-81B5F9A702C4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93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3273CBB-1638-4F86-93C5-F289BAB372F8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061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E1223EA-AE71-4F47-9CA1-AC76DEC2B9E8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536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>
                <a:latin typeface="Montserrat" panose="00000500000000000000" pitchFamily="2" charset="0"/>
              </a:defRPr>
            </a:lvl1pPr>
            <a:lvl2pPr>
              <a:defRPr sz="2800">
                <a:latin typeface="Montserrat" panose="00000500000000000000" pitchFamily="2" charset="0"/>
              </a:defRPr>
            </a:lvl2pPr>
            <a:lvl3pPr>
              <a:defRPr sz="2400">
                <a:latin typeface="Montserrat" panose="00000500000000000000" pitchFamily="2" charset="0"/>
              </a:defRPr>
            </a:lvl3pPr>
            <a:lvl4pPr>
              <a:defRPr sz="2000">
                <a:latin typeface="Montserrat" panose="00000500000000000000" pitchFamily="2" charset="0"/>
              </a:defRPr>
            </a:lvl4pPr>
            <a:lvl5pPr>
              <a:defRPr sz="2000">
                <a:latin typeface="Montserrat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B9B31445-0B45-4F5C-971D-F971BB7E35C1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4586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>
                <a:latin typeface="Montserrat" panose="00000500000000000000" pitchFamily="2" charset="0"/>
              </a:defRPr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AEE79F89-B9FD-40DA-A4A8-5549A4F97D5C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822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4BCDCB60-C599-4AF2-9C31-DCD390D25F3F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204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187DF3D-F650-432E-A6F6-439A0FF53FA0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34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1A9E3A3-CB7F-45DB-8359-15D56BF69054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1841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72A7C2C-8CBA-48FC-B47E-140B6C446377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399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9FFEA2DF-E8B3-4F59-892A-C88743D6614D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085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B0F09CE-D3E6-4C73-9F86-6AA671224F8D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1395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3AF486B-7A2A-4144-9105-81B5F9A702C4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4306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3273CBB-1638-4F86-93C5-F289BAB372F8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9937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E1223EA-AE71-4F47-9CA1-AC76DEC2B9E8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2222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>
                <a:latin typeface="Montserrat" panose="00000500000000000000" pitchFamily="2" charset="0"/>
              </a:defRPr>
            </a:lvl1pPr>
            <a:lvl2pPr>
              <a:defRPr sz="2800">
                <a:latin typeface="Montserrat" panose="00000500000000000000" pitchFamily="2" charset="0"/>
              </a:defRPr>
            </a:lvl2pPr>
            <a:lvl3pPr>
              <a:defRPr sz="2400">
                <a:latin typeface="Montserrat" panose="00000500000000000000" pitchFamily="2" charset="0"/>
              </a:defRPr>
            </a:lvl3pPr>
            <a:lvl4pPr>
              <a:defRPr sz="2000">
                <a:latin typeface="Montserrat" panose="00000500000000000000" pitchFamily="2" charset="0"/>
              </a:defRPr>
            </a:lvl4pPr>
            <a:lvl5pPr>
              <a:defRPr sz="2000">
                <a:latin typeface="Montserrat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B9B31445-0B45-4F5C-971D-F971BB7E35C1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700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>
                <a:latin typeface="Montserrat" panose="00000500000000000000" pitchFamily="2" charset="0"/>
              </a:defRPr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AEE79F89-B9FD-40DA-A4A8-5549A4F97D5C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1137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4BCDCB60-C599-4AF2-9C31-DCD390D25F3F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9846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187DF3D-F650-432E-A6F6-439A0FF53FA0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5462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529F"/>
          </a:solidFill>
        </p:spPr>
        <p:txBody>
          <a:bodyPr wrap="square" lIns="0" tIns="0" rIns="0" bIns="0" rtlCol="0"/>
          <a:lstStyle/>
          <a:p>
            <a:endParaRPr>
              <a:latin typeface="Montserrat" panose="00000500000000000000" pitchFamily="2" charset="0"/>
            </a:endParaRPr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07951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348784" y="2668124"/>
            <a:ext cx="3129915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0529F"/>
                </a:solidFill>
                <a:latin typeface="Montserrat" panose="00000500000000000000" pitchFamily="2" charset="0"/>
                <a:cs typeface="Montserrat" panose="00000500000000000000" pitchFamily="2" charset="0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00529F"/>
                </a:solidFill>
                <a:latin typeface="Montserrat" panose="00000500000000000000" pitchFamily="2" charset="0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1/2/2025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Montserrat" panose="00000500000000000000" pitchFamily="2" charset="0"/>
                <a:cs typeface="Calibri"/>
              </a:defRPr>
            </a:lvl1pPr>
          </a:lstStyle>
          <a:p>
            <a:pPr marL="118745">
              <a:spcBef>
                <a:spcPts val="25"/>
              </a:spcBef>
            </a:pPr>
            <a:fld id="{81D60167-4931-47E6-BA6A-407CBD079E47}" type="slidenum">
              <a:rPr lang="en-US" spc="-50" smtClean="0">
                <a:solidFill>
                  <a:srgbClr val="767676"/>
                </a:solidFill>
              </a:rPr>
              <a:pPr marL="118745">
                <a:spcBef>
                  <a:spcPts val="25"/>
                </a:spcBef>
              </a:pPr>
              <a:t>‹#›</a:t>
            </a:fld>
            <a:endParaRPr lang="en-US" spc="-50">
              <a:solidFill>
                <a:srgbClr val="76767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33443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G-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D6220A-7814-163E-54CD-0C84B57887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359"/>
          <a:stretch/>
        </p:blipFill>
        <p:spPr>
          <a:xfrm>
            <a:off x="1" y="0"/>
            <a:ext cx="809640" cy="6857999"/>
          </a:xfrm>
          <a:prstGeom prst="rect">
            <a:avLst/>
          </a:prstGeom>
        </p:spPr>
      </p:pic>
      <p:sp>
        <p:nvSpPr>
          <p:cNvPr id="31" name="Title Placeholder 1">
            <a:extLst>
              <a:ext uri="{FF2B5EF4-FFF2-40B4-BE49-F238E27FC236}">
                <a16:creationId xmlns:a16="http://schemas.microsoft.com/office/drawing/2014/main" id="{C55968D7-D34D-4B87-A52E-96B1C2706D0D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09639" y="56936"/>
            <a:ext cx="10572721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228600" tIns="45720" rIns="228600" bIns="0" rtlCol="0" anchor="ctr" anchorCtr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508908E-9339-78F7-37C3-1674CECF3B02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1519238" y="1827304"/>
            <a:ext cx="9986962" cy="2312236"/>
          </a:xfrm>
        </p:spPr>
        <p:txBody>
          <a:bodyPr>
            <a:spAutoFit/>
          </a:bodyPr>
          <a:lstStyle>
            <a:lvl1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1pPr>
            <a:lvl2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2pPr>
            <a:lvl3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3pPr>
            <a:lvl4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4pPr>
            <a:lvl5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DD69C5BF-D386-C158-3456-9FBA5C891F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359"/>
          <a:stretch/>
        </p:blipFill>
        <p:spPr>
          <a:xfrm flipH="1">
            <a:off x="11382361" y="0"/>
            <a:ext cx="80963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6522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ur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1274F3-D212-A6CA-42D8-FA4F764FF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6936"/>
            <a:ext cx="12191999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228600" tIns="45720" rIns="228600" bIns="0" rtlCol="0" anchor="ctr" anchorCtr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281099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0333A-D7F4-8BF6-7FE6-B245E061D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FD55F-2B6A-BC81-01A1-E169ABA4D2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AA2D5-089E-22AF-3D0B-4F19067E82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894B4-59C2-ED48-02F2-59E034C4F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61B42-85D1-521C-676B-AEF121AD5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40421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24B23-3A0F-2FFB-F140-0ED21664B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27193-0571-3183-9568-FBC2C4C41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BE860-C86D-39CD-1793-0B867B627B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9902B-89A3-6032-AD27-5B2747726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0BC3B-8A86-AA5A-AD97-AFE05C11E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703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49683-D972-023F-219D-7BB60D679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BF06F-33B9-F6B7-D0B0-58368CF72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Montserrat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591E4-3B21-B2C2-F89D-019DFA13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F9B1F-218C-4099-354A-77985CA88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7B7BA-EB30-276C-F6A4-57FBE4B1B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19151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93683-51F3-237C-28D3-307EE44F3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447C5-37A5-7576-DF3F-A03DBF5DC6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3D1057-0101-3CB8-D158-2EAE2463F3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9A133-63CE-4F37-E482-EA1EECCAB0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DC3D78-6D9B-64CF-B7D6-AEEA3A6E0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D38F0-00C1-C0D4-F298-433BE1D17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7241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8A98D-65C1-1E26-EDD7-90B5F4CAF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DBA72-820B-660B-EB15-EF77956BD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EE162-1C58-9826-D133-1AD84A30AF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950119-C4BF-8D07-DED7-073F40FB57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C9C018-AAE1-01C5-C4E7-1C69A018EB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6C6F45-ECE2-F081-F98C-EECF3EBF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C19771-6EC0-7828-5F14-219FFD629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AFBBDB-D016-3519-189F-C3EF7A0A3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72645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90F4-6BF3-9A05-11B0-CFDC94F6A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32DC46-DA37-DBBE-5107-914E8DF19A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0D90FD-81A9-E6FB-27D3-24713EF14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316EA0-D473-AC28-DECA-DEAEF6567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14670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17604C-AB91-78A2-2DA4-6D1088A321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C85361-F6B7-FAAB-4738-E0ADE5E1C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3D6D1-624B-8B3C-90BE-2C90B19A7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6490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CB8A9-03E2-CC5E-A121-E5984E9AE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13174-A575-A915-92B0-207B93D1F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Montserrat" panose="00000500000000000000" pitchFamily="2" charset="0"/>
              </a:defRPr>
            </a:lvl1pPr>
            <a:lvl2pPr>
              <a:defRPr sz="2800">
                <a:latin typeface="Montserrat" panose="00000500000000000000" pitchFamily="2" charset="0"/>
              </a:defRPr>
            </a:lvl2pPr>
            <a:lvl3pPr>
              <a:defRPr sz="2400">
                <a:latin typeface="Montserrat" panose="00000500000000000000" pitchFamily="2" charset="0"/>
              </a:defRPr>
            </a:lvl3pPr>
            <a:lvl4pPr>
              <a:defRPr sz="2000">
                <a:latin typeface="Montserrat" panose="00000500000000000000" pitchFamily="2" charset="0"/>
              </a:defRPr>
            </a:lvl4pPr>
            <a:lvl5pPr>
              <a:defRPr sz="2000">
                <a:latin typeface="Montserrat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F26E49-3074-8C94-B0CC-8EFA1B8250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9E3CC-7C4A-D7EC-E46C-5A842B8A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330E3-0B96-933C-829B-04B30C41D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57A92-1BAA-DAA4-E90F-EDFBED3D7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3762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A07BE-FE86-FD17-6855-F4BBD305C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EFE0AE-B8E3-6453-74A9-2CCBC448EB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Montserrat" panose="00000500000000000000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1BFAC6-51C3-1D27-7E41-47878F27E0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98224-E0A8-36C0-DDF7-27FA70A43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4AEAA-95D8-5BA2-2F25-047DDCC1D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686F25-6C70-7C4B-DFD4-192375D55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82621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03B00-617F-6CDB-FC05-71E366A0D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BB096-36EC-BC27-3A10-9065A2B11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4F6E8-F910-F328-584A-CA901BB3A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3A474-10C6-034E-0576-8B73F4B70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4C70E-6DC2-4298-EEB8-A2AC6AD7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62157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08DBE0-CED9-F7B0-5642-5731DA249B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47D136-9913-226C-7C14-436B6CF99C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3D2C8-E528-BF1F-C711-971E74B5E8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D753D-C084-2ADF-0E12-AA92D30C6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82D8B-8E1E-F47C-7C0F-AEDE48C2D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94531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1A9E3A3-CB7F-45DB-8359-15D56BF69054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9178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72A7C2C-8CBA-48FC-B47E-140B6C446377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88642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9FFEA2DF-E8B3-4F59-892A-C88743D6614D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0971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B0F09CE-D3E6-4C73-9F86-6AA671224F8D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6966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3AF486B-7A2A-4144-9105-81B5F9A702C4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3987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3273CBB-1638-4F86-93C5-F289BAB372F8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50559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E1223EA-AE71-4F47-9CA1-AC76DEC2B9E8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61210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>
                <a:latin typeface="Montserrat" panose="00000500000000000000" pitchFamily="2" charset="0"/>
              </a:defRPr>
            </a:lvl1pPr>
            <a:lvl2pPr>
              <a:defRPr sz="2800">
                <a:latin typeface="Montserrat" panose="00000500000000000000" pitchFamily="2" charset="0"/>
              </a:defRPr>
            </a:lvl2pPr>
            <a:lvl3pPr>
              <a:defRPr sz="2400">
                <a:latin typeface="Montserrat" panose="00000500000000000000" pitchFamily="2" charset="0"/>
              </a:defRPr>
            </a:lvl3pPr>
            <a:lvl4pPr>
              <a:defRPr sz="2000">
                <a:latin typeface="Montserrat" panose="00000500000000000000" pitchFamily="2" charset="0"/>
              </a:defRPr>
            </a:lvl4pPr>
            <a:lvl5pPr>
              <a:defRPr sz="2000">
                <a:latin typeface="Montserrat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B9B31445-0B45-4F5C-971D-F971BB7E35C1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158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>
                <a:latin typeface="Montserrat" panose="00000500000000000000" pitchFamily="2" charset="0"/>
              </a:defRPr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AEE79F89-B9FD-40DA-A4A8-5549A4F97D5C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56376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4BCDCB60-C599-4AF2-9C31-DCD390D25F3F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05910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187DF3D-F650-432E-A6F6-439A0FF53FA0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18565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529F"/>
          </a:solidFill>
        </p:spPr>
        <p:txBody>
          <a:bodyPr wrap="square" lIns="0" tIns="0" rIns="0" bIns="0" rtlCol="0"/>
          <a:lstStyle/>
          <a:p>
            <a:endParaRPr>
              <a:latin typeface="Montserrat" panose="00000500000000000000" pitchFamily="2" charset="0"/>
            </a:endParaRPr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07951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348784" y="2668124"/>
            <a:ext cx="3129915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0529F"/>
                </a:solidFill>
                <a:latin typeface="Montserrat" panose="00000500000000000000" pitchFamily="2" charset="0"/>
                <a:cs typeface="Montserrat" panose="00000500000000000000" pitchFamily="2" charset="0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00529F"/>
                </a:solidFill>
                <a:latin typeface="Montserrat" panose="00000500000000000000" pitchFamily="2" charset="0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1/2/2025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Montserrat" panose="00000500000000000000" pitchFamily="2" charset="0"/>
                <a:cs typeface="Calibri"/>
              </a:defRPr>
            </a:lvl1pPr>
          </a:lstStyle>
          <a:p>
            <a:pPr marL="118745">
              <a:spcBef>
                <a:spcPts val="25"/>
              </a:spcBef>
            </a:pPr>
            <a:fld id="{81D60167-4931-47E6-BA6A-407CBD079E47}" type="slidenum">
              <a:rPr lang="en-US" spc="-50" smtClean="0">
                <a:solidFill>
                  <a:srgbClr val="767676"/>
                </a:solidFill>
              </a:rPr>
              <a:pPr marL="118745">
                <a:spcBef>
                  <a:spcPts val="25"/>
                </a:spcBef>
              </a:pPr>
              <a:t>‹#›</a:t>
            </a:fld>
            <a:endParaRPr lang="en-US" spc="-50">
              <a:solidFill>
                <a:srgbClr val="76767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777413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G-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D6220A-7814-163E-54CD-0C84B57887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359"/>
          <a:stretch/>
        </p:blipFill>
        <p:spPr>
          <a:xfrm>
            <a:off x="1" y="0"/>
            <a:ext cx="809640" cy="6857999"/>
          </a:xfrm>
          <a:prstGeom prst="rect">
            <a:avLst/>
          </a:prstGeom>
        </p:spPr>
      </p:pic>
      <p:sp>
        <p:nvSpPr>
          <p:cNvPr id="31" name="Title Placeholder 1">
            <a:extLst>
              <a:ext uri="{FF2B5EF4-FFF2-40B4-BE49-F238E27FC236}">
                <a16:creationId xmlns:a16="http://schemas.microsoft.com/office/drawing/2014/main" id="{C55968D7-D34D-4B87-A52E-96B1C2706D0D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09639" y="56936"/>
            <a:ext cx="10572721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228600" tIns="45720" rIns="228600" bIns="0" rtlCol="0" anchor="ctr" anchorCtr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508908E-9339-78F7-37C3-1674CECF3B02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1519238" y="1827304"/>
            <a:ext cx="9986962" cy="2312236"/>
          </a:xfrm>
        </p:spPr>
        <p:txBody>
          <a:bodyPr>
            <a:spAutoFit/>
          </a:bodyPr>
          <a:lstStyle>
            <a:lvl1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1pPr>
            <a:lvl2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2pPr>
            <a:lvl3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3pPr>
            <a:lvl4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4pPr>
            <a:lvl5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DD69C5BF-D386-C158-3456-9FBA5C891F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359"/>
          <a:stretch/>
        </p:blipFill>
        <p:spPr>
          <a:xfrm flipH="1">
            <a:off x="11382361" y="0"/>
            <a:ext cx="80963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875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ur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1274F3-D212-A6CA-42D8-FA4F764FF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6936"/>
            <a:ext cx="12191999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228600" tIns="45720" rIns="228600" bIns="0" rtlCol="0" anchor="ctr" anchorCtr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5938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ags" Target="../tags/tag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2" Type="http://schemas.openxmlformats.org/officeDocument/2006/relationships/slideLayout" Target="../slideLayouts/slideLayout39.xml"/><Relationship Id="rId16" Type="http://schemas.openxmlformats.org/officeDocument/2006/relationships/tags" Target="../tags/tag3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5" Type="http://schemas.openxmlformats.org/officeDocument/2006/relationships/theme" Target="../theme/theme5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ECD48873-4569-48AE-9711-BF92EE297A77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3"/>
    </p:custDataLst>
    <p:extLst>
      <p:ext uri="{BB962C8B-B14F-4D97-AF65-F5344CB8AC3E}">
        <p14:creationId xmlns:p14="http://schemas.microsoft.com/office/powerpoint/2010/main" val="3948910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ECD48873-4569-48AE-9711-BF92EE297A77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6"/>
    </p:custDataLst>
    <p:extLst>
      <p:ext uri="{BB962C8B-B14F-4D97-AF65-F5344CB8AC3E}">
        <p14:creationId xmlns:p14="http://schemas.microsoft.com/office/powerpoint/2010/main" val="3273049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28BEE0-7577-10C8-2F70-A988114D8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D88FE-EDC7-60BB-7A69-AF9890EA0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6E3C9-054B-7BB4-0692-08B96E9944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351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2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i="0" kern="1200">
          <a:solidFill>
            <a:schemeClr val="tx1"/>
          </a:solidFill>
          <a:latin typeface="Montserrat" panose="00000500000000000000" pitchFamily="2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ECD48873-4569-48AE-9711-BF92EE297A77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6"/>
    </p:custDataLst>
    <p:extLst>
      <p:ext uri="{BB962C8B-B14F-4D97-AF65-F5344CB8AC3E}">
        <p14:creationId xmlns:p14="http://schemas.microsoft.com/office/powerpoint/2010/main" val="2723756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0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28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6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14271" cy="6856286"/>
          </a:xfrm>
          <a:prstGeom prst="rect">
            <a:avLst/>
          </a:prstGeom>
        </p:spPr>
      </p:pic>
      <p:sp>
        <p:nvSpPr>
          <p:cNvPr id="3" name="Object 2"/>
          <p:cNvSpPr/>
          <p:nvPr/>
        </p:nvSpPr>
        <p:spPr>
          <a:xfrm>
            <a:off x="2180680" y="1196279"/>
            <a:ext cx="5761184" cy="2483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r">
              <a:lnSpc>
                <a:spcPts val="1956"/>
              </a:lnSpc>
              <a:buNone/>
            </a:pPr>
            <a:r>
              <a:rPr lang="en-US" sz="1552" kern="0" spc="47" dirty="0">
                <a:solidFill>
                  <a:srgbClr val="FFFFFF">
                    <a:alpha val="80000"/>
                  </a:srgbClr>
                </a:solidFill>
                <a:latin typeface="Montserrat" panose="00000500000000000000" pitchFamily="2" charset="0"/>
                <a:ea typeface="Jost*" pitchFamily="34" charset="-122"/>
                <a:cs typeface="Jost*" pitchFamily="34" charset="-120"/>
              </a:rPr>
              <a:t>OPPORTUNITY REVIEW</a:t>
            </a:r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4" name="Object 3"/>
          <p:cNvSpPr/>
          <p:nvPr/>
        </p:nvSpPr>
        <p:spPr>
          <a:xfrm>
            <a:off x="1178743" y="1685802"/>
            <a:ext cx="6953573" cy="11517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r">
              <a:lnSpc>
                <a:spcPts val="9072"/>
              </a:lnSpc>
              <a:spcBef>
                <a:spcPts val="975"/>
              </a:spcBef>
              <a:buNone/>
            </a:pPr>
            <a:r>
              <a:rPr lang="en-US" sz="6600" kern="0" spc="243" dirty="0">
                <a:solidFill>
                  <a:srgbClr val="FFFFFF"/>
                </a:solidFill>
                <a:latin typeface="Montserrat"/>
                <a:ea typeface="Jost*"/>
              </a:rPr>
              <a:t>SLUHN DTE</a:t>
            </a:r>
          </a:p>
          <a:p>
            <a:pPr algn="r">
              <a:lnSpc>
                <a:spcPts val="9072"/>
              </a:lnSpc>
              <a:spcBef>
                <a:spcPts val="975"/>
              </a:spcBef>
              <a:buNone/>
            </a:pPr>
            <a:r>
              <a:rPr lang="en-US" sz="6600" kern="0" spc="243">
                <a:solidFill>
                  <a:srgbClr val="FFFFFF"/>
                </a:solidFill>
                <a:latin typeface="Montserrat"/>
                <a:ea typeface="Jost*"/>
              </a:rPr>
              <a:t>EXECUTIVE SUMMARY</a:t>
            </a:r>
            <a:endParaRPr lang="en-US" sz="1200" dirty="0">
              <a:latin typeface="Montserrat"/>
              <a:ea typeface="Jost*"/>
            </a:endParaRPr>
          </a:p>
        </p:txBody>
      </p:sp>
      <p:sp>
        <p:nvSpPr>
          <p:cNvPr id="7" name="Object 6"/>
          <p:cNvSpPr/>
          <p:nvPr/>
        </p:nvSpPr>
        <p:spPr>
          <a:xfrm>
            <a:off x="2180680" y="5382363"/>
            <a:ext cx="5761184" cy="3008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r">
              <a:lnSpc>
                <a:spcPts val="2370"/>
              </a:lnSpc>
              <a:spcBef>
                <a:spcPts val="599"/>
              </a:spcBef>
            </a:pPr>
            <a:r>
              <a:rPr lang="en-US" sz="1750" kern="0" spc="53" dirty="0">
                <a:solidFill>
                  <a:srgbClr val="FFFFFF">
                    <a:alpha val="80000"/>
                  </a:srgbClr>
                </a:solidFill>
                <a:latin typeface="Montserrat"/>
                <a:ea typeface="Jost*"/>
                <a:cs typeface="Jost*" pitchFamily="34" charset="-120"/>
              </a:rPr>
              <a:t>Benefits of an SLUHN DTE Health Plan</a:t>
            </a:r>
            <a:endParaRPr lang="en-US" sz="1750" dirty="0">
              <a:latin typeface="Montserrat"/>
              <a:ea typeface="Jost*"/>
            </a:endParaRPr>
          </a:p>
        </p:txBody>
      </p:sp>
      <p:pic>
        <p:nvPicPr>
          <p:cNvPr id="8" name="Object 7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22769" y="0"/>
            <a:ext cx="3866183" cy="6856286"/>
          </a:xfrm>
          <a:prstGeom prst="rect">
            <a:avLst/>
          </a:prstGeom>
        </p:spPr>
      </p:pic>
      <p:sp>
        <p:nvSpPr>
          <p:cNvPr id="9" name="Object 8"/>
          <p:cNvSpPr/>
          <p:nvPr/>
        </p:nvSpPr>
        <p:spPr>
          <a:xfrm>
            <a:off x="495176" y="285679"/>
            <a:ext cx="2005028" cy="476131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pic>
        <p:nvPicPr>
          <p:cNvPr id="10" name="Object 9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7538" y="380905"/>
            <a:ext cx="1700304" cy="2856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B035A46-E704-31B3-71E4-D60348FB854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9B0828E-DA28-4FBB-9235-C683F78A9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FC719D-C4A7-4544-876E-D411D11AF6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6" name="Rectangle: Single Corner Rounded 4">
            <a:extLst>
              <a:ext uri="{FF2B5EF4-FFF2-40B4-BE49-F238E27FC236}">
                <a16:creationId xmlns:a16="http://schemas.microsoft.com/office/drawing/2014/main" id="{90B02A10-01E7-2494-66B5-078DDFE69A60}"/>
              </a:ext>
            </a:extLst>
          </p:cNvPr>
          <p:cNvSpPr/>
          <p:nvPr/>
        </p:nvSpPr>
        <p:spPr>
          <a:xfrm>
            <a:off x="-8238" y="1163706"/>
            <a:ext cx="5843847" cy="5702531"/>
          </a:xfrm>
          <a:prstGeom prst="round1Rect">
            <a:avLst>
              <a:gd name="adj" fmla="val 12082"/>
            </a:avLst>
          </a:prstGeom>
          <a:solidFill>
            <a:srgbClr val="00539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274320" rtlCol="0" anchor="ctr"/>
          <a:lstStyle/>
          <a:p>
            <a:pPr marL="457206" marR="0" lvl="1" indent="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C3359629-7405-5BED-0491-4C3A6C6FF755}"/>
              </a:ext>
            </a:extLst>
          </p:cNvPr>
          <p:cNvSpPr txBox="1"/>
          <p:nvPr/>
        </p:nvSpPr>
        <p:spPr>
          <a:xfrm>
            <a:off x="81069" y="2184943"/>
            <a:ext cx="5681708" cy="40164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cs typeface="Arial"/>
              </a:rPr>
              <a:t>Founded in 1979, headquartered in Indianapolis</a:t>
            </a:r>
            <a:endParaRPr lang="en-US">
              <a:solidFill>
                <a:prstClr val="white"/>
              </a:solidFill>
              <a:latin typeface="Montserrat"/>
              <a:cs typeface="Arial"/>
            </a:endParaRP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cs typeface="Arial"/>
              </a:rPr>
              <a:t>Largest Independently-Owned Full-Service Third-Party Administrator</a:t>
            </a:r>
            <a:endParaRPr lang="en-US" sz="14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cs typeface="Arial"/>
            </a:endParaRP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cs typeface="Arial"/>
              </a:rPr>
              <a:t>Specialize in Administration of Self-Funded Plans and Population Health Management​</a:t>
            </a:r>
            <a:endParaRPr lang="en-US" sz="14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cs typeface="Arial"/>
            </a:endParaRP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cs typeface="Arial"/>
              </a:rPr>
              <a:t>Leader in the Direct-to-Employer Movement</a:t>
            </a:r>
            <a:endParaRPr lang="en-US" sz="14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cs typeface="Arial"/>
            </a:endParaRP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cs typeface="Arial"/>
              </a:rPr>
              <a:t>We Know and Understand the Market</a:t>
            </a:r>
            <a:endParaRPr lang="en-US" sz="14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cs typeface="Arial"/>
            </a:endParaRP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cs typeface="Arial"/>
              </a:rPr>
              <a:t>Experience Working with All Professional Teams: Agents, Networks, MGAs</a:t>
            </a:r>
            <a:endParaRPr lang="en-US" sz="14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cs typeface="Arial"/>
            </a:endParaRP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cs typeface="Arial"/>
              </a:rPr>
              <a:t>The Key Family of Companies is a Vertically Integrated group of benefit related organizations </a:t>
            </a:r>
            <a:endParaRPr lang="en-US" sz="14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cs typeface="Arial"/>
            </a:endParaRP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cs typeface="Arial"/>
              </a:rPr>
              <a:t>3,000+ Corporate Clients </a:t>
            </a:r>
            <a:endParaRPr lang="en-US" sz="14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cs typeface="Arial"/>
            </a:endParaRP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cs typeface="Arial"/>
              </a:rPr>
              <a:t>3 Million Members under Management  </a:t>
            </a:r>
            <a:endParaRPr lang="en-US" sz="14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cs typeface="Arial"/>
            </a:endParaRP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spc="150">
                <a:solidFill>
                  <a:prstClr val="white"/>
                </a:solidFill>
                <a:latin typeface="Montserrat"/>
                <a:cs typeface="Arial"/>
              </a:rPr>
              <a:t>700</a:t>
            </a:r>
            <a:r>
              <a:rPr kumimoji="0" lang="en-US" sz="14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cs typeface="Arial"/>
              </a:rPr>
              <a:t> Employees</a:t>
            </a:r>
            <a:endParaRPr lang="en-US" sz="14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pic>
        <p:nvPicPr>
          <p:cNvPr id="22" name="Picture 4">
            <a:extLst>
              <a:ext uri="{FF2B5EF4-FFF2-40B4-BE49-F238E27FC236}">
                <a16:creationId xmlns:a16="http://schemas.microsoft.com/office/drawing/2014/main" id="{E7533ABB-0CFF-7B45-D905-4C9D58558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70497" y="1415781"/>
            <a:ext cx="3302852" cy="641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091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CC32214-268D-4638-0400-B6FC07385B87}"/>
              </a:ext>
            </a:extLst>
          </p:cNvPr>
          <p:cNvSpPr/>
          <p:nvPr/>
        </p:nvSpPr>
        <p:spPr>
          <a:xfrm>
            <a:off x="3465576" y="5753617"/>
            <a:ext cx="5350945" cy="111390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89000">
                <a:srgbClr val="30589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5">
            <a:extLst>
              <a:ext uri="{FF2B5EF4-FFF2-40B4-BE49-F238E27FC236}">
                <a16:creationId xmlns:a16="http://schemas.microsoft.com/office/drawing/2014/main" id="{E4D4BA5E-072E-BFC4-86A7-A8EC0FA16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482434"/>
            <a:ext cx="8455729" cy="5111065"/>
          </a:xfrm>
          <a:prstGeom prst="rect">
            <a:avLst/>
          </a:prstGeom>
          <a:ln>
            <a:noFill/>
          </a:ln>
          <a:effectLst>
            <a:outerShdw blurRad="292100" dist="139700" dir="2700000" sx="1000" sy="1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F34C8217-D749-4511-B7B5-02F77484B378}"/>
              </a:ext>
            </a:extLst>
          </p:cNvPr>
          <p:cNvSpPr/>
          <p:nvPr/>
        </p:nvSpPr>
        <p:spPr>
          <a:xfrm>
            <a:off x="8816521" y="0"/>
            <a:ext cx="3375480" cy="6872068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0AE72B-2936-B7FD-B16B-B7DDE61C48BF}"/>
              </a:ext>
            </a:extLst>
          </p:cNvPr>
          <p:cNvSpPr/>
          <p:nvPr/>
        </p:nvSpPr>
        <p:spPr>
          <a:xfrm>
            <a:off x="2653074" y="3416416"/>
            <a:ext cx="2053120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Bentonville, AR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Northwest Health Plan</a:t>
            </a:r>
          </a:p>
        </p:txBody>
      </p:sp>
      <p:sp>
        <p:nvSpPr>
          <p:cNvPr id="9" name="Rectangle: Rounded Corners 9">
            <a:extLst>
              <a:ext uri="{FF2B5EF4-FFF2-40B4-BE49-F238E27FC236}">
                <a16:creationId xmlns:a16="http://schemas.microsoft.com/office/drawing/2014/main" id="{83BAAF75-9BFE-8A09-84C8-29127AD11CC8}"/>
              </a:ext>
            </a:extLst>
          </p:cNvPr>
          <p:cNvSpPr/>
          <p:nvPr/>
        </p:nvSpPr>
        <p:spPr>
          <a:xfrm>
            <a:off x="3445133" y="4297997"/>
            <a:ext cx="1781467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Meridian, MS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Affinity Health Plan</a:t>
            </a:r>
          </a:p>
        </p:txBody>
      </p:sp>
      <p:sp>
        <p:nvSpPr>
          <p:cNvPr id="10" name="Rectangle: Rounded Corners 10">
            <a:extLst>
              <a:ext uri="{FF2B5EF4-FFF2-40B4-BE49-F238E27FC236}">
                <a16:creationId xmlns:a16="http://schemas.microsoft.com/office/drawing/2014/main" id="{F7F76DEC-1B86-5F34-4522-EE137E2BEDC5}"/>
              </a:ext>
            </a:extLst>
          </p:cNvPr>
          <p:cNvSpPr/>
          <p:nvPr/>
        </p:nvSpPr>
        <p:spPr>
          <a:xfrm>
            <a:off x="4706193" y="5085160"/>
            <a:ext cx="2132682" cy="477348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Fort Myers, FL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Lee Health Care Partners</a:t>
            </a:r>
          </a:p>
        </p:txBody>
      </p:sp>
      <p:sp>
        <p:nvSpPr>
          <p:cNvPr id="11" name="Rectangle: Rounded Corners 11">
            <a:extLst>
              <a:ext uri="{FF2B5EF4-FFF2-40B4-BE49-F238E27FC236}">
                <a16:creationId xmlns:a16="http://schemas.microsoft.com/office/drawing/2014/main" id="{B522D9FB-03E8-0475-A3A5-AF33059EA7E6}"/>
              </a:ext>
            </a:extLst>
          </p:cNvPr>
          <p:cNvSpPr/>
          <p:nvPr/>
        </p:nvSpPr>
        <p:spPr>
          <a:xfrm>
            <a:off x="6017818" y="3771054"/>
            <a:ext cx="2272613" cy="477348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Knoxville, TN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East Tennessee Health Plan</a:t>
            </a:r>
          </a:p>
        </p:txBody>
      </p:sp>
      <p:sp>
        <p:nvSpPr>
          <p:cNvPr id="12" name="Rectangle: Rounded Corners 12">
            <a:extLst>
              <a:ext uri="{FF2B5EF4-FFF2-40B4-BE49-F238E27FC236}">
                <a16:creationId xmlns:a16="http://schemas.microsoft.com/office/drawing/2014/main" id="{F3AB3343-FA0C-E9FA-637F-E45BB11DFFC1}"/>
              </a:ext>
            </a:extLst>
          </p:cNvPr>
          <p:cNvSpPr/>
          <p:nvPr/>
        </p:nvSpPr>
        <p:spPr>
          <a:xfrm>
            <a:off x="6738840" y="2816397"/>
            <a:ext cx="1751526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Cincinnati, OH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TCH Optimal</a:t>
            </a:r>
          </a:p>
        </p:txBody>
      </p:sp>
      <p:sp>
        <p:nvSpPr>
          <p:cNvPr id="13" name="Rectangle: Rounded Corners 13">
            <a:extLst>
              <a:ext uri="{FF2B5EF4-FFF2-40B4-BE49-F238E27FC236}">
                <a16:creationId xmlns:a16="http://schemas.microsoft.com/office/drawing/2014/main" id="{A5F1AA97-617E-DEDA-E780-8518ACB143FB}"/>
              </a:ext>
            </a:extLst>
          </p:cNvPr>
          <p:cNvSpPr/>
          <p:nvPr/>
        </p:nvSpPr>
        <p:spPr>
          <a:xfrm>
            <a:off x="4162904" y="2699059"/>
            <a:ext cx="1854914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Louisville, KY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OneHealth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 Plan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FBDB55F-E2EE-D357-32A6-FEC23D86F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15" name="Title 4">
            <a:extLst>
              <a:ext uri="{FF2B5EF4-FFF2-40B4-BE49-F238E27FC236}">
                <a16:creationId xmlns:a16="http://schemas.microsoft.com/office/drawing/2014/main" id="{7C6371C7-344C-3C21-F253-96E09F12864E}"/>
              </a:ext>
            </a:extLst>
          </p:cNvPr>
          <p:cNvSpPr txBox="1">
            <a:spLocks/>
          </p:cNvSpPr>
          <p:nvPr/>
        </p:nvSpPr>
        <p:spPr>
          <a:xfrm>
            <a:off x="8917179" y="1782131"/>
            <a:ext cx="3245817" cy="33078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2"/>
                </a:solidFill>
                <a:latin typeface="Book Antiqua" panose="02040602050305030304" pitchFamily="18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MARKET LEADER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IN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PRIVATE LABELED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DTE PLANS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E5139B-FFDD-AE47-84CB-EC58FDDF4191}"/>
              </a:ext>
            </a:extLst>
          </p:cNvPr>
          <p:cNvSpPr txBox="1"/>
          <p:nvPr/>
        </p:nvSpPr>
        <p:spPr>
          <a:xfrm>
            <a:off x="6893352" y="5837148"/>
            <a:ext cx="45261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Montserrat" panose="00000500000000000000" pitchFamily="2" charset="0"/>
              </a:rPr>
              <a:t>Track Record of Success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Montserrat" panose="00000500000000000000" pitchFamily="2" charset="0"/>
              </a:rPr>
              <a:t>With Average Growth of 25+ Employers in First Two Years</a:t>
            </a:r>
          </a:p>
        </p:txBody>
      </p:sp>
    </p:spTree>
    <p:extLst>
      <p:ext uri="{BB962C8B-B14F-4D97-AF65-F5344CB8AC3E}">
        <p14:creationId xmlns:p14="http://schemas.microsoft.com/office/powerpoint/2010/main" val="263972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242924E-816E-0617-E717-FD91AE2D01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178"/>
          <a:stretch/>
        </p:blipFill>
        <p:spPr>
          <a:xfrm>
            <a:off x="0" y="1400480"/>
            <a:ext cx="5707783" cy="4525818"/>
          </a:xfrm>
          <a:prstGeom prst="rect">
            <a:avLst/>
          </a:prstGeom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DD2743DB-6003-F77F-2D46-16EC76C23EA4}"/>
              </a:ext>
            </a:extLst>
          </p:cNvPr>
          <p:cNvSpPr txBox="1">
            <a:spLocks/>
          </p:cNvSpPr>
          <p:nvPr/>
        </p:nvSpPr>
        <p:spPr>
          <a:xfrm>
            <a:off x="117445" y="207689"/>
            <a:ext cx="11534623" cy="108216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00539F"/>
                </a:solidFill>
                <a:latin typeface="Montserrat" panose="00000500000000000000" pitchFamily="2" charset="0"/>
              </a:rPr>
              <a:t>Exclusive to KBA Plans: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539F"/>
                </a:solidFill>
                <a:effectLst/>
                <a:uLnTx/>
                <a:uFillTx/>
                <a:latin typeface="Montserrat" panose="00000500000000000000" pitchFamily="2" charset="0"/>
                <a:cs typeface="Arial" panose="020B0604020202020204" pitchFamily="34" charset="0"/>
              </a:rPr>
              <a:t>Integrated Patient Credit Card and Bonus Benefits</a:t>
            </a:r>
          </a:p>
        </p:txBody>
      </p:sp>
      <p:sp>
        <p:nvSpPr>
          <p:cNvPr id="14" name="Slide Number Placeholder 1">
            <a:extLst>
              <a:ext uri="{FF2B5EF4-FFF2-40B4-BE49-F238E27FC236}">
                <a16:creationId xmlns:a16="http://schemas.microsoft.com/office/drawing/2014/main" id="{A82E6EAB-830B-F36B-F482-0339C2349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0395" y="6335608"/>
            <a:ext cx="2743200" cy="365125"/>
          </a:xfrm>
        </p:spPr>
        <p:txBody>
          <a:bodyPr/>
          <a:lstStyle/>
          <a:p>
            <a:fld id="{DF28FB93-0A08-4E7D-8E63-9EFA29F1E093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8EE2CCA-91EC-8D14-02DB-5622F72597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16" name="Freeform 15">
            <a:extLst>
              <a:ext uri="{FF2B5EF4-FFF2-40B4-BE49-F238E27FC236}">
                <a16:creationId xmlns:a16="http://schemas.microsoft.com/office/drawing/2014/main" id="{1E58FADC-8A75-0ED5-B025-55AFCAF82465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18" name="Arrow: Pentagon 17">
            <a:extLst>
              <a:ext uri="{FF2B5EF4-FFF2-40B4-BE49-F238E27FC236}">
                <a16:creationId xmlns:a16="http://schemas.microsoft.com/office/drawing/2014/main" id="{04BF0C8D-2E38-04D3-C1BE-5EA5D09D3B9B}"/>
              </a:ext>
            </a:extLst>
          </p:cNvPr>
          <p:cNvSpPr/>
          <p:nvPr/>
        </p:nvSpPr>
        <p:spPr>
          <a:xfrm>
            <a:off x="0" y="5160117"/>
            <a:ext cx="6096000" cy="766181"/>
          </a:xfrm>
          <a:prstGeom prst="homePlate">
            <a:avLst/>
          </a:prstGeom>
          <a:solidFill>
            <a:srgbClr val="D9D9D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269B07-A1ED-07AD-3675-D58BFB1D18D7}"/>
              </a:ext>
            </a:extLst>
          </p:cNvPr>
          <p:cNvSpPr txBox="1"/>
          <p:nvPr/>
        </p:nvSpPr>
        <p:spPr>
          <a:xfrm>
            <a:off x="660370" y="5264162"/>
            <a:ext cx="45307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Montserrat" panose="00000500000000000000" pitchFamily="2" charset="0"/>
              </a:rPr>
              <a:t>SLUHN patients will often receive </a:t>
            </a:r>
            <a:r>
              <a:rPr lang="en-US" sz="1600" b="1" dirty="0">
                <a:latin typeface="Montserrat" panose="00000500000000000000" pitchFamily="2" charset="0"/>
              </a:rPr>
              <a:t>cash</a:t>
            </a:r>
            <a:r>
              <a:rPr lang="en-US" sz="1600" dirty="0">
                <a:latin typeface="Montserrat" panose="00000500000000000000" pitchFamily="2" charset="0"/>
              </a:rPr>
              <a:t>, </a:t>
            </a:r>
            <a:r>
              <a:rPr lang="en-US" sz="1600" b="1" dirty="0">
                <a:latin typeface="Montserrat" panose="00000500000000000000" pitchFamily="2" charset="0"/>
              </a:rPr>
              <a:t>not bills </a:t>
            </a:r>
            <a:r>
              <a:rPr lang="en-US" sz="1600" dirty="0">
                <a:latin typeface="Montserrat" panose="00000500000000000000" pitchFamily="2" charset="0"/>
              </a:rPr>
              <a:t>after care episodes!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F9BADC-2338-A27F-DD8C-E7D0560B16C7}"/>
              </a:ext>
            </a:extLst>
          </p:cNvPr>
          <p:cNvSpPr txBox="1"/>
          <p:nvPr/>
        </p:nvSpPr>
        <p:spPr>
          <a:xfrm>
            <a:off x="6372225" y="1771650"/>
            <a:ext cx="533137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KBA uses innovative supplemental bonus benefits and a no-interest patient credit card 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Erase deductibles</a:t>
            </a:r>
            <a:r>
              <a:rPr lang="en-US" dirty="0"/>
              <a:t> or sometimes even provide cash back when patients seek care at SLUHN facilities.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Dramatically improve self-pay</a:t>
            </a:r>
            <a:r>
              <a:rPr lang="en-US" dirty="0"/>
              <a:t> rates for patients at SLUHN facilities.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Provide narrow-network steerage</a:t>
            </a:r>
            <a:r>
              <a:rPr lang="en-US" dirty="0"/>
              <a:t> in a PPO plan, so that patients can go elsewhere but rarely will choose to. </a:t>
            </a:r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FC09F6-BF36-8079-D933-8419E223E4AC}"/>
              </a:ext>
            </a:extLst>
          </p:cNvPr>
          <p:cNvSpPr/>
          <p:nvPr/>
        </p:nvSpPr>
        <p:spPr>
          <a:xfrm>
            <a:off x="6618514" y="4949371"/>
            <a:ext cx="5573486" cy="1216937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774969-9664-5C07-064D-88B09D141ED5}"/>
              </a:ext>
            </a:extLst>
          </p:cNvPr>
          <p:cNvSpPr txBox="1"/>
          <p:nvPr/>
        </p:nvSpPr>
        <p:spPr>
          <a:xfrm>
            <a:off x="6756370" y="4974145"/>
            <a:ext cx="522005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SLUHN can offer these new, high-satisfaction benefits to employees as a coverage option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(best of all options plan—a broad PPO plan combined with vanishing deductibles for SLUHN care).</a:t>
            </a:r>
          </a:p>
        </p:txBody>
      </p:sp>
    </p:spTree>
    <p:extLst>
      <p:ext uri="{BB962C8B-B14F-4D97-AF65-F5344CB8AC3E}">
        <p14:creationId xmlns:p14="http://schemas.microsoft.com/office/powerpoint/2010/main" val="514031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Text Placeholder 10">
            <a:extLst>
              <a:ext uri="{FF2B5EF4-FFF2-40B4-BE49-F238E27FC236}">
                <a16:creationId xmlns:a16="http://schemas.microsoft.com/office/drawing/2014/main" id="{625E5EBB-5E59-1F70-D065-8563E74742C3}"/>
              </a:ext>
            </a:extLst>
          </p:cNvPr>
          <p:cNvGraphicFramePr/>
          <p:nvPr/>
        </p:nvGraphicFramePr>
        <p:xfrm>
          <a:off x="5182908" y="642639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DBF3756C-E382-D591-9698-2313D86DCFF4}"/>
              </a:ext>
            </a:extLst>
          </p:cNvPr>
          <p:cNvSpPr/>
          <p:nvPr/>
        </p:nvSpPr>
        <p:spPr>
          <a:xfrm>
            <a:off x="0" y="-1"/>
            <a:ext cx="5353869" cy="6866313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C24332-E958-7C44-485A-7D07A7059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98" y="642639"/>
            <a:ext cx="5008340" cy="40753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/>
            <a:r>
              <a:rPr lang="en-US" sz="4000" b="0" kern="1200">
                <a:solidFill>
                  <a:schemeClr val="bg1"/>
                </a:solidFill>
              </a:rPr>
              <a:t>COMMUNITY BASED SALES STRATEGY</a:t>
            </a:r>
          </a:p>
        </p:txBody>
      </p:sp>
      <p:pic>
        <p:nvPicPr>
          <p:cNvPr id="7" name="Picture 6" descr="A group of people sitting around a table">
            <a:extLst>
              <a:ext uri="{FF2B5EF4-FFF2-40B4-BE49-F238E27FC236}">
                <a16:creationId xmlns:a16="http://schemas.microsoft.com/office/drawing/2014/main" id="{63226C7D-D0B4-2995-A02F-196790FEB331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70000"/>
          </a:blip>
          <a:stretch>
            <a:fillRect/>
          </a:stretch>
        </p:blipFill>
        <p:spPr>
          <a:xfrm>
            <a:off x="306146" y="3783400"/>
            <a:ext cx="4741575" cy="3099539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A77D0155-7268-19B0-16F3-D1A5F007068B}"/>
              </a:ext>
            </a:extLst>
          </p:cNvPr>
          <p:cNvSpPr txBox="1">
            <a:spLocks/>
          </p:cNvSpPr>
          <p:nvPr/>
        </p:nvSpPr>
        <p:spPr>
          <a:xfrm>
            <a:off x="9237951" y="6480704"/>
            <a:ext cx="2743200" cy="2503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AFC719D-C4A7-4544-876E-D411D11AF6C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495242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Single Corner Rounded 2">
            <a:extLst>
              <a:ext uri="{FF2B5EF4-FFF2-40B4-BE49-F238E27FC236}">
                <a16:creationId xmlns:a16="http://schemas.microsoft.com/office/drawing/2014/main" id="{0E0827A4-8831-4F72-BCCA-ED2FC12E6729}"/>
              </a:ext>
            </a:extLst>
          </p:cNvPr>
          <p:cNvSpPr/>
          <p:nvPr/>
        </p:nvSpPr>
        <p:spPr>
          <a:xfrm flipV="1">
            <a:off x="-12707" y="-2"/>
            <a:ext cx="4787908" cy="5524593"/>
          </a:xfrm>
          <a:prstGeom prst="round1Rect">
            <a:avLst>
              <a:gd name="adj" fmla="val 14176"/>
            </a:avLst>
          </a:prstGeom>
          <a:solidFill>
            <a:srgbClr val="00539F">
              <a:alpha val="93725"/>
            </a:srgbClr>
          </a:solidFill>
          <a:ln>
            <a:solidFill>
              <a:srgbClr val="59CA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25BDB08-48BA-4014-94E1-0CA6432F6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320" y="174481"/>
            <a:ext cx="3839251" cy="943119"/>
          </a:xfrm>
          <a:noFill/>
        </p:spPr>
        <p:txBody>
          <a:bodyPr>
            <a:normAutofit/>
          </a:bodyPr>
          <a:lstStyle/>
          <a:p>
            <a:r>
              <a:rPr lang="en-US" sz="2400" cap="all">
                <a:solidFill>
                  <a:schemeClr val="bg1"/>
                </a:solidFill>
              </a:rPr>
              <a:t>Complete Marketing System</a:t>
            </a:r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ED71BB9D-3705-447C-AA44-226373980B76}"/>
              </a:ext>
            </a:extLst>
          </p:cNvPr>
          <p:cNvSpPr txBox="1"/>
          <p:nvPr/>
        </p:nvSpPr>
        <p:spPr>
          <a:xfrm>
            <a:off x="326132" y="1333409"/>
            <a:ext cx="402907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5" marR="0" lvl="0" indent="-34290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Customized Branding and Messaging</a:t>
            </a:r>
          </a:p>
          <a:p>
            <a:pPr marL="342905" marR="0" lvl="0" indent="-34290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Customized Brochures</a:t>
            </a:r>
          </a:p>
          <a:p>
            <a:pPr marL="342905" marR="0" lvl="0" indent="-34290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Customized Web Site</a:t>
            </a:r>
          </a:p>
          <a:p>
            <a:pPr marL="342905" marR="0" lvl="0" indent="-34290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Targeted Employer Outreach</a:t>
            </a:r>
          </a:p>
          <a:p>
            <a:pPr marL="342905" marR="0" lvl="0" indent="-34290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Sales System (Social Media, Email, Text, etc.)</a:t>
            </a:r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E9CEBAE5-9FB0-92E7-FE3C-8D162366D53C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EB77514-FCC1-8077-FF95-E9A7EC1FC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18" name="Object 1">
            <a:extLst>
              <a:ext uri="{FF2B5EF4-FFF2-40B4-BE49-F238E27FC236}">
                <a16:creationId xmlns:a16="http://schemas.microsoft.com/office/drawing/2014/main" id="{6A650CAB-F194-C039-985A-378659DC9264}"/>
              </a:ext>
            </a:extLst>
          </p:cNvPr>
          <p:cNvSpPr/>
          <p:nvPr/>
        </p:nvSpPr>
        <p:spPr>
          <a:xfrm>
            <a:off x="6260477" y="1869754"/>
            <a:ext cx="4672331" cy="2916602"/>
          </a:xfrm>
          <a:prstGeom prst="rect">
            <a:avLst/>
          </a:prstGeom>
          <a:solidFill>
            <a:srgbClr val="254F96"/>
          </a:solidFill>
        </p:spPr>
        <p:txBody>
          <a:bodyPr/>
          <a:lstStyle/>
          <a:p>
            <a:endParaRPr lang="en-US"/>
          </a:p>
        </p:txBody>
      </p:sp>
      <p:pic>
        <p:nvPicPr>
          <p:cNvPr id="19" name="Object 2">
            <a:extLst>
              <a:ext uri="{FF2B5EF4-FFF2-40B4-BE49-F238E27FC236}">
                <a16:creationId xmlns:a16="http://schemas.microsoft.com/office/drawing/2014/main" id="{A8440E76-55C9-58AD-8FFE-1161A970BB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3017" t="358" r="-3017" b="358"/>
          <a:stretch/>
        </p:blipFill>
        <p:spPr>
          <a:xfrm>
            <a:off x="6260477" y="1869754"/>
            <a:ext cx="4672331" cy="2916602"/>
          </a:xfrm>
          <a:prstGeom prst="rect">
            <a:avLst/>
          </a:prstGeom>
        </p:spPr>
      </p:pic>
      <p:sp>
        <p:nvSpPr>
          <p:cNvPr id="20" name="Object 3">
            <a:extLst>
              <a:ext uri="{FF2B5EF4-FFF2-40B4-BE49-F238E27FC236}">
                <a16:creationId xmlns:a16="http://schemas.microsoft.com/office/drawing/2014/main" id="{8A7EB5CC-EEC2-B5AA-4D5D-3D6555854B7F}"/>
              </a:ext>
            </a:extLst>
          </p:cNvPr>
          <p:cNvSpPr/>
          <p:nvPr/>
        </p:nvSpPr>
        <p:spPr>
          <a:xfrm>
            <a:off x="6260477" y="1869754"/>
            <a:ext cx="4672331" cy="2916602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  <p:pic>
        <p:nvPicPr>
          <p:cNvPr id="21" name="Object 4">
            <a:extLst>
              <a:ext uri="{FF2B5EF4-FFF2-40B4-BE49-F238E27FC236}">
                <a16:creationId xmlns:a16="http://schemas.microsoft.com/office/drawing/2014/main" id="{80FD5046-6F68-9F9C-A2D7-3B2367BB6F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2571" y="1610180"/>
            <a:ext cx="6211749" cy="3637640"/>
          </a:xfrm>
          <a:prstGeom prst="rect">
            <a:avLst/>
          </a:prstGeom>
        </p:spPr>
      </p:pic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2CF3C317-B3D1-8E62-8714-499B495D4470}"/>
              </a:ext>
            </a:extLst>
          </p:cNvPr>
          <p:cNvSpPr txBox="1">
            <a:spLocks/>
          </p:cNvSpPr>
          <p:nvPr/>
        </p:nvSpPr>
        <p:spPr>
          <a:xfrm>
            <a:off x="9237951" y="6334400"/>
            <a:ext cx="2743200" cy="2503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AFC719D-C4A7-4544-876E-D411D11AF6C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1542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elcome to Lehigh Valley Health Network ...">
            <a:extLst>
              <a:ext uri="{FF2B5EF4-FFF2-40B4-BE49-F238E27FC236}">
                <a16:creationId xmlns:a16="http://schemas.microsoft.com/office/drawing/2014/main" id="{D35E0F37-25DB-A6ED-FA0B-749C789F74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1604" y="2216823"/>
            <a:ext cx="3066288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t. Luke's University Health Network's 150th Anniversary">
            <a:extLst>
              <a:ext uri="{FF2B5EF4-FFF2-40B4-BE49-F238E27FC236}">
                <a16:creationId xmlns:a16="http://schemas.microsoft.com/office/drawing/2014/main" id="{81F606B0-F3E0-4A78-98C0-7AA2580C3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48800" y="985158"/>
            <a:ext cx="2266950" cy="1190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02C5E5F-C08F-02C6-5478-0FD5169A64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5384826"/>
              </p:ext>
            </p:extLst>
          </p:nvPr>
        </p:nvGraphicFramePr>
        <p:xfrm>
          <a:off x="311586" y="3139930"/>
          <a:ext cx="2766324" cy="982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162">
                  <a:extLst>
                    <a:ext uri="{9D8B030D-6E8A-4147-A177-3AD203B41FA5}">
                      <a16:colId xmlns:a16="http://schemas.microsoft.com/office/drawing/2014/main" val="1499193583"/>
                    </a:ext>
                  </a:extLst>
                </a:gridCol>
                <a:gridCol w="1383162">
                  <a:extLst>
                    <a:ext uri="{9D8B030D-6E8A-4147-A177-3AD203B41FA5}">
                      <a16:colId xmlns:a16="http://schemas.microsoft.com/office/drawing/2014/main" val="3693673618"/>
                    </a:ext>
                  </a:extLst>
                </a:gridCol>
              </a:tblGrid>
              <a:tr h="251800">
                <a:tc>
                  <a:txBody>
                    <a:bodyPr/>
                    <a:lstStyle/>
                    <a:p>
                      <a:r>
                        <a:rPr lang="en-US" sz="1050">
                          <a:latin typeface="Montserrat" panose="00000500000000000000" pitchFamily="2" charset="0"/>
                        </a:rPr>
                        <a:t>Hospital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Montserrat" panose="00000500000000000000" pitchFamily="2" charset="0"/>
                        </a:rPr>
                        <a:t>Population Within 5 Miles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402759"/>
                  </a:ext>
                </a:extLst>
              </a:tr>
              <a:tr h="251800">
                <a:tc>
                  <a:txBody>
                    <a:bodyPr/>
                    <a:lstStyle/>
                    <a:p>
                      <a:r>
                        <a:rPr lang="en-US" sz="1050">
                          <a:latin typeface="Montserrat" panose="00000500000000000000" pitchFamily="2" charset="0"/>
                        </a:rPr>
                        <a:t>Lehigh Valley Hospital Cedar Crest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F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latin typeface="Montserrat" panose="00000500000000000000" pitchFamily="2" charset="0"/>
                        </a:rPr>
                        <a:t>227,393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F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7800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5DFB184-5687-810D-E027-F824D29970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969368"/>
              </p:ext>
            </p:extLst>
          </p:nvPr>
        </p:nvGraphicFramePr>
        <p:xfrm>
          <a:off x="9199113" y="2198898"/>
          <a:ext cx="2766324" cy="3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632">
                  <a:extLst>
                    <a:ext uri="{9D8B030D-6E8A-4147-A177-3AD203B41FA5}">
                      <a16:colId xmlns:a16="http://schemas.microsoft.com/office/drawing/2014/main" val="1499193583"/>
                    </a:ext>
                  </a:extLst>
                </a:gridCol>
                <a:gridCol w="955692">
                  <a:extLst>
                    <a:ext uri="{9D8B030D-6E8A-4147-A177-3AD203B41FA5}">
                      <a16:colId xmlns:a16="http://schemas.microsoft.com/office/drawing/2014/main" val="3693673618"/>
                    </a:ext>
                  </a:extLst>
                </a:gridCol>
              </a:tblGrid>
              <a:tr h="251800">
                <a:tc>
                  <a:txBody>
                    <a:bodyPr/>
                    <a:lstStyle/>
                    <a:p>
                      <a:pPr algn="l"/>
                      <a:r>
                        <a:rPr lang="en-US" sz="1050">
                          <a:latin typeface="Montserrat" panose="00000500000000000000" pitchFamily="2" charset="0"/>
                        </a:rPr>
                        <a:t>Hospital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Montserrat" panose="00000500000000000000" pitchFamily="2" charset="0"/>
                        </a:rPr>
                        <a:t>Population Within 5 Miles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402759"/>
                  </a:ext>
                </a:extLst>
              </a:tr>
              <a:tr h="2518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kern="1200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St Luke's Hospital - Anderson Campus</a:t>
                      </a:r>
                    </a:p>
                  </a:txBody>
                  <a:tcPr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kern="1200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142,000</a:t>
                      </a:r>
                    </a:p>
                  </a:txBody>
                  <a:tcPr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78004"/>
                  </a:ext>
                </a:extLst>
              </a:tr>
              <a:tr h="2518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kern="1200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St Lukes Upper Bucks Campus</a:t>
                      </a:r>
                    </a:p>
                  </a:txBody>
                  <a:tcPr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kern="1200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46,000</a:t>
                      </a:r>
                    </a:p>
                  </a:txBody>
                  <a:tcPr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4391"/>
                  </a:ext>
                </a:extLst>
              </a:tr>
              <a:tr h="2518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kern="1200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St Luke's Hospital Bethlehem</a:t>
                      </a:r>
                    </a:p>
                  </a:txBody>
                  <a:tcPr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kern="1200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255,000</a:t>
                      </a:r>
                    </a:p>
                  </a:txBody>
                  <a:tcPr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802536"/>
                  </a:ext>
                </a:extLst>
              </a:tr>
              <a:tr h="2518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kern="1200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St Luke's Warren Hospital</a:t>
                      </a:r>
                    </a:p>
                  </a:txBody>
                  <a:tcPr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kern="1200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118,000</a:t>
                      </a:r>
                    </a:p>
                  </a:txBody>
                  <a:tcPr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1464314"/>
                  </a:ext>
                </a:extLst>
              </a:tr>
              <a:tr h="251800">
                <a:tc>
                  <a:txBody>
                    <a:bodyPr/>
                    <a:lstStyle/>
                    <a:p>
                      <a:pPr algn="l"/>
                      <a:r>
                        <a:rPr lang="en-US" sz="1050" kern="1200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St Luke's Hospital - Easton Campus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50" kern="1200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141,000</a:t>
                      </a:r>
                    </a:p>
                    <a:p>
                      <a:pPr algn="r"/>
                      <a:endParaRPr lang="en-US" sz="1050" kern="1200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41400"/>
                  </a:ext>
                </a:extLst>
              </a:tr>
              <a:tr h="251800">
                <a:tc>
                  <a:txBody>
                    <a:bodyPr/>
                    <a:lstStyle/>
                    <a:p>
                      <a:pPr algn="l"/>
                      <a:r>
                        <a:rPr lang="en-US" sz="1050" kern="1200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St. Luke’s Hospital Monroe County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50" kern="1200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48,667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780560"/>
                  </a:ext>
                </a:extLst>
              </a:tr>
              <a:tr h="251800">
                <a:tc>
                  <a:txBody>
                    <a:bodyPr/>
                    <a:lstStyle/>
                    <a:p>
                      <a:pPr algn="l"/>
                      <a:r>
                        <a:rPr lang="en-US" sz="1050" kern="1200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St. Luke’s Hospital Carbon County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50" kern="1200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26,628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5044891"/>
                  </a:ext>
                </a:extLst>
              </a:tr>
              <a:tr h="251800">
                <a:tc>
                  <a:txBody>
                    <a:bodyPr/>
                    <a:lstStyle/>
                    <a:p>
                      <a:pPr algn="l"/>
                      <a:r>
                        <a:rPr lang="en-US" sz="1050" kern="1200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Grand View Hospital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50" kern="1200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70,739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321328"/>
                  </a:ext>
                </a:extLst>
              </a:tr>
            </a:tbl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B7A296EC-ABAC-52BC-9CE3-E14DAA57D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3" y="277460"/>
            <a:ext cx="10652404" cy="109152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800">
                <a:solidFill>
                  <a:srgbClr val="000B2E"/>
                </a:solidFill>
                <a:cs typeface="Arial" panose="020B0604020202020204" pitchFamily="34" charset="0"/>
              </a:rPr>
              <a:t>SLUHN ADVANTAGE:</a:t>
            </a:r>
            <a:br>
              <a:rPr lang="en-US" sz="4000" b="1">
                <a:solidFill>
                  <a:srgbClr val="000B2E"/>
                </a:solidFill>
                <a:cs typeface="Arial" panose="020B0604020202020204" pitchFamily="34" charset="0"/>
              </a:rPr>
            </a:br>
            <a:r>
              <a:rPr lang="en-US" sz="4000" b="1">
                <a:solidFill>
                  <a:srgbClr val="000B2E"/>
                </a:solidFill>
                <a:cs typeface="Arial" panose="020B0604020202020204" pitchFamily="34" charset="0"/>
              </a:rPr>
              <a:t>BEST-IN-AREA </a:t>
            </a:r>
            <a:r>
              <a:rPr lang="en-US" sz="4000" b="1">
                <a:solidFill>
                  <a:srgbClr val="59CAE8"/>
                </a:solidFill>
                <a:cs typeface="Arial" panose="020B0604020202020204" pitchFamily="34" charset="0"/>
              </a:rPr>
              <a:t>PATIENT ACCESS</a:t>
            </a:r>
            <a:endParaRPr lang="en-US" sz="1600" b="1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A1C0BBF-67AE-4FA8-B00B-C8516DF840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67055" y="1825625"/>
            <a:ext cx="4657890" cy="383832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7BF2300-BCE0-7D2D-BF21-CC3ED8F36F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3" name="Freeform 13">
            <a:extLst>
              <a:ext uri="{FF2B5EF4-FFF2-40B4-BE49-F238E27FC236}">
                <a16:creationId xmlns:a16="http://schemas.microsoft.com/office/drawing/2014/main" id="{138B5492-65F4-33E0-A7EA-ACA35D4621FC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F2DFAC13-620D-30EF-A429-BD1FECD6C4CC}"/>
              </a:ext>
            </a:extLst>
          </p:cNvPr>
          <p:cNvSpPr txBox="1">
            <a:spLocks/>
          </p:cNvSpPr>
          <p:nvPr/>
        </p:nvSpPr>
        <p:spPr>
          <a:xfrm>
            <a:off x="9237951" y="6389264"/>
            <a:ext cx="2743200" cy="2503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AFC719D-C4A7-4544-876E-D411D11AF6C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092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E917A82-FACC-9CE3-5CE6-640CE6087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30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t>Key Benefit Administrators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7BEE2C0-9C88-E3B0-3307-08132DDFD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FC719D-C4A7-4544-876E-D411D11AF6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C9963971-9E27-D1D8-44A6-33EAA3782592}"/>
              </a:ext>
            </a:extLst>
          </p:cNvPr>
          <p:cNvSpPr txBox="1"/>
          <p:nvPr/>
        </p:nvSpPr>
        <p:spPr>
          <a:xfrm>
            <a:off x="208757" y="1321415"/>
            <a:ext cx="117379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200" normalizeH="0" baseline="0" noProof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Target Market</a:t>
            </a:r>
            <a:br>
              <a:rPr kumimoji="0" lang="en-US" sz="1600" b="0" i="0" u="none" strike="noStrike" kern="1200" cap="none" spc="2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</a:br>
            <a:r>
              <a:rPr lang="en-US" sz="1600" spc="200">
                <a:solidFill>
                  <a:prstClr val="black"/>
                </a:solidFill>
                <a:latin typeface="Montserrat" panose="00000500000000000000" pitchFamily="2" charset="0"/>
              </a:rPr>
              <a:t>1,500</a:t>
            </a:r>
            <a:r>
              <a:rPr kumimoji="0" lang="en-US" sz="1600" b="0" i="0" u="none" strike="noStrike" kern="1200" cap="none" spc="2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+ Employers       </a:t>
            </a:r>
            <a:r>
              <a:rPr lang="en-US" sz="1600" spc="200">
                <a:solidFill>
                  <a:prstClr val="black"/>
                </a:solidFill>
                <a:latin typeface="Montserrat" panose="00000500000000000000" pitchFamily="2" charset="0"/>
              </a:rPr>
              <a:t>300,000</a:t>
            </a:r>
            <a:r>
              <a:rPr kumimoji="0" lang="en-US" sz="1600" b="0" i="0" u="none" strike="noStrike" kern="1200" cap="none" spc="2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  <a:sym typeface="Wingdings" panose="05000000000000000000" pitchFamily="2" charset="2"/>
              </a:rPr>
              <a:t>+ Employees       </a:t>
            </a:r>
            <a:r>
              <a:rPr lang="en-US" sz="1600" spc="200">
                <a:solidFill>
                  <a:prstClr val="black"/>
                </a:solidFill>
                <a:latin typeface="Montserrat" panose="00000500000000000000" pitchFamily="2" charset="0"/>
                <a:sym typeface="Wingdings" panose="05000000000000000000" pitchFamily="2" charset="2"/>
              </a:rPr>
              <a:t>60</a:t>
            </a:r>
            <a:r>
              <a:rPr kumimoji="0" lang="en-US" sz="1600" b="0" i="0" u="none" strike="noStrike" kern="1200" cap="none" spc="2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  <a:sym typeface="Wingdings" panose="05000000000000000000" pitchFamily="2" charset="2"/>
              </a:rPr>
              <a:t>0,000+ Members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5" name="Arrow: Chevron 8">
            <a:extLst>
              <a:ext uri="{FF2B5EF4-FFF2-40B4-BE49-F238E27FC236}">
                <a16:creationId xmlns:a16="http://schemas.microsoft.com/office/drawing/2014/main" id="{CCED4F75-71FE-39B7-D7A7-16E95303FB5C}"/>
              </a:ext>
            </a:extLst>
          </p:cNvPr>
          <p:cNvSpPr/>
          <p:nvPr/>
        </p:nvSpPr>
        <p:spPr>
          <a:xfrm>
            <a:off x="4333487" y="1656396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6" name="Arrow: Chevron 9">
            <a:extLst>
              <a:ext uri="{FF2B5EF4-FFF2-40B4-BE49-F238E27FC236}">
                <a16:creationId xmlns:a16="http://schemas.microsoft.com/office/drawing/2014/main" id="{340F1AD2-D85A-D177-8D19-AC9B027C53E2}"/>
              </a:ext>
            </a:extLst>
          </p:cNvPr>
          <p:cNvSpPr/>
          <p:nvPr/>
        </p:nvSpPr>
        <p:spPr>
          <a:xfrm>
            <a:off x="7280031" y="1647719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    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12C7A76-8C4C-0C17-C582-24A807F19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572" y="43143"/>
            <a:ext cx="11801383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200" b="0">
                <a:solidFill>
                  <a:srgbClr val="000B2E"/>
                </a:solidFill>
              </a:rPr>
              <a:t>SIGNIFICANT OPPORTUNITY FOR PLAN GROWTH</a:t>
            </a:r>
            <a:br>
              <a:rPr lang="en-US" sz="3200" b="0">
                <a:solidFill>
                  <a:srgbClr val="000B2E"/>
                </a:solidFill>
              </a:rPr>
            </a:br>
            <a:r>
              <a:rPr lang="en-US" sz="2000" b="0">
                <a:solidFill>
                  <a:srgbClr val="000B2E"/>
                </a:solidFill>
              </a:rPr>
              <a:t>RESEARCHED FOR SLUHN SERVICE AREA</a:t>
            </a:r>
            <a:endParaRPr lang="en-US" sz="1400" b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8" name="Table 12">
            <a:extLst>
              <a:ext uri="{FF2B5EF4-FFF2-40B4-BE49-F238E27FC236}">
                <a16:creationId xmlns:a16="http://schemas.microsoft.com/office/drawing/2014/main" id="{B9E0A44D-EDC5-EBD5-4D77-F30FF46B06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7198553"/>
              </p:ext>
            </p:extLst>
          </p:nvPr>
        </p:nvGraphicFramePr>
        <p:xfrm>
          <a:off x="4889297" y="2140949"/>
          <a:ext cx="6949427" cy="3441355"/>
        </p:xfrm>
        <a:graphic>
          <a:graphicData uri="http://schemas.openxmlformats.org/drawingml/2006/table">
            <a:tbl>
              <a:tblPr/>
              <a:tblGrid>
                <a:gridCol w="2681975">
                  <a:extLst>
                    <a:ext uri="{9D8B030D-6E8A-4147-A177-3AD203B41FA5}">
                      <a16:colId xmlns:a16="http://schemas.microsoft.com/office/drawing/2014/main" val="1559488425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447311937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754037008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1458190780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957112869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257020552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699895334"/>
                    </a:ext>
                  </a:extLst>
                </a:gridCol>
              </a:tblGrid>
              <a:tr h="33313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Employer Size Group (# of Employees)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166579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Commercial Employers With Headquarters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961423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956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385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236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119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977521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967609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Total Employees at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000535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Headquartered 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71,700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57,800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70,800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83,300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62,000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126,000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299110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517032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Total Members with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36592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Headquartered 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129,100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104,000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127,400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149,900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111,600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226,800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610804"/>
                  </a:ext>
                </a:extLst>
              </a:tr>
            </a:tbl>
          </a:graphicData>
        </a:graphic>
      </p:graphicFrame>
      <p:pic>
        <p:nvPicPr>
          <p:cNvPr id="12" name="Content Placeholder 8">
            <a:extLst>
              <a:ext uri="{FF2B5EF4-FFF2-40B4-BE49-F238E27FC236}">
                <a16:creationId xmlns:a16="http://schemas.microsoft.com/office/drawing/2014/main" id="{524C7D14-52E4-B7DB-6669-F15D41943A28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722376" y="1752255"/>
            <a:ext cx="6096000" cy="4876800"/>
          </a:xfrm>
          <a:prstGeom prst="rect">
            <a:avLst/>
          </a:prstGeom>
        </p:spPr>
      </p:pic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2A2AAD4A-34FE-3645-2A38-6434D45BD272}"/>
              </a:ext>
            </a:extLst>
          </p:cNvPr>
          <p:cNvSpPr txBox="1">
            <a:spLocks/>
          </p:cNvSpPr>
          <p:nvPr/>
        </p:nvSpPr>
        <p:spPr>
          <a:xfrm>
            <a:off x="494220" y="6429672"/>
            <a:ext cx="2743200" cy="25038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AFC719D-C4A7-4544-876E-D411D11AF6C9}" type="slidenum">
              <a:rPr lang="en-US" sz="120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</a:t>
            </a:fld>
            <a:endParaRPr lang="en-US" sz="120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0060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2">
            <a:extLst>
              <a:ext uri="{FF2B5EF4-FFF2-40B4-BE49-F238E27FC236}">
                <a16:creationId xmlns:a16="http://schemas.microsoft.com/office/drawing/2014/main" id="{E799F91A-3FD1-47AB-858A-263DC729BC42}"/>
              </a:ext>
            </a:extLst>
          </p:cNvPr>
          <p:cNvSpPr txBox="1"/>
          <p:nvPr/>
        </p:nvSpPr>
        <p:spPr>
          <a:xfrm>
            <a:off x="8875836" y="1534170"/>
            <a:ext cx="2868171" cy="31085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/>
                <a:effectLst/>
                <a:uLnTx/>
                <a:uFillTx/>
                <a:latin typeface="Montserrat"/>
              </a:rPr>
              <a:t>KBA currently estimates that Saint Luke's University Health Network has 39% inpatient market share, and 24% outpatient market compared to hospitals/clinics within eight (8) miles of the SLUHN service area.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/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/>
                <a:effectLst/>
                <a:uLnTx/>
                <a:uFillTx/>
                <a:latin typeface="Montserrat"/>
              </a:rPr>
              <a:t>KBA </a:t>
            </a:r>
            <a:r>
              <a:rPr kumimoji="0" lang="en-US" sz="1400" b="0" i="0" u="sng" strike="noStrike" kern="1200" cap="none" spc="0" normalizeH="0" baseline="0" noProof="0" dirty="0">
                <a:ln>
                  <a:noFill/>
                </a:ln>
                <a:solidFill/>
                <a:effectLst/>
                <a:uLnTx/>
                <a:uFillTx/>
                <a:latin typeface="Montserrat"/>
              </a:rPr>
              <a:t>very conservatively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/>
                <a:effectLst/>
                <a:uLnTx/>
                <a:uFillTx/>
                <a:latin typeface="Montserrat"/>
              </a:rPr>
              <a:t>projects this steerage to allow for other partners to be included in the tier 1 level if SLUHN decides.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4D239FC-1B6B-6AA2-8CF4-348DACF0B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-184997"/>
            <a:ext cx="11087100" cy="1325563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PROJECTED PLAN GROWTH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DFC915-3691-06AE-0E19-116ADE493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10" name="Freeform 13">
            <a:extLst>
              <a:ext uri="{FF2B5EF4-FFF2-40B4-BE49-F238E27FC236}">
                <a16:creationId xmlns:a16="http://schemas.microsoft.com/office/drawing/2014/main" id="{B679F8A2-7A89-065C-01E4-7D2603B214F6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25B2EFD-7FD8-EAD0-DD6A-7C8F94E3AA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758563"/>
              </p:ext>
            </p:extLst>
          </p:nvPr>
        </p:nvGraphicFramePr>
        <p:xfrm>
          <a:off x="447993" y="1065876"/>
          <a:ext cx="7920150" cy="5074920"/>
        </p:xfrm>
        <a:graphic>
          <a:graphicData uri="http://schemas.openxmlformats.org/drawingml/2006/table">
            <a:tbl>
              <a:tblPr/>
              <a:tblGrid>
                <a:gridCol w="1584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4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40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Year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Employees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Members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Percent of Members Choosing SLUHN for Inpatient Care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Percent of Members Choosing SLUHN for Outpatient Care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1,600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2,900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65%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55%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3,100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5,600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65%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55%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5,200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9,400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7,800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14,000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71%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63%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11,000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19,800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71%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64%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15,100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27,200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64%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20,000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36,000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65%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8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25,700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46,300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65%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9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32,200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58,000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66%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39,100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70,400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66%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11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46,300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83,300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73%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12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53,300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95,900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73%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13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59,800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107,600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73%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68%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14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65,600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118,100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73%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68%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15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70,600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127,100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74%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69%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16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74,600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134,300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74%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69%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17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77,900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140,200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74%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69%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18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80,300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144,500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74%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19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82,200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148,000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74%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20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83,600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150,500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74%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1985E4D0-FF41-952D-901D-871C3E825130}"/>
              </a:ext>
            </a:extLst>
          </p:cNvPr>
          <p:cNvSpPr txBox="1">
            <a:spLocks/>
          </p:cNvSpPr>
          <p:nvPr/>
        </p:nvSpPr>
        <p:spPr>
          <a:xfrm>
            <a:off x="9237951" y="6389264"/>
            <a:ext cx="2743200" cy="2503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AFC719D-C4A7-4544-876E-D411D11AF6C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1724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6C56B-4E06-ACF4-CB9D-57C5C7044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F31B421-803D-783C-996A-705B35C3EB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984206"/>
              </p:ext>
            </p:extLst>
          </p:nvPr>
        </p:nvGraphicFramePr>
        <p:xfrm>
          <a:off x="295590" y="1901241"/>
          <a:ext cx="6491797" cy="2418080"/>
        </p:xfrm>
        <a:graphic>
          <a:graphicData uri="http://schemas.openxmlformats.org/drawingml/2006/table">
            <a:tbl>
              <a:tblPr/>
              <a:tblGrid>
                <a:gridCol w="2163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5573">
                  <a:extLst>
                    <a:ext uri="{9D8B030D-6E8A-4147-A177-3AD203B41FA5}">
                      <a16:colId xmlns:a16="http://schemas.microsoft.com/office/drawing/2014/main" val="2800855739"/>
                    </a:ext>
                  </a:extLst>
                </a:gridCol>
                <a:gridCol w="865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55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55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55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6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2025</a:t>
                      </a:r>
                      <a:endParaRPr sz="1100" b="1" i="0" u="none" cap="none" dirty="0">
                        <a:solidFill>
                          <a:srgbClr val="000000">
                            <a:alpha val="100000"/>
                          </a:srgbClr>
                        </a:solidFill>
                        <a:latin typeface="Montserrat" panose="00000500000000000000" pitchFamily="2" charset="0"/>
                        <a:cs typeface="Arial"/>
                        <a:sym typeface="Arial"/>
                      </a:endParaRP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2026</a:t>
                      </a:r>
                      <a:endParaRPr sz="1100" b="1" i="0" u="none" cap="none" dirty="0">
                        <a:solidFill>
                          <a:srgbClr val="000000">
                            <a:alpha val="100000"/>
                          </a:srgbClr>
                        </a:solidFill>
                        <a:latin typeface="Montserrat" panose="00000500000000000000" pitchFamily="2" charset="0"/>
                        <a:cs typeface="Arial"/>
                        <a:sym typeface="Arial"/>
                      </a:endParaRP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2027</a:t>
                      </a:r>
                      <a:endParaRPr sz="1100" b="1" i="0" u="none" cap="none" dirty="0">
                        <a:solidFill>
                          <a:srgbClr val="000000">
                            <a:alpha val="100000"/>
                          </a:srgbClr>
                        </a:solidFill>
                        <a:latin typeface="Montserrat" panose="00000500000000000000" pitchFamily="2" charset="0"/>
                        <a:cs typeface="Arial"/>
                        <a:sym typeface="Arial"/>
                      </a:endParaRP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2028</a:t>
                      </a:r>
                      <a:endParaRPr sz="1100" b="1" i="0" u="none" cap="none" dirty="0">
                        <a:solidFill>
                          <a:srgbClr val="000000">
                            <a:alpha val="100000"/>
                          </a:srgbClr>
                        </a:solidFill>
                        <a:latin typeface="Montserrat" panose="00000500000000000000" pitchFamily="2" charset="0"/>
                        <a:cs typeface="Arial"/>
                        <a:sym typeface="Arial"/>
                      </a:endParaRP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2029</a:t>
                      </a:r>
                      <a:endParaRPr sz="1100" b="1" i="0" u="none" cap="none" dirty="0">
                        <a:solidFill>
                          <a:srgbClr val="000000">
                            <a:alpha val="100000"/>
                          </a:srgbClr>
                        </a:solidFill>
                        <a:latin typeface="Montserrat" panose="00000500000000000000" pitchFamily="2" charset="0"/>
                        <a:cs typeface="Arial"/>
                        <a:sym typeface="Arial"/>
                      </a:endParaRP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0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0</a:t>
                      </a:r>
                      <a:endParaRPr sz="1000" b="0" i="0" u="none" cap="none" dirty="0">
                        <a:solidFill>
                          <a:srgbClr val="000000">
                            <a:alpha val="100000"/>
                          </a:srgbClr>
                        </a:solidFill>
                        <a:latin typeface="Montserrat" panose="00000500000000000000" pitchFamily="2" charset="0"/>
                        <a:cs typeface="Arial"/>
                        <a:sym typeface="Arial"/>
                      </a:endParaRP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2,800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5,600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9,300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14,000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0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0</a:t>
                      </a:r>
                      <a:endParaRPr sz="1000" b="0" i="0" u="none" cap="none" dirty="0">
                        <a:solidFill>
                          <a:srgbClr val="000000">
                            <a:alpha val="100000"/>
                          </a:srgbClr>
                        </a:solidFill>
                        <a:latin typeface="Montserrat" panose="00000500000000000000" pitchFamily="2" charset="0"/>
                        <a:cs typeface="Arial"/>
                        <a:sym typeface="Arial"/>
                      </a:endParaRP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4,687.4K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9,369.0K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18,093.8K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29,178.1K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Network Access Fee</a:t>
                      </a:r>
                      <a:r>
                        <a:rPr lang="en-US" sz="10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 ($1 PMPM)</a:t>
                      </a:r>
                      <a:endParaRPr sz="1000" b="0" i="0" u="none" cap="none" dirty="0">
                        <a:solidFill>
                          <a:srgbClr val="000000">
                            <a:alpha val="100000"/>
                          </a:srgbClr>
                        </a:solidFill>
                        <a:latin typeface="Montserrat" panose="00000500000000000000" pitchFamily="2" charset="0"/>
                        <a:cs typeface="Arial"/>
                        <a:sym typeface="Arial"/>
                      </a:endParaRP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0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0</a:t>
                      </a:r>
                      <a:endParaRPr sz="1000" b="0" i="0" u="none" cap="none" dirty="0">
                        <a:solidFill>
                          <a:srgbClr val="000000">
                            <a:alpha val="100000"/>
                          </a:srgbClr>
                        </a:solidFill>
                        <a:latin typeface="Montserrat" panose="00000500000000000000" pitchFamily="2" charset="0"/>
                        <a:cs typeface="Arial"/>
                        <a:sym typeface="Arial"/>
                      </a:endParaRP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33.6K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67.2K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111.6K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168.0K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 dirty="0">
                          <a:solidFill>
                            <a:srgbClr val="00539F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 dirty="0">
                          <a:solidFill>
                            <a:srgbClr val="00539F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000" b="0" i="0" u="none" cap="none" dirty="0">
                          <a:solidFill>
                            <a:srgbClr val="00539F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0</a:t>
                      </a:r>
                      <a:endParaRPr sz="1000" b="0" i="0" u="none" cap="none" dirty="0">
                        <a:solidFill>
                          <a:srgbClr val="00539F"/>
                        </a:solidFill>
                        <a:latin typeface="Montserrat" panose="00000500000000000000" pitchFamily="2" charset="0"/>
                        <a:cs typeface="Arial"/>
                        <a:sym typeface="Arial"/>
                      </a:endParaRP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 dirty="0">
                          <a:solidFill>
                            <a:srgbClr val="00539F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 dirty="0">
                          <a:solidFill>
                            <a:srgbClr val="00539F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 dirty="0">
                          <a:solidFill>
                            <a:srgbClr val="00539F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539F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 dirty="0">
                          <a:solidFill>
                            <a:srgbClr val="00539F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 dirty="0">
                          <a:solidFill>
                            <a:srgbClr val="00539F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 dirty="0">
                          <a:solidFill>
                            <a:srgbClr val="00539F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 dirty="0">
                          <a:solidFill>
                            <a:srgbClr val="00539F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 dirty="0">
                          <a:solidFill>
                            <a:srgbClr val="00539F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0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-330K</a:t>
                      </a:r>
                      <a:endParaRPr sz="1000" b="1" i="0" u="none" cap="none" dirty="0">
                        <a:solidFill>
                          <a:srgbClr val="000000">
                            <a:alpha val="100000"/>
                          </a:srgbClr>
                        </a:solidFill>
                        <a:latin typeface="Montserrat" panose="00000500000000000000" pitchFamily="2" charset="0"/>
                        <a:cs typeface="Arial"/>
                        <a:sym typeface="Arial"/>
                      </a:endParaRP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4,</a:t>
                      </a:r>
                      <a:r>
                        <a:rPr lang="en-US" sz="10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54</a:t>
                      </a:r>
                      <a:r>
                        <a:rPr sz="10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1.0K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9,256.2K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18,025.4K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29,166.1K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2749AB45-407B-FB06-5620-6D1765BA5AB4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52944" y="254646"/>
            <a:ext cx="4144836" cy="6300216"/>
          </a:xfrm>
          <a:prstGeom prst="rect">
            <a:avLst/>
          </a:prstGeom>
        </p:spPr>
      </p:pic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4471136D-EC89-6AE2-76B2-A35C8453029C}"/>
              </a:ext>
            </a:extLst>
          </p:cNvPr>
          <p:cNvSpPr txBox="1">
            <a:spLocks/>
          </p:cNvSpPr>
          <p:nvPr/>
        </p:nvSpPr>
        <p:spPr>
          <a:xfrm>
            <a:off x="494220" y="6429672"/>
            <a:ext cx="2743200" cy="25038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AFC719D-C4A7-4544-876E-D411D11AF6C9}" type="slidenum">
              <a:rPr lang="en-US" sz="120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</a:t>
            </a:fld>
            <a:endParaRPr lang="en-US" sz="12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853B71-D53C-FD0C-7012-58A67744D6EF}"/>
              </a:ext>
            </a:extLst>
          </p:cNvPr>
          <p:cNvSpPr txBox="1"/>
          <p:nvPr/>
        </p:nvSpPr>
        <p:spPr>
          <a:xfrm>
            <a:off x="891507" y="4637986"/>
            <a:ext cx="56083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539F"/>
                </a:solidFill>
              </a:rPr>
              <a:t>Direct Costs to SLUHN: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539F"/>
                </a:solidFill>
              </a:rPr>
              <a:t>Set-up fee of 150K (first year only)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539F"/>
                </a:solidFill>
              </a:rPr>
              <a:t>Sales and marketing fee of 180K (yearly)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9D73D4-DF7A-1733-EAB6-C892ED874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9" name="Freeform 13">
            <a:extLst>
              <a:ext uri="{FF2B5EF4-FFF2-40B4-BE49-F238E27FC236}">
                <a16:creationId xmlns:a16="http://schemas.microsoft.com/office/drawing/2014/main" id="{D58E6247-6A5E-B675-2C5C-0C3412331DEF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BABF3D5-B649-173E-B868-E39F6A30E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90" y="309601"/>
            <a:ext cx="7047042" cy="979057"/>
          </a:xfrm>
        </p:spPr>
        <p:txBody>
          <a:bodyPr>
            <a:normAutofit fontScale="90000"/>
          </a:bodyPr>
          <a:lstStyle/>
          <a:p>
            <a:r>
              <a:rPr lang="en-US" sz="3200" b="0" dirty="0"/>
              <a:t>Direct Costs and Anticipated ROI </a:t>
            </a:r>
            <a:br>
              <a:rPr lang="en-US" sz="3200" b="0" dirty="0"/>
            </a:br>
            <a:r>
              <a:rPr lang="en-US" sz="3200" b="0" dirty="0"/>
              <a:t>Through 2029</a:t>
            </a:r>
          </a:p>
        </p:txBody>
      </p:sp>
    </p:spTree>
    <p:extLst>
      <p:ext uri="{BB962C8B-B14F-4D97-AF65-F5344CB8AC3E}">
        <p14:creationId xmlns:p14="http://schemas.microsoft.com/office/powerpoint/2010/main" val="2673992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03588DF-56D9-837C-AA1C-128F048C4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90" y="144962"/>
            <a:ext cx="11431354" cy="979057"/>
          </a:xfrm>
        </p:spPr>
        <p:txBody>
          <a:bodyPr>
            <a:normAutofit/>
          </a:bodyPr>
          <a:lstStyle/>
          <a:p>
            <a:r>
              <a:rPr lang="en-US" sz="3200" b="0" dirty="0"/>
              <a:t>GROWING POWERFUL, LASTING PROFITABILITY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2553811-692C-2C40-6705-BD09D8EBC5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27" name="Freeform 13">
            <a:extLst>
              <a:ext uri="{FF2B5EF4-FFF2-40B4-BE49-F238E27FC236}">
                <a16:creationId xmlns:a16="http://schemas.microsoft.com/office/drawing/2014/main" id="{E4DF244E-6669-0458-66C1-F88A39CC9FA7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72F86F35-FDA3-8BE2-FA18-F403FDF74B3A}"/>
              </a:ext>
            </a:extLst>
          </p:cNvPr>
          <p:cNvSpPr/>
          <p:nvPr/>
        </p:nvSpPr>
        <p:spPr>
          <a:xfrm>
            <a:off x="5010710" y="1720414"/>
            <a:ext cx="1914733" cy="4119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D3A129A3-EEFD-8A80-B466-8D2154939405}"/>
              </a:ext>
            </a:extLst>
          </p:cNvPr>
          <p:cNvSpPr/>
          <p:nvPr/>
        </p:nvSpPr>
        <p:spPr>
          <a:xfrm>
            <a:off x="6925443" y="1720412"/>
            <a:ext cx="1914733" cy="4119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12">
            <a:extLst>
              <a:ext uri="{FF2B5EF4-FFF2-40B4-BE49-F238E27FC236}">
                <a16:creationId xmlns:a16="http://schemas.microsoft.com/office/drawing/2014/main" id="{5D3C2A3F-E70A-790C-9633-8423E8CFAB9D}"/>
              </a:ext>
            </a:extLst>
          </p:cNvPr>
          <p:cNvSpPr/>
          <p:nvPr/>
        </p:nvSpPr>
        <p:spPr>
          <a:xfrm>
            <a:off x="8840177" y="1720411"/>
            <a:ext cx="1914732" cy="4119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13">
            <a:extLst>
              <a:ext uri="{FF2B5EF4-FFF2-40B4-BE49-F238E27FC236}">
                <a16:creationId xmlns:a16="http://schemas.microsoft.com/office/drawing/2014/main" id="{9CD9D6A7-5124-E7A2-2669-8C56D69D31E1}"/>
              </a:ext>
            </a:extLst>
          </p:cNvPr>
          <p:cNvSpPr txBox="1"/>
          <p:nvPr/>
        </p:nvSpPr>
        <p:spPr>
          <a:xfrm>
            <a:off x="1181963" y="1488375"/>
            <a:ext cx="2568332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>
                <a:solidFill>
                  <a:srgbClr val="6087CE"/>
                </a:solidFill>
              </a:rPr>
              <a:t>Early Stage</a:t>
            </a:r>
          </a:p>
          <a:p>
            <a:pPr algn="ctr"/>
            <a:r>
              <a:rPr lang="en-US" sz="1100">
                <a:solidFill>
                  <a:srgbClr val="6087CE"/>
                </a:solidFill>
              </a:rPr>
              <a:t>Gaining Name Recognition, Early Growth</a:t>
            </a:r>
          </a:p>
        </p:txBody>
      </p:sp>
      <p:sp>
        <p:nvSpPr>
          <p:cNvPr id="30" name="TextBox 6">
            <a:extLst>
              <a:ext uri="{FF2B5EF4-FFF2-40B4-BE49-F238E27FC236}">
                <a16:creationId xmlns:a16="http://schemas.microsoft.com/office/drawing/2014/main" id="{E8032F9F-BC56-5E51-C846-154C8342817C}"/>
              </a:ext>
            </a:extLst>
          </p:cNvPr>
          <p:cNvSpPr txBox="1"/>
          <p:nvPr/>
        </p:nvSpPr>
        <p:spPr>
          <a:xfrm>
            <a:off x="744819" y="2145301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>
                <a:solidFill>
                  <a:srgbClr val="6087CE"/>
                </a:solidFill>
              </a:rPr>
              <a:t>New Revenue:</a:t>
            </a:r>
          </a:p>
        </p:txBody>
      </p:sp>
      <p:sp>
        <p:nvSpPr>
          <p:cNvPr id="31" name="TextBox 7">
            <a:extLst>
              <a:ext uri="{FF2B5EF4-FFF2-40B4-BE49-F238E27FC236}">
                <a16:creationId xmlns:a16="http://schemas.microsoft.com/office/drawing/2014/main" id="{1340B2FD-9906-57EB-9B08-81E1DC7562B6}"/>
              </a:ext>
            </a:extLst>
          </p:cNvPr>
          <p:cNvSpPr txBox="1"/>
          <p:nvPr/>
        </p:nvSpPr>
        <p:spPr>
          <a:xfrm>
            <a:off x="2829043" y="2145301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>
                <a:solidFill>
                  <a:srgbClr val="6087CE"/>
                </a:solidFill>
              </a:rPr>
              <a:t>New Profit:</a:t>
            </a:r>
          </a:p>
        </p:txBody>
      </p:sp>
      <p:sp>
        <p:nvSpPr>
          <p:cNvPr id="32" name="TextBox 9">
            <a:extLst>
              <a:ext uri="{FF2B5EF4-FFF2-40B4-BE49-F238E27FC236}">
                <a16:creationId xmlns:a16="http://schemas.microsoft.com/office/drawing/2014/main" id="{F61998E4-A091-9A02-A06F-1661F6FCECE6}"/>
              </a:ext>
            </a:extLst>
          </p:cNvPr>
          <p:cNvSpPr txBox="1"/>
          <p:nvPr/>
        </p:nvSpPr>
        <p:spPr>
          <a:xfrm>
            <a:off x="738534" y="239102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solidFill>
                  <a:srgbClr val="6087CE"/>
                </a:solidFill>
              </a:rPr>
              <a:t>$35.58M</a:t>
            </a:r>
            <a:endParaRPr lang="en-US" sz="2000"/>
          </a:p>
        </p:txBody>
      </p:sp>
      <p:sp>
        <p:nvSpPr>
          <p:cNvPr id="33" name="TextBox 14">
            <a:extLst>
              <a:ext uri="{FF2B5EF4-FFF2-40B4-BE49-F238E27FC236}">
                <a16:creationId xmlns:a16="http://schemas.microsoft.com/office/drawing/2014/main" id="{8F16AF3A-6121-23ED-A817-28C68DDDAA71}"/>
              </a:ext>
            </a:extLst>
          </p:cNvPr>
          <p:cNvSpPr txBox="1"/>
          <p:nvPr/>
        </p:nvSpPr>
        <p:spPr>
          <a:xfrm>
            <a:off x="2532083" y="239102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solidFill>
                  <a:srgbClr val="6087CE"/>
                </a:solidFill>
              </a:rPr>
              <a:t>$9.19M</a:t>
            </a:r>
            <a:endParaRPr lang="en-US" sz="2000"/>
          </a:p>
        </p:txBody>
      </p:sp>
      <p:sp>
        <p:nvSpPr>
          <p:cNvPr id="34" name="TextBox 15">
            <a:extLst>
              <a:ext uri="{FF2B5EF4-FFF2-40B4-BE49-F238E27FC236}">
                <a16:creationId xmlns:a16="http://schemas.microsoft.com/office/drawing/2014/main" id="{FAD97482-04D6-027F-DABE-EA7C8162A31D}"/>
              </a:ext>
            </a:extLst>
          </p:cNvPr>
          <p:cNvSpPr txBox="1"/>
          <p:nvPr/>
        </p:nvSpPr>
        <p:spPr>
          <a:xfrm>
            <a:off x="1390964" y="3002791"/>
            <a:ext cx="2132315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>
                <a:solidFill>
                  <a:srgbClr val="2F5597"/>
                </a:solidFill>
              </a:rPr>
              <a:t>Growth Stage</a:t>
            </a:r>
          </a:p>
          <a:p>
            <a:pPr algn="ctr"/>
            <a:r>
              <a:rPr lang="en-US" sz="1100">
                <a:solidFill>
                  <a:srgbClr val="2F5597"/>
                </a:solidFill>
              </a:rPr>
              <a:t>Strong Reputation, Strong Growth</a:t>
            </a:r>
          </a:p>
        </p:txBody>
      </p:sp>
      <p:sp>
        <p:nvSpPr>
          <p:cNvPr id="35" name="TextBox 16">
            <a:extLst>
              <a:ext uri="{FF2B5EF4-FFF2-40B4-BE49-F238E27FC236}">
                <a16:creationId xmlns:a16="http://schemas.microsoft.com/office/drawing/2014/main" id="{C3D00C6E-81A6-E254-098F-CC3B7A7827FA}"/>
              </a:ext>
            </a:extLst>
          </p:cNvPr>
          <p:cNvSpPr txBox="1"/>
          <p:nvPr/>
        </p:nvSpPr>
        <p:spPr>
          <a:xfrm>
            <a:off x="735810" y="3659717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>
                <a:solidFill>
                  <a:srgbClr val="2F5597"/>
                </a:solidFill>
              </a:rPr>
              <a:t>New Revenue:</a:t>
            </a:r>
          </a:p>
        </p:txBody>
      </p:sp>
      <p:sp>
        <p:nvSpPr>
          <p:cNvPr id="36" name="TextBox 17">
            <a:extLst>
              <a:ext uri="{FF2B5EF4-FFF2-40B4-BE49-F238E27FC236}">
                <a16:creationId xmlns:a16="http://schemas.microsoft.com/office/drawing/2014/main" id="{928DDA6A-8FEF-13B2-74A3-8C8AE212B792}"/>
              </a:ext>
            </a:extLst>
          </p:cNvPr>
          <p:cNvSpPr txBox="1"/>
          <p:nvPr/>
        </p:nvSpPr>
        <p:spPr>
          <a:xfrm>
            <a:off x="2820034" y="3659717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>
                <a:solidFill>
                  <a:srgbClr val="2F5597"/>
                </a:solidFill>
              </a:rPr>
              <a:t>New Profit:</a:t>
            </a:r>
          </a:p>
        </p:txBody>
      </p:sp>
      <p:sp>
        <p:nvSpPr>
          <p:cNvPr id="37" name="TextBox 20">
            <a:extLst>
              <a:ext uri="{FF2B5EF4-FFF2-40B4-BE49-F238E27FC236}">
                <a16:creationId xmlns:a16="http://schemas.microsoft.com/office/drawing/2014/main" id="{1609746C-CB0E-F9B1-11BB-0AAAC7F98B3C}"/>
              </a:ext>
            </a:extLst>
          </p:cNvPr>
          <p:cNvSpPr txBox="1"/>
          <p:nvPr/>
        </p:nvSpPr>
        <p:spPr>
          <a:xfrm>
            <a:off x="729525" y="3905442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solidFill>
                  <a:srgbClr val="2F5597"/>
                </a:solidFill>
              </a:rPr>
              <a:t>$211.65M</a:t>
            </a:r>
            <a:endParaRPr lang="en-US" sz="2000">
              <a:solidFill>
                <a:srgbClr val="2F5597"/>
              </a:solidFill>
            </a:endParaRPr>
          </a:p>
        </p:txBody>
      </p:sp>
      <p:sp>
        <p:nvSpPr>
          <p:cNvPr id="38" name="TextBox 21">
            <a:extLst>
              <a:ext uri="{FF2B5EF4-FFF2-40B4-BE49-F238E27FC236}">
                <a16:creationId xmlns:a16="http://schemas.microsoft.com/office/drawing/2014/main" id="{0642934E-B4B9-E1C2-23A6-05834596C6B0}"/>
              </a:ext>
            </a:extLst>
          </p:cNvPr>
          <p:cNvSpPr txBox="1"/>
          <p:nvPr/>
        </p:nvSpPr>
        <p:spPr>
          <a:xfrm>
            <a:off x="2523074" y="3905442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solidFill>
                  <a:srgbClr val="2F5597"/>
                </a:solidFill>
              </a:rPr>
              <a:t>$55.59M</a:t>
            </a:r>
            <a:endParaRPr lang="en-US" sz="2000">
              <a:solidFill>
                <a:srgbClr val="2F5597"/>
              </a:solidFill>
            </a:endParaRPr>
          </a:p>
        </p:txBody>
      </p:sp>
      <p:sp>
        <p:nvSpPr>
          <p:cNvPr id="39" name="TextBox 22">
            <a:extLst>
              <a:ext uri="{FF2B5EF4-FFF2-40B4-BE49-F238E27FC236}">
                <a16:creationId xmlns:a16="http://schemas.microsoft.com/office/drawing/2014/main" id="{6532EFC0-F3D1-25E9-D319-CC4178BE4D19}"/>
              </a:ext>
            </a:extLst>
          </p:cNvPr>
          <p:cNvSpPr txBox="1"/>
          <p:nvPr/>
        </p:nvSpPr>
        <p:spPr>
          <a:xfrm>
            <a:off x="1339058" y="4623358"/>
            <a:ext cx="22541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>
                <a:solidFill>
                  <a:srgbClr val="2F5597"/>
                </a:solidFill>
              </a:rPr>
              <a:t>Mature Stage</a:t>
            </a:r>
          </a:p>
          <a:p>
            <a:pPr algn="ctr"/>
            <a:r>
              <a:rPr lang="en-US" sz="1100">
                <a:solidFill>
                  <a:srgbClr val="2F5597"/>
                </a:solidFill>
              </a:rPr>
              <a:t>High Profitability, Market Saturation</a:t>
            </a:r>
          </a:p>
        </p:txBody>
      </p:sp>
      <p:sp>
        <p:nvSpPr>
          <p:cNvPr id="40" name="TextBox 23">
            <a:extLst>
              <a:ext uri="{FF2B5EF4-FFF2-40B4-BE49-F238E27FC236}">
                <a16:creationId xmlns:a16="http://schemas.microsoft.com/office/drawing/2014/main" id="{30A9F413-ED0D-E9AB-8054-F5810DE9B2BE}"/>
              </a:ext>
            </a:extLst>
          </p:cNvPr>
          <p:cNvSpPr txBox="1"/>
          <p:nvPr/>
        </p:nvSpPr>
        <p:spPr>
          <a:xfrm>
            <a:off x="744819" y="5280284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>
                <a:solidFill>
                  <a:srgbClr val="2F5597"/>
                </a:solidFill>
              </a:rPr>
              <a:t>New Revenue:</a:t>
            </a:r>
          </a:p>
        </p:txBody>
      </p:sp>
      <p:sp>
        <p:nvSpPr>
          <p:cNvPr id="41" name="TextBox 24">
            <a:extLst>
              <a:ext uri="{FF2B5EF4-FFF2-40B4-BE49-F238E27FC236}">
                <a16:creationId xmlns:a16="http://schemas.microsoft.com/office/drawing/2014/main" id="{3C9C61C2-4527-A00B-FEA1-07EEB8D2156D}"/>
              </a:ext>
            </a:extLst>
          </p:cNvPr>
          <p:cNvSpPr txBox="1"/>
          <p:nvPr/>
        </p:nvSpPr>
        <p:spPr>
          <a:xfrm>
            <a:off x="2829043" y="5280284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>
                <a:solidFill>
                  <a:srgbClr val="2F5597"/>
                </a:solidFill>
              </a:rPr>
              <a:t>New Profit:</a:t>
            </a:r>
          </a:p>
        </p:txBody>
      </p:sp>
      <p:sp>
        <p:nvSpPr>
          <p:cNvPr id="42" name="TextBox 25">
            <a:extLst>
              <a:ext uri="{FF2B5EF4-FFF2-40B4-BE49-F238E27FC236}">
                <a16:creationId xmlns:a16="http://schemas.microsoft.com/office/drawing/2014/main" id="{708E5B65-A8FC-320C-D0DF-CFD5CEA7FD9A}"/>
              </a:ext>
            </a:extLst>
          </p:cNvPr>
          <p:cNvSpPr txBox="1"/>
          <p:nvPr/>
        </p:nvSpPr>
        <p:spPr>
          <a:xfrm>
            <a:off x="738534" y="5526009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solidFill>
                  <a:srgbClr val="2F5597"/>
                </a:solidFill>
              </a:rPr>
              <a:t>$432.48M</a:t>
            </a:r>
            <a:endParaRPr lang="en-US" sz="2000">
              <a:solidFill>
                <a:srgbClr val="2F5597"/>
              </a:solidFill>
            </a:endParaRPr>
          </a:p>
        </p:txBody>
      </p:sp>
      <p:sp>
        <p:nvSpPr>
          <p:cNvPr id="43" name="TextBox 26">
            <a:extLst>
              <a:ext uri="{FF2B5EF4-FFF2-40B4-BE49-F238E27FC236}">
                <a16:creationId xmlns:a16="http://schemas.microsoft.com/office/drawing/2014/main" id="{94A50F08-6F56-D7AF-F993-A6FA997811DA}"/>
              </a:ext>
            </a:extLst>
          </p:cNvPr>
          <p:cNvSpPr txBox="1"/>
          <p:nvPr/>
        </p:nvSpPr>
        <p:spPr>
          <a:xfrm>
            <a:off x="2532083" y="5526009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solidFill>
                  <a:srgbClr val="2F5597"/>
                </a:solidFill>
              </a:rPr>
              <a:t>$113.67M</a:t>
            </a:r>
            <a:endParaRPr lang="en-US" sz="2000">
              <a:solidFill>
                <a:srgbClr val="2F5597"/>
              </a:solidFill>
            </a:endParaRPr>
          </a:p>
        </p:txBody>
      </p:sp>
      <p:pic>
        <p:nvPicPr>
          <p:cNvPr id="44" name="Content Placeholder 24">
            <a:extLst>
              <a:ext uri="{FF2B5EF4-FFF2-40B4-BE49-F238E27FC236}">
                <a16:creationId xmlns:a16="http://schemas.microsoft.com/office/drawing/2014/main" id="{CB15B52B-7A6E-19D4-F5E4-A2B13AE6EF25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687757" y="1323605"/>
            <a:ext cx="6364224" cy="4773168"/>
          </a:xfrm>
          <a:prstGeom prst="rect">
            <a:avLst/>
          </a:prstGeom>
        </p:spPr>
      </p:pic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358D3D1C-8848-EC63-22DF-42D83F326C80}"/>
              </a:ext>
            </a:extLst>
          </p:cNvPr>
          <p:cNvSpPr txBox="1">
            <a:spLocks/>
          </p:cNvSpPr>
          <p:nvPr/>
        </p:nvSpPr>
        <p:spPr>
          <a:xfrm>
            <a:off x="9237951" y="6389264"/>
            <a:ext cx="2743200" cy="2503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AFC719D-C4A7-4544-876E-D411D11AF6C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05135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0070C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0070C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4_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0070C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3009</TotalTime>
  <Words>921</Words>
  <Application>Microsoft Office PowerPoint</Application>
  <PresentationFormat>Widescreen</PresentationFormat>
  <Paragraphs>313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Montserrat</vt:lpstr>
      <vt:lpstr>Office Theme</vt:lpstr>
      <vt:lpstr>1_Office Theme</vt:lpstr>
      <vt:lpstr>2_Office Theme</vt:lpstr>
      <vt:lpstr>3_Office Theme</vt:lpstr>
      <vt:lpstr>4_Office Theme</vt:lpstr>
      <vt:lpstr>PowerPoint Presentation</vt:lpstr>
      <vt:lpstr>PowerPoint Presentation</vt:lpstr>
      <vt:lpstr>PowerPoint Presentation</vt:lpstr>
      <vt:lpstr>PowerPoint Presentation</vt:lpstr>
      <vt:lpstr>COMMUNITY BASED SALES STRATEGY</vt:lpstr>
      <vt:lpstr>Complete Marketing System</vt:lpstr>
      <vt:lpstr>SLUHN ADVANTAGE: BEST-IN-AREA PATIENT ACCESS</vt:lpstr>
      <vt:lpstr>SIGNIFICANT OPPORTUNITY FOR PLAN GROWTH RESEARCHED FOR SLUHN SERVICE AREA</vt:lpstr>
      <vt:lpstr>PROJECTED PLAN GROWTH</vt:lpstr>
      <vt:lpstr>Direct Costs and Anticipated ROI  Through 2029</vt:lpstr>
      <vt:lpstr>GROWING POWERFUL, LASTING PROFITABILITY</vt:lpstr>
    </vt:vector>
  </TitlesOfParts>
  <Company>Beautiful.ai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#4</dc:title>
  <dc:subject>Untitled #4</dc:subject>
  <dc:creator>taylordavis@careluminate.com</dc:creator>
  <cp:lastModifiedBy>Taylor Davis</cp:lastModifiedBy>
  <cp:revision>2</cp:revision>
  <dcterms:created xsi:type="dcterms:W3CDTF">2024-12-03T04:16:29Z</dcterms:created>
  <dcterms:modified xsi:type="dcterms:W3CDTF">2025-01-02T18:45:11Z</dcterms:modified>
</cp:coreProperties>
</file>