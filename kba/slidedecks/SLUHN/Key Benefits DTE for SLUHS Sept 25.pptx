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53"/>
  </p:notesMasterIdLst>
  <p:sldIdLst>
    <p:sldId id="488" r:id="rId5"/>
    <p:sldId id="454" r:id="rId6"/>
    <p:sldId id="549" r:id="rId7"/>
    <p:sldId id="521" r:id="rId8"/>
    <p:sldId id="267" r:id="rId9"/>
    <p:sldId id="259" r:id="rId10"/>
    <p:sldId id="263" r:id="rId11"/>
    <p:sldId id="265" r:id="rId12"/>
    <p:sldId id="487" r:id="rId13"/>
    <p:sldId id="518" r:id="rId14"/>
    <p:sldId id="520" r:id="rId15"/>
    <p:sldId id="466" r:id="rId16"/>
    <p:sldId id="517" r:id="rId17"/>
    <p:sldId id="580" r:id="rId18"/>
    <p:sldId id="582" r:id="rId19"/>
    <p:sldId id="590" r:id="rId20"/>
    <p:sldId id="548" r:id="rId21"/>
    <p:sldId id="456" r:id="rId22"/>
    <p:sldId id="489" r:id="rId23"/>
    <p:sldId id="499" r:id="rId24"/>
    <p:sldId id="458" r:id="rId25"/>
    <p:sldId id="446" r:id="rId26"/>
    <p:sldId id="461" r:id="rId27"/>
    <p:sldId id="462" r:id="rId28"/>
    <p:sldId id="469" r:id="rId29"/>
    <p:sldId id="336" r:id="rId30"/>
    <p:sldId id="337" r:id="rId31"/>
    <p:sldId id="501" r:id="rId32"/>
    <p:sldId id="584" r:id="rId33"/>
    <p:sldId id="525" r:id="rId34"/>
    <p:sldId id="594" r:id="rId35"/>
    <p:sldId id="595" r:id="rId36"/>
    <p:sldId id="571" r:id="rId37"/>
    <p:sldId id="546" r:id="rId38"/>
    <p:sldId id="547" r:id="rId39"/>
    <p:sldId id="585" r:id="rId40"/>
    <p:sldId id="591" r:id="rId41"/>
    <p:sldId id="574" r:id="rId42"/>
    <p:sldId id="256" r:id="rId43"/>
    <p:sldId id="575" r:id="rId44"/>
    <p:sldId id="572" r:id="rId45"/>
    <p:sldId id="576" r:id="rId46"/>
    <p:sldId id="573" r:id="rId47"/>
    <p:sldId id="498" r:id="rId48"/>
    <p:sldId id="325" r:id="rId49"/>
    <p:sldId id="326" r:id="rId50"/>
    <p:sldId id="491" r:id="rId51"/>
    <p:sldId id="472" r:id="rId52"/>
  </p:sldIdLst>
  <p:sldSz cx="12192000" cy="6858000"/>
  <p:notesSz cx="7315200" cy="9601200"/>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A3E6"/>
    <a:srgbClr val="CFE7EB"/>
    <a:srgbClr val="FCD8B9"/>
    <a:srgbClr val="59CAE8"/>
    <a:srgbClr val="30589B"/>
    <a:srgbClr val="843C0C"/>
    <a:srgbClr val="01A050"/>
    <a:srgbClr val="6A8C98"/>
    <a:srgbClr val="244F9A"/>
    <a:srgbClr val="254F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D43A70-C2C9-41D7-B688-74F25C359829}" v="11" dt="2024-11-25T15:17:55.450"/>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214" autoAdjust="0"/>
    <p:restoredTop sz="94660"/>
  </p:normalViewPr>
  <p:slideViewPr>
    <p:cSldViewPr snapToGrid="0">
      <p:cViewPr>
        <p:scale>
          <a:sx n="75" d="100"/>
          <a:sy n="75" d="100"/>
        </p:scale>
        <p:origin x="1626" y="80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1.xml"/><Relationship Id="rId61"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9A642D9C-5D7D-4C64-9695-624B939D0999}"/>
    <pc:docChg chg="delSld modSld delMainMaster">
      <pc:chgData name="Taylor Davis" userId="5c9e72a0-c39f-4aa1-9d7d-64125e78cbe6" providerId="ADAL" clId="{9A642D9C-5D7D-4C64-9695-624B939D0999}" dt="2024-10-01T02:21:27.170" v="47" actId="20577"/>
      <pc:docMkLst>
        <pc:docMk/>
      </pc:docMkLst>
      <pc:sldChg chg="modSp mod">
        <pc:chgData name="Taylor Davis" userId="5c9e72a0-c39f-4aa1-9d7d-64125e78cbe6" providerId="ADAL" clId="{9A642D9C-5D7D-4C64-9695-624B939D0999}" dt="2024-09-25T02:04:24.330" v="0" actId="20577"/>
        <pc:sldMkLst>
          <pc:docMk/>
          <pc:sldMk cId="3100464503" sldId="488"/>
        </pc:sldMkLst>
        <pc:spChg chg="mod">
          <ac:chgData name="Taylor Davis" userId="5c9e72a0-c39f-4aa1-9d7d-64125e78cbe6" providerId="ADAL" clId="{9A642D9C-5D7D-4C64-9695-624B939D0999}" dt="2024-09-25T02:04:24.330" v="0" actId="20577"/>
          <ac:spMkLst>
            <pc:docMk/>
            <pc:sldMk cId="3100464503" sldId="488"/>
            <ac:spMk id="10" creationId="{B981BBA2-A3ED-6F7B-693B-880E5B031B26}"/>
          </ac:spMkLst>
        </pc:spChg>
      </pc:sldChg>
      <pc:sldChg chg="modSp mod">
        <pc:chgData name="Taylor Davis" userId="5c9e72a0-c39f-4aa1-9d7d-64125e78cbe6" providerId="ADAL" clId="{9A642D9C-5D7D-4C64-9695-624B939D0999}" dt="2024-09-25T03:12:14.169" v="11" actId="20577"/>
        <pc:sldMkLst>
          <pc:docMk/>
          <pc:sldMk cId="2203540903" sldId="499"/>
        </pc:sldMkLst>
        <pc:spChg chg="mod">
          <ac:chgData name="Taylor Davis" userId="5c9e72a0-c39f-4aa1-9d7d-64125e78cbe6" providerId="ADAL" clId="{9A642D9C-5D7D-4C64-9695-624B939D0999}" dt="2024-09-25T03:12:14.169" v="11" actId="20577"/>
          <ac:spMkLst>
            <pc:docMk/>
            <pc:sldMk cId="2203540903" sldId="499"/>
            <ac:spMk id="9" creationId="{AB8821D0-DEDE-002D-E87D-13E033D5D75F}"/>
          </ac:spMkLst>
        </pc:spChg>
      </pc:sldChg>
      <pc:sldChg chg="modSp mod">
        <pc:chgData name="Taylor Davis" userId="5c9e72a0-c39f-4aa1-9d7d-64125e78cbe6" providerId="ADAL" clId="{9A642D9C-5D7D-4C64-9695-624B939D0999}" dt="2024-09-25T03:12:28.406" v="13" actId="20577"/>
        <pc:sldMkLst>
          <pc:docMk/>
          <pc:sldMk cId="3348736581" sldId="518"/>
        </pc:sldMkLst>
        <pc:spChg chg="mod">
          <ac:chgData name="Taylor Davis" userId="5c9e72a0-c39f-4aa1-9d7d-64125e78cbe6" providerId="ADAL" clId="{9A642D9C-5D7D-4C64-9695-624B939D0999}" dt="2024-09-25T03:12:28.406" v="13" actId="20577"/>
          <ac:spMkLst>
            <pc:docMk/>
            <pc:sldMk cId="3348736581" sldId="518"/>
            <ac:spMk id="7" creationId="{820D1BA4-6D19-00FD-17FF-A0AD0AAAF7EE}"/>
          </ac:spMkLst>
        </pc:spChg>
      </pc:sldChg>
      <pc:sldChg chg="del">
        <pc:chgData name="Taylor Davis" userId="5c9e72a0-c39f-4aa1-9d7d-64125e78cbe6" providerId="ADAL" clId="{9A642D9C-5D7D-4C64-9695-624B939D0999}" dt="2024-09-25T03:06:27.233" v="1" actId="47"/>
        <pc:sldMkLst>
          <pc:docMk/>
          <pc:sldMk cId="1419816550" sldId="536"/>
        </pc:sldMkLst>
      </pc:sldChg>
      <pc:sldChg chg="del">
        <pc:chgData name="Taylor Davis" userId="5c9e72a0-c39f-4aa1-9d7d-64125e78cbe6" providerId="ADAL" clId="{9A642D9C-5D7D-4C64-9695-624B939D0999}" dt="2024-09-25T03:06:27.233" v="1" actId="47"/>
        <pc:sldMkLst>
          <pc:docMk/>
          <pc:sldMk cId="3470905217" sldId="558"/>
        </pc:sldMkLst>
      </pc:sldChg>
      <pc:sldChg chg="del">
        <pc:chgData name="Taylor Davis" userId="5c9e72a0-c39f-4aa1-9d7d-64125e78cbe6" providerId="ADAL" clId="{9A642D9C-5D7D-4C64-9695-624B939D0999}" dt="2024-09-25T03:06:27.233" v="1" actId="47"/>
        <pc:sldMkLst>
          <pc:docMk/>
          <pc:sldMk cId="2137708631" sldId="583"/>
        </pc:sldMkLst>
      </pc:sldChg>
      <pc:sldChg chg="del">
        <pc:chgData name="Taylor Davis" userId="5c9e72a0-c39f-4aa1-9d7d-64125e78cbe6" providerId="ADAL" clId="{9A642D9C-5D7D-4C64-9695-624B939D0999}" dt="2024-09-25T03:06:27.233" v="1" actId="47"/>
        <pc:sldMkLst>
          <pc:docMk/>
          <pc:sldMk cId="3026835362" sldId="588"/>
        </pc:sldMkLst>
      </pc:sldChg>
      <pc:sldChg chg="modSp mod">
        <pc:chgData name="Taylor Davis" userId="5c9e72a0-c39f-4aa1-9d7d-64125e78cbe6" providerId="ADAL" clId="{9A642D9C-5D7D-4C64-9695-624B939D0999}" dt="2024-09-25T03:11:29.388" v="9" actId="20577"/>
        <pc:sldMkLst>
          <pc:docMk/>
          <pc:sldMk cId="2977969319" sldId="590"/>
        </pc:sldMkLst>
        <pc:spChg chg="mod">
          <ac:chgData name="Taylor Davis" userId="5c9e72a0-c39f-4aa1-9d7d-64125e78cbe6" providerId="ADAL" clId="{9A642D9C-5D7D-4C64-9695-624B939D0999}" dt="2024-09-25T03:11:29.388" v="9" actId="20577"/>
          <ac:spMkLst>
            <pc:docMk/>
            <pc:sldMk cId="2977969319" sldId="590"/>
            <ac:spMk id="9" creationId="{025AE6BF-C458-13D4-626E-DAD4C1439055}"/>
          </ac:spMkLst>
        </pc:spChg>
      </pc:sldChg>
      <pc:sldChg chg="modSp mod">
        <pc:chgData name="Taylor Davis" userId="5c9e72a0-c39f-4aa1-9d7d-64125e78cbe6" providerId="ADAL" clId="{9A642D9C-5D7D-4C64-9695-624B939D0999}" dt="2024-09-25T03:13:23.253" v="14" actId="20577"/>
        <pc:sldMkLst>
          <pc:docMk/>
          <pc:sldMk cId="1950075701" sldId="591"/>
        </pc:sldMkLst>
        <pc:spChg chg="mod">
          <ac:chgData name="Taylor Davis" userId="5c9e72a0-c39f-4aa1-9d7d-64125e78cbe6" providerId="ADAL" clId="{9A642D9C-5D7D-4C64-9695-624B939D0999}" dt="2024-09-25T03:13:23.253" v="14" actId="20577"/>
          <ac:spMkLst>
            <pc:docMk/>
            <pc:sldMk cId="1950075701" sldId="591"/>
            <ac:spMk id="8" creationId="{60820A86-1B9D-21A4-BBB6-DDFB73605882}"/>
          </ac:spMkLst>
        </pc:spChg>
      </pc:sldChg>
      <pc:sldChg chg="del">
        <pc:chgData name="Taylor Davis" userId="5c9e72a0-c39f-4aa1-9d7d-64125e78cbe6" providerId="ADAL" clId="{9A642D9C-5D7D-4C64-9695-624B939D0999}" dt="2024-09-25T03:06:27.233" v="1" actId="47"/>
        <pc:sldMkLst>
          <pc:docMk/>
          <pc:sldMk cId="4056491077" sldId="592"/>
        </pc:sldMkLst>
      </pc:sldChg>
      <pc:sldChg chg="del">
        <pc:chgData name="Taylor Davis" userId="5c9e72a0-c39f-4aa1-9d7d-64125e78cbe6" providerId="ADAL" clId="{9A642D9C-5D7D-4C64-9695-624B939D0999}" dt="2024-09-25T03:06:27.233" v="1" actId="47"/>
        <pc:sldMkLst>
          <pc:docMk/>
          <pc:sldMk cId="76722108" sldId="593"/>
        </pc:sldMkLst>
      </pc:sldChg>
      <pc:sldChg chg="modSp mod">
        <pc:chgData name="Taylor Davis" userId="5c9e72a0-c39f-4aa1-9d7d-64125e78cbe6" providerId="ADAL" clId="{9A642D9C-5D7D-4C64-9695-624B939D0999}" dt="2024-10-01T02:21:27.170" v="47" actId="20577"/>
        <pc:sldMkLst>
          <pc:docMk/>
          <pc:sldMk cId="3712416636" sldId="594"/>
        </pc:sldMkLst>
        <pc:spChg chg="mod">
          <ac:chgData name="Taylor Davis" userId="5c9e72a0-c39f-4aa1-9d7d-64125e78cbe6" providerId="ADAL" clId="{9A642D9C-5D7D-4C64-9695-624B939D0999}" dt="2024-10-01T02:21:27.170" v="47" actId="20577"/>
          <ac:spMkLst>
            <pc:docMk/>
            <pc:sldMk cId="3712416636" sldId="594"/>
            <ac:spMk id="3" creationId="{60901D12-C1AE-35E0-648B-28079C42FA93}"/>
          </ac:spMkLst>
        </pc:spChg>
      </pc:sldChg>
      <pc:sldChg chg="modSp mod">
        <pc:chgData name="Taylor Davis" userId="5c9e72a0-c39f-4aa1-9d7d-64125e78cbe6" providerId="ADAL" clId="{9A642D9C-5D7D-4C64-9695-624B939D0999}" dt="2024-09-25T03:10:53.625" v="7" actId="20577"/>
        <pc:sldMkLst>
          <pc:docMk/>
          <pc:sldMk cId="3903060040" sldId="595"/>
        </pc:sldMkLst>
        <pc:graphicFrameChg chg="modGraphic">
          <ac:chgData name="Taylor Davis" userId="5c9e72a0-c39f-4aa1-9d7d-64125e78cbe6" providerId="ADAL" clId="{9A642D9C-5D7D-4C64-9695-624B939D0999}" dt="2024-09-25T03:10:53.625" v="7" actId="20577"/>
          <ac:graphicFrameMkLst>
            <pc:docMk/>
            <pc:sldMk cId="3903060040" sldId="595"/>
            <ac:graphicFrameMk id="6" creationId="{00000000-0000-0000-0000-000000000000}"/>
          </ac:graphicFrameMkLst>
        </pc:graphicFrameChg>
      </pc:sldChg>
      <pc:sldMasterChg chg="del delSldLayout">
        <pc:chgData name="Taylor Davis" userId="5c9e72a0-c39f-4aa1-9d7d-64125e78cbe6" providerId="ADAL" clId="{9A642D9C-5D7D-4C64-9695-624B939D0999}" dt="2024-09-25T03:06:27.233" v="1" actId="47"/>
        <pc:sldMasterMkLst>
          <pc:docMk/>
          <pc:sldMasterMk cId="1538378443" sldId="2147483768"/>
        </pc:sldMasterMkLst>
        <pc:sldLayoutChg chg="del">
          <pc:chgData name="Taylor Davis" userId="5c9e72a0-c39f-4aa1-9d7d-64125e78cbe6" providerId="ADAL" clId="{9A642D9C-5D7D-4C64-9695-624B939D0999}" dt="2024-09-25T03:06:27.233" v="1" actId="47"/>
          <pc:sldLayoutMkLst>
            <pc:docMk/>
            <pc:sldMasterMk cId="1538378443" sldId="2147483768"/>
            <pc:sldLayoutMk cId="1576444943" sldId="2147483769"/>
          </pc:sldLayoutMkLst>
        </pc:sldLayoutChg>
        <pc:sldLayoutChg chg="del">
          <pc:chgData name="Taylor Davis" userId="5c9e72a0-c39f-4aa1-9d7d-64125e78cbe6" providerId="ADAL" clId="{9A642D9C-5D7D-4C64-9695-624B939D0999}" dt="2024-09-25T03:06:27.233" v="1" actId="47"/>
          <pc:sldLayoutMkLst>
            <pc:docMk/>
            <pc:sldMasterMk cId="1538378443" sldId="2147483768"/>
            <pc:sldLayoutMk cId="2437030360" sldId="2147483770"/>
          </pc:sldLayoutMkLst>
        </pc:sldLayoutChg>
        <pc:sldLayoutChg chg="del">
          <pc:chgData name="Taylor Davis" userId="5c9e72a0-c39f-4aa1-9d7d-64125e78cbe6" providerId="ADAL" clId="{9A642D9C-5D7D-4C64-9695-624B939D0999}" dt="2024-09-25T03:06:27.233" v="1" actId="47"/>
          <pc:sldLayoutMkLst>
            <pc:docMk/>
            <pc:sldMasterMk cId="1538378443" sldId="2147483768"/>
            <pc:sldLayoutMk cId="1875058076" sldId="2147483771"/>
          </pc:sldLayoutMkLst>
        </pc:sldLayoutChg>
        <pc:sldLayoutChg chg="del">
          <pc:chgData name="Taylor Davis" userId="5c9e72a0-c39f-4aa1-9d7d-64125e78cbe6" providerId="ADAL" clId="{9A642D9C-5D7D-4C64-9695-624B939D0999}" dt="2024-09-25T03:06:27.233" v="1" actId="47"/>
          <pc:sldLayoutMkLst>
            <pc:docMk/>
            <pc:sldMasterMk cId="1538378443" sldId="2147483768"/>
            <pc:sldLayoutMk cId="1927393909" sldId="2147483772"/>
          </pc:sldLayoutMkLst>
        </pc:sldLayoutChg>
        <pc:sldLayoutChg chg="del">
          <pc:chgData name="Taylor Davis" userId="5c9e72a0-c39f-4aa1-9d7d-64125e78cbe6" providerId="ADAL" clId="{9A642D9C-5D7D-4C64-9695-624B939D0999}" dt="2024-09-25T03:06:27.233" v="1" actId="47"/>
          <pc:sldLayoutMkLst>
            <pc:docMk/>
            <pc:sldMasterMk cId="1538378443" sldId="2147483768"/>
            <pc:sldLayoutMk cId="2745093293" sldId="2147483773"/>
          </pc:sldLayoutMkLst>
        </pc:sldLayoutChg>
        <pc:sldLayoutChg chg="del">
          <pc:chgData name="Taylor Davis" userId="5c9e72a0-c39f-4aa1-9d7d-64125e78cbe6" providerId="ADAL" clId="{9A642D9C-5D7D-4C64-9695-624B939D0999}" dt="2024-09-25T03:06:27.233" v="1" actId="47"/>
          <pc:sldLayoutMkLst>
            <pc:docMk/>
            <pc:sldMasterMk cId="1538378443" sldId="2147483768"/>
            <pc:sldLayoutMk cId="3431104057" sldId="2147483774"/>
          </pc:sldLayoutMkLst>
        </pc:sldLayoutChg>
        <pc:sldLayoutChg chg="del">
          <pc:chgData name="Taylor Davis" userId="5c9e72a0-c39f-4aa1-9d7d-64125e78cbe6" providerId="ADAL" clId="{9A642D9C-5D7D-4C64-9695-624B939D0999}" dt="2024-09-25T03:06:27.233" v="1" actId="47"/>
          <pc:sldLayoutMkLst>
            <pc:docMk/>
            <pc:sldMasterMk cId="1538378443" sldId="2147483768"/>
            <pc:sldLayoutMk cId="1245249980" sldId="2147483775"/>
          </pc:sldLayoutMkLst>
        </pc:sldLayoutChg>
        <pc:sldLayoutChg chg="del">
          <pc:chgData name="Taylor Davis" userId="5c9e72a0-c39f-4aa1-9d7d-64125e78cbe6" providerId="ADAL" clId="{9A642D9C-5D7D-4C64-9695-624B939D0999}" dt="2024-09-25T03:06:27.233" v="1" actId="47"/>
          <pc:sldLayoutMkLst>
            <pc:docMk/>
            <pc:sldMasterMk cId="1538378443" sldId="2147483768"/>
            <pc:sldLayoutMk cId="3334929237" sldId="2147483776"/>
          </pc:sldLayoutMkLst>
        </pc:sldLayoutChg>
        <pc:sldLayoutChg chg="del">
          <pc:chgData name="Taylor Davis" userId="5c9e72a0-c39f-4aa1-9d7d-64125e78cbe6" providerId="ADAL" clId="{9A642D9C-5D7D-4C64-9695-624B939D0999}" dt="2024-09-25T03:06:27.233" v="1" actId="47"/>
          <pc:sldLayoutMkLst>
            <pc:docMk/>
            <pc:sldMasterMk cId="1538378443" sldId="2147483768"/>
            <pc:sldLayoutMk cId="1735123783" sldId="2147483777"/>
          </pc:sldLayoutMkLst>
        </pc:sldLayoutChg>
        <pc:sldLayoutChg chg="del">
          <pc:chgData name="Taylor Davis" userId="5c9e72a0-c39f-4aa1-9d7d-64125e78cbe6" providerId="ADAL" clId="{9A642D9C-5D7D-4C64-9695-624B939D0999}" dt="2024-09-25T03:06:27.233" v="1" actId="47"/>
          <pc:sldLayoutMkLst>
            <pc:docMk/>
            <pc:sldMasterMk cId="1538378443" sldId="2147483768"/>
            <pc:sldLayoutMk cId="2072865952" sldId="2147483778"/>
          </pc:sldLayoutMkLst>
        </pc:sldLayoutChg>
        <pc:sldLayoutChg chg="del">
          <pc:chgData name="Taylor Davis" userId="5c9e72a0-c39f-4aa1-9d7d-64125e78cbe6" providerId="ADAL" clId="{9A642D9C-5D7D-4C64-9695-624B939D0999}" dt="2024-09-25T03:06:27.233" v="1" actId="47"/>
          <pc:sldLayoutMkLst>
            <pc:docMk/>
            <pc:sldMasterMk cId="1538378443" sldId="2147483768"/>
            <pc:sldLayoutMk cId="190644878" sldId="2147483779"/>
          </pc:sldLayoutMkLst>
        </pc:sldLayoutChg>
        <pc:sldLayoutChg chg="del">
          <pc:chgData name="Taylor Davis" userId="5c9e72a0-c39f-4aa1-9d7d-64125e78cbe6" providerId="ADAL" clId="{9A642D9C-5D7D-4C64-9695-624B939D0999}" dt="2024-09-25T03:06:27.233" v="1" actId="47"/>
          <pc:sldLayoutMkLst>
            <pc:docMk/>
            <pc:sldMasterMk cId="1538378443" sldId="2147483768"/>
            <pc:sldLayoutMk cId="2181251457" sldId="2147483780"/>
          </pc:sldLayoutMkLst>
        </pc:sldLayoutChg>
      </pc:sldMasterChg>
    </pc:docChg>
  </pc:docChgLst>
  <pc:docChgLst>
    <pc:chgData name="Taylor Davis" userId="5c9e72a0-c39f-4aa1-9d7d-64125e78cbe6" providerId="ADAL" clId="{0ED43A70-C2C9-41D7-B688-74F25C359829}"/>
    <pc:docChg chg="custSel addSld delSld modSld">
      <pc:chgData name="Taylor Davis" userId="5c9e72a0-c39f-4aa1-9d7d-64125e78cbe6" providerId="ADAL" clId="{0ED43A70-C2C9-41D7-B688-74F25C359829}" dt="2024-11-25T15:17:55.450" v="15" actId="572"/>
      <pc:docMkLst>
        <pc:docMk/>
      </pc:docMkLst>
      <pc:sldChg chg="modSp">
        <pc:chgData name="Taylor Davis" userId="5c9e72a0-c39f-4aa1-9d7d-64125e78cbe6" providerId="ADAL" clId="{0ED43A70-C2C9-41D7-B688-74F25C359829}" dt="2024-11-25T15:08:41.817" v="7" actId="1076"/>
        <pc:sldMkLst>
          <pc:docMk/>
          <pc:sldMk cId="3100464503" sldId="488"/>
        </pc:sldMkLst>
        <pc:picChg chg="mod">
          <ac:chgData name="Taylor Davis" userId="5c9e72a0-c39f-4aa1-9d7d-64125e78cbe6" providerId="ADAL" clId="{0ED43A70-C2C9-41D7-B688-74F25C359829}" dt="2024-11-25T15:08:41.817" v="7" actId="1076"/>
          <ac:picMkLst>
            <pc:docMk/>
            <pc:sldMk cId="3100464503" sldId="488"/>
            <ac:picMk id="2050" creationId="{960FC751-2A37-9680-5086-37ED9D505D28}"/>
          </ac:picMkLst>
        </pc:picChg>
      </pc:sldChg>
      <pc:sldChg chg="addSp">
        <pc:chgData name="Taylor Davis" userId="5c9e72a0-c39f-4aa1-9d7d-64125e78cbe6" providerId="ADAL" clId="{0ED43A70-C2C9-41D7-B688-74F25C359829}" dt="2024-11-25T15:06:17.049" v="0"/>
        <pc:sldMkLst>
          <pc:docMk/>
          <pc:sldMk cId="315794589" sldId="548"/>
        </pc:sldMkLst>
        <pc:picChg chg="add">
          <ac:chgData name="Taylor Davis" userId="5c9e72a0-c39f-4aa1-9d7d-64125e78cbe6" providerId="ADAL" clId="{0ED43A70-C2C9-41D7-B688-74F25C359829}" dt="2024-11-25T15:06:17.049" v="0"/>
          <ac:picMkLst>
            <pc:docMk/>
            <pc:sldMk cId="315794589" sldId="548"/>
            <ac:picMk id="1026" creationId="{AD4E553A-8619-AA90-F76A-56C5E02170CE}"/>
          </ac:picMkLst>
        </pc:picChg>
      </pc:sldChg>
      <pc:sldChg chg="delSp modSp add mod">
        <pc:chgData name="Taylor Davis" userId="5c9e72a0-c39f-4aa1-9d7d-64125e78cbe6" providerId="ADAL" clId="{0ED43A70-C2C9-41D7-B688-74F25C359829}" dt="2024-11-25T15:17:55.450" v="15" actId="572"/>
        <pc:sldMkLst>
          <pc:docMk/>
          <pc:sldMk cId="2011724879" sldId="585"/>
        </pc:sldMkLst>
        <pc:spChg chg="del">
          <ac:chgData name="Taylor Davis" userId="5c9e72a0-c39f-4aa1-9d7d-64125e78cbe6" providerId="ADAL" clId="{0ED43A70-C2C9-41D7-B688-74F25C359829}" dt="2024-11-25T15:17:34.640" v="11" actId="478"/>
          <ac:spMkLst>
            <pc:docMk/>
            <pc:sldMk cId="2011724879" sldId="585"/>
            <ac:spMk id="6" creationId="{E799F91A-3FD1-47AB-858A-263DC729BC42}"/>
          </ac:spMkLst>
        </pc:spChg>
        <pc:graphicFrameChg chg="mod modGraphic">
          <ac:chgData name="Taylor Davis" userId="5c9e72a0-c39f-4aa1-9d7d-64125e78cbe6" providerId="ADAL" clId="{0ED43A70-C2C9-41D7-B688-74F25C359829}" dt="2024-11-25T15:17:55.450" v="15" actId="572"/>
          <ac:graphicFrameMkLst>
            <pc:docMk/>
            <pc:sldMk cId="2011724879" sldId="585"/>
            <ac:graphicFrameMk id="7" creationId="{00000000-0000-0000-0000-000000000000}"/>
          </ac:graphicFrameMkLst>
        </pc:graphicFrameChg>
      </pc:sldChg>
      <pc:sldChg chg="addSp delSp modSp new del">
        <pc:chgData name="Taylor Davis" userId="5c9e72a0-c39f-4aa1-9d7d-64125e78cbe6" providerId="ADAL" clId="{0ED43A70-C2C9-41D7-B688-74F25C359829}" dt="2024-11-25T15:06:55.186" v="5" actId="47"/>
        <pc:sldMkLst>
          <pc:docMk/>
          <pc:sldMk cId="3980703271" sldId="596"/>
        </pc:sldMkLst>
        <pc:picChg chg="add del mod">
          <ac:chgData name="Taylor Davis" userId="5c9e72a0-c39f-4aa1-9d7d-64125e78cbe6" providerId="ADAL" clId="{0ED43A70-C2C9-41D7-B688-74F25C359829}" dt="2024-11-25T15:06:52.774" v="4" actId="478"/>
          <ac:picMkLst>
            <pc:docMk/>
            <pc:sldMk cId="3980703271" sldId="596"/>
            <ac:picMk id="2050" creationId="{8D899EC3-B346-39FE-1E70-A69EFF3EB5B4}"/>
          </ac:picMkLst>
        </pc:pic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image" Target="../media/image33.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image" Target="../media/image33.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SLUHN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SLUHN’s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SLUHN</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SLUHN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SLUHN</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SLUHN’s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11/25/2024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6288C0-024E-429E-B9F9-88F45D0B6B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3903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15</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11/25/2024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11/25/2024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11/25/2024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11/25/2024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11/25/2024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11/25/2024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11/25/2024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11/25/2024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11/25/2024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11/25/2024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11/25/2024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11/25/2024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5.jpe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2.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jpeg"/><Relationship Id="rId7" Type="http://schemas.openxmlformats.org/officeDocument/2006/relationships/image" Target="../media/image41.jpeg"/><Relationship Id="rId2" Type="http://schemas.openxmlformats.org/officeDocument/2006/relationships/image" Target="../media/image36.png"/><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44.jpeg"/><Relationship Id="rId4" Type="http://schemas.openxmlformats.org/officeDocument/2006/relationships/image" Target="../media/image38.png"/><Relationship Id="rId9"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jpeg"/><Relationship Id="rId1" Type="http://schemas.openxmlformats.org/officeDocument/2006/relationships/slideLayout" Target="../slideLayouts/slideLayout6.xml"/><Relationship Id="rId4" Type="http://schemas.openxmlformats.org/officeDocument/2006/relationships/image" Target="../media/image47.svg"/></Relationships>
</file>

<file path=ppt/slides/_rels/slide29.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slideLayout" Target="../slideLayouts/slideLayout2.xml"/><Relationship Id="rId6" Type="http://schemas.openxmlformats.org/officeDocument/2006/relationships/image" Target="../media/image51.jpeg"/><Relationship Id="rId5" Type="http://schemas.openxmlformats.org/officeDocument/2006/relationships/image" Target="../media/image50.jpeg"/><Relationship Id="rId4" Type="http://schemas.microsoft.com/office/2007/relationships/hdphoto" Target="../media/hdphoto2.wdp"/></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2.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52.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8.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jpeg"/><Relationship Id="rId1" Type="http://schemas.openxmlformats.org/officeDocument/2006/relationships/slideLayout" Target="../slideLayouts/slideLayout6.xml"/><Relationship Id="rId6" Type="http://schemas.openxmlformats.org/officeDocument/2006/relationships/image" Target="../media/image57.svg"/><Relationship Id="rId11" Type="http://schemas.openxmlformats.org/officeDocument/2006/relationships/image" Target="../media/image6.png"/><Relationship Id="rId5" Type="http://schemas.openxmlformats.org/officeDocument/2006/relationships/image" Target="../media/image56.png"/><Relationship Id="rId10" Type="http://schemas.openxmlformats.org/officeDocument/2006/relationships/image" Target="../media/image61.svg"/><Relationship Id="rId4" Type="http://schemas.openxmlformats.org/officeDocument/2006/relationships/image" Target="../media/image55.svg"/><Relationship Id="rId9"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September 25,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2050" name="Picture 2" descr="Lehigh Valley | Bethlehem, PA, US | Bill Dickinson | Flickr">
            <a:extLst>
              <a:ext uri="{FF2B5EF4-FFF2-40B4-BE49-F238E27FC236}">
                <a16:creationId xmlns:a16="http://schemas.microsoft.com/office/drawing/2014/main" id="{960FC751-2A37-9680-5086-37ED9D505D28}"/>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81075" y="1708929"/>
            <a:ext cx="11210925" cy="51490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St. Luke's University Health Network's 150th Anniversary">
            <a:extLst>
              <a:ext uri="{FF2B5EF4-FFF2-40B4-BE49-F238E27FC236}">
                <a16:creationId xmlns:a16="http://schemas.microsoft.com/office/drawing/2014/main" id="{418AEC1D-1E1C-A206-08BE-266A53346372}"/>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507764" y="579749"/>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20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572305"/>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4" descr="St. Luke's University Health Network's 150th Anniversary">
            <a:extLst>
              <a:ext uri="{FF2B5EF4-FFF2-40B4-BE49-F238E27FC236}">
                <a16:creationId xmlns:a16="http://schemas.microsoft.com/office/drawing/2014/main" id="{54C4C891-BACC-B531-6B4E-417D42F3127C}"/>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53935" y="2433244"/>
            <a:ext cx="2910924" cy="1529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2852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6B5926E-4AAC-8204-A9FD-B546D2D620A9}"/>
              </a:ext>
            </a:extLst>
          </p:cNvPr>
          <p:cNvPicPr>
            <a:picLocks noGrp="1" noChangeAspect="1"/>
          </p:cNvPicPr>
          <p:nvPr>
            <p:ph idx="1"/>
          </p:nvPr>
        </p:nvPicPr>
        <p:blipFill>
          <a:blip r:embed="rId2"/>
          <a:stretch>
            <a:fillRect/>
          </a:stretch>
        </p:blipFill>
        <p:spPr>
          <a:xfrm>
            <a:off x="4609338" y="1690687"/>
            <a:ext cx="5768630" cy="4518224"/>
          </a:xfrm>
        </p:spPr>
      </p:pic>
      <p:pic>
        <p:nvPicPr>
          <p:cNvPr id="8" name="Picture 2" descr="Welcome to Lehigh Valley Health Network ...">
            <a:extLst>
              <a:ext uri="{FF2B5EF4-FFF2-40B4-BE49-F238E27FC236}">
                <a16:creationId xmlns:a16="http://schemas.microsoft.com/office/drawing/2014/main" id="{DDC94D88-BA34-5AA9-EA9B-C148FD0A715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982212" y="5178426"/>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t. Luke's University Health Network's 150th Anniversary">
            <a:extLst>
              <a:ext uri="{FF2B5EF4-FFF2-40B4-BE49-F238E27FC236}">
                <a16:creationId xmlns:a16="http://schemas.microsoft.com/office/drawing/2014/main" id="{86AC65E6-F3F0-4B89-D1E6-216DC9C8C86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502650" y="3328966"/>
            <a:ext cx="2266950" cy="119086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2A072E6-5B59-F58D-E1D5-FBB1C6050929}"/>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F890093-D539-CA4F-976A-7B1A5C58F15B}"/>
              </a:ext>
            </a:extLst>
          </p:cNvPr>
          <p:cNvSpPr txBox="1"/>
          <p:nvPr/>
        </p:nvSpPr>
        <p:spPr>
          <a:xfrm>
            <a:off x="1284079" y="2851320"/>
            <a:ext cx="2757206"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Comparison of Medicare payment market share by zip code: St Luke’s vs Lehigh Valley Health Network</a:t>
            </a:r>
          </a:p>
        </p:txBody>
      </p:sp>
      <p:sp>
        <p:nvSpPr>
          <p:cNvPr id="10" name="Title 1">
            <a:extLst>
              <a:ext uri="{FF2B5EF4-FFF2-40B4-BE49-F238E27FC236}">
                <a16:creationId xmlns:a16="http://schemas.microsoft.com/office/drawing/2014/main" id="{9164B861-2919-13B0-DF11-6C92DA49C7C5}"/>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SLUHN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Strong </a:t>
            </a:r>
            <a:r>
              <a:rPr lang="en-US" sz="4000" b="1" dirty="0">
                <a:solidFill>
                  <a:srgbClr val="59CAE8"/>
                </a:solidFill>
                <a:latin typeface="Arial" panose="020B0604020202020204" pitchFamily="34" charset="0"/>
                <a:cs typeface="Arial" panose="020B0604020202020204" pitchFamily="34" charset="0"/>
              </a:rPr>
              <a:t>Brand</a:t>
            </a:r>
            <a:r>
              <a:rPr lang="en-US" sz="4000" b="1" dirty="0">
                <a:solidFill>
                  <a:srgbClr val="000B2E"/>
                </a:solidFill>
                <a:latin typeface="Arial" panose="020B0604020202020204" pitchFamily="34" charset="0"/>
                <a:cs typeface="Arial" panose="020B0604020202020204" pitchFamily="34" charset="0"/>
              </a:rPr>
              <a:t>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9394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elcome to Lehigh Valley Health Network ...">
            <a:extLst>
              <a:ext uri="{FF2B5EF4-FFF2-40B4-BE49-F238E27FC236}">
                <a16:creationId xmlns:a16="http://schemas.microsoft.com/office/drawing/2014/main" id="{D35E0F37-25DB-A6ED-FA0B-749C789F743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61604" y="2216823"/>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 Luke's University Health Network's 150th Anniversary">
            <a:extLst>
              <a:ext uri="{FF2B5EF4-FFF2-40B4-BE49-F238E27FC236}">
                <a16:creationId xmlns:a16="http://schemas.microsoft.com/office/drawing/2014/main" id="{81F606B0-F3E0-4A78-98C0-7AA2580C33ED}"/>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48800" y="985158"/>
            <a:ext cx="2266950" cy="11908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802C5E5F-C08F-02C6-5478-0FD5169A64CD}"/>
              </a:ext>
            </a:extLst>
          </p:cNvPr>
          <p:cNvGraphicFramePr>
            <a:graphicFrameLocks noGrp="1"/>
          </p:cNvGraphicFramePr>
          <p:nvPr/>
        </p:nvGraphicFramePr>
        <p:xfrm>
          <a:off x="311586" y="3139930"/>
          <a:ext cx="2766324" cy="1097280"/>
        </p:xfrm>
        <a:graphic>
          <a:graphicData uri="http://schemas.openxmlformats.org/drawingml/2006/table">
            <a:tbl>
              <a:tblPr firstRow="1" bandRow="1">
                <a:tableStyleId>{5C22544A-7EE6-4342-B048-85BDC9FD1C3A}</a:tableStyleId>
              </a:tblPr>
              <a:tblGrid>
                <a:gridCol w="1383162">
                  <a:extLst>
                    <a:ext uri="{9D8B030D-6E8A-4147-A177-3AD203B41FA5}">
                      <a16:colId xmlns:a16="http://schemas.microsoft.com/office/drawing/2014/main" val="1499193583"/>
                    </a:ext>
                  </a:extLst>
                </a:gridCol>
                <a:gridCol w="1383162">
                  <a:extLst>
                    <a:ext uri="{9D8B030D-6E8A-4147-A177-3AD203B41FA5}">
                      <a16:colId xmlns:a16="http://schemas.microsoft.com/office/drawing/2014/main" val="3693673618"/>
                    </a:ext>
                  </a:extLst>
                </a:gridCol>
              </a:tblGrid>
              <a:tr h="251800">
                <a:tc>
                  <a:txBody>
                    <a:bodyPr/>
                    <a:lstStyle/>
                    <a:p>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3311402759"/>
                  </a:ext>
                </a:extLst>
              </a:tr>
              <a:tr h="251800">
                <a:tc>
                  <a:txBody>
                    <a:bodyPr/>
                    <a:lstStyle/>
                    <a:p>
                      <a:r>
                        <a:rPr lang="en-US" sz="1200" dirty="0"/>
                        <a:t>Lehigh Valley Hospital Cedar Crest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tc>
                  <a:txBody>
                    <a:bodyPr/>
                    <a:lstStyle/>
                    <a:p>
                      <a:pPr algn="ctr"/>
                      <a:r>
                        <a:rPr lang="en-US" sz="1200" dirty="0"/>
                        <a:t>227,393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extLst>
                  <a:ext uri="{0D108BD9-81ED-4DB2-BD59-A6C34878D82A}">
                    <a16:rowId xmlns:a16="http://schemas.microsoft.com/office/drawing/2014/main" val="316278004"/>
                  </a:ext>
                </a:extLst>
              </a:tr>
            </a:tbl>
          </a:graphicData>
        </a:graphic>
      </p:graphicFrame>
      <p:graphicFrame>
        <p:nvGraphicFramePr>
          <p:cNvPr id="7" name="Table 6">
            <a:extLst>
              <a:ext uri="{FF2B5EF4-FFF2-40B4-BE49-F238E27FC236}">
                <a16:creationId xmlns:a16="http://schemas.microsoft.com/office/drawing/2014/main" id="{F5DFB184-5687-810D-E027-F824D29970B6}"/>
              </a:ext>
            </a:extLst>
          </p:cNvPr>
          <p:cNvGraphicFramePr>
            <a:graphicFrameLocks noGrp="1"/>
          </p:cNvGraphicFramePr>
          <p:nvPr>
            <p:extLst>
              <p:ext uri="{D42A27DB-BD31-4B8C-83A1-F6EECF244321}">
                <p14:modId xmlns:p14="http://schemas.microsoft.com/office/powerpoint/2010/main" val="3594610914"/>
              </p:ext>
            </p:extLst>
          </p:nvPr>
        </p:nvGraphicFramePr>
        <p:xfrm>
          <a:off x="9199113" y="2198898"/>
          <a:ext cx="2766324" cy="3663655"/>
        </p:xfrm>
        <a:graphic>
          <a:graphicData uri="http://schemas.openxmlformats.org/drawingml/2006/table">
            <a:tbl>
              <a:tblPr firstRow="1" bandRow="1">
                <a:tableStyleId>{5C22544A-7EE6-4342-B048-85BDC9FD1C3A}</a:tableStyleId>
              </a:tblPr>
              <a:tblGrid>
                <a:gridCol w="1810632">
                  <a:extLst>
                    <a:ext uri="{9D8B030D-6E8A-4147-A177-3AD203B41FA5}">
                      <a16:colId xmlns:a16="http://schemas.microsoft.com/office/drawing/2014/main" val="1499193583"/>
                    </a:ext>
                  </a:extLst>
                </a:gridCol>
                <a:gridCol w="955692">
                  <a:extLst>
                    <a:ext uri="{9D8B030D-6E8A-4147-A177-3AD203B41FA5}">
                      <a16:colId xmlns:a16="http://schemas.microsoft.com/office/drawing/2014/main" val="3693673618"/>
                    </a:ext>
                  </a:extLst>
                </a:gridCol>
              </a:tblGrid>
              <a:tr h="251800">
                <a:tc>
                  <a:txBody>
                    <a:bodyPr/>
                    <a:lstStyle/>
                    <a:p>
                      <a:pPr algn="l"/>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311402759"/>
                  </a:ext>
                </a:extLst>
              </a:tr>
              <a:tr h="251800">
                <a:tc>
                  <a:txBody>
                    <a:bodyPr/>
                    <a:lstStyle/>
                    <a:p>
                      <a:pPr algn="l" fontAlgn="b"/>
                      <a:r>
                        <a:rPr lang="en-US" sz="1200" kern="1200" dirty="0">
                          <a:solidFill>
                            <a:schemeClr val="dk1"/>
                          </a:solidFill>
                          <a:latin typeface="+mn-lt"/>
                          <a:ea typeface="+mn-ea"/>
                          <a:cs typeface="+mn-cs"/>
                        </a:rPr>
                        <a:t>St Luke's Hospital - Anderson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142,000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16278004"/>
                  </a:ext>
                </a:extLst>
              </a:tr>
              <a:tr h="251800">
                <a:tc>
                  <a:txBody>
                    <a:bodyPr/>
                    <a:lstStyle/>
                    <a:p>
                      <a:pPr algn="l" fontAlgn="b"/>
                      <a:r>
                        <a:rPr lang="en-US" sz="1200" kern="1200" dirty="0">
                          <a:solidFill>
                            <a:schemeClr val="dk1"/>
                          </a:solidFill>
                          <a:latin typeface="+mn-lt"/>
                          <a:ea typeface="+mn-ea"/>
                          <a:cs typeface="+mn-cs"/>
                        </a:rPr>
                        <a:t>St Lukes Upper Bucks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46,000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52114391"/>
                  </a:ext>
                </a:extLst>
              </a:tr>
              <a:tr h="251800">
                <a:tc>
                  <a:txBody>
                    <a:bodyPr/>
                    <a:lstStyle/>
                    <a:p>
                      <a:pPr algn="l" fontAlgn="b"/>
                      <a:r>
                        <a:rPr lang="en-US" sz="1200" kern="1200" dirty="0">
                          <a:solidFill>
                            <a:schemeClr val="dk1"/>
                          </a:solidFill>
                          <a:latin typeface="+mn-lt"/>
                          <a:ea typeface="+mn-ea"/>
                          <a:cs typeface="+mn-cs"/>
                        </a:rPr>
                        <a:t>St Luke's Hospital Bethlehem</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255,000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612802536"/>
                  </a:ext>
                </a:extLst>
              </a:tr>
              <a:tr h="251800">
                <a:tc>
                  <a:txBody>
                    <a:bodyPr/>
                    <a:lstStyle/>
                    <a:p>
                      <a:pPr algn="l" fontAlgn="b"/>
                      <a:r>
                        <a:rPr lang="en-US" sz="1200" kern="1200" dirty="0">
                          <a:solidFill>
                            <a:schemeClr val="dk1"/>
                          </a:solidFill>
                          <a:latin typeface="+mn-lt"/>
                          <a:ea typeface="+mn-ea"/>
                          <a:cs typeface="+mn-cs"/>
                        </a:rPr>
                        <a:t>St Luke's Warren Hospital</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118,000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181464314"/>
                  </a:ext>
                </a:extLst>
              </a:tr>
              <a:tr h="251800">
                <a:tc>
                  <a:txBody>
                    <a:bodyPr/>
                    <a:lstStyle/>
                    <a:p>
                      <a:pPr algn="l"/>
                      <a:r>
                        <a:rPr lang="en-US" sz="1200" kern="1200" dirty="0">
                          <a:solidFill>
                            <a:schemeClr val="dk1"/>
                          </a:solidFill>
                          <a:latin typeface="+mn-lt"/>
                          <a:ea typeface="+mn-ea"/>
                          <a:cs typeface="+mn-cs"/>
                        </a:rPr>
                        <a:t>St Luke's Hospital - Easton Campus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141,000</a:t>
                      </a:r>
                    </a:p>
                    <a:p>
                      <a:pPr algn="r"/>
                      <a:endParaRPr lang="en-US" sz="1200" kern="1200" dirty="0">
                        <a:solidFill>
                          <a:schemeClr val="dk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713141400"/>
                  </a:ext>
                </a:extLst>
              </a:tr>
              <a:tr h="251800">
                <a:tc>
                  <a:txBody>
                    <a:bodyPr/>
                    <a:lstStyle/>
                    <a:p>
                      <a:pPr algn="l"/>
                      <a:r>
                        <a:rPr lang="en-US" sz="1200" kern="1200" dirty="0">
                          <a:solidFill>
                            <a:schemeClr val="dk1"/>
                          </a:solidFill>
                          <a:latin typeface="+mn-lt"/>
                          <a:ea typeface="+mn-ea"/>
                          <a:cs typeface="+mn-cs"/>
                        </a:rPr>
                        <a:t>St. Luke’s Hospital Monroe County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48,667</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2385780560"/>
                  </a:ext>
                </a:extLst>
              </a:tr>
              <a:tr h="251800">
                <a:tc>
                  <a:txBody>
                    <a:bodyPr/>
                    <a:lstStyle/>
                    <a:p>
                      <a:pPr algn="l"/>
                      <a:r>
                        <a:rPr lang="en-US" sz="1200" kern="1200" dirty="0">
                          <a:solidFill>
                            <a:schemeClr val="dk1"/>
                          </a:solidFill>
                          <a:latin typeface="+mn-lt"/>
                          <a:ea typeface="+mn-ea"/>
                          <a:cs typeface="+mn-cs"/>
                        </a:rPr>
                        <a:t>St. Luke’s Hospital Carbon County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26,628</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165044891"/>
                  </a:ext>
                </a:extLst>
              </a:tr>
              <a:tr h="251800">
                <a:tc>
                  <a:txBody>
                    <a:bodyPr/>
                    <a:lstStyle/>
                    <a:p>
                      <a:pPr algn="l"/>
                      <a:r>
                        <a:rPr lang="en-US" sz="1200" kern="1200" dirty="0">
                          <a:solidFill>
                            <a:schemeClr val="dk1"/>
                          </a:solidFill>
                          <a:latin typeface="+mn-lt"/>
                          <a:ea typeface="+mn-ea"/>
                          <a:cs typeface="+mn-cs"/>
                        </a:rPr>
                        <a:t>Grand View Hospital</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70,739</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318321328"/>
                  </a:ext>
                </a:extLst>
              </a:tr>
            </a:tbl>
          </a:graphicData>
        </a:graphic>
      </p:graphicFrame>
      <p:sp>
        <p:nvSpPr>
          <p:cNvPr id="8" name="Title 1">
            <a:extLst>
              <a:ext uri="{FF2B5EF4-FFF2-40B4-BE49-F238E27FC236}">
                <a16:creationId xmlns:a16="http://schemas.microsoft.com/office/drawing/2014/main" id="{B7A296EC-ABAC-52BC-9CE3-E14DAA57D327}"/>
              </a:ext>
            </a:extLst>
          </p:cNvPr>
          <p:cNvSpPr>
            <a:spLocks noGrp="1"/>
          </p:cNvSpPr>
          <p:nvPr>
            <p:ph type="title"/>
          </p:nvPr>
        </p:nvSpPr>
        <p:spPr>
          <a:xfrm>
            <a:off x="480053" y="277460"/>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SLUHN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Best-in-Area </a:t>
            </a:r>
            <a:r>
              <a:rPr lang="en-US" sz="4000" b="1" dirty="0">
                <a:solidFill>
                  <a:srgbClr val="59CAE8"/>
                </a:solidFill>
                <a:latin typeface="Arial" panose="020B0604020202020204" pitchFamily="34" charset="0"/>
                <a:cs typeface="Arial" panose="020B0604020202020204" pitchFamily="34" charset="0"/>
              </a:rPr>
              <a:t>Patient Access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9" name="Content Placeholder 8">
            <a:extLst>
              <a:ext uri="{FF2B5EF4-FFF2-40B4-BE49-F238E27FC236}">
                <a16:creationId xmlns:a16="http://schemas.microsoft.com/office/drawing/2014/main" id="{4A1C0BBF-67AE-4FA8-B00B-C8516DF8406E}"/>
              </a:ext>
            </a:extLst>
          </p:cNvPr>
          <p:cNvPicPr>
            <a:picLocks noGrp="1" noChangeAspect="1"/>
          </p:cNvPicPr>
          <p:nvPr>
            <p:ph idx="1"/>
          </p:nvPr>
        </p:nvPicPr>
        <p:blipFill>
          <a:blip r:embed="rId4"/>
          <a:srcRect b="11790"/>
          <a:stretch/>
        </p:blipFill>
        <p:spPr>
          <a:xfrm>
            <a:off x="3767055" y="1825625"/>
            <a:ext cx="4657890" cy="3838328"/>
          </a:xfrm>
          <a:prstGeom prst="rect">
            <a:avLst/>
          </a:prstGeom>
        </p:spPr>
      </p:pic>
    </p:spTree>
    <p:extLst>
      <p:ext uri="{BB962C8B-B14F-4D97-AF65-F5344CB8AC3E}">
        <p14:creationId xmlns:p14="http://schemas.microsoft.com/office/powerpoint/2010/main" val="2123092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9C61F8C-B152-2706-CA9F-96880601EEFA}"/>
              </a:ext>
            </a:extLst>
          </p:cNvPr>
          <p:cNvGraphicFramePr>
            <a:graphicFrameLocks noGrp="1"/>
          </p:cNvGraphicFramePr>
          <p:nvPr>
            <p:ph idx="1"/>
          </p:nvPr>
        </p:nvGraphicFramePr>
        <p:xfrm>
          <a:off x="4102100" y="-123825"/>
          <a:ext cx="7963024" cy="5886452"/>
        </p:xfrm>
        <a:graphic>
          <a:graphicData uri="http://schemas.openxmlformats.org/drawingml/2006/table">
            <a:tbl>
              <a:tblPr/>
              <a:tblGrid>
                <a:gridCol w="2120045">
                  <a:extLst>
                    <a:ext uri="{9D8B030D-6E8A-4147-A177-3AD203B41FA5}">
                      <a16:colId xmlns:a16="http://schemas.microsoft.com/office/drawing/2014/main" val="2222280177"/>
                    </a:ext>
                  </a:extLst>
                </a:gridCol>
                <a:gridCol w="2120045">
                  <a:extLst>
                    <a:ext uri="{9D8B030D-6E8A-4147-A177-3AD203B41FA5}">
                      <a16:colId xmlns:a16="http://schemas.microsoft.com/office/drawing/2014/main" val="1625810600"/>
                    </a:ext>
                  </a:extLst>
                </a:gridCol>
                <a:gridCol w="2152929">
                  <a:extLst>
                    <a:ext uri="{9D8B030D-6E8A-4147-A177-3AD203B41FA5}">
                      <a16:colId xmlns:a16="http://schemas.microsoft.com/office/drawing/2014/main" val="1336689831"/>
                    </a:ext>
                  </a:extLst>
                </a:gridCol>
                <a:gridCol w="1570005">
                  <a:extLst>
                    <a:ext uri="{9D8B030D-6E8A-4147-A177-3AD203B41FA5}">
                      <a16:colId xmlns:a16="http://schemas.microsoft.com/office/drawing/2014/main" val="300144108"/>
                    </a:ext>
                  </a:extLst>
                </a:gridCol>
              </a:tblGrid>
              <a:tr h="3309550">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Patient HCAHPS Recommendation Rate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CMS Quality Stars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Mortality Average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Readmission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extLst>
                  <a:ext uri="{0D108BD9-81ED-4DB2-BD59-A6C34878D82A}">
                    <a16:rowId xmlns:a16="http://schemas.microsoft.com/office/drawing/2014/main" val="2286023769"/>
                  </a:ext>
                </a:extLst>
              </a:tr>
              <a:tr h="1288451">
                <a:tc>
                  <a:txBody>
                    <a:bodyPr/>
                    <a:lstStyle/>
                    <a:p>
                      <a:pPr algn="r" fontAlgn="b">
                        <a:spcBef>
                          <a:spcPts val="0"/>
                        </a:spcBef>
                        <a:spcAft>
                          <a:spcPts val="0"/>
                        </a:spcAft>
                      </a:pPr>
                      <a:r>
                        <a:rPr lang="en-US" sz="2000" b="0" i="0" u="none" strike="noStrike" dirty="0">
                          <a:solidFill>
                            <a:srgbClr val="000000"/>
                          </a:solidFill>
                          <a:effectLst/>
                          <a:highlight>
                            <a:srgbClr val="B8E1C5"/>
                          </a:highlight>
                          <a:latin typeface="Arial" panose="020B0604020202020204" pitchFamily="34" charset="0"/>
                          <a:cs typeface="Arial" panose="020B0604020202020204" pitchFamily="34" charset="0"/>
                        </a:rPr>
                        <a:t>73%</a:t>
                      </a:r>
                      <a:endParaRPr lang="en-US" sz="4000" b="0" i="0" u="none" strike="noStrike" dirty="0">
                        <a:effectLst/>
                        <a:highlight>
                          <a:srgbClr val="B8E1C5"/>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B8E1C5"/>
                    </a:solidFill>
                  </a:tcPr>
                </a:tc>
                <a:tc>
                  <a:txBody>
                    <a:bodyPr/>
                    <a:lstStyle/>
                    <a:p>
                      <a:pPr algn="r" fontAlgn="b">
                        <a:spcBef>
                          <a:spcPts val="0"/>
                        </a:spcBef>
                        <a:spcAft>
                          <a:spcPts val="0"/>
                        </a:spcAft>
                      </a:pPr>
                      <a:r>
                        <a:rPr lang="en-US" sz="2000" b="0" i="0" u="none" strike="noStrike">
                          <a:solidFill>
                            <a:srgbClr val="000000"/>
                          </a:solidFill>
                          <a:effectLst/>
                          <a:highlight>
                            <a:srgbClr val="63BE7B"/>
                          </a:highlight>
                          <a:latin typeface="Arial" panose="020B0604020202020204" pitchFamily="34" charset="0"/>
                          <a:cs typeface="Arial" panose="020B0604020202020204" pitchFamily="34" charset="0"/>
                        </a:rPr>
                        <a:t>99%</a:t>
                      </a:r>
                      <a:endParaRPr lang="en-US" sz="4000" b="0" i="0" u="none" strike="noStrike">
                        <a:effectLst/>
                        <a:highlight>
                          <a:srgbClr val="63BE7B"/>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63BE7B"/>
                    </a:solidFill>
                  </a:tcPr>
                </a:tc>
                <a:tc>
                  <a:txBody>
                    <a:bodyPr/>
                    <a:lstStyle/>
                    <a:p>
                      <a:pPr algn="r" fontAlgn="b">
                        <a:spcBef>
                          <a:spcPts val="0"/>
                        </a:spcBef>
                        <a:spcAft>
                          <a:spcPts val="0"/>
                        </a:spcAft>
                      </a:pPr>
                      <a:r>
                        <a:rPr lang="en-US" sz="2000" b="0" i="0" u="none" strike="noStrike">
                          <a:solidFill>
                            <a:srgbClr val="000000"/>
                          </a:solidFill>
                          <a:effectLst/>
                          <a:highlight>
                            <a:srgbClr val="8ED0A0"/>
                          </a:highlight>
                          <a:latin typeface="Arial" panose="020B0604020202020204" pitchFamily="34" charset="0"/>
                          <a:cs typeface="Arial" panose="020B0604020202020204" pitchFamily="34" charset="0"/>
                        </a:rPr>
                        <a:t>86%</a:t>
                      </a:r>
                      <a:endParaRPr lang="en-US" sz="4000" b="0" i="0" u="none" strike="noStrike">
                        <a:effectLst/>
                        <a:highlight>
                          <a:srgbClr val="8ED0A0"/>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8ED0A0"/>
                    </a:solidFill>
                  </a:tcPr>
                </a:tc>
                <a:tc>
                  <a:txBody>
                    <a:bodyPr/>
                    <a:lstStyle/>
                    <a:p>
                      <a:pPr algn="r" fontAlgn="b">
                        <a:spcBef>
                          <a:spcPts val="0"/>
                        </a:spcBef>
                        <a:spcAft>
                          <a:spcPts val="0"/>
                        </a:spcAft>
                      </a:pPr>
                      <a:r>
                        <a:rPr lang="en-US" sz="2000" b="0" i="0" u="none" strike="noStrike">
                          <a:solidFill>
                            <a:srgbClr val="000000"/>
                          </a:solidFill>
                          <a:effectLst/>
                          <a:highlight>
                            <a:srgbClr val="DDF0E4"/>
                          </a:highlight>
                          <a:latin typeface="Arial" panose="020B0604020202020204" pitchFamily="34" charset="0"/>
                          <a:cs typeface="Arial" panose="020B0604020202020204" pitchFamily="34" charset="0"/>
                        </a:rPr>
                        <a:t>63%</a:t>
                      </a:r>
                      <a:endParaRPr lang="en-US" sz="4000" b="0" i="0" u="none" strike="noStrike">
                        <a:effectLst/>
                        <a:highlight>
                          <a:srgbClr val="DDF0E4"/>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DDF0E4"/>
                    </a:solidFill>
                  </a:tcPr>
                </a:tc>
                <a:extLst>
                  <a:ext uri="{0D108BD9-81ED-4DB2-BD59-A6C34878D82A}">
                    <a16:rowId xmlns:a16="http://schemas.microsoft.com/office/drawing/2014/main" val="1456460964"/>
                  </a:ext>
                </a:extLst>
              </a:tr>
              <a:tr h="1288451">
                <a:tc>
                  <a:txBody>
                    <a:bodyPr/>
                    <a:lstStyle/>
                    <a:p>
                      <a:pPr algn="r" fontAlgn="b">
                        <a:spcBef>
                          <a:spcPts val="0"/>
                        </a:spcBef>
                        <a:spcAft>
                          <a:spcPts val="0"/>
                        </a:spcAft>
                      </a:pPr>
                      <a:r>
                        <a:rPr lang="en-US" sz="2000" b="0" i="0" u="none" strike="noStrike">
                          <a:solidFill>
                            <a:srgbClr val="000000"/>
                          </a:solidFill>
                          <a:effectLst/>
                          <a:highlight>
                            <a:srgbClr val="FCFCFF"/>
                          </a:highlight>
                          <a:latin typeface="Arial" panose="020B0604020202020204" pitchFamily="34" charset="0"/>
                          <a:cs typeface="Arial" panose="020B0604020202020204" pitchFamily="34" charset="0"/>
                        </a:rPr>
                        <a:t>53%</a:t>
                      </a:r>
                      <a:endParaRPr lang="en-US" sz="4000" b="0" i="0" u="none" strike="noStrike">
                        <a:effectLst/>
                        <a:highlight>
                          <a:srgbClr val="FCFCFF"/>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FCFCFF"/>
                    </a:solidFill>
                  </a:tcPr>
                </a:tc>
                <a:tc>
                  <a:txBody>
                    <a:bodyPr/>
                    <a:lstStyle/>
                    <a:p>
                      <a:pPr algn="r" fontAlgn="b">
                        <a:spcBef>
                          <a:spcPts val="0"/>
                        </a:spcBef>
                        <a:spcAft>
                          <a:spcPts val="0"/>
                        </a:spcAft>
                      </a:pPr>
                      <a:r>
                        <a:rPr lang="en-US" sz="2000" b="0" i="0" u="none" strike="noStrike" dirty="0">
                          <a:solidFill>
                            <a:srgbClr val="000000"/>
                          </a:solidFill>
                          <a:effectLst/>
                          <a:highlight>
                            <a:srgbClr val="ECF6F1"/>
                          </a:highlight>
                          <a:latin typeface="Arial" panose="020B0604020202020204" pitchFamily="34" charset="0"/>
                          <a:cs typeface="Arial" panose="020B0604020202020204" pitchFamily="34" charset="0"/>
                        </a:rPr>
                        <a:t>58%</a:t>
                      </a:r>
                      <a:endParaRPr lang="en-US" sz="4000" b="0" i="0" u="none" strike="noStrike" dirty="0">
                        <a:effectLst/>
                        <a:highlight>
                          <a:srgbClr val="ECF6F1"/>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ECF6F1"/>
                    </a:solidFill>
                  </a:tcPr>
                </a:tc>
                <a:tc>
                  <a:txBody>
                    <a:bodyPr/>
                    <a:lstStyle/>
                    <a:p>
                      <a:pPr algn="r" fontAlgn="b">
                        <a:spcBef>
                          <a:spcPts val="0"/>
                        </a:spcBef>
                        <a:spcAft>
                          <a:spcPts val="0"/>
                        </a:spcAft>
                      </a:pPr>
                      <a:r>
                        <a:rPr lang="en-US" sz="2000" b="0" i="0" u="none" strike="noStrike">
                          <a:solidFill>
                            <a:srgbClr val="000000"/>
                          </a:solidFill>
                          <a:effectLst/>
                          <a:highlight>
                            <a:srgbClr val="BDE3C9"/>
                          </a:highlight>
                          <a:latin typeface="Arial" panose="020B0604020202020204" pitchFamily="34" charset="0"/>
                          <a:cs typeface="Arial" panose="020B0604020202020204" pitchFamily="34" charset="0"/>
                        </a:rPr>
                        <a:t>72%</a:t>
                      </a:r>
                      <a:endParaRPr lang="en-US" sz="4000" b="0" i="0" u="none" strike="noStrike">
                        <a:effectLst/>
                        <a:highlight>
                          <a:srgbClr val="BDE3C9"/>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BDE3C9"/>
                    </a:solidFill>
                  </a:tcPr>
                </a:tc>
                <a:tc>
                  <a:txBody>
                    <a:bodyPr/>
                    <a:lstStyle/>
                    <a:p>
                      <a:pPr algn="r" fontAlgn="b">
                        <a:spcBef>
                          <a:spcPts val="0"/>
                        </a:spcBef>
                        <a:spcAft>
                          <a:spcPts val="0"/>
                        </a:spcAft>
                      </a:pPr>
                      <a:r>
                        <a:rPr lang="en-US" sz="2000" b="0" i="0" u="none" strike="noStrike" dirty="0">
                          <a:solidFill>
                            <a:srgbClr val="000000"/>
                          </a:solidFill>
                          <a:effectLst/>
                          <a:highlight>
                            <a:srgbClr val="DBEFE3"/>
                          </a:highlight>
                          <a:latin typeface="Arial" panose="020B0604020202020204" pitchFamily="34" charset="0"/>
                          <a:cs typeface="Arial" panose="020B0604020202020204" pitchFamily="34" charset="0"/>
                        </a:rPr>
                        <a:t>63%</a:t>
                      </a:r>
                      <a:endParaRPr lang="en-US" sz="4000" b="0" i="0" u="none" strike="noStrike" dirty="0">
                        <a:effectLst/>
                        <a:highlight>
                          <a:srgbClr val="DBEFE3"/>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DBEFE3"/>
                    </a:solidFill>
                  </a:tcPr>
                </a:tc>
                <a:extLst>
                  <a:ext uri="{0D108BD9-81ED-4DB2-BD59-A6C34878D82A}">
                    <a16:rowId xmlns:a16="http://schemas.microsoft.com/office/drawing/2014/main" val="543260720"/>
                  </a:ext>
                </a:extLst>
              </a:tr>
            </a:tbl>
          </a:graphicData>
        </a:graphic>
      </p:graphicFrame>
      <p:pic>
        <p:nvPicPr>
          <p:cNvPr id="5" name="Picture 2" descr="Welcome to Lehigh Valley Health Network ...">
            <a:extLst>
              <a:ext uri="{FF2B5EF4-FFF2-40B4-BE49-F238E27FC236}">
                <a16:creationId xmlns:a16="http://schemas.microsoft.com/office/drawing/2014/main" id="{F9CBBC25-2379-DA66-C994-34C7894D093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670112" y="4895461"/>
            <a:ext cx="2266950" cy="4506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t. Luke's University Health Network's 150th Anniversary">
            <a:extLst>
              <a:ext uri="{FF2B5EF4-FFF2-40B4-BE49-F238E27FC236}">
                <a16:creationId xmlns:a16="http://schemas.microsoft.com/office/drawing/2014/main" id="{359DA4E3-A816-8BBD-E4DF-EBB8182B642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266693" y="3419623"/>
            <a:ext cx="1505331" cy="7907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F85B4F-4461-B17C-D1D9-5A4173F20833}"/>
              </a:ext>
            </a:extLst>
          </p:cNvPr>
          <p:cNvSpPr txBox="1"/>
          <p:nvPr/>
        </p:nvSpPr>
        <p:spPr>
          <a:xfrm>
            <a:off x="3019358" y="6015534"/>
            <a:ext cx="8788525"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Source: CMS measurements of HCAHPS patient experience (percent who would strongly recommend), CMS Stars, high-variation mortality rates and high-variation readmission rates all shown as percentiles compared to all hospitals nationally, with the 99</a:t>
            </a:r>
            <a:r>
              <a:rPr kumimoji="0" lang="en-US" sz="1400" b="0" i="0" u="none" strike="noStrike" kern="1200" cap="none" spc="0" normalizeH="0" baseline="30000" noProof="0" dirty="0">
                <a:ln>
                  <a:noFill/>
                </a:ln>
                <a:solidFill>
                  <a:srgbClr val="5B5B5B"/>
                </a:solidFill>
                <a:effectLst/>
                <a:uLnTx/>
                <a:uFillTx/>
                <a:latin typeface="Arial" panose="020B0604020202020204" pitchFamily="34" charset="0"/>
                <a:cs typeface="Arial" panose="020B0604020202020204" pitchFamily="34" charset="0"/>
              </a:rPr>
              <a:t>th</a:t>
            </a:r>
            <a:r>
              <a:rPr kumimoji="0" lang="en-US" sz="14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 percentile being the best. </a:t>
            </a:r>
          </a:p>
        </p:txBody>
      </p:sp>
      <p:sp>
        <p:nvSpPr>
          <p:cNvPr id="7" name="Rectangle 6">
            <a:extLst>
              <a:ext uri="{FF2B5EF4-FFF2-40B4-BE49-F238E27FC236}">
                <a16:creationId xmlns:a16="http://schemas.microsoft.com/office/drawing/2014/main" id="{06EC2811-E3FF-9DAD-A862-D025B8B049B2}"/>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58B5BAC4-765B-3901-8C3A-00577DDBB959}"/>
              </a:ext>
            </a:extLst>
          </p:cNvPr>
          <p:cNvSpPr>
            <a:spLocks noGrp="1"/>
          </p:cNvSpPr>
          <p:nvPr>
            <p:ph type="title"/>
          </p:nvPr>
        </p:nvSpPr>
        <p:spPr>
          <a:xfrm>
            <a:off x="1143446" y="281668"/>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SLUHN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Leading </a:t>
            </a:r>
            <a:r>
              <a:rPr lang="en-US" sz="4000" b="1" dirty="0">
                <a:solidFill>
                  <a:srgbClr val="59CAE8"/>
                </a:solidFill>
                <a:latin typeface="Arial" panose="020B0604020202020204" pitchFamily="34" charset="0"/>
                <a:cs typeface="Arial" panose="020B0604020202020204" pitchFamily="34" charset="0"/>
              </a:rPr>
              <a:t>Care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0395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4">
            <a:extLst>
              <a:ext uri="{FF2B5EF4-FFF2-40B4-BE49-F238E27FC236}">
                <a16:creationId xmlns:a16="http://schemas.microsoft.com/office/drawing/2014/main" id="{AFA2A0DF-5447-9DFA-147E-C70145DBB6EE}"/>
              </a:ext>
            </a:extLst>
          </p:cNvPr>
          <p:cNvGraphicFramePr>
            <a:graphicFrameLocks noGrp="1"/>
          </p:cNvGraphicFramePr>
          <p:nvPr>
            <p:ph idx="1"/>
            <p:extLst>
              <p:ext uri="{D42A27DB-BD31-4B8C-83A1-F6EECF244321}">
                <p14:modId xmlns:p14="http://schemas.microsoft.com/office/powerpoint/2010/main" val="3345559383"/>
              </p:ext>
            </p:extLst>
          </p:nvPr>
        </p:nvGraphicFramePr>
        <p:xfrm>
          <a:off x="1433867" y="1710771"/>
          <a:ext cx="10506457" cy="4194691"/>
        </p:xfrm>
        <a:graphic>
          <a:graphicData uri="http://schemas.openxmlformats.org/drawingml/2006/table">
            <a:tbl>
              <a:tblPr firstRow="1" bandRow="1"/>
              <a:tblGrid>
                <a:gridCol w="4496672">
                  <a:extLst>
                    <a:ext uri="{9D8B030D-6E8A-4147-A177-3AD203B41FA5}">
                      <a16:colId xmlns:a16="http://schemas.microsoft.com/office/drawing/2014/main" val="3878184201"/>
                    </a:ext>
                  </a:extLst>
                </a:gridCol>
                <a:gridCol w="3108378">
                  <a:extLst>
                    <a:ext uri="{9D8B030D-6E8A-4147-A177-3AD203B41FA5}">
                      <a16:colId xmlns:a16="http://schemas.microsoft.com/office/drawing/2014/main" val="184236409"/>
                    </a:ext>
                  </a:extLst>
                </a:gridCol>
                <a:gridCol w="2901407">
                  <a:extLst>
                    <a:ext uri="{9D8B030D-6E8A-4147-A177-3AD203B41FA5}">
                      <a16:colId xmlns:a16="http://schemas.microsoft.com/office/drawing/2014/main" val="1684919295"/>
                    </a:ext>
                  </a:extLst>
                </a:gridCol>
              </a:tblGrid>
              <a:tr h="764963">
                <a:tc>
                  <a:txBody>
                    <a:bodyPr/>
                    <a:lstStyle/>
                    <a:p>
                      <a:pPr algn="l" fontAlgn="b"/>
                      <a:r>
                        <a:rPr lang="en-US" sz="2200" b="0" i="0" u="none" strike="noStrike" dirty="0">
                          <a:solidFill>
                            <a:srgbClr val="000000"/>
                          </a:solidFill>
                          <a:effectLst/>
                          <a:latin typeface="Calibri" panose="020F0502020204030204" pitchFamily="34" charset="0"/>
                        </a:rPr>
                        <a:t>Hospital</a:t>
                      </a:r>
                    </a:p>
                  </a:txBody>
                  <a:tcPr marL="19105" marR="19105" marT="19105" marB="0" anchor="b">
                    <a:lnL>
                      <a:noFill/>
                    </a:lnL>
                    <a:lnR>
                      <a:noFill/>
                    </a:lnR>
                    <a:lnT>
                      <a:noFill/>
                    </a:lnT>
                    <a:lnB>
                      <a:noFill/>
                    </a:lnB>
                    <a:noFill/>
                  </a:tcPr>
                </a:tc>
                <a:tc>
                  <a:txBody>
                    <a:bodyPr/>
                    <a:lstStyle/>
                    <a:p>
                      <a:pPr algn="l" fontAlgn="b"/>
                      <a:r>
                        <a:rPr lang="en-US" sz="2200" b="0" i="0" u="none" strike="noStrike" dirty="0">
                          <a:solidFill>
                            <a:srgbClr val="000000"/>
                          </a:solidFill>
                          <a:effectLst/>
                          <a:latin typeface="Calibri" panose="020F0502020204030204" pitchFamily="34" charset="0"/>
                        </a:rPr>
                        <a:t>Rand Outpatient Services Percent of Medicare</a:t>
                      </a:r>
                    </a:p>
                  </a:txBody>
                  <a:tcPr marL="19105" marR="19105" marT="19105" marB="0" anchor="b">
                    <a:lnL>
                      <a:noFill/>
                    </a:lnL>
                    <a:lnR>
                      <a:noFill/>
                    </a:lnR>
                    <a:lnT>
                      <a:noFill/>
                    </a:lnT>
                    <a:lnB>
                      <a:noFill/>
                    </a:lnB>
                    <a:noFill/>
                  </a:tcPr>
                </a:tc>
                <a:tc>
                  <a:txBody>
                    <a:bodyPr/>
                    <a:lstStyle/>
                    <a:p>
                      <a:pPr algn="l" fontAlgn="b"/>
                      <a:r>
                        <a:rPr lang="en-US" sz="2200" b="0" i="0" u="none" strike="noStrike">
                          <a:solidFill>
                            <a:srgbClr val="000000"/>
                          </a:solidFill>
                          <a:effectLst/>
                          <a:latin typeface="Calibri" panose="020F0502020204030204" pitchFamily="34" charset="0"/>
                        </a:rPr>
                        <a:t>Rand Inpatient Services Percent of Medicare</a:t>
                      </a:r>
                    </a:p>
                  </a:txBody>
                  <a:tcPr marL="19105" marR="19105" marT="19105" marB="0" anchor="b">
                    <a:lnL>
                      <a:noFill/>
                    </a:lnL>
                    <a:lnR>
                      <a:noFill/>
                    </a:lnR>
                    <a:lnT>
                      <a:noFill/>
                    </a:lnT>
                    <a:lnB>
                      <a:noFill/>
                    </a:lnB>
                    <a:noFill/>
                  </a:tcPr>
                </a:tc>
                <a:extLst>
                  <a:ext uri="{0D108BD9-81ED-4DB2-BD59-A6C34878D82A}">
                    <a16:rowId xmlns:a16="http://schemas.microsoft.com/office/drawing/2014/main" val="1885184669"/>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Hospital - Anderson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B073"/>
                          </a:highlight>
                          <a:latin typeface="Calibri" panose="020F0502020204030204" pitchFamily="34" charset="0"/>
                        </a:rPr>
                        <a:t>290%</a:t>
                      </a:r>
                    </a:p>
                  </a:txBody>
                  <a:tcPr marL="19105" marR="19105" marT="19105" marB="0" anchor="b">
                    <a:lnL>
                      <a:noFill/>
                    </a:lnL>
                    <a:lnR>
                      <a:noFill/>
                    </a:lnR>
                    <a:lnT>
                      <a:noFill/>
                    </a:lnT>
                    <a:lnB>
                      <a:noFill/>
                    </a:lnB>
                    <a:solidFill>
                      <a:srgbClr val="F9B073"/>
                    </a:solidFill>
                  </a:tcPr>
                </a:tc>
                <a:tc>
                  <a:txBody>
                    <a:bodyPr/>
                    <a:lstStyle/>
                    <a:p>
                      <a:pPr algn="r" fontAlgn="b"/>
                      <a:r>
                        <a:rPr lang="en-US" sz="2200" b="0" i="0" u="none" strike="noStrike">
                          <a:solidFill>
                            <a:srgbClr val="000000"/>
                          </a:solidFill>
                          <a:effectLst/>
                          <a:highlight>
                            <a:srgbClr val="FABA85"/>
                          </a:highlight>
                          <a:latin typeface="Calibri" panose="020F0502020204030204" pitchFamily="34" charset="0"/>
                        </a:rPr>
                        <a:t>280%</a:t>
                      </a:r>
                    </a:p>
                  </a:txBody>
                  <a:tcPr marL="19105" marR="19105" marT="19105" marB="0" anchor="b">
                    <a:lnL>
                      <a:noFill/>
                    </a:lnL>
                    <a:lnR>
                      <a:noFill/>
                    </a:lnR>
                    <a:lnT>
                      <a:noFill/>
                    </a:lnT>
                    <a:lnB>
                      <a:noFill/>
                    </a:lnB>
                    <a:solidFill>
                      <a:srgbClr val="FABA85"/>
                    </a:solidFill>
                  </a:tcPr>
                </a:tc>
                <a:extLst>
                  <a:ext uri="{0D108BD9-81ED-4DB2-BD59-A6C34878D82A}">
                    <a16:rowId xmlns:a16="http://schemas.microsoft.com/office/drawing/2014/main" val="4015801012"/>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Upper Bucks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AE70"/>
                          </a:highlight>
                          <a:latin typeface="Calibri" panose="020F0502020204030204" pitchFamily="34" charset="0"/>
                        </a:rPr>
                        <a:t>292%</a:t>
                      </a:r>
                    </a:p>
                  </a:txBody>
                  <a:tcPr marL="19105" marR="19105" marT="19105" marB="0" anchor="b">
                    <a:lnL>
                      <a:noFill/>
                    </a:lnL>
                    <a:lnR>
                      <a:noFill/>
                    </a:lnR>
                    <a:lnT>
                      <a:noFill/>
                    </a:lnT>
                    <a:lnB>
                      <a:noFill/>
                    </a:lnB>
                    <a:solidFill>
                      <a:srgbClr val="F9AE70"/>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873359961"/>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Bethlehem</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AB379"/>
                          </a:highlight>
                          <a:latin typeface="Calibri" panose="020F0502020204030204" pitchFamily="34" charset="0"/>
                        </a:rPr>
                        <a:t>287%</a:t>
                      </a:r>
                    </a:p>
                  </a:txBody>
                  <a:tcPr marL="19105" marR="19105" marT="19105" marB="0" anchor="b">
                    <a:lnL>
                      <a:noFill/>
                    </a:lnL>
                    <a:lnR>
                      <a:noFill/>
                    </a:lnR>
                    <a:lnT>
                      <a:noFill/>
                    </a:lnT>
                    <a:lnB>
                      <a:noFill/>
                    </a:lnB>
                    <a:solidFill>
                      <a:srgbClr val="FAB379"/>
                    </a:solidFill>
                  </a:tcPr>
                </a:tc>
                <a:tc>
                  <a:txBody>
                    <a:bodyPr/>
                    <a:lstStyle/>
                    <a:p>
                      <a:pPr algn="r" fontAlgn="b"/>
                      <a:r>
                        <a:rPr lang="en-US" sz="2200" b="0" i="0" u="none" strike="noStrike">
                          <a:solidFill>
                            <a:srgbClr val="000000"/>
                          </a:solidFill>
                          <a:effectLst/>
                          <a:highlight>
                            <a:srgbClr val="FFFDFC"/>
                          </a:highlight>
                          <a:latin typeface="Calibri" panose="020F0502020204030204" pitchFamily="34" charset="0"/>
                        </a:rPr>
                        <a:t>214%</a:t>
                      </a:r>
                    </a:p>
                  </a:txBody>
                  <a:tcPr marL="19105" marR="19105" marT="19105" marB="0" anchor="b">
                    <a:lnL>
                      <a:noFill/>
                    </a:lnL>
                    <a:lnR>
                      <a:noFill/>
                    </a:lnR>
                    <a:lnT>
                      <a:noFill/>
                    </a:lnT>
                    <a:lnB>
                      <a:noFill/>
                    </a:lnB>
                    <a:solidFill>
                      <a:srgbClr val="FFFDFC"/>
                    </a:solidFill>
                  </a:tcPr>
                </a:tc>
                <a:extLst>
                  <a:ext uri="{0D108BD9-81ED-4DB2-BD59-A6C34878D82A}">
                    <a16:rowId xmlns:a16="http://schemas.microsoft.com/office/drawing/2014/main" val="1959494578"/>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Warren Hospital</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highlight>
                            <a:srgbClr val="FCD8B9"/>
                          </a:highlight>
                          <a:latin typeface="Calibri" panose="020F0502020204030204" pitchFamily="34" charset="0"/>
                        </a:rPr>
                        <a:t>251%</a:t>
                      </a:r>
                    </a:p>
                  </a:txBody>
                  <a:tcPr marL="19105" marR="19105" marT="19105" marB="0" anchor="b">
                    <a:lnL>
                      <a:noFill/>
                    </a:lnL>
                    <a:lnR>
                      <a:noFill/>
                    </a:lnR>
                    <a:lnT>
                      <a:noFill/>
                    </a:lnT>
                    <a:lnB>
                      <a:noFill/>
                    </a:lnB>
                    <a:solidFill>
                      <a:srgbClr val="FCD8B9"/>
                    </a:solidFill>
                  </a:tcPr>
                </a:tc>
                <a:tc>
                  <a:txBody>
                    <a:bodyPr/>
                    <a:lstStyle/>
                    <a:p>
                      <a:pPr algn="l" fontAlgn="b"/>
                      <a:r>
                        <a:rPr lang="en-US" sz="2200" b="0" i="0" u="none" strike="noStrike" dirty="0">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205911860"/>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 Easton Campus</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highlight>
                            <a:srgbClr val="FFFFFF"/>
                          </a:highlight>
                          <a:latin typeface="Calibri" panose="020F0502020204030204" pitchFamily="34" charset="0"/>
                        </a:rPr>
                        <a:t>212%</a:t>
                      </a:r>
                    </a:p>
                  </a:txBody>
                  <a:tcPr marL="19105" marR="19105" marT="19105" marB="0" anchor="b">
                    <a:lnL>
                      <a:noFill/>
                    </a:lnL>
                    <a:lnR>
                      <a:noFill/>
                    </a:lnR>
                    <a:lnT>
                      <a:noFill/>
                    </a:lnT>
                    <a:lnB>
                      <a:noFill/>
                    </a:lnB>
                    <a:solidFill>
                      <a:srgbClr val="FFFFFF"/>
                    </a:solidFill>
                  </a:tcPr>
                </a:tc>
                <a:tc>
                  <a:txBody>
                    <a:bodyPr/>
                    <a:lstStyle/>
                    <a:p>
                      <a:pPr algn="l" fontAlgn="b"/>
                      <a:r>
                        <a:rPr lang="en-US" sz="2200" b="0" i="0" u="none" strike="noStrike" dirty="0">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2759948968"/>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Hospital - Monroe County</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latin typeface="Calibri" panose="020F0502020204030204" pitchFamily="34" charset="0"/>
                        </a:rPr>
                        <a:t>251%</a:t>
                      </a:r>
                    </a:p>
                  </a:txBody>
                  <a:tcPr marL="19105" marR="19105" marT="19105" marB="0" anchor="b">
                    <a:lnL>
                      <a:noFill/>
                    </a:lnL>
                    <a:lnR>
                      <a:noFill/>
                    </a:lnR>
                    <a:lnT>
                      <a:noFill/>
                    </a:lnT>
                    <a:lnB>
                      <a:noFill/>
                    </a:lnB>
                    <a:solidFill>
                      <a:srgbClr val="FCD8B9"/>
                    </a:solidFill>
                  </a:tcPr>
                </a:tc>
                <a:tc>
                  <a:txBody>
                    <a:bodyPr/>
                    <a:lstStyle/>
                    <a:p>
                      <a:pPr algn="r" fontAlgn="b"/>
                      <a:r>
                        <a:rPr lang="en-US" sz="2200" b="0" i="0" u="none" strike="noStrike" dirty="0">
                          <a:solidFill>
                            <a:srgbClr val="000000"/>
                          </a:solidFill>
                          <a:effectLst/>
                          <a:latin typeface="Calibri" panose="020F0502020204030204" pitchFamily="34" charset="0"/>
                        </a:rPr>
                        <a:t>219%</a:t>
                      </a:r>
                    </a:p>
                  </a:txBody>
                  <a:tcPr marL="19105" marR="19105" marT="19105" marB="0" anchor="b">
                    <a:lnL>
                      <a:noFill/>
                    </a:lnL>
                    <a:lnR>
                      <a:noFill/>
                    </a:lnR>
                    <a:lnT>
                      <a:noFill/>
                    </a:lnT>
                    <a:lnB>
                      <a:noFill/>
                    </a:lnB>
                    <a:solidFill>
                      <a:srgbClr val="FCD8B9"/>
                    </a:solidFill>
                  </a:tcPr>
                </a:tc>
                <a:extLst>
                  <a:ext uri="{0D108BD9-81ED-4DB2-BD59-A6C34878D82A}">
                    <a16:rowId xmlns:a16="http://schemas.microsoft.com/office/drawing/2014/main" val="4245907629"/>
                  </a:ext>
                </a:extLst>
              </a:tr>
              <a:tr h="428716">
                <a:tc>
                  <a:txBody>
                    <a:bodyPr/>
                    <a:lstStyle/>
                    <a:p>
                      <a:pPr algn="l" fontAlgn="b"/>
                      <a:r>
                        <a:rPr lang="en-US" sz="2200" b="0" i="0" u="none" strike="noStrike" dirty="0">
                          <a:solidFill>
                            <a:srgbClr val="000000"/>
                          </a:solidFill>
                          <a:effectLst/>
                          <a:latin typeface="Calibri" panose="020F0502020204030204" pitchFamily="34" charset="0"/>
                        </a:rPr>
                        <a:t>Grand View Hospital</a:t>
                      </a:r>
                    </a:p>
                  </a:txBody>
                  <a:tcPr marL="19105" marR="19105" marT="19105" marB="0" anchor="b">
                    <a:lnL>
                      <a:noFill/>
                    </a:lnL>
                    <a:lnR>
                      <a:noFill/>
                    </a:lnR>
                    <a:lnT>
                      <a:noFill/>
                    </a:lnT>
                    <a:lnB>
                      <a:noFill/>
                    </a:lnB>
                    <a:solidFill>
                      <a:schemeClr val="bg1"/>
                    </a:solidFill>
                  </a:tcPr>
                </a:tc>
                <a:tc>
                  <a:txBody>
                    <a:bodyPr/>
                    <a:lstStyle/>
                    <a:p>
                      <a:pPr algn="r" fontAlgn="b"/>
                      <a:r>
                        <a:rPr lang="en-US" sz="2200" b="0" i="0" u="none" strike="noStrike" dirty="0">
                          <a:solidFill>
                            <a:srgbClr val="000000"/>
                          </a:solidFill>
                          <a:effectLst/>
                          <a:latin typeface="Calibri" panose="020F0502020204030204" pitchFamily="34" charset="0"/>
                        </a:rPr>
                        <a:t>179%</a:t>
                      </a:r>
                    </a:p>
                  </a:txBody>
                  <a:tcPr marL="19105" marR="19105" marT="19105" marB="0" anchor="b">
                    <a:lnL>
                      <a:noFill/>
                    </a:lnL>
                    <a:lnR>
                      <a:noFill/>
                    </a:lnR>
                    <a:lnT>
                      <a:noFill/>
                    </a:lnT>
                    <a:lnB>
                      <a:noFill/>
                    </a:lnB>
                    <a:solidFill>
                      <a:schemeClr val="bg1"/>
                    </a:solidFill>
                  </a:tcPr>
                </a:tc>
                <a:tc>
                  <a:txBody>
                    <a:bodyPr/>
                    <a:lstStyle/>
                    <a:p>
                      <a:pPr algn="r" fontAlgn="b"/>
                      <a:r>
                        <a:rPr lang="en-US" sz="2200" b="0" i="0" u="none" strike="noStrike" dirty="0">
                          <a:solidFill>
                            <a:srgbClr val="000000"/>
                          </a:solidFill>
                          <a:effectLst/>
                          <a:latin typeface="Calibri" panose="020F0502020204030204" pitchFamily="34" charset="0"/>
                        </a:rPr>
                        <a:t>197%</a:t>
                      </a:r>
                    </a:p>
                  </a:txBody>
                  <a:tcPr marL="19105" marR="19105" marT="19105" marB="0" anchor="b">
                    <a:lnL>
                      <a:noFill/>
                    </a:lnL>
                    <a:lnR>
                      <a:noFill/>
                    </a:lnR>
                    <a:lnT>
                      <a:noFill/>
                    </a:lnT>
                    <a:lnB>
                      <a:noFill/>
                    </a:lnB>
                    <a:solidFill>
                      <a:schemeClr val="bg1"/>
                    </a:solidFill>
                  </a:tcPr>
                </a:tc>
                <a:extLst>
                  <a:ext uri="{0D108BD9-81ED-4DB2-BD59-A6C34878D82A}">
                    <a16:rowId xmlns:a16="http://schemas.microsoft.com/office/drawing/2014/main" val="2433459656"/>
                  </a:ext>
                </a:extLst>
              </a:tr>
              <a:tr h="428716">
                <a:tc>
                  <a:txBody>
                    <a:bodyPr/>
                    <a:lstStyle/>
                    <a:p>
                      <a:pPr algn="l" fontAlgn="b"/>
                      <a:r>
                        <a:rPr lang="en-US" sz="2200" b="0" i="0" u="none" strike="noStrike" dirty="0">
                          <a:solidFill>
                            <a:srgbClr val="000000"/>
                          </a:solidFill>
                          <a:effectLst/>
                          <a:latin typeface="Calibri" panose="020F0502020204030204" pitchFamily="34" charset="0"/>
                        </a:rPr>
                        <a:t>Lehigh Valley Hospital Cedar Crest</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highlight>
                            <a:srgbClr val="F79646"/>
                          </a:highlight>
                          <a:latin typeface="Calibri" panose="020F0502020204030204" pitchFamily="34" charset="0"/>
                        </a:rPr>
                        <a:t>315%</a:t>
                      </a:r>
                    </a:p>
                  </a:txBody>
                  <a:tcPr marL="19105" marR="19105" marT="19105" marB="0" anchor="b">
                    <a:lnL>
                      <a:noFill/>
                    </a:lnL>
                    <a:lnR>
                      <a:noFill/>
                    </a:lnR>
                    <a:lnT>
                      <a:noFill/>
                    </a:lnT>
                    <a:lnB>
                      <a:noFill/>
                    </a:lnB>
                    <a:solidFill>
                      <a:srgbClr val="F79646"/>
                    </a:solidFill>
                  </a:tcPr>
                </a:tc>
                <a:tc>
                  <a:txBody>
                    <a:bodyPr/>
                    <a:lstStyle/>
                    <a:p>
                      <a:pPr algn="r" fontAlgn="b"/>
                      <a:r>
                        <a:rPr lang="en-US" sz="2200" b="0" i="0" u="none" strike="noStrike" dirty="0">
                          <a:solidFill>
                            <a:srgbClr val="000000"/>
                          </a:solidFill>
                          <a:effectLst/>
                          <a:highlight>
                            <a:srgbClr val="FDDABD"/>
                          </a:highlight>
                          <a:latin typeface="Calibri" panose="020F0502020204030204" pitchFamily="34" charset="0"/>
                        </a:rPr>
                        <a:t>249%</a:t>
                      </a:r>
                    </a:p>
                  </a:txBody>
                  <a:tcPr marL="19105" marR="19105" marT="19105" marB="0" anchor="b">
                    <a:lnL>
                      <a:noFill/>
                    </a:lnL>
                    <a:lnR>
                      <a:noFill/>
                    </a:lnR>
                    <a:lnT>
                      <a:noFill/>
                    </a:lnT>
                    <a:lnB>
                      <a:noFill/>
                    </a:lnB>
                    <a:solidFill>
                      <a:srgbClr val="FDDABD"/>
                    </a:solidFill>
                  </a:tcPr>
                </a:tc>
                <a:extLst>
                  <a:ext uri="{0D108BD9-81ED-4DB2-BD59-A6C34878D82A}">
                    <a16:rowId xmlns:a16="http://schemas.microsoft.com/office/drawing/2014/main" val="2437637617"/>
                  </a:ext>
                </a:extLst>
              </a:tr>
            </a:tbl>
          </a:graphicData>
        </a:graphic>
      </p:graphicFrame>
      <p:sp>
        <p:nvSpPr>
          <p:cNvPr id="3" name="TextBox 2">
            <a:extLst>
              <a:ext uri="{FF2B5EF4-FFF2-40B4-BE49-F238E27FC236}">
                <a16:creationId xmlns:a16="http://schemas.microsoft.com/office/drawing/2014/main" id="{76CBA33A-A09D-F008-EFF9-25B34FFB78DA}"/>
              </a:ext>
            </a:extLst>
          </p:cNvPr>
          <p:cNvSpPr txBox="1"/>
          <p:nvPr/>
        </p:nvSpPr>
        <p:spPr>
          <a:xfrm>
            <a:off x="2813414" y="5982133"/>
            <a:ext cx="878852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ileron Light"/>
                <a:ea typeface="+mn-ea"/>
                <a:cs typeface="+mn-cs"/>
              </a:rPr>
              <a:t>Source: RAND round 5 hospital cost data: https://www.rand.org/pubs/research_reports/RRA1144-2.html</a:t>
            </a:r>
          </a:p>
        </p:txBody>
      </p:sp>
      <p:sp>
        <p:nvSpPr>
          <p:cNvPr id="5" name="Rectangle 4">
            <a:extLst>
              <a:ext uri="{FF2B5EF4-FFF2-40B4-BE49-F238E27FC236}">
                <a16:creationId xmlns:a16="http://schemas.microsoft.com/office/drawing/2014/main" id="{071177CF-501D-49B4-18C3-24177CC6F96F}"/>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DFF233D9-7F19-9283-14DF-A46881A805AF}"/>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SLUHN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Care at </a:t>
            </a:r>
            <a:r>
              <a:rPr lang="en-US" sz="4000" b="1" dirty="0">
                <a:solidFill>
                  <a:srgbClr val="59CAE8"/>
                </a:solidFill>
                <a:latin typeface="Arial" panose="020B0604020202020204" pitchFamily="34" charset="0"/>
                <a:cs typeface="Arial" panose="020B0604020202020204" pitchFamily="34" charset="0"/>
              </a:rPr>
              <a:t>Value Pricing</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6264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dirty="0">
                <a:solidFill>
                  <a:srgbClr val="000B2E"/>
                </a:solidFill>
                <a:latin typeface="Arial" panose="020B0604020202020204" pitchFamily="34" charset="0"/>
                <a:cs typeface="Arial" panose="020B0604020202020204" pitchFamily="34" charset="0"/>
              </a:rPr>
              <a:t>Your plan focused on Your relationship with Employers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7" name="Picture 4" descr="St. Luke's University Health Network's 150th Anniversary">
            <a:extLst>
              <a:ext uri="{FF2B5EF4-FFF2-40B4-BE49-F238E27FC236}">
                <a16:creationId xmlns:a16="http://schemas.microsoft.com/office/drawing/2014/main" id="{D6AB8280-65CC-A73E-FAC0-B6BB8F43AF67}"/>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93250" y="-64796"/>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33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~$.47 of loss</a:t>
            </a:r>
          </a:p>
        </p:txBody>
      </p:sp>
      <p:sp>
        <p:nvSpPr>
          <p:cNvPr id="14"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15"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6"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~$.37 of profit</a:t>
            </a:r>
          </a:p>
        </p:txBody>
      </p:sp>
      <p:pic>
        <p:nvPicPr>
          <p:cNvPr id="3" name="Picture 4" descr="St. Luke's University Health Network's 150th Anniversary">
            <a:extLst>
              <a:ext uri="{FF2B5EF4-FFF2-40B4-BE49-F238E27FC236}">
                <a16:creationId xmlns:a16="http://schemas.microsoft.com/office/drawing/2014/main" id="{533FD6B8-D6F3-D3D6-4D32-D3F2818DD6E0}"/>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89009" y="0"/>
            <a:ext cx="1616333" cy="84908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0D1BA4-6D19-00FD-17FF-A0AD0AAAF7EE}"/>
              </a:ext>
            </a:extLst>
          </p:cNvPr>
          <p:cNvSpPr txBox="1"/>
          <p:nvPr/>
        </p:nvSpPr>
        <p:spPr>
          <a:xfrm>
            <a:off x="1973943" y="5562552"/>
            <a:ext cx="8964377" cy="369332"/>
          </a:xfrm>
          <a:prstGeom prst="rect">
            <a:avLst/>
          </a:prstGeom>
          <a:noFill/>
        </p:spPr>
        <p:txBody>
          <a:bodyPr wrap="none" rtlCol="0">
            <a:spAutoFit/>
          </a:bodyPr>
          <a:lstStyle/>
          <a:p>
            <a:r>
              <a:rPr lang="en-US" dirty="0"/>
              <a:t>See Slide 29 for More Details on Calculation of Commercial and Government-Pay Net Income</a:t>
            </a:r>
          </a:p>
        </p:txBody>
      </p:sp>
    </p:spTree>
    <p:extLst>
      <p:ext uri="{BB962C8B-B14F-4D97-AF65-F5344CB8AC3E}">
        <p14:creationId xmlns:p14="http://schemas.microsoft.com/office/powerpoint/2010/main" val="3348736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8D2E8DAF-1D68-E498-59FF-722789499308}"/>
              </a:ext>
            </a:extLst>
          </p:cNvPr>
          <p:cNvSpPr/>
          <p:nvPr/>
        </p:nvSpPr>
        <p:spPr>
          <a:xfrm>
            <a:off x="1666276" y="2989943"/>
            <a:ext cx="8418286" cy="2191657"/>
          </a:xfrm>
          <a:custGeom>
            <a:avLst/>
            <a:gdLst>
              <a:gd name="connsiteX0" fmla="*/ 8157028 w 8418286"/>
              <a:gd name="connsiteY0" fmla="*/ 2191657 h 2191657"/>
              <a:gd name="connsiteX1" fmla="*/ 0 w 8418286"/>
              <a:gd name="connsiteY1" fmla="*/ 0 h 2191657"/>
              <a:gd name="connsiteX2" fmla="*/ 1088571 w 8418286"/>
              <a:gd name="connsiteY2" fmla="*/ 14515 h 2191657"/>
              <a:gd name="connsiteX3" fmla="*/ 8418286 w 8418286"/>
              <a:gd name="connsiteY3" fmla="*/ 2177143 h 2191657"/>
              <a:gd name="connsiteX4" fmla="*/ 8157028 w 8418286"/>
              <a:gd name="connsiteY4" fmla="*/ 2191657 h 2191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286" h="2191657">
                <a:moveTo>
                  <a:pt x="8157028" y="2191657"/>
                </a:moveTo>
                <a:lnTo>
                  <a:pt x="0" y="0"/>
                </a:lnTo>
                <a:lnTo>
                  <a:pt x="1088571" y="14515"/>
                </a:lnTo>
                <a:lnTo>
                  <a:pt x="8418286" y="2177143"/>
                </a:lnTo>
                <a:lnTo>
                  <a:pt x="8157028" y="21916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46AC806E-BA4D-AF7F-5FBB-58FA9ECC5E79}"/>
              </a:ext>
            </a:extLst>
          </p:cNvPr>
          <p:cNvSpPr/>
          <p:nvPr/>
        </p:nvSpPr>
        <p:spPr>
          <a:xfrm>
            <a:off x="1680790" y="3004458"/>
            <a:ext cx="5544457" cy="2206171"/>
          </a:xfrm>
          <a:custGeom>
            <a:avLst/>
            <a:gdLst>
              <a:gd name="connsiteX0" fmla="*/ 5370286 w 5544457"/>
              <a:gd name="connsiteY0" fmla="*/ 2206171 h 2206171"/>
              <a:gd name="connsiteX1" fmla="*/ 0 w 5544457"/>
              <a:gd name="connsiteY1" fmla="*/ 0 h 2206171"/>
              <a:gd name="connsiteX2" fmla="*/ 1117600 w 5544457"/>
              <a:gd name="connsiteY2" fmla="*/ 0 h 2206171"/>
              <a:gd name="connsiteX3" fmla="*/ 5544457 w 5544457"/>
              <a:gd name="connsiteY3" fmla="*/ 2177142 h 2206171"/>
              <a:gd name="connsiteX4" fmla="*/ 5370286 w 5544457"/>
              <a:gd name="connsiteY4" fmla="*/ 2206171 h 2206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4457" h="2206171">
                <a:moveTo>
                  <a:pt x="5370286" y="2206171"/>
                </a:moveTo>
                <a:lnTo>
                  <a:pt x="0" y="0"/>
                </a:lnTo>
                <a:lnTo>
                  <a:pt x="1117600" y="0"/>
                </a:lnTo>
                <a:lnTo>
                  <a:pt x="5544457" y="2177142"/>
                </a:lnTo>
                <a:lnTo>
                  <a:pt x="5370286" y="22061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3FC6F23-9DB4-CE0C-FCDC-AE4293BB605A}"/>
              </a:ext>
            </a:extLst>
          </p:cNvPr>
          <p:cNvSpPr/>
          <p:nvPr/>
        </p:nvSpPr>
        <p:spPr>
          <a:xfrm>
            <a:off x="1666276" y="2989943"/>
            <a:ext cx="2859314" cy="2220686"/>
          </a:xfrm>
          <a:custGeom>
            <a:avLst/>
            <a:gdLst>
              <a:gd name="connsiteX0" fmla="*/ 2627086 w 2859314"/>
              <a:gd name="connsiteY0" fmla="*/ 2133600 h 2220686"/>
              <a:gd name="connsiteX1" fmla="*/ 0 w 2859314"/>
              <a:gd name="connsiteY1" fmla="*/ 0 h 2220686"/>
              <a:gd name="connsiteX2" fmla="*/ 1103086 w 2859314"/>
              <a:gd name="connsiteY2" fmla="*/ 0 h 2220686"/>
              <a:gd name="connsiteX3" fmla="*/ 2859314 w 2859314"/>
              <a:gd name="connsiteY3" fmla="*/ 2220686 h 2220686"/>
              <a:gd name="connsiteX4" fmla="*/ 2627086 w 2859314"/>
              <a:gd name="connsiteY4" fmla="*/ 2133600 h 2220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9314" h="2220686">
                <a:moveTo>
                  <a:pt x="2627086" y="2133600"/>
                </a:moveTo>
                <a:lnTo>
                  <a:pt x="0" y="0"/>
                </a:lnTo>
                <a:lnTo>
                  <a:pt x="1103086" y="0"/>
                </a:lnTo>
                <a:lnTo>
                  <a:pt x="2859314" y="2220686"/>
                </a:lnTo>
                <a:lnTo>
                  <a:pt x="2627086" y="2133600"/>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5553759E-194C-3BE9-0812-4BDD6E106166}"/>
              </a:ext>
            </a:extLst>
          </p:cNvPr>
          <p:cNvSpPr/>
          <p:nvPr/>
        </p:nvSpPr>
        <p:spPr>
          <a:xfrm>
            <a:off x="679304" y="3265715"/>
            <a:ext cx="2365829" cy="1959428"/>
          </a:xfrm>
          <a:custGeom>
            <a:avLst/>
            <a:gdLst>
              <a:gd name="connsiteX0" fmla="*/ 696686 w 2365829"/>
              <a:gd name="connsiteY0" fmla="*/ 1959428 h 1959428"/>
              <a:gd name="connsiteX1" fmla="*/ 0 w 2365829"/>
              <a:gd name="connsiteY1" fmla="*/ 0 h 1959428"/>
              <a:gd name="connsiteX2" fmla="*/ 2365829 w 2365829"/>
              <a:gd name="connsiteY2" fmla="*/ 0 h 1959428"/>
              <a:gd name="connsiteX3" fmla="*/ 1596572 w 2365829"/>
              <a:gd name="connsiteY3" fmla="*/ 1930400 h 1959428"/>
              <a:gd name="connsiteX4" fmla="*/ 696686 w 2365829"/>
              <a:gd name="connsiteY4" fmla="*/ 1959428 h 1959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5829" h="1959428">
                <a:moveTo>
                  <a:pt x="696686" y="1959428"/>
                </a:moveTo>
                <a:lnTo>
                  <a:pt x="0" y="0"/>
                </a:lnTo>
                <a:lnTo>
                  <a:pt x="2365829" y="0"/>
                </a:lnTo>
                <a:lnTo>
                  <a:pt x="1596572" y="1930400"/>
                </a:lnTo>
                <a:lnTo>
                  <a:pt x="696686" y="1959428"/>
                </a:lnTo>
                <a:close/>
              </a:path>
            </a:pathLst>
          </a:custGeom>
          <a:solidFill>
            <a:srgbClr val="01A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8" name="Flowchart: Terminator 7">
            <a:extLst>
              <a:ext uri="{FF2B5EF4-FFF2-40B4-BE49-F238E27FC236}">
                <a16:creationId xmlns:a16="http://schemas.microsoft.com/office/drawing/2014/main" id="{8D335AB1-AB15-7067-B3BD-167BDAD9B16A}"/>
              </a:ext>
            </a:extLst>
          </p:cNvPr>
          <p:cNvSpPr/>
          <p:nvPr/>
        </p:nvSpPr>
        <p:spPr>
          <a:xfrm>
            <a:off x="609598"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1A050"/>
                </a:solidFill>
              </a:rPr>
              <a:t>SLUHN DTE</a:t>
            </a:r>
          </a:p>
        </p:txBody>
      </p:sp>
      <p:sp>
        <p:nvSpPr>
          <p:cNvPr id="18" name="Flowchart: Terminator 17">
            <a:extLst>
              <a:ext uri="{FF2B5EF4-FFF2-40B4-BE49-F238E27FC236}">
                <a16:creationId xmlns:a16="http://schemas.microsoft.com/office/drawing/2014/main" id="{5F2996B7-8D0A-1EEE-8045-797310EFC387}"/>
              </a:ext>
            </a:extLst>
          </p:cNvPr>
          <p:cNvSpPr/>
          <p:nvPr/>
        </p:nvSpPr>
        <p:spPr>
          <a:xfrm>
            <a:off x="6449794"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#2</a:t>
            </a:r>
          </a:p>
        </p:txBody>
      </p:sp>
      <p:sp>
        <p:nvSpPr>
          <p:cNvPr id="19" name="Flowchart: Terminator 18">
            <a:extLst>
              <a:ext uri="{FF2B5EF4-FFF2-40B4-BE49-F238E27FC236}">
                <a16:creationId xmlns:a16="http://schemas.microsoft.com/office/drawing/2014/main" id="{420D1CFD-2433-B308-F247-7CAA7C100A3E}"/>
              </a:ext>
            </a:extLst>
          </p:cNvPr>
          <p:cNvSpPr/>
          <p:nvPr/>
        </p:nvSpPr>
        <p:spPr>
          <a:xfrm>
            <a:off x="9369892"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#3</a:t>
            </a:r>
          </a:p>
        </p:txBody>
      </p:sp>
      <p:sp>
        <p:nvSpPr>
          <p:cNvPr id="21" name="Freeform: Shape 20">
            <a:extLst>
              <a:ext uri="{FF2B5EF4-FFF2-40B4-BE49-F238E27FC236}">
                <a16:creationId xmlns:a16="http://schemas.microsoft.com/office/drawing/2014/main" id="{BA085909-3DBA-1031-1C78-985B4CD8D4FC}"/>
              </a:ext>
            </a:extLst>
          </p:cNvPr>
          <p:cNvSpPr/>
          <p:nvPr/>
        </p:nvSpPr>
        <p:spPr>
          <a:xfrm>
            <a:off x="4612676" y="2772229"/>
            <a:ext cx="1291771" cy="2409371"/>
          </a:xfrm>
          <a:custGeom>
            <a:avLst/>
            <a:gdLst>
              <a:gd name="connsiteX0" fmla="*/ 0 w 1291771"/>
              <a:gd name="connsiteY0" fmla="*/ 2409371 h 2409371"/>
              <a:gd name="connsiteX1" fmla="*/ 391886 w 1291771"/>
              <a:gd name="connsiteY1" fmla="*/ 14514 h 2409371"/>
              <a:gd name="connsiteX2" fmla="*/ 1291771 w 1291771"/>
              <a:gd name="connsiteY2" fmla="*/ 0 h 2409371"/>
              <a:gd name="connsiteX3" fmla="*/ 246743 w 1291771"/>
              <a:gd name="connsiteY3" fmla="*/ 2380343 h 2409371"/>
              <a:gd name="connsiteX4" fmla="*/ 0 w 1291771"/>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771" h="2409371">
                <a:moveTo>
                  <a:pt x="0" y="2409371"/>
                </a:moveTo>
                <a:lnTo>
                  <a:pt x="391886" y="14514"/>
                </a:lnTo>
                <a:lnTo>
                  <a:pt x="1291771" y="0"/>
                </a:lnTo>
                <a:lnTo>
                  <a:pt x="246743" y="2380343"/>
                </a:lnTo>
                <a:lnTo>
                  <a:pt x="0"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Terminator 9">
            <a:extLst>
              <a:ext uri="{FF2B5EF4-FFF2-40B4-BE49-F238E27FC236}">
                <a16:creationId xmlns:a16="http://schemas.microsoft.com/office/drawing/2014/main" id="{75CE525B-6A36-CBFD-DAEC-08C2DCCA890E}"/>
              </a:ext>
            </a:extLst>
          </p:cNvPr>
          <p:cNvSpPr/>
          <p:nvPr/>
        </p:nvSpPr>
        <p:spPr>
          <a:xfrm>
            <a:off x="3529696"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#1</a:t>
            </a:r>
          </a:p>
        </p:txBody>
      </p:sp>
      <p:sp>
        <p:nvSpPr>
          <p:cNvPr id="24" name="Freeform: Shape 23">
            <a:extLst>
              <a:ext uri="{FF2B5EF4-FFF2-40B4-BE49-F238E27FC236}">
                <a16:creationId xmlns:a16="http://schemas.microsoft.com/office/drawing/2014/main" id="{25DD61BC-D896-8689-4F94-1C5E1AD8A77C}"/>
              </a:ext>
            </a:extLst>
          </p:cNvPr>
          <p:cNvSpPr/>
          <p:nvPr/>
        </p:nvSpPr>
        <p:spPr>
          <a:xfrm>
            <a:off x="5120676" y="2685143"/>
            <a:ext cx="4702628" cy="2496457"/>
          </a:xfrm>
          <a:custGeom>
            <a:avLst/>
            <a:gdLst>
              <a:gd name="connsiteX0" fmla="*/ 0 w 4702628"/>
              <a:gd name="connsiteY0" fmla="*/ 2496457 h 2496457"/>
              <a:gd name="connsiteX1" fmla="*/ 4209143 w 4702628"/>
              <a:gd name="connsiteY1" fmla="*/ 0 h 2496457"/>
              <a:gd name="connsiteX2" fmla="*/ 4702628 w 4702628"/>
              <a:gd name="connsiteY2" fmla="*/ 14515 h 2496457"/>
              <a:gd name="connsiteX3" fmla="*/ 0 w 4702628"/>
              <a:gd name="connsiteY3" fmla="*/ 2496457 h 2496457"/>
            </a:gdLst>
            <a:ahLst/>
            <a:cxnLst>
              <a:cxn ang="0">
                <a:pos x="connsiteX0" y="connsiteY0"/>
              </a:cxn>
              <a:cxn ang="0">
                <a:pos x="connsiteX1" y="connsiteY1"/>
              </a:cxn>
              <a:cxn ang="0">
                <a:pos x="connsiteX2" y="connsiteY2"/>
              </a:cxn>
              <a:cxn ang="0">
                <a:pos x="connsiteX3" y="connsiteY3"/>
              </a:cxn>
            </a:cxnLst>
            <a:rect l="l" t="t" r="r" b="b"/>
            <a:pathLst>
              <a:path w="4702628" h="2496457">
                <a:moveTo>
                  <a:pt x="0" y="2496457"/>
                </a:moveTo>
                <a:lnTo>
                  <a:pt x="4209143" y="0"/>
                </a:lnTo>
                <a:lnTo>
                  <a:pt x="4702628" y="14515"/>
                </a:lnTo>
                <a:lnTo>
                  <a:pt x="0" y="24964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F58DA010-867A-9491-969D-99ECC30A6783}"/>
              </a:ext>
            </a:extLst>
          </p:cNvPr>
          <p:cNvSpPr/>
          <p:nvPr/>
        </p:nvSpPr>
        <p:spPr>
          <a:xfrm>
            <a:off x="4990047" y="2772229"/>
            <a:ext cx="2641600" cy="2423886"/>
          </a:xfrm>
          <a:custGeom>
            <a:avLst/>
            <a:gdLst>
              <a:gd name="connsiteX0" fmla="*/ 2481943 w 2641600"/>
              <a:gd name="connsiteY0" fmla="*/ 2423886 h 2423886"/>
              <a:gd name="connsiteX1" fmla="*/ 0 w 2641600"/>
              <a:gd name="connsiteY1" fmla="*/ 29029 h 2423886"/>
              <a:gd name="connsiteX2" fmla="*/ 914400 w 2641600"/>
              <a:gd name="connsiteY2" fmla="*/ 0 h 2423886"/>
              <a:gd name="connsiteX3" fmla="*/ 2641600 w 2641600"/>
              <a:gd name="connsiteY3" fmla="*/ 2409371 h 2423886"/>
              <a:gd name="connsiteX4" fmla="*/ 2481943 w 2641600"/>
              <a:gd name="connsiteY4" fmla="*/ 2423886 h 2423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600" h="2423886">
                <a:moveTo>
                  <a:pt x="2481943" y="2423886"/>
                </a:moveTo>
                <a:lnTo>
                  <a:pt x="0" y="29029"/>
                </a:lnTo>
                <a:lnTo>
                  <a:pt x="914400" y="0"/>
                </a:lnTo>
                <a:lnTo>
                  <a:pt x="2641600" y="2409371"/>
                </a:lnTo>
                <a:lnTo>
                  <a:pt x="2481943" y="2423886"/>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8277868-FEA1-C248-ED39-1002FE8ADFE4}"/>
              </a:ext>
            </a:extLst>
          </p:cNvPr>
          <p:cNvSpPr/>
          <p:nvPr/>
        </p:nvSpPr>
        <p:spPr>
          <a:xfrm>
            <a:off x="7907419" y="2670629"/>
            <a:ext cx="1901371" cy="2525486"/>
          </a:xfrm>
          <a:custGeom>
            <a:avLst/>
            <a:gdLst>
              <a:gd name="connsiteX0" fmla="*/ 0 w 1901371"/>
              <a:gd name="connsiteY0" fmla="*/ 2510971 h 2525486"/>
              <a:gd name="connsiteX1" fmla="*/ 1422400 w 1901371"/>
              <a:gd name="connsiteY1" fmla="*/ 14514 h 2525486"/>
              <a:gd name="connsiteX2" fmla="*/ 1901371 w 1901371"/>
              <a:gd name="connsiteY2" fmla="*/ 0 h 2525486"/>
              <a:gd name="connsiteX3" fmla="*/ 87085 w 1901371"/>
              <a:gd name="connsiteY3" fmla="*/ 2510971 h 2525486"/>
              <a:gd name="connsiteX4" fmla="*/ 58057 w 1901371"/>
              <a:gd name="connsiteY4" fmla="*/ 2481943 h 2525486"/>
              <a:gd name="connsiteX5" fmla="*/ 72571 w 1901371"/>
              <a:gd name="connsiteY5" fmla="*/ 2481943 h 2525486"/>
              <a:gd name="connsiteX6" fmla="*/ 58057 w 1901371"/>
              <a:gd name="connsiteY6" fmla="*/ 2525486 h 2525486"/>
              <a:gd name="connsiteX7" fmla="*/ 0 w 1901371"/>
              <a:gd name="connsiteY7" fmla="*/ 2510971 h 25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1371" h="2525486">
                <a:moveTo>
                  <a:pt x="0" y="2510971"/>
                </a:moveTo>
                <a:lnTo>
                  <a:pt x="1422400" y="14514"/>
                </a:lnTo>
                <a:lnTo>
                  <a:pt x="1901371" y="0"/>
                </a:lnTo>
                <a:lnTo>
                  <a:pt x="87085" y="2510971"/>
                </a:lnTo>
                <a:lnTo>
                  <a:pt x="58057" y="2481943"/>
                </a:lnTo>
                <a:lnTo>
                  <a:pt x="72571" y="2481943"/>
                </a:lnTo>
                <a:lnTo>
                  <a:pt x="58057" y="2525486"/>
                </a:lnTo>
                <a:lnTo>
                  <a:pt x="0"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8544170D-73AC-E85A-8695-7AC58167EAA4}"/>
              </a:ext>
            </a:extLst>
          </p:cNvPr>
          <p:cNvSpPr/>
          <p:nvPr/>
        </p:nvSpPr>
        <p:spPr>
          <a:xfrm>
            <a:off x="4990047" y="2772229"/>
            <a:ext cx="5631543" cy="2409371"/>
          </a:xfrm>
          <a:custGeom>
            <a:avLst/>
            <a:gdLst>
              <a:gd name="connsiteX0" fmla="*/ 5413829 w 5631543"/>
              <a:gd name="connsiteY0" fmla="*/ 2409371 h 2409371"/>
              <a:gd name="connsiteX1" fmla="*/ 0 w 5631543"/>
              <a:gd name="connsiteY1" fmla="*/ 14514 h 2409371"/>
              <a:gd name="connsiteX2" fmla="*/ 957943 w 5631543"/>
              <a:gd name="connsiteY2" fmla="*/ 0 h 2409371"/>
              <a:gd name="connsiteX3" fmla="*/ 5631543 w 5631543"/>
              <a:gd name="connsiteY3" fmla="*/ 2380343 h 2409371"/>
              <a:gd name="connsiteX4" fmla="*/ 5413829 w 5631543"/>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1543" h="2409371">
                <a:moveTo>
                  <a:pt x="5413829" y="2409371"/>
                </a:moveTo>
                <a:lnTo>
                  <a:pt x="0" y="14514"/>
                </a:lnTo>
                <a:lnTo>
                  <a:pt x="957943" y="0"/>
                </a:lnTo>
                <a:lnTo>
                  <a:pt x="5631543" y="2380343"/>
                </a:lnTo>
                <a:lnTo>
                  <a:pt x="5413829"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929D0B6-560E-A26C-A57F-320C6F7E2095}"/>
              </a:ext>
            </a:extLst>
          </p:cNvPr>
          <p:cNvSpPr/>
          <p:nvPr/>
        </p:nvSpPr>
        <p:spPr>
          <a:xfrm>
            <a:off x="9286276" y="2699658"/>
            <a:ext cx="1698171" cy="2510971"/>
          </a:xfrm>
          <a:custGeom>
            <a:avLst/>
            <a:gdLst>
              <a:gd name="connsiteX0" fmla="*/ 1698171 w 1698171"/>
              <a:gd name="connsiteY0" fmla="*/ 2510971 h 2510971"/>
              <a:gd name="connsiteX1" fmla="*/ 0 w 1698171"/>
              <a:gd name="connsiteY1" fmla="*/ 43542 h 2510971"/>
              <a:gd name="connsiteX2" fmla="*/ 537028 w 1698171"/>
              <a:gd name="connsiteY2" fmla="*/ 0 h 2510971"/>
              <a:gd name="connsiteX3" fmla="*/ 1698171 w 1698171"/>
              <a:gd name="connsiteY3" fmla="*/ 2510971 h 2510971"/>
            </a:gdLst>
            <a:ahLst/>
            <a:cxnLst>
              <a:cxn ang="0">
                <a:pos x="connsiteX0" y="connsiteY0"/>
              </a:cxn>
              <a:cxn ang="0">
                <a:pos x="connsiteX1" y="connsiteY1"/>
              </a:cxn>
              <a:cxn ang="0">
                <a:pos x="connsiteX2" y="connsiteY2"/>
              </a:cxn>
              <a:cxn ang="0">
                <a:pos x="connsiteX3" y="connsiteY3"/>
              </a:cxn>
            </a:cxnLst>
            <a:rect l="l" t="t" r="r" b="b"/>
            <a:pathLst>
              <a:path w="1698171" h="2510971">
                <a:moveTo>
                  <a:pt x="1698171" y="2510971"/>
                </a:moveTo>
                <a:lnTo>
                  <a:pt x="0" y="43542"/>
                </a:lnTo>
                <a:lnTo>
                  <a:pt x="537028" y="0"/>
                </a:lnTo>
                <a:lnTo>
                  <a:pt x="1698171"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DEEC9E-0778-EDDC-EEB1-1D8F9A97B0BD}"/>
              </a:ext>
            </a:extLst>
          </p:cNvPr>
          <p:cNvSpPr/>
          <p:nvPr/>
        </p:nvSpPr>
        <p:spPr>
          <a:xfrm>
            <a:off x="-2867" y="1654619"/>
            <a:ext cx="12194867" cy="1640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4" descr="St. Luke's University Health Network's 150th Anniversary">
            <a:extLst>
              <a:ext uri="{FF2B5EF4-FFF2-40B4-BE49-F238E27FC236}">
                <a16:creationId xmlns:a16="http://schemas.microsoft.com/office/drawing/2014/main" id="{A26B9B8E-7E0B-E284-9526-7C2858C04978}"/>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94231" y="1560743"/>
            <a:ext cx="2713741" cy="142557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elcome to Lehigh Valley Health Network ...">
            <a:extLst>
              <a:ext uri="{FF2B5EF4-FFF2-40B4-BE49-F238E27FC236}">
                <a16:creationId xmlns:a16="http://schemas.microsoft.com/office/drawing/2014/main" id="{8CB795D1-F1A5-27E9-EDB4-5FB2922F8AF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035734" y="1906816"/>
            <a:ext cx="3987995" cy="79284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rinity Health Muskegon – Grand Rapids, MI - RQI Partners, LLC">
            <a:extLst>
              <a:ext uri="{FF2B5EF4-FFF2-40B4-BE49-F238E27FC236}">
                <a16:creationId xmlns:a16="http://schemas.microsoft.com/office/drawing/2014/main" id="{9A6B5F68-2EDD-4425-9E94-7AEACCC0AF0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09018" y="805543"/>
            <a:ext cx="4020910" cy="293914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9E01D9EC-3751-78C1-9D95-70AEB63694E1}"/>
              </a:ext>
            </a:extLst>
          </p:cNvPr>
          <p:cNvSpPr>
            <a:spLocks noGrp="1"/>
          </p:cNvSpPr>
          <p:nvPr>
            <p:ph type="title"/>
          </p:nvPr>
        </p:nvSpPr>
        <p:spPr>
          <a:xfrm>
            <a:off x="696174" y="23483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b="1" dirty="0">
                <a:solidFill>
                  <a:srgbClr val="000B2E"/>
                </a:solidFill>
                <a:latin typeface="Arial" panose="020B0604020202020204" pitchFamily="34" charset="0"/>
                <a:cs typeface="Arial" panose="020B0604020202020204" pitchFamily="34" charset="0"/>
              </a:rPr>
              <a:t>Increased Capture of Commercial Market Share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3269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12</a:t>
            </a:fld>
            <a:endParaRPr lang="en-US" dirty="0"/>
          </a:p>
        </p:txBody>
      </p:sp>
      <p:sp>
        <p:nvSpPr>
          <p:cNvPr id="7"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79F9FC-9C26-4EE8-993C-4E9774C6CB61}"/>
              </a:ext>
            </a:extLst>
          </p:cNvPr>
          <p:cNvSpPr/>
          <p:nvPr/>
        </p:nvSpPr>
        <p:spPr>
          <a:xfrm>
            <a:off x="6301081" y="2692174"/>
            <a:ext cx="5726288" cy="2760756"/>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care control</a:t>
            </a:r>
          </a:p>
          <a:p>
            <a:pPr marL="514356" indent="-342905" defTabSz="914411">
              <a:lnSpc>
                <a:spcPct val="90000"/>
              </a:lnSpc>
              <a:spcAft>
                <a:spcPts val="1200"/>
              </a:spcAft>
              <a:buClr>
                <a:srgbClr val="244F9A"/>
              </a:buClr>
              <a:buFont typeface="Wingdings" panose="05000000000000000000" pitchFamily="2" charset="2"/>
              <a:buChar char="§"/>
            </a:pPr>
            <a:r>
              <a:rPr lang="en-US" dirty="0"/>
              <a:t>“At the table” with SLUHN</a:t>
            </a:r>
          </a:p>
          <a:p>
            <a:pPr marL="514356" indent="-342905" defTabSz="914411">
              <a:lnSpc>
                <a:spcPct val="90000"/>
              </a:lnSpc>
              <a:spcAft>
                <a:spcPts val="1200"/>
              </a:spcAft>
              <a:buClr>
                <a:srgbClr val="244F9A"/>
              </a:buClr>
              <a:buFont typeface="Wingdings" panose="05000000000000000000" pitchFamily="2" charset="2"/>
              <a:buChar char="§"/>
            </a:pPr>
            <a:r>
              <a:rPr lang="en-US" dirty="0"/>
              <a:t>Incentivized medical partners</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and “superior” analytics</a:t>
            </a:r>
          </a:p>
          <a:p>
            <a:pPr marL="514356" indent="-342905" defTabSz="914411">
              <a:lnSpc>
                <a:spcPct val="90000"/>
              </a:lnSpc>
              <a:spcAft>
                <a:spcPts val="1200"/>
              </a:spcAft>
              <a:buClr>
                <a:srgbClr val="244F9A"/>
              </a:buClr>
              <a:buFont typeface="Wingdings" panose="05000000000000000000" pitchFamily="2" charset="2"/>
              <a:buChar char="§"/>
            </a:pPr>
            <a:r>
              <a:rPr lang="en-US" dirty="0"/>
              <a:t>Competitive stop-loss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flexibility</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cash flow &amp; stabilization of cost</a:t>
            </a:r>
          </a:p>
        </p:txBody>
      </p:sp>
      <p:sp>
        <p:nvSpPr>
          <p:cNvPr id="3"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9"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2,353 Employers       390,000</a:t>
            </a:r>
            <a:r>
              <a:rPr lang="en-US" sz="1800" spc="200" dirty="0">
                <a:latin typeface="+mj-lt"/>
                <a:cs typeface="+mj-cs"/>
                <a:sym typeface="Wingdings" panose="05000000000000000000" pitchFamily="2" charset="2"/>
              </a:rPr>
              <a:t>+ Employees       627,000+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pic>
        <p:nvPicPr>
          <p:cNvPr id="12" name="Picture 11">
            <a:extLst>
              <a:ext uri="{FF2B5EF4-FFF2-40B4-BE49-F238E27FC236}">
                <a16:creationId xmlns:a16="http://schemas.microsoft.com/office/drawing/2014/main" id="{68AEB764-7282-2935-C706-89FC9DB8EB8C}"/>
              </a:ext>
            </a:extLst>
          </p:cNvPr>
          <p:cNvPicPr>
            <a:picLocks noChangeAspect="1"/>
          </p:cNvPicPr>
          <p:nvPr/>
        </p:nvPicPr>
        <p:blipFill>
          <a:blip r:embed="rId2"/>
          <a:stretch>
            <a:fillRect/>
          </a:stretch>
        </p:blipFill>
        <p:spPr>
          <a:xfrm>
            <a:off x="0" y="2140949"/>
            <a:ext cx="4150841" cy="3901736"/>
          </a:xfrm>
          <a:prstGeom prst="rect">
            <a:avLst/>
          </a:prstGeom>
        </p:spPr>
      </p:pic>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extLst>
              <p:ext uri="{D42A27DB-BD31-4B8C-83A1-F6EECF244321}">
                <p14:modId xmlns:p14="http://schemas.microsoft.com/office/powerpoint/2010/main" val="1346810281"/>
              </p:ext>
            </p:extLst>
          </p:nvPr>
        </p:nvGraphicFramePr>
        <p:xfrm>
          <a:off x="4889297" y="2140949"/>
          <a:ext cx="6949427" cy="4273027"/>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Total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552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73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15</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767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278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10</a:t>
                      </a:r>
                    </a:p>
                  </a:txBody>
                  <a:tcPr marL="9525" marR="9525" marT="9525" marB="0" anchor="b">
                    <a:lnL>
                      <a:noFill/>
                    </a:lnL>
                    <a:lnR>
                      <a:noFill/>
                    </a:lnR>
                    <a:lnT>
                      <a:noFill/>
                    </a:lnT>
                    <a:lnB>
                      <a:noFill/>
                    </a:lnB>
                    <a:noFill/>
                  </a:tcPr>
                </a:tc>
                <a:extLst>
                  <a:ext uri="{0D108BD9-81ED-4DB2-BD59-A6C34878D82A}">
                    <a16:rowId xmlns:a16="http://schemas.microsoft.com/office/drawing/2014/main" val="3588716138"/>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21-30 Miles of SLUHN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1908</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775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544</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290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105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330736"/>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Employees at Above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41,400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39,150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51,100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165,000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57,525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41,700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52,500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60,200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110,000</a:t>
                      </a:r>
                    </a:p>
                  </a:txBody>
                  <a:tcPr marL="9525" marR="9525" marT="9525" marB="0" anchor="b">
                    <a:lnL>
                      <a:noFill/>
                    </a:lnL>
                    <a:lnR>
                      <a:noFill/>
                    </a:lnR>
                    <a:lnT>
                      <a:noFill/>
                    </a:lnT>
                    <a:lnB>
                      <a:noFill/>
                    </a:lnB>
                    <a:noFill/>
                  </a:tcPr>
                </a:tc>
                <a:extLst>
                  <a:ext uri="{0D108BD9-81ED-4DB2-BD59-A6C34878D82A}">
                    <a16:rowId xmlns:a16="http://schemas.microsoft.com/office/drawing/2014/main" val="151769985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21-30 Miles of SLUHN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143,100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116,250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163,200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203,000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210,000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825,000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94521340"/>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r>
                        <a:rPr lang="en-US" sz="1100" b="0" i="0" u="none" strike="noStrike" dirty="0">
                          <a:solidFill>
                            <a:srgbClr val="000000"/>
                          </a:solidFill>
                          <a:effectLst/>
                          <a:latin typeface="Aptos Narrow" panose="020B0004020202020204" pitchFamily="34" charset="0"/>
                        </a:rPr>
                        <a:t>Total Members at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66240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62640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77,280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81,760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41,600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264,000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92040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66720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96,320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76,800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176,000</a:t>
                      </a:r>
                    </a:p>
                  </a:txBody>
                  <a:tcPr marL="9525" marR="9525" marT="9525" marB="0" anchor="b">
                    <a:lnL>
                      <a:noFill/>
                    </a:lnL>
                    <a:lnR>
                      <a:noFill/>
                    </a:lnR>
                    <a:lnT>
                      <a:noFill/>
                    </a:lnT>
                    <a:lnB>
                      <a:noFill/>
                    </a:lnB>
                    <a:noFill/>
                  </a:tcPr>
                </a:tc>
                <a:extLst>
                  <a:ext uri="{0D108BD9-81ED-4DB2-BD59-A6C34878D82A}">
                    <a16:rowId xmlns:a16="http://schemas.microsoft.com/office/drawing/2014/main" val="303714227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21-30 Miles of SLUHN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228960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186000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261,120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324,800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336,000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1,320,000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545027535"/>
                  </a:ext>
                </a:extLst>
              </a:tr>
            </a:tbl>
          </a:graphicData>
        </a:graphic>
      </p:graphicFrame>
      <p:sp>
        <p:nvSpPr>
          <p:cNvPr id="16" name="Title 1">
            <a:extLst>
              <a:ext uri="{FF2B5EF4-FFF2-40B4-BE49-F238E27FC236}">
                <a16:creationId xmlns:a16="http://schemas.microsoft.com/office/drawing/2014/main" id="{012C7A76-8C4C-0C17-C582-24A807F19DA5}"/>
              </a:ext>
            </a:extLst>
          </p:cNvPr>
          <p:cNvSpPr>
            <a:spLocks noGrp="1"/>
          </p:cNvSpPr>
          <p:nvPr>
            <p:ph type="title"/>
          </p:nvPr>
        </p:nvSpPr>
        <p:spPr>
          <a:xfrm>
            <a:off x="595490" y="-66318"/>
            <a:ext cx="11001020" cy="1325563"/>
          </a:xfrm>
        </p:spPr>
        <p:txBody>
          <a:bodyPr>
            <a:noAutofit/>
          </a:bodyPr>
          <a:lstStyle/>
          <a:p>
            <a:pPr>
              <a:lnSpc>
                <a:spcPct val="100000"/>
              </a:lnSpc>
              <a:spcBef>
                <a:spcPts val="1800"/>
              </a:spcBef>
              <a:spcAft>
                <a:spcPts val="600"/>
              </a:spcAft>
            </a:pPr>
            <a:r>
              <a:rPr lang="en-US" sz="3600" dirty="0">
                <a:solidFill>
                  <a:srgbClr val="000B2E"/>
                </a:solidFill>
              </a:rPr>
              <a:t>Significant Opportunity for SLUHN</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0080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369332"/>
          </a:xfrm>
          <a:prstGeom prst="rect">
            <a:avLst/>
          </a:prstGeom>
          <a:noFill/>
        </p:spPr>
        <p:txBody>
          <a:bodyPr wrap="square" rtlCol="0">
            <a:spAutoFit/>
          </a:bodyPr>
          <a:lstStyle/>
          <a:p>
            <a:r>
              <a:rPr lang="en-US" dirty="0">
                <a:solidFill/>
              </a:rPr>
              <a:t>Estimates include Hunterdon, Warren, Bucks, Carbon, Lehigh, Luzerne, Northampton, and Schuylkill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2,106K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1,230K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935K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538K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Graining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$63.33M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$16.41M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$433.64M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$113.52M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$853.45M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$223.6M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16</a:t>
            </a:fld>
            <a:endParaRPr lang="en-US" dirty="0"/>
          </a:p>
        </p:txBody>
      </p:sp>
      <p:sp>
        <p:nvSpPr>
          <p:cNvPr id="6"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9" name="TextBox 12">
            <a:extLst>
              <a:ext uri="{FF2B5EF4-FFF2-40B4-BE49-F238E27FC236}">
                <a16:creationId xmlns:a16="http://schemas.microsoft.com/office/drawing/2014/main" id="{025AE6BF-C458-13D4-626E-DAD4C1439055}"/>
              </a:ext>
            </a:extLst>
          </p:cNvPr>
          <p:cNvSpPr txBox="1"/>
          <p:nvPr/>
        </p:nvSpPr>
        <p:spPr>
          <a:xfrm>
            <a:off x="7466120" y="2250333"/>
            <a:ext cx="4616389" cy="738664"/>
          </a:xfrm>
          <a:prstGeom prst="rect">
            <a:avLst/>
          </a:prstGeom>
          <a:noFill/>
        </p:spPr>
        <p:txBody>
          <a:bodyPr wrap="square" rtlCol="0">
            <a:spAutoFit/>
          </a:bodyPr>
          <a:lstStyle/>
          <a:p>
            <a:r>
              <a:rPr lang="en-US" sz="1050" dirty="0">
                <a:solidFill/>
              </a:rPr>
              <a:t>KBA currently estimates that Saint Luke's University Health Network has 32% inpatient market share, and 17% outpatient market compared to hospitals/clinics in the Luzerne, Carbon, Schuylkill, Lehigh, Northampton, Warren, Hunterdon, and Bucks Counties. Based on other KBA DTE networks, we expect steerage to be:</a:t>
            </a:r>
          </a:p>
        </p:txBody>
      </p:sp>
      <p:sp>
        <p:nvSpPr>
          <p:cNvPr id="10"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1"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2"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3" name="TextBox 16">
            <a:extLst>
              <a:ext uri="{FF2B5EF4-FFF2-40B4-BE49-F238E27FC236}">
                <a16:creationId xmlns:a16="http://schemas.microsoft.com/office/drawing/2014/main" id="{19FEE2C1-9161-C3CD-EE7F-6727C796DF0D}"/>
              </a:ext>
            </a:extLst>
          </p:cNvPr>
          <p:cNvSpPr txBox="1"/>
          <p:nvPr/>
        </p:nvSpPr>
        <p:spPr>
          <a:xfrm>
            <a:off x="7753036" y="3237256"/>
            <a:ext cx="583814" cy="369332"/>
          </a:xfrm>
          <a:prstGeom prst="rect">
            <a:avLst/>
          </a:prstGeom>
          <a:noFill/>
        </p:spPr>
        <p:txBody>
          <a:bodyPr wrap="none" rtlCol="0">
            <a:spAutoFit/>
          </a:bodyPr>
          <a:lstStyle/>
          <a:p>
            <a:r>
              <a:rPr lang="en-US" dirty="0">
                <a:solidFill/>
              </a:rPr>
              <a:t>70%</a:t>
            </a:r>
          </a:p>
        </p:txBody>
      </p:sp>
      <p:sp>
        <p:nvSpPr>
          <p:cNvPr id="14" name="TextBox 17">
            <a:extLst>
              <a:ext uri="{FF2B5EF4-FFF2-40B4-BE49-F238E27FC236}">
                <a16:creationId xmlns:a16="http://schemas.microsoft.com/office/drawing/2014/main" id="{1CC51BEE-0560-3D56-4AE8-86D704578774}"/>
              </a:ext>
            </a:extLst>
          </p:cNvPr>
          <p:cNvSpPr txBox="1"/>
          <p:nvPr/>
        </p:nvSpPr>
        <p:spPr>
          <a:xfrm>
            <a:off x="9580097" y="3237256"/>
            <a:ext cx="583814" cy="369332"/>
          </a:xfrm>
          <a:prstGeom prst="rect">
            <a:avLst/>
          </a:prstGeom>
          <a:noFill/>
        </p:spPr>
        <p:txBody>
          <a:bodyPr wrap="none" rtlCol="0">
            <a:spAutoFit/>
          </a:bodyPr>
          <a:lstStyle/>
          <a:p>
            <a:r>
              <a:rPr lang="en-US" dirty="0">
                <a:solidFill/>
              </a:rPr>
              <a:t>77%</a:t>
            </a:r>
          </a:p>
        </p:txBody>
      </p:sp>
      <p:sp>
        <p:nvSpPr>
          <p:cNvPr id="15" name="TextBox 18">
            <a:extLst>
              <a:ext uri="{FF2B5EF4-FFF2-40B4-BE49-F238E27FC236}">
                <a16:creationId xmlns:a16="http://schemas.microsoft.com/office/drawing/2014/main" id="{A17D3C89-20DF-71B2-E5D8-1DA9D1F926E7}"/>
              </a:ext>
            </a:extLst>
          </p:cNvPr>
          <p:cNvSpPr txBox="1"/>
          <p:nvPr/>
        </p:nvSpPr>
        <p:spPr>
          <a:xfrm>
            <a:off x="11218036" y="3237256"/>
            <a:ext cx="583814" cy="369332"/>
          </a:xfrm>
          <a:prstGeom prst="rect">
            <a:avLst/>
          </a:prstGeom>
          <a:noFill/>
        </p:spPr>
        <p:txBody>
          <a:bodyPr wrap="none" rtlCol="0">
            <a:spAutoFit/>
          </a:bodyPr>
          <a:lstStyle/>
          <a:p>
            <a:r>
              <a:rPr lang="en-US" dirty="0">
                <a:solidFill/>
              </a:rPr>
              <a:t>85%</a:t>
            </a:r>
          </a:p>
        </p:txBody>
      </p:sp>
      <p:sp>
        <p:nvSpPr>
          <p:cNvPr id="16"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20" name="TextBox 24">
            <a:extLst>
              <a:ext uri="{FF2B5EF4-FFF2-40B4-BE49-F238E27FC236}">
                <a16:creationId xmlns:a16="http://schemas.microsoft.com/office/drawing/2014/main" id="{32C9D62D-25B0-6CD9-8AD7-E6855B1B1B26}"/>
              </a:ext>
            </a:extLst>
          </p:cNvPr>
          <p:cNvSpPr txBox="1"/>
          <p:nvPr/>
        </p:nvSpPr>
        <p:spPr>
          <a:xfrm>
            <a:off x="7509029" y="4771081"/>
            <a:ext cx="4616389" cy="577081"/>
          </a:xfrm>
          <a:prstGeom prst="rect">
            <a:avLst/>
          </a:prstGeom>
          <a:noFill/>
        </p:spPr>
        <p:txBody>
          <a:bodyPr wrap="square" rtlCol="0">
            <a:spAutoFit/>
          </a:bodyPr>
          <a:lstStyle/>
          <a:p>
            <a:r>
              <a:rPr lang="en-US" sz="1050" dirty="0">
                <a:solidFill/>
              </a:rPr>
              <a:t>KBA estimates DTE margins to be similar to the margin of other commercial plans (prices are lower but billing costs and self-payments are higher). We model DTE commercial margin as on target, below and above other commercial plans.</a:t>
            </a:r>
          </a:p>
        </p:txBody>
      </p:sp>
      <p:sp>
        <p:nvSpPr>
          <p:cNvPr id="21"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22" name="TextBox 26">
            <a:extLst>
              <a:ext uri="{FF2B5EF4-FFF2-40B4-BE49-F238E27FC236}">
                <a16:creationId xmlns:a16="http://schemas.microsoft.com/office/drawing/2014/main" id="{2559AB8C-6F23-81D3-4546-DE75EBD91879}"/>
              </a:ext>
            </a:extLst>
          </p:cNvPr>
          <p:cNvSpPr txBox="1"/>
          <p:nvPr/>
        </p:nvSpPr>
        <p:spPr>
          <a:xfrm>
            <a:off x="9572765" y="5300748"/>
            <a:ext cx="643509" cy="307777"/>
          </a:xfrm>
          <a:prstGeom prst="rect">
            <a:avLst/>
          </a:prstGeom>
          <a:noFill/>
        </p:spPr>
        <p:txBody>
          <a:bodyPr wrap="none" rtlCol="0">
            <a:spAutoFit/>
          </a:bodyPr>
          <a:lstStyle/>
          <a:p>
            <a:r>
              <a:rPr lang="en-US" sz="1400" b="1" dirty="0"/>
              <a:t>Target</a:t>
            </a:r>
          </a:p>
        </p:txBody>
      </p:sp>
      <p:sp>
        <p:nvSpPr>
          <p:cNvPr id="23" name="TextBox 27">
            <a:extLst>
              <a:ext uri="{FF2B5EF4-FFF2-40B4-BE49-F238E27FC236}">
                <a16:creationId xmlns:a16="http://schemas.microsoft.com/office/drawing/2014/main" id="{314AFF5C-ABDA-A82B-40C8-14E2DB160036}"/>
              </a:ext>
            </a:extLst>
          </p:cNvPr>
          <p:cNvSpPr txBox="1"/>
          <p:nvPr/>
        </p:nvSpPr>
        <p:spPr>
          <a:xfrm>
            <a:off x="11436788" y="5300748"/>
            <a:ext cx="524503" cy="307777"/>
          </a:xfrm>
          <a:prstGeom prst="rect">
            <a:avLst/>
          </a:prstGeom>
          <a:noFill/>
        </p:spPr>
        <p:txBody>
          <a:bodyPr wrap="none" rtlCol="0">
            <a:spAutoFit/>
          </a:bodyPr>
          <a:lstStyle/>
          <a:p>
            <a:r>
              <a:rPr lang="en-US" sz="1400" b="1" dirty="0"/>
              <a:t>High</a:t>
            </a:r>
          </a:p>
        </p:txBody>
      </p:sp>
      <p:sp>
        <p:nvSpPr>
          <p:cNvPr id="24" name="TextBox 28">
            <a:extLst>
              <a:ext uri="{FF2B5EF4-FFF2-40B4-BE49-F238E27FC236}">
                <a16:creationId xmlns:a16="http://schemas.microsoft.com/office/drawing/2014/main" id="{2C03026B-6D1E-F7B1-9995-7D9DC1019C60}"/>
              </a:ext>
            </a:extLst>
          </p:cNvPr>
          <p:cNvSpPr txBox="1"/>
          <p:nvPr/>
        </p:nvSpPr>
        <p:spPr>
          <a:xfrm>
            <a:off x="7659946" y="5559601"/>
            <a:ext cx="1099083" cy="369332"/>
          </a:xfrm>
          <a:prstGeom prst="rect">
            <a:avLst/>
          </a:prstGeom>
          <a:noFill/>
        </p:spPr>
        <p:txBody>
          <a:bodyPr wrap="none" rtlCol="0">
            <a:spAutoFit/>
          </a:bodyPr>
          <a:lstStyle/>
          <a:p>
            <a:r>
              <a:rPr lang="en-US" dirty="0">
                <a:solidFill/>
              </a:rPr>
              <a:t>5% Below</a:t>
            </a:r>
          </a:p>
        </p:txBody>
      </p:sp>
      <p:sp>
        <p:nvSpPr>
          <p:cNvPr id="25" name="TextBox 29">
            <a:extLst>
              <a:ext uri="{FF2B5EF4-FFF2-40B4-BE49-F238E27FC236}">
                <a16:creationId xmlns:a16="http://schemas.microsoft.com/office/drawing/2014/main" id="{9C64CEEB-E16A-926D-5DF0-DC8275443A40}"/>
              </a:ext>
            </a:extLst>
          </p:cNvPr>
          <p:cNvSpPr txBox="1"/>
          <p:nvPr/>
        </p:nvSpPr>
        <p:spPr>
          <a:xfrm>
            <a:off x="9580061" y="5571573"/>
            <a:ext cx="700833" cy="369332"/>
          </a:xfrm>
          <a:prstGeom prst="rect">
            <a:avLst/>
          </a:prstGeom>
          <a:noFill/>
        </p:spPr>
        <p:txBody>
          <a:bodyPr wrap="none" rtlCol="0">
            <a:spAutoFit/>
          </a:bodyPr>
          <a:lstStyle/>
          <a:p>
            <a:r>
              <a:rPr lang="en-US" dirty="0">
                <a:solidFill/>
              </a:rPr>
              <a:t>Same</a:t>
            </a:r>
          </a:p>
        </p:txBody>
      </p:sp>
      <p:sp>
        <p:nvSpPr>
          <p:cNvPr id="26" name="TextBox 30">
            <a:extLst>
              <a:ext uri="{FF2B5EF4-FFF2-40B4-BE49-F238E27FC236}">
                <a16:creationId xmlns:a16="http://schemas.microsoft.com/office/drawing/2014/main" id="{716000A2-AFB1-117D-BFF0-2BDA3EA8A77D}"/>
              </a:ext>
            </a:extLst>
          </p:cNvPr>
          <p:cNvSpPr txBox="1"/>
          <p:nvPr/>
        </p:nvSpPr>
        <p:spPr>
          <a:xfrm>
            <a:off x="11024514" y="5560691"/>
            <a:ext cx="1112741" cy="369332"/>
          </a:xfrm>
          <a:prstGeom prst="rect">
            <a:avLst/>
          </a:prstGeom>
          <a:noFill/>
        </p:spPr>
        <p:txBody>
          <a:bodyPr wrap="none" rtlCol="0">
            <a:spAutoFit/>
          </a:bodyPr>
          <a:lstStyle/>
          <a:p>
            <a:r>
              <a:rPr lang="en-US" dirty="0">
                <a:solidFill/>
              </a:rPr>
              <a:t>5% Above</a:t>
            </a:r>
          </a:p>
        </p:txBody>
      </p:sp>
      <p:sp>
        <p:nvSpPr>
          <p:cNvPr id="27"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29" name="Content Placeholder 28"/>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2977969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7" name="Table 6"/>
          <p:cNvGraphicFramePr>
            <a:graphicFrameLocks noGrp="1"/>
          </p:cNvGraphicFramePr>
          <p:nvPr/>
        </p:nvGraphicFramePr>
        <p:xfrm>
          <a:off x="6204852" y="5025"/>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3,733.8K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7,664.2K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12,773.7K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19,455.3K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3,426.6K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7,531.0K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12,671.7K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19,394.1K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8" name="Table 7"/>
          <p:cNvGraphicFramePr>
            <a:graphicFrameLocks noGrp="1"/>
          </p:cNvGraphicFramePr>
          <p:nvPr/>
        </p:nvGraphicFramePr>
        <p:xfrm>
          <a:off x="6204852" y="2291025"/>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5,109.5K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10,218.9K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16,900.6K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25,940.4K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4,810.7K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10,101.3K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16,823.8K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25,918.8K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9" name="Table 8"/>
          <p:cNvGraphicFramePr>
            <a:graphicFrameLocks noGrp="1"/>
          </p:cNvGraphicFramePr>
          <p:nvPr/>
        </p:nvGraphicFramePr>
        <p:xfrm>
          <a:off x="6204852" y="4577025"/>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2,554.7K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5,109.5K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8,450.3K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12,970.2K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2,240.3K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4,960.7K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8,321.9K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12,869.4K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6" name="Content Placeholder 9">
            <a:extLst>
              <a:ext uri="{FF2B5EF4-FFF2-40B4-BE49-F238E27FC236}">
                <a16:creationId xmlns:a16="http://schemas.microsoft.com/office/drawing/2014/main" id="{A548FD59-D806-2ABE-146B-5FF724092BAB}"/>
              </a:ext>
            </a:extLst>
          </p:cNvPr>
          <p:cNvPicPr>
            <a:picLocks/>
          </p:cNvPicPr>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5"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SLUHN’s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SLUHN’s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SLUHN</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15"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800" cap="all" spc="-150" dirty="0">
                <a:solidFill>
                  <a:schemeClr val="bg1"/>
                </a:solidFill>
              </a:rPr>
              <a:t>SLUHN N</a:t>
            </a:r>
            <a:r>
              <a:rPr lang="en-US" sz="2800" spc="-150" dirty="0">
                <a:solidFill>
                  <a:schemeClr val="bg1"/>
                </a:solidFill>
              </a:rPr>
              <a:t>ETWORK</a:t>
            </a:r>
            <a:r>
              <a:rPr lang="en-US" sz="2800" cap="all" spc="-150" dirty="0">
                <a:solidFill>
                  <a:schemeClr val="bg1"/>
                </a:solidFill>
              </a:rPr>
              <a:t> </a:t>
            </a:r>
          </a:p>
        </p:txBody>
      </p:sp>
      <p:graphicFrame>
        <p:nvGraphicFramePr>
          <p:cNvPr id="9"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4" descr="St. Luke's University Health Network's 150th Anniversary">
            <a:extLst>
              <a:ext uri="{FF2B5EF4-FFF2-40B4-BE49-F238E27FC236}">
                <a16:creationId xmlns:a16="http://schemas.microsoft.com/office/drawing/2014/main" id="{A601C53D-270A-F96F-E93A-2884C7DD245B}"/>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721850" y="4104340"/>
            <a:ext cx="1123950" cy="59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19</a:t>
            </a:fld>
            <a:endParaRPr lang="en-US" dirty="0"/>
          </a:p>
        </p:txBody>
      </p:sp>
      <p:pic>
        <p:nvPicPr>
          <p:cNvPr id="6"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7"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1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BENEFIT PLAN DESIGNS THAT OPTIMIZE STEERAGE TO SLUHN</a:t>
            </a:r>
          </a:p>
        </p:txBody>
      </p:sp>
      <p:pic>
        <p:nvPicPr>
          <p:cNvPr id="5" name="Picture 4" descr="St. Luke's University Health Network's 150th Anniversary">
            <a:extLst>
              <a:ext uri="{FF2B5EF4-FFF2-40B4-BE49-F238E27FC236}">
                <a16:creationId xmlns:a16="http://schemas.microsoft.com/office/drawing/2014/main" id="{DF60A471-4B8E-0C1D-0527-74B37F295BF6}"/>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378950" y="5036083"/>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20</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0" y="5162550"/>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NOTE:  Please see detailed financial analysis and assumptions used starting on page 29.  </a:t>
            </a:r>
          </a:p>
          <a:p>
            <a:pPr marL="285750" indent="-285750">
              <a:buFont typeface="Arial" panose="020B0604020202020204" pitchFamily="34" charset="0"/>
              <a:buChar char="•"/>
            </a:pPr>
            <a:r>
              <a:rPr lang="en-US" sz="1600" dirty="0"/>
              <a:t>Financial projections do not include 340B contribution margin, which could represent $136 pmpm based upon optimizing 340B through plan design, SLUHN’s approved site(s) with network integration, and development of SLUHN’s proprietary PBM program.</a:t>
            </a:r>
            <a:r>
              <a:rPr lang="en-US" sz="1600" dirty="0">
                <a:highlight>
                  <a:srgbClr val="FFFF00"/>
                </a:highlight>
              </a:rPr>
              <a:t>   </a:t>
            </a:r>
          </a:p>
        </p:txBody>
      </p:sp>
      <p:graphicFrame>
        <p:nvGraphicFramePr>
          <p:cNvPr id="2" name="Table 1">
            <a:extLst>
              <a:ext uri="{FF2B5EF4-FFF2-40B4-BE49-F238E27FC236}">
                <a16:creationId xmlns:a16="http://schemas.microsoft.com/office/drawing/2014/main" id="{C3B946C1-37F9-C136-1BAF-FB0AD7AF4115}"/>
              </a:ext>
            </a:extLst>
          </p:cNvPr>
          <p:cNvGraphicFramePr>
            <a:graphicFrameLocks noGrp="1"/>
          </p:cNvGraphicFramePr>
          <p:nvPr>
            <p:extLst>
              <p:ext uri="{D42A27DB-BD31-4B8C-83A1-F6EECF244321}">
                <p14:modId xmlns:p14="http://schemas.microsoft.com/office/powerpoint/2010/main" val="3352424812"/>
              </p:ext>
            </p:extLst>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dirty="0">
                          <a:solidFill>
                            <a:srgbClr val="FFFFFF">
                              <a:alpha val="100000"/>
                            </a:srgbClr>
                          </a:solidFill>
                          <a:latin typeface="Arial"/>
                          <a:cs typeface="Arial"/>
                          <a:sym typeface="Arial"/>
                        </a:rPr>
                        <a:t>Target estimate with a margin similar to other commercial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3,770K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653K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$ 2,734K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$ 10,275K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$ 2,661K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$ 1,635K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$ 6,836K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$ 1,771K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$ 25,687K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$ 18,852K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$ 6,654K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$ 4,883K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$ 4,583K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$27,343K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$ 7,082K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$ 75,406K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$26,614K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$19,532K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$19,322K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$54,685K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$205,498K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$150,812K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$53,228K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$39,064K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$38,974K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21</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Key Benefits DTE strategy positioned SLUHN to dramatically grow commercial market share by lowering per-employee plan costs by 11% to 17%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SLUHN can demonstrate greater completion rates for Standards of Care for the Chronically Ill, driving better care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SLUHN’s managed care processes will only turbocharge the overall results – Positioning SLUHN as the transformational PA healthcare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4368882" y="5369550"/>
            <a:ext cx="7292541" cy="757130"/>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SLUHN </a:t>
            </a:r>
            <a:r>
              <a:rPr lang="en-US" sz="2400" b="1" cap="small" dirty="0">
                <a:solidFill>
                  <a:srgbClr val="000B2E"/>
                </a:solidFill>
              </a:rPr>
              <a:t>CAN PROMOTE THESE RESULTS FOR ITS OWN PROGRAM FROM DAY ONE!!</a:t>
            </a:r>
          </a:p>
        </p:txBody>
      </p:sp>
      <p:pic>
        <p:nvPicPr>
          <p:cNvPr id="10"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22</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TO SLUHN EPIC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2050"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the Epic medical system.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23</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SLUHN’s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SLUHN’s 340B drug pricing program</a:t>
            </a:r>
          </a:p>
          <a:p>
            <a:pPr marL="285753" indent="-285753">
              <a:spcBef>
                <a:spcPts val="600"/>
              </a:spcBef>
              <a:buFont typeface="Wingdings" panose="05000000000000000000" pitchFamily="2" charset="2"/>
              <a:buChar char="§"/>
            </a:pPr>
            <a:r>
              <a:rPr lang="en-US" sz="2000" dirty="0">
                <a:solidFill>
                  <a:schemeClr val="bg1"/>
                </a:solidFill>
              </a:rPr>
              <a:t>Allows SLUHN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24</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25</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3572426963"/>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26</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27</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5232400" y="1367673"/>
            <a:ext cx="6124575" cy="2665509"/>
          </a:xfrm>
        </p:spPr>
        <p:txBody>
          <a:bodyPr vert="horz" lIns="91440" tIns="45720" rIns="91440" bIns="45720" rtlCol="0" anchor="b">
            <a:normAutofit/>
          </a:bodyPr>
          <a:lstStyle/>
          <a:p>
            <a:pPr algn="r" defTabSz="914400"/>
            <a:r>
              <a:rPr lang="en-US" sz="6100" kern="1200" dirty="0">
                <a:solidFill>
                  <a:srgbClr val="244F9A"/>
                </a:solidFill>
                <a:latin typeface="+mj-lt"/>
                <a:ea typeface="+mj-ea"/>
                <a:cs typeface="+mj-cs"/>
              </a:rPr>
              <a:t>FINANCIAL PROJECTIONS &amp; ASSUMPTIONS</a:t>
            </a:r>
          </a:p>
        </p:txBody>
      </p:sp>
      <p:grpSp>
        <p:nvGrpSpPr>
          <p:cNvPr id="28" name="Group 27">
            <a:extLst>
              <a:ext uri="{FF2B5EF4-FFF2-40B4-BE49-F238E27FC236}">
                <a16:creationId xmlns:a16="http://schemas.microsoft.com/office/drawing/2014/main" id="{0DBA5192-D1D6-4385-9B20-7991E99218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29" name="Group 28">
              <a:extLst>
                <a:ext uri="{FF2B5EF4-FFF2-40B4-BE49-F238E27FC236}">
                  <a16:creationId xmlns:a16="http://schemas.microsoft.com/office/drawing/2014/main" id="{49CFA8C3-E4AC-4EF8-8986-83C92DBF583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37" name="Freeform: Shape 36">
                <a:extLst>
                  <a:ext uri="{FF2B5EF4-FFF2-40B4-BE49-F238E27FC236}">
                    <a16:creationId xmlns:a16="http://schemas.microsoft.com/office/drawing/2014/main" id="{C939349E-97F2-4F20-99B2-B5BABDD5E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6DF4F205-369D-432D-BE06-61DCFE9AB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0" name="Group 29">
              <a:extLst>
                <a:ext uri="{FF2B5EF4-FFF2-40B4-BE49-F238E27FC236}">
                  <a16:creationId xmlns:a16="http://schemas.microsoft.com/office/drawing/2014/main" id="{1658D615-89F8-4EE3-A5C2-8B57E48744C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31" name="Group 30">
                <a:extLst>
                  <a:ext uri="{FF2B5EF4-FFF2-40B4-BE49-F238E27FC236}">
                    <a16:creationId xmlns:a16="http://schemas.microsoft.com/office/drawing/2014/main" id="{4529F45F-9E0D-4469-B6FE-BFA23DC316E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35" name="Freeform: Shape 34">
                  <a:extLst>
                    <a:ext uri="{FF2B5EF4-FFF2-40B4-BE49-F238E27FC236}">
                      <a16:creationId xmlns:a16="http://schemas.microsoft.com/office/drawing/2014/main" id="{4D258C8B-77B4-43BA-8B2F-AB7C96C39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867E9E24-BE8C-47FF-BCF1-3E4BDF64D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BDD9DC28-AE74-45F4-8F16-49C6A59604F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33" name="Freeform: Shape 32">
                  <a:extLst>
                    <a:ext uri="{FF2B5EF4-FFF2-40B4-BE49-F238E27FC236}">
                      <a16:creationId xmlns:a16="http://schemas.microsoft.com/office/drawing/2014/main" id="{6DDBBC55-F5AB-4776-B58D-648EECAB5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30F7ABFF-600B-4509-83F7-177A4FE3D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gr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8737600" y="466933"/>
            <a:ext cx="2635250" cy="707886"/>
          </a:xfrm>
        </p:spPr>
        <p:txBody>
          <a:bodyPr vert="horz" lIns="91440" tIns="45720" rIns="91440" bIns="45720" rtlCol="0" anchor="ctr">
            <a:normAutofit/>
          </a:bodyPr>
          <a:lstStyle/>
          <a:p>
            <a:pPr defTabSz="914400">
              <a:lnSpc>
                <a:spcPct val="90000"/>
              </a:lnSpc>
              <a:spcAft>
                <a:spcPts val="600"/>
              </a:spcAft>
            </a:pPr>
            <a:fld id="{3AFC719D-C4A7-4544-876E-D411D11AF6C9}" type="slidenum">
              <a:rPr lang="en-US" sz="4400">
                <a:solidFill>
                  <a:schemeClr val="bg1"/>
                </a:solidFill>
              </a:rPr>
              <a:pPr defTabSz="914400">
                <a:lnSpc>
                  <a:spcPct val="90000"/>
                </a:lnSpc>
                <a:spcAft>
                  <a:spcPts val="600"/>
                </a:spcAft>
              </a:pPr>
              <a:t>28</a:t>
            </a:fld>
            <a:endParaRPr lang="en-US" sz="4400" dirty="0">
              <a:solidFill>
                <a:schemeClr val="bg1"/>
              </a:solidFill>
            </a:endParaRPr>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5024" y="2387175"/>
            <a:ext cx="2663825" cy="2663825"/>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7859713" y="6025942"/>
            <a:ext cx="3497262" cy="365125"/>
          </a:xfrm>
        </p:spPr>
        <p:txBody>
          <a:bodyPr vert="horz" lIns="91440" tIns="45720" rIns="91440" bIns="45720" rtlCol="0" anchor="ctr">
            <a:normAutofit/>
          </a:bodyPr>
          <a:lstStyle/>
          <a:p>
            <a:pPr algn="r" defTabSz="914400">
              <a:spcAft>
                <a:spcPts val="600"/>
              </a:spcAft>
            </a:pPr>
            <a:r>
              <a:rPr lang="en-US" sz="1000" kern="1200" dirty="0">
                <a:solidFill>
                  <a:schemeClr val="bg1">
                    <a:alpha val="60000"/>
                  </a:schemeClr>
                </a:solidFill>
                <a:latin typeface="+mn-lt"/>
                <a:ea typeface="+mn-ea"/>
                <a:cs typeface="+mn-cs"/>
              </a:rPr>
              <a:t>Key Benefit Administrators</a:t>
            </a:r>
          </a:p>
        </p:txBody>
      </p:sp>
    </p:spTree>
    <p:extLst>
      <p:ext uri="{BB962C8B-B14F-4D97-AF65-F5344CB8AC3E}">
        <p14:creationId xmlns:p14="http://schemas.microsoft.com/office/powerpoint/2010/main" val="2684971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SLUHN’s 2021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789913062"/>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SLUHN</a:t>
                      </a:r>
                    </a:p>
                  </a:txBody>
                  <a:tcPr>
                    <a:solidFill>
                      <a:schemeClr val="accent3">
                        <a:lumMod val="20000"/>
                        <a:lumOff val="80000"/>
                      </a:schemeClr>
                    </a:solidFill>
                  </a:tcPr>
                </a:tc>
                <a:tc>
                  <a:txBody>
                    <a:bodyPr/>
                    <a:lstStyle/>
                    <a:p>
                      <a:pPr algn="ctr"/>
                      <a:r>
                        <a:rPr lang="en-US" sz="1400" dirty="0">
                          <a:solidFill>
                            <a:schemeClr val="accent1">
                              <a:lumMod val="75000"/>
                            </a:schemeClr>
                          </a:solidFill>
                        </a:rPr>
                        <a:t>316,301</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$2,393,180K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103,307</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$475,586K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32%</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19,760</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$225,955K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6%</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12,842</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($102,024K)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180,392</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$1,693,393K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57%</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838631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solidFill/>
                <a:latin typeface="Arial" panose="020B0604020202020204" pitchFamily="34" charset="0"/>
                <a:cs typeface="Arial" panose="020B0604020202020204" pitchFamily="34" charset="0"/>
              </a:rPr>
              <a:t>The RAND data for SLUHN estimates commercial insurance reimbursements at 233%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1,693,393K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sz="1800" kern="1200" dirty="0">
                          <a:solidFill>
                            <a:schemeClr val="tx1"/>
                          </a:solidFill>
                          <a:latin typeface="+mn-lt"/>
                          <a:ea typeface="+mn-ea"/>
                          <a:cs typeface="+mn-cs"/>
                        </a:rPr>
                        <a:t>233%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1,631,785K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3,325,178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2,095,506</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$1,229,671K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a:t>
                      </a:r>
                      <a:r>
                        <a:rPr lang="en-US" sz="1800" kern="1200" dirty="0">
                          <a:solidFill>
                            <a:schemeClr val="tx1"/>
                          </a:solidFill>
                          <a:latin typeface="+mn-lt"/>
                          <a:ea typeface="+mn-ea"/>
                          <a:cs typeface="+mn-cs"/>
                        </a:rPr>
                        <a:t>Divided by 233%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728,028K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701,541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1,429,569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2,095,506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-665,937</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-47%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901D12-C1AE-35E0-648B-28079C42FA93}"/>
              </a:ext>
            </a:extLst>
          </p:cNvPr>
          <p:cNvSpPr>
            <a:spLocks noGrp="1"/>
          </p:cNvSpPr>
          <p:nvPr>
            <p:ph idx="1"/>
          </p:nvPr>
        </p:nvSpPr>
        <p:spPr/>
        <p:txBody>
          <a:bodyPr/>
          <a:lstStyle/>
          <a:p>
            <a:r>
              <a:rPr lang="en-US" dirty="0"/>
              <a:t>KBA recommends targeting KBA DTE prices 10% below commercial rates (resulting in a roughly 10 percentage-point drop in DTE profit). </a:t>
            </a:r>
          </a:p>
          <a:p>
            <a:r>
              <a:rPr lang="en-US" dirty="0"/>
              <a:t>To compensate for this lower margin, KBA provides the following margin improvements: </a:t>
            </a:r>
          </a:p>
          <a:p>
            <a:pPr lvl="1"/>
            <a:r>
              <a:rPr lang="en-US" dirty="0"/>
              <a:t>Far friendlier billing practices than commercial insurance. </a:t>
            </a:r>
          </a:p>
          <a:p>
            <a:pPr lvl="1"/>
            <a:r>
              <a:rPr lang="en-US" dirty="0"/>
              <a:t>Patient cards allow patients a no-interest payment option for SLUHN patient-responsibility payments. This card also improves patient steerage towards SLUHN. </a:t>
            </a:r>
          </a:p>
        </p:txBody>
      </p:sp>
      <p:sp>
        <p:nvSpPr>
          <p:cNvPr id="4" name="Footer Placeholder 3">
            <a:extLst>
              <a:ext uri="{FF2B5EF4-FFF2-40B4-BE49-F238E27FC236}">
                <a16:creationId xmlns:a16="http://schemas.microsoft.com/office/drawing/2014/main" id="{35D0ADF5-30C5-5095-63DF-D52E615FB3BA}"/>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52BD5AE-A58A-2E79-45CA-3D54B0C09D84}"/>
              </a:ext>
            </a:extLst>
          </p:cNvPr>
          <p:cNvSpPr>
            <a:spLocks noGrp="1"/>
          </p:cNvSpPr>
          <p:nvPr>
            <p:ph type="sldNum" sz="quarter" idx="12"/>
          </p:nvPr>
        </p:nvSpPr>
        <p:spPr/>
        <p:txBody>
          <a:bodyPr/>
          <a:lstStyle/>
          <a:p>
            <a:fld id="{3AFC719D-C4A7-4544-876E-D411D11AF6C9}" type="slidenum">
              <a:rPr lang="en-US" smtClean="0"/>
              <a:t>31</a:t>
            </a:fld>
            <a:endParaRPr lang="en-US" dirty="0"/>
          </a:p>
        </p:txBody>
      </p:sp>
      <p:sp>
        <p:nvSpPr>
          <p:cNvPr id="6" name="Title 1">
            <a:extLst>
              <a:ext uri="{FF2B5EF4-FFF2-40B4-BE49-F238E27FC236}">
                <a16:creationId xmlns:a16="http://schemas.microsoft.com/office/drawing/2014/main" id="{E8700EF2-C9F1-4B5C-9D9E-B78A811EFC04}"/>
              </a:ext>
            </a:extLst>
          </p:cNvPr>
          <p:cNvSpPr>
            <a:spLocks noGrp="1"/>
          </p:cNvSpPr>
          <p:nvPr>
            <p:ph type="title"/>
          </p:nvPr>
        </p:nvSpPr>
        <p:spPr>
          <a:xfrm>
            <a:off x="838202" y="365125"/>
            <a:ext cx="10515600" cy="1325563"/>
          </a:xfrm>
        </p:spPr>
        <p:txBody>
          <a:bodyPr/>
          <a:lstStyle/>
          <a:p>
            <a:r>
              <a:rPr lang="en-US" b="1" dirty="0">
                <a:latin typeface="+mn-lt"/>
                <a:cs typeface="Arial" panose="020B0604020202020204" pitchFamily="34" charset="0"/>
              </a:rPr>
              <a:t>Modeling Prices and Commercial Margins</a:t>
            </a:r>
          </a:p>
        </p:txBody>
      </p:sp>
    </p:spTree>
    <p:extLst>
      <p:ext uri="{BB962C8B-B14F-4D97-AF65-F5344CB8AC3E}">
        <p14:creationId xmlns:p14="http://schemas.microsoft.com/office/powerpoint/2010/main" val="3712416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3"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32</a:t>
            </a:fld>
            <a:endParaRPr lang="en-US" dirty="0"/>
          </a:p>
        </p:txBody>
      </p:sp>
      <p:sp>
        <p:nvSpPr>
          <p:cNvPr id="5" name="TextBox 9">
            <a:extLst>
              <a:ext uri="{FF2B5EF4-FFF2-40B4-BE49-F238E27FC236}">
                <a16:creationId xmlns:a16="http://schemas.microsoft.com/office/drawing/2014/main" id="{DD333F58-1E5B-D213-65EE-BB627B8B12A8}"/>
              </a:ext>
            </a:extLst>
          </p:cNvPr>
          <p:cNvSpPr txBox="1"/>
          <p:nvPr/>
        </p:nvSpPr>
        <p:spPr>
          <a:xfrm>
            <a:off x="838199" y="6164097"/>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56.1%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6" name="Table 5"/>
          <p:cNvGraphicFramePr>
            <a:graphicFrameLocks noGrp="1"/>
          </p:cNvGraphicFramePr>
          <p:nvPr>
            <p:extLst>
              <p:ext uri="{D42A27DB-BD31-4B8C-83A1-F6EECF244321}">
                <p14:modId xmlns:p14="http://schemas.microsoft.com/office/powerpoint/2010/main" val="478376611"/>
              </p:ext>
            </p:extLst>
          </p:nvPr>
        </p:nvGraphicFramePr>
        <p:xfrm>
          <a:off x="653844" y="816277"/>
          <a:ext cx="10884310" cy="5100477"/>
        </p:xfrm>
        <a:graphic>
          <a:graphicData uri="http://schemas.openxmlformats.org/drawingml/2006/table">
            <a:tbl>
              <a:tblPr/>
              <a:tblGrid>
                <a:gridCol w="3421482">
                  <a:extLst>
                    <a:ext uri="{9D8B030D-6E8A-4147-A177-3AD203B41FA5}">
                      <a16:colId xmlns:a16="http://schemas.microsoft.com/office/drawing/2014/main" val="20000"/>
                    </a:ext>
                  </a:extLst>
                </a:gridCol>
                <a:gridCol w="724012">
                  <a:extLst>
                    <a:ext uri="{9D8B030D-6E8A-4147-A177-3AD203B41FA5}">
                      <a16:colId xmlns:a16="http://schemas.microsoft.com/office/drawing/2014/main" val="20001"/>
                    </a:ext>
                  </a:extLst>
                </a:gridCol>
                <a:gridCol w="979887">
                  <a:extLst>
                    <a:ext uri="{9D8B030D-6E8A-4147-A177-3AD203B41FA5}">
                      <a16:colId xmlns:a16="http://schemas.microsoft.com/office/drawing/2014/main" val="20002"/>
                    </a:ext>
                  </a:extLst>
                </a:gridCol>
                <a:gridCol w="1042777">
                  <a:extLst>
                    <a:ext uri="{9D8B030D-6E8A-4147-A177-3AD203B41FA5}">
                      <a16:colId xmlns:a16="http://schemas.microsoft.com/office/drawing/2014/main" val="20003"/>
                    </a:ext>
                  </a:extLst>
                </a:gridCol>
                <a:gridCol w="2126789">
                  <a:extLst>
                    <a:ext uri="{9D8B030D-6E8A-4147-A177-3AD203B41FA5}">
                      <a16:colId xmlns:a16="http://schemas.microsoft.com/office/drawing/2014/main" val="20004"/>
                    </a:ext>
                  </a:extLst>
                </a:gridCol>
                <a:gridCol w="2589363">
                  <a:extLst>
                    <a:ext uri="{9D8B030D-6E8A-4147-A177-3AD203B41FA5}">
                      <a16:colId xmlns:a16="http://schemas.microsoft.com/office/drawing/2014/main" val="20005"/>
                    </a:ext>
                  </a:extLst>
                </a:gridCol>
              </a:tblGrid>
              <a:tr h="394435">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Hospital Name</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56.1% of Physicians Employed by Hospitals)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2917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Warren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92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464,369.1K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$1,008,837.0K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2917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Upper Bucks Campus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86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522,787.0K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748,428.8K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2917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Hospital Bethlehem</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783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$4,431,459.5K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$4,512,769.9K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cap="none" dirty="0">
                          <a:solidFill>
                            <a:schemeClr val="accent1"/>
                          </a:solidFill>
                          <a:latin typeface="Arial"/>
                          <a:cs typeface="Arial"/>
                          <a:sym typeface="Arial"/>
                        </a:rPr>
                        <a:t>19</a:t>
                      </a:r>
                      <a:r>
                        <a:rPr sz="1000" b="0" i="0" u="none" cap="none" dirty="0">
                          <a:solidFill>
                            <a:schemeClr val="accent1"/>
                          </a:solidFill>
                          <a:latin typeface="Arial"/>
                          <a:cs typeface="Arial"/>
                          <a:sym typeface="Arial"/>
                        </a:rPr>
                        <a: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2917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Grand View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180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313,554.5K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459,480.3K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cap="none" dirty="0">
                          <a:solidFill>
                            <a:schemeClr val="accent1"/>
                          </a:solidFill>
                          <a:latin typeface="Arial"/>
                          <a:cs typeface="Arial"/>
                          <a:sym typeface="Arial"/>
                        </a:rPr>
                        <a:t>1</a:t>
                      </a:r>
                      <a:r>
                        <a:rPr sz="1000" b="0" i="0" u="none" cap="none" dirty="0">
                          <a:solidFill>
                            <a:schemeClr val="accent1"/>
                          </a:solidFill>
                          <a:latin typeface="Arial"/>
                          <a:cs typeface="Arial"/>
                          <a:sym typeface="Arial"/>
                        </a:rPr>
                        <a: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2917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Hospital - Easton Campus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113,367.3K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317,923.5K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cap="none" dirty="0">
                          <a:solidFill>
                            <a:schemeClr val="accent1"/>
                          </a:solidFill>
                          <a:latin typeface="Arial"/>
                          <a:cs typeface="Arial"/>
                          <a:sym typeface="Arial"/>
                        </a:rPr>
                        <a:t>1</a:t>
                      </a:r>
                      <a:r>
                        <a:rPr sz="1000" b="0" i="0" u="none" cap="none" dirty="0">
                          <a:solidFill>
                            <a:schemeClr val="accent1"/>
                          </a:solidFill>
                          <a:latin typeface="Arial"/>
                          <a:cs typeface="Arial"/>
                          <a:sym typeface="Arial"/>
                        </a:rPr>
                        <a: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2917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Miners Memorial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49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149,719.5K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428,768.3K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2917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Hospital - Anderson Campus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193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$1,295,917.8K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$1,620,203.3K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83039">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OSF Holy Family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7,959.6K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107,751.2K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01682">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Ascension St Vincent Williamsport (FKA St Vincent Williamsport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10,559.8K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84,780.5K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83039">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The Medical Center at Bowling Green</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318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803,256.9K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666,736.1K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83039">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TriStar Greenview Regional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118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428,341.9K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641,858.8K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101682">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Merit Health River Region (FKA River Region Health System)</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155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648,085.0K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492,123.8K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Beartooth Billings Clinic</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6,596.1K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24,644.3K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Hunterdon Health (FKA Hunterdon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184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393,935.6K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929,836.7K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Hackettstown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95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419,072.8K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451,745.3K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Glens Falls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391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378,756.5K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714,562.5K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Atrium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244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563,010.9K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556,450.0K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35285">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Lehigh Valley Hospital - Schuylkill S Jackson Street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118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244,006.4K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346,134.4K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112656">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Lehigh Valley Hospital - Schuylkill E Norwegian Street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99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117,895.3K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181,742.1K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83039">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Lower Bucks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105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216,227.2K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126,832.8K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Lehigh Valley Hospital - Cedar Crest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1,190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$6,447,851.8K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$8,433,644.8K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28%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Wilkes-Barre General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188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764,343.4K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$1,091,258.7K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Warren General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85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63,831.1K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207,521.0K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101682">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Lehigh Valley Hospital - Hazleton</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134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263,046.6K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605,706.7K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101682">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St Lukes Lehighton Campus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68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193,471.3K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288,155.6K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Doylestown Hospital (AKA Doylestown Health)</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217</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593,232.7K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853,288.6K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6"/>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Geisinger Wyoming Valley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583</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$2,190,243.6K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$4,045,390.9K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10%</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7%</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8"/>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Rothman Orthopaedic Specialty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63,808.3K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209,522.8K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9"/>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Geisinger St Lukes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60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184,744.4K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275,367.2K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0"/>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St Lukes Carbon Campus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52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307,695.2K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371,559.4K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1"/>
                  </a:ext>
                </a:extLst>
              </a:tr>
              <a:tr h="101682">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Ascension Saint Thomas River Park (FKA River Park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56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97,845.5K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245,030.4K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2"/>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Castleview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63,429.8K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221,776.7K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3"/>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Warren Memorial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46,268.2K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194,670.3K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4"/>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Memorial Hospital of Carbon County</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9,924.9K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50,036.4K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5"/>
                  </a:ext>
                </a:extLst>
              </a:tr>
            </a:tbl>
          </a:graphicData>
        </a:graphic>
      </p:graphicFrame>
    </p:spTree>
    <p:extLst>
      <p:ext uri="{BB962C8B-B14F-4D97-AF65-F5344CB8AC3E}">
        <p14:creationId xmlns:p14="http://schemas.microsoft.com/office/powerpoint/2010/main" val="39030600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 y="1"/>
          <a:ext cx="12192001" cy="6858004"/>
        </p:xfrm>
        <a:graphic>
          <a:graphicData uri="http://schemas.openxmlformats.org/drawingml/2006/table">
            <a:tbl>
              <a:tblPr/>
              <a:tblGrid>
                <a:gridCol w="2023014">
                  <a:extLst>
                    <a:ext uri="{9D8B030D-6E8A-4147-A177-3AD203B41FA5}">
                      <a16:colId xmlns:a16="http://schemas.microsoft.com/office/drawing/2014/main" val="20000"/>
                    </a:ext>
                  </a:extLst>
                </a:gridCol>
                <a:gridCol w="1382450">
                  <a:extLst>
                    <a:ext uri="{9D8B030D-6E8A-4147-A177-3AD203B41FA5}">
                      <a16:colId xmlns:a16="http://schemas.microsoft.com/office/drawing/2014/main" val="20001"/>
                    </a:ext>
                  </a:extLst>
                </a:gridCol>
                <a:gridCol w="1768162">
                  <a:extLst>
                    <a:ext uri="{9D8B030D-6E8A-4147-A177-3AD203B41FA5}">
                      <a16:colId xmlns:a16="http://schemas.microsoft.com/office/drawing/2014/main" val="20002"/>
                    </a:ext>
                  </a:extLst>
                </a:gridCol>
                <a:gridCol w="1499734">
                  <a:extLst>
                    <a:ext uri="{9D8B030D-6E8A-4147-A177-3AD203B41FA5}">
                      <a16:colId xmlns:a16="http://schemas.microsoft.com/office/drawing/2014/main" val="20003"/>
                    </a:ext>
                  </a:extLst>
                </a:gridCol>
                <a:gridCol w="1626674">
                  <a:extLst>
                    <a:ext uri="{9D8B030D-6E8A-4147-A177-3AD203B41FA5}">
                      <a16:colId xmlns:a16="http://schemas.microsoft.com/office/drawing/2014/main" val="20004"/>
                    </a:ext>
                  </a:extLst>
                </a:gridCol>
                <a:gridCol w="1235941">
                  <a:extLst>
                    <a:ext uri="{9D8B030D-6E8A-4147-A177-3AD203B41FA5}">
                      <a16:colId xmlns:a16="http://schemas.microsoft.com/office/drawing/2014/main" val="20005"/>
                    </a:ext>
                  </a:extLst>
                </a:gridCol>
                <a:gridCol w="1651006">
                  <a:extLst>
                    <a:ext uri="{9D8B030D-6E8A-4147-A177-3AD203B41FA5}">
                      <a16:colId xmlns:a16="http://schemas.microsoft.com/office/drawing/2014/main" val="20006"/>
                    </a:ext>
                  </a:extLst>
                </a:gridCol>
                <a:gridCol w="1005020">
                  <a:extLst>
                    <a:ext uri="{9D8B030D-6E8A-4147-A177-3AD203B41FA5}">
                      <a16:colId xmlns:a16="http://schemas.microsoft.com/office/drawing/2014/main" val="20007"/>
                    </a:ext>
                  </a:extLst>
                </a:gridCol>
              </a:tblGrid>
              <a:tr h="232916">
                <a:tc gridSpan="8">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Hospital Metrics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628888">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Metric</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Bethlehem</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Anderson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Upper Bucks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Miners Memorial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Warren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Easton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Grand View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0384">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Hospital Days</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175,348</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50,266</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22,200</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10,032</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19,488</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4,553</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34,414</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220384">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Medicare Days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52,829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15,729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6,831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4,324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8,271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13,584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22038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Medicaid Days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11,581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4,726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1,513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938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Other Government Payer Days</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$602,108.1K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$191,795.8K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$60,120.5K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$27,847.82K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$63,154.19K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$14,624.38K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$95,947.68K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204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$613,155.9K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$239,790.1K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$86,069.32K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$79,750.91K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$137,201.8K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$41,012.13K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$140,601K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$239,589.9K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$94,531.81K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$34,117.06K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$16,775.95K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$40,371.26K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$8,186.026K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$42,014.48K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$136,616.8K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$33,310.48K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$10,636.72K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$12,644.13K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$19,332.77K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$4,531.892K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$8,881.773K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$839,057.3K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$305,159.9K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$101,702.4K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$78,292.09K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$141,070.3K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$42,705.19K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$185,405.8K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22042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$48,987.31K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$14,933.32K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$7,920.645K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$6,751.937K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$3,875.871K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$6,692.891K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$12,862.06K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22042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$507,803.4K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$152,854.5K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$57,209.3K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$24,434K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$45,493.67K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$13,401.86K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$120,788.3K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2204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$517,120.8K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$191,104.2K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$81,901.61K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$69,974.36K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$98,834.53K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$37,583.72K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$177,002.2K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22132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$1,024,924K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$343,958.6K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$139,110.9K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$94,408.36K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$144,328.2K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$50,985.57K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$297,790.4K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$190,339.8K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$89,043.57K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$7,345.306K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$13,303.81K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$56,446.17K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$4,437.54K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$-61,488.33K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31.3%</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30.8%</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42.4%</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38.2%</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39.5%</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22038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59.4%</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57.3%</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48.9%</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52.3%</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52.6%</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40.2%</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42.9%</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32.4%</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35.7%</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48.4%</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29.5%</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2.0%</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155532">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9144" marB="9144"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155532">
                <a:tc gridSpan="8">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155532">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155532">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1246512063"/>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to Bethlehem, PA Healthcare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$ 3,939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$ 6,616</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a:t>
                      </a:r>
                      <a:r>
                        <a:rPr lang="en-US" sz="1400" b="1" i="0" u="none" strike="noStrike">
                          <a:solidFill>
                            <a:srgbClr val="000000"/>
                          </a:solidFill>
                          <a:effectLst/>
                          <a:latin typeface="Calibri" panose="020F0502020204030204" pitchFamily="34" charset="0"/>
                        </a:rPr>
                        <a:t>$ 3,089</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34</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35</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2552478786"/>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77.42%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Oval 6">
            <a:extLst>
              <a:ext uri="{FF2B5EF4-FFF2-40B4-BE49-F238E27FC236}">
                <a16:creationId xmlns:a16="http://schemas.microsoft.com/office/drawing/2014/main" id="{C6C12282-6958-DC81-53E7-8B55DA976476}"/>
              </a:ext>
            </a:extLst>
          </p:cNvPr>
          <p:cNvSpPr/>
          <p:nvPr/>
        </p:nvSpPr>
        <p:spPr>
          <a:xfrm>
            <a:off x="7338974" y="3119767"/>
            <a:ext cx="814428" cy="390525"/>
          </a:xfrm>
          <a:prstGeom prst="ellipse">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allout: Line 7">
            <a:extLst>
              <a:ext uri="{FF2B5EF4-FFF2-40B4-BE49-F238E27FC236}">
                <a16:creationId xmlns:a16="http://schemas.microsoft.com/office/drawing/2014/main" id="{C48E1780-AC25-9BD2-86FC-FF9298ADEAFD}"/>
              </a:ext>
            </a:extLst>
          </p:cNvPr>
          <p:cNvSpPr/>
          <p:nvPr/>
        </p:nvSpPr>
        <p:spPr>
          <a:xfrm>
            <a:off x="10022411" y="3047196"/>
            <a:ext cx="1863635" cy="1123406"/>
          </a:xfrm>
          <a:prstGeom prst="borderCallout1">
            <a:avLst>
              <a:gd name="adj1" fmla="val 10057"/>
              <a:gd name="adj2" fmla="val -3093"/>
              <a:gd name="adj3" fmla="val 17609"/>
              <a:gd name="adj4" fmla="val -95140"/>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DTE Steerage Impact on an EPO Plan Structure</a:t>
            </a:r>
          </a:p>
        </p:txBody>
      </p:sp>
    </p:spTree>
    <p:extLst>
      <p:ext uri="{BB962C8B-B14F-4D97-AF65-F5344CB8AC3E}">
        <p14:creationId xmlns:p14="http://schemas.microsoft.com/office/powerpoint/2010/main" val="36165022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D3DCB03-C008-AD89-6957-4E05EFDE3F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45156905-E918-9971-55DA-1B3D3593A1EC}"/>
              </a:ext>
            </a:extLst>
          </p:cNvPr>
          <p:cNvSpPr>
            <a:spLocks noGrp="1"/>
          </p:cNvSpPr>
          <p:nvPr>
            <p:ph type="sldNum" sz="quarter" idx="12"/>
          </p:nvPr>
        </p:nvSpPr>
        <p:spPr/>
        <p:txBody>
          <a:bodyPr/>
          <a:lstStyle/>
          <a:p>
            <a:fld id="{3AFC719D-C4A7-4544-876E-D411D11AF6C9}" type="slidenum">
              <a:rPr lang="en-US" smtClean="0"/>
              <a:t>36</a:t>
            </a:fld>
            <a:endParaRPr lang="en-US" dirty="0"/>
          </a:p>
        </p:txBody>
      </p:sp>
      <p:sp>
        <p:nvSpPr>
          <p:cNvPr id="4" name="Rectangle 6">
            <a:extLst>
              <a:ext uri="{FF2B5EF4-FFF2-40B4-BE49-F238E27FC236}">
                <a16:creationId xmlns:a16="http://schemas.microsoft.com/office/drawing/2014/main" id="{8E28090C-2F27-C065-17C4-ABD81529AB09}"/>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A1043D87-228F-7EE7-994A-5E1D92DA9012}"/>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PROJECTED PLAN GROWTH</a:t>
            </a:r>
          </a:p>
        </p:txBody>
      </p:sp>
      <p:graphicFrame>
        <p:nvGraphicFramePr>
          <p:cNvPr id="7" name="Table 6"/>
          <p:cNvGraphicFramePr>
            <a:graphicFrameLocks noGrp="1"/>
          </p:cNvGraphicFramePr>
          <p:nvPr>
            <p:extLst>
              <p:ext uri="{D42A27DB-BD31-4B8C-83A1-F6EECF244321}">
                <p14:modId xmlns:p14="http://schemas.microsoft.com/office/powerpoint/2010/main" val="736954604"/>
              </p:ext>
            </p:extLst>
          </p:nvPr>
        </p:nvGraphicFramePr>
        <p:xfrm>
          <a:off x="2955035" y="436455"/>
          <a:ext cx="6682044" cy="5866033"/>
        </p:xfrm>
        <a:graphic>
          <a:graphicData uri="http://schemas.openxmlformats.org/drawingml/2006/table">
            <a:tbl>
              <a:tblPr/>
              <a:tblGrid>
                <a:gridCol w="2227348">
                  <a:extLst>
                    <a:ext uri="{9D8B030D-6E8A-4147-A177-3AD203B41FA5}">
                      <a16:colId xmlns:a16="http://schemas.microsoft.com/office/drawing/2014/main" val="20000"/>
                    </a:ext>
                  </a:extLst>
                </a:gridCol>
                <a:gridCol w="2227348">
                  <a:extLst>
                    <a:ext uri="{9D8B030D-6E8A-4147-A177-3AD203B41FA5}">
                      <a16:colId xmlns:a16="http://schemas.microsoft.com/office/drawing/2014/main" val="20001"/>
                    </a:ext>
                  </a:extLst>
                </a:gridCol>
                <a:gridCol w="2227348">
                  <a:extLst>
                    <a:ext uri="{9D8B030D-6E8A-4147-A177-3AD203B41FA5}">
                      <a16:colId xmlns:a16="http://schemas.microsoft.com/office/drawing/2014/main" val="20002"/>
                    </a:ext>
                  </a:extLst>
                </a:gridCol>
              </a:tblGrid>
              <a:tr h="4744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Members</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6,500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14,400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20,200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27,500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36,700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47,900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61,400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76,700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93,400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111,200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129,200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146,300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161,800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97,500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175,500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186,700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108,800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195,800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202,900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0"/>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208,300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1"/>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212,400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2"/>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215,500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3"/>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120,900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217,600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4"/>
                  </a:ext>
                </a:extLst>
              </a:tr>
              <a:tr h="2156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219,200</a:t>
                      </a:r>
                    </a:p>
                  </a:txBody>
                  <a:tcPr marL="0" marR="0" marT="0" marB="0" anchor="ctr">
                    <a:lnL w="0" cap="flat" cmpd="sng" algn="ctr">
                      <a:noFill/>
                      <a:prstDash val="solid"/>
                    </a:lnL>
                    <a:lnR w="28575"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37</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$ 5,813,802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$ 5,356,579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$ 2,500,978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$ 13,671,359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$ 1,505,901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$ 1,387,470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$ 647,807.7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$ 3,541,179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$ 9,765,906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$ 9,825,906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$ 9,495,906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$ 14,010,150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$ 25,471,600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$ 11,892,650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$ 51,374,400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$ 3,628,933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$ 6,597,698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$ 3,080,455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$ 13,307,085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72647" y="875949"/>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32% (inpatient) </a:t>
            </a:r>
            <a:r>
              <a:rPr lang="en-US" sz="1400">
                <a:solidFill/>
                <a:latin typeface="Arial" panose="020B0604020202020204" pitchFamily="34" charset="0"/>
                <a:cs typeface="Arial" panose="020B0604020202020204" pitchFamily="34" charset="0"/>
              </a:rPr>
              <a:t>and 17% </a:t>
            </a:r>
            <a:r>
              <a:rPr lang="en-US" sz="1400" dirty="0">
                <a:solidFill/>
                <a:latin typeface="Arial" panose="020B0604020202020204" pitchFamily="34" charset="0"/>
                <a:cs typeface="Arial" panose="020B0604020202020204" pitchFamily="34" charset="0"/>
              </a:rPr>
              <a:t>(outpatient)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25.9% (70% of the observed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72646" y="2133704"/>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⁰ Assuming 77% market steerage based on KBA narrow network DTE experience</a:t>
            </a:r>
          </a:p>
        </p:txBody>
      </p:sp>
      <p:sp>
        <p:nvSpPr>
          <p:cNvPr id="11" name="TextBox 7">
            <a:extLst>
              <a:ext uri="{FF2B5EF4-FFF2-40B4-BE49-F238E27FC236}">
                <a16:creationId xmlns:a16="http://schemas.microsoft.com/office/drawing/2014/main" id="{A897897D-C568-B204-6568-514AD4B71A5C}"/>
              </a:ext>
            </a:extLst>
          </p:cNvPr>
          <p:cNvSpPr txBox="1"/>
          <p:nvPr/>
        </p:nvSpPr>
        <p:spPr>
          <a:xfrm>
            <a:off x="7772646" y="2690336"/>
            <a:ext cx="4318001" cy="1384995"/>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25.9%, with a 10 percentage-point reduction to reflect competitive-edge rates and a 10 percentage-point increase to reflect lower billing costs and better patient-responsibility collections because of the plan patient card.  </a:t>
            </a:r>
          </a:p>
        </p:txBody>
      </p:sp>
    </p:spTree>
    <p:extLst>
      <p:ext uri="{BB962C8B-B14F-4D97-AF65-F5344CB8AC3E}">
        <p14:creationId xmlns:p14="http://schemas.microsoft.com/office/powerpoint/2010/main" val="19500757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396562931"/>
              </p:ext>
            </p:extLst>
          </p:nvPr>
        </p:nvGraphicFramePr>
        <p:xfrm>
          <a:off x="0" y="0"/>
          <a:ext cx="12191998" cy="6858000"/>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001168">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Target </a:t>
                      </a:r>
                      <a:r>
                        <a:rPr lang="en-US" sz="2000" b="1" i="0" u="none" cap="none" dirty="0">
                          <a:solidFill>
                            <a:srgbClr val="FFFFFF">
                              <a:alpha val="100000"/>
                            </a:srgbClr>
                          </a:solidFill>
                          <a:latin typeface="Arial"/>
                          <a:cs typeface="Arial"/>
                          <a:sym typeface="Arial"/>
                        </a:rPr>
                        <a:t>E</a:t>
                      </a:r>
                      <a:r>
                        <a:rPr sz="2000" b="1" i="0" u="none" cap="none" dirty="0">
                          <a:solidFill>
                            <a:srgbClr val="FFFFFF">
                              <a:alpha val="100000"/>
                            </a:srgbClr>
                          </a:solidFill>
                          <a:latin typeface="Arial"/>
                          <a:cs typeface="Arial"/>
                          <a:sym typeface="Arial"/>
                        </a:rPr>
                        <a:t>stimate </a:t>
                      </a:r>
                      <a:r>
                        <a:rPr lang="en-US" sz="2000" b="1" i="0" u="none" cap="none" dirty="0">
                          <a:solidFill>
                            <a:srgbClr val="FFFFFF">
                              <a:alpha val="100000"/>
                            </a:srgbClr>
                          </a:solidFill>
                          <a:latin typeface="Arial"/>
                          <a:cs typeface="Arial"/>
                          <a:sym typeface="Arial"/>
                        </a:rPr>
                        <a:t>W</a:t>
                      </a:r>
                      <a:r>
                        <a:rPr sz="2000" b="1" i="0" u="none" cap="none" dirty="0">
                          <a:solidFill>
                            <a:srgbClr val="FFFFFF">
                              <a:alpha val="100000"/>
                            </a:srgbClr>
                          </a:solidFill>
                          <a:latin typeface="Arial"/>
                          <a:cs typeface="Arial"/>
                          <a:sym typeface="Arial"/>
                        </a:rPr>
                        <a:t>ith a </a:t>
                      </a:r>
                      <a:r>
                        <a:rPr lang="en-US" sz="2000" b="1" i="0" u="none" cap="none" dirty="0">
                          <a:solidFill>
                            <a:srgbClr val="FFFFFF">
                              <a:alpha val="100000"/>
                            </a:srgbClr>
                          </a:solidFill>
                          <a:latin typeface="Arial"/>
                          <a:cs typeface="Arial"/>
                          <a:sym typeface="Arial"/>
                        </a:rPr>
                        <a:t>M</a:t>
                      </a:r>
                      <a:r>
                        <a:rPr sz="2000" b="1" i="0" u="none" cap="none" dirty="0">
                          <a:solidFill>
                            <a:srgbClr val="FFFFFF">
                              <a:alpha val="100000"/>
                            </a:srgbClr>
                          </a:solidFill>
                          <a:latin typeface="Arial"/>
                          <a:cs typeface="Arial"/>
                          <a:sym typeface="Arial"/>
                        </a:rPr>
                        <a:t>argin </a:t>
                      </a:r>
                      <a:r>
                        <a:rPr lang="en-US" sz="2000" b="1" i="0" u="none" cap="none" dirty="0">
                          <a:solidFill>
                            <a:srgbClr val="FFFFFF">
                              <a:alpha val="100000"/>
                            </a:srgbClr>
                          </a:solidFill>
                          <a:latin typeface="Arial"/>
                          <a:cs typeface="Arial"/>
                          <a:sym typeface="Arial"/>
                        </a:rPr>
                        <a:t>S</a:t>
                      </a:r>
                      <a:r>
                        <a:rPr sz="2000" b="1" i="0" u="none" cap="none" dirty="0">
                          <a:solidFill>
                            <a:srgbClr val="FFFFFF">
                              <a:alpha val="100000"/>
                            </a:srgbClr>
                          </a:solidFill>
                          <a:latin typeface="Arial"/>
                          <a:cs typeface="Arial"/>
                          <a:sym typeface="Arial"/>
                        </a:rPr>
                        <a:t>imilar to other </a:t>
                      </a:r>
                      <a:r>
                        <a:rPr lang="en-US" sz="2000" b="1" i="0" u="none" cap="none" dirty="0">
                          <a:solidFill>
                            <a:srgbClr val="FFFFFF">
                              <a:alpha val="100000"/>
                            </a:srgbClr>
                          </a:solidFill>
                          <a:latin typeface="Arial"/>
                          <a:cs typeface="Arial"/>
                          <a:sym typeface="Arial"/>
                        </a:rPr>
                        <a:t>C</a:t>
                      </a:r>
                      <a:r>
                        <a:rPr sz="2000" b="1" i="0" u="none" cap="none" dirty="0">
                          <a:solidFill>
                            <a:srgbClr val="FFFFFF">
                              <a:alpha val="100000"/>
                            </a:srgbClr>
                          </a:solidFill>
                          <a:latin typeface="Arial"/>
                          <a:cs typeface="Arial"/>
                          <a:sym typeface="Arial"/>
                        </a:rPr>
                        <a:t>ommercial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lans and </a:t>
                      </a:r>
                      <a:r>
                        <a:rPr lang="en-US" sz="2000" b="1" i="0" u="none" cap="none" dirty="0">
                          <a:solidFill>
                            <a:srgbClr val="FFFFFF">
                              <a:alpha val="100000"/>
                            </a:srgbClr>
                          </a:solidFill>
                          <a:latin typeface="Arial"/>
                          <a:cs typeface="Arial"/>
                          <a:sym typeface="Arial"/>
                        </a:rPr>
                        <a:t>T</a:t>
                      </a:r>
                      <a:r>
                        <a:rPr sz="2000" b="1" i="0" u="none" cap="none" dirty="0">
                          <a:solidFill>
                            <a:srgbClr val="FFFFFF">
                              <a:alpha val="100000"/>
                            </a:srgbClr>
                          </a:solidFill>
                          <a:latin typeface="Arial"/>
                          <a:cs typeface="Arial"/>
                          <a:sym typeface="Arial"/>
                        </a:rPr>
                        <a:t>arget (77%)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atient </a:t>
                      </a:r>
                      <a:r>
                        <a:rPr lang="en-US" sz="2000" b="1" i="0" u="none" cap="none" dirty="0">
                          <a:solidFill>
                            <a:srgbClr val="FFFFFF">
                              <a:alpha val="100000"/>
                            </a:srgbClr>
                          </a:solidFill>
                          <a:latin typeface="Arial"/>
                          <a:cs typeface="Arial"/>
                          <a:sym typeface="Arial"/>
                        </a:rPr>
                        <a:t>S</a:t>
                      </a:r>
                      <a:r>
                        <a:rPr sz="2000" b="1" i="0" u="none" cap="none" dirty="0">
                          <a:solidFill>
                            <a:srgbClr val="FFFFFF">
                              <a:alpha val="100000"/>
                            </a:srgbClr>
                          </a:solidFill>
                          <a:latin typeface="Arial"/>
                          <a:cs typeface="Arial"/>
                          <a:sym typeface="Arial"/>
                        </a:rPr>
                        <a:t>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375438">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825964">
                <a:tc>
                  <a:txBody>
                    <a:bodyPr/>
                    <a:lstStyle/>
                    <a:p>
                      <a:pPr marL="127000" marR="127000" algn="l">
                        <a:lnSpc>
                          <a:spcPct val="100000"/>
                        </a:lnSpc>
                        <a:spcBef>
                          <a:spcPts val="0"/>
                        </a:spcBef>
                        <a:spcAft>
                          <a:spcPts val="0"/>
                        </a:spcAft>
                        <a:buNone/>
                      </a:pPr>
                      <a:r>
                        <a:rPr sz="14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5438">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$2,734.3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$13,671.4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$68,356.8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75438">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$17,705.9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$10,274.9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$51,374.4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$256,872.0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50642">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$3,770.3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$37,703.0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$188,515.2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550642">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$1,330.7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$2,661.4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$13,307.1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$66,535.4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550642">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$976.6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$1,953.2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$9,765.9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$48,829.5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75438">
                <a:tc>
                  <a:txBody>
                    <a:bodyPr/>
                    <a:lstStyle/>
                    <a:p>
                      <a:pPr marL="127000" marR="1270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$652.6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$1,635.2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$9,495.9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$48,799.5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18828044"/>
              </p:ext>
            </p:extLst>
          </p:nvPr>
        </p:nvGraphicFramePr>
        <p:xfrm>
          <a:off x="0" y="0"/>
          <a:ext cx="12191998" cy="6867329"/>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600263">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25098">
                <a:tc gridSpan="5">
                  <a:txBody>
                    <a:bodyPr/>
                    <a:lstStyle/>
                    <a:p>
                      <a:pPr marL="127000" marR="127000" algn="l">
                        <a:lnSpc>
                          <a:spcPct val="100000"/>
                        </a:lnSpc>
                        <a:spcBef>
                          <a:spcPts val="0"/>
                        </a:spcBef>
                        <a:spcAft>
                          <a:spcPts val="0"/>
                        </a:spcAft>
                        <a:buNone/>
                      </a:pPr>
                      <a:r>
                        <a:rPr lang="en-US" sz="1400" b="1" i="0" u="none" cap="none" dirty="0">
                          <a:solidFill>
                            <a:srgbClr val="FFFFFF">
                              <a:alpha val="100000"/>
                            </a:srgbClr>
                          </a:solidFill>
                          <a:latin typeface="Arial"/>
                          <a:cs typeface="Arial"/>
                          <a:sym typeface="Arial"/>
                        </a:rPr>
                        <a:t>Estimates by service line, a</a:t>
                      </a:r>
                      <a:r>
                        <a:rPr sz="1400" b="1" i="0" u="none" cap="none" dirty="0">
                          <a:solidFill>
                            <a:srgbClr val="FFFFFF">
                              <a:alpha val="100000"/>
                            </a:srgbClr>
                          </a:solidFill>
                          <a:latin typeface="Arial"/>
                          <a:cs typeface="Arial"/>
                          <a:sym typeface="Arial"/>
                        </a:rPr>
                        <a:t>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495217">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$2,802.0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$14,010.1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$70,050.8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$3,628.9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$18,144.7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$1,639.3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$40,981.7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$2,123.0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$10,615.2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$26,782.9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$5,094.3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$6,597.7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$32,988.5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$4,023.0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$20,115.0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$100,575.1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$521.0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$1,042.0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$5,210.2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$26,051.1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$3,239.0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$2,378.5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$59,463.2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$3,080.5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$15,402.3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$1,878.3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$9,391.7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$46,958.4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$243.3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$486.5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$2,432.6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$12,163.2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25098">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$652.6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$1,635.2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$9,495.9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$48,799.5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596887310"/>
              </p:ext>
            </p:extLst>
          </p:nvPr>
        </p:nvGraphicFramePr>
        <p:xfrm>
          <a:off x="0" y="0"/>
          <a:ext cx="12191998" cy="6858004"/>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512794">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High </a:t>
                      </a:r>
                      <a:r>
                        <a:rPr lang="en-US" sz="2000" b="1" i="0" u="none" cap="none" dirty="0">
                          <a:solidFill>
                            <a:srgbClr val="FFFFFF">
                              <a:alpha val="100000"/>
                            </a:srgbClr>
                          </a:solidFill>
                          <a:latin typeface="Arial"/>
                          <a:cs typeface="Arial"/>
                          <a:sym typeface="Arial"/>
                        </a:rPr>
                        <a:t>E</a:t>
                      </a:r>
                      <a:r>
                        <a:rPr sz="2000" b="1" i="0" u="none" cap="none" dirty="0">
                          <a:solidFill>
                            <a:srgbClr val="FFFFFF">
                              <a:alpha val="100000"/>
                            </a:srgbClr>
                          </a:solidFill>
                          <a:latin typeface="Arial"/>
                          <a:cs typeface="Arial"/>
                          <a:sym typeface="Arial"/>
                        </a:rPr>
                        <a:t>stimate </a:t>
                      </a:r>
                      <a:r>
                        <a:rPr lang="en-US" sz="2000" b="1" i="0" u="none" cap="none" dirty="0">
                          <a:solidFill>
                            <a:srgbClr val="FFFFFF">
                              <a:alpha val="100000"/>
                            </a:srgbClr>
                          </a:solidFill>
                          <a:latin typeface="Arial"/>
                          <a:cs typeface="Arial"/>
                          <a:sym typeface="Arial"/>
                        </a:rPr>
                        <a:t>W</a:t>
                      </a:r>
                      <a:r>
                        <a:rPr sz="2000" b="1" i="0" u="none" cap="none" dirty="0">
                          <a:solidFill>
                            <a:srgbClr val="FFFFFF">
                              <a:alpha val="100000"/>
                            </a:srgbClr>
                          </a:solidFill>
                          <a:latin typeface="Arial"/>
                          <a:cs typeface="Arial"/>
                          <a:sym typeface="Arial"/>
                        </a:rPr>
                        <a:t>ith 5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ercentage-</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oint </a:t>
                      </a:r>
                      <a:r>
                        <a:rPr lang="en-US" sz="2000" b="1" i="0" u="none" cap="none" dirty="0">
                          <a:solidFill>
                            <a:srgbClr val="FFFFFF">
                              <a:alpha val="100000"/>
                            </a:srgbClr>
                          </a:solidFill>
                          <a:latin typeface="Arial"/>
                          <a:cs typeface="Arial"/>
                          <a:sym typeface="Arial"/>
                        </a:rPr>
                        <a:t>M</a:t>
                      </a:r>
                      <a:r>
                        <a:rPr sz="2000" b="1" i="0" u="none" cap="none" dirty="0">
                          <a:solidFill>
                            <a:srgbClr val="FFFFFF">
                              <a:alpha val="100000"/>
                            </a:srgbClr>
                          </a:solidFill>
                          <a:latin typeface="Arial"/>
                          <a:cs typeface="Arial"/>
                          <a:sym typeface="Arial"/>
                        </a:rPr>
                        <a:t>argin </a:t>
                      </a:r>
                      <a:r>
                        <a:rPr lang="en-US" sz="2000" b="1" i="0" u="none" cap="none" dirty="0">
                          <a:solidFill>
                            <a:srgbClr val="FFFFFF">
                              <a:alpha val="100000"/>
                            </a:srgbClr>
                          </a:solidFill>
                          <a:latin typeface="Arial"/>
                          <a:cs typeface="Arial"/>
                          <a:sym typeface="Arial"/>
                        </a:rPr>
                        <a:t>I</a:t>
                      </a:r>
                      <a:r>
                        <a:rPr sz="2000" b="1" i="0" u="none" cap="none" dirty="0">
                          <a:solidFill>
                            <a:srgbClr val="FFFFFF">
                              <a:alpha val="100000"/>
                            </a:srgbClr>
                          </a:solidFill>
                          <a:latin typeface="Arial"/>
                          <a:cs typeface="Arial"/>
                          <a:sym typeface="Arial"/>
                        </a:rPr>
                        <a:t>mprovement </a:t>
                      </a:r>
                      <a:r>
                        <a:rPr lang="en-US" sz="2000" b="1" i="0" u="none" cap="none" dirty="0">
                          <a:solidFill>
                            <a:srgbClr val="FFFFFF">
                              <a:alpha val="100000"/>
                            </a:srgbClr>
                          </a:solidFill>
                          <a:latin typeface="Arial"/>
                          <a:cs typeface="Arial"/>
                          <a:sym typeface="Arial"/>
                        </a:rPr>
                        <a:t>O</a:t>
                      </a:r>
                      <a:r>
                        <a:rPr sz="2000" b="1" i="0" u="none" cap="none" dirty="0">
                          <a:solidFill>
                            <a:srgbClr val="FFFFFF">
                              <a:alpha val="100000"/>
                            </a:srgbClr>
                          </a:solidFill>
                          <a:latin typeface="Arial"/>
                          <a:cs typeface="Arial"/>
                          <a:sym typeface="Arial"/>
                        </a:rPr>
                        <a:t>ver </a:t>
                      </a:r>
                      <a:r>
                        <a:rPr lang="en-US" sz="2000" b="1" i="0" u="none" cap="none" dirty="0">
                          <a:solidFill>
                            <a:srgbClr val="FFFFFF">
                              <a:alpha val="100000"/>
                            </a:srgbClr>
                          </a:solidFill>
                          <a:latin typeface="Arial"/>
                          <a:cs typeface="Arial"/>
                          <a:sym typeface="Arial"/>
                        </a:rPr>
                        <a:t>C</a:t>
                      </a:r>
                      <a:r>
                        <a:rPr sz="2000" b="1" i="0" u="none" cap="none" dirty="0">
                          <a:solidFill>
                            <a:srgbClr val="FFFFFF">
                              <a:alpha val="100000"/>
                            </a:srgbClr>
                          </a:solidFill>
                          <a:latin typeface="Arial"/>
                          <a:cs typeface="Arial"/>
                          <a:sym typeface="Arial"/>
                        </a:rPr>
                        <a:t>ommercial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lans and </a:t>
                      </a:r>
                      <a:r>
                        <a:rPr lang="en-US" sz="2000" b="1" i="0" u="none" cap="none" dirty="0">
                          <a:solidFill>
                            <a:srgbClr val="FFFFFF">
                              <a:alpha val="100000"/>
                            </a:srgbClr>
                          </a:solidFill>
                          <a:latin typeface="Arial"/>
                          <a:cs typeface="Arial"/>
                          <a:sym typeface="Arial"/>
                        </a:rPr>
                        <a:t>H</a:t>
                      </a:r>
                      <a:r>
                        <a:rPr sz="2000" b="1" i="0" u="none" cap="none" dirty="0">
                          <a:solidFill>
                            <a:srgbClr val="FFFFFF">
                              <a:alpha val="100000"/>
                            </a:srgbClr>
                          </a:solidFill>
                          <a:latin typeface="Arial"/>
                          <a:cs typeface="Arial"/>
                          <a:sym typeface="Arial"/>
                        </a:rPr>
                        <a:t>igh (85%)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atient </a:t>
                      </a:r>
                      <a:r>
                        <a:rPr lang="en-US" sz="2000" b="1" i="0" u="none" cap="none" dirty="0">
                          <a:solidFill>
                            <a:srgbClr val="FFFFFF">
                              <a:alpha val="100000"/>
                            </a:srgbClr>
                          </a:solidFill>
                          <a:latin typeface="Arial"/>
                          <a:cs typeface="Arial"/>
                          <a:sym typeface="Arial"/>
                        </a:rPr>
                        <a:t>S</a:t>
                      </a:r>
                      <a:r>
                        <a:rPr sz="2000" b="1" i="0" u="none" cap="none" dirty="0">
                          <a:solidFill>
                            <a:srgbClr val="FFFFFF">
                              <a:alpha val="100000"/>
                            </a:srgbClr>
                          </a:solidFill>
                          <a:latin typeface="Arial"/>
                          <a:cs typeface="Arial"/>
                          <a:sym typeface="Arial"/>
                        </a:rPr>
                        <a:t>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378199">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832037">
                <a:tc>
                  <a:txBody>
                    <a:bodyPr/>
                    <a:lstStyle/>
                    <a:p>
                      <a:pPr marL="127000" marR="127000" algn="l">
                        <a:lnSpc>
                          <a:spcPct val="100000"/>
                        </a:lnSpc>
                        <a:spcBef>
                          <a:spcPts val="0"/>
                        </a:spcBef>
                        <a:spcAft>
                          <a:spcPts val="0"/>
                        </a:spcAft>
                        <a:buNone/>
                      </a:pPr>
                      <a:r>
                        <a:rPr sz="16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$2,734.3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$68,356.8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$354.1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$708.2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$3,541.2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$17,705.9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$5,671.2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$11,342.4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$56,712.0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$283,560.0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54691">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$4,304.1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$8,608.1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$43,040.6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$215,203.2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$1,752.5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$3,505.0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$17,525.2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$87,626.2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554691">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$1,398.4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$2,796.8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$13,984.1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$69,920.3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78199">
                <a:tc>
                  <a:txBody>
                    <a:bodyPr/>
                    <a:lstStyle/>
                    <a:p>
                      <a:pPr marL="127000" marR="127000" algn="l">
                        <a:lnSpc>
                          <a:spcPct val="100000"/>
                        </a:lnSpc>
                        <a:spcBef>
                          <a:spcPts val="0"/>
                        </a:spcBef>
                        <a:spcAft>
                          <a:spcPts val="0"/>
                        </a:spcAft>
                        <a:buNone/>
                      </a:pPr>
                      <a:r>
                        <a:rPr sz="16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$1,074.4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$2,478.8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$13,714.1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dirty="0">
                          <a:solidFill>
                            <a:srgbClr val="000000">
                              <a:alpha val="100000"/>
                            </a:srgbClr>
                          </a:solidFill>
                          <a:latin typeface="Arial"/>
                          <a:cs typeface="Arial"/>
                          <a:sym typeface="Arial"/>
                        </a:rPr>
                        <a:t>$69,890.3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4473534"/>
              </p:ext>
            </p:extLst>
          </p:nvPr>
        </p:nvGraphicFramePr>
        <p:xfrm>
          <a:off x="0" y="0"/>
          <a:ext cx="12191998" cy="6857992"/>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890649">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222662">
                <a:tc gridSpan="5">
                  <a:txBody>
                    <a:bodyPr/>
                    <a:lstStyle/>
                    <a:p>
                      <a:pPr marL="127000" marR="127000" algn="l">
                        <a:lnSpc>
                          <a:spcPct val="100000"/>
                        </a:lnSpc>
                        <a:spcBef>
                          <a:spcPts val="0"/>
                        </a:spcBef>
                        <a:spcAft>
                          <a:spcPts val="0"/>
                        </a:spcAft>
                        <a:buNone/>
                      </a:pPr>
                      <a:r>
                        <a:rPr lang="en-US" sz="1400" b="1" i="0" u="none" cap="none" dirty="0">
                          <a:solidFill>
                            <a:srgbClr val="FFFFFF">
                              <a:alpha val="100000"/>
                            </a:srgbClr>
                          </a:solidFill>
                          <a:latin typeface="Arial"/>
                          <a:cs typeface="Arial"/>
                          <a:sym typeface="Arial"/>
                        </a:rPr>
                        <a:t>Estimates by service line, 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89857">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$3,093.2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$15,465.8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$77,328.8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$955.9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$4,779.3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$23,896.3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$9,651.9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$48,259.7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$327.3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$654.7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$3,273.4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$16,366.8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$5,356.6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$26,782.9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$2,811.8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$5,623.6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$28,118.0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$140,590.0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$868.9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$1,737.8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$8,689.1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$43,445.4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$2,276.1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$4,552.3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$22,761.4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$113,807.1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$1,460.3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$7,301.6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$36,508.0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$3,239.0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$2,625.7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$65,641.2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$4,056.9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$20,284.6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$53,136.4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$340.9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$3,409.1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$17,045.5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441577898"/>
              </p:ext>
            </p:extLst>
          </p:nvPr>
        </p:nvGraphicFramePr>
        <p:xfrm>
          <a:off x="0" y="0"/>
          <a:ext cx="12191998" cy="6858004"/>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512794">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Low </a:t>
                      </a:r>
                      <a:r>
                        <a:rPr lang="en-US" sz="2000" b="1" i="0" u="none" cap="none" dirty="0">
                          <a:solidFill>
                            <a:srgbClr val="FFFFFF">
                              <a:alpha val="100000"/>
                            </a:srgbClr>
                          </a:solidFill>
                          <a:latin typeface="Arial"/>
                          <a:cs typeface="Arial"/>
                          <a:sym typeface="Arial"/>
                        </a:rPr>
                        <a:t>E</a:t>
                      </a:r>
                      <a:r>
                        <a:rPr sz="2000" b="1" i="0" u="none" cap="none" dirty="0">
                          <a:solidFill>
                            <a:srgbClr val="FFFFFF">
                              <a:alpha val="100000"/>
                            </a:srgbClr>
                          </a:solidFill>
                          <a:latin typeface="Arial"/>
                          <a:cs typeface="Arial"/>
                          <a:sym typeface="Arial"/>
                        </a:rPr>
                        <a:t>stimate </a:t>
                      </a:r>
                      <a:r>
                        <a:rPr lang="en-US" sz="2000" b="1" i="0" u="none" cap="none" dirty="0">
                          <a:solidFill>
                            <a:srgbClr val="FFFFFF">
                              <a:alpha val="100000"/>
                            </a:srgbClr>
                          </a:solidFill>
                          <a:latin typeface="Arial"/>
                          <a:cs typeface="Arial"/>
                          <a:sym typeface="Arial"/>
                        </a:rPr>
                        <a:t>W</a:t>
                      </a:r>
                      <a:r>
                        <a:rPr sz="2000" b="1" i="0" u="none" cap="none" dirty="0">
                          <a:solidFill>
                            <a:srgbClr val="FFFFFF">
                              <a:alpha val="100000"/>
                            </a:srgbClr>
                          </a:solidFill>
                          <a:latin typeface="Arial"/>
                          <a:cs typeface="Arial"/>
                          <a:sym typeface="Arial"/>
                        </a:rPr>
                        <a:t>ith 5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ercentage-</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oint </a:t>
                      </a:r>
                      <a:r>
                        <a:rPr lang="en-US" sz="2000" b="1" i="0" u="none" cap="none" dirty="0">
                          <a:solidFill>
                            <a:srgbClr val="FFFFFF">
                              <a:alpha val="100000"/>
                            </a:srgbClr>
                          </a:solidFill>
                          <a:latin typeface="Arial"/>
                          <a:cs typeface="Arial"/>
                          <a:sym typeface="Arial"/>
                        </a:rPr>
                        <a:t>M</a:t>
                      </a:r>
                      <a:r>
                        <a:rPr sz="2000" b="1" i="0" u="none" cap="none" dirty="0">
                          <a:solidFill>
                            <a:srgbClr val="FFFFFF">
                              <a:alpha val="100000"/>
                            </a:srgbClr>
                          </a:solidFill>
                          <a:latin typeface="Arial"/>
                          <a:cs typeface="Arial"/>
                          <a:sym typeface="Arial"/>
                        </a:rPr>
                        <a:t>argin </a:t>
                      </a:r>
                      <a:r>
                        <a:rPr lang="en-US" sz="2000" b="1" i="0" u="none" cap="none" dirty="0">
                          <a:solidFill>
                            <a:srgbClr val="FFFFFF">
                              <a:alpha val="100000"/>
                            </a:srgbClr>
                          </a:solidFill>
                          <a:latin typeface="Arial"/>
                          <a:cs typeface="Arial"/>
                          <a:sym typeface="Arial"/>
                        </a:rPr>
                        <a:t>D</a:t>
                      </a:r>
                      <a:r>
                        <a:rPr sz="2000" b="1" i="0" u="none" cap="none" dirty="0">
                          <a:solidFill>
                            <a:srgbClr val="FFFFFF">
                              <a:alpha val="100000"/>
                            </a:srgbClr>
                          </a:solidFill>
                          <a:latin typeface="Arial"/>
                          <a:cs typeface="Arial"/>
                          <a:sym typeface="Arial"/>
                        </a:rPr>
                        <a:t>ecrease </a:t>
                      </a:r>
                      <a:r>
                        <a:rPr lang="en-US" sz="2000" b="1" i="0" u="none" cap="none" dirty="0">
                          <a:solidFill>
                            <a:srgbClr val="FFFFFF">
                              <a:alpha val="100000"/>
                            </a:srgbClr>
                          </a:solidFill>
                          <a:latin typeface="Arial"/>
                          <a:cs typeface="Arial"/>
                          <a:sym typeface="Arial"/>
                        </a:rPr>
                        <a:t>O</a:t>
                      </a:r>
                      <a:r>
                        <a:rPr sz="2000" b="1" i="0" u="none" cap="none" dirty="0">
                          <a:solidFill>
                            <a:srgbClr val="FFFFFF">
                              <a:alpha val="100000"/>
                            </a:srgbClr>
                          </a:solidFill>
                          <a:latin typeface="Arial"/>
                          <a:cs typeface="Arial"/>
                          <a:sym typeface="Arial"/>
                        </a:rPr>
                        <a:t>ver </a:t>
                      </a:r>
                      <a:r>
                        <a:rPr lang="en-US" sz="2000" b="1" i="0" u="none" cap="none" dirty="0">
                          <a:solidFill>
                            <a:srgbClr val="FFFFFF">
                              <a:alpha val="100000"/>
                            </a:srgbClr>
                          </a:solidFill>
                          <a:latin typeface="Arial"/>
                          <a:cs typeface="Arial"/>
                          <a:sym typeface="Arial"/>
                        </a:rPr>
                        <a:t>C</a:t>
                      </a:r>
                      <a:r>
                        <a:rPr sz="2000" b="1" i="0" u="none" cap="none" dirty="0">
                          <a:solidFill>
                            <a:srgbClr val="FFFFFF">
                              <a:alpha val="100000"/>
                            </a:srgbClr>
                          </a:solidFill>
                          <a:latin typeface="Arial"/>
                          <a:cs typeface="Arial"/>
                          <a:sym typeface="Arial"/>
                        </a:rPr>
                        <a:t>ommercial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lans and </a:t>
                      </a:r>
                      <a:r>
                        <a:rPr lang="en-US" sz="2000" b="1" i="0" u="none" cap="none" dirty="0">
                          <a:solidFill>
                            <a:srgbClr val="FFFFFF">
                              <a:alpha val="100000"/>
                            </a:srgbClr>
                          </a:solidFill>
                          <a:latin typeface="Arial"/>
                          <a:cs typeface="Arial"/>
                          <a:sym typeface="Arial"/>
                        </a:rPr>
                        <a:t>L</a:t>
                      </a:r>
                      <a:r>
                        <a:rPr sz="2000" b="1" i="0" u="none" cap="none" dirty="0">
                          <a:solidFill>
                            <a:srgbClr val="FFFFFF">
                              <a:alpha val="100000"/>
                            </a:srgbClr>
                          </a:solidFill>
                          <a:latin typeface="Arial"/>
                          <a:cs typeface="Arial"/>
                          <a:sym typeface="Arial"/>
                        </a:rPr>
                        <a:t>ow (70%)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atient </a:t>
                      </a:r>
                      <a:r>
                        <a:rPr lang="en-US" sz="2000" b="1" i="0" u="none" cap="none" dirty="0">
                          <a:solidFill>
                            <a:srgbClr val="FFFFFF">
                              <a:alpha val="100000"/>
                            </a:srgbClr>
                          </a:solidFill>
                          <a:latin typeface="Arial"/>
                          <a:cs typeface="Arial"/>
                          <a:sym typeface="Arial"/>
                        </a:rPr>
                        <a:t>S</a:t>
                      </a:r>
                      <a:r>
                        <a:rPr sz="2000" b="1" i="0" u="none" cap="none" dirty="0">
                          <a:solidFill>
                            <a:srgbClr val="FFFFFF">
                              <a:alpha val="100000"/>
                            </a:srgbClr>
                          </a:solidFill>
                          <a:latin typeface="Arial"/>
                          <a:cs typeface="Arial"/>
                          <a:sym typeface="Arial"/>
                        </a:rPr>
                        <a:t>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378199">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832037">
                <a:tc>
                  <a:txBody>
                    <a:bodyPr/>
                    <a:lstStyle/>
                    <a:p>
                      <a:pPr marL="127000" marR="127000" algn="l">
                        <a:lnSpc>
                          <a:spcPct val="100000"/>
                        </a:lnSpc>
                        <a:spcBef>
                          <a:spcPts val="0"/>
                        </a:spcBef>
                        <a:spcAft>
                          <a:spcPts val="0"/>
                        </a:spcAft>
                        <a:buNone/>
                      </a:pPr>
                      <a:r>
                        <a:rPr sz="16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$2,734.3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$68,356.8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$708.2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$3,541.2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$17,705.9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$4,670.4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$9,340.8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$46,704.0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$233,520.0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54691">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$3,303.3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$6,606.5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$33,032.6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$165,163.2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$976.2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$1,952.4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$9,762.2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$48,810.8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554691">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$622.1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$1,244.2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$6,221.0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$31,104.9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78199">
                <a:tc>
                  <a:txBody>
                    <a:bodyPr/>
                    <a:lstStyle/>
                    <a:p>
                      <a:pPr marL="127000" marR="127000" algn="l">
                        <a:lnSpc>
                          <a:spcPct val="100000"/>
                        </a:lnSpc>
                        <a:spcBef>
                          <a:spcPts val="0"/>
                        </a:spcBef>
                        <a:spcAft>
                          <a:spcPts val="0"/>
                        </a:spcAft>
                        <a:buNone/>
                      </a:pPr>
                      <a:r>
                        <a:rPr sz="16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$298.1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$926.2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$5,951.0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dirty="0">
                          <a:solidFill>
                            <a:srgbClr val="000000">
                              <a:alpha val="100000"/>
                            </a:srgbClr>
                          </a:solidFill>
                          <a:latin typeface="Arial"/>
                          <a:cs typeface="Arial"/>
                          <a:sym typeface="Arial"/>
                        </a:rPr>
                        <a:t>$31,074.9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500104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35387176"/>
              </p:ext>
            </p:extLst>
          </p:nvPr>
        </p:nvGraphicFramePr>
        <p:xfrm>
          <a:off x="0" y="0"/>
          <a:ext cx="12191998" cy="6857992"/>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890649">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222662">
                <a:tc gridSpan="5">
                  <a:txBody>
                    <a:bodyPr/>
                    <a:lstStyle/>
                    <a:p>
                      <a:pPr marL="127000" marR="127000" algn="l">
                        <a:lnSpc>
                          <a:spcPct val="100000"/>
                        </a:lnSpc>
                        <a:spcBef>
                          <a:spcPts val="0"/>
                        </a:spcBef>
                        <a:spcAft>
                          <a:spcPts val="0"/>
                        </a:spcAft>
                        <a:buNone/>
                      </a:pPr>
                      <a:r>
                        <a:rPr lang="en-US" sz="1400" b="1" i="0" u="none" cap="none" dirty="0">
                          <a:solidFill>
                            <a:srgbClr val="FFFFFF">
                              <a:alpha val="100000"/>
                            </a:srgbClr>
                          </a:solidFill>
                          <a:latin typeface="Arial"/>
                          <a:cs typeface="Arial"/>
                          <a:sym typeface="Arial"/>
                        </a:rPr>
                        <a:t>Estimates by service line, 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89857">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$1,162.8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$63,682.5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$2,662.2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$13,311.0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$6,922.7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$34,613.5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$1,156.3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$5,781.5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$26,782.9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$4,631.2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$23,156.0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$115,780.0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$4,840.1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$24,200.5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$1,779.9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$3,559.9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$17,799.4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$88,997.1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$345.3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$3,452.6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$17,263.2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$3,239.0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$1,081.2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$2,162.3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$10,811.5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$54,057.5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$2,259.8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$11,299.2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$41,552.6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$161.2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$322.4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$8,060.2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Employer/Member Access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15"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SLUHN’s DTE</a:t>
            </a:r>
          </a:p>
        </p:txBody>
      </p:sp>
      <p:sp>
        <p:nvSpPr>
          <p:cNvPr id="13"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8"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of Health</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9"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12"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4"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latin typeface="+mj-lt"/>
              </a:rPr>
              <a:t>“At The Table” with SLUHN</a:t>
            </a:r>
          </a:p>
          <a:p>
            <a:pPr marL="285753" indent="-285753">
              <a:spcAft>
                <a:spcPts val="200"/>
              </a:spcAft>
              <a:buFont typeface="Wingdings" panose="05000000000000000000" pitchFamily="2" charset="2"/>
              <a:buChar char="§"/>
            </a:pPr>
            <a:r>
              <a:rPr lang="en-US" sz="1500" spc="70" dirty="0">
                <a:latin typeface="+mj-lt"/>
              </a:rPr>
              <a:t>Incentivized Gain Share Potential</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20"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21"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2"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23"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44</a:t>
            </a:fld>
            <a:endParaRPr lang="en-US" dirty="0"/>
          </a:p>
        </p:txBody>
      </p:sp>
    </p:spTree>
    <p:extLst>
      <p:ext uri="{BB962C8B-B14F-4D97-AF65-F5344CB8AC3E}">
        <p14:creationId xmlns:p14="http://schemas.microsoft.com/office/powerpoint/2010/main" val="31441921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RESPONSBILITIES</a:t>
            </a:r>
          </a:p>
        </p:txBody>
      </p:sp>
      <p:graphicFrame>
        <p:nvGraphicFramePr>
          <p:cNvPr id="5"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34793797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SLUHN</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Gain Share Calculations &amp; Distribution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effectLst/>
                        </a:rPr>
                        <a:t>Facilitate program communication and engagement with SLUHN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45</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46</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1976902650"/>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47</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48</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45570</TotalTime>
  <Words>6333</Words>
  <Application>Microsoft Office PowerPoint</Application>
  <PresentationFormat>Widescreen</PresentationFormat>
  <Paragraphs>1952</Paragraphs>
  <Slides>48</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Aileron Light</vt:lpstr>
      <vt:lpstr>Aptos Narrow</vt:lpstr>
      <vt:lpstr>Arial</vt:lpstr>
      <vt:lpstr>Arial Black</vt:lpstr>
      <vt:lpstr>Calibri</vt:lpstr>
      <vt:lpstr>Calibri Light</vt:lpstr>
      <vt:lpstr>Century Gothic</vt:lpstr>
      <vt:lpstr>Wingdings</vt:lpstr>
      <vt:lpstr>Office Theme</vt:lpstr>
      <vt:lpstr>PowerPoint Presentation</vt:lpstr>
      <vt:lpstr>PowerPoint Presentation</vt:lpstr>
      <vt:lpstr>Healthcare Leader in Private Labeled DTE Plans</vt:lpstr>
      <vt:lpstr>Direct-to-Employer Strategy: Only Available to Premier Health Systems</vt:lpstr>
      <vt:lpstr>SLUHN Advantage: Strong Brand Quality</vt:lpstr>
      <vt:lpstr>SLUHN Advantage: Best-in-Area Patient Access</vt:lpstr>
      <vt:lpstr>SLUHN Advantage: Leading Care Quality</vt:lpstr>
      <vt:lpstr>SLUHN Advantage: Care at Value Pricing</vt:lpstr>
      <vt:lpstr>Direct-to-Employer (DTE)  Your plan focused on Your relationship with Employers</vt:lpstr>
      <vt:lpstr>Every $1 of Care</vt:lpstr>
      <vt:lpstr>Direct-to-Employer Strategy: Increased Capture of Commercial Market Share</vt:lpstr>
      <vt:lpstr>Direct-to-Employer Strategy: Powerful Employer Value</vt:lpstr>
      <vt:lpstr>Significant Opportunity for SLUHN</vt:lpstr>
      <vt:lpstr>Plan Potential Growth Paths</vt:lpstr>
      <vt:lpstr>Growing Powerful, Lasting Profitability</vt:lpstr>
      <vt:lpstr>Estimated Financial Returns and Assumptions</vt:lpstr>
      <vt:lpstr>FOUR-YEAR PROJECTIONS</vt:lpstr>
      <vt:lpstr>SLUHN NETWORK </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vt:lpstr>
      <vt:lpstr>Estimation of SLUHN’s 2021 Payer Mix</vt:lpstr>
      <vt:lpstr>Estimation of Margin for Commercial vs. Government Pay</vt:lpstr>
      <vt:lpstr>Modeling Prices and Commercial Margins</vt:lpstr>
      <vt:lpstr>Estimating Market Share</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108</cp:revision>
  <cp:lastPrinted>2023-07-13T10:24:43Z</cp:lastPrinted>
  <dcterms:created xsi:type="dcterms:W3CDTF">2021-01-20T14:12:11Z</dcterms:created>
  <dcterms:modified xsi:type="dcterms:W3CDTF">2024-11-25T15:18:05Z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