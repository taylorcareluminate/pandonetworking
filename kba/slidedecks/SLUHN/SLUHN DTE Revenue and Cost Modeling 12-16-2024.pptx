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E5319A_4F59EA72.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7FE53192_3C36F9F4.xml" ContentType="application/vnd.ms-powerpoint.comments+xml"/>
  <Override PartName="/ppt/notesSlides/notesSlide7.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 id="2147483651" r:id="rId2"/>
  </p:sldMasterIdLst>
  <p:notesMasterIdLst>
    <p:notesMasterId r:id="rId21"/>
  </p:notesMasterIdLst>
  <p:sldIdLst>
    <p:sldId id="256" r:id="rId3"/>
    <p:sldId id="2145726873" r:id="rId4"/>
    <p:sldId id="559" r:id="rId5"/>
    <p:sldId id="580" r:id="rId6"/>
    <p:sldId id="527" r:id="rId7"/>
    <p:sldId id="2145726864" r:id="rId8"/>
    <p:sldId id="585" r:id="rId9"/>
    <p:sldId id="2145726862" r:id="rId10"/>
    <p:sldId id="2145726874" r:id="rId11"/>
    <p:sldId id="2145726871" r:id="rId12"/>
    <p:sldId id="536" r:id="rId13"/>
    <p:sldId id="548" r:id="rId14"/>
    <p:sldId id="582" r:id="rId15"/>
    <p:sldId id="2145726866" r:id="rId16"/>
    <p:sldId id="558" r:id="rId17"/>
    <p:sldId id="2145726868" r:id="rId18"/>
    <p:sldId id="2145726869" r:id="rId19"/>
    <p:sldId id="2145726870" r:id="rId20"/>
  </p:sldIdLst>
  <p:sldSz cx="12192000" cy="6858000"/>
  <p:notesSz cx="6858000" cy="12192000"/>
  <p:embeddedFontLst>
    <p:embeddedFont>
      <p:font typeface="Montserrat" panose="00000500000000000000" pitchFamily="2"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D9D9D9"/>
    <a:srgbClr val="0053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3.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1.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C7C18447-7931-4655-93E0-F9FC6FE1BADB}"/>
    <pc:docChg chg="modSld">
      <pc:chgData name="Taylor Davis" userId="5c9e72a0-c39f-4aa1-9d7d-64125e78cbe6" providerId="ADAL" clId="{C7C18447-7931-4655-93E0-F9FC6FE1BADB}" dt="2024-12-16T21:50:06.420" v="9" actId="20577"/>
      <pc:docMkLst>
        <pc:docMk/>
      </pc:docMkLst>
      <pc:sldChg chg="modSp mod">
        <pc:chgData name="Taylor Davis" userId="5c9e72a0-c39f-4aa1-9d7d-64125e78cbe6" providerId="ADAL" clId="{C7C18447-7931-4655-93E0-F9FC6FE1BADB}" dt="2024-12-16T21:50:06.420" v="9" actId="20577"/>
        <pc:sldMkLst>
          <pc:docMk/>
          <pc:sldMk cId="1331292786" sldId="2145726874"/>
        </pc:sldMkLst>
        <pc:spChg chg="mod">
          <ac:chgData name="Taylor Davis" userId="5c9e72a0-c39f-4aa1-9d7d-64125e78cbe6" providerId="ADAL" clId="{C7C18447-7931-4655-93E0-F9FC6FE1BADB}" dt="2024-12-16T21:50:06.420" v="9" actId="20577"/>
          <ac:spMkLst>
            <pc:docMk/>
            <pc:sldMk cId="1331292786" sldId="2145726874"/>
            <ac:spMk id="4" creationId="{30193147-4AEF-E892-83AF-449C0B9757DA}"/>
          </ac:spMkLst>
        </pc:spChg>
      </pc:sldChg>
    </pc:docChg>
  </pc:docChgLst>
</pc:chgInfo>
</file>

<file path=ppt/comments/modernComment_7FE5319A_4F59EA72.xml><?xml version="1.0" encoding="utf-8"?>
<p188:cmLst xmlns:a="http://schemas.openxmlformats.org/drawingml/2006/main" xmlns:r="http://schemas.openxmlformats.org/officeDocument/2006/relationships" xmlns:p188="http://schemas.microsoft.com/office/powerpoint/2018/8/main">
  <p188:cm id="{56B6C8C1-365C-4A53-9E23-257863274C06}"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964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1</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6</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8</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897D3-24C0-0FFA-4C61-DF6B914F66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A6AC1-233A-CB96-E8C2-DB67CB947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2B08C8-03E7-78A0-A3CC-C67458528888}"/>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543CDC4E-C369-9C6B-829A-190A925B6AB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803169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Montserrat" panose="00000500000000000000" pitchFamily="2" charset="0"/>
            </a:endParaRPr>
          </a:p>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39CA89-B4B2-4050-B038-8DF8E3A33516}"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189351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B4235-798B-4697-E708-5552F46E1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ADB8B-1D9A-0F01-C098-4703490F3F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19B2-23D8-93F3-C123-CC69CE2425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atin typeface="Montserrat" panose="00000500000000000000" pitchFamily="2" charset="0"/>
            </a:endParaRPr>
          </a:p>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54AFEC7C-807B-32E8-4C97-B6DBF133844D}"/>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139CA89-B4B2-4050-B038-8DF8E3A33516}"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164226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12/16/2024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98583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12/16/2024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588863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12/16/2024</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9679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12/16/2024</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193494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843155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6058500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12/16/2024</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578934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12/16/2024</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76061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12/16/2024</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86536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2145862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12/16/2024</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88225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43204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12/16/2024</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116340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ags" Target="../tags/tag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63" r:id="rId2"/>
    <p:sldLayoutId id="2147483664"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12/16/2024</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3948910749"/>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1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13.svg"/><Relationship Id="rId12" Type="http://schemas.openxmlformats.org/officeDocument/2006/relationships/image" Target="../media/image18.svg"/><Relationship Id="rId17" Type="http://schemas.openxmlformats.org/officeDocument/2006/relationships/image" Target="../media/image23.svg"/><Relationship Id="rId2" Type="http://schemas.openxmlformats.org/officeDocument/2006/relationships/notesSlide" Target="../notesSlides/notesSlide3.xml"/><Relationship Id="rId16" Type="http://schemas.openxmlformats.org/officeDocument/2006/relationships/image" Target="../media/image22.png"/><Relationship Id="rId1" Type="http://schemas.openxmlformats.org/officeDocument/2006/relationships/slideLayout" Target="../slideLayouts/slideLayout10.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5" Type="http://schemas.openxmlformats.org/officeDocument/2006/relationships/image" Target="../media/image21.svg"/><Relationship Id="rId10" Type="http://schemas.openxmlformats.org/officeDocument/2006/relationships/image" Target="../media/image16.sv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microsoft.com/office/2018/10/relationships/comments" Target="../comments/modernComment_7FE5319A_4F59EA72.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algn="r">
              <a:lnSpc>
                <a:spcPts val="1956"/>
              </a:lnSpc>
              <a:buNone/>
            </a:pPr>
            <a:r>
              <a:rPr lang="en-US" sz="1552" kern="0" spc="47">
                <a:solidFill>
                  <a:srgbClr val="FFFFFF">
                    <a:alpha val="80000"/>
                  </a:srgbClr>
                </a:solidFill>
                <a:latin typeface="Montserrat" panose="00000500000000000000" pitchFamily="2" charset="0"/>
                <a:ea typeface="Jost*" pitchFamily="34" charset="-122"/>
                <a:cs typeface="Jost*" pitchFamily="34" charset="-120"/>
              </a:rPr>
              <a:t>OPPORTUNITY REVIEW</a:t>
            </a:r>
            <a:endParaRPr lang="en-US">
              <a:latin typeface="Montserrat" panose="00000500000000000000" pitchFamily="2" charset="0"/>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algn="r">
              <a:lnSpc>
                <a:spcPts val="9072"/>
              </a:lnSpc>
              <a:spcBef>
                <a:spcPts val="975"/>
              </a:spcBef>
              <a:buNone/>
            </a:pPr>
            <a:r>
              <a:rPr lang="en-US" sz="6600" kern="0" spc="243" dirty="0">
                <a:solidFill>
                  <a:srgbClr val="FFFFFF"/>
                </a:solidFill>
                <a:latin typeface="Montserrat"/>
                <a:ea typeface="Jost*"/>
                <a:cs typeface="Jost*" pitchFamily="34" charset="-120"/>
              </a:rPr>
              <a:t>DTE FINANCIAL MODELING</a:t>
            </a:r>
            <a:endParaRPr lang="en-US" sz="1200" dirty="0">
              <a:latin typeface="Montserrat"/>
              <a:ea typeface="Jost*"/>
            </a:endParaRPr>
          </a:p>
        </p:txBody>
      </p:sp>
      <p:sp>
        <p:nvSpPr>
          <p:cNvPr id="7" name="Object 6"/>
          <p:cNvSpPr/>
          <p:nvPr/>
        </p:nvSpPr>
        <p:spPr>
          <a:xfrm>
            <a:off x="2180680" y="5382363"/>
            <a:ext cx="5761184" cy="300855"/>
          </a:xfrm>
          <a:prstGeom prst="rect">
            <a:avLst/>
          </a:prstGeom>
          <a:noFill/>
        </p:spPr>
        <p:txBody>
          <a:bodyPr wrap="square" lIns="0" tIns="0" rIns="0" bIns="0" rtlCol="0" anchor="t"/>
          <a:lstStyle/>
          <a:p>
            <a:pPr algn="r">
              <a:lnSpc>
                <a:spcPts val="2370"/>
              </a:lnSpc>
              <a:spcBef>
                <a:spcPts val="599"/>
              </a:spcBef>
            </a:pPr>
            <a:r>
              <a:rPr lang="en-US" sz="1750" kern="0" spc="53">
                <a:solidFill>
                  <a:srgbClr val="FFFFFF">
                    <a:alpha val="80000"/>
                  </a:srgbClr>
                </a:solidFill>
                <a:latin typeface="Montserrat"/>
                <a:ea typeface="Jost*"/>
                <a:cs typeface="Jost*" pitchFamily="34" charset="-120"/>
              </a:rPr>
              <a:t>Exploring a SLUHN DTE Health Plan</a:t>
            </a:r>
            <a:endParaRPr lang="en-US" sz="1750">
              <a:latin typeface="Montserrat"/>
              <a:ea typeface="Jost*"/>
            </a:endParaRPr>
          </a:p>
        </p:txBody>
      </p:sp>
      <p:pic>
        <p:nvPicPr>
          <p:cNvPr id="8" name="Object 7"/>
          <p:cNvPicPr>
            <a:picLocks noChangeAspect="1"/>
          </p:cNvPicPr>
          <p:nvPr/>
        </p:nvPicPr>
        <p:blipFill>
          <a:blip r:embed="rId5" cstate="hqprint">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9" name="Object 8"/>
          <p:cNvSpPr/>
          <p:nvPr/>
        </p:nvSpPr>
        <p:spPr>
          <a:xfrm>
            <a:off x="495176" y="285679"/>
            <a:ext cx="2005028" cy="476131"/>
          </a:xfrm>
          <a:prstGeom prst="rect">
            <a:avLst/>
          </a:prstGeom>
          <a:solidFill>
            <a:srgbClr val="FFFFFF"/>
          </a:solidFill>
        </p:spPr>
        <p:txBody>
          <a:bodyPr/>
          <a:lstStyle/>
          <a:p>
            <a:endParaRPr lang="en-US">
              <a:latin typeface="Montserrat" panose="00000500000000000000" pitchFamily="2" charset="0"/>
            </a:endParaRPr>
          </a:p>
        </p:txBody>
      </p:sp>
      <p:pic>
        <p:nvPicPr>
          <p:cNvPr id="10" name="Object 9"/>
          <p:cNvPicPr>
            <a:picLocks noChangeAspect="1"/>
          </p:cNvPicPr>
          <p:nvPr/>
        </p:nvPicPr>
        <p:blipFill>
          <a:blip r:embed="rId6" cstate="hqprint">
            <a:extLst>
              <a:ext uri="{28A0092B-C50C-407E-A947-70E740481C1C}">
                <a14:useLocalDpi xmlns:a14="http://schemas.microsoft.com/office/drawing/2010/main"/>
              </a:ext>
            </a:extLst>
          </a:blip>
          <a:srcRect/>
          <a:stretch/>
        </p:blipFill>
        <p:spPr>
          <a:xfrm>
            <a:off x="647538" y="380905"/>
            <a:ext cx="1700304" cy="2856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361AD-E032-C627-4DE1-CA5E6AFB2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D971D3-C9E6-1F73-F228-B4CB95195B41}"/>
              </a:ext>
            </a:extLst>
          </p:cNvPr>
          <p:cNvSpPr>
            <a:spLocks noGrp="1"/>
          </p:cNvSpPr>
          <p:nvPr>
            <p:ph type="title"/>
          </p:nvPr>
        </p:nvSpPr>
        <p:spPr>
          <a:xfrm>
            <a:off x="184079" y="218356"/>
            <a:ext cx="11823841" cy="697290"/>
          </a:xfrm>
        </p:spPr>
        <p:txBody>
          <a:bodyPr>
            <a:normAutofit/>
          </a:bodyPr>
          <a:lstStyle/>
          <a:p>
            <a:pPr algn="l"/>
            <a:r>
              <a:rPr lang="en-US" sz="3600" b="0" dirty="0"/>
              <a:t>SLUHN DTE PROFITABILITY MODELING STEPS</a:t>
            </a:r>
          </a:p>
        </p:txBody>
      </p:sp>
      <p:pic>
        <p:nvPicPr>
          <p:cNvPr id="36" name="Picture 35">
            <a:extLst>
              <a:ext uri="{FF2B5EF4-FFF2-40B4-BE49-F238E27FC236}">
                <a16:creationId xmlns:a16="http://schemas.microsoft.com/office/drawing/2014/main" id="{9DC94915-825C-7B9B-961A-DBFC2D918F0A}"/>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7" name="Freeform 13">
            <a:extLst>
              <a:ext uri="{FF2B5EF4-FFF2-40B4-BE49-F238E27FC236}">
                <a16:creationId xmlns:a16="http://schemas.microsoft.com/office/drawing/2014/main" id="{4F945D0E-EB4B-E3F5-0DFF-D8D8DD18647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Slide Number Placeholder 4">
            <a:extLst>
              <a:ext uri="{FF2B5EF4-FFF2-40B4-BE49-F238E27FC236}">
                <a16:creationId xmlns:a16="http://schemas.microsoft.com/office/drawing/2014/main" id="{1D0CFF05-5857-6A9C-FFCE-6DEA5C721BED}"/>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2</a:t>
            </a:fld>
            <a:endParaRPr lang="en-US">
              <a:solidFill>
                <a:prstClr val="black">
                  <a:tint val="75000"/>
                </a:prstClr>
              </a:solidFill>
            </a:endParaRPr>
          </a:p>
        </p:txBody>
      </p:sp>
      <p:sp>
        <p:nvSpPr>
          <p:cNvPr id="4" name="TextBox 3">
            <a:extLst>
              <a:ext uri="{FF2B5EF4-FFF2-40B4-BE49-F238E27FC236}">
                <a16:creationId xmlns:a16="http://schemas.microsoft.com/office/drawing/2014/main" id="{0168AA17-A118-BCFE-C2D3-7814801612F0}"/>
              </a:ext>
            </a:extLst>
          </p:cNvPr>
          <p:cNvSpPr txBox="1"/>
          <p:nvPr/>
        </p:nvSpPr>
        <p:spPr>
          <a:xfrm>
            <a:off x="672650" y="1218618"/>
            <a:ext cx="11247120" cy="5170646"/>
          </a:xfrm>
          <a:prstGeom prst="rect">
            <a:avLst/>
          </a:prstGeom>
          <a:noFill/>
        </p:spPr>
        <p:txBody>
          <a:bodyPr wrap="square" rtlCol="0">
            <a:spAutoFit/>
          </a:bodyPr>
          <a:lstStyle/>
          <a:p>
            <a:pPr marL="342900" indent="-342900">
              <a:buFont typeface="+mj-lt"/>
              <a:buAutoNum type="arabicPeriod"/>
            </a:pPr>
            <a:r>
              <a:rPr lang="en-US" sz="1600" dirty="0">
                <a:latin typeface="Montserrat" panose="00000500000000000000" pitchFamily="2" charset="0"/>
              </a:rPr>
              <a:t>Identify service area and potential opportunity (slides 3-4). </a:t>
            </a:r>
          </a:p>
          <a:p>
            <a:pPr marL="342900" indent="-342900">
              <a:buFont typeface="+mj-lt"/>
              <a:buAutoNum type="arabicPeriod"/>
            </a:pPr>
            <a:r>
              <a:rPr lang="en-US" sz="1600" dirty="0">
                <a:latin typeface="Montserrat" panose="00000500000000000000" pitchFamily="2" charset="0"/>
              </a:rPr>
              <a:t>Identify current SLUHN market share within service area (slide 5). </a:t>
            </a:r>
          </a:p>
          <a:p>
            <a:pPr marL="342900" indent="-342900">
              <a:buFont typeface="+mj-lt"/>
              <a:buAutoNum type="arabicPeriod"/>
            </a:pPr>
            <a:r>
              <a:rPr lang="en-US" sz="1600" dirty="0">
                <a:latin typeface="Montserrat" panose="00000500000000000000" pitchFamily="2" charset="0"/>
              </a:rPr>
              <a:t>Reference current steerage rate of 83% for other KBA DTE networks (slide 6). </a:t>
            </a:r>
          </a:p>
          <a:p>
            <a:pPr marL="342900" indent="-342900">
              <a:buFont typeface="+mj-lt"/>
              <a:buAutoNum type="arabicPeriod"/>
            </a:pPr>
            <a:r>
              <a:rPr lang="en-US" sz="1600" dirty="0">
                <a:latin typeface="Montserrat" panose="00000500000000000000" pitchFamily="2" charset="0"/>
              </a:rPr>
              <a:t>Based on service area opportunity and very conservative assumptions for steerage to SLUHN, model 20-year growth and steerage (slide 7).</a:t>
            </a:r>
          </a:p>
          <a:p>
            <a:pPr marL="342900" indent="-342900">
              <a:buFont typeface="+mj-lt"/>
              <a:buAutoNum type="arabicPeriod"/>
            </a:pPr>
            <a:r>
              <a:rPr lang="en-US" sz="1600" dirty="0">
                <a:latin typeface="Montserrat" panose="00000500000000000000" pitchFamily="2" charset="0"/>
              </a:rPr>
              <a:t> Use KBA data warehouse to estimate medical costs for SLUHN members (slide 8). </a:t>
            </a:r>
          </a:p>
          <a:p>
            <a:pPr marL="342900" indent="-342900">
              <a:buFont typeface="+mj-lt"/>
              <a:buAutoNum type="arabicPeriod"/>
            </a:pPr>
            <a:r>
              <a:rPr lang="en-US" sz="1600" dirty="0">
                <a:latin typeface="Montserrat" panose="00000500000000000000" pitchFamily="2" charset="0"/>
              </a:rPr>
              <a:t>Utilize KBA’s </a:t>
            </a:r>
            <a:r>
              <a:rPr lang="en-US" sz="1600" u="sng" dirty="0">
                <a:latin typeface="Montserrat" panose="00000500000000000000" pitchFamily="2" charset="0"/>
              </a:rPr>
              <a:t>original</a:t>
            </a:r>
            <a:r>
              <a:rPr lang="en-US" sz="1600" dirty="0">
                <a:latin typeface="Montserrat" panose="00000500000000000000" pitchFamily="2" charset="0"/>
              </a:rPr>
              <a:t> estimate of SLUHN commercial margin (KBA originally estimated a 37% commercial margin, and then conservatively modeled at 70% of this estimate, or 25.9%).</a:t>
            </a:r>
          </a:p>
          <a:p>
            <a:pPr marL="800100" lvl="1" indent="-342900">
              <a:buFont typeface="+mj-lt"/>
              <a:buAutoNum type="alphaUcPeriod"/>
            </a:pPr>
            <a:r>
              <a:rPr lang="en-US" sz="1600" dirty="0">
                <a:latin typeface="Montserrat" panose="00000500000000000000" pitchFamily="2" charset="0"/>
              </a:rPr>
              <a:t>Model plan break even points (slide 9).</a:t>
            </a:r>
          </a:p>
          <a:p>
            <a:pPr marL="800100" lvl="1" indent="-342900">
              <a:buFont typeface="+mj-lt"/>
              <a:buAutoNum type="alphaUcPeriod"/>
            </a:pPr>
            <a:r>
              <a:rPr lang="en-US" sz="1600" dirty="0">
                <a:latin typeface="Montserrat" panose="00000500000000000000" pitchFamily="2" charset="0"/>
              </a:rPr>
              <a:t>Model year-four costs and revenues (slide 10).</a:t>
            </a:r>
          </a:p>
          <a:p>
            <a:pPr marL="800100" lvl="1" indent="-342900">
              <a:buFont typeface="+mj-lt"/>
              <a:buAutoNum type="alphaUcPeriod"/>
            </a:pPr>
            <a:r>
              <a:rPr lang="en-US" sz="1600" dirty="0">
                <a:latin typeface="Montserrat" panose="00000500000000000000" pitchFamily="2" charset="0"/>
              </a:rPr>
              <a:t>Model costs and revenues for the first four years (slide 11).</a:t>
            </a:r>
          </a:p>
          <a:p>
            <a:pPr marL="800100" lvl="1" indent="-342900">
              <a:buFont typeface="+mj-lt"/>
              <a:buAutoNum type="alphaUcPeriod"/>
            </a:pPr>
            <a:r>
              <a:rPr lang="en-US" sz="1600" dirty="0">
                <a:latin typeface="Montserrat" panose="00000500000000000000" pitchFamily="2" charset="0"/>
              </a:rPr>
              <a:t>Model 20-year annual revenue and margin returns (slide 12). </a:t>
            </a:r>
          </a:p>
          <a:p>
            <a:pPr marL="342900" indent="-342900">
              <a:buFont typeface="+mj-lt"/>
              <a:buAutoNum type="arabicPeriod"/>
            </a:pPr>
            <a:r>
              <a:rPr lang="en-US" sz="1600" dirty="0">
                <a:latin typeface="Montserrat" panose="00000500000000000000" pitchFamily="2" charset="0"/>
              </a:rPr>
              <a:t>Utilize SLUHN’s </a:t>
            </a:r>
            <a:r>
              <a:rPr lang="en-US" sz="1600" u="sng" dirty="0">
                <a:latin typeface="Montserrat" panose="00000500000000000000" pitchFamily="2" charset="0"/>
              </a:rPr>
              <a:t>reported</a:t>
            </a:r>
            <a:r>
              <a:rPr lang="en-US" sz="1600" dirty="0">
                <a:latin typeface="Montserrat" panose="00000500000000000000" pitchFamily="2" charset="0"/>
              </a:rPr>
              <a:t> 42% commercial margin estimate:</a:t>
            </a:r>
          </a:p>
          <a:p>
            <a:pPr marL="800100" lvl="1" indent="-342900">
              <a:buFont typeface="+mj-lt"/>
              <a:buAutoNum type="alphaUcPeriod"/>
            </a:pPr>
            <a:r>
              <a:rPr lang="en-US" sz="1600" dirty="0">
                <a:latin typeface="Montserrat" panose="00000500000000000000" pitchFamily="2" charset="0"/>
              </a:rPr>
              <a:t>Model plan break even points (slide 14).</a:t>
            </a:r>
          </a:p>
          <a:p>
            <a:pPr marL="800100" lvl="1" indent="-342900">
              <a:buFont typeface="+mj-lt"/>
              <a:buAutoNum type="alphaUcPeriod"/>
            </a:pPr>
            <a:r>
              <a:rPr lang="en-US" sz="1600" dirty="0">
                <a:latin typeface="Montserrat" panose="00000500000000000000" pitchFamily="2" charset="0"/>
              </a:rPr>
              <a:t>Model year-four costs and revenues (slide 15).</a:t>
            </a:r>
          </a:p>
          <a:p>
            <a:pPr marL="800100" lvl="1" indent="-342900">
              <a:buFont typeface="+mj-lt"/>
              <a:buAutoNum type="alphaUcPeriod"/>
            </a:pPr>
            <a:r>
              <a:rPr lang="en-US" sz="1600" dirty="0">
                <a:latin typeface="Montserrat" panose="00000500000000000000" pitchFamily="2" charset="0"/>
              </a:rPr>
              <a:t>Model costs and revenues for the first four years (slide 16).</a:t>
            </a:r>
          </a:p>
          <a:p>
            <a:pPr marL="800100" lvl="1" indent="-342900">
              <a:buFont typeface="+mj-lt"/>
              <a:buAutoNum type="alphaUcPeriod"/>
            </a:pPr>
            <a:r>
              <a:rPr lang="en-US" sz="1600" dirty="0">
                <a:latin typeface="Montserrat" panose="00000500000000000000" pitchFamily="2" charset="0"/>
              </a:rPr>
              <a:t>Model 20-year annual revenue and margin returns (slide 17). </a:t>
            </a:r>
          </a:p>
          <a:p>
            <a:pPr lvl="1"/>
            <a:endParaRPr lang="en-US" sz="1600" dirty="0">
              <a:latin typeface="Montserrat" panose="00000500000000000000" pitchFamily="2" charset="0"/>
            </a:endParaRPr>
          </a:p>
          <a:p>
            <a:pPr marL="800100" lvl="1" indent="-342900">
              <a:buFont typeface="+mj-lt"/>
              <a:buAutoNum type="arabicPeriod"/>
            </a:pPr>
            <a:endParaRPr lang="en-US" sz="1600" dirty="0">
              <a:latin typeface="Montserrat" panose="00000500000000000000" pitchFamily="2" charset="0"/>
            </a:endParaRPr>
          </a:p>
          <a:p>
            <a:pPr marL="342900" indent="-342900">
              <a:buFont typeface="+mj-lt"/>
              <a:buAutoNum type="arabicPeriod"/>
            </a:pPr>
            <a:endParaRPr lang="en-US" sz="1600" dirty="0">
              <a:latin typeface="Montserrat" panose="00000500000000000000" pitchFamily="2" charset="0"/>
            </a:endParaRPr>
          </a:p>
        </p:txBody>
      </p:sp>
      <p:sp>
        <p:nvSpPr>
          <p:cNvPr id="6" name="TextBox 5">
            <a:extLst>
              <a:ext uri="{FF2B5EF4-FFF2-40B4-BE49-F238E27FC236}">
                <a16:creationId xmlns:a16="http://schemas.microsoft.com/office/drawing/2014/main" id="{A6252085-E5C7-4638-1724-29199158FBBB}"/>
              </a:ext>
            </a:extLst>
          </p:cNvPr>
          <p:cNvSpPr txBox="1"/>
          <p:nvPr/>
        </p:nvSpPr>
        <p:spPr>
          <a:xfrm>
            <a:off x="822960" y="5943600"/>
            <a:ext cx="10696390" cy="307777"/>
          </a:xfrm>
          <a:prstGeom prst="rect">
            <a:avLst/>
          </a:prstGeom>
          <a:noFill/>
        </p:spPr>
        <p:txBody>
          <a:bodyPr wrap="none" rtlCol="0">
            <a:spAutoFit/>
          </a:bodyPr>
          <a:lstStyle/>
          <a:p>
            <a:r>
              <a:rPr lang="en-US" sz="1400" dirty="0">
                <a:solidFill>
                  <a:schemeClr val="accent1">
                    <a:lumMod val="75000"/>
                  </a:schemeClr>
                </a:solidFill>
              </a:rPr>
              <a:t>For simplicity, these models are all based on 2024 dollars. If requested, KBA can adjust the model to account for inflationary changes.</a:t>
            </a:r>
          </a:p>
        </p:txBody>
      </p:sp>
    </p:spTree>
    <p:extLst>
      <p:ext uri="{BB962C8B-B14F-4D97-AF65-F5344CB8AC3E}">
        <p14:creationId xmlns:p14="http://schemas.microsoft.com/office/powerpoint/2010/main" val="1786169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ea typeface="+mn-ea"/>
                <a:cs typeface="+mn-cs"/>
              </a:rPr>
              <a:t>Key Benefit Administrators</a:t>
            </a:r>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ea typeface="+mn-ea"/>
              <a:cs typeface="+mn-cs"/>
            </a:endParaRPr>
          </a:p>
        </p:txBody>
      </p:sp>
      <p:sp>
        <p:nvSpPr>
          <p:cNvPr id="4" name="TextBox 5">
            <a:extLst>
              <a:ext uri="{FF2B5EF4-FFF2-40B4-BE49-F238E27FC236}">
                <a16:creationId xmlns:a16="http://schemas.microsoft.com/office/drawing/2014/main" id="{C9963971-9E27-D1D8-44A6-33EAA3782592}"/>
              </a:ext>
            </a:extLst>
          </p:cNvPr>
          <p:cNvSpPr txBox="1"/>
          <p:nvPr/>
        </p:nvSpPr>
        <p:spPr>
          <a:xfrm>
            <a:off x="208757" y="1321415"/>
            <a:ext cx="11737910" cy="584775"/>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200" normalizeH="0" baseline="0" noProof="0">
                <a:ln>
                  <a:noFill/>
                </a:ln>
                <a:solidFill>
                  <a:srgbClr val="ED7D31">
                    <a:lumMod val="75000"/>
                  </a:srgbClr>
                </a:solidFill>
                <a:effectLst/>
                <a:uLnTx/>
                <a:uFillTx/>
                <a:latin typeface="Montserrat" panose="00000500000000000000" pitchFamily="2" charset="0"/>
                <a:ea typeface="+mn-ea"/>
                <a:cs typeface="+mn-cs"/>
              </a:rPr>
              <a:t>Target Market</a:t>
            </a:r>
            <a:b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rPr>
            </a:br>
            <a:r>
              <a:rPr lang="en-US" sz="1600" spc="200">
                <a:solidFill>
                  <a:prstClr val="black"/>
                </a:solidFill>
                <a:latin typeface="Montserrat" panose="00000500000000000000" pitchFamily="2" charset="0"/>
              </a:rPr>
              <a:t>1,500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rPr>
              <a:t>+ Employers       </a:t>
            </a:r>
            <a:r>
              <a:rPr lang="en-US" sz="1600" spc="200">
                <a:solidFill>
                  <a:prstClr val="black"/>
                </a:solidFill>
                <a:latin typeface="Montserrat" panose="00000500000000000000" pitchFamily="2" charset="0"/>
              </a:rPr>
              <a:t>300,000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sym typeface="Wingdings" panose="05000000000000000000" pitchFamily="2" charset="2"/>
              </a:rPr>
              <a:t>+ Employees       </a:t>
            </a:r>
            <a:r>
              <a:rPr lang="en-US" sz="1600" spc="200">
                <a:solidFill>
                  <a:prstClr val="black"/>
                </a:solidFill>
                <a:latin typeface="Montserrat" panose="00000500000000000000" pitchFamily="2" charset="0"/>
                <a:sym typeface="Wingdings" panose="05000000000000000000" pitchFamily="2" charset="2"/>
              </a:rPr>
              <a:t>60</a:t>
            </a:r>
            <a:r>
              <a:rPr kumimoji="0" lang="en-US" sz="1600" b="0" i="0" u="none" strike="noStrike" kern="1200" cap="none" spc="200" normalizeH="0" baseline="0" noProof="0">
                <a:ln>
                  <a:noFill/>
                </a:ln>
                <a:solidFill>
                  <a:prstClr val="black"/>
                </a:solidFill>
                <a:effectLst/>
                <a:uLnTx/>
                <a:uFillTx/>
                <a:latin typeface="Montserrat" panose="00000500000000000000" pitchFamily="2" charset="0"/>
                <a:ea typeface="+mn-ea"/>
                <a:cs typeface="+mn-cs"/>
                <a:sym typeface="Wingdings" panose="05000000000000000000" pitchFamily="2" charset="2"/>
              </a:rPr>
              <a:t>0,000+ Members</a:t>
            </a:r>
            <a:endParaRPr kumimoji="0" lang="en-US" sz="16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163572" y="43143"/>
            <a:ext cx="11801383" cy="1325563"/>
          </a:xfrm>
        </p:spPr>
        <p:txBody>
          <a:bodyPr>
            <a:noAutofit/>
          </a:bodyPr>
          <a:lstStyle/>
          <a:p>
            <a:pPr>
              <a:lnSpc>
                <a:spcPct val="100000"/>
              </a:lnSpc>
              <a:spcBef>
                <a:spcPts val="1800"/>
              </a:spcBef>
              <a:spcAft>
                <a:spcPts val="600"/>
              </a:spcAft>
            </a:pPr>
            <a:r>
              <a:rPr lang="en-US" sz="3200" b="0">
                <a:solidFill>
                  <a:srgbClr val="000B2E"/>
                </a:solidFill>
              </a:rPr>
              <a:t>SIGNIFICANT OPPORTUNITY FOR PLAN GROWTH</a:t>
            </a:r>
            <a:br>
              <a:rPr lang="en-US" sz="3200" b="0">
                <a:solidFill>
                  <a:srgbClr val="000B2E"/>
                </a:solidFill>
              </a:rPr>
            </a:br>
            <a:r>
              <a:rPr lang="en-US" sz="2000" b="0">
                <a:solidFill>
                  <a:srgbClr val="000B2E"/>
                </a:solidFill>
              </a:rPr>
              <a:t>RESEARCHED FOR SLUHN SERVICE AREA</a:t>
            </a:r>
            <a:endParaRPr lang="en-US" sz="1400" b="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4037198553"/>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200" b="0" i="0" u="none" strike="noStrike">
                          <a:solidFill>
                            <a:srgbClr val="000000"/>
                          </a:solidFill>
                          <a:effectLst/>
                          <a:latin typeface="Montserrat" panose="00000500000000000000" pitchFamily="2" charset="0"/>
                        </a:rPr>
                        <a:t>956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385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236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119</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31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rtl="0" fontAlgn="b"/>
                      <a:r>
                        <a:rPr lang="en-US" sz="1200" b="0" i="0" u="none" strike="noStrike">
                          <a:solidFill>
                            <a:srgbClr val="000000"/>
                          </a:solidFill>
                          <a:effectLst/>
                          <a:latin typeface="Montserrat" panose="00000500000000000000" pitchFamily="2" charset="0"/>
                        </a:rPr>
                        <a:t>21</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71,700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57,800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70,800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83,300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62,000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126,000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Montserrat" panose="00000500000000000000" pitchFamily="2" charset="0"/>
                        </a:rPr>
                        <a:t>129,100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104,000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127,400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149,900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111,600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Montserrat" panose="00000500000000000000" pitchFamily="2" charset="0"/>
                        </a:rPr>
                        <a:t>226,800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12" name="Content Placeholder 8">
            <a:extLst>
              <a:ext uri="{FF2B5EF4-FFF2-40B4-BE49-F238E27FC236}">
                <a16:creationId xmlns:a16="http://schemas.microsoft.com/office/drawing/2014/main" id="{524C7D14-52E4-B7DB-6669-F15D41943A28}"/>
              </a:ext>
            </a:extLst>
          </p:cNvPr>
          <p:cNvPicPr>
            <a:picLocks/>
          </p:cNvPicPr>
          <p:nvPr/>
        </p:nvPicPr>
        <p:blipFill>
          <a:blip r:embed="rId2" cstate="print"/>
          <a:stretch>
            <a:fillRect/>
          </a:stretch>
        </p:blipFill>
        <p:spPr>
          <a:xfrm>
            <a:off x="-722376" y="1752255"/>
            <a:ext cx="6096000" cy="4876800"/>
          </a:xfrm>
          <a:prstGeom prst="rect">
            <a:avLst/>
          </a:prstGeom>
        </p:spPr>
      </p:pic>
      <p:sp>
        <p:nvSpPr>
          <p:cNvPr id="13" name="Slide Number Placeholder 4">
            <a:extLst>
              <a:ext uri="{FF2B5EF4-FFF2-40B4-BE49-F238E27FC236}">
                <a16:creationId xmlns:a16="http://schemas.microsoft.com/office/drawing/2014/main" id="{2A2AAD4A-34FE-3645-2A38-6434D45BD272}"/>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3</a:t>
            </a:fld>
            <a:endParaRPr lang="en-US" sz="1200">
              <a:solidFill>
                <a:prstClr val="black">
                  <a:tint val="75000"/>
                </a:prstClr>
              </a:solidFill>
            </a:endParaRPr>
          </a:p>
        </p:txBody>
      </p:sp>
    </p:spTree>
    <p:extLst>
      <p:ext uri="{BB962C8B-B14F-4D97-AF65-F5344CB8AC3E}">
        <p14:creationId xmlns:p14="http://schemas.microsoft.com/office/powerpoint/2010/main" val="166006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464457" y="235398"/>
            <a:ext cx="11823841" cy="1325563"/>
          </a:xfrm>
        </p:spPr>
        <p:txBody>
          <a:bodyPr>
            <a:normAutofit/>
          </a:bodyPr>
          <a:lstStyle/>
          <a:p>
            <a:r>
              <a:rPr lang="en-US" sz="3600" b="0"/>
              <a:t>PLAN POTENTIAL GROWTH PATHS</a:t>
            </a:r>
          </a:p>
        </p:txBody>
      </p:sp>
      <p:grpSp>
        <p:nvGrpSpPr>
          <p:cNvPr id="7" name="Group 28">
            <a:extLst>
              <a:ext uri="{FF2B5EF4-FFF2-40B4-BE49-F238E27FC236}">
                <a16:creationId xmlns:a16="http://schemas.microsoft.com/office/drawing/2014/main" id="{69A10699-B4B2-AF88-E1A1-1EF0A88AB471}"/>
              </a:ext>
            </a:extLst>
          </p:cNvPr>
          <p:cNvGrpSpPr/>
          <p:nvPr/>
        </p:nvGrpSpPr>
        <p:grpSpPr>
          <a:xfrm>
            <a:off x="1359766" y="1855590"/>
            <a:ext cx="3960468" cy="3636786"/>
            <a:chOff x="1724978" y="2161521"/>
            <a:chExt cx="8274685" cy="4307840"/>
          </a:xfrm>
        </p:grpSpPr>
        <p:grpSp>
          <p:nvGrpSpPr>
            <p:cNvPr id="8" name="Group 29">
              <a:extLst>
                <a:ext uri="{FF2B5EF4-FFF2-40B4-BE49-F238E27FC236}">
                  <a16:creationId xmlns:a16="http://schemas.microsoft.com/office/drawing/2014/main" id="{11C874E5-E3B4-BAE0-4E2D-2C86D4E7E53A}"/>
                </a:ext>
              </a:extLst>
            </p:cNvPr>
            <p:cNvGrpSpPr/>
            <p:nvPr/>
          </p:nvGrpSpPr>
          <p:grpSpPr>
            <a:xfrm>
              <a:off x="1724978" y="5494001"/>
              <a:ext cx="6872605" cy="975360"/>
              <a:chOff x="1724978" y="5494001"/>
              <a:chExt cx="6872605" cy="975360"/>
            </a:xfrm>
          </p:grpSpPr>
          <p:sp>
            <p:nvSpPr>
              <p:cNvPr id="9"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0" name="TextBox 73">
                <a:extLst>
                  <a:ext uri="{FF2B5EF4-FFF2-40B4-BE49-F238E27FC236}">
                    <a16:creationId xmlns:a16="http://schemas.microsoft.com/office/drawing/2014/main" id="{AEAD331A-F2F6-E5AA-6FA8-43463612A331}"/>
                  </a:ext>
                </a:extLst>
              </p:cNvPr>
              <p:cNvSpPr txBox="1"/>
              <p:nvPr/>
            </p:nvSpPr>
            <p:spPr>
              <a:xfrm>
                <a:off x="1724978" y="5759838"/>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Population</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1" name="Group 30">
              <a:extLst>
                <a:ext uri="{FF2B5EF4-FFF2-40B4-BE49-F238E27FC236}">
                  <a16:creationId xmlns:a16="http://schemas.microsoft.com/office/drawing/2014/main" id="{689474B3-12FA-8E66-D71F-53822C9C68C9}"/>
                </a:ext>
              </a:extLst>
            </p:cNvPr>
            <p:cNvGrpSpPr/>
            <p:nvPr/>
          </p:nvGrpSpPr>
          <p:grpSpPr>
            <a:xfrm>
              <a:off x="1908306" y="2161521"/>
              <a:ext cx="8091357" cy="3197014"/>
              <a:chOff x="3353884" y="1830493"/>
              <a:chExt cx="8091357" cy="3197014"/>
            </a:xfrm>
          </p:grpSpPr>
          <p:grpSp>
            <p:nvGrpSpPr>
              <p:cNvPr id="12" name="Group 58">
                <a:extLst>
                  <a:ext uri="{FF2B5EF4-FFF2-40B4-BE49-F238E27FC236}">
                    <a16:creationId xmlns:a16="http://schemas.microsoft.com/office/drawing/2014/main" id="{51ED3EA0-1B18-EEE0-293E-BB00AD4DE764}"/>
                  </a:ext>
                </a:extLst>
              </p:cNvPr>
              <p:cNvGrpSpPr/>
              <p:nvPr/>
            </p:nvGrpSpPr>
            <p:grpSpPr>
              <a:xfrm>
                <a:off x="3353884" y="4052147"/>
                <a:ext cx="7156637" cy="975360"/>
                <a:chOff x="3353884" y="4052147"/>
                <a:chExt cx="7156637" cy="975360"/>
              </a:xfrm>
            </p:grpSpPr>
            <p:sp>
              <p:nvSpPr>
                <p:cNvPr id="13"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4" name="TextBox 63">
                  <a:extLst>
                    <a:ext uri="{FF2B5EF4-FFF2-40B4-BE49-F238E27FC236}">
                      <a16:creationId xmlns:a16="http://schemas.microsoft.com/office/drawing/2014/main" id="{89D49C14-1775-066C-353B-1ACCC4D24138}"/>
                    </a:ext>
                  </a:extLst>
                </p:cNvPr>
                <p:cNvSpPr txBox="1"/>
                <p:nvPr/>
              </p:nvSpPr>
              <p:spPr>
                <a:xfrm>
                  <a:off x="3353884" y="4317984"/>
                  <a:ext cx="3521678"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Working Age</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5" name="Group 52">
                <a:extLst>
                  <a:ext uri="{FF2B5EF4-FFF2-40B4-BE49-F238E27FC236}">
                    <a16:creationId xmlns:a16="http://schemas.microsoft.com/office/drawing/2014/main" id="{1DBB449D-FFE3-79BF-CC4B-CBC0A3F03B29}"/>
                  </a:ext>
                </a:extLst>
              </p:cNvPr>
              <p:cNvGrpSpPr/>
              <p:nvPr/>
            </p:nvGrpSpPr>
            <p:grpSpPr>
              <a:xfrm>
                <a:off x="4069948" y="2930285"/>
                <a:ext cx="6907933" cy="975360"/>
                <a:chOff x="4069947" y="2930285"/>
                <a:chExt cx="6907933" cy="975360"/>
              </a:xfrm>
            </p:grpSpPr>
            <p:sp>
              <p:nvSpPr>
                <p:cNvPr id="16"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7" name="TextBox 57">
                  <a:extLst>
                    <a:ext uri="{FF2B5EF4-FFF2-40B4-BE49-F238E27FC236}">
                      <a16:creationId xmlns:a16="http://schemas.microsoft.com/office/drawing/2014/main" id="{3C6B2C41-D61E-2C7A-3D82-5A90E06CEE5A}"/>
                    </a:ext>
                  </a:extLst>
                </p:cNvPr>
                <p:cNvSpPr txBox="1"/>
                <p:nvPr/>
              </p:nvSpPr>
              <p:spPr>
                <a:xfrm>
                  <a:off x="4069947" y="3206963"/>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Insured</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nvGrpSpPr>
              <p:cNvPr id="18" name="Group 46">
                <a:extLst>
                  <a:ext uri="{FF2B5EF4-FFF2-40B4-BE49-F238E27FC236}">
                    <a16:creationId xmlns:a16="http://schemas.microsoft.com/office/drawing/2014/main" id="{F80321D4-B659-65A7-5D2E-CFE404DB4D8E}"/>
                  </a:ext>
                </a:extLst>
              </p:cNvPr>
              <p:cNvGrpSpPr/>
              <p:nvPr/>
            </p:nvGrpSpPr>
            <p:grpSpPr>
              <a:xfrm>
                <a:off x="4561206" y="1830493"/>
                <a:ext cx="6884035" cy="975360"/>
                <a:chOff x="4561206" y="1830493"/>
                <a:chExt cx="6884035" cy="975360"/>
              </a:xfrm>
            </p:grpSpPr>
            <p:sp>
              <p:nvSpPr>
                <p:cNvPr id="19"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marR="0" lvl="0" indent="0" algn="l" defTabSz="1866900" rtl="0" eaLnBrk="1" fontAlgn="auto" latinLnBrk="0" hangingPunct="1">
                    <a:lnSpc>
                      <a:spcPct val="90000"/>
                    </a:lnSpc>
                    <a:spcBef>
                      <a:spcPct val="0"/>
                    </a:spcBef>
                    <a:spcAft>
                      <a:spcPct val="35000"/>
                    </a:spcAft>
                    <a:buClrTx/>
                    <a:buSzTx/>
                    <a:buFontTx/>
                    <a:buNone/>
                    <a:tabLst/>
                    <a:defRPr/>
                  </a:pPr>
                  <a:endParaRPr kumimoji="0" lang="en-IN" sz="42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0" name="TextBox 51">
                  <a:extLst>
                    <a:ext uri="{FF2B5EF4-FFF2-40B4-BE49-F238E27FC236}">
                      <a16:creationId xmlns:a16="http://schemas.microsoft.com/office/drawing/2014/main" id="{2AE87841-825C-FE4F-1AB9-6CC03862C17F}"/>
                    </a:ext>
                  </a:extLst>
                </p:cNvPr>
                <p:cNvSpPr txBox="1"/>
                <p:nvPr/>
              </p:nvSpPr>
              <p:spPr>
                <a:xfrm>
                  <a:off x="4561206" y="2096329"/>
                  <a:ext cx="3247806" cy="443686"/>
                </a:xfrm>
                <a:prstGeom prst="roundRect">
                  <a:avLst/>
                </a:prstGeom>
                <a:solidFill>
                  <a:srgbClr val="4468A5"/>
                </a:solidFill>
                <a:ln>
                  <a:solidFill>
                    <a:schemeClr val="bg1"/>
                  </a:solidFill>
                </a:ln>
                <a:effectLst/>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rPr>
                    <a:t>Self Funded</a:t>
                  </a:r>
                  <a:endParaRPr kumimoji="0" lang="en-IN" sz="1600" b="1" i="1" u="none" strike="noStrike" kern="1200" cap="none" spc="0" normalizeH="0" baseline="0" noProof="0">
                    <a:ln>
                      <a:noFill/>
                    </a:ln>
                    <a:solidFill>
                      <a:prstClr val="white"/>
                    </a:solidFill>
                    <a:effectLst/>
                    <a:uLnTx/>
                    <a:uFillTx/>
                    <a:latin typeface="Montserrat" panose="00000500000000000000" pitchFamily="2" charset="0"/>
                    <a:ea typeface="+mn-ea"/>
                    <a:cs typeface="Arial" panose="020B0604020202020204" pitchFamily="34" charset="0"/>
                  </a:endParaRPr>
                </a:p>
              </p:txBody>
            </p:sp>
          </p:grpSp>
        </p:grpSp>
        <p:sp>
          <p:nvSpPr>
            <p:cNvPr id="21"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grpSp>
          <p:nvGrpSpPr>
            <p:cNvPr id="22"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23"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4"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5"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6"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27"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grpSp>
        <p:sp>
          <p:nvSpPr>
            <p:cNvPr id="28"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sp>
          <p:nvSpPr>
            <p:cNvPr id="29"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marR="0" lvl="0" indent="0" algn="ctr" defTabSz="1244600" rtl="0" eaLnBrk="1" fontAlgn="auto" latinLnBrk="0" hangingPunct="1">
                <a:lnSpc>
                  <a:spcPct val="90000"/>
                </a:lnSpc>
                <a:spcBef>
                  <a:spcPct val="0"/>
                </a:spcBef>
                <a:spcAft>
                  <a:spcPct val="35000"/>
                </a:spcAft>
                <a:buClrTx/>
                <a:buSzTx/>
                <a:buFontTx/>
                <a:buNone/>
                <a:tabLst/>
                <a:defRPr/>
              </a:pPr>
              <a:endParaRPr kumimoji="0" lang="en-IN" sz="2800" b="0" i="0" u="none" strike="noStrike" kern="1200" cap="none" spc="0" normalizeH="0" baseline="0" noProof="0">
                <a:ln>
                  <a:noFill/>
                </a:ln>
                <a:solidFill>
                  <a:prstClr val="black">
                    <a:hueOff val="0"/>
                    <a:satOff val="0"/>
                    <a:lumOff val="0"/>
                    <a:alphaOff val="0"/>
                  </a:prstClr>
                </a:solidFill>
                <a:effectLst/>
                <a:uLnTx/>
                <a:uFillTx/>
                <a:latin typeface="Montserrat" panose="00000500000000000000" pitchFamily="2" charset="0"/>
                <a:ea typeface="+mn-ea"/>
                <a:cs typeface="+mn-cs"/>
              </a:endParaRPr>
            </a:p>
          </p:txBody>
        </p:sp>
      </p:grpSp>
      <p:sp>
        <p:nvSpPr>
          <p:cNvPr id="30" name="TextBox 75">
            <a:extLst>
              <a:ext uri="{FF2B5EF4-FFF2-40B4-BE49-F238E27FC236}">
                <a16:creationId xmlns:a16="http://schemas.microsoft.com/office/drawing/2014/main" id="{02AD65D6-9504-23E6-E4FD-CC294F4A3C64}"/>
              </a:ext>
            </a:extLst>
          </p:cNvPr>
          <p:cNvSpPr txBox="1"/>
          <p:nvPr/>
        </p:nvSpPr>
        <p:spPr>
          <a:xfrm>
            <a:off x="1699594" y="5848141"/>
            <a:ext cx="951436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effectLst/>
                <a:uLnTx/>
                <a:uFillTx/>
                <a:latin typeface="Montserrat" panose="00000500000000000000" pitchFamily="2" charset="0"/>
                <a:ea typeface="+mn-ea"/>
                <a:cs typeface="+mn-cs"/>
              </a:rPr>
              <a:t>Estimates includes the SLUHN Service Area (See Previous Slide)</a:t>
            </a:r>
          </a:p>
        </p:txBody>
      </p:sp>
      <p:sp>
        <p:nvSpPr>
          <p:cNvPr id="31" name="TextBox 76">
            <a:extLst>
              <a:ext uri="{FF2B5EF4-FFF2-40B4-BE49-F238E27FC236}">
                <a16:creationId xmlns:a16="http://schemas.microsoft.com/office/drawing/2014/main" id="{F3A378C3-B669-3EE2-B76D-98EDB44E8CDF}"/>
              </a:ext>
            </a:extLst>
          </p:cNvPr>
          <p:cNvSpPr txBox="1"/>
          <p:nvPr/>
        </p:nvSpPr>
        <p:spPr>
          <a:xfrm>
            <a:off x="3297507" y="4821984"/>
            <a:ext cx="1181734"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1,512K</a:t>
            </a:r>
          </a:p>
        </p:txBody>
      </p:sp>
      <p:sp>
        <p:nvSpPr>
          <p:cNvPr id="32" name="TextBox 77">
            <a:extLst>
              <a:ext uri="{FF2B5EF4-FFF2-40B4-BE49-F238E27FC236}">
                <a16:creationId xmlns:a16="http://schemas.microsoft.com/office/drawing/2014/main" id="{F24CF5B8-0E02-1AF3-2A3D-F14253B44FE8}"/>
              </a:ext>
            </a:extLst>
          </p:cNvPr>
          <p:cNvSpPr txBox="1"/>
          <p:nvPr/>
        </p:nvSpPr>
        <p:spPr>
          <a:xfrm>
            <a:off x="3520440" y="3896929"/>
            <a:ext cx="1116011"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886K</a:t>
            </a:r>
          </a:p>
        </p:txBody>
      </p:sp>
      <p:sp>
        <p:nvSpPr>
          <p:cNvPr id="33" name="TextBox 78">
            <a:extLst>
              <a:ext uri="{FF2B5EF4-FFF2-40B4-BE49-F238E27FC236}">
                <a16:creationId xmlns:a16="http://schemas.microsoft.com/office/drawing/2014/main" id="{509B3348-F2D5-63CE-B5D5-5FB7263B3D0F}"/>
              </a:ext>
            </a:extLst>
          </p:cNvPr>
          <p:cNvSpPr txBox="1"/>
          <p:nvPr/>
        </p:nvSpPr>
        <p:spPr>
          <a:xfrm>
            <a:off x="3739896" y="2954184"/>
            <a:ext cx="1112805"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660K</a:t>
            </a:r>
          </a:p>
        </p:txBody>
      </p:sp>
      <p:sp>
        <p:nvSpPr>
          <p:cNvPr id="34" name="TextBox 79">
            <a:extLst>
              <a:ext uri="{FF2B5EF4-FFF2-40B4-BE49-F238E27FC236}">
                <a16:creationId xmlns:a16="http://schemas.microsoft.com/office/drawing/2014/main" id="{7E24246C-24ED-62DA-EA2E-6EA4A6ADAEAC}"/>
              </a:ext>
            </a:extLst>
          </p:cNvPr>
          <p:cNvSpPr txBox="1"/>
          <p:nvPr/>
        </p:nvSpPr>
        <p:spPr>
          <a:xfrm>
            <a:off x="3959352" y="2022649"/>
            <a:ext cx="1074333" cy="5232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effectLst/>
                <a:uLnTx/>
                <a:uFillTx/>
                <a:latin typeface="Montserrat" panose="00000500000000000000" pitchFamily="2" charset="0"/>
                <a:ea typeface="+mn-ea"/>
                <a:cs typeface="+mn-cs"/>
              </a:rPr>
              <a:t>382K</a:t>
            </a:r>
          </a:p>
        </p:txBody>
      </p:sp>
      <p:pic>
        <p:nvPicPr>
          <p:cNvPr id="36" name="Picture 35">
            <a:extLst>
              <a:ext uri="{FF2B5EF4-FFF2-40B4-BE49-F238E27FC236}">
                <a16:creationId xmlns:a16="http://schemas.microsoft.com/office/drawing/2014/main" id="{1FC97441-22A5-23A8-A43D-6C790A46ADAD}"/>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7" name="Freeform 13">
            <a:extLst>
              <a:ext uri="{FF2B5EF4-FFF2-40B4-BE49-F238E27FC236}">
                <a16:creationId xmlns:a16="http://schemas.microsoft.com/office/drawing/2014/main" id="{E76F6E24-0517-FD92-9429-1ED546694FF8}"/>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5" name="Content Placeholder 34">
            <a:extLst>
              <a:ext uri="{FF2B5EF4-FFF2-40B4-BE49-F238E27FC236}">
                <a16:creationId xmlns:a16="http://schemas.microsoft.com/office/drawing/2014/main" id="{9E138F2F-0369-ED7A-AC53-2B50C4DB3833}"/>
              </a:ext>
            </a:extLst>
          </p:cNvPr>
          <p:cNvPicPr>
            <a:picLocks/>
          </p:cNvPicPr>
          <p:nvPr/>
        </p:nvPicPr>
        <p:blipFill>
          <a:blip r:embed="rId3" cstate="print"/>
          <a:stretch>
            <a:fillRect/>
          </a:stretch>
        </p:blipFill>
        <p:spPr>
          <a:xfrm>
            <a:off x="5705856" y="1911096"/>
            <a:ext cx="6364224" cy="3813048"/>
          </a:xfrm>
          <a:prstGeom prst="rect">
            <a:avLst/>
          </a:prstGeom>
        </p:spPr>
      </p:pic>
      <p:sp>
        <p:nvSpPr>
          <p:cNvPr id="3" name="Slide Number Placeholder 4">
            <a:extLst>
              <a:ext uri="{FF2B5EF4-FFF2-40B4-BE49-F238E27FC236}">
                <a16:creationId xmlns:a16="http://schemas.microsoft.com/office/drawing/2014/main" id="{04A66063-57BA-9F13-6A8B-2965454D5BEA}"/>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4</a:t>
            </a:fld>
            <a:endParaRPr lang="en-US">
              <a:solidFill>
                <a:prstClr val="black">
                  <a:tint val="75000"/>
                </a:prstClr>
              </a:solidFill>
            </a:endParaRPr>
          </a:p>
        </p:txBody>
      </p:sp>
    </p:spTree>
    <p:extLst>
      <p:ext uri="{BB962C8B-B14F-4D97-AF65-F5344CB8AC3E}">
        <p14:creationId xmlns:p14="http://schemas.microsoft.com/office/powerpoint/2010/main" val="1082327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a:solidFill>
                  <a:schemeClr val="tx1">
                    <a:lumMod val="85000"/>
                    <a:lumOff val="15000"/>
                  </a:schemeClr>
                </a:solidFill>
                <a:cs typeface="Arial" panose="020B0604020202020204" pitchFamily="34" charset="0"/>
              </a:rPr>
              <a:t>CURRENT MARKET SHARE</a:t>
            </a:r>
            <a:br>
              <a:rPr lang="en-US" sz="3600" b="1">
                <a:solidFill>
                  <a:schemeClr val="tx1">
                    <a:lumMod val="85000"/>
                    <a:lumOff val="15000"/>
                  </a:schemeClr>
                </a:solidFill>
                <a:cs typeface="Arial" panose="020B0604020202020204" pitchFamily="34" charset="0"/>
              </a:rPr>
            </a:br>
            <a:r>
              <a:rPr lang="en-US" sz="1600">
                <a:solidFill>
                  <a:schemeClr val="tx1">
                    <a:lumMod val="85000"/>
                    <a:lumOff val="15000"/>
                  </a:schemeClr>
                </a:solidFill>
                <a:cs typeface="Arial" panose="020B0604020202020204" pitchFamily="34" charset="0"/>
              </a:rPr>
              <a:t>HOSPITALS WITHIN EIGHT MILES OF SLUHN SERVICE AREA</a:t>
            </a:r>
            <a:endParaRPr lang="en-US" sz="3600">
              <a:solidFill>
                <a:schemeClr val="tx1">
                  <a:lumMod val="85000"/>
                  <a:lumOff val="15000"/>
                </a:schemeClr>
              </a:solidFill>
              <a:cs typeface="Arial" panose="020B0604020202020204" pitchFamily="34" charset="0"/>
            </a:endParaRPr>
          </a:p>
        </p:txBody>
      </p:sp>
      <p:sp>
        <p:nvSpPr>
          <p:cNvPr id="5" name="TextBox 9">
            <a:extLst>
              <a:ext uri="{FF2B5EF4-FFF2-40B4-BE49-F238E27FC236}">
                <a16:creationId xmlns:a16="http://schemas.microsoft.com/office/drawing/2014/main" id="{DD333F58-1E5B-D213-65EE-BB627B8B12A8}"/>
              </a:ext>
            </a:extLst>
          </p:cNvPr>
          <p:cNvSpPr txBox="1"/>
          <p:nvPr/>
        </p:nvSpPr>
        <p:spPr>
          <a:xfrm>
            <a:off x="10096500" y="4481504"/>
            <a:ext cx="1992085" cy="20313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For outpatient market share, it is estimated that only 56.1% of local physicians are employed by area hospitals (Research from the Physician Advocacy Institute:  </a:t>
            </a:r>
            <a:r>
              <a:rPr kumimoji="0" lang="en-US" sz="9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a:t>
            </a:r>
          </a:p>
        </p:txBody>
      </p:sp>
      <p:graphicFrame>
        <p:nvGraphicFramePr>
          <p:cNvPr id="6" name="Table 5"/>
          <p:cNvGraphicFramePr>
            <a:graphicFrameLocks noGrp="1"/>
          </p:cNvGraphicFramePr>
          <p:nvPr>
            <p:extLst>
              <p:ext uri="{D42A27DB-BD31-4B8C-83A1-F6EECF244321}">
                <p14:modId xmlns:p14="http://schemas.microsoft.com/office/powerpoint/2010/main" val="2451298429"/>
              </p:ext>
            </p:extLst>
          </p:nvPr>
        </p:nvGraphicFramePr>
        <p:xfrm>
          <a:off x="266700" y="979179"/>
          <a:ext cx="9829800" cy="5055662"/>
        </p:xfrm>
        <a:graphic>
          <a:graphicData uri="http://schemas.openxmlformats.org/drawingml/2006/table">
            <a:tbl>
              <a:tblPr/>
              <a:tblGrid>
                <a:gridCol w="2960914">
                  <a:extLst>
                    <a:ext uri="{9D8B030D-6E8A-4147-A177-3AD203B41FA5}">
                      <a16:colId xmlns:a16="http://schemas.microsoft.com/office/drawing/2014/main" val="20000"/>
                    </a:ext>
                  </a:extLst>
                </a:gridCol>
                <a:gridCol w="925286">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593457">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Hospital Name</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Number of Beds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Inpatient Total Charges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Outpatient Total Charges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Inpatient Percent of Market Total</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Outpatient Percent of Market Total (Assuming 56.1% of Physicians Employed by Hospitals)</a:t>
                      </a:r>
                    </a:p>
                  </a:txBody>
                  <a:tcPr marL="0" marR="0" marT="63500" marB="635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Warren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92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464,369.1K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$1,008,837.0K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Upper Bucks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86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522,787.0K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748,428.8K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2"/>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Bethlehem</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783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$4,431,459.5K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$4,512,769.9K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Grand View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313,554.5K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459,480.3K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 Easton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113,367.3K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317,923.5K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5"/>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Miners Memorial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49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149,719.5K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428,768.3K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6"/>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Lehighton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68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193,471.3K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288,155.6K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7"/>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Hospital - Anderson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193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$1,295,917.8K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$1,620,203.3K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Monroe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98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691,835.9K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$1,089,592.4K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9"/>
                  </a:ext>
                </a:extLst>
              </a:tr>
              <a:tr h="140556">
                <a:tc>
                  <a:txBody>
                    <a:bodyPr/>
                    <a:lstStyle/>
                    <a:p>
                      <a:pPr marL="63500" marR="63500" algn="l">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St Lukes Carbon Campus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52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307,695.2K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  371,559.4K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1000" b="1" i="0" u="none" cap="none">
                          <a:solidFill>
                            <a:schemeClr val="accent1"/>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0"/>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Hackettstown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95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419,072.8K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451,745.3K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1"/>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Jefferson Lansdale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140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185,783.7K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213,465.6K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2"/>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Schuylkill S Jackson Street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244,006.4K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346,134.4K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3"/>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Schuylkill E Norwegian Street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99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117,895.3K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181,742.1K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4"/>
                  </a:ext>
                </a:extLst>
              </a:tr>
              <a:tr h="14992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Penn State Health St Joseph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132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455,796.5K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906,743.0K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5"/>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Suburban Community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142,533.5K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95,946.3K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6"/>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Pottstown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185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464,846.7K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474,286.2K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7"/>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Cedar Crest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1,190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$6,447,851.8K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$8,433,644.8K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8"/>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Wilkes-Barre General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188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764,343.4K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$1,091,258.7K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19"/>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Hazleton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134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263,046.6K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605,706.7K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0"/>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Lehigh Valley Hospital - Pocono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237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514,875.8K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$1,017,924.8K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1"/>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Doylestown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217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593,232.7K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853,288.6K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2"/>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Geisinger Wyoming Valley Medical Center</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583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$2,190,243.6K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$4,045,390.9K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3"/>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Valley Forge Medical Center and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70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100,485.9K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NAK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NA%</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4"/>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Physicians Care Surgical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46,282.1K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109,933.0K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&lt;1%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5"/>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Jefferson Einstein Montgomery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175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597,036.2K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596,088.8K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6"/>
                  </a:ext>
                </a:extLst>
              </a:tr>
              <a:tr h="140556">
                <a:tc>
                  <a:txBody>
                    <a:bodyPr/>
                    <a:lstStyle/>
                    <a:p>
                      <a:pPr marL="63500" marR="63500" algn="l">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Geisinger St Lukes Hospital</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184,744.4K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  275,367.2K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marL="63500" marR="63500" algn="ctr">
                        <a:lnSpc>
                          <a:spcPct val="100000"/>
                        </a:lnSpc>
                        <a:spcBef>
                          <a:spcPts val="0"/>
                        </a:spcBef>
                        <a:spcAft>
                          <a:spcPts val="0"/>
                        </a:spcAft>
                        <a:buNone/>
                      </a:pPr>
                      <a:r>
                        <a:rPr sz="800" b="0" i="0" u="none" cap="none">
                          <a:solidFill>
                            <a:srgbClr val="000000">
                              <a:alpha val="100000"/>
                            </a:srgbClr>
                          </a:solidFill>
                          <a:latin typeface="Montserrat" panose="00000500000000000000" pitchFamily="2" charset="0"/>
                          <a:cs typeface="Arial"/>
                          <a:sym typeface="Arial"/>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27"/>
                  </a:ext>
                </a:extLst>
              </a:tr>
            </a:tbl>
          </a:graphicData>
        </a:graphic>
      </p:graphicFrame>
      <p:sp>
        <p:nvSpPr>
          <p:cNvPr id="7"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a:solidFill>
                  <a:schemeClr val="accent1"/>
                </a:solidFill>
                <a:latin typeface="Montserrat" panose="00000500000000000000" pitchFamily="2" charset="0"/>
              </a:rPr>
              <a:t>39% Inpatient Market Share</a:t>
            </a:r>
          </a:p>
          <a:p>
            <a:pPr algn="ctr"/>
            <a:endParaRPr lang="en-US" b="1">
              <a:solidFill>
                <a:schemeClr val="accent1"/>
              </a:solidFill>
              <a:latin typeface="Montserrat" panose="00000500000000000000" pitchFamily="2" charset="0"/>
            </a:endParaRPr>
          </a:p>
          <a:p>
            <a:pPr algn="ctr"/>
            <a:r>
              <a:rPr lang="en-US" b="1">
                <a:solidFill>
                  <a:schemeClr val="accent1"/>
                </a:solidFill>
                <a:latin typeface="Montserrat" panose="00000500000000000000" pitchFamily="2" charset="0"/>
              </a:rPr>
              <a:t>24% Outpatient Market Share</a:t>
            </a:r>
          </a:p>
        </p:txBody>
      </p:sp>
      <p:pic>
        <p:nvPicPr>
          <p:cNvPr id="8"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9"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Slide Number Placeholder 4">
            <a:extLst>
              <a:ext uri="{FF2B5EF4-FFF2-40B4-BE49-F238E27FC236}">
                <a16:creationId xmlns:a16="http://schemas.microsoft.com/office/drawing/2014/main" id="{83425052-017D-613E-2E9D-E41BFAEDFBBB}"/>
              </a:ext>
            </a:extLst>
          </p:cNvPr>
          <p:cNvSpPr txBox="1">
            <a:spLocks/>
          </p:cNvSpPr>
          <p:nvPr/>
        </p:nvSpPr>
        <p:spPr>
          <a:xfrm>
            <a:off x="9237951" y="643498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5</a:t>
            </a:fld>
            <a:endParaRPr lang="en-US">
              <a:solidFill>
                <a:prstClr val="black">
                  <a:tint val="75000"/>
                </a:prstClr>
              </a:solidFill>
            </a:endParaRPr>
          </a:p>
        </p:txBody>
      </p:sp>
    </p:spTree>
    <p:extLst>
      <p:ext uri="{BB962C8B-B14F-4D97-AF65-F5344CB8AC3E}">
        <p14:creationId xmlns:p14="http://schemas.microsoft.com/office/powerpoint/2010/main" val="3034923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STEERAGE RATES FOR CURRENT DTE NETWORKS</a:t>
            </a:r>
            <a:endParaRPr lang="en-US">
              <a:latin typeface="Montserrat" panose="00000500000000000000" pitchFamily="2" charset="0"/>
            </a:endParaRPr>
          </a:p>
        </p:txBody>
      </p:sp>
      <p:sp>
        <p:nvSpPr>
          <p:cNvPr id="4" name="Object 3"/>
          <p:cNvSpPr/>
          <p:nvPr/>
        </p:nvSpPr>
        <p:spPr>
          <a:xfrm>
            <a:off x="0" y="5723094"/>
            <a:ext cx="12188952" cy="1133192"/>
          </a:xfrm>
          <a:prstGeom prst="rect">
            <a:avLst/>
          </a:prstGeom>
          <a:solidFill>
            <a:srgbClr val="EDF1EB"/>
          </a:solidFill>
        </p:spPr>
        <p:txBody>
          <a:bodyPr/>
          <a:lstStyle/>
          <a:p>
            <a:endParaRPr lang="en-US">
              <a:latin typeface="Montserrat" panose="00000500000000000000" pitchFamily="2" charset="0"/>
            </a:endParaRPr>
          </a:p>
        </p:txBody>
      </p:sp>
      <p:sp>
        <p:nvSpPr>
          <p:cNvPr id="6" name="Object 5"/>
          <p:cNvSpPr/>
          <p:nvPr/>
        </p:nvSpPr>
        <p:spPr>
          <a:xfrm>
            <a:off x="9931323" y="5910190"/>
            <a:ext cx="2049828" cy="463657"/>
          </a:xfrm>
          <a:prstGeom prst="rect">
            <a:avLst/>
          </a:prstGeom>
          <a:noFill/>
        </p:spPr>
        <p:txBody>
          <a:bodyPr wrap="square" lIns="0" tIns="0" rIns="0" bIns="0" rtlCol="0" anchor="t"/>
          <a:lstStyle/>
          <a:p>
            <a:pPr algn="r">
              <a:lnSpc>
                <a:spcPts val="1405"/>
              </a:lnSpc>
              <a:buNone/>
            </a:pPr>
            <a:r>
              <a:rPr lang="en-US" sz="1056" kern="0" spc="32">
                <a:solidFill>
                  <a:srgbClr val="181818">
                    <a:alpha val="80000"/>
                  </a:srgbClr>
                </a:solidFill>
                <a:latin typeface="Montserrat" panose="00000500000000000000" pitchFamily="2" charset="0"/>
                <a:ea typeface="Jost*" pitchFamily="34" charset="-122"/>
                <a:cs typeface="Jost*" pitchFamily="34" charset="-120"/>
              </a:rPr>
              <a:t>*</a:t>
            </a: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lang="en-US">
              <a:latin typeface="Montserrat" panose="00000500000000000000" pitchFamily="2" charset="0"/>
            </a:endParaRPr>
          </a:p>
        </p:txBody>
      </p:sp>
      <p:sp>
        <p:nvSpPr>
          <p:cNvPr id="7"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5"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
        <p:nvSpPr>
          <p:cNvPr id="3" name="Slide Number Placeholder 4">
            <a:extLst>
              <a:ext uri="{FF2B5EF4-FFF2-40B4-BE49-F238E27FC236}">
                <a16:creationId xmlns:a16="http://schemas.microsoft.com/office/drawing/2014/main" id="{CA4478D5-6CEF-F17C-6F36-7309AF001344}"/>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6</a:t>
            </a:fld>
            <a:endParaRPr lang="en-US">
              <a:solidFill>
                <a:prstClr val="black">
                  <a:tint val="75000"/>
                </a:prst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12">
            <a:extLst>
              <a:ext uri="{FF2B5EF4-FFF2-40B4-BE49-F238E27FC236}">
                <a16:creationId xmlns:a16="http://schemas.microsoft.com/office/drawing/2014/main" id="{E799F91A-3FD1-47AB-858A-263DC729BC42}"/>
              </a:ext>
            </a:extLst>
          </p:cNvPr>
          <p:cNvSpPr txBox="1"/>
          <p:nvPr/>
        </p:nvSpPr>
        <p:spPr>
          <a:xfrm>
            <a:off x="8875836" y="1534170"/>
            <a:ext cx="2868171" cy="3108543"/>
          </a:xfrm>
          <a:prstGeom prst="rect">
            <a:avLst/>
          </a:prstGeom>
          <a:noFill/>
        </p:spPr>
        <p:txBody>
          <a:bodyPr wrap="square" lIns="91440" tIns="45720" rIns="91440" bIns="45720"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effectLst/>
                <a:uLnTx/>
                <a:uFillTx/>
                <a:latin typeface="Montserrat"/>
              </a:rPr>
              <a:t>KBA currently estimates that Saint Luke's University Health Network has 39% inpatient market share, and 24% outpatient market compared to hospitals/clinics within eight (8) miles of the SLUHN service area.</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effectLst/>
              <a:uLnTx/>
              <a:uFillTx/>
              <a:latin typeface="Montserrat" panose="00000500000000000000" pitchFamily="2"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effectLst/>
                <a:uLnTx/>
                <a:uFillTx/>
                <a:latin typeface="Montserrat"/>
              </a:rPr>
              <a:t>KBA </a:t>
            </a:r>
            <a:r>
              <a:rPr kumimoji="0" lang="en-US" sz="1400" b="0" i="0" u="sng" strike="noStrike" kern="1200" cap="none" spc="0" normalizeH="0" baseline="0" noProof="0">
                <a:ln>
                  <a:noFill/>
                </a:ln>
                <a:solidFill/>
                <a:effectLst/>
                <a:uLnTx/>
                <a:uFillTx/>
                <a:latin typeface="Montserrat"/>
              </a:rPr>
              <a:t>very conservatively </a:t>
            </a:r>
            <a:r>
              <a:rPr kumimoji="0" lang="en-US" sz="1400" b="0" i="0" u="none" strike="noStrike" kern="1200" cap="none" spc="0" normalizeH="0" baseline="0" noProof="0">
                <a:ln>
                  <a:noFill/>
                </a:ln>
                <a:solidFill/>
                <a:effectLst/>
                <a:uLnTx/>
                <a:uFillTx/>
                <a:latin typeface="Montserrat"/>
              </a:rPr>
              <a:t>projects this steerage to allow for other partners to be included in the tier 1 level if SLUHN decides. </a:t>
            </a:r>
          </a:p>
        </p:txBody>
      </p:sp>
      <p:sp>
        <p:nvSpPr>
          <p:cNvPr id="8" name="Title 1">
            <a:extLst>
              <a:ext uri="{FF2B5EF4-FFF2-40B4-BE49-F238E27FC236}">
                <a16:creationId xmlns:a16="http://schemas.microsoft.com/office/drawing/2014/main" id="{B4D239FC-1B6B-6AA2-8CF4-348DACF0BA2C}"/>
              </a:ext>
            </a:extLst>
          </p:cNvPr>
          <p:cNvSpPr>
            <a:spLocks noGrp="1"/>
          </p:cNvSpPr>
          <p:nvPr>
            <p:ph type="title"/>
          </p:nvPr>
        </p:nvSpPr>
        <p:spPr>
          <a:xfrm>
            <a:off x="266700" y="-184997"/>
            <a:ext cx="11087100" cy="1325563"/>
          </a:xfrm>
        </p:spPr>
        <p:txBody>
          <a:bodyPr>
            <a:normAutofit/>
          </a:bodyPr>
          <a:lstStyle/>
          <a:p>
            <a:r>
              <a:rPr lang="en-US" sz="3600">
                <a:solidFill>
                  <a:schemeClr val="tx1">
                    <a:lumMod val="85000"/>
                    <a:lumOff val="15000"/>
                  </a:schemeClr>
                </a:solidFill>
                <a:cs typeface="Arial" panose="020B0604020202020204" pitchFamily="34" charset="0"/>
              </a:rPr>
              <a:t>PROJECTED PLAN GROWTH</a:t>
            </a:r>
          </a:p>
        </p:txBody>
      </p:sp>
      <p:pic>
        <p:nvPicPr>
          <p:cNvPr id="9" name="Picture 8">
            <a:extLst>
              <a:ext uri="{FF2B5EF4-FFF2-40B4-BE49-F238E27FC236}">
                <a16:creationId xmlns:a16="http://schemas.microsoft.com/office/drawing/2014/main" id="{62DFC915-3691-06AE-0E19-116ADE493F41}"/>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B679F8A2-7A89-065C-01E4-7D2603B214F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3" name="Table 2">
            <a:extLst>
              <a:ext uri="{FF2B5EF4-FFF2-40B4-BE49-F238E27FC236}">
                <a16:creationId xmlns:a16="http://schemas.microsoft.com/office/drawing/2014/main" id="{425B2EFD-7FD8-EAD0-DD6A-7C8F94E3AA6E}"/>
              </a:ext>
            </a:extLst>
          </p:cNvPr>
          <p:cNvGraphicFramePr>
            <a:graphicFrameLocks noGrp="1"/>
          </p:cNvGraphicFramePr>
          <p:nvPr>
            <p:extLst>
              <p:ext uri="{D42A27DB-BD31-4B8C-83A1-F6EECF244321}">
                <p14:modId xmlns:p14="http://schemas.microsoft.com/office/powerpoint/2010/main" val="1355758563"/>
              </p:ext>
            </p:extLst>
          </p:nvPr>
        </p:nvGraphicFramePr>
        <p:xfrm>
          <a:off x="447993" y="1065876"/>
          <a:ext cx="7920150" cy="5074920"/>
        </p:xfrm>
        <a:graphic>
          <a:graphicData uri="http://schemas.openxmlformats.org/drawingml/2006/table">
            <a:tbl>
              <a:tblPr/>
              <a:tblGrid>
                <a:gridCol w="1584030">
                  <a:extLst>
                    <a:ext uri="{9D8B030D-6E8A-4147-A177-3AD203B41FA5}">
                      <a16:colId xmlns:a16="http://schemas.microsoft.com/office/drawing/2014/main" val="20000"/>
                    </a:ext>
                  </a:extLst>
                </a:gridCol>
                <a:gridCol w="1584030">
                  <a:extLst>
                    <a:ext uri="{9D8B030D-6E8A-4147-A177-3AD203B41FA5}">
                      <a16:colId xmlns:a16="http://schemas.microsoft.com/office/drawing/2014/main" val="20001"/>
                    </a:ext>
                  </a:extLst>
                </a:gridCol>
                <a:gridCol w="1584030">
                  <a:extLst>
                    <a:ext uri="{9D8B030D-6E8A-4147-A177-3AD203B41FA5}">
                      <a16:colId xmlns:a16="http://schemas.microsoft.com/office/drawing/2014/main" val="20002"/>
                    </a:ext>
                  </a:extLst>
                </a:gridCol>
                <a:gridCol w="1584030">
                  <a:extLst>
                    <a:ext uri="{9D8B030D-6E8A-4147-A177-3AD203B41FA5}">
                      <a16:colId xmlns:a16="http://schemas.microsoft.com/office/drawing/2014/main" val="20003"/>
                    </a:ext>
                  </a:extLst>
                </a:gridCol>
                <a:gridCol w="1584030">
                  <a:extLst>
                    <a:ext uri="{9D8B030D-6E8A-4147-A177-3AD203B41FA5}">
                      <a16:colId xmlns:a16="http://schemas.microsoft.com/office/drawing/2014/main" val="20004"/>
                    </a:ext>
                  </a:extLst>
                </a:gridCol>
              </a:tblGrid>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Percent of Members Choosing SLUHN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Percent of Members Choosing SLUHN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1,600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9,400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63%</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11,000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71%</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64%</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36,000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25,700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39,100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66%</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46,300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53,300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95,900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67%</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59,800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107,600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65,600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118,100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73%</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68%</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127,100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134,300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77,900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69%</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148,000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228600">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panose="00000500000000000000" pitchFamily="2" charset="0"/>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83,600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150,500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74%</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panose="00000500000000000000" pitchFamily="2" charset="0"/>
                          <a:cs typeface="Arial"/>
                          <a:sym typeface="Arial"/>
                        </a:rPr>
                        <a:t>70%</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
        <p:nvSpPr>
          <p:cNvPr id="2" name="Slide Number Placeholder 4">
            <a:extLst>
              <a:ext uri="{FF2B5EF4-FFF2-40B4-BE49-F238E27FC236}">
                <a16:creationId xmlns:a16="http://schemas.microsoft.com/office/drawing/2014/main" id="{1985E4D0-FF41-952D-901D-871C3E825130}"/>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7</a:t>
            </a:fld>
            <a:endParaRPr lang="en-US">
              <a:solidFill>
                <a:prstClr val="black">
                  <a:tint val="75000"/>
                </a:prstClr>
              </a:solidFill>
            </a:endParaRPr>
          </a:p>
        </p:txBody>
      </p:sp>
    </p:spTree>
    <p:extLst>
      <p:ext uri="{BB962C8B-B14F-4D97-AF65-F5344CB8AC3E}">
        <p14:creationId xmlns:p14="http://schemas.microsoft.com/office/powerpoint/2010/main" val="2011724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ESTIMATING LOCAL PMPY SPEND</a:t>
            </a:r>
            <a:endParaRPr lang="en-US"/>
          </a:p>
        </p:txBody>
      </p:sp>
      <p:sp>
        <p:nvSpPr>
          <p:cNvPr id="3" name="Object 2"/>
          <p:cNvSpPr/>
          <p:nvPr/>
        </p:nvSpPr>
        <p:spPr>
          <a:xfrm>
            <a:off x="8382008" y="2082221"/>
            <a:ext cx="3027077" cy="599813"/>
          </a:xfrm>
          <a:prstGeom prst="rect">
            <a:avLst/>
          </a:prstGeom>
          <a:noFill/>
        </p:spPr>
        <p:txBody>
          <a:bodyPr wrap="square" lIns="0" tIns="0" rIns="0" bIns="0" rtlCol="0" anchor="t"/>
          <a:lstStyle/>
          <a:p>
            <a:pPr algn="ctr">
              <a:lnSpc>
                <a:spcPts val="4725"/>
              </a:lnSpc>
              <a:buNone/>
            </a:pPr>
            <a:r>
              <a:rPr lang="en-US" sz="4500" kern="0" spc="135">
                <a:solidFill>
                  <a:srgbClr val="181818">
                    <a:alpha val="80000"/>
                  </a:srgbClr>
                </a:solidFill>
                <a:latin typeface="Montserrat" panose="00000500000000000000" pitchFamily="2" charset="0"/>
                <a:ea typeface="Jost*" pitchFamily="34" charset="-122"/>
                <a:cs typeface="Jost*" pitchFamily="34" charset="-120"/>
              </a:rPr>
              <a:t>$12,473</a:t>
            </a:r>
            <a:endParaRPr lang="en-US"/>
          </a:p>
        </p:txBody>
      </p:sp>
      <p:sp>
        <p:nvSpPr>
          <p:cNvPr id="4" name="Object 3"/>
          <p:cNvSpPr/>
          <p:nvPr/>
        </p:nvSpPr>
        <p:spPr>
          <a:xfrm>
            <a:off x="8382008" y="2800509"/>
            <a:ext cx="3027077" cy="534531"/>
          </a:xfrm>
          <a:prstGeom prst="rect">
            <a:avLst/>
          </a:prstGeom>
          <a:noFill/>
        </p:spPr>
        <p:txBody>
          <a:bodyPr wrap="square" lIns="0" tIns="0" rIns="0" bIns="0" rtlCol="0" anchor="t"/>
          <a:lstStyle/>
          <a:p>
            <a:pPr algn="ctr">
              <a:lnSpc>
                <a:spcPts val="2107"/>
              </a:lnSpc>
              <a:spcBef>
                <a:spcPts val="916"/>
              </a:spcBef>
              <a:buNone/>
            </a:pPr>
            <a:r>
              <a:rPr lang="en-US" sz="1584" kern="0" spc="47">
                <a:solidFill>
                  <a:srgbClr val="181818">
                    <a:alpha val="80000"/>
                  </a:srgbClr>
                </a:solidFill>
                <a:latin typeface="Montserrat" panose="00000500000000000000" pitchFamily="2" charset="0"/>
                <a:ea typeface="Jost*" pitchFamily="34" charset="-122"/>
                <a:cs typeface="Jost*" pitchFamily="34" charset="-120"/>
              </a:rPr>
              <a:t>Average National PMPY Medical Care Costs Estimated From KBA National Trends</a:t>
            </a:r>
            <a:endParaRPr lang="en-US"/>
          </a:p>
        </p:txBody>
      </p:sp>
      <p:sp>
        <p:nvSpPr>
          <p:cNvPr id="5" name="Object 4"/>
          <p:cNvSpPr/>
          <p:nvPr/>
        </p:nvSpPr>
        <p:spPr>
          <a:xfrm>
            <a:off x="8382008" y="3925551"/>
            <a:ext cx="3027077" cy="647798"/>
          </a:xfrm>
          <a:prstGeom prst="rect">
            <a:avLst/>
          </a:prstGeom>
          <a:noFill/>
        </p:spPr>
        <p:txBody>
          <a:bodyPr wrap="square" lIns="0" tIns="0" rIns="0" bIns="0" rtlCol="0" anchor="t"/>
          <a:lstStyle/>
          <a:p>
            <a:pPr algn="ctr">
              <a:lnSpc>
                <a:spcPts val="5103"/>
              </a:lnSpc>
              <a:spcBef>
                <a:spcPts val="629"/>
              </a:spcBef>
              <a:buNone/>
            </a:pPr>
            <a:r>
              <a:rPr lang="en-US" sz="4050" kern="0" spc="122">
                <a:solidFill>
                  <a:srgbClr val="181818">
                    <a:alpha val="80000"/>
                  </a:srgbClr>
                </a:solidFill>
                <a:latin typeface="Montserrat" panose="00000500000000000000" pitchFamily="2" charset="0"/>
                <a:ea typeface="Jost*" pitchFamily="34" charset="-122"/>
                <a:cs typeface="Jost*" pitchFamily="34" charset="-120"/>
              </a:rPr>
              <a:t>$13,344</a:t>
            </a:r>
            <a:endParaRPr lang="en-US"/>
          </a:p>
        </p:txBody>
      </p:sp>
      <p:sp>
        <p:nvSpPr>
          <p:cNvPr id="6" name="Object 5"/>
          <p:cNvSpPr/>
          <p:nvPr/>
        </p:nvSpPr>
        <p:spPr>
          <a:xfrm>
            <a:off x="8382008" y="4648489"/>
            <a:ext cx="3027077" cy="534531"/>
          </a:xfrm>
          <a:prstGeom prst="rect">
            <a:avLst/>
          </a:prstGeom>
          <a:noFill/>
        </p:spPr>
        <p:txBody>
          <a:bodyPr wrap="square" lIns="0" tIns="0" rIns="0" bIns="0" rtlCol="0" anchor="t"/>
          <a:lstStyle/>
          <a:p>
            <a:pPr algn="ctr">
              <a:lnSpc>
                <a:spcPts val="2107"/>
              </a:lnSpc>
              <a:spcBef>
                <a:spcPts val="581"/>
              </a:spcBef>
              <a:buNone/>
            </a:pPr>
            <a:r>
              <a:rPr lang="en-US" sz="1584" kern="0" spc="47">
                <a:solidFill>
                  <a:srgbClr val="181818">
                    <a:alpha val="80000"/>
                  </a:srgbClr>
                </a:solidFill>
                <a:latin typeface="Montserrat" panose="00000500000000000000" pitchFamily="2" charset="0"/>
                <a:ea typeface="Jost*" pitchFamily="34" charset="-122"/>
                <a:cs typeface="Jost*" pitchFamily="34" charset="-120"/>
              </a:rPr>
              <a:t>Adjusted PMPY Medical Care Costs For Allentown PA</a:t>
            </a:r>
            <a:endParaRPr lang="en-US"/>
          </a:p>
        </p:txBody>
      </p:sp>
      <p:pic>
        <p:nvPicPr>
          <p:cNvPr id="7" name="Object 6"/>
          <p:cNvPicPr>
            <a:picLocks noChangeAspect="1"/>
          </p:cNvPicPr>
          <p:nvPr/>
        </p:nvPicPr>
        <p:blipFill>
          <a:blip r:embed="rId3"/>
          <a:stretch>
            <a:fillRect/>
          </a:stretch>
        </p:blipFill>
        <p:spPr>
          <a:xfrm>
            <a:off x="285679" y="1323644"/>
            <a:ext cx="7592767" cy="5151737"/>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0882" y="3154219"/>
            <a:ext cx="3142464" cy="247588"/>
          </a:xfrm>
          <a:prstGeom prst="rect">
            <a:avLst/>
          </a:prstGeom>
        </p:spPr>
      </p:pic>
      <p:pic>
        <p:nvPicPr>
          <p:cNvPr id="9" name="Object 8"/>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903269" y="3347242"/>
            <a:ext cx="95226" cy="95226"/>
          </a:xfrm>
          <a:prstGeom prst="rect">
            <a:avLst/>
          </a:prstGeom>
        </p:spPr>
      </p:pic>
      <p:pic>
        <p:nvPicPr>
          <p:cNvPr id="10" name="Object 9"/>
          <p:cNvPicPr>
            <a:picLocks noChangeAspect="1"/>
          </p:cNvPicPr>
          <p:nvPr/>
        </p:nvPicPr>
        <p:blipFill>
          <a:blip r:embed="rId6">
            <a:extLst>
              <a:ext uri="{96DAC541-7B7A-43D3-8B79-37D633B846F1}">
                <asvg:svgBlip xmlns:asvg="http://schemas.microsoft.com/office/drawing/2016/SVG/main" r:embed="rId8"/>
              </a:ext>
            </a:extLst>
          </a:blip>
          <a:stretch>
            <a:fillRect/>
          </a:stretch>
        </p:blipFill>
        <p:spPr>
          <a:xfrm>
            <a:off x="5040972" y="3232304"/>
            <a:ext cx="95226" cy="95226"/>
          </a:xfrm>
          <a:prstGeom prst="rect">
            <a:avLst/>
          </a:prstGeom>
        </p:spPr>
      </p:pic>
      <p:sp>
        <p:nvSpPr>
          <p:cNvPr id="11" name="Object 10"/>
          <p:cNvSpPr/>
          <p:nvPr/>
        </p:nvSpPr>
        <p:spPr>
          <a:xfrm>
            <a:off x="3157529" y="2997021"/>
            <a:ext cx="609448" cy="314246"/>
          </a:xfrm>
          <a:prstGeom prst="rect">
            <a:avLst/>
          </a:prstGeom>
          <a:solidFill>
            <a:srgbClr val="FFFFFF"/>
          </a:solidFill>
        </p:spPr>
        <p:txBody>
          <a:bodyPr/>
          <a:lstStyle/>
          <a:p>
            <a:endParaRPr lang="en-US"/>
          </a:p>
        </p:txBody>
      </p:sp>
      <p:sp>
        <p:nvSpPr>
          <p:cNvPr id="12" name="Object 11"/>
          <p:cNvSpPr/>
          <p:nvPr/>
        </p:nvSpPr>
        <p:spPr>
          <a:xfrm>
            <a:off x="3252911" y="3041510"/>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13" name="Object 12"/>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87635" y="1782962"/>
            <a:ext cx="3142464" cy="276156"/>
          </a:xfrm>
          <a:prstGeom prst="rect">
            <a:avLst/>
          </a:prstGeom>
        </p:spPr>
      </p:pic>
      <p:pic>
        <p:nvPicPr>
          <p:cNvPr id="14" name="Object 13"/>
          <p:cNvPicPr>
            <a:picLocks noChangeAspect="1"/>
          </p:cNvPicPr>
          <p:nvPr/>
        </p:nvPicPr>
        <p:blipFill>
          <a:blip r:embed="rId6">
            <a:extLst>
              <a:ext uri="{96DAC541-7B7A-43D3-8B79-37D633B846F1}">
                <asvg:svgBlip xmlns:asvg="http://schemas.microsoft.com/office/drawing/2016/SVG/main" r:embed="rId11"/>
              </a:ext>
            </a:extLst>
          </a:blip>
          <a:stretch>
            <a:fillRect/>
          </a:stretch>
        </p:blipFill>
        <p:spPr>
          <a:xfrm>
            <a:off x="2740022" y="2003220"/>
            <a:ext cx="95226" cy="95226"/>
          </a:xfrm>
          <a:prstGeom prst="rect">
            <a:avLst/>
          </a:prstGeom>
        </p:spPr>
      </p:pic>
      <p:pic>
        <p:nvPicPr>
          <p:cNvPr id="15" name="Object 14"/>
          <p:cNvPicPr>
            <a:picLocks noChangeAspect="1"/>
          </p:cNvPicPr>
          <p:nvPr/>
        </p:nvPicPr>
        <p:blipFill>
          <a:blip r:embed="rId6">
            <a:extLst>
              <a:ext uri="{96DAC541-7B7A-43D3-8B79-37D633B846F1}">
                <asvg:svgBlip xmlns:asvg="http://schemas.microsoft.com/office/drawing/2016/SVG/main" r:embed="rId12"/>
              </a:ext>
            </a:extLst>
          </a:blip>
          <a:stretch>
            <a:fillRect/>
          </a:stretch>
        </p:blipFill>
        <p:spPr>
          <a:xfrm>
            <a:off x="5877743" y="1794579"/>
            <a:ext cx="95226" cy="95226"/>
          </a:xfrm>
          <a:prstGeom prst="rect">
            <a:avLst/>
          </a:prstGeom>
        </p:spPr>
      </p:pic>
      <p:sp>
        <p:nvSpPr>
          <p:cNvPr id="16" name="Object 15"/>
          <p:cNvSpPr/>
          <p:nvPr/>
        </p:nvSpPr>
        <p:spPr>
          <a:xfrm>
            <a:off x="3947423" y="1625913"/>
            <a:ext cx="609448" cy="314246"/>
          </a:xfrm>
          <a:prstGeom prst="rect">
            <a:avLst/>
          </a:prstGeom>
          <a:solidFill>
            <a:srgbClr val="FFFFFF"/>
          </a:solidFill>
        </p:spPr>
        <p:txBody>
          <a:bodyPr/>
          <a:lstStyle/>
          <a:p>
            <a:endParaRPr lang="en-US"/>
          </a:p>
        </p:txBody>
      </p:sp>
      <p:sp>
        <p:nvSpPr>
          <p:cNvPr id="17" name="Object 16"/>
          <p:cNvSpPr/>
          <p:nvPr/>
        </p:nvSpPr>
        <p:spPr>
          <a:xfrm>
            <a:off x="4042787" y="1670252"/>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18" name="Object 1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24388" y="3506556"/>
            <a:ext cx="3142464" cy="142839"/>
          </a:xfrm>
          <a:prstGeom prst="rect">
            <a:avLst/>
          </a:prstGeom>
        </p:spPr>
      </p:pic>
      <p:pic>
        <p:nvPicPr>
          <p:cNvPr id="19" name="Object 18"/>
          <p:cNvPicPr>
            <a:picLocks noChangeAspect="1"/>
          </p:cNvPicPr>
          <p:nvPr/>
        </p:nvPicPr>
        <p:blipFill>
          <a:blip r:embed="rId6">
            <a:extLst>
              <a:ext uri="{96DAC541-7B7A-43D3-8B79-37D633B846F1}">
                <asvg:svgBlip xmlns:asvg="http://schemas.microsoft.com/office/drawing/2016/SVG/main" r:embed="rId15"/>
              </a:ext>
            </a:extLst>
          </a:blip>
          <a:stretch>
            <a:fillRect/>
          </a:stretch>
        </p:blipFill>
        <p:spPr>
          <a:xfrm>
            <a:off x="3576775" y="3595021"/>
            <a:ext cx="95226" cy="95226"/>
          </a:xfrm>
          <a:prstGeom prst="rect">
            <a:avLst/>
          </a:prstGeom>
        </p:spPr>
      </p:pic>
      <p:pic>
        <p:nvPicPr>
          <p:cNvPr id="20" name="Object 19"/>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714478" y="3497889"/>
            <a:ext cx="95226" cy="104749"/>
          </a:xfrm>
          <a:prstGeom prst="rect">
            <a:avLst/>
          </a:prstGeom>
        </p:spPr>
      </p:pic>
      <p:sp>
        <p:nvSpPr>
          <p:cNvPr id="21" name="Object 20"/>
          <p:cNvSpPr/>
          <p:nvPr/>
        </p:nvSpPr>
        <p:spPr>
          <a:xfrm>
            <a:off x="4839797" y="3349284"/>
            <a:ext cx="609448" cy="314246"/>
          </a:xfrm>
          <a:prstGeom prst="rect">
            <a:avLst/>
          </a:prstGeom>
          <a:solidFill>
            <a:srgbClr val="FFFFFF"/>
          </a:solidFill>
        </p:spPr>
        <p:txBody>
          <a:bodyPr/>
          <a:lstStyle/>
          <a:p>
            <a:endParaRPr lang="en-US"/>
          </a:p>
        </p:txBody>
      </p:sp>
      <p:sp>
        <p:nvSpPr>
          <p:cNvPr id="22" name="Object 21"/>
          <p:cNvSpPr/>
          <p:nvPr/>
        </p:nvSpPr>
        <p:spPr>
          <a:xfrm>
            <a:off x="4935286" y="3393846"/>
            <a:ext cx="460731" cy="222814"/>
          </a:xfrm>
          <a:prstGeom prst="rect">
            <a:avLst/>
          </a:prstGeom>
          <a:noFill/>
        </p:spPr>
        <p:txBody>
          <a:bodyPr wrap="square" lIns="0" tIns="0" rIns="0" bIns="0" rtlCol="0" anchor="t"/>
          <a:lstStyle/>
          <a:p>
            <a:pPr algn="l">
              <a:lnSpc>
                <a:spcPts val="1756"/>
              </a:lnSpc>
              <a:buNone/>
            </a:pPr>
            <a:r>
              <a:rPr lang="en-US" sz="1320" b="1" kern="0" spc="40">
                <a:solidFill>
                  <a:srgbClr val="181818">
                    <a:alpha val="80000"/>
                  </a:srgbClr>
                </a:solidFill>
                <a:latin typeface="Montserrat" panose="00000500000000000000" pitchFamily="2" charset="0"/>
                <a:ea typeface="Jost*" pitchFamily="34" charset="-122"/>
                <a:cs typeface="Jost*" pitchFamily="34" charset="-120"/>
              </a:rPr>
              <a:t>+7%</a:t>
            </a:r>
            <a:endParaRPr lang="en-US"/>
          </a:p>
        </p:txBody>
      </p:sp>
      <p:pic>
        <p:nvPicPr>
          <p:cNvPr id="23" name="Picture 22">
            <a:extLst>
              <a:ext uri="{FF2B5EF4-FFF2-40B4-BE49-F238E27FC236}">
                <a16:creationId xmlns:a16="http://schemas.microsoft.com/office/drawing/2014/main" id="{606BA68D-5A1A-83A0-38AF-B22C329D7FC2}"/>
              </a:ext>
            </a:extLst>
          </p:cNvPr>
          <p:cNvPicPr>
            <a:picLocks noChangeAspect="1"/>
          </p:cNvPicPr>
          <p:nvPr/>
        </p:nvPicPr>
        <p:blipFill>
          <a:blip r:embed="rId18"/>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3795FE76-9E44-1ABD-A8B6-53732AF4981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5" name="Slide Number Placeholder 4">
            <a:extLst>
              <a:ext uri="{FF2B5EF4-FFF2-40B4-BE49-F238E27FC236}">
                <a16:creationId xmlns:a16="http://schemas.microsoft.com/office/drawing/2014/main" id="{31A267E1-24BA-400C-A95B-3CC6DE62B1B1}"/>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8</a:t>
            </a:fld>
            <a:endParaRPr lang="en-US">
              <a:solidFill>
                <a:prstClr val="black">
                  <a:tint val="75000"/>
                </a:prst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5EC63-6E20-5549-7934-C462855B214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4CDFD8A-FEE2-B154-3E8E-D8F303234842}"/>
              </a:ext>
            </a:extLst>
          </p:cNvPr>
          <p:cNvPicPr>
            <a:picLocks noChangeAspect="1"/>
          </p:cNvPicPr>
          <p:nvPr/>
        </p:nvPicPr>
        <p:blipFill>
          <a:blip r:embed="rId4"/>
          <a:srcRect b="6103"/>
          <a:stretch/>
        </p:blipFill>
        <p:spPr>
          <a:xfrm>
            <a:off x="505920" y="0"/>
            <a:ext cx="11686080" cy="6858000"/>
          </a:xfrm>
          <a:prstGeom prst="rect">
            <a:avLst/>
          </a:prstGeom>
        </p:spPr>
      </p:pic>
      <p:sp>
        <p:nvSpPr>
          <p:cNvPr id="7" name="Rectangle 6">
            <a:extLst>
              <a:ext uri="{FF2B5EF4-FFF2-40B4-BE49-F238E27FC236}">
                <a16:creationId xmlns:a16="http://schemas.microsoft.com/office/drawing/2014/main" id="{59983C56-6694-B594-EE5C-7F25F3072F56}"/>
              </a:ext>
            </a:extLst>
          </p:cNvPr>
          <p:cNvSpPr/>
          <p:nvPr/>
        </p:nvSpPr>
        <p:spPr>
          <a:xfrm>
            <a:off x="505920" y="2609850"/>
            <a:ext cx="11686080" cy="25908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 name="Object 3">
            <a:extLst>
              <a:ext uri="{FF2B5EF4-FFF2-40B4-BE49-F238E27FC236}">
                <a16:creationId xmlns:a16="http://schemas.microsoft.com/office/drawing/2014/main" id="{30193147-4AEF-E892-83AF-449C0B9757DA}"/>
              </a:ext>
            </a:extLst>
          </p:cNvPr>
          <p:cNvSpPr/>
          <p:nvPr/>
        </p:nvSpPr>
        <p:spPr>
          <a:xfrm>
            <a:off x="758880" y="2852992"/>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effectLst/>
                <a:uLnTx/>
                <a:uFillTx/>
                <a:latin typeface="Montserrat" panose="00000500000000000000" pitchFamily="2" charset="0"/>
                <a:ea typeface="Jost*" pitchFamily="34" charset="-122"/>
                <a:cs typeface="Jost*" pitchFamily="34" charset="-120"/>
              </a:rPr>
              <a:t>ORIGINAL ESTIMATE:</a:t>
            </a:r>
          </a:p>
          <a:p>
            <a:pPr>
              <a:lnSpc>
                <a:spcPts val="4725"/>
              </a:lnSpc>
              <a:defRPr/>
            </a:pPr>
            <a:r>
              <a:rPr lang="en-US" sz="4500" b="1" kern="0" spc="135" dirty="0">
                <a:latin typeface="Montserrat"/>
                <a:ea typeface="Jost*"/>
              </a:rPr>
              <a:t>PROFITABILITY MODELED AT 26% COMMERCIAL MARGIN</a:t>
            </a:r>
            <a:endParaRPr kumimoji="0" lang="en-US" sz="1800" b="0" i="0" u="none" strike="noStrike" kern="1200" cap="none" spc="0" normalizeH="0" baseline="0" noProof="0" dirty="0">
              <a:ln>
                <a:noFill/>
              </a:ln>
              <a:effectLst/>
              <a:uLnTx/>
              <a:uFillTx/>
              <a:latin typeface="Montserrat"/>
              <a:ea typeface="Jost*"/>
            </a:endParaRPr>
          </a:p>
        </p:txBody>
      </p:sp>
      <p:pic>
        <p:nvPicPr>
          <p:cNvPr id="5" name="Object 4">
            <a:extLst>
              <a:ext uri="{FF2B5EF4-FFF2-40B4-BE49-F238E27FC236}">
                <a16:creationId xmlns:a16="http://schemas.microsoft.com/office/drawing/2014/main" id="{175CAD6F-25BA-D2F3-0DF1-67BA995BB5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
        <p:nvSpPr>
          <p:cNvPr id="2" name="Slide Number Placeholder 4">
            <a:extLst>
              <a:ext uri="{FF2B5EF4-FFF2-40B4-BE49-F238E27FC236}">
                <a16:creationId xmlns:a16="http://schemas.microsoft.com/office/drawing/2014/main" id="{8A33AB7A-532E-C130-FF81-4183A6889C49}"/>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9</a:t>
            </a:fld>
            <a:endParaRPr lang="en-US">
              <a:solidFill>
                <a:prstClr val="black">
                  <a:tint val="75000"/>
                </a:prstClr>
              </a:solidFill>
            </a:endParaRPr>
          </a:p>
        </p:txBody>
      </p:sp>
    </p:spTree>
    <p:extLst>
      <p:ext uri="{BB962C8B-B14F-4D97-AF65-F5344CB8AC3E}">
        <p14:creationId xmlns:p14="http://schemas.microsoft.com/office/powerpoint/2010/main" val="133129278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169551"/>
          </a:xfrm>
          <a:prstGeom prst="rect">
            <a:avLst/>
          </a:prstGeom>
          <a:noFill/>
        </p:spPr>
        <p:txBody>
          <a:bodyPr wrap="square" rtlCol="0">
            <a:spAutoFit/>
          </a:bodyPr>
          <a:lstStyle/>
          <a:p>
            <a:r>
              <a:rPr lang="en-US" sz="1000" dirty="0">
                <a:solidFill/>
                <a:latin typeface="Montserrat" panose="00000500000000000000" pitchFamily="2" charset="0"/>
              </a:rPr>
              <a:t>KBA currently estimates that Saint Luke's University Health Network has 39% inpatient market share, and 24% outpatient market compared to hospitals/clinics in the Saint Luke's University Health Network service area (see slide 8). The DTE tiered structure will create immediate steerage, with additional steerage over time from patient bonus benefits and the patient card (see slide 7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205561"/>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553998"/>
          </a:xfrm>
          <a:prstGeom prst="rect">
            <a:avLst/>
          </a:prstGeom>
          <a:noFill/>
        </p:spPr>
        <p:txBody>
          <a:bodyPr wrap="square" rtlCol="0">
            <a:spAutoFit/>
          </a:bodyPr>
          <a:lstStyle/>
          <a:p>
            <a:r>
              <a:rPr lang="en-US" sz="1000" dirty="0">
                <a:solidFill/>
                <a:latin typeface="Montserrat" panose="00000500000000000000" pitchFamily="2" charset="0"/>
              </a:rPr>
              <a:t>KBA originally estimated that KBA has a 37% commercial margin. To ensure conservative estimates, KBA modeled at only 70% of our observed margin (70% of 37% is 25.9%). </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158147"/>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158147"/>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158147"/>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417000"/>
            <a:ext cx="726481" cy="307777"/>
          </a:xfrm>
          <a:prstGeom prst="rect">
            <a:avLst/>
          </a:prstGeom>
          <a:noFill/>
        </p:spPr>
        <p:txBody>
          <a:bodyPr wrap="none" rtlCol="0">
            <a:spAutoFit/>
          </a:bodyPr>
          <a:lstStyle/>
          <a:p>
            <a:r>
              <a:rPr lang="en-US" sz="1400" dirty="0">
                <a:solidFill/>
                <a:latin typeface="Montserrat" panose="00000500000000000000" pitchFamily="2" charset="0"/>
              </a:rPr>
              <a:t>20.9%</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428972"/>
            <a:ext cx="792205" cy="307777"/>
          </a:xfrm>
          <a:prstGeom prst="rect">
            <a:avLst/>
          </a:prstGeom>
          <a:noFill/>
        </p:spPr>
        <p:txBody>
          <a:bodyPr wrap="none" rtlCol="0">
            <a:spAutoFit/>
          </a:bodyPr>
          <a:lstStyle/>
          <a:p>
            <a:r>
              <a:rPr lang="en-US" sz="1400" dirty="0">
                <a:solidFill/>
                <a:latin typeface="Montserrat" panose="00000500000000000000" pitchFamily="2" charset="0"/>
              </a:rPr>
              <a:t>25.9%</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428972"/>
            <a:ext cx="766557" cy="307777"/>
          </a:xfrm>
          <a:prstGeom prst="rect">
            <a:avLst/>
          </a:prstGeom>
          <a:noFill/>
        </p:spPr>
        <p:txBody>
          <a:bodyPr wrap="none" rtlCol="0">
            <a:spAutoFit/>
          </a:bodyPr>
          <a:lstStyle/>
          <a:p>
            <a:r>
              <a:rPr lang="en-US" sz="1400" dirty="0">
                <a:solidFill/>
                <a:latin typeface="Montserrat" panose="00000500000000000000" pitchFamily="2" charset="0"/>
              </a:rPr>
              <a:t>30.9%</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Tree>
    <p:extLst>
      <p:ext uri="{BB962C8B-B14F-4D97-AF65-F5344CB8AC3E}">
        <p14:creationId xmlns:p14="http://schemas.microsoft.com/office/powerpoint/2010/main" val="3606693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3189483106"/>
              </p:ext>
            </p:extLst>
          </p:nvPr>
        </p:nvGraphicFramePr>
        <p:xfrm>
          <a:off x="418056" y="1035823"/>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a:solidFill>
                            <a:schemeClr val="bg1"/>
                          </a:solidFill>
                          <a:latin typeface="Montserrat" panose="00000500000000000000" pitchFamily="2" charset="0"/>
                        </a:rPr>
                        <a:t>Pre-DTE Cohort of 14,000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20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$ 19,868,940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$ 22,229,760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$ 10,379,040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$ 52,477,740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$ 5,146,055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$ 5,757,508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$ 2,688,171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$ 13,591,735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8EA958C5-E105-8A94-794A-7A8EB2DFEBDC}"/>
              </a:ext>
            </a:extLst>
          </p:cNvPr>
          <p:cNvCxnSpPr/>
          <p:nvPr/>
        </p:nvCxnSpPr>
        <p:spPr>
          <a:xfrm>
            <a:off x="316454" y="3595275"/>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490496258"/>
              </p:ext>
            </p:extLst>
          </p:nvPr>
        </p:nvGraphicFramePr>
        <p:xfrm>
          <a:off x="462506" y="3826888"/>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sz="120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$ 17,889,537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20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$ 168,000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20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$ 17,894,337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20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20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200" b="1">
                          <a:latin typeface="Montserrat" panose="00000500000000000000" pitchFamily="2" charset="0"/>
                        </a:rPr>
                        <a:t>Total Margin Change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a:solidFill>
                            <a:schemeClr val="accent6">
                              <a:lumMod val="75000"/>
                            </a:schemeClr>
                          </a:solidFill>
                        </a:rPr>
                        <a:t>$ 17,877,537</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3348174989"/>
              </p:ext>
            </p:extLst>
          </p:nvPr>
        </p:nvGraphicFramePr>
        <p:xfrm>
          <a:off x="418055" y="2505814"/>
          <a:ext cx="6972296" cy="848194"/>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20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$ 36,089,760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$ 58,258,669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$ 27,200,881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$ 121,549,310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$ 9,347,248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$ 15,088,995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$ 7,045,028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$ 31,481,271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60820A86-1B9D-21A4-BBB6-DDFB73605882}"/>
              </a:ext>
            </a:extLst>
          </p:cNvPr>
          <p:cNvSpPr txBox="1"/>
          <p:nvPr/>
        </p:nvSpPr>
        <p:spPr>
          <a:xfrm>
            <a:off x="7752549" y="1224993"/>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Assuming proportional revenues from market shares of 39% (inpatient) and 24% (outpatient)</a:t>
            </a:r>
          </a:p>
        </p:txBody>
      </p:sp>
      <p:sp>
        <p:nvSpPr>
          <p:cNvPr id="9" name="TextBox 2">
            <a:extLst>
              <a:ext uri="{FF2B5EF4-FFF2-40B4-BE49-F238E27FC236}">
                <a16:creationId xmlns:a16="http://schemas.microsoft.com/office/drawing/2014/main" id="{6CDBA057-BBD2-8F54-E977-26B782E37F88}"/>
              </a:ext>
            </a:extLst>
          </p:cNvPr>
          <p:cNvSpPr txBox="1"/>
          <p:nvPr/>
        </p:nvSpPr>
        <p:spPr>
          <a:xfrm>
            <a:off x="7752549" y="2072149"/>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Conservatively assuming a commercial margin of 25.9% (70% of the estimated commercial margin)</a:t>
            </a:r>
          </a:p>
        </p:txBody>
      </p:sp>
      <p:sp>
        <p:nvSpPr>
          <p:cNvPr id="10" name="TextBox 6">
            <a:extLst>
              <a:ext uri="{FF2B5EF4-FFF2-40B4-BE49-F238E27FC236}">
                <a16:creationId xmlns:a16="http://schemas.microsoft.com/office/drawing/2014/main" id="{C690F22E-C9CA-61DC-5584-149573110610}"/>
              </a:ext>
            </a:extLst>
          </p:cNvPr>
          <p:cNvSpPr txBox="1"/>
          <p:nvPr/>
        </p:nvSpPr>
        <p:spPr>
          <a:xfrm>
            <a:off x="7752549" y="2806684"/>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⁰ Assuming </a:t>
            </a:r>
            <a:r>
              <a:rPr kumimoji="0" lang="en-US" sz="11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71% inpatient and 63%  </a:t>
            </a:r>
            <a:r>
              <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market steerage based on KBA narrow network DTE experience </a:t>
            </a:r>
            <a:r>
              <a:rPr kumimoji="0" lang="en-US" sz="11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(see slide 7)</a:t>
            </a:r>
            <a:endParaRPr kumimoji="0" lang="en-US" sz="11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1" name="TextBox 7">
            <a:extLst>
              <a:ext uri="{FF2B5EF4-FFF2-40B4-BE49-F238E27FC236}">
                <a16:creationId xmlns:a16="http://schemas.microsoft.com/office/drawing/2014/main" id="{A897897D-C568-B204-6568-514AD4B71A5C}"/>
              </a:ext>
            </a:extLst>
          </p:cNvPr>
          <p:cNvSpPr txBox="1"/>
          <p:nvPr/>
        </p:nvSpPr>
        <p:spPr>
          <a:xfrm>
            <a:off x="7752548" y="3595275"/>
            <a:ext cx="4318001" cy="11079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 Conservatively assuming a commercial margin of 25.9%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2" name="TextBox 8">
            <a:extLst>
              <a:ext uri="{FF2B5EF4-FFF2-40B4-BE49-F238E27FC236}">
                <a16:creationId xmlns:a16="http://schemas.microsoft.com/office/drawing/2014/main" id="{1BBEE831-0583-9B2A-D9B8-C57C918E4C3C}"/>
              </a:ext>
            </a:extLst>
          </p:cNvPr>
          <p:cNvSpPr txBox="1"/>
          <p:nvPr/>
        </p:nvSpPr>
        <p:spPr>
          <a:xfrm>
            <a:off x="316454" y="227197"/>
            <a:ext cx="9264075"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a:ln>
                  <a:noFill/>
                </a:ln>
                <a:solidFill>
                  <a:prstClr val="black"/>
                </a:solidFill>
                <a:effectLst/>
                <a:uLnTx/>
                <a:uFillTx/>
                <a:latin typeface="Montserrat" panose="00000500000000000000" pitchFamily="2" charset="0"/>
                <a:ea typeface="+mn-ea"/>
                <a:cs typeface="Calibri" panose="020F0502020204030204" pitchFamily="34" charset="0"/>
              </a:rPr>
              <a:t>YEAR 4 PROJECTED REVENUE AND PROFIT</a:t>
            </a:r>
          </a:p>
        </p:txBody>
      </p:sp>
      <p:pic>
        <p:nvPicPr>
          <p:cNvPr id="13" name="Picture 12">
            <a:extLst>
              <a:ext uri="{FF2B5EF4-FFF2-40B4-BE49-F238E27FC236}">
                <a16:creationId xmlns:a16="http://schemas.microsoft.com/office/drawing/2014/main" id="{8FD0E9D1-ED47-C09C-5E44-9088749C72B2}"/>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4" name="Freeform 13">
            <a:extLst>
              <a:ext uri="{FF2B5EF4-FFF2-40B4-BE49-F238E27FC236}">
                <a16:creationId xmlns:a16="http://schemas.microsoft.com/office/drawing/2014/main" id="{88C1414E-65ED-2C64-E8A3-8F78B67EEA9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Slide Number Placeholder 4">
            <a:extLst>
              <a:ext uri="{FF2B5EF4-FFF2-40B4-BE49-F238E27FC236}">
                <a16:creationId xmlns:a16="http://schemas.microsoft.com/office/drawing/2014/main" id="{55E50969-D3DD-1CD9-90AB-1123872BBA3A}"/>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11</a:t>
            </a:fld>
            <a:endParaRPr lang="en-US">
              <a:solidFill>
                <a:prstClr val="black">
                  <a:tint val="75000"/>
                </a:prstClr>
              </a:solidFill>
            </a:endParaRPr>
          </a:p>
        </p:txBody>
      </p:sp>
    </p:spTree>
    <p:extLst>
      <p:ext uri="{BB962C8B-B14F-4D97-AF65-F5344CB8AC3E}">
        <p14:creationId xmlns:p14="http://schemas.microsoft.com/office/powerpoint/2010/main" val="1419816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33EC339C-1246-73ED-5D1C-D2708D837EA0}"/>
              </a:ext>
            </a:extLst>
          </p:cNvPr>
          <p:cNvGraphicFramePr>
            <a:graphicFrameLocks noGrp="1"/>
          </p:cNvGraphicFramePr>
          <p:nvPr>
            <p:extLst>
              <p:ext uri="{D42A27DB-BD31-4B8C-83A1-F6EECF244321}">
                <p14:modId xmlns:p14="http://schemas.microsoft.com/office/powerpoint/2010/main" val="892313681"/>
              </p:ext>
            </p:extLst>
          </p:nvPr>
        </p:nvGraphicFramePr>
        <p:xfrm>
          <a:off x="5751576"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2,903.5K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5,803.3K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11,200.6K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18,057.5K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2,607.1K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5,690.5K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11,132.2K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18,045.5K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9" name="Table 8">
            <a:extLst>
              <a:ext uri="{FF2B5EF4-FFF2-40B4-BE49-F238E27FC236}">
                <a16:creationId xmlns:a16="http://schemas.microsoft.com/office/drawing/2014/main" id="{430DEDEF-C2D3-7A6B-CDB1-005BC87537B6}"/>
              </a:ext>
            </a:extLst>
          </p:cNvPr>
          <p:cNvGraphicFramePr>
            <a:graphicFrameLocks noGrp="1"/>
          </p:cNvGraphicFramePr>
          <p:nvPr>
            <p:extLst>
              <p:ext uri="{D42A27DB-BD31-4B8C-83A1-F6EECF244321}">
                <p14:modId xmlns:p14="http://schemas.microsoft.com/office/powerpoint/2010/main" val="3441990183"/>
              </p:ext>
            </p:extLst>
          </p:nvPr>
        </p:nvGraphicFramePr>
        <p:xfrm>
          <a:off x="5751576"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3,940.4K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7,772.3K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14,934.2K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23,990.7K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3,656.0K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7,682.3K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14,903.0K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24,033.9K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10" name="Table 9">
            <a:extLst>
              <a:ext uri="{FF2B5EF4-FFF2-40B4-BE49-F238E27FC236}">
                <a16:creationId xmlns:a16="http://schemas.microsoft.com/office/drawing/2014/main" id="{CC7DF86B-3626-6170-2DEB-12FD7234B2DC}"/>
              </a:ext>
            </a:extLst>
          </p:cNvPr>
          <p:cNvGraphicFramePr>
            <a:graphicFrameLocks noGrp="1"/>
          </p:cNvGraphicFramePr>
          <p:nvPr>
            <p:extLst>
              <p:ext uri="{D42A27DB-BD31-4B8C-83A1-F6EECF244321}">
                <p14:modId xmlns:p14="http://schemas.microsoft.com/office/powerpoint/2010/main" val="3703767736"/>
              </p:ext>
            </p:extLst>
          </p:nvPr>
        </p:nvGraphicFramePr>
        <p:xfrm>
          <a:off x="5751576"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1,970.2K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3,938.0K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7,467.1K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11,995.4K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1,663.0K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3,803.6K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7,361.5K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11,927.0K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11" name="Content Placeholder 6">
            <a:extLst>
              <a:ext uri="{FF2B5EF4-FFF2-40B4-BE49-F238E27FC236}">
                <a16:creationId xmlns:a16="http://schemas.microsoft.com/office/drawing/2014/main" id="{D23271CC-D652-9C94-E1C3-997FEEBEC7A6}"/>
              </a:ext>
            </a:extLst>
          </p:cNvPr>
          <p:cNvPicPr>
            <a:picLocks/>
          </p:cNvPicPr>
          <p:nvPr/>
        </p:nvPicPr>
        <p:blipFill>
          <a:blip r:embed="rId2" cstate="print"/>
          <a:stretch>
            <a:fillRect/>
          </a:stretch>
        </p:blipFill>
        <p:spPr>
          <a:xfrm>
            <a:off x="795528" y="0"/>
            <a:ext cx="4572000" cy="6858000"/>
          </a:xfrm>
          <a:prstGeom prst="rect">
            <a:avLst/>
          </a:prstGeom>
        </p:spPr>
      </p:pic>
      <p:sp>
        <p:nvSpPr>
          <p:cNvPr id="2" name="Slide Number Placeholder 4">
            <a:extLst>
              <a:ext uri="{FF2B5EF4-FFF2-40B4-BE49-F238E27FC236}">
                <a16:creationId xmlns:a16="http://schemas.microsoft.com/office/drawing/2014/main" id="{5B3E1EE4-7F29-95C3-B47B-3BD87A007A50}"/>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12</a:t>
            </a:fld>
            <a:endParaRPr lang="en-US" sz="1200">
              <a:solidFill>
                <a:prstClr val="black">
                  <a:tint val="75000"/>
                </a:prstClr>
              </a:solidFill>
            </a:endParaRPr>
          </a:p>
        </p:txBody>
      </p:sp>
    </p:spTree>
    <p:extLst>
      <p:ext uri="{BB962C8B-B14F-4D97-AF65-F5344CB8AC3E}">
        <p14:creationId xmlns:p14="http://schemas.microsoft.com/office/powerpoint/2010/main" val="315794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03588DF-56D9-837C-AA1C-128F048C493A}"/>
              </a:ext>
            </a:extLst>
          </p:cNvPr>
          <p:cNvSpPr>
            <a:spLocks noGrp="1"/>
          </p:cNvSpPr>
          <p:nvPr>
            <p:ph type="title"/>
          </p:nvPr>
        </p:nvSpPr>
        <p:spPr>
          <a:xfrm>
            <a:off x="295590" y="144962"/>
            <a:ext cx="11431354" cy="979057"/>
          </a:xfrm>
        </p:spPr>
        <p:txBody>
          <a:bodyPr>
            <a:normAutofit/>
          </a:bodyPr>
          <a:lstStyle/>
          <a:p>
            <a:r>
              <a:rPr lang="en-US" sz="3200" b="0"/>
              <a:t>GROWING POWERFUL, LASTING PROFITABILITY</a:t>
            </a:r>
          </a:p>
        </p:txBody>
      </p:sp>
      <p:pic>
        <p:nvPicPr>
          <p:cNvPr id="26" name="Picture 25">
            <a:extLst>
              <a:ext uri="{FF2B5EF4-FFF2-40B4-BE49-F238E27FC236}">
                <a16:creationId xmlns:a16="http://schemas.microsoft.com/office/drawing/2014/main" id="{32553811-692C-2C40-6705-BD09D8EBC5C1}"/>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7" name="Freeform 13">
            <a:extLst>
              <a:ext uri="{FF2B5EF4-FFF2-40B4-BE49-F238E27FC236}">
                <a16:creationId xmlns:a16="http://schemas.microsoft.com/office/drawing/2014/main" id="{E4DF244E-6669-0458-66C1-F88A39CC9FA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Rectangle 10">
            <a:extLst>
              <a:ext uri="{FF2B5EF4-FFF2-40B4-BE49-F238E27FC236}">
                <a16:creationId xmlns:a16="http://schemas.microsoft.com/office/drawing/2014/main" id="{72F86F35-FDA3-8BE2-FA18-F403FDF74B3A}"/>
              </a:ext>
            </a:extLst>
          </p:cNvPr>
          <p:cNvSpPr/>
          <p:nvPr/>
        </p:nvSpPr>
        <p:spPr>
          <a:xfrm>
            <a:off x="5010710" y="1720414"/>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1">
            <a:extLst>
              <a:ext uri="{FF2B5EF4-FFF2-40B4-BE49-F238E27FC236}">
                <a16:creationId xmlns:a16="http://schemas.microsoft.com/office/drawing/2014/main" id="{D3A129A3-EEFD-8A80-B466-8D2154939405}"/>
              </a:ext>
            </a:extLst>
          </p:cNvPr>
          <p:cNvSpPr/>
          <p:nvPr/>
        </p:nvSpPr>
        <p:spPr>
          <a:xfrm>
            <a:off x="6925443" y="1720412"/>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12">
            <a:extLst>
              <a:ext uri="{FF2B5EF4-FFF2-40B4-BE49-F238E27FC236}">
                <a16:creationId xmlns:a16="http://schemas.microsoft.com/office/drawing/2014/main" id="{5D3C2A3F-E70A-790C-9633-8423E8CFAB9D}"/>
              </a:ext>
            </a:extLst>
          </p:cNvPr>
          <p:cNvSpPr/>
          <p:nvPr/>
        </p:nvSpPr>
        <p:spPr>
          <a:xfrm>
            <a:off x="8840177" y="1720411"/>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13">
            <a:extLst>
              <a:ext uri="{FF2B5EF4-FFF2-40B4-BE49-F238E27FC236}">
                <a16:creationId xmlns:a16="http://schemas.microsoft.com/office/drawing/2014/main" id="{9CD9D6A7-5124-E7A2-2669-8C56D69D31E1}"/>
              </a:ext>
            </a:extLst>
          </p:cNvPr>
          <p:cNvSpPr txBox="1"/>
          <p:nvPr/>
        </p:nvSpPr>
        <p:spPr>
          <a:xfrm>
            <a:off x="1181963" y="1488375"/>
            <a:ext cx="2568332" cy="630942"/>
          </a:xfrm>
          <a:prstGeom prst="rect">
            <a:avLst/>
          </a:prstGeom>
          <a:noFill/>
        </p:spPr>
        <p:txBody>
          <a:bodyPr wrap="none" rtlCol="0">
            <a:spAutoFit/>
          </a:bodyPr>
          <a:lstStyle/>
          <a:p>
            <a:pPr algn="ctr"/>
            <a:r>
              <a:rPr lang="en-US" sz="2400" b="1">
                <a:solidFill>
                  <a:srgbClr val="6087CE"/>
                </a:solidFill>
              </a:rPr>
              <a:t>Early Stage</a:t>
            </a:r>
          </a:p>
          <a:p>
            <a:pPr algn="ctr"/>
            <a:r>
              <a:rPr lang="en-US" sz="1100">
                <a:solidFill>
                  <a:srgbClr val="6087CE"/>
                </a:solidFill>
              </a:rPr>
              <a:t>Gaining Name Recognition, Early Growth</a:t>
            </a:r>
          </a:p>
        </p:txBody>
      </p:sp>
      <p:sp>
        <p:nvSpPr>
          <p:cNvPr id="30" name="TextBox 6">
            <a:extLst>
              <a:ext uri="{FF2B5EF4-FFF2-40B4-BE49-F238E27FC236}">
                <a16:creationId xmlns:a16="http://schemas.microsoft.com/office/drawing/2014/main" id="{E8032F9F-BC56-5E51-C846-154C8342817C}"/>
              </a:ext>
            </a:extLst>
          </p:cNvPr>
          <p:cNvSpPr txBox="1"/>
          <p:nvPr/>
        </p:nvSpPr>
        <p:spPr>
          <a:xfrm>
            <a:off x="744819" y="2145301"/>
            <a:ext cx="1624165" cy="307777"/>
          </a:xfrm>
          <a:prstGeom prst="rect">
            <a:avLst/>
          </a:prstGeom>
          <a:noFill/>
        </p:spPr>
        <p:txBody>
          <a:bodyPr wrap="square">
            <a:spAutoFit/>
          </a:bodyPr>
          <a:lstStyle/>
          <a:p>
            <a:pPr algn="ctr"/>
            <a:r>
              <a:rPr lang="en-US" sz="1400">
                <a:solidFill>
                  <a:srgbClr val="6087CE"/>
                </a:solidFill>
              </a:rPr>
              <a:t>New Revenue:</a:t>
            </a:r>
          </a:p>
        </p:txBody>
      </p:sp>
      <p:sp>
        <p:nvSpPr>
          <p:cNvPr id="31" name="TextBox 7">
            <a:extLst>
              <a:ext uri="{FF2B5EF4-FFF2-40B4-BE49-F238E27FC236}">
                <a16:creationId xmlns:a16="http://schemas.microsoft.com/office/drawing/2014/main" id="{1340B2FD-9906-57EB-9B08-81E1DC7562B6}"/>
              </a:ext>
            </a:extLst>
          </p:cNvPr>
          <p:cNvSpPr txBox="1"/>
          <p:nvPr/>
        </p:nvSpPr>
        <p:spPr>
          <a:xfrm>
            <a:off x="2829043" y="2145301"/>
            <a:ext cx="1118086" cy="307777"/>
          </a:xfrm>
          <a:prstGeom prst="rect">
            <a:avLst/>
          </a:prstGeom>
          <a:noFill/>
        </p:spPr>
        <p:txBody>
          <a:bodyPr wrap="square">
            <a:spAutoFit/>
          </a:bodyPr>
          <a:lstStyle/>
          <a:p>
            <a:pPr algn="ctr"/>
            <a:r>
              <a:rPr lang="en-US" sz="1400">
                <a:solidFill>
                  <a:srgbClr val="6087CE"/>
                </a:solidFill>
              </a:rPr>
              <a:t>New Profit:</a:t>
            </a:r>
          </a:p>
        </p:txBody>
      </p:sp>
      <p:sp>
        <p:nvSpPr>
          <p:cNvPr id="32" name="TextBox 9">
            <a:extLst>
              <a:ext uri="{FF2B5EF4-FFF2-40B4-BE49-F238E27FC236}">
                <a16:creationId xmlns:a16="http://schemas.microsoft.com/office/drawing/2014/main" id="{F61998E4-A091-9A02-A06F-1661F6FCECE6}"/>
              </a:ext>
            </a:extLst>
          </p:cNvPr>
          <p:cNvSpPr txBox="1"/>
          <p:nvPr/>
        </p:nvSpPr>
        <p:spPr>
          <a:xfrm>
            <a:off x="738534" y="2391026"/>
            <a:ext cx="1588535" cy="400110"/>
          </a:xfrm>
          <a:prstGeom prst="rect">
            <a:avLst/>
          </a:prstGeom>
          <a:noFill/>
        </p:spPr>
        <p:txBody>
          <a:bodyPr wrap="square">
            <a:spAutoFit/>
          </a:bodyPr>
          <a:lstStyle/>
          <a:p>
            <a:pPr algn="ctr"/>
            <a:r>
              <a:rPr lang="en-US" sz="2000" b="1">
                <a:solidFill>
                  <a:srgbClr val="6087CE"/>
                </a:solidFill>
              </a:rPr>
              <a:t>$35.58M</a:t>
            </a:r>
            <a:endParaRPr lang="en-US" sz="2000"/>
          </a:p>
        </p:txBody>
      </p:sp>
      <p:sp>
        <p:nvSpPr>
          <p:cNvPr id="33" name="TextBox 14">
            <a:extLst>
              <a:ext uri="{FF2B5EF4-FFF2-40B4-BE49-F238E27FC236}">
                <a16:creationId xmlns:a16="http://schemas.microsoft.com/office/drawing/2014/main" id="{8F16AF3A-6121-23ED-A817-28C68DDDAA71}"/>
              </a:ext>
            </a:extLst>
          </p:cNvPr>
          <p:cNvSpPr txBox="1"/>
          <p:nvPr/>
        </p:nvSpPr>
        <p:spPr>
          <a:xfrm>
            <a:off x="2532083" y="2391026"/>
            <a:ext cx="1588535" cy="400110"/>
          </a:xfrm>
          <a:prstGeom prst="rect">
            <a:avLst/>
          </a:prstGeom>
          <a:noFill/>
        </p:spPr>
        <p:txBody>
          <a:bodyPr wrap="square">
            <a:spAutoFit/>
          </a:bodyPr>
          <a:lstStyle/>
          <a:p>
            <a:pPr algn="ctr"/>
            <a:r>
              <a:rPr lang="en-US" sz="2000" b="1">
                <a:solidFill>
                  <a:srgbClr val="6087CE"/>
                </a:solidFill>
              </a:rPr>
              <a:t>$9.19M</a:t>
            </a:r>
            <a:endParaRPr lang="en-US" sz="2000"/>
          </a:p>
        </p:txBody>
      </p:sp>
      <p:sp>
        <p:nvSpPr>
          <p:cNvPr id="34" name="TextBox 15">
            <a:extLst>
              <a:ext uri="{FF2B5EF4-FFF2-40B4-BE49-F238E27FC236}">
                <a16:creationId xmlns:a16="http://schemas.microsoft.com/office/drawing/2014/main" id="{FAD97482-04D6-027F-DABE-EA7C8162A31D}"/>
              </a:ext>
            </a:extLst>
          </p:cNvPr>
          <p:cNvSpPr txBox="1"/>
          <p:nvPr/>
        </p:nvSpPr>
        <p:spPr>
          <a:xfrm>
            <a:off x="1390964" y="3002791"/>
            <a:ext cx="2132315" cy="630942"/>
          </a:xfrm>
          <a:prstGeom prst="rect">
            <a:avLst/>
          </a:prstGeom>
          <a:noFill/>
        </p:spPr>
        <p:txBody>
          <a:bodyPr wrap="none" rtlCol="0">
            <a:spAutoFit/>
          </a:bodyPr>
          <a:lstStyle/>
          <a:p>
            <a:pPr algn="ctr"/>
            <a:r>
              <a:rPr lang="en-US" sz="2400" b="1">
                <a:solidFill>
                  <a:srgbClr val="2F5597"/>
                </a:solidFill>
              </a:rPr>
              <a:t>Growth Stage</a:t>
            </a:r>
          </a:p>
          <a:p>
            <a:pPr algn="ctr"/>
            <a:r>
              <a:rPr lang="en-US" sz="1100">
                <a:solidFill>
                  <a:srgbClr val="2F5597"/>
                </a:solidFill>
              </a:rPr>
              <a:t>Strong Reputation, Strong Growth</a:t>
            </a:r>
          </a:p>
        </p:txBody>
      </p:sp>
      <p:sp>
        <p:nvSpPr>
          <p:cNvPr id="35" name="TextBox 16">
            <a:extLst>
              <a:ext uri="{FF2B5EF4-FFF2-40B4-BE49-F238E27FC236}">
                <a16:creationId xmlns:a16="http://schemas.microsoft.com/office/drawing/2014/main" id="{C3D00C6E-81A6-E254-098F-CC3B7A7827FA}"/>
              </a:ext>
            </a:extLst>
          </p:cNvPr>
          <p:cNvSpPr txBox="1"/>
          <p:nvPr/>
        </p:nvSpPr>
        <p:spPr>
          <a:xfrm>
            <a:off x="735810" y="3659717"/>
            <a:ext cx="1624165" cy="307777"/>
          </a:xfrm>
          <a:prstGeom prst="rect">
            <a:avLst/>
          </a:prstGeom>
          <a:noFill/>
        </p:spPr>
        <p:txBody>
          <a:bodyPr wrap="square">
            <a:spAutoFit/>
          </a:bodyPr>
          <a:lstStyle/>
          <a:p>
            <a:pPr algn="ctr"/>
            <a:r>
              <a:rPr lang="en-US" sz="1400">
                <a:solidFill>
                  <a:srgbClr val="2F5597"/>
                </a:solidFill>
              </a:rPr>
              <a:t>New Revenue:</a:t>
            </a:r>
          </a:p>
        </p:txBody>
      </p:sp>
      <p:sp>
        <p:nvSpPr>
          <p:cNvPr id="36" name="TextBox 17">
            <a:extLst>
              <a:ext uri="{FF2B5EF4-FFF2-40B4-BE49-F238E27FC236}">
                <a16:creationId xmlns:a16="http://schemas.microsoft.com/office/drawing/2014/main" id="{928DDA6A-8FEF-13B2-74A3-8C8AE212B792}"/>
              </a:ext>
            </a:extLst>
          </p:cNvPr>
          <p:cNvSpPr txBox="1"/>
          <p:nvPr/>
        </p:nvSpPr>
        <p:spPr>
          <a:xfrm>
            <a:off x="2820034" y="3659717"/>
            <a:ext cx="1118086" cy="307777"/>
          </a:xfrm>
          <a:prstGeom prst="rect">
            <a:avLst/>
          </a:prstGeom>
          <a:noFill/>
        </p:spPr>
        <p:txBody>
          <a:bodyPr wrap="square">
            <a:spAutoFit/>
          </a:bodyPr>
          <a:lstStyle/>
          <a:p>
            <a:pPr algn="ctr"/>
            <a:r>
              <a:rPr lang="en-US" sz="1400">
                <a:solidFill>
                  <a:srgbClr val="2F5597"/>
                </a:solidFill>
              </a:rPr>
              <a:t>New Profit:</a:t>
            </a:r>
          </a:p>
        </p:txBody>
      </p:sp>
      <p:sp>
        <p:nvSpPr>
          <p:cNvPr id="37" name="TextBox 20">
            <a:extLst>
              <a:ext uri="{FF2B5EF4-FFF2-40B4-BE49-F238E27FC236}">
                <a16:creationId xmlns:a16="http://schemas.microsoft.com/office/drawing/2014/main" id="{1609746C-CB0E-F9B1-11BB-0AAAC7F98B3C}"/>
              </a:ext>
            </a:extLst>
          </p:cNvPr>
          <p:cNvSpPr txBox="1"/>
          <p:nvPr/>
        </p:nvSpPr>
        <p:spPr>
          <a:xfrm>
            <a:off x="729525" y="3905442"/>
            <a:ext cx="1588535" cy="400110"/>
          </a:xfrm>
          <a:prstGeom prst="rect">
            <a:avLst/>
          </a:prstGeom>
          <a:noFill/>
        </p:spPr>
        <p:txBody>
          <a:bodyPr wrap="square">
            <a:spAutoFit/>
          </a:bodyPr>
          <a:lstStyle/>
          <a:p>
            <a:pPr algn="ctr"/>
            <a:r>
              <a:rPr lang="en-US" sz="2000" b="1">
                <a:solidFill>
                  <a:srgbClr val="2F5597"/>
                </a:solidFill>
              </a:rPr>
              <a:t>$211.65M</a:t>
            </a:r>
            <a:endParaRPr lang="en-US" sz="2000">
              <a:solidFill>
                <a:srgbClr val="2F5597"/>
              </a:solidFill>
            </a:endParaRPr>
          </a:p>
        </p:txBody>
      </p:sp>
      <p:sp>
        <p:nvSpPr>
          <p:cNvPr id="38" name="TextBox 21">
            <a:extLst>
              <a:ext uri="{FF2B5EF4-FFF2-40B4-BE49-F238E27FC236}">
                <a16:creationId xmlns:a16="http://schemas.microsoft.com/office/drawing/2014/main" id="{0642934E-B4B9-E1C2-23A6-05834596C6B0}"/>
              </a:ext>
            </a:extLst>
          </p:cNvPr>
          <p:cNvSpPr txBox="1"/>
          <p:nvPr/>
        </p:nvSpPr>
        <p:spPr>
          <a:xfrm>
            <a:off x="2523074" y="3905442"/>
            <a:ext cx="1588535" cy="400110"/>
          </a:xfrm>
          <a:prstGeom prst="rect">
            <a:avLst/>
          </a:prstGeom>
          <a:noFill/>
        </p:spPr>
        <p:txBody>
          <a:bodyPr wrap="square">
            <a:spAutoFit/>
          </a:bodyPr>
          <a:lstStyle/>
          <a:p>
            <a:pPr algn="ctr"/>
            <a:r>
              <a:rPr lang="en-US" sz="2000" b="1">
                <a:solidFill>
                  <a:srgbClr val="2F5597"/>
                </a:solidFill>
              </a:rPr>
              <a:t>$55.59M</a:t>
            </a:r>
            <a:endParaRPr lang="en-US" sz="2000">
              <a:solidFill>
                <a:srgbClr val="2F5597"/>
              </a:solidFill>
            </a:endParaRPr>
          </a:p>
        </p:txBody>
      </p:sp>
      <p:sp>
        <p:nvSpPr>
          <p:cNvPr id="39" name="TextBox 22">
            <a:extLst>
              <a:ext uri="{FF2B5EF4-FFF2-40B4-BE49-F238E27FC236}">
                <a16:creationId xmlns:a16="http://schemas.microsoft.com/office/drawing/2014/main" id="{6532EFC0-F3D1-25E9-D319-CC4178BE4D19}"/>
              </a:ext>
            </a:extLst>
          </p:cNvPr>
          <p:cNvSpPr txBox="1"/>
          <p:nvPr/>
        </p:nvSpPr>
        <p:spPr>
          <a:xfrm>
            <a:off x="1339058" y="4623358"/>
            <a:ext cx="2254143" cy="630942"/>
          </a:xfrm>
          <a:prstGeom prst="rect">
            <a:avLst/>
          </a:prstGeom>
          <a:noFill/>
        </p:spPr>
        <p:txBody>
          <a:bodyPr wrap="none" rtlCol="0">
            <a:spAutoFit/>
          </a:bodyPr>
          <a:lstStyle/>
          <a:p>
            <a:pPr algn="ctr"/>
            <a:r>
              <a:rPr lang="en-US" sz="2400" b="1">
                <a:solidFill>
                  <a:srgbClr val="2F5597"/>
                </a:solidFill>
              </a:rPr>
              <a:t>Mature Stage</a:t>
            </a:r>
          </a:p>
          <a:p>
            <a:pPr algn="ctr"/>
            <a:r>
              <a:rPr lang="en-US" sz="1100">
                <a:solidFill>
                  <a:srgbClr val="2F5597"/>
                </a:solidFill>
              </a:rPr>
              <a:t>High Profitability, Market Saturation</a:t>
            </a:r>
          </a:p>
        </p:txBody>
      </p:sp>
      <p:sp>
        <p:nvSpPr>
          <p:cNvPr id="40" name="TextBox 23">
            <a:extLst>
              <a:ext uri="{FF2B5EF4-FFF2-40B4-BE49-F238E27FC236}">
                <a16:creationId xmlns:a16="http://schemas.microsoft.com/office/drawing/2014/main" id="{30A9F413-ED0D-E9AB-8054-F5810DE9B2BE}"/>
              </a:ext>
            </a:extLst>
          </p:cNvPr>
          <p:cNvSpPr txBox="1"/>
          <p:nvPr/>
        </p:nvSpPr>
        <p:spPr>
          <a:xfrm>
            <a:off x="744819" y="5280284"/>
            <a:ext cx="1624165" cy="307777"/>
          </a:xfrm>
          <a:prstGeom prst="rect">
            <a:avLst/>
          </a:prstGeom>
          <a:noFill/>
        </p:spPr>
        <p:txBody>
          <a:bodyPr wrap="square">
            <a:spAutoFit/>
          </a:bodyPr>
          <a:lstStyle/>
          <a:p>
            <a:pPr algn="ctr"/>
            <a:r>
              <a:rPr lang="en-US" sz="1400">
                <a:solidFill>
                  <a:srgbClr val="2F5597"/>
                </a:solidFill>
              </a:rPr>
              <a:t>New Revenue:</a:t>
            </a:r>
          </a:p>
        </p:txBody>
      </p:sp>
      <p:sp>
        <p:nvSpPr>
          <p:cNvPr id="41" name="TextBox 24">
            <a:extLst>
              <a:ext uri="{FF2B5EF4-FFF2-40B4-BE49-F238E27FC236}">
                <a16:creationId xmlns:a16="http://schemas.microsoft.com/office/drawing/2014/main" id="{3C9C61C2-4527-A00B-FEA1-07EEB8D2156D}"/>
              </a:ext>
            </a:extLst>
          </p:cNvPr>
          <p:cNvSpPr txBox="1"/>
          <p:nvPr/>
        </p:nvSpPr>
        <p:spPr>
          <a:xfrm>
            <a:off x="2829043" y="5280284"/>
            <a:ext cx="1118086" cy="307777"/>
          </a:xfrm>
          <a:prstGeom prst="rect">
            <a:avLst/>
          </a:prstGeom>
          <a:noFill/>
        </p:spPr>
        <p:txBody>
          <a:bodyPr wrap="square">
            <a:spAutoFit/>
          </a:bodyPr>
          <a:lstStyle/>
          <a:p>
            <a:pPr algn="ctr"/>
            <a:r>
              <a:rPr lang="en-US" sz="1400">
                <a:solidFill>
                  <a:srgbClr val="2F5597"/>
                </a:solidFill>
              </a:rPr>
              <a:t>New Profit:</a:t>
            </a:r>
          </a:p>
        </p:txBody>
      </p:sp>
      <p:sp>
        <p:nvSpPr>
          <p:cNvPr id="42" name="TextBox 25">
            <a:extLst>
              <a:ext uri="{FF2B5EF4-FFF2-40B4-BE49-F238E27FC236}">
                <a16:creationId xmlns:a16="http://schemas.microsoft.com/office/drawing/2014/main" id="{708E5B65-A8FC-320C-D0DF-CFD5CEA7FD9A}"/>
              </a:ext>
            </a:extLst>
          </p:cNvPr>
          <p:cNvSpPr txBox="1"/>
          <p:nvPr/>
        </p:nvSpPr>
        <p:spPr>
          <a:xfrm>
            <a:off x="738534" y="5526009"/>
            <a:ext cx="1588535" cy="400110"/>
          </a:xfrm>
          <a:prstGeom prst="rect">
            <a:avLst/>
          </a:prstGeom>
          <a:noFill/>
        </p:spPr>
        <p:txBody>
          <a:bodyPr wrap="square">
            <a:spAutoFit/>
          </a:bodyPr>
          <a:lstStyle/>
          <a:p>
            <a:pPr algn="ctr"/>
            <a:r>
              <a:rPr lang="en-US" sz="2000" b="1">
                <a:solidFill>
                  <a:srgbClr val="2F5597"/>
                </a:solidFill>
              </a:rPr>
              <a:t>$432.48M</a:t>
            </a:r>
            <a:endParaRPr lang="en-US" sz="2000">
              <a:solidFill>
                <a:srgbClr val="2F5597"/>
              </a:solidFill>
            </a:endParaRPr>
          </a:p>
        </p:txBody>
      </p:sp>
      <p:sp>
        <p:nvSpPr>
          <p:cNvPr id="43" name="TextBox 26">
            <a:extLst>
              <a:ext uri="{FF2B5EF4-FFF2-40B4-BE49-F238E27FC236}">
                <a16:creationId xmlns:a16="http://schemas.microsoft.com/office/drawing/2014/main" id="{94A50F08-6F56-D7AF-F993-A6FA997811DA}"/>
              </a:ext>
            </a:extLst>
          </p:cNvPr>
          <p:cNvSpPr txBox="1"/>
          <p:nvPr/>
        </p:nvSpPr>
        <p:spPr>
          <a:xfrm>
            <a:off x="2532083" y="5526009"/>
            <a:ext cx="1588535" cy="400110"/>
          </a:xfrm>
          <a:prstGeom prst="rect">
            <a:avLst/>
          </a:prstGeom>
          <a:noFill/>
        </p:spPr>
        <p:txBody>
          <a:bodyPr wrap="square">
            <a:spAutoFit/>
          </a:bodyPr>
          <a:lstStyle/>
          <a:p>
            <a:pPr algn="ctr"/>
            <a:r>
              <a:rPr lang="en-US" sz="2000" b="1">
                <a:solidFill>
                  <a:srgbClr val="2F5597"/>
                </a:solidFill>
              </a:rPr>
              <a:t>$113.67M</a:t>
            </a:r>
            <a:endParaRPr lang="en-US" sz="2000">
              <a:solidFill>
                <a:srgbClr val="2F5597"/>
              </a:solidFill>
            </a:endParaRPr>
          </a:p>
        </p:txBody>
      </p:sp>
      <p:pic>
        <p:nvPicPr>
          <p:cNvPr id="44" name="Content Placeholder 24">
            <a:extLst>
              <a:ext uri="{FF2B5EF4-FFF2-40B4-BE49-F238E27FC236}">
                <a16:creationId xmlns:a16="http://schemas.microsoft.com/office/drawing/2014/main" id="{CB15B52B-7A6E-19D4-F5E4-A2B13AE6EF25}"/>
              </a:ext>
            </a:extLst>
          </p:cNvPr>
          <p:cNvPicPr>
            <a:picLocks/>
          </p:cNvPicPr>
          <p:nvPr/>
        </p:nvPicPr>
        <p:blipFill>
          <a:blip r:embed="rId4" cstate="print"/>
          <a:stretch>
            <a:fillRect/>
          </a:stretch>
        </p:blipFill>
        <p:spPr>
          <a:xfrm>
            <a:off x="4687757" y="1323605"/>
            <a:ext cx="6364224" cy="4773168"/>
          </a:xfrm>
          <a:prstGeom prst="rect">
            <a:avLst/>
          </a:prstGeom>
        </p:spPr>
      </p:pic>
      <p:sp>
        <p:nvSpPr>
          <p:cNvPr id="2" name="Slide Number Placeholder 4">
            <a:extLst>
              <a:ext uri="{FF2B5EF4-FFF2-40B4-BE49-F238E27FC236}">
                <a16:creationId xmlns:a16="http://schemas.microsoft.com/office/drawing/2014/main" id="{358D3D1C-8848-EC63-22DF-42D83F326C80}"/>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13</a:t>
            </a:fld>
            <a:endParaRPr lang="en-US">
              <a:solidFill>
                <a:prstClr val="black">
                  <a:tint val="75000"/>
                </a:prstClr>
              </a:solidFill>
            </a:endParaRPr>
          </a:p>
        </p:txBody>
      </p:sp>
    </p:spTree>
    <p:extLst>
      <p:ext uri="{BB962C8B-B14F-4D97-AF65-F5344CB8AC3E}">
        <p14:creationId xmlns:p14="http://schemas.microsoft.com/office/powerpoint/2010/main" val="4294051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26E30EB-BEDD-4E13-5E8C-B6901CADE680}"/>
              </a:ext>
            </a:extLst>
          </p:cNvPr>
          <p:cNvPicPr>
            <a:picLocks noChangeAspect="1"/>
          </p:cNvPicPr>
          <p:nvPr/>
        </p:nvPicPr>
        <p:blipFill>
          <a:blip r:embed="rId4"/>
          <a:srcRect b="6103"/>
          <a:stretch/>
        </p:blipFill>
        <p:spPr>
          <a:xfrm>
            <a:off x="505920" y="0"/>
            <a:ext cx="11686080" cy="6858000"/>
          </a:xfrm>
          <a:prstGeom prst="rect">
            <a:avLst/>
          </a:prstGeom>
        </p:spPr>
      </p:pic>
      <p:sp>
        <p:nvSpPr>
          <p:cNvPr id="7" name="Rectangle 6">
            <a:extLst>
              <a:ext uri="{FF2B5EF4-FFF2-40B4-BE49-F238E27FC236}">
                <a16:creationId xmlns:a16="http://schemas.microsoft.com/office/drawing/2014/main" id="{F9EC7B3B-F0EA-B13C-D815-1424EEAA8F1E}"/>
              </a:ext>
            </a:extLst>
          </p:cNvPr>
          <p:cNvSpPr/>
          <p:nvPr/>
        </p:nvSpPr>
        <p:spPr>
          <a:xfrm>
            <a:off x="505920" y="2609850"/>
            <a:ext cx="11686080" cy="25908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ontserrat" panose="00000500000000000000" pitchFamily="2" charset="0"/>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2852992"/>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effectLst/>
                <a:uLnTx/>
                <a:uFillTx/>
                <a:latin typeface="Montserrat" panose="00000500000000000000" pitchFamily="2" charset="0"/>
                <a:ea typeface="Jost*" pitchFamily="34" charset="-122"/>
                <a:cs typeface="Jost*" pitchFamily="34" charset="-120"/>
              </a:rPr>
              <a:t>UPDATED VERSION:</a:t>
            </a:r>
          </a:p>
          <a:p>
            <a:pPr>
              <a:lnSpc>
                <a:spcPts val="4725"/>
              </a:lnSpc>
              <a:defRPr/>
            </a:pPr>
            <a:r>
              <a:rPr lang="en-US" sz="4500" b="1" kern="0" spc="135" dirty="0">
                <a:latin typeface="Montserrat"/>
                <a:ea typeface="Jost*"/>
              </a:rPr>
              <a:t>PROFITABILITY MODELED AT 42% COMMERCIAL MARGIN</a:t>
            </a:r>
            <a:endParaRPr kumimoji="0" lang="en-US" sz="1800" b="0" i="0" u="none" strike="noStrike" kern="1200" cap="none" spc="0" normalizeH="0" baseline="0" noProof="0" dirty="0">
              <a:ln>
                <a:noFill/>
              </a:ln>
              <a:effectLst/>
              <a:uLnTx/>
              <a:uFillTx/>
              <a:latin typeface="Montserrat"/>
              <a:ea typeface="Jost*"/>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
        <p:nvSpPr>
          <p:cNvPr id="2" name="Slide Number Placeholder 4">
            <a:extLst>
              <a:ext uri="{FF2B5EF4-FFF2-40B4-BE49-F238E27FC236}">
                <a16:creationId xmlns:a16="http://schemas.microsoft.com/office/drawing/2014/main" id="{2B97B254-9EC7-45BA-9B16-6F681ED67175}"/>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14</a:t>
            </a:fld>
            <a:endParaRPr lang="en-US">
              <a:solidFill>
                <a:prstClr val="black">
                  <a:tint val="75000"/>
                </a:prstClr>
              </a:solidFill>
            </a:endParaRPr>
          </a:p>
        </p:txBody>
      </p:sp>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Saint Luke's University Health Network has 39% inpatient market share, and 24% outpatient market compared to hospitals/clinics in the Saint Luke's University Health Network service area (see slide 8).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040969"/>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4993555"/>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4993555"/>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4993555"/>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252408"/>
            <a:ext cx="726481" cy="307777"/>
          </a:xfrm>
          <a:prstGeom prst="rect">
            <a:avLst/>
          </a:prstGeom>
          <a:noFill/>
        </p:spPr>
        <p:txBody>
          <a:bodyPr wrap="none" rtlCol="0">
            <a:spAutoFit/>
          </a:bodyPr>
          <a:lstStyle/>
          <a:p>
            <a:r>
              <a:rPr lang="en-US" sz="1400" dirty="0">
                <a:solidFill/>
                <a:latin typeface="Montserrat" panose="00000500000000000000" pitchFamily="2" charset="0"/>
              </a:rPr>
              <a:t>37%</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264380"/>
            <a:ext cx="792205" cy="307777"/>
          </a:xfrm>
          <a:prstGeom prst="rect">
            <a:avLst/>
          </a:prstGeom>
          <a:noFill/>
        </p:spPr>
        <p:txBody>
          <a:bodyPr wrap="none" rtlCol="0">
            <a:spAutoFit/>
          </a:bodyPr>
          <a:lstStyle/>
          <a:p>
            <a:r>
              <a:rPr lang="en-US" sz="1400" dirty="0">
                <a:solidFill/>
                <a:latin typeface="Montserrat" panose="00000500000000000000" pitchFamily="2" charset="0"/>
              </a:rPr>
              <a:t>42%</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264380"/>
            <a:ext cx="766557" cy="307777"/>
          </a:xfrm>
          <a:prstGeom prst="rect">
            <a:avLst/>
          </a:prstGeom>
          <a:noFill/>
        </p:spPr>
        <p:txBody>
          <a:bodyPr wrap="none" rtlCol="0">
            <a:spAutoFit/>
          </a:bodyPr>
          <a:lstStyle/>
          <a:p>
            <a:r>
              <a:rPr lang="en-US" sz="1400" dirty="0">
                <a:solidFill/>
                <a:latin typeface="Montserrat" panose="00000500000000000000" pitchFamily="2" charset="0"/>
              </a:rPr>
              <a:t>47%</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5" name="Content Placeholder 24"/>
          <p:cNvPicPr>
            <a:picLocks noGrp="1"/>
          </p:cNvPicPr>
          <p:nvPr>
            <p:ph/>
          </p:nvPr>
        </p:nvPicPr>
        <p:blipFill>
          <a:blip r:embed="rId3" cstate="print"/>
          <a:stretch>
            <a:fillRect/>
          </a:stretch>
        </p:blipFill>
        <p:spPr>
          <a:xfrm>
            <a:off x="182880" y="1618488"/>
            <a:ext cx="6382512" cy="4553712"/>
          </a:xfrm>
          <a:prstGeom prst="rect">
            <a:avLst/>
          </a:prstGeom>
        </p:spPr>
      </p:pic>
      <p:sp>
        <p:nvSpPr>
          <p:cNvPr id="26" name="TextBox 24">
            <a:extLst>
              <a:ext uri="{FF2B5EF4-FFF2-40B4-BE49-F238E27FC236}">
                <a16:creationId xmlns:a16="http://schemas.microsoft.com/office/drawing/2014/main" id="{4D973206-6A08-C5FE-6EA7-6CE8D8E1B467}"/>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is utilizing the SLUHN-reported 42% commercial margin for this analysis. </a:t>
            </a:r>
          </a:p>
        </p:txBody>
      </p:sp>
    </p:spTree>
    <p:extLst>
      <p:ext uri="{BB962C8B-B14F-4D97-AF65-F5344CB8AC3E}">
        <p14:creationId xmlns:p14="http://schemas.microsoft.com/office/powerpoint/2010/main" val="3470905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8E41-E61B-CFBD-5104-099AAE16F458}"/>
            </a:ext>
          </a:extLst>
        </p:cNvPr>
        <p:cNvGrpSpPr/>
        <p:nvPr/>
      </p:nvGrpSpPr>
      <p:grpSpPr>
        <a:xfrm>
          <a:off x="0" y="0"/>
          <a:ext cx="0" cy="0"/>
          <a:chOff x="0" y="0"/>
          <a:chExt cx="0" cy="0"/>
        </a:xfrm>
      </p:grpSpPr>
      <p:graphicFrame>
        <p:nvGraphicFramePr>
          <p:cNvPr id="4" name="Table 5">
            <a:extLst>
              <a:ext uri="{FF2B5EF4-FFF2-40B4-BE49-F238E27FC236}">
                <a16:creationId xmlns:a16="http://schemas.microsoft.com/office/drawing/2014/main" id="{B9DA815B-3488-5AF6-9E0D-02A68C6B437D}"/>
              </a:ext>
            </a:extLst>
          </p:cNvPr>
          <p:cNvGraphicFramePr>
            <a:graphicFrameLocks noGrp="1"/>
          </p:cNvGraphicFramePr>
          <p:nvPr>
            <p:extLst>
              <p:ext uri="{D42A27DB-BD31-4B8C-83A1-F6EECF244321}">
                <p14:modId xmlns:p14="http://schemas.microsoft.com/office/powerpoint/2010/main" val="2769883731"/>
              </p:ext>
            </p:extLst>
          </p:nvPr>
        </p:nvGraphicFramePr>
        <p:xfrm>
          <a:off x="418056" y="1035823"/>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a:solidFill>
                            <a:schemeClr val="bg1"/>
                          </a:solidFill>
                          <a:latin typeface="Montserrat" panose="00000500000000000000" pitchFamily="2" charset="0"/>
                        </a:rPr>
                        <a:t>Pre-DTE Cohort of 14,000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20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$ 19,868,940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$ 22,229,760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$ 10,379,040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$ 52,477,740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$ 8,344,955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$ 9,336,499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$ 4,359,197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$ 22,040,651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5" name="Straight Connector 13">
            <a:extLst>
              <a:ext uri="{FF2B5EF4-FFF2-40B4-BE49-F238E27FC236}">
                <a16:creationId xmlns:a16="http://schemas.microsoft.com/office/drawing/2014/main" id="{F37A4AC9-755F-A38C-60D0-4228827F8C2F}"/>
              </a:ext>
            </a:extLst>
          </p:cNvPr>
          <p:cNvCxnSpPr/>
          <p:nvPr/>
        </p:nvCxnSpPr>
        <p:spPr>
          <a:xfrm>
            <a:off x="316454" y="3595275"/>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8B59559E-1AC3-5E3F-5FD4-B3A9E06055FB}"/>
              </a:ext>
            </a:extLst>
          </p:cNvPr>
          <p:cNvGraphicFramePr>
            <a:graphicFrameLocks noGrp="1"/>
          </p:cNvGraphicFramePr>
          <p:nvPr>
            <p:extLst>
              <p:ext uri="{D42A27DB-BD31-4B8C-83A1-F6EECF244321}">
                <p14:modId xmlns:p14="http://schemas.microsoft.com/office/powerpoint/2010/main" val="4177794380"/>
              </p:ext>
            </p:extLst>
          </p:nvPr>
        </p:nvGraphicFramePr>
        <p:xfrm>
          <a:off x="462506" y="3826888"/>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sz="120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$ 29,010,060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20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$ 168,000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20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6">
                              <a:lumMod val="75000"/>
                            </a:schemeClr>
                          </a:solidFill>
                        </a:rPr>
                        <a:t>$ 29,014,860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20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20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200" b="1">
                          <a:latin typeface="Montserrat" panose="00000500000000000000" pitchFamily="2" charset="0"/>
                        </a:rPr>
                        <a:t>Total Margin Change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a:solidFill>
                            <a:schemeClr val="accent6">
                              <a:lumMod val="75000"/>
                            </a:schemeClr>
                          </a:solidFill>
                        </a:rPr>
                        <a:t>$ 28,998,060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7" name="Table 15">
            <a:extLst>
              <a:ext uri="{FF2B5EF4-FFF2-40B4-BE49-F238E27FC236}">
                <a16:creationId xmlns:a16="http://schemas.microsoft.com/office/drawing/2014/main" id="{7F15EE4A-0F0F-3F55-C954-AFAFAC0864EC}"/>
              </a:ext>
            </a:extLst>
          </p:cNvPr>
          <p:cNvGraphicFramePr>
            <a:graphicFrameLocks noGrp="1"/>
          </p:cNvGraphicFramePr>
          <p:nvPr>
            <p:extLst>
              <p:ext uri="{D42A27DB-BD31-4B8C-83A1-F6EECF244321}">
                <p14:modId xmlns:p14="http://schemas.microsoft.com/office/powerpoint/2010/main" val="993908530"/>
              </p:ext>
            </p:extLst>
          </p:nvPr>
        </p:nvGraphicFramePr>
        <p:xfrm>
          <a:off x="418055" y="2505814"/>
          <a:ext cx="6972296" cy="848194"/>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20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$ 36,089,760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$ 58,258,669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$ 27,200,881</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$ 121,549,310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20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$ 15,157,699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$ 24,468,641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$ 11,424,370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a:solidFill>
                            <a:srgbClr val="000000"/>
                          </a:solidFill>
                          <a:effectLst/>
                          <a:latin typeface="Montserrat" panose="00000500000000000000" pitchFamily="2" charset="0"/>
                        </a:rPr>
                        <a:t> $ 51,050,710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8" name="TextBox 1">
            <a:extLst>
              <a:ext uri="{FF2B5EF4-FFF2-40B4-BE49-F238E27FC236}">
                <a16:creationId xmlns:a16="http://schemas.microsoft.com/office/drawing/2014/main" id="{3B6BA9A2-FDA5-7984-7CCC-2D6BCA14068F}"/>
              </a:ext>
            </a:extLst>
          </p:cNvPr>
          <p:cNvSpPr txBox="1"/>
          <p:nvPr/>
        </p:nvSpPr>
        <p:spPr>
          <a:xfrm>
            <a:off x="7752549" y="1224993"/>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Assuming proportional revenues from market shares of 39% (inpatient) and 24% (outpatient)</a:t>
            </a:r>
          </a:p>
        </p:txBody>
      </p:sp>
      <p:sp>
        <p:nvSpPr>
          <p:cNvPr id="9" name="TextBox 2">
            <a:extLst>
              <a:ext uri="{FF2B5EF4-FFF2-40B4-BE49-F238E27FC236}">
                <a16:creationId xmlns:a16="http://schemas.microsoft.com/office/drawing/2014/main" id="{6387EFCF-8C9E-3687-0273-270D90C93F24}"/>
              </a:ext>
            </a:extLst>
          </p:cNvPr>
          <p:cNvSpPr txBox="1"/>
          <p:nvPr/>
        </p:nvSpPr>
        <p:spPr>
          <a:xfrm>
            <a:off x="7752549" y="2072149"/>
            <a:ext cx="4318001" cy="43088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 </a:t>
            </a:r>
            <a:r>
              <a:rPr lang="en-US" sz="1100">
                <a:solidFill/>
                <a:latin typeface="Montserrat" panose="00000500000000000000" pitchFamily="2" charset="0"/>
                <a:cs typeface="Arial" panose="020B0604020202020204" pitchFamily="34" charset="0"/>
              </a:rPr>
              <a:t>Estimating with SLUHN’s reported commercial margin of 42%</a:t>
            </a:r>
            <a:endPar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endParaRPr>
          </a:p>
        </p:txBody>
      </p:sp>
      <p:sp>
        <p:nvSpPr>
          <p:cNvPr id="10" name="TextBox 6">
            <a:extLst>
              <a:ext uri="{FF2B5EF4-FFF2-40B4-BE49-F238E27FC236}">
                <a16:creationId xmlns:a16="http://schemas.microsoft.com/office/drawing/2014/main" id="{B82FAF16-AFFF-02AE-14BC-3C051EFC8D5D}"/>
              </a:ext>
            </a:extLst>
          </p:cNvPr>
          <p:cNvSpPr txBox="1"/>
          <p:nvPr/>
        </p:nvSpPr>
        <p:spPr>
          <a:xfrm>
            <a:off x="7752549" y="2806684"/>
            <a:ext cx="4318001" cy="60016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⁰ Assuming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71% inpatient and 63%  </a:t>
            </a: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market steerage based on KBA narrow network DTE experience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(see previous slide)</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1" name="TextBox 7">
            <a:extLst>
              <a:ext uri="{FF2B5EF4-FFF2-40B4-BE49-F238E27FC236}">
                <a16:creationId xmlns:a16="http://schemas.microsoft.com/office/drawing/2014/main" id="{C339EC3B-03E9-F1BE-4769-E44F047491B8}"/>
              </a:ext>
            </a:extLst>
          </p:cNvPr>
          <p:cNvSpPr txBox="1"/>
          <p:nvPr/>
        </p:nvSpPr>
        <p:spPr>
          <a:xfrm>
            <a:off x="7752548" y="3595275"/>
            <a:ext cx="4318001" cy="1107996"/>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rPr>
              <a:t>* </a:t>
            </a:r>
            <a:r>
              <a:rPr lang="en-US" sz="1100">
                <a:solidFill/>
                <a:latin typeface="Montserrat" panose="00000500000000000000" pitchFamily="2" charset="0"/>
                <a:cs typeface="Arial" panose="020B0604020202020204" pitchFamily="34" charset="0"/>
              </a:rPr>
              <a:t>Estimating with SLUHN’s reported commercial margin of 42%, </a:t>
            </a:r>
            <a:r>
              <a:rPr kumimoji="0" lang="en-US" sz="1100" b="0" i="0" u="none" strike="noStrike" kern="1200" cap="none" spc="0" normalizeH="0" baseline="0" noProof="0">
                <a:ln>
                  <a:noFill/>
                </a:ln>
                <a:solidFill/>
                <a:effectLst/>
                <a:uLnTx/>
                <a:uFillTx/>
                <a:latin typeface="Montserrat" panose="00000500000000000000" pitchFamily="2" charset="0"/>
                <a:ea typeface="+mn-ea"/>
                <a:cs typeface="Arial" panose="020B0604020202020204" pitchFamily="34" charset="0"/>
              </a:rPr>
              <a:t>with a 10 percentage-point reduction to reflect competitive-edge rates and a 10 percentage-point increase due to lower billing costs and higher patient responsibility collections because of the member credit card. </a:t>
            </a: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Arial" panose="020B0604020202020204" pitchFamily="34" charset="0"/>
            </a:endParaRPr>
          </a:p>
        </p:txBody>
      </p:sp>
      <p:sp>
        <p:nvSpPr>
          <p:cNvPr id="12" name="TextBox 8">
            <a:extLst>
              <a:ext uri="{FF2B5EF4-FFF2-40B4-BE49-F238E27FC236}">
                <a16:creationId xmlns:a16="http://schemas.microsoft.com/office/drawing/2014/main" id="{EF2D03D0-E606-DC0D-32FF-8DF4634FF255}"/>
              </a:ext>
            </a:extLst>
          </p:cNvPr>
          <p:cNvSpPr txBox="1"/>
          <p:nvPr/>
        </p:nvSpPr>
        <p:spPr>
          <a:xfrm>
            <a:off x="316454" y="227197"/>
            <a:ext cx="9264075" cy="58477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black"/>
                </a:solidFill>
                <a:effectLst/>
                <a:uLnTx/>
                <a:uFillTx/>
                <a:latin typeface="Montserrat" panose="00000500000000000000" pitchFamily="2" charset="0"/>
                <a:ea typeface="+mn-ea"/>
                <a:cs typeface="Calibri" panose="020F0502020204030204" pitchFamily="34" charset="0"/>
              </a:rPr>
              <a:t>YEAR 4 PROJECTED REVENUE AND PROFIT</a:t>
            </a:r>
          </a:p>
        </p:txBody>
      </p:sp>
      <p:pic>
        <p:nvPicPr>
          <p:cNvPr id="13" name="Picture 12">
            <a:extLst>
              <a:ext uri="{FF2B5EF4-FFF2-40B4-BE49-F238E27FC236}">
                <a16:creationId xmlns:a16="http://schemas.microsoft.com/office/drawing/2014/main" id="{7AE9CDD9-F661-747E-B0A7-5F42454C2264}"/>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4" name="Freeform 13">
            <a:extLst>
              <a:ext uri="{FF2B5EF4-FFF2-40B4-BE49-F238E27FC236}">
                <a16:creationId xmlns:a16="http://schemas.microsoft.com/office/drawing/2014/main" id="{221EC100-C5C2-3850-1F8B-EF44392CD027}"/>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Slide Number Placeholder 4">
            <a:extLst>
              <a:ext uri="{FF2B5EF4-FFF2-40B4-BE49-F238E27FC236}">
                <a16:creationId xmlns:a16="http://schemas.microsoft.com/office/drawing/2014/main" id="{F0848C20-007D-1C8A-63A5-ACA667A4C688}"/>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16</a:t>
            </a:fld>
            <a:endParaRPr lang="en-US">
              <a:solidFill>
                <a:prstClr val="black">
                  <a:tint val="75000"/>
                </a:prstClr>
              </a:solidFill>
            </a:endParaRPr>
          </a:p>
        </p:txBody>
      </p:sp>
    </p:spTree>
    <p:extLst>
      <p:ext uri="{BB962C8B-B14F-4D97-AF65-F5344CB8AC3E}">
        <p14:creationId xmlns:p14="http://schemas.microsoft.com/office/powerpoint/2010/main" val="1848128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6C56B-4E06-ACF4-CB9D-57C5C7044686}"/>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F31B421-803D-783C-996A-705B35C3EBCB}"/>
              </a:ext>
            </a:extLst>
          </p:cNvPr>
          <p:cNvGraphicFramePr>
            <a:graphicFrameLocks noGrp="1"/>
          </p:cNvGraphicFramePr>
          <p:nvPr>
            <p:extLst>
              <p:ext uri="{D42A27DB-BD31-4B8C-83A1-F6EECF244321}">
                <p14:modId xmlns:p14="http://schemas.microsoft.com/office/powerpoint/2010/main" val="784281367"/>
              </p:ext>
            </p:extLst>
          </p:nvPr>
        </p:nvGraphicFramePr>
        <p:xfrm>
          <a:off x="5751576" y="20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5,600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4,687.4K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9,369.0K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18,093.8K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29,178.1K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33.6K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168.0K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4,391.0K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9,256.2K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18,025.4K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29,166.1K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3" name="Table 2">
            <a:extLst>
              <a:ext uri="{FF2B5EF4-FFF2-40B4-BE49-F238E27FC236}">
                <a16:creationId xmlns:a16="http://schemas.microsoft.com/office/drawing/2014/main" id="{F176E5B1-18BF-9D7D-627E-37C3838D5E78}"/>
              </a:ext>
            </a:extLst>
          </p:cNvPr>
          <p:cNvGraphicFramePr>
            <a:graphicFrameLocks noGrp="1"/>
          </p:cNvGraphicFramePr>
          <p:nvPr>
            <p:extLst>
              <p:ext uri="{D42A27DB-BD31-4B8C-83A1-F6EECF244321}">
                <p14:modId xmlns:p14="http://schemas.microsoft.com/office/powerpoint/2010/main" val="2940163155"/>
              </p:ext>
            </p:extLst>
          </p:nvPr>
        </p:nvGraphicFramePr>
        <p:xfrm>
          <a:off x="5751576" y="2306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12,400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6,361.5K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12,547.8K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24,125.0K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38,765.1K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148.8K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6,077.1K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12,457.8K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24,093.8K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38,808.3K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4" name="Table 3">
            <a:extLst>
              <a:ext uri="{FF2B5EF4-FFF2-40B4-BE49-F238E27FC236}">
                <a16:creationId xmlns:a16="http://schemas.microsoft.com/office/drawing/2014/main" id="{0BC51C5C-4428-6CE3-D9AA-0661AC6D900E}"/>
              </a:ext>
            </a:extLst>
          </p:cNvPr>
          <p:cNvGraphicFramePr>
            <a:graphicFrameLocks noGrp="1"/>
          </p:cNvGraphicFramePr>
          <p:nvPr>
            <p:extLst>
              <p:ext uri="{D42A27DB-BD31-4B8C-83A1-F6EECF244321}">
                <p14:modId xmlns:p14="http://schemas.microsoft.com/office/powerpoint/2010/main" val="2651515388"/>
              </p:ext>
            </p:extLst>
          </p:nvPr>
        </p:nvGraphicFramePr>
        <p:xfrm>
          <a:off x="5751576" y="459232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panose="00000500000000000000" pitchFamily="2" charset="0"/>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9,300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3,180.7K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6,357.6K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12,062.5K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19,382.6K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22.8K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45.6K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74.4K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111.6K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panose="00000500000000000000" pitchFamily="2" charset="0"/>
                          <a:cs typeface="Arial"/>
                          <a:sym typeface="Arial"/>
                        </a:rPr>
                        <a:t>-180.0K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2,873.5K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6,223.2K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11,956.9K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panose="00000500000000000000" pitchFamily="2" charset="0"/>
                          <a:cs typeface="Arial"/>
                          <a:sym typeface="Arial"/>
                        </a:rPr>
                        <a:t>19,314.2K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5" name="Content Placeholder 6">
            <a:extLst>
              <a:ext uri="{FF2B5EF4-FFF2-40B4-BE49-F238E27FC236}">
                <a16:creationId xmlns:a16="http://schemas.microsoft.com/office/drawing/2014/main" id="{2749AB45-407B-FB06-5620-6D1765BA5AB4}"/>
              </a:ext>
            </a:extLst>
          </p:cNvPr>
          <p:cNvPicPr>
            <a:picLocks/>
          </p:cNvPicPr>
          <p:nvPr/>
        </p:nvPicPr>
        <p:blipFill>
          <a:blip r:embed="rId2" cstate="print"/>
          <a:stretch>
            <a:fillRect/>
          </a:stretch>
        </p:blipFill>
        <p:spPr>
          <a:xfrm>
            <a:off x="795528" y="20320"/>
            <a:ext cx="4572000" cy="6858000"/>
          </a:xfrm>
          <a:prstGeom prst="rect">
            <a:avLst/>
          </a:prstGeom>
        </p:spPr>
      </p:pic>
      <p:sp>
        <p:nvSpPr>
          <p:cNvPr id="6" name="Slide Number Placeholder 4">
            <a:extLst>
              <a:ext uri="{FF2B5EF4-FFF2-40B4-BE49-F238E27FC236}">
                <a16:creationId xmlns:a16="http://schemas.microsoft.com/office/drawing/2014/main" id="{4471136D-EC89-6AE2-76B2-A35C8453029C}"/>
              </a:ext>
            </a:extLst>
          </p:cNvPr>
          <p:cNvSpPr txBox="1">
            <a:spLocks/>
          </p:cNvSpPr>
          <p:nvPr/>
        </p:nvSpPr>
        <p:spPr>
          <a:xfrm>
            <a:off x="494220" y="6429672"/>
            <a:ext cx="2743200" cy="25038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z="1200" smtClean="0">
                <a:solidFill>
                  <a:prstClr val="black">
                    <a:tint val="75000"/>
                  </a:prstClr>
                </a:solidFill>
              </a:rPr>
              <a:pPr>
                <a:defRPr/>
              </a:pPr>
              <a:t>17</a:t>
            </a:fld>
            <a:endParaRPr lang="en-US" sz="1200">
              <a:solidFill>
                <a:prstClr val="black">
                  <a:tint val="75000"/>
                </a:prstClr>
              </a:solidFill>
            </a:endParaRPr>
          </a:p>
        </p:txBody>
      </p:sp>
    </p:spTree>
    <p:extLst>
      <p:ext uri="{BB962C8B-B14F-4D97-AF65-F5344CB8AC3E}">
        <p14:creationId xmlns:p14="http://schemas.microsoft.com/office/powerpoint/2010/main" val="2673992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A7DAE-AABA-85D6-E229-C72DFCF83AD9}"/>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68134F-EA0E-D9DC-6B6B-DE91613600FA}"/>
              </a:ext>
            </a:extLst>
          </p:cNvPr>
          <p:cNvSpPr>
            <a:spLocks noGrp="1"/>
          </p:cNvSpPr>
          <p:nvPr>
            <p:ph type="title"/>
          </p:nvPr>
        </p:nvSpPr>
        <p:spPr>
          <a:xfrm>
            <a:off x="295590" y="144962"/>
            <a:ext cx="11431354" cy="979057"/>
          </a:xfrm>
        </p:spPr>
        <p:txBody>
          <a:bodyPr>
            <a:normAutofit/>
          </a:bodyPr>
          <a:lstStyle/>
          <a:p>
            <a:r>
              <a:rPr lang="en-US" sz="3200" b="0"/>
              <a:t>GROWING POWERFUL, LASTING PROFITABILITY</a:t>
            </a:r>
          </a:p>
        </p:txBody>
      </p:sp>
      <p:pic>
        <p:nvPicPr>
          <p:cNvPr id="26" name="Picture 25">
            <a:extLst>
              <a:ext uri="{FF2B5EF4-FFF2-40B4-BE49-F238E27FC236}">
                <a16:creationId xmlns:a16="http://schemas.microsoft.com/office/drawing/2014/main" id="{E9E3FA8B-7608-28BD-C149-F93F2A9D0C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7" name="Freeform 13">
            <a:extLst>
              <a:ext uri="{FF2B5EF4-FFF2-40B4-BE49-F238E27FC236}">
                <a16:creationId xmlns:a16="http://schemas.microsoft.com/office/drawing/2014/main" id="{9D68993D-3A26-9590-A5C6-A2C7A78CB4C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2" name="Rectangle 10">
            <a:extLst>
              <a:ext uri="{FF2B5EF4-FFF2-40B4-BE49-F238E27FC236}">
                <a16:creationId xmlns:a16="http://schemas.microsoft.com/office/drawing/2014/main" id="{DFE855E9-C36E-9D9E-52A4-0756F2D3F077}"/>
              </a:ext>
            </a:extLst>
          </p:cNvPr>
          <p:cNvSpPr/>
          <p:nvPr/>
        </p:nvSpPr>
        <p:spPr>
          <a:xfrm>
            <a:off x="5371484" y="1671479"/>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1">
            <a:extLst>
              <a:ext uri="{FF2B5EF4-FFF2-40B4-BE49-F238E27FC236}">
                <a16:creationId xmlns:a16="http://schemas.microsoft.com/office/drawing/2014/main" id="{C65FCAD0-839D-09EF-2DA1-B94E8261EABD}"/>
              </a:ext>
            </a:extLst>
          </p:cNvPr>
          <p:cNvSpPr/>
          <p:nvPr/>
        </p:nvSpPr>
        <p:spPr>
          <a:xfrm>
            <a:off x="7286217" y="1671477"/>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
            <a:extLst>
              <a:ext uri="{FF2B5EF4-FFF2-40B4-BE49-F238E27FC236}">
                <a16:creationId xmlns:a16="http://schemas.microsoft.com/office/drawing/2014/main" id="{E7D98C4A-7125-B150-28EF-271488232376}"/>
              </a:ext>
            </a:extLst>
          </p:cNvPr>
          <p:cNvSpPr/>
          <p:nvPr/>
        </p:nvSpPr>
        <p:spPr>
          <a:xfrm>
            <a:off x="9200951" y="1671476"/>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13">
            <a:extLst>
              <a:ext uri="{FF2B5EF4-FFF2-40B4-BE49-F238E27FC236}">
                <a16:creationId xmlns:a16="http://schemas.microsoft.com/office/drawing/2014/main" id="{2EB2110E-8661-2D21-2F24-1ED5EFE34D1C}"/>
              </a:ext>
            </a:extLst>
          </p:cNvPr>
          <p:cNvSpPr txBox="1"/>
          <p:nvPr/>
        </p:nvSpPr>
        <p:spPr>
          <a:xfrm>
            <a:off x="1542737" y="1439440"/>
            <a:ext cx="2568332" cy="630942"/>
          </a:xfrm>
          <a:prstGeom prst="rect">
            <a:avLst/>
          </a:prstGeom>
          <a:noFill/>
        </p:spPr>
        <p:txBody>
          <a:bodyPr wrap="none" rtlCol="0">
            <a:spAutoFit/>
          </a:bodyPr>
          <a:lstStyle/>
          <a:p>
            <a:pPr algn="ctr"/>
            <a:r>
              <a:rPr lang="en-US" sz="2400" b="1">
                <a:solidFill>
                  <a:srgbClr val="6087CE"/>
                </a:solidFill>
              </a:rPr>
              <a:t>Early Stage</a:t>
            </a:r>
          </a:p>
          <a:p>
            <a:pPr algn="ctr"/>
            <a:r>
              <a:rPr lang="en-US" sz="1100">
                <a:solidFill>
                  <a:srgbClr val="6087CE"/>
                </a:solidFill>
              </a:rPr>
              <a:t>Gaining Name Recognition, Early Growth</a:t>
            </a:r>
          </a:p>
        </p:txBody>
      </p:sp>
      <p:sp>
        <p:nvSpPr>
          <p:cNvPr id="9" name="TextBox 6">
            <a:extLst>
              <a:ext uri="{FF2B5EF4-FFF2-40B4-BE49-F238E27FC236}">
                <a16:creationId xmlns:a16="http://schemas.microsoft.com/office/drawing/2014/main" id="{F0A92FD5-F425-4778-3BF7-438721FE3B88}"/>
              </a:ext>
            </a:extLst>
          </p:cNvPr>
          <p:cNvSpPr txBox="1"/>
          <p:nvPr/>
        </p:nvSpPr>
        <p:spPr>
          <a:xfrm>
            <a:off x="1105593" y="2096366"/>
            <a:ext cx="1624165" cy="307777"/>
          </a:xfrm>
          <a:prstGeom prst="rect">
            <a:avLst/>
          </a:prstGeom>
          <a:noFill/>
        </p:spPr>
        <p:txBody>
          <a:bodyPr wrap="square">
            <a:spAutoFit/>
          </a:bodyPr>
          <a:lstStyle/>
          <a:p>
            <a:pPr algn="ctr"/>
            <a:r>
              <a:rPr lang="en-US" sz="1400">
                <a:solidFill>
                  <a:srgbClr val="6087CE"/>
                </a:solidFill>
              </a:rPr>
              <a:t>New Revenue:</a:t>
            </a:r>
          </a:p>
        </p:txBody>
      </p:sp>
      <p:sp>
        <p:nvSpPr>
          <p:cNvPr id="10" name="TextBox 7">
            <a:extLst>
              <a:ext uri="{FF2B5EF4-FFF2-40B4-BE49-F238E27FC236}">
                <a16:creationId xmlns:a16="http://schemas.microsoft.com/office/drawing/2014/main" id="{EAD71022-A73C-0218-F1F4-9AE8937C8B84}"/>
              </a:ext>
            </a:extLst>
          </p:cNvPr>
          <p:cNvSpPr txBox="1"/>
          <p:nvPr/>
        </p:nvSpPr>
        <p:spPr>
          <a:xfrm>
            <a:off x="3189817" y="2096366"/>
            <a:ext cx="1118086" cy="307777"/>
          </a:xfrm>
          <a:prstGeom prst="rect">
            <a:avLst/>
          </a:prstGeom>
          <a:noFill/>
        </p:spPr>
        <p:txBody>
          <a:bodyPr wrap="square">
            <a:spAutoFit/>
          </a:bodyPr>
          <a:lstStyle/>
          <a:p>
            <a:pPr algn="ctr"/>
            <a:r>
              <a:rPr lang="en-US" sz="1400">
                <a:solidFill>
                  <a:srgbClr val="6087CE"/>
                </a:solidFill>
              </a:rPr>
              <a:t>New Profit:</a:t>
            </a:r>
          </a:p>
        </p:txBody>
      </p:sp>
      <p:sp>
        <p:nvSpPr>
          <p:cNvPr id="11" name="TextBox 9">
            <a:extLst>
              <a:ext uri="{FF2B5EF4-FFF2-40B4-BE49-F238E27FC236}">
                <a16:creationId xmlns:a16="http://schemas.microsoft.com/office/drawing/2014/main" id="{1E81AFA6-8C50-9CBD-7EEB-30F088F5FC23}"/>
              </a:ext>
            </a:extLst>
          </p:cNvPr>
          <p:cNvSpPr txBox="1"/>
          <p:nvPr/>
        </p:nvSpPr>
        <p:spPr>
          <a:xfrm>
            <a:off x="1099308" y="2342091"/>
            <a:ext cx="1588535" cy="400110"/>
          </a:xfrm>
          <a:prstGeom prst="rect">
            <a:avLst/>
          </a:prstGeom>
          <a:noFill/>
        </p:spPr>
        <p:txBody>
          <a:bodyPr wrap="square">
            <a:spAutoFit/>
          </a:bodyPr>
          <a:lstStyle/>
          <a:p>
            <a:pPr algn="ctr"/>
            <a:r>
              <a:rPr lang="en-US" sz="2000" b="1">
                <a:solidFill>
                  <a:srgbClr val="6087CE"/>
                </a:solidFill>
              </a:rPr>
              <a:t>$35.58M</a:t>
            </a:r>
            <a:endParaRPr lang="en-US" sz="2000"/>
          </a:p>
        </p:txBody>
      </p:sp>
      <p:sp>
        <p:nvSpPr>
          <p:cNvPr id="12" name="TextBox 14">
            <a:extLst>
              <a:ext uri="{FF2B5EF4-FFF2-40B4-BE49-F238E27FC236}">
                <a16:creationId xmlns:a16="http://schemas.microsoft.com/office/drawing/2014/main" id="{C53C9EE7-9E2F-D948-FFC8-D9A7102B6382}"/>
              </a:ext>
            </a:extLst>
          </p:cNvPr>
          <p:cNvSpPr txBox="1"/>
          <p:nvPr/>
        </p:nvSpPr>
        <p:spPr>
          <a:xfrm>
            <a:off x="2892857" y="2342091"/>
            <a:ext cx="1588535" cy="400110"/>
          </a:xfrm>
          <a:prstGeom prst="rect">
            <a:avLst/>
          </a:prstGeom>
          <a:noFill/>
        </p:spPr>
        <p:txBody>
          <a:bodyPr wrap="square">
            <a:spAutoFit/>
          </a:bodyPr>
          <a:lstStyle/>
          <a:p>
            <a:pPr algn="ctr"/>
            <a:r>
              <a:rPr lang="en-US" sz="2000" b="1">
                <a:solidFill>
                  <a:srgbClr val="6087CE"/>
                </a:solidFill>
              </a:rPr>
              <a:t>$14.91M</a:t>
            </a:r>
            <a:endParaRPr lang="en-US" sz="2000"/>
          </a:p>
        </p:txBody>
      </p:sp>
      <p:sp>
        <p:nvSpPr>
          <p:cNvPr id="13" name="TextBox 15">
            <a:extLst>
              <a:ext uri="{FF2B5EF4-FFF2-40B4-BE49-F238E27FC236}">
                <a16:creationId xmlns:a16="http://schemas.microsoft.com/office/drawing/2014/main" id="{27288575-F0C6-6FBF-921D-0A4F1CE4359F}"/>
              </a:ext>
            </a:extLst>
          </p:cNvPr>
          <p:cNvSpPr txBox="1"/>
          <p:nvPr/>
        </p:nvSpPr>
        <p:spPr>
          <a:xfrm>
            <a:off x="1751738" y="2953856"/>
            <a:ext cx="2132315" cy="630942"/>
          </a:xfrm>
          <a:prstGeom prst="rect">
            <a:avLst/>
          </a:prstGeom>
          <a:noFill/>
        </p:spPr>
        <p:txBody>
          <a:bodyPr wrap="none" rtlCol="0">
            <a:spAutoFit/>
          </a:bodyPr>
          <a:lstStyle/>
          <a:p>
            <a:pPr algn="ctr"/>
            <a:r>
              <a:rPr lang="en-US" sz="2400" b="1">
                <a:solidFill>
                  <a:srgbClr val="2F5597"/>
                </a:solidFill>
              </a:rPr>
              <a:t>Growth Stage</a:t>
            </a:r>
          </a:p>
          <a:p>
            <a:pPr algn="ctr"/>
            <a:r>
              <a:rPr lang="en-US" sz="1100">
                <a:solidFill>
                  <a:srgbClr val="2F5597"/>
                </a:solidFill>
              </a:rPr>
              <a:t>Strong Reputation, Strong Growth</a:t>
            </a:r>
          </a:p>
        </p:txBody>
      </p:sp>
      <p:sp>
        <p:nvSpPr>
          <p:cNvPr id="14" name="TextBox 16">
            <a:extLst>
              <a:ext uri="{FF2B5EF4-FFF2-40B4-BE49-F238E27FC236}">
                <a16:creationId xmlns:a16="http://schemas.microsoft.com/office/drawing/2014/main" id="{B072F839-090B-14DA-F513-7B27BE1033A0}"/>
              </a:ext>
            </a:extLst>
          </p:cNvPr>
          <p:cNvSpPr txBox="1"/>
          <p:nvPr/>
        </p:nvSpPr>
        <p:spPr>
          <a:xfrm>
            <a:off x="1096584" y="3610782"/>
            <a:ext cx="1624165" cy="307777"/>
          </a:xfrm>
          <a:prstGeom prst="rect">
            <a:avLst/>
          </a:prstGeom>
          <a:noFill/>
        </p:spPr>
        <p:txBody>
          <a:bodyPr wrap="square">
            <a:spAutoFit/>
          </a:bodyPr>
          <a:lstStyle/>
          <a:p>
            <a:pPr algn="ctr"/>
            <a:r>
              <a:rPr lang="en-US" sz="1400">
                <a:solidFill>
                  <a:srgbClr val="2F5597"/>
                </a:solidFill>
              </a:rPr>
              <a:t>New Revenue:</a:t>
            </a:r>
          </a:p>
        </p:txBody>
      </p:sp>
      <p:sp>
        <p:nvSpPr>
          <p:cNvPr id="15" name="TextBox 17">
            <a:extLst>
              <a:ext uri="{FF2B5EF4-FFF2-40B4-BE49-F238E27FC236}">
                <a16:creationId xmlns:a16="http://schemas.microsoft.com/office/drawing/2014/main" id="{BDECE539-2701-27FE-5A90-7050B77C17D9}"/>
              </a:ext>
            </a:extLst>
          </p:cNvPr>
          <p:cNvSpPr txBox="1"/>
          <p:nvPr/>
        </p:nvSpPr>
        <p:spPr>
          <a:xfrm>
            <a:off x="3180808" y="3610782"/>
            <a:ext cx="1118086" cy="307777"/>
          </a:xfrm>
          <a:prstGeom prst="rect">
            <a:avLst/>
          </a:prstGeom>
          <a:noFill/>
        </p:spPr>
        <p:txBody>
          <a:bodyPr wrap="square">
            <a:spAutoFit/>
          </a:bodyPr>
          <a:lstStyle/>
          <a:p>
            <a:pPr algn="ctr"/>
            <a:r>
              <a:rPr lang="en-US" sz="1400">
                <a:solidFill>
                  <a:srgbClr val="2F5597"/>
                </a:solidFill>
              </a:rPr>
              <a:t>New Profit:</a:t>
            </a:r>
          </a:p>
        </p:txBody>
      </p:sp>
      <p:sp>
        <p:nvSpPr>
          <p:cNvPr id="16" name="TextBox 20">
            <a:extLst>
              <a:ext uri="{FF2B5EF4-FFF2-40B4-BE49-F238E27FC236}">
                <a16:creationId xmlns:a16="http://schemas.microsoft.com/office/drawing/2014/main" id="{FF7C18AF-F33B-CD26-04D3-D7669C29A774}"/>
              </a:ext>
            </a:extLst>
          </p:cNvPr>
          <p:cNvSpPr txBox="1"/>
          <p:nvPr/>
        </p:nvSpPr>
        <p:spPr>
          <a:xfrm>
            <a:off x="1090299" y="3856507"/>
            <a:ext cx="1588535" cy="400110"/>
          </a:xfrm>
          <a:prstGeom prst="rect">
            <a:avLst/>
          </a:prstGeom>
          <a:noFill/>
        </p:spPr>
        <p:txBody>
          <a:bodyPr wrap="square">
            <a:spAutoFit/>
          </a:bodyPr>
          <a:lstStyle/>
          <a:p>
            <a:pPr algn="ctr"/>
            <a:r>
              <a:rPr lang="en-US" sz="2000" b="1">
                <a:solidFill>
                  <a:srgbClr val="2F5597"/>
                </a:solidFill>
              </a:rPr>
              <a:t>$211.65M</a:t>
            </a:r>
            <a:endParaRPr lang="en-US" sz="2000">
              <a:solidFill>
                <a:srgbClr val="2F5597"/>
              </a:solidFill>
            </a:endParaRPr>
          </a:p>
        </p:txBody>
      </p:sp>
      <p:sp>
        <p:nvSpPr>
          <p:cNvPr id="17" name="TextBox 21">
            <a:extLst>
              <a:ext uri="{FF2B5EF4-FFF2-40B4-BE49-F238E27FC236}">
                <a16:creationId xmlns:a16="http://schemas.microsoft.com/office/drawing/2014/main" id="{2269484D-8BC8-E015-C7CD-90C07C92234C}"/>
              </a:ext>
            </a:extLst>
          </p:cNvPr>
          <p:cNvSpPr txBox="1"/>
          <p:nvPr/>
        </p:nvSpPr>
        <p:spPr>
          <a:xfrm>
            <a:off x="2883848" y="3856507"/>
            <a:ext cx="1588535" cy="400110"/>
          </a:xfrm>
          <a:prstGeom prst="rect">
            <a:avLst/>
          </a:prstGeom>
          <a:noFill/>
        </p:spPr>
        <p:txBody>
          <a:bodyPr wrap="square">
            <a:spAutoFit/>
          </a:bodyPr>
          <a:lstStyle/>
          <a:p>
            <a:pPr algn="ctr"/>
            <a:r>
              <a:rPr lang="en-US" sz="2000" b="1">
                <a:solidFill>
                  <a:srgbClr val="2F5597"/>
                </a:solidFill>
              </a:rPr>
              <a:t>$89.66M</a:t>
            </a:r>
            <a:endParaRPr lang="en-US" sz="2000">
              <a:solidFill>
                <a:srgbClr val="2F5597"/>
              </a:solidFill>
            </a:endParaRPr>
          </a:p>
        </p:txBody>
      </p:sp>
      <p:sp>
        <p:nvSpPr>
          <p:cNvPr id="18" name="TextBox 22">
            <a:extLst>
              <a:ext uri="{FF2B5EF4-FFF2-40B4-BE49-F238E27FC236}">
                <a16:creationId xmlns:a16="http://schemas.microsoft.com/office/drawing/2014/main" id="{6639E762-58EF-EFCD-2441-D5565F133758}"/>
              </a:ext>
            </a:extLst>
          </p:cNvPr>
          <p:cNvSpPr txBox="1"/>
          <p:nvPr/>
        </p:nvSpPr>
        <p:spPr>
          <a:xfrm>
            <a:off x="1699832" y="4574423"/>
            <a:ext cx="2254143" cy="630942"/>
          </a:xfrm>
          <a:prstGeom prst="rect">
            <a:avLst/>
          </a:prstGeom>
          <a:noFill/>
        </p:spPr>
        <p:txBody>
          <a:bodyPr wrap="none" rtlCol="0">
            <a:spAutoFit/>
          </a:bodyPr>
          <a:lstStyle/>
          <a:p>
            <a:pPr algn="ctr"/>
            <a:r>
              <a:rPr lang="en-US" sz="2400" b="1">
                <a:solidFill>
                  <a:srgbClr val="2F5597"/>
                </a:solidFill>
              </a:rPr>
              <a:t>Mature Stage</a:t>
            </a:r>
          </a:p>
          <a:p>
            <a:pPr algn="ctr"/>
            <a:r>
              <a:rPr lang="en-US" sz="1100">
                <a:solidFill>
                  <a:srgbClr val="2F5597"/>
                </a:solidFill>
              </a:rPr>
              <a:t>High Profitability, Market Saturation</a:t>
            </a:r>
          </a:p>
        </p:txBody>
      </p:sp>
      <p:sp>
        <p:nvSpPr>
          <p:cNvPr id="19" name="TextBox 23">
            <a:extLst>
              <a:ext uri="{FF2B5EF4-FFF2-40B4-BE49-F238E27FC236}">
                <a16:creationId xmlns:a16="http://schemas.microsoft.com/office/drawing/2014/main" id="{D81F168E-F1B5-959A-10E4-2F05D67FE4A8}"/>
              </a:ext>
            </a:extLst>
          </p:cNvPr>
          <p:cNvSpPr txBox="1"/>
          <p:nvPr/>
        </p:nvSpPr>
        <p:spPr>
          <a:xfrm>
            <a:off x="1105593" y="5231349"/>
            <a:ext cx="1624165" cy="307777"/>
          </a:xfrm>
          <a:prstGeom prst="rect">
            <a:avLst/>
          </a:prstGeom>
          <a:noFill/>
        </p:spPr>
        <p:txBody>
          <a:bodyPr wrap="square">
            <a:spAutoFit/>
          </a:bodyPr>
          <a:lstStyle/>
          <a:p>
            <a:pPr algn="ctr"/>
            <a:r>
              <a:rPr lang="en-US" sz="1400">
                <a:solidFill>
                  <a:srgbClr val="2F5597"/>
                </a:solidFill>
              </a:rPr>
              <a:t>New Revenue:</a:t>
            </a:r>
          </a:p>
        </p:txBody>
      </p:sp>
      <p:sp>
        <p:nvSpPr>
          <p:cNvPr id="20" name="TextBox 24">
            <a:extLst>
              <a:ext uri="{FF2B5EF4-FFF2-40B4-BE49-F238E27FC236}">
                <a16:creationId xmlns:a16="http://schemas.microsoft.com/office/drawing/2014/main" id="{72A76909-1CB9-68B4-AD73-7EC484D76876}"/>
              </a:ext>
            </a:extLst>
          </p:cNvPr>
          <p:cNvSpPr txBox="1"/>
          <p:nvPr/>
        </p:nvSpPr>
        <p:spPr>
          <a:xfrm>
            <a:off x="3189817" y="5231349"/>
            <a:ext cx="1118086" cy="307777"/>
          </a:xfrm>
          <a:prstGeom prst="rect">
            <a:avLst/>
          </a:prstGeom>
          <a:noFill/>
        </p:spPr>
        <p:txBody>
          <a:bodyPr wrap="square">
            <a:spAutoFit/>
          </a:bodyPr>
          <a:lstStyle/>
          <a:p>
            <a:pPr algn="ctr"/>
            <a:r>
              <a:rPr lang="en-US" sz="1400">
                <a:solidFill>
                  <a:srgbClr val="2F5597"/>
                </a:solidFill>
              </a:rPr>
              <a:t>New Profit:</a:t>
            </a:r>
          </a:p>
        </p:txBody>
      </p:sp>
      <p:sp>
        <p:nvSpPr>
          <p:cNvPr id="21" name="TextBox 25">
            <a:extLst>
              <a:ext uri="{FF2B5EF4-FFF2-40B4-BE49-F238E27FC236}">
                <a16:creationId xmlns:a16="http://schemas.microsoft.com/office/drawing/2014/main" id="{AD94FB29-7491-0ACF-7B93-8E22ADC9BF7E}"/>
              </a:ext>
            </a:extLst>
          </p:cNvPr>
          <p:cNvSpPr txBox="1"/>
          <p:nvPr/>
        </p:nvSpPr>
        <p:spPr>
          <a:xfrm>
            <a:off x="1099308" y="5477074"/>
            <a:ext cx="1588535" cy="400110"/>
          </a:xfrm>
          <a:prstGeom prst="rect">
            <a:avLst/>
          </a:prstGeom>
          <a:noFill/>
        </p:spPr>
        <p:txBody>
          <a:bodyPr wrap="square">
            <a:spAutoFit/>
          </a:bodyPr>
          <a:lstStyle/>
          <a:p>
            <a:pPr algn="ctr"/>
            <a:r>
              <a:rPr lang="en-US" sz="2000" b="1">
                <a:solidFill>
                  <a:srgbClr val="2F5597"/>
                </a:solidFill>
              </a:rPr>
              <a:t>$432.48M</a:t>
            </a:r>
            <a:endParaRPr lang="en-US" sz="2000">
              <a:solidFill>
                <a:srgbClr val="2F5597"/>
              </a:solidFill>
            </a:endParaRPr>
          </a:p>
        </p:txBody>
      </p:sp>
      <p:sp>
        <p:nvSpPr>
          <p:cNvPr id="22" name="TextBox 26">
            <a:extLst>
              <a:ext uri="{FF2B5EF4-FFF2-40B4-BE49-F238E27FC236}">
                <a16:creationId xmlns:a16="http://schemas.microsoft.com/office/drawing/2014/main" id="{EB46005E-C267-DD1E-4A93-866905DD5E43}"/>
              </a:ext>
            </a:extLst>
          </p:cNvPr>
          <p:cNvSpPr txBox="1"/>
          <p:nvPr/>
        </p:nvSpPr>
        <p:spPr>
          <a:xfrm>
            <a:off x="2892857" y="5477074"/>
            <a:ext cx="1588535" cy="400110"/>
          </a:xfrm>
          <a:prstGeom prst="rect">
            <a:avLst/>
          </a:prstGeom>
          <a:noFill/>
        </p:spPr>
        <p:txBody>
          <a:bodyPr wrap="square">
            <a:spAutoFit/>
          </a:bodyPr>
          <a:lstStyle/>
          <a:p>
            <a:pPr algn="ctr"/>
            <a:r>
              <a:rPr lang="en-US" sz="2000" b="1">
                <a:solidFill>
                  <a:srgbClr val="2F5597"/>
                </a:solidFill>
              </a:rPr>
              <a:t>$183.3M</a:t>
            </a:r>
            <a:endParaRPr lang="en-US" sz="2000">
              <a:solidFill>
                <a:srgbClr val="2F5597"/>
              </a:solidFill>
            </a:endParaRPr>
          </a:p>
        </p:txBody>
      </p:sp>
      <p:pic>
        <p:nvPicPr>
          <p:cNvPr id="23" name="Content Placeholder 24">
            <a:extLst>
              <a:ext uri="{FF2B5EF4-FFF2-40B4-BE49-F238E27FC236}">
                <a16:creationId xmlns:a16="http://schemas.microsoft.com/office/drawing/2014/main" id="{46DDE628-4837-4812-55F0-D48C03CC206D}"/>
              </a:ext>
            </a:extLst>
          </p:cNvPr>
          <p:cNvPicPr>
            <a:picLocks/>
          </p:cNvPicPr>
          <p:nvPr/>
        </p:nvPicPr>
        <p:blipFill>
          <a:blip r:embed="rId4" cstate="print"/>
          <a:stretch>
            <a:fillRect/>
          </a:stretch>
        </p:blipFill>
        <p:spPr>
          <a:xfrm>
            <a:off x="5048531" y="1274670"/>
            <a:ext cx="6364224" cy="4773168"/>
          </a:xfrm>
          <a:prstGeom prst="rect">
            <a:avLst/>
          </a:prstGeom>
        </p:spPr>
      </p:pic>
      <p:sp>
        <p:nvSpPr>
          <p:cNvPr id="5" name="Slide Number Placeholder 4">
            <a:extLst>
              <a:ext uri="{FF2B5EF4-FFF2-40B4-BE49-F238E27FC236}">
                <a16:creationId xmlns:a16="http://schemas.microsoft.com/office/drawing/2014/main" id="{4B2B4AC3-A303-2E3E-586E-6E47A36C7507}"/>
              </a:ext>
            </a:extLst>
          </p:cNvPr>
          <p:cNvSpPr txBox="1">
            <a:spLocks/>
          </p:cNvSpPr>
          <p:nvPr/>
        </p:nvSpPr>
        <p:spPr>
          <a:xfrm>
            <a:off x="9237951" y="6389264"/>
            <a:ext cx="2743200" cy="250380"/>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ontserrat" panose="00000500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AFC719D-C4A7-4544-876E-D411D11AF6C9}" type="slidenum">
              <a:rPr lang="en-US" smtClean="0">
                <a:solidFill>
                  <a:prstClr val="black">
                    <a:tint val="75000"/>
                  </a:prstClr>
                </a:solidFill>
              </a:rPr>
              <a:pPr>
                <a:defRPr/>
              </a:pPr>
              <a:t>18</a:t>
            </a:fld>
            <a:endParaRPr lang="en-US">
              <a:solidFill>
                <a:prstClr val="black">
                  <a:tint val="75000"/>
                </a:prstClr>
              </a:solidFill>
            </a:endParaRPr>
          </a:p>
        </p:txBody>
      </p:sp>
    </p:spTree>
    <p:extLst>
      <p:ext uri="{BB962C8B-B14F-4D97-AF65-F5344CB8AC3E}">
        <p14:creationId xmlns:p14="http://schemas.microsoft.com/office/powerpoint/2010/main" val="13845211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2363</Words>
  <Application>Microsoft Office PowerPoint</Application>
  <PresentationFormat>Widescreen</PresentationFormat>
  <Paragraphs>776</Paragraphs>
  <Slides>18</Slides>
  <Notes>7</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18</vt:i4>
      </vt:variant>
    </vt:vector>
  </HeadingPairs>
  <TitlesOfParts>
    <vt:vector size="22" baseType="lpstr">
      <vt:lpstr>Montserrat</vt:lpstr>
      <vt:lpstr>Arial</vt:lpstr>
      <vt:lpstr>Office Theme</vt:lpstr>
      <vt:lpstr>1_Office Theme</vt:lpstr>
      <vt:lpstr>PowerPoint Presentation</vt:lpstr>
      <vt:lpstr>SLUHN DTE PROFITABILITY MODELING STEPS</vt:lpstr>
      <vt:lpstr>SIGNIFICANT OPPORTUNITY FOR PLAN GROWTH RESEARCHED FOR SLUHN SERVICE AREA</vt:lpstr>
      <vt:lpstr>PLAN POTENTIAL GROWTH PATHS</vt:lpstr>
      <vt:lpstr>CURRENT MARKET SHARE HOSPITALS WITHIN EIGHT MILES OF SLUHN SERVICE AREA</vt:lpstr>
      <vt:lpstr>PowerPoint Presentation</vt:lpstr>
      <vt:lpstr>PROJECTED PLAN GROWTH</vt:lpstr>
      <vt:lpstr>PowerPoint Presentation</vt:lpstr>
      <vt:lpstr>PowerPoint Presentation</vt:lpstr>
      <vt:lpstr>MODEL ASSUMPTIONS AND BREAK EVEN</vt:lpstr>
      <vt:lpstr>PowerPoint Presentation</vt:lpstr>
      <vt:lpstr>PowerPoint Presentation</vt:lpstr>
      <vt:lpstr>GROWING POWERFUL, LASTING PROFITABILITY</vt:lpstr>
      <vt:lpstr>PowerPoint Presentation</vt:lpstr>
      <vt:lpstr>MODEL ASSUMPTIONS AND BREAK EVEN</vt:lpstr>
      <vt:lpstr>PowerPoint Presentation</vt:lpstr>
      <vt:lpstr>PowerPoint Presentation</vt:lpstr>
      <vt:lpstr>GROWING POWERFUL, LASTING PROFITABILITY</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#4</dc:title>
  <dc:subject>Untitled #4</dc:subject>
  <dc:creator>taylordavis@careluminate.com</dc:creator>
  <cp:lastModifiedBy>Taylor Davis</cp:lastModifiedBy>
  <cp:revision>3</cp:revision>
  <dcterms:created xsi:type="dcterms:W3CDTF">2024-12-03T04:16:29Z</dcterms:created>
  <dcterms:modified xsi:type="dcterms:W3CDTF">2024-12-16T21:50:13Z</dcterms:modified>
</cp:coreProperties>
</file>