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ags/tag2.xml" ContentType="application/vnd.openxmlformats-officedocument.presentationml.tags+xml"/>
  <Override PartName="/ppt/theme/theme2.xml" ContentType="application/vnd.openxmlformats-officedocument.theme+xml"/>
  <Override PartName="/ppt/notesSlides/notesSlide1.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744" r:id="rId4"/>
  </p:sldMasterIdLst>
  <p:notesMasterIdLst>
    <p:notesMasterId r:id="rId24"/>
  </p:notesMasterIdLst>
  <p:sldIdLst>
    <p:sldId id="588" r:id="rId5"/>
    <p:sldId id="521" r:id="rId6"/>
    <p:sldId id="267" r:id="rId7"/>
    <p:sldId id="259" r:id="rId8"/>
    <p:sldId id="263" r:id="rId9"/>
    <p:sldId id="265" r:id="rId10"/>
    <p:sldId id="594" r:id="rId11"/>
    <p:sldId id="597" r:id="rId12"/>
    <p:sldId id="601" r:id="rId13"/>
    <p:sldId id="602" r:id="rId14"/>
    <p:sldId id="547" r:id="rId15"/>
    <p:sldId id="548" r:id="rId16"/>
    <p:sldId id="558" r:id="rId17"/>
    <p:sldId id="613" r:id="rId18"/>
    <p:sldId id="499" r:id="rId19"/>
    <p:sldId id="536" r:id="rId20"/>
    <p:sldId id="612" r:id="rId21"/>
    <p:sldId id="609" r:id="rId22"/>
    <p:sldId id="611" r:id="rId23"/>
  </p:sldIdLst>
  <p:sldSz cx="12192000" cy="6858000"/>
  <p:notesSz cx="7315200" cy="9601200"/>
  <p:custDataLst>
    <p:tags r:id="rId25"/>
  </p:custDataLst>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Hill, Jack" initials="HJ" lastIdx="1" clrIdx="0">
    <p:extLst>
      <p:ext uri="{19B8F6BF-5375-455C-9EA6-DF929625EA0E}">
        <p15:presenceInfo xmlns:p15="http://schemas.microsoft.com/office/powerpoint/2012/main" userId="S::Jack.Hill@ahdi.com::a2532604-23e3-4156-966c-b672b0683ed2"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254F96"/>
    <a:srgbClr val="A6A6A6"/>
    <a:srgbClr val="C5E0B4"/>
    <a:srgbClr val="59CAE8"/>
    <a:srgbClr val="2F5597"/>
    <a:srgbClr val="6087CE"/>
    <a:srgbClr val="4468A5"/>
    <a:srgbClr val="F2F2F2"/>
    <a:srgbClr val="C55A11"/>
    <a:srgbClr val="F424AA"/>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59E8FF9A-6BD7-4576-A919-148C36A762C1}" v="34" dt="2024-11-25T15:23:02.346"/>
  </p1510:revLst>
</p1510:revInfo>
</file>

<file path=ppt/tableStyles.xml><?xml version="1.0" encoding="utf-8"?>
<a:tblStyleLst xmlns:a="http://schemas.openxmlformats.org/drawingml/2006/main" def="{5C22544A-7EE6-4342-B048-85BDC9FD1C3A}">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8799B23B-EC83-4686-B30A-512413B5E67A}" styleName="Light Style 3 - Accent 3">
    <a:wholeTbl>
      <a:tcTxStyle>
        <a:fontRef idx="minor">
          <a:scrgbClr r="0" g="0" b="0"/>
        </a:fontRef>
        <a:schemeClr val="tx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noFill/>
        </a:fill>
      </a:tcStyle>
    </a:wholeTbl>
    <a:band1H>
      <a:tcStyle>
        <a:tcBdr/>
        <a:fill>
          <a:solidFill>
            <a:schemeClr val="accent3">
              <a:alpha val="20000"/>
            </a:schemeClr>
          </a:solidFill>
        </a:fill>
      </a:tcStyle>
    </a:band1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noFill/>
        </a:fill>
      </a:tcStyle>
    </a:lastRow>
    <a:firstRow>
      <a:tcTxStyle b="on"/>
      <a:tcStyle>
        <a:tcBdr>
          <a:bottom>
            <a:ln w="25400" cmpd="sng">
              <a:solidFill>
                <a:schemeClr val="accent3"/>
              </a:solidFill>
            </a:ln>
          </a:bottom>
        </a:tcBdr>
        <a:fill>
          <a:noFill/>
        </a:fill>
      </a:tcStyle>
    </a:firstRow>
  </a:tblStyle>
  <a:tblStyle styleId="{C083E6E3-FA7D-4D7B-A595-EF9225AFEA82}" styleName="Light Style 1 - Accent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FD0F851-EC5A-4D38-B0AD-8093EC10F338}" styleName="Light Style 1 - Accent 5">
    <a:wholeTbl>
      <a:tcTxStyle>
        <a:fontRef idx="minor">
          <a:scrgbClr r="0" g="0" b="0"/>
        </a:fontRef>
        <a:schemeClr val="tx1"/>
      </a:tcTxStyle>
      <a:tcStyle>
        <a:tcBdr>
          <a:left>
            <a:ln>
              <a:noFill/>
            </a:ln>
          </a:left>
          <a:right>
            <a:ln>
              <a:noFill/>
            </a:ln>
          </a:right>
          <a:top>
            <a:ln w="12700" cmpd="sng">
              <a:solidFill>
                <a:schemeClr val="accent5"/>
              </a:solidFill>
            </a:ln>
          </a:top>
          <a:bottom>
            <a:ln w="12700" cmpd="sng">
              <a:solidFill>
                <a:schemeClr val="accent5"/>
              </a:solidFill>
            </a:ln>
          </a:bottom>
          <a:insideH>
            <a:ln>
              <a:noFill/>
            </a:ln>
          </a:insideH>
          <a:insideV>
            <a:ln>
              <a:noFill/>
            </a:ln>
          </a:insideV>
        </a:tcBdr>
        <a:fill>
          <a:noFill/>
        </a:fill>
      </a:tcStyle>
    </a:wholeTbl>
    <a:band1H>
      <a:tcStyle>
        <a:tcBdr/>
        <a:fill>
          <a:solidFill>
            <a:schemeClr val="accent5">
              <a:alpha val="20000"/>
            </a:schemeClr>
          </a:solidFill>
        </a:fill>
      </a:tcStyle>
    </a:band1H>
    <a:band2H>
      <a:tcStyle>
        <a:tcBdr/>
      </a:tcStyle>
    </a:band2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12700" cmpd="sng">
              <a:solidFill>
                <a:schemeClr val="accent5"/>
              </a:solidFill>
            </a:ln>
          </a:top>
        </a:tcBdr>
        <a:fill>
          <a:noFill/>
        </a:fill>
      </a:tcStyle>
    </a:lastRow>
    <a:firstRow>
      <a:tcTxStyle b="on"/>
      <a:tcStyle>
        <a:tcBdr>
          <a:bottom>
            <a:ln w="12700" cmpd="sng">
              <a:solidFill>
                <a:schemeClr val="accent5"/>
              </a:solidFill>
            </a:ln>
          </a:bottom>
        </a:tcBdr>
        <a:fill>
          <a:noFill/>
        </a:fill>
      </a:tcStyle>
    </a:firstRow>
  </a:tblStyle>
  <a:tblStyle styleId="{8EC20E35-A176-4012-BC5E-935CFFF8708E}" styleName="Medium Style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 styleId="{EB9631B5-78F2-41C9-869B-9F39066F8104}" styleName="Medium Style 3 - Accent 4">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4"/>
          </a:solidFill>
        </a:fill>
      </a:tcStyle>
    </a:lastCol>
    <a:firstCol>
      <a:tcTxStyle b="on">
        <a:fontRef idx="minor">
          <a:scrgbClr r="0" g="0" b="0"/>
        </a:fontRef>
        <a:schemeClr val="lt1"/>
      </a:tcTxStyle>
      <a:tcStyle>
        <a:tcBdr/>
        <a:fill>
          <a:solidFill>
            <a:schemeClr val="accent4"/>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4"/>
          </a:solidFill>
        </a:fill>
      </a:tcStyle>
    </a:firstRow>
  </a:tblStyle>
  <a:tblStyle styleId="{74C1A8A3-306A-4EB7-A6B1-4F7E0EB9C5D6}" styleName="Medium Style 3 - Accent 5">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5"/>
          </a:solidFill>
        </a:fill>
      </a:tcStyle>
    </a:lastCol>
    <a:firstCol>
      <a:tcTxStyle b="on">
        <a:fontRef idx="minor">
          <a:scrgbClr r="0" g="0" b="0"/>
        </a:fontRef>
        <a:schemeClr val="lt1"/>
      </a:tcTxStyle>
      <a:tcStyle>
        <a:tcBdr/>
        <a:fill>
          <a:solidFill>
            <a:schemeClr val="accent5"/>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5"/>
          </a:solidFill>
        </a:fill>
      </a:tcStyle>
    </a:firstRow>
  </a:tblStyle>
  <a:tblStyle styleId="{FABFCF23-3B69-468F-B69F-88F6DE6A72F2}" styleName="Medium Style 1 - Acc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a:noFill/>
            </a:ln>
          </a:insideV>
        </a:tcBdr>
        <a:fill>
          <a:solidFill>
            <a:schemeClr val="lt1"/>
          </a:solidFill>
        </a:fill>
      </a:tcStyle>
    </a:wholeTbl>
    <a:band1H>
      <a:tcStyle>
        <a:tcBdr/>
        <a:fill>
          <a:solidFill>
            <a:schemeClr val="accent5">
              <a:tint val="20000"/>
            </a:schemeClr>
          </a:solidFill>
        </a:fill>
      </a:tcStyle>
    </a:band1H>
    <a:band1V>
      <a:tcStyle>
        <a:tcBdr/>
        <a:fill>
          <a:solidFill>
            <a:schemeClr val="accent5">
              <a:tint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solidFill>
            <a:schemeClr val="lt1"/>
          </a:solidFill>
        </a:fill>
      </a:tcStyle>
    </a:lastRow>
    <a:firstRow>
      <a:tcTxStyle b="on">
        <a:fontRef idx="minor">
          <a:scrgbClr r="0" g="0" b="0"/>
        </a:fontRef>
        <a:schemeClr val="lt1"/>
      </a:tcTxStyle>
      <a:tcStyle>
        <a:tcBdr/>
        <a:fill>
          <a:solidFill>
            <a:schemeClr val="accent5"/>
          </a:solidFill>
        </a:fill>
      </a:tcStyle>
    </a:firstRow>
  </a:tblStyle>
  <a:tblStyle styleId="{327F97BB-C833-4FB7-BDE5-3F7075034690}" styleName="Themed Style 2 - Accent 5">
    <a:tblBg>
      <a:fillRef idx="3">
        <a:schemeClr val="accent5"/>
      </a:fillRef>
      <a:effectRef idx="3">
        <a:schemeClr val="accent5"/>
      </a:effectRef>
    </a:tblBg>
    <a:wholeTbl>
      <a:tcTxStyle>
        <a:fontRef idx="minor">
          <a:scrgbClr r="0" g="0" b="0"/>
        </a:fontRef>
        <a:schemeClr val="lt1"/>
      </a:tcTxStyle>
      <a:tcStyle>
        <a:tcBdr>
          <a:left>
            <a:lnRef idx="1">
              <a:schemeClr val="accent5">
                <a:tint val="50000"/>
              </a:schemeClr>
            </a:lnRef>
          </a:left>
          <a:right>
            <a:lnRef idx="1">
              <a:schemeClr val="accent5">
                <a:tint val="50000"/>
              </a:schemeClr>
            </a:lnRef>
          </a:right>
          <a:top>
            <a:lnRef idx="1">
              <a:schemeClr val="accent5">
                <a:tint val="50000"/>
              </a:schemeClr>
            </a:lnRef>
          </a:top>
          <a:bottom>
            <a:lnRef idx="1">
              <a:schemeClr val="accent5">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BDBED569-4797-4DF1-A0F4-6AAB3CD982D8}" styleName="Light Style 3 - Accent 5">
    <a:wholeTbl>
      <a:tcTxStyle>
        <a:fontRef idx="minor">
          <a:scrgbClr r="0" g="0" b="0"/>
        </a:fontRef>
        <a:schemeClr val="tx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noFill/>
        </a:fill>
      </a:tcStyle>
    </a:wholeTbl>
    <a:band1H>
      <a:tcStyle>
        <a:tcBdr/>
        <a:fill>
          <a:solidFill>
            <a:schemeClr val="accent5">
              <a:alpha val="20000"/>
            </a:schemeClr>
          </a:solidFill>
        </a:fill>
      </a:tcStyle>
    </a:band1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noFill/>
        </a:fill>
      </a:tcStyle>
    </a:lastRow>
    <a:firstRow>
      <a:tcTxStyle b="on"/>
      <a:tcStyle>
        <a:tcBdr>
          <a:bottom>
            <a:ln w="25400" cmpd="sng">
              <a:solidFill>
                <a:schemeClr val="accent5"/>
              </a:solidFill>
            </a:ln>
          </a:bottom>
        </a:tcBdr>
        <a:fill>
          <a:no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F2DE63D5-997A-4646-A377-4702673A728D}" styleName="Light Style 2 - Accent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88609" autoAdjust="0"/>
  </p:normalViewPr>
  <p:slideViewPr>
    <p:cSldViewPr snapToGrid="0">
      <p:cViewPr varScale="1">
        <p:scale>
          <a:sx n="95" d="100"/>
          <a:sy n="95" d="100"/>
        </p:scale>
        <p:origin x="1110" y="66"/>
      </p:cViewPr>
      <p:guideLst/>
    </p:cSldViewPr>
  </p:slideViewPr>
  <p:notesTextViewPr>
    <p:cViewPr>
      <p:scale>
        <a:sx n="3" d="2"/>
        <a:sy n="3" d="2"/>
      </p:scale>
      <p:origin x="0" y="0"/>
    </p:cViewPr>
  </p:notesTextViewPr>
  <p:sorterViewPr>
    <p:cViewPr varScale="1">
      <p:scale>
        <a:sx n="1" d="1"/>
        <a:sy n="1" d="1"/>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commentAuthors" Target="commentAuthors.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tags" Target="tags/tag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notesMaster" Target="notesMasters/notesMaster1.xml"/><Relationship Id="rId32" Type="http://schemas.microsoft.com/office/2015/10/relationships/revisionInfo" Target="revisionInfo.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viewProps" Target="viewProps.xml"/><Relationship Id="rId10" Type="http://schemas.openxmlformats.org/officeDocument/2006/relationships/slide" Target="slides/slide6.xml"/><Relationship Id="rId19" Type="http://schemas.openxmlformats.org/officeDocument/2006/relationships/slide" Target="slides/slide15.xml"/><Relationship Id="rId31" Type="http://schemas.microsoft.com/office/2016/11/relationships/changesInfo" Target="changesInfos/changesInfo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presProps" Target="presProps.xml"/><Relationship Id="rId30"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Taylor Davis" userId="5c9e72a0-c39f-4aa1-9d7d-64125e78cbe6" providerId="ADAL" clId="{59E8FF9A-6BD7-4576-A919-148C36A762C1}"/>
    <pc:docChg chg="custSel addSld delSld modSld">
      <pc:chgData name="Taylor Davis" userId="5c9e72a0-c39f-4aa1-9d7d-64125e78cbe6" providerId="ADAL" clId="{59E8FF9A-6BD7-4576-A919-148C36A762C1}" dt="2024-12-03T02:33:00.358" v="45" actId="207"/>
      <pc:docMkLst>
        <pc:docMk/>
      </pc:docMkLst>
      <pc:sldChg chg="add">
        <pc:chgData name="Taylor Davis" userId="5c9e72a0-c39f-4aa1-9d7d-64125e78cbe6" providerId="ADAL" clId="{59E8FF9A-6BD7-4576-A919-148C36A762C1}" dt="2024-11-25T15:20:30.276" v="1"/>
        <pc:sldMkLst>
          <pc:docMk/>
          <pc:sldMk cId="2123092068" sldId="259"/>
        </pc:sldMkLst>
      </pc:sldChg>
      <pc:sldChg chg="add">
        <pc:chgData name="Taylor Davis" userId="5c9e72a0-c39f-4aa1-9d7d-64125e78cbe6" providerId="ADAL" clId="{59E8FF9A-6BD7-4576-A919-148C36A762C1}" dt="2024-11-25T15:20:30.276" v="1"/>
        <pc:sldMkLst>
          <pc:docMk/>
          <pc:sldMk cId="2850395362" sldId="263"/>
        </pc:sldMkLst>
      </pc:sldChg>
      <pc:sldChg chg="add">
        <pc:chgData name="Taylor Davis" userId="5c9e72a0-c39f-4aa1-9d7d-64125e78cbe6" providerId="ADAL" clId="{59E8FF9A-6BD7-4576-A919-148C36A762C1}" dt="2024-11-25T15:20:30.276" v="1"/>
        <pc:sldMkLst>
          <pc:docMk/>
          <pc:sldMk cId="4006264123" sldId="265"/>
        </pc:sldMkLst>
      </pc:sldChg>
      <pc:sldChg chg="add">
        <pc:chgData name="Taylor Davis" userId="5c9e72a0-c39f-4aa1-9d7d-64125e78cbe6" providerId="ADAL" clId="{59E8FF9A-6BD7-4576-A919-148C36A762C1}" dt="2024-11-25T15:20:30.276" v="1"/>
        <pc:sldMkLst>
          <pc:docMk/>
          <pc:sldMk cId="949394106" sldId="267"/>
        </pc:sldMkLst>
      </pc:sldChg>
      <pc:sldChg chg="add">
        <pc:chgData name="Taylor Davis" userId="5c9e72a0-c39f-4aa1-9d7d-64125e78cbe6" providerId="ADAL" clId="{59E8FF9A-6BD7-4576-A919-148C36A762C1}" dt="2024-11-25T15:20:30.276" v="1"/>
        <pc:sldMkLst>
          <pc:docMk/>
          <pc:sldMk cId="1832852241" sldId="521"/>
        </pc:sldMkLst>
      </pc:sldChg>
      <pc:sldChg chg="del">
        <pc:chgData name="Taylor Davis" userId="5c9e72a0-c39f-4aa1-9d7d-64125e78cbe6" providerId="ADAL" clId="{59E8FF9A-6BD7-4576-A919-148C36A762C1}" dt="2024-11-25T15:20:10.333" v="0" actId="47"/>
        <pc:sldMkLst>
          <pc:docMk/>
          <pc:sldMk cId="4064752386" sldId="564"/>
        </pc:sldMkLst>
      </pc:sldChg>
      <pc:sldChg chg="del">
        <pc:chgData name="Taylor Davis" userId="5c9e72a0-c39f-4aa1-9d7d-64125e78cbe6" providerId="ADAL" clId="{59E8FF9A-6BD7-4576-A919-148C36A762C1}" dt="2024-11-25T15:20:10.333" v="0" actId="47"/>
        <pc:sldMkLst>
          <pc:docMk/>
          <pc:sldMk cId="1082327325" sldId="580"/>
        </pc:sldMkLst>
      </pc:sldChg>
      <pc:sldChg chg="addSp delSp modSp mod">
        <pc:chgData name="Taylor Davis" userId="5c9e72a0-c39f-4aa1-9d7d-64125e78cbe6" providerId="ADAL" clId="{59E8FF9A-6BD7-4576-A919-148C36A762C1}" dt="2024-11-25T15:21:32.005" v="16" actId="732"/>
        <pc:sldMkLst>
          <pc:docMk/>
          <pc:sldMk cId="4226387632" sldId="588"/>
        </pc:sldMkLst>
        <pc:spChg chg="mod">
          <ac:chgData name="Taylor Davis" userId="5c9e72a0-c39f-4aa1-9d7d-64125e78cbe6" providerId="ADAL" clId="{59E8FF9A-6BD7-4576-A919-148C36A762C1}" dt="2024-11-25T15:21:18.293" v="13" actId="20577"/>
          <ac:spMkLst>
            <pc:docMk/>
            <pc:sldMk cId="4226387632" sldId="588"/>
            <ac:spMk id="6" creationId="{6086B112-27E4-3EA1-B673-36BBD6EF784A}"/>
          </ac:spMkLst>
        </pc:spChg>
        <pc:picChg chg="del">
          <ac:chgData name="Taylor Davis" userId="5c9e72a0-c39f-4aa1-9d7d-64125e78cbe6" providerId="ADAL" clId="{59E8FF9A-6BD7-4576-A919-148C36A762C1}" dt="2024-11-25T15:20:54.429" v="2" actId="478"/>
          <ac:picMkLst>
            <pc:docMk/>
            <pc:sldMk cId="4226387632" sldId="588"/>
            <ac:picMk id="7" creationId="{B6DE48AF-9511-DAEA-9431-56A06FFBF315}"/>
          </ac:picMkLst>
        </pc:picChg>
        <pc:picChg chg="add mod">
          <ac:chgData name="Taylor Davis" userId="5c9e72a0-c39f-4aa1-9d7d-64125e78cbe6" providerId="ADAL" clId="{59E8FF9A-6BD7-4576-A919-148C36A762C1}" dt="2024-11-25T15:21:32.005" v="16" actId="732"/>
          <ac:picMkLst>
            <pc:docMk/>
            <pc:sldMk cId="4226387632" sldId="588"/>
            <ac:picMk id="1026" creationId="{3327B67F-31D2-69E3-9B86-3FE70BE0679F}"/>
          </ac:picMkLst>
        </pc:picChg>
      </pc:sldChg>
      <pc:sldChg chg="modSp">
        <pc:chgData name="Taylor Davis" userId="5c9e72a0-c39f-4aa1-9d7d-64125e78cbe6" providerId="ADAL" clId="{59E8FF9A-6BD7-4576-A919-148C36A762C1}" dt="2024-11-25T15:23:02.346" v="44" actId="20577"/>
        <pc:sldMkLst>
          <pc:docMk/>
          <pc:sldMk cId="506321289" sldId="594"/>
        </pc:sldMkLst>
        <pc:spChg chg="mod">
          <ac:chgData name="Taylor Davis" userId="5c9e72a0-c39f-4aa1-9d7d-64125e78cbe6" providerId="ADAL" clId="{59E8FF9A-6BD7-4576-A919-148C36A762C1}" dt="2024-11-25T15:21:47.094" v="21" actId="20577"/>
          <ac:spMkLst>
            <pc:docMk/>
            <pc:sldMk cId="506321289" sldId="594"/>
            <ac:spMk id="7" creationId="{BFBC6BC2-5BF3-BF61-E867-814CA37C105F}"/>
          </ac:spMkLst>
        </pc:spChg>
        <pc:spChg chg="mod">
          <ac:chgData name="Taylor Davis" userId="5c9e72a0-c39f-4aa1-9d7d-64125e78cbe6" providerId="ADAL" clId="{59E8FF9A-6BD7-4576-A919-148C36A762C1}" dt="2024-11-25T15:23:02.346" v="44" actId="20577"/>
          <ac:spMkLst>
            <pc:docMk/>
            <pc:sldMk cId="506321289" sldId="594"/>
            <ac:spMk id="9" creationId="{0EA6335E-1796-95DE-CEAB-0C05F3B03A86}"/>
          </ac:spMkLst>
        </pc:spChg>
      </pc:sldChg>
      <pc:sldChg chg="delSp modSp mod">
        <pc:chgData name="Taylor Davis" userId="5c9e72a0-c39f-4aa1-9d7d-64125e78cbe6" providerId="ADAL" clId="{59E8FF9A-6BD7-4576-A919-148C36A762C1}" dt="2024-12-03T02:33:00.358" v="45" actId="207"/>
        <pc:sldMkLst>
          <pc:docMk/>
          <pc:sldMk cId="4166728828" sldId="597"/>
        </pc:sldMkLst>
        <pc:spChg chg="mod">
          <ac:chgData name="Taylor Davis" userId="5c9e72a0-c39f-4aa1-9d7d-64125e78cbe6" providerId="ADAL" clId="{59E8FF9A-6BD7-4576-A919-148C36A762C1}" dt="2024-12-03T02:33:00.358" v="45" actId="207"/>
          <ac:spMkLst>
            <pc:docMk/>
            <pc:sldMk cId="4166728828" sldId="597"/>
            <ac:spMk id="2" creationId="{3242B65F-F983-BAE9-112C-59B9EA0096AD}"/>
          </ac:spMkLst>
        </pc:spChg>
        <pc:picChg chg="del">
          <ac:chgData name="Taylor Davis" userId="5c9e72a0-c39f-4aa1-9d7d-64125e78cbe6" providerId="ADAL" clId="{59E8FF9A-6BD7-4576-A919-148C36A762C1}" dt="2024-11-25T15:22:42.608" v="22" actId="478"/>
          <ac:picMkLst>
            <pc:docMk/>
            <pc:sldMk cId="4166728828" sldId="597"/>
            <ac:picMk id="29" creationId="{A2EDBB93-332B-1AB6-EB1B-9C270F86291F}"/>
          </ac:picMkLst>
        </pc:picChg>
      </pc:sldChg>
      <pc:sldChg chg="del">
        <pc:chgData name="Taylor Davis" userId="5c9e72a0-c39f-4aa1-9d7d-64125e78cbe6" providerId="ADAL" clId="{59E8FF9A-6BD7-4576-A919-148C36A762C1}" dt="2024-11-25T15:20:10.333" v="0" actId="47"/>
        <pc:sldMkLst>
          <pc:docMk/>
          <pc:sldMk cId="3874698132" sldId="598"/>
        </pc:sldMkLst>
      </pc:sldChg>
      <pc:sldChg chg="delSp mod">
        <pc:chgData name="Taylor Davis" userId="5c9e72a0-c39f-4aa1-9d7d-64125e78cbe6" providerId="ADAL" clId="{59E8FF9A-6BD7-4576-A919-148C36A762C1}" dt="2024-11-25T15:22:44.263" v="23" actId="478"/>
        <pc:sldMkLst>
          <pc:docMk/>
          <pc:sldMk cId="1902863230" sldId="601"/>
        </pc:sldMkLst>
        <pc:picChg chg="del">
          <ac:chgData name="Taylor Davis" userId="5c9e72a0-c39f-4aa1-9d7d-64125e78cbe6" providerId="ADAL" clId="{59E8FF9A-6BD7-4576-A919-148C36A762C1}" dt="2024-11-25T15:22:44.263" v="23" actId="478"/>
          <ac:picMkLst>
            <pc:docMk/>
            <pc:sldMk cId="1902863230" sldId="601"/>
            <ac:picMk id="38" creationId="{66E78E96-C838-C2C3-A09C-AF8AD995CAA5}"/>
          </ac:picMkLst>
        </pc:picChg>
      </pc:sldChg>
      <pc:sldChg chg="delSp mod">
        <pc:chgData name="Taylor Davis" userId="5c9e72a0-c39f-4aa1-9d7d-64125e78cbe6" providerId="ADAL" clId="{59E8FF9A-6BD7-4576-A919-148C36A762C1}" dt="2024-11-25T15:22:46.120" v="24" actId="478"/>
        <pc:sldMkLst>
          <pc:docMk/>
          <pc:sldMk cId="1149607862" sldId="602"/>
        </pc:sldMkLst>
        <pc:picChg chg="del">
          <ac:chgData name="Taylor Davis" userId="5c9e72a0-c39f-4aa1-9d7d-64125e78cbe6" providerId="ADAL" clId="{59E8FF9A-6BD7-4576-A919-148C36A762C1}" dt="2024-11-25T15:22:46.120" v="24" actId="478"/>
          <ac:picMkLst>
            <pc:docMk/>
            <pc:sldMk cId="1149607862" sldId="602"/>
            <ac:picMk id="54" creationId="{AA8C296A-0E12-DE3F-DE63-377F5BDD941C}"/>
          </ac:picMkLst>
        </pc:picChg>
      </pc:sldChg>
      <pc:sldChg chg="del">
        <pc:chgData name="Taylor Davis" userId="5c9e72a0-c39f-4aa1-9d7d-64125e78cbe6" providerId="ADAL" clId="{59E8FF9A-6BD7-4576-A919-148C36A762C1}" dt="2024-11-25T15:20:10.333" v="0" actId="47"/>
        <pc:sldMkLst>
          <pc:docMk/>
          <pc:sldMk cId="787795134" sldId="604"/>
        </pc:sldMkLst>
      </pc:sldChg>
    </pc:docChg>
  </pc:docChgLst>
</pc:chgInfo>
</file>

<file path=ppt/charts/_rels/chart1.xml.rels><?xml version="1.0" encoding="UTF-8" standalone="yes"?>
<Relationships xmlns="http://schemas.openxmlformats.org/package/2006/relationships"><Relationship Id="rId3" Type="http://schemas.openxmlformats.org/officeDocument/2006/relationships/package" Target="../embeddings/Microsoft_Excel_Worksheet.xlsx"/><Relationship Id="rId2" Type="http://schemas.microsoft.com/office/2011/relationships/chartColorStyle" Target="colors1.xml"/><Relationship Id="rId1" Type="http://schemas.microsoft.com/office/2011/relationships/chartStyle" Target="style1.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9.6380782480314967E-2"/>
          <c:y val="3.5195562684424579E-2"/>
          <c:w val="0.88955671751968501"/>
          <c:h val="0.80700208686079467"/>
        </c:manualLayout>
      </c:layout>
      <c:barChart>
        <c:barDir val="col"/>
        <c:grouping val="stacked"/>
        <c:varyColors val="0"/>
        <c:ser>
          <c:idx val="0"/>
          <c:order val="0"/>
          <c:tx>
            <c:strRef>
              <c:f>Sheet1!$B$1</c:f>
              <c:strCache>
                <c:ptCount val="1"/>
                <c:pt idx="0">
                  <c:v>Medical Costs</c:v>
                </c:pt>
              </c:strCache>
            </c:strRef>
          </c:tx>
          <c:spPr>
            <a:solidFill>
              <a:schemeClr val="accent1"/>
            </a:solidFill>
            <a:ln>
              <a:noFill/>
            </a:ln>
            <a:effectLst/>
          </c:spPr>
          <c:invertIfNegative val="0"/>
          <c:cat>
            <c:strRef>
              <c:f>Sheet1!$A$2:$A$8</c:f>
              <c:strCache>
                <c:ptCount val="7"/>
                <c:pt idx="0">
                  <c:v>Year T-4</c:v>
                </c:pt>
                <c:pt idx="1">
                  <c:v>Year T-3</c:v>
                </c:pt>
                <c:pt idx="2">
                  <c:v>Year T-2</c:v>
                </c:pt>
                <c:pt idx="3">
                  <c:v>Year T-1</c:v>
                </c:pt>
                <c:pt idx="4">
                  <c:v>Year 1</c:v>
                </c:pt>
                <c:pt idx="5">
                  <c:v>Year 2</c:v>
                </c:pt>
                <c:pt idx="6">
                  <c:v>Year 3</c:v>
                </c:pt>
              </c:strCache>
            </c:strRef>
          </c:cat>
          <c:val>
            <c:numRef>
              <c:f>Sheet1!$B$2:$B$8</c:f>
              <c:numCache>
                <c:formatCode>"$"#,##0.00_);[Red]\("$"#,##0.00\)</c:formatCode>
                <c:ptCount val="7"/>
                <c:pt idx="0" formatCode="&quot;$&quot;#,##0_);[Red]\(&quot;$&quot;#,##0\)">
                  <c:v>8500</c:v>
                </c:pt>
                <c:pt idx="1">
                  <c:v>8925</c:v>
                </c:pt>
                <c:pt idx="2">
                  <c:v>9371.25</c:v>
                </c:pt>
                <c:pt idx="3">
                  <c:v>9839.8125</c:v>
                </c:pt>
                <c:pt idx="4">
                  <c:v>10331.803125</c:v>
                </c:pt>
                <c:pt idx="5">
                  <c:v>10848.393281250001</c:v>
                </c:pt>
                <c:pt idx="6">
                  <c:v>11390.812945312502</c:v>
                </c:pt>
              </c:numCache>
            </c:numRef>
          </c:val>
          <c:extLst>
            <c:ext xmlns:c16="http://schemas.microsoft.com/office/drawing/2014/chart" uri="{C3380CC4-5D6E-409C-BE32-E72D297353CC}">
              <c16:uniqueId val="{00000000-68F1-4C61-B132-10C59C3B3835}"/>
            </c:ext>
          </c:extLst>
        </c:ser>
        <c:ser>
          <c:idx val="1"/>
          <c:order val="1"/>
          <c:tx>
            <c:strRef>
              <c:f>Sheet1!$C$1</c:f>
              <c:strCache>
                <c:ptCount val="1"/>
                <c:pt idx="0">
                  <c:v>Administrative Fees</c:v>
                </c:pt>
              </c:strCache>
            </c:strRef>
          </c:tx>
          <c:spPr>
            <a:solidFill>
              <a:schemeClr val="accent2"/>
            </a:solidFill>
            <a:ln>
              <a:noFill/>
            </a:ln>
            <a:effectLst/>
          </c:spPr>
          <c:invertIfNegative val="0"/>
          <c:cat>
            <c:strRef>
              <c:f>Sheet1!$A$2:$A$8</c:f>
              <c:strCache>
                <c:ptCount val="7"/>
                <c:pt idx="0">
                  <c:v>Year T-4</c:v>
                </c:pt>
                <c:pt idx="1">
                  <c:v>Year T-3</c:v>
                </c:pt>
                <c:pt idx="2">
                  <c:v>Year T-2</c:v>
                </c:pt>
                <c:pt idx="3">
                  <c:v>Year T-1</c:v>
                </c:pt>
                <c:pt idx="4">
                  <c:v>Year 1</c:v>
                </c:pt>
                <c:pt idx="5">
                  <c:v>Year 2</c:v>
                </c:pt>
                <c:pt idx="6">
                  <c:v>Year 3</c:v>
                </c:pt>
              </c:strCache>
            </c:strRef>
          </c:cat>
          <c:val>
            <c:numRef>
              <c:f>Sheet1!$C$2:$C$8</c:f>
              <c:numCache>
                <c:formatCode>"$"#,##0.0_);[Red]\("$"#,##0.0\)</c:formatCode>
                <c:ptCount val="7"/>
                <c:pt idx="0" formatCode="&quot;$&quot;#,##0_);[Red]\(&quot;$&quot;#,##0\)">
                  <c:v>3500</c:v>
                </c:pt>
                <c:pt idx="1">
                  <c:v>3850.0000000000005</c:v>
                </c:pt>
                <c:pt idx="2">
                  <c:v>4235.0000000000009</c:v>
                </c:pt>
                <c:pt idx="3">
                  <c:v>4658.5000000000018</c:v>
                </c:pt>
                <c:pt idx="4" formatCode="&quot;$&quot;#,##0_);[Red]\(&quot;$&quot;#,##0\)">
                  <c:v>600</c:v>
                </c:pt>
                <c:pt idx="5" formatCode="&quot;$&quot;#,##0.00_);[Red]\(&quot;$&quot;#,##0.00\)">
                  <c:v>630</c:v>
                </c:pt>
                <c:pt idx="6" formatCode="&quot;$&quot;#,##0.00_);[Red]\(&quot;$&quot;#,##0.00\)">
                  <c:v>661.5</c:v>
                </c:pt>
              </c:numCache>
            </c:numRef>
          </c:val>
          <c:extLst>
            <c:ext xmlns:c16="http://schemas.microsoft.com/office/drawing/2014/chart" uri="{C3380CC4-5D6E-409C-BE32-E72D297353CC}">
              <c16:uniqueId val="{00000001-68F1-4C61-B132-10C59C3B3835}"/>
            </c:ext>
          </c:extLst>
        </c:ser>
        <c:dLbls>
          <c:showLegendKey val="0"/>
          <c:showVal val="0"/>
          <c:showCatName val="0"/>
          <c:showSerName val="0"/>
          <c:showPercent val="0"/>
          <c:showBubbleSize val="0"/>
        </c:dLbls>
        <c:gapWidth val="150"/>
        <c:overlap val="100"/>
        <c:axId val="2088025103"/>
        <c:axId val="2088025583"/>
      </c:barChart>
      <c:catAx>
        <c:axId val="2088025103"/>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crossAx val="2088025583"/>
        <c:crosses val="autoZero"/>
        <c:auto val="1"/>
        <c:lblAlgn val="ctr"/>
        <c:lblOffset val="100"/>
        <c:noMultiLvlLbl val="0"/>
      </c:catAx>
      <c:valAx>
        <c:axId val="2088025583"/>
        <c:scaling>
          <c:orientation val="minMax"/>
        </c:scaling>
        <c:delete val="0"/>
        <c:axPos val="l"/>
        <c:majorGridlines>
          <c:spPr>
            <a:ln w="9525" cap="flat" cmpd="sng" algn="ctr">
              <a:solidFill>
                <a:schemeClr val="tx1">
                  <a:lumMod val="15000"/>
                  <a:lumOff val="85000"/>
                </a:schemeClr>
              </a:solidFill>
              <a:round/>
            </a:ln>
            <a:effectLst/>
          </c:spPr>
        </c:majorGridlines>
        <c:numFmt formatCode="&quot;$&quot;#,##0_);[Red]\(&quot;$&quot;#,##0\)" sourceLinked="1"/>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crossAx val="2088025103"/>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US"/>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97">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3"/>
            <a:ext cx="3169920" cy="481726"/>
          </a:xfrm>
          <a:prstGeom prst="rect">
            <a:avLst/>
          </a:prstGeom>
        </p:spPr>
        <p:txBody>
          <a:bodyPr vert="horz" lIns="95178" tIns="47590" rIns="95178" bIns="47590" rtlCol="0"/>
          <a:lstStyle>
            <a:lvl1pPr algn="l">
              <a:defRPr sz="1200"/>
            </a:lvl1pPr>
          </a:lstStyle>
          <a:p>
            <a:endParaRPr lang="en-US" dirty="0"/>
          </a:p>
        </p:txBody>
      </p:sp>
      <p:sp>
        <p:nvSpPr>
          <p:cNvPr id="3" name="Date Placeholder 2"/>
          <p:cNvSpPr>
            <a:spLocks noGrp="1"/>
          </p:cNvSpPr>
          <p:nvPr>
            <p:ph type="dt" idx="1"/>
          </p:nvPr>
        </p:nvSpPr>
        <p:spPr>
          <a:xfrm>
            <a:off x="4143587" y="3"/>
            <a:ext cx="3169920" cy="481726"/>
          </a:xfrm>
          <a:prstGeom prst="rect">
            <a:avLst/>
          </a:prstGeom>
        </p:spPr>
        <p:txBody>
          <a:bodyPr vert="horz" lIns="95178" tIns="47590" rIns="95178" bIns="47590" rtlCol="0"/>
          <a:lstStyle>
            <a:lvl1pPr algn="r">
              <a:defRPr sz="1200"/>
            </a:lvl1pPr>
          </a:lstStyle>
          <a:p>
            <a:fld id="{7444AE22-21A2-46C1-A42F-3B4E8AE858E0}" type="datetimeFigureOut">
              <a:rPr lang="en-US" smtClean="0"/>
              <a:t>12/2/2024</a:t>
            </a:fld>
            <a:endParaRPr lang="en-US" dirty="0"/>
          </a:p>
        </p:txBody>
      </p:sp>
      <p:sp>
        <p:nvSpPr>
          <p:cNvPr id="4" name="Slide Image Placeholder 3"/>
          <p:cNvSpPr>
            <a:spLocks noGrp="1" noRot="1" noChangeAspect="1"/>
          </p:cNvSpPr>
          <p:nvPr>
            <p:ph type="sldImg" idx="2"/>
          </p:nvPr>
        </p:nvSpPr>
        <p:spPr>
          <a:xfrm>
            <a:off x="779463" y="1200150"/>
            <a:ext cx="5756275" cy="3238500"/>
          </a:xfrm>
          <a:prstGeom prst="rect">
            <a:avLst/>
          </a:prstGeom>
          <a:noFill/>
          <a:ln w="12700">
            <a:solidFill>
              <a:prstClr val="black"/>
            </a:solidFill>
          </a:ln>
        </p:spPr>
        <p:txBody>
          <a:bodyPr vert="horz" lIns="95178" tIns="47590" rIns="95178" bIns="47590" rtlCol="0" anchor="ctr"/>
          <a:lstStyle/>
          <a:p>
            <a:endParaRPr lang="en-US" dirty="0"/>
          </a:p>
        </p:txBody>
      </p:sp>
      <p:sp>
        <p:nvSpPr>
          <p:cNvPr id="5" name="Notes Placeholder 4"/>
          <p:cNvSpPr>
            <a:spLocks noGrp="1"/>
          </p:cNvSpPr>
          <p:nvPr>
            <p:ph type="body" sz="quarter" idx="3"/>
          </p:nvPr>
        </p:nvSpPr>
        <p:spPr>
          <a:xfrm>
            <a:off x="731520" y="4620580"/>
            <a:ext cx="5852160" cy="3780473"/>
          </a:xfrm>
          <a:prstGeom prst="rect">
            <a:avLst/>
          </a:prstGeom>
        </p:spPr>
        <p:txBody>
          <a:bodyPr vert="horz" lIns="95178" tIns="47590" rIns="95178" bIns="4759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9119477"/>
            <a:ext cx="3169920" cy="481725"/>
          </a:xfrm>
          <a:prstGeom prst="rect">
            <a:avLst/>
          </a:prstGeom>
        </p:spPr>
        <p:txBody>
          <a:bodyPr vert="horz" lIns="95178" tIns="47590" rIns="95178" bIns="47590" rtlCol="0" anchor="b"/>
          <a:lstStyle>
            <a:lvl1pPr algn="l">
              <a:defRPr sz="1200"/>
            </a:lvl1pPr>
          </a:lstStyle>
          <a:p>
            <a:endParaRPr lang="en-US" dirty="0"/>
          </a:p>
        </p:txBody>
      </p:sp>
      <p:sp>
        <p:nvSpPr>
          <p:cNvPr id="7" name="Slide Number Placeholder 6"/>
          <p:cNvSpPr>
            <a:spLocks noGrp="1"/>
          </p:cNvSpPr>
          <p:nvPr>
            <p:ph type="sldNum" sz="quarter" idx="5"/>
          </p:nvPr>
        </p:nvSpPr>
        <p:spPr>
          <a:xfrm>
            <a:off x="4143587" y="9119477"/>
            <a:ext cx="3169920" cy="481725"/>
          </a:xfrm>
          <a:prstGeom prst="rect">
            <a:avLst/>
          </a:prstGeom>
        </p:spPr>
        <p:txBody>
          <a:bodyPr vert="horz" lIns="95178" tIns="47590" rIns="95178" bIns="47590" rtlCol="0" anchor="b"/>
          <a:lstStyle>
            <a:lvl1pPr algn="r">
              <a:defRPr sz="1200"/>
            </a:lvl1pPr>
          </a:lstStyle>
          <a:p>
            <a:fld id="{4139CA89-B4B2-4050-B038-8DF8E3A33516}" type="slidenum">
              <a:rPr lang="en-US" smtClean="0"/>
              <a:t>‹#›</a:t>
            </a:fld>
            <a:endParaRPr lang="en-US" dirty="0"/>
          </a:p>
        </p:txBody>
      </p:sp>
    </p:spTree>
    <p:extLst>
      <p:ext uri="{BB962C8B-B14F-4D97-AF65-F5344CB8AC3E}">
        <p14:creationId xmlns:p14="http://schemas.microsoft.com/office/powerpoint/2010/main" val="110122827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46288C0-024E-429E-B9F9-88F45D0B6B95}"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65390312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6" indent="0" algn="ctr">
              <a:buNone/>
              <a:defRPr sz="2000"/>
            </a:lvl2pPr>
            <a:lvl3pPr marL="914411" indent="0" algn="ctr">
              <a:buNone/>
              <a:defRPr sz="1800"/>
            </a:lvl3pPr>
            <a:lvl4pPr marL="1371617" indent="0" algn="ctr">
              <a:buNone/>
              <a:defRPr sz="1600"/>
            </a:lvl4pPr>
            <a:lvl5pPr marL="1828823" indent="0" algn="ctr">
              <a:buNone/>
              <a:defRPr sz="1600"/>
            </a:lvl5pPr>
            <a:lvl6pPr marL="2286029" indent="0" algn="ctr">
              <a:buNone/>
              <a:defRPr sz="1600"/>
            </a:lvl6pPr>
            <a:lvl7pPr marL="2743234" indent="0" algn="ctr">
              <a:buNone/>
              <a:defRPr sz="1600"/>
            </a:lvl7pPr>
            <a:lvl8pPr marL="3200440" indent="0" algn="ctr">
              <a:buNone/>
              <a:defRPr sz="1600"/>
            </a:lvl8pPr>
            <a:lvl9pPr marL="3657646"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21A9E3A3-CB7F-45DB-8359-15D56BF69054}" type="datetime1">
              <a:rPr lang="en-US" smtClean="0"/>
              <a:t>12/2/2024</a:t>
            </a:fld>
            <a:endParaRPr lang="en-US" dirty="0"/>
          </a:p>
        </p:txBody>
      </p:sp>
      <p:sp>
        <p:nvSpPr>
          <p:cNvPr id="5" name="Footer Placeholder 4"/>
          <p:cNvSpPr>
            <a:spLocks noGrp="1"/>
          </p:cNvSpPr>
          <p:nvPr>
            <p:ph type="ftr" sz="quarter" idx="11"/>
          </p:nvPr>
        </p:nvSpPr>
        <p:spPr/>
        <p:txBody>
          <a:bodyPr/>
          <a:lstStyle>
            <a:lvl1pPr>
              <a:defRPr>
                <a:solidFill>
                  <a:srgbClr val="3C3935"/>
                </a:solidFill>
              </a:defRPr>
            </a:lvl1pPr>
          </a:lstStyle>
          <a:p>
            <a:r>
              <a:rPr lang="en-US" dirty="0"/>
              <a:t>Key Benefit Administrators</a:t>
            </a:r>
          </a:p>
        </p:txBody>
      </p:sp>
      <p:sp>
        <p:nvSpPr>
          <p:cNvPr id="6" name="Slide Number Placeholder 5"/>
          <p:cNvSpPr>
            <a:spLocks noGrp="1"/>
          </p:cNvSpPr>
          <p:nvPr>
            <p:ph type="sldNum" sz="quarter" idx="12"/>
          </p:nvPr>
        </p:nvSpPr>
        <p:spPr/>
        <p:txBody>
          <a:bodyPr/>
          <a:lstStyle/>
          <a:p>
            <a:fld id="{3AFC719D-C4A7-4544-876E-D411D11AF6C9}" type="slidenum">
              <a:rPr lang="en-US" smtClean="0"/>
              <a:t>‹#›</a:t>
            </a:fld>
            <a:endParaRPr lang="en-US" dirty="0"/>
          </a:p>
        </p:txBody>
      </p:sp>
    </p:spTree>
    <p:extLst>
      <p:ext uri="{BB962C8B-B14F-4D97-AF65-F5344CB8AC3E}">
        <p14:creationId xmlns:p14="http://schemas.microsoft.com/office/powerpoint/2010/main" val="214642698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838201" y="6471095"/>
            <a:ext cx="2743200" cy="250380"/>
          </a:xfrm>
        </p:spPr>
        <p:txBody>
          <a:bodyPr/>
          <a:lstStyle/>
          <a:p>
            <a:fld id="{F72A7C2C-8CBA-48FC-B47E-140B6C446377}" type="datetime1">
              <a:rPr lang="en-US" smtClean="0"/>
              <a:t>12/2/2024</a:t>
            </a:fld>
            <a:endParaRPr lang="en-US" dirty="0"/>
          </a:p>
        </p:txBody>
      </p:sp>
      <p:sp>
        <p:nvSpPr>
          <p:cNvPr id="5" name="Footer Placeholder 4"/>
          <p:cNvSpPr>
            <a:spLocks noGrp="1"/>
          </p:cNvSpPr>
          <p:nvPr>
            <p:ph type="ftr" sz="quarter" idx="11"/>
          </p:nvPr>
        </p:nvSpPr>
        <p:spPr>
          <a:xfrm>
            <a:off x="4038602" y="6471095"/>
            <a:ext cx="4114800" cy="250380"/>
          </a:xfrm>
        </p:spPr>
        <p:txBody>
          <a:bodyPr/>
          <a:lstStyle>
            <a:lvl1pPr>
              <a:defRPr u="none" spc="300"/>
            </a:lvl1pPr>
          </a:lstStyle>
          <a:p>
            <a:r>
              <a:rPr lang="en-US" dirty="0"/>
              <a:t>Key Benefit Administrators</a:t>
            </a:r>
          </a:p>
        </p:txBody>
      </p:sp>
      <p:sp>
        <p:nvSpPr>
          <p:cNvPr id="6" name="Slide Number Placeholder 5"/>
          <p:cNvSpPr>
            <a:spLocks noGrp="1"/>
          </p:cNvSpPr>
          <p:nvPr>
            <p:ph type="sldNum" sz="quarter" idx="12"/>
          </p:nvPr>
        </p:nvSpPr>
        <p:spPr>
          <a:xfrm>
            <a:off x="8610601" y="6471095"/>
            <a:ext cx="2743200" cy="250380"/>
          </a:xfrm>
        </p:spPr>
        <p:txBody>
          <a:bodyPr/>
          <a:lstStyle/>
          <a:p>
            <a:fld id="{3AFC719D-C4A7-4544-876E-D411D11AF6C9}" type="slidenum">
              <a:rPr lang="en-US" smtClean="0"/>
              <a:t>‹#›</a:t>
            </a:fld>
            <a:endParaRPr lang="en-US" dirty="0"/>
          </a:p>
        </p:txBody>
      </p:sp>
    </p:spTree>
    <p:extLst>
      <p:ext uri="{BB962C8B-B14F-4D97-AF65-F5344CB8AC3E}">
        <p14:creationId xmlns:p14="http://schemas.microsoft.com/office/powerpoint/2010/main" val="425094386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2" y="1709738"/>
            <a:ext cx="105156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831852" y="4589464"/>
            <a:ext cx="10515600" cy="1500187"/>
          </a:xfrm>
        </p:spPr>
        <p:txBody>
          <a:bodyPr/>
          <a:lstStyle>
            <a:lvl1pPr marL="0" indent="0">
              <a:buNone/>
              <a:defRPr sz="2400">
                <a:solidFill>
                  <a:schemeClr val="tx1">
                    <a:tint val="75000"/>
                  </a:schemeClr>
                </a:solidFill>
              </a:defRPr>
            </a:lvl1pPr>
            <a:lvl2pPr marL="457206" indent="0">
              <a:buNone/>
              <a:defRPr sz="2000">
                <a:solidFill>
                  <a:schemeClr val="tx1">
                    <a:tint val="75000"/>
                  </a:schemeClr>
                </a:solidFill>
              </a:defRPr>
            </a:lvl2pPr>
            <a:lvl3pPr marL="914411" indent="0">
              <a:buNone/>
              <a:defRPr sz="1800">
                <a:solidFill>
                  <a:schemeClr val="tx1">
                    <a:tint val="75000"/>
                  </a:schemeClr>
                </a:solidFill>
              </a:defRPr>
            </a:lvl3pPr>
            <a:lvl4pPr marL="1371617" indent="0">
              <a:buNone/>
              <a:defRPr sz="1600">
                <a:solidFill>
                  <a:schemeClr val="tx1">
                    <a:tint val="75000"/>
                  </a:schemeClr>
                </a:solidFill>
              </a:defRPr>
            </a:lvl4pPr>
            <a:lvl5pPr marL="1828823" indent="0">
              <a:buNone/>
              <a:defRPr sz="1600">
                <a:solidFill>
                  <a:schemeClr val="tx1">
                    <a:tint val="75000"/>
                  </a:schemeClr>
                </a:solidFill>
              </a:defRPr>
            </a:lvl5pPr>
            <a:lvl6pPr marL="2286029" indent="0">
              <a:buNone/>
              <a:defRPr sz="1600">
                <a:solidFill>
                  <a:schemeClr val="tx1">
                    <a:tint val="75000"/>
                  </a:schemeClr>
                </a:solidFill>
              </a:defRPr>
            </a:lvl6pPr>
            <a:lvl7pPr marL="2743234" indent="0">
              <a:buNone/>
              <a:defRPr sz="1600">
                <a:solidFill>
                  <a:schemeClr val="tx1">
                    <a:tint val="75000"/>
                  </a:schemeClr>
                </a:solidFill>
              </a:defRPr>
            </a:lvl7pPr>
            <a:lvl8pPr marL="3200440" indent="0">
              <a:buNone/>
              <a:defRPr sz="1600">
                <a:solidFill>
                  <a:schemeClr val="tx1">
                    <a:tint val="75000"/>
                  </a:schemeClr>
                </a:solidFill>
              </a:defRPr>
            </a:lvl8pPr>
            <a:lvl9pPr marL="3657646"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9FFEA2DF-E8B3-4F59-892A-C88743D6614D}" type="datetime1">
              <a:rPr lang="en-US" smtClean="0"/>
              <a:t>12/2/2024</a:t>
            </a:fld>
            <a:endParaRPr lang="en-US" dirty="0"/>
          </a:p>
        </p:txBody>
      </p:sp>
      <p:sp>
        <p:nvSpPr>
          <p:cNvPr id="5" name="Footer Placeholder 4"/>
          <p:cNvSpPr>
            <a:spLocks noGrp="1"/>
          </p:cNvSpPr>
          <p:nvPr>
            <p:ph type="ftr" sz="quarter" idx="11"/>
          </p:nvPr>
        </p:nvSpPr>
        <p:spPr/>
        <p:txBody>
          <a:bodyPr/>
          <a:lstStyle/>
          <a:p>
            <a:r>
              <a:rPr lang="en-US" dirty="0"/>
              <a:t>Key Benefit Administrators</a:t>
            </a:r>
          </a:p>
        </p:txBody>
      </p:sp>
      <p:sp>
        <p:nvSpPr>
          <p:cNvPr id="6" name="Slide Number Placeholder 5"/>
          <p:cNvSpPr>
            <a:spLocks noGrp="1"/>
          </p:cNvSpPr>
          <p:nvPr>
            <p:ph type="sldNum" sz="quarter" idx="12"/>
          </p:nvPr>
        </p:nvSpPr>
        <p:spPr/>
        <p:txBody>
          <a:bodyPr/>
          <a:lstStyle/>
          <a:p>
            <a:fld id="{3AFC719D-C4A7-4544-876E-D411D11AF6C9}" type="slidenum">
              <a:rPr lang="en-US" smtClean="0"/>
              <a:t>‹#›</a:t>
            </a:fld>
            <a:endParaRPr lang="en-US" dirty="0"/>
          </a:p>
        </p:txBody>
      </p:sp>
    </p:spTree>
    <p:extLst>
      <p:ext uri="{BB962C8B-B14F-4D97-AF65-F5344CB8AC3E}">
        <p14:creationId xmlns:p14="http://schemas.microsoft.com/office/powerpoint/2010/main" val="416887587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38201"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1"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8B0F09CE-D3E6-4C73-9F86-6AA671224F8D}" type="datetime1">
              <a:rPr lang="en-US" smtClean="0"/>
              <a:t>12/2/2024</a:t>
            </a:fld>
            <a:endParaRPr lang="en-US" dirty="0"/>
          </a:p>
        </p:txBody>
      </p:sp>
      <p:sp>
        <p:nvSpPr>
          <p:cNvPr id="6" name="Footer Placeholder 5"/>
          <p:cNvSpPr>
            <a:spLocks noGrp="1"/>
          </p:cNvSpPr>
          <p:nvPr>
            <p:ph type="ftr" sz="quarter" idx="11"/>
          </p:nvPr>
        </p:nvSpPr>
        <p:spPr/>
        <p:txBody>
          <a:bodyPr/>
          <a:lstStyle/>
          <a:p>
            <a:r>
              <a:rPr lang="en-US" dirty="0"/>
              <a:t>Key Benefit Administrators</a:t>
            </a:r>
          </a:p>
        </p:txBody>
      </p:sp>
      <p:sp>
        <p:nvSpPr>
          <p:cNvPr id="7" name="Slide Number Placeholder 6"/>
          <p:cNvSpPr>
            <a:spLocks noGrp="1"/>
          </p:cNvSpPr>
          <p:nvPr>
            <p:ph type="sldNum" sz="quarter" idx="12"/>
          </p:nvPr>
        </p:nvSpPr>
        <p:spPr/>
        <p:txBody>
          <a:bodyPr/>
          <a:lstStyle/>
          <a:p>
            <a:fld id="{3AFC719D-C4A7-4544-876E-D411D11AF6C9}" type="slidenum">
              <a:rPr lang="en-US" smtClean="0"/>
              <a:t>‹#›</a:t>
            </a:fld>
            <a:endParaRPr lang="en-US" dirty="0"/>
          </a:p>
        </p:txBody>
      </p:sp>
    </p:spTree>
    <p:extLst>
      <p:ext uri="{BB962C8B-B14F-4D97-AF65-F5344CB8AC3E}">
        <p14:creationId xmlns:p14="http://schemas.microsoft.com/office/powerpoint/2010/main" val="218581143"/>
      </p:ext>
    </p:extLst>
  </p:cSld>
  <p:clrMapOvr>
    <a:masterClrMapping/>
  </p:clrMapOvr>
  <p:extLst>
    <p:ext uri="{DCECCB84-F9BA-43D5-87BE-67443E8EF086}">
      <p15:sldGuideLst xmlns:p15="http://schemas.microsoft.com/office/powerpoint/2012/main"/>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9" y="365125"/>
            <a:ext cx="105156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839789" y="1681163"/>
            <a:ext cx="5157787" cy="823912"/>
          </a:xfrm>
        </p:spPr>
        <p:txBody>
          <a:bodyPr anchor="b"/>
          <a:lstStyle>
            <a:lvl1pPr marL="0" indent="0">
              <a:buNone/>
              <a:defRPr sz="2400" b="1"/>
            </a:lvl1pPr>
            <a:lvl2pPr marL="457206" indent="0">
              <a:buNone/>
              <a:defRPr sz="2000" b="1"/>
            </a:lvl2pPr>
            <a:lvl3pPr marL="914411" indent="0">
              <a:buNone/>
              <a:defRPr sz="1800" b="1"/>
            </a:lvl3pPr>
            <a:lvl4pPr marL="1371617" indent="0">
              <a:buNone/>
              <a:defRPr sz="1600" b="1"/>
            </a:lvl4pPr>
            <a:lvl5pPr marL="1828823" indent="0">
              <a:buNone/>
              <a:defRPr sz="1600" b="1"/>
            </a:lvl5pPr>
            <a:lvl6pPr marL="2286029" indent="0">
              <a:buNone/>
              <a:defRPr sz="1600" b="1"/>
            </a:lvl6pPr>
            <a:lvl7pPr marL="2743234" indent="0">
              <a:buNone/>
              <a:defRPr sz="1600" b="1"/>
            </a:lvl7pPr>
            <a:lvl8pPr marL="3200440" indent="0">
              <a:buNone/>
              <a:defRPr sz="1600" b="1"/>
            </a:lvl8pPr>
            <a:lvl9pPr marL="3657646" indent="0">
              <a:buNone/>
              <a:defRPr sz="1600" b="1"/>
            </a:lvl9pPr>
          </a:lstStyle>
          <a:p>
            <a:pPr lvl="0"/>
            <a:r>
              <a:rPr lang="en-US"/>
              <a:t>Edit Master text styles</a:t>
            </a:r>
          </a:p>
        </p:txBody>
      </p:sp>
      <p:sp>
        <p:nvSpPr>
          <p:cNvPr id="4" name="Content Placeholder 3"/>
          <p:cNvSpPr>
            <a:spLocks noGrp="1"/>
          </p:cNvSpPr>
          <p:nvPr>
            <p:ph sz="half" idx="2"/>
          </p:nvPr>
        </p:nvSpPr>
        <p:spPr>
          <a:xfrm>
            <a:off x="839789" y="2505076"/>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72202" y="1681163"/>
            <a:ext cx="5183188" cy="823912"/>
          </a:xfrm>
        </p:spPr>
        <p:txBody>
          <a:bodyPr anchor="b"/>
          <a:lstStyle>
            <a:lvl1pPr marL="0" indent="0">
              <a:buNone/>
              <a:defRPr sz="2400" b="1"/>
            </a:lvl1pPr>
            <a:lvl2pPr marL="457206" indent="0">
              <a:buNone/>
              <a:defRPr sz="2000" b="1"/>
            </a:lvl2pPr>
            <a:lvl3pPr marL="914411" indent="0">
              <a:buNone/>
              <a:defRPr sz="1800" b="1"/>
            </a:lvl3pPr>
            <a:lvl4pPr marL="1371617" indent="0">
              <a:buNone/>
              <a:defRPr sz="1600" b="1"/>
            </a:lvl4pPr>
            <a:lvl5pPr marL="1828823" indent="0">
              <a:buNone/>
              <a:defRPr sz="1600" b="1"/>
            </a:lvl5pPr>
            <a:lvl6pPr marL="2286029" indent="0">
              <a:buNone/>
              <a:defRPr sz="1600" b="1"/>
            </a:lvl6pPr>
            <a:lvl7pPr marL="2743234" indent="0">
              <a:buNone/>
              <a:defRPr sz="1600" b="1"/>
            </a:lvl7pPr>
            <a:lvl8pPr marL="3200440" indent="0">
              <a:buNone/>
              <a:defRPr sz="1600" b="1"/>
            </a:lvl8pPr>
            <a:lvl9pPr marL="3657646" indent="0">
              <a:buNone/>
              <a:defRPr sz="1600" b="1"/>
            </a:lvl9pPr>
          </a:lstStyle>
          <a:p>
            <a:pPr lvl="0"/>
            <a:r>
              <a:rPr lang="en-US"/>
              <a:t>Edit Master text styles</a:t>
            </a:r>
          </a:p>
        </p:txBody>
      </p:sp>
      <p:sp>
        <p:nvSpPr>
          <p:cNvPr id="6" name="Content Placeholder 5"/>
          <p:cNvSpPr>
            <a:spLocks noGrp="1"/>
          </p:cNvSpPr>
          <p:nvPr>
            <p:ph sz="quarter" idx="4"/>
          </p:nvPr>
        </p:nvSpPr>
        <p:spPr>
          <a:xfrm>
            <a:off x="6172202" y="2505076"/>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F3AF486B-7A2A-4144-9105-81B5F9A702C4}" type="datetime1">
              <a:rPr lang="en-US" smtClean="0"/>
              <a:t>12/2/2024</a:t>
            </a:fld>
            <a:endParaRPr lang="en-US" dirty="0"/>
          </a:p>
        </p:txBody>
      </p:sp>
      <p:sp>
        <p:nvSpPr>
          <p:cNvPr id="8" name="Footer Placeholder 7"/>
          <p:cNvSpPr>
            <a:spLocks noGrp="1"/>
          </p:cNvSpPr>
          <p:nvPr>
            <p:ph type="ftr" sz="quarter" idx="11"/>
          </p:nvPr>
        </p:nvSpPr>
        <p:spPr/>
        <p:txBody>
          <a:bodyPr/>
          <a:lstStyle/>
          <a:p>
            <a:r>
              <a:rPr lang="en-US" dirty="0"/>
              <a:t>Key Benefit Administrators</a:t>
            </a:r>
          </a:p>
        </p:txBody>
      </p:sp>
      <p:sp>
        <p:nvSpPr>
          <p:cNvPr id="9" name="Slide Number Placeholder 8"/>
          <p:cNvSpPr>
            <a:spLocks noGrp="1"/>
          </p:cNvSpPr>
          <p:nvPr>
            <p:ph type="sldNum" sz="quarter" idx="12"/>
          </p:nvPr>
        </p:nvSpPr>
        <p:spPr/>
        <p:txBody>
          <a:bodyPr/>
          <a:lstStyle/>
          <a:p>
            <a:fld id="{3AFC719D-C4A7-4544-876E-D411D11AF6C9}" type="slidenum">
              <a:rPr lang="en-US" smtClean="0"/>
              <a:t>‹#›</a:t>
            </a:fld>
            <a:endParaRPr lang="en-US" dirty="0"/>
          </a:p>
        </p:txBody>
      </p:sp>
    </p:spTree>
    <p:extLst>
      <p:ext uri="{BB962C8B-B14F-4D97-AF65-F5344CB8AC3E}">
        <p14:creationId xmlns:p14="http://schemas.microsoft.com/office/powerpoint/2010/main" val="740904082"/>
      </p:ext>
    </p:extLst>
  </p:cSld>
  <p:clrMapOvr>
    <a:masterClrMapping/>
  </p:clrMapOvr>
  <p:extLst>
    <p:ext uri="{DCECCB84-F9BA-43D5-87BE-67443E8EF086}">
      <p15:sldGuideLst xmlns:p15="http://schemas.microsoft.com/office/powerpoint/2012/main"/>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4000" b="1" spc="150" baseline="0">
                <a:latin typeface="Arial" panose="020B0604020202020204" pitchFamily="34" charset="0"/>
                <a:cs typeface="Arial" panose="020B0604020202020204" pitchFamily="34" charset="0"/>
              </a:defRPr>
            </a:lvl1pPr>
          </a:lstStyle>
          <a:p>
            <a:r>
              <a:rPr lang="en-US"/>
              <a:t>Click to edit Master title style</a:t>
            </a:r>
            <a:endParaRPr lang="en-US" dirty="0"/>
          </a:p>
        </p:txBody>
      </p:sp>
      <p:sp>
        <p:nvSpPr>
          <p:cNvPr id="3" name="Date Placeholder 2"/>
          <p:cNvSpPr>
            <a:spLocks noGrp="1"/>
          </p:cNvSpPr>
          <p:nvPr>
            <p:ph type="dt" sz="half" idx="10"/>
          </p:nvPr>
        </p:nvSpPr>
        <p:spPr>
          <a:xfrm>
            <a:off x="838201" y="6480530"/>
            <a:ext cx="2743200" cy="365125"/>
          </a:xfrm>
        </p:spPr>
        <p:txBody>
          <a:bodyPr/>
          <a:lstStyle/>
          <a:p>
            <a:fld id="{13273CBB-1638-4F86-93C5-F289BAB372F8}" type="datetime1">
              <a:rPr lang="en-US" smtClean="0"/>
              <a:t>12/2/2024</a:t>
            </a:fld>
            <a:endParaRPr lang="en-US" dirty="0"/>
          </a:p>
        </p:txBody>
      </p:sp>
      <p:sp>
        <p:nvSpPr>
          <p:cNvPr id="4" name="Footer Placeholder 3"/>
          <p:cNvSpPr>
            <a:spLocks noGrp="1"/>
          </p:cNvSpPr>
          <p:nvPr>
            <p:ph type="ftr" sz="quarter" idx="11"/>
          </p:nvPr>
        </p:nvSpPr>
        <p:spPr>
          <a:xfrm>
            <a:off x="4038602" y="6480530"/>
            <a:ext cx="4114800" cy="365125"/>
          </a:xfrm>
        </p:spPr>
        <p:txBody>
          <a:bodyPr/>
          <a:lstStyle/>
          <a:p>
            <a:r>
              <a:rPr lang="en-US" dirty="0"/>
              <a:t>Key Benefit Administrators</a:t>
            </a:r>
          </a:p>
        </p:txBody>
      </p:sp>
      <p:sp>
        <p:nvSpPr>
          <p:cNvPr id="5" name="Slide Number Placeholder 4"/>
          <p:cNvSpPr>
            <a:spLocks noGrp="1"/>
          </p:cNvSpPr>
          <p:nvPr>
            <p:ph type="sldNum" sz="quarter" idx="12"/>
          </p:nvPr>
        </p:nvSpPr>
        <p:spPr>
          <a:xfrm>
            <a:off x="8542866" y="6480530"/>
            <a:ext cx="2743200" cy="365125"/>
          </a:xfrm>
        </p:spPr>
        <p:txBody>
          <a:bodyPr/>
          <a:lstStyle/>
          <a:p>
            <a:fld id="{3AFC719D-C4A7-4544-876E-D411D11AF6C9}" type="slidenum">
              <a:rPr lang="en-US" smtClean="0"/>
              <a:t>‹#›</a:t>
            </a:fld>
            <a:endParaRPr lang="en-US" dirty="0"/>
          </a:p>
        </p:txBody>
      </p:sp>
    </p:spTree>
    <p:extLst>
      <p:ext uri="{BB962C8B-B14F-4D97-AF65-F5344CB8AC3E}">
        <p14:creationId xmlns:p14="http://schemas.microsoft.com/office/powerpoint/2010/main" val="400580426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E1223EA-AE71-4F47-9CA1-AC76DEC2B9E8}" type="datetime1">
              <a:rPr lang="en-US" smtClean="0"/>
              <a:t>12/2/2024</a:t>
            </a:fld>
            <a:endParaRPr lang="en-US" dirty="0"/>
          </a:p>
        </p:txBody>
      </p:sp>
      <p:sp>
        <p:nvSpPr>
          <p:cNvPr id="3" name="Footer Placeholder 2"/>
          <p:cNvSpPr>
            <a:spLocks noGrp="1"/>
          </p:cNvSpPr>
          <p:nvPr>
            <p:ph type="ftr" sz="quarter" idx="11"/>
          </p:nvPr>
        </p:nvSpPr>
        <p:spPr/>
        <p:txBody>
          <a:bodyPr/>
          <a:lstStyle/>
          <a:p>
            <a:r>
              <a:rPr lang="en-US" dirty="0"/>
              <a:t>Key Benefit Administrators</a:t>
            </a:r>
          </a:p>
        </p:txBody>
      </p:sp>
      <p:sp>
        <p:nvSpPr>
          <p:cNvPr id="4" name="Slide Number Placeholder 3"/>
          <p:cNvSpPr>
            <a:spLocks noGrp="1"/>
          </p:cNvSpPr>
          <p:nvPr>
            <p:ph type="sldNum" sz="quarter" idx="12"/>
          </p:nvPr>
        </p:nvSpPr>
        <p:spPr/>
        <p:txBody>
          <a:bodyPr/>
          <a:lstStyle/>
          <a:p>
            <a:fld id="{3AFC719D-C4A7-4544-876E-D411D11AF6C9}" type="slidenum">
              <a:rPr lang="en-US" smtClean="0"/>
              <a:t>‹#›</a:t>
            </a:fld>
            <a:endParaRPr lang="en-US" dirty="0"/>
          </a:p>
        </p:txBody>
      </p:sp>
    </p:spTree>
    <p:extLst>
      <p:ext uri="{BB962C8B-B14F-4D97-AF65-F5344CB8AC3E}">
        <p14:creationId xmlns:p14="http://schemas.microsoft.com/office/powerpoint/2010/main" val="101046912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90" y="457200"/>
            <a:ext cx="3932236"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83188" y="987425"/>
            <a:ext cx="6172201"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39790" y="2057400"/>
            <a:ext cx="3932236" cy="3811588"/>
          </a:xfrm>
        </p:spPr>
        <p:txBody>
          <a:bodyPr/>
          <a:lstStyle>
            <a:lvl1pPr marL="0" indent="0">
              <a:buNone/>
              <a:defRPr sz="1600"/>
            </a:lvl1pPr>
            <a:lvl2pPr marL="457206" indent="0">
              <a:buNone/>
              <a:defRPr sz="1400"/>
            </a:lvl2pPr>
            <a:lvl3pPr marL="914411" indent="0">
              <a:buNone/>
              <a:defRPr sz="1200"/>
            </a:lvl3pPr>
            <a:lvl4pPr marL="1371617" indent="0">
              <a:buNone/>
              <a:defRPr sz="1000"/>
            </a:lvl4pPr>
            <a:lvl5pPr marL="1828823" indent="0">
              <a:buNone/>
              <a:defRPr sz="1000"/>
            </a:lvl5pPr>
            <a:lvl6pPr marL="2286029" indent="0">
              <a:buNone/>
              <a:defRPr sz="1000"/>
            </a:lvl6pPr>
            <a:lvl7pPr marL="2743234" indent="0">
              <a:buNone/>
              <a:defRPr sz="1000"/>
            </a:lvl7pPr>
            <a:lvl8pPr marL="3200440" indent="0">
              <a:buNone/>
              <a:defRPr sz="1000"/>
            </a:lvl8pPr>
            <a:lvl9pPr marL="3657646"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B9B31445-0B45-4F5C-971D-F971BB7E35C1}" type="datetime1">
              <a:rPr lang="en-US" smtClean="0"/>
              <a:t>12/2/2024</a:t>
            </a:fld>
            <a:endParaRPr lang="en-US" dirty="0"/>
          </a:p>
        </p:txBody>
      </p:sp>
      <p:sp>
        <p:nvSpPr>
          <p:cNvPr id="6" name="Footer Placeholder 5"/>
          <p:cNvSpPr>
            <a:spLocks noGrp="1"/>
          </p:cNvSpPr>
          <p:nvPr>
            <p:ph type="ftr" sz="quarter" idx="11"/>
          </p:nvPr>
        </p:nvSpPr>
        <p:spPr/>
        <p:txBody>
          <a:bodyPr/>
          <a:lstStyle/>
          <a:p>
            <a:r>
              <a:rPr lang="en-US" dirty="0"/>
              <a:t>Key Benefit Administrators</a:t>
            </a:r>
          </a:p>
        </p:txBody>
      </p:sp>
      <p:sp>
        <p:nvSpPr>
          <p:cNvPr id="7" name="Slide Number Placeholder 6"/>
          <p:cNvSpPr>
            <a:spLocks noGrp="1"/>
          </p:cNvSpPr>
          <p:nvPr>
            <p:ph type="sldNum" sz="quarter" idx="12"/>
          </p:nvPr>
        </p:nvSpPr>
        <p:spPr/>
        <p:txBody>
          <a:bodyPr/>
          <a:lstStyle/>
          <a:p>
            <a:fld id="{3AFC719D-C4A7-4544-876E-D411D11AF6C9}" type="slidenum">
              <a:rPr lang="en-US" smtClean="0"/>
              <a:t>‹#›</a:t>
            </a:fld>
            <a:endParaRPr lang="en-US" dirty="0"/>
          </a:p>
        </p:txBody>
      </p:sp>
    </p:spTree>
    <p:extLst>
      <p:ext uri="{BB962C8B-B14F-4D97-AF65-F5344CB8AC3E}">
        <p14:creationId xmlns:p14="http://schemas.microsoft.com/office/powerpoint/2010/main" val="4184453480"/>
      </p:ext>
    </p:extLst>
  </p:cSld>
  <p:clrMapOvr>
    <a:masterClrMapping/>
  </p:clrMapOvr>
  <p:extLst>
    <p:ext uri="{DCECCB84-F9BA-43D5-87BE-67443E8EF086}">
      <p15:sldGuideLst xmlns:p15="http://schemas.microsoft.com/office/powerpoint/2012/main"/>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90" y="457200"/>
            <a:ext cx="3932236"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5183188" y="987425"/>
            <a:ext cx="6172201" cy="4873625"/>
          </a:xfrm>
        </p:spPr>
        <p:txBody>
          <a:bodyPr anchor="t"/>
          <a:lstStyle>
            <a:lvl1pPr marL="0" indent="0">
              <a:buNone/>
              <a:defRPr sz="3200"/>
            </a:lvl1pPr>
            <a:lvl2pPr marL="457206" indent="0">
              <a:buNone/>
              <a:defRPr sz="2800"/>
            </a:lvl2pPr>
            <a:lvl3pPr marL="914411" indent="0">
              <a:buNone/>
              <a:defRPr sz="2400"/>
            </a:lvl3pPr>
            <a:lvl4pPr marL="1371617" indent="0">
              <a:buNone/>
              <a:defRPr sz="2000"/>
            </a:lvl4pPr>
            <a:lvl5pPr marL="1828823" indent="0">
              <a:buNone/>
              <a:defRPr sz="2000"/>
            </a:lvl5pPr>
            <a:lvl6pPr marL="2286029" indent="0">
              <a:buNone/>
              <a:defRPr sz="2000"/>
            </a:lvl6pPr>
            <a:lvl7pPr marL="2743234" indent="0">
              <a:buNone/>
              <a:defRPr sz="2000"/>
            </a:lvl7pPr>
            <a:lvl8pPr marL="3200440" indent="0">
              <a:buNone/>
              <a:defRPr sz="2000"/>
            </a:lvl8pPr>
            <a:lvl9pPr marL="3657646" indent="0">
              <a:buNone/>
              <a:defRPr sz="2000"/>
            </a:lvl9pPr>
          </a:lstStyle>
          <a:p>
            <a:r>
              <a:rPr lang="en-US" dirty="0"/>
              <a:t>Click icon to add picture</a:t>
            </a:r>
          </a:p>
        </p:txBody>
      </p:sp>
      <p:sp>
        <p:nvSpPr>
          <p:cNvPr id="4" name="Text Placeholder 3"/>
          <p:cNvSpPr>
            <a:spLocks noGrp="1"/>
          </p:cNvSpPr>
          <p:nvPr>
            <p:ph type="body" sz="half" idx="2"/>
          </p:nvPr>
        </p:nvSpPr>
        <p:spPr>
          <a:xfrm>
            <a:off x="839790" y="2057400"/>
            <a:ext cx="3932236" cy="3811588"/>
          </a:xfrm>
        </p:spPr>
        <p:txBody>
          <a:bodyPr/>
          <a:lstStyle>
            <a:lvl1pPr marL="0" indent="0">
              <a:buNone/>
              <a:defRPr sz="1600"/>
            </a:lvl1pPr>
            <a:lvl2pPr marL="457206" indent="0">
              <a:buNone/>
              <a:defRPr sz="1400"/>
            </a:lvl2pPr>
            <a:lvl3pPr marL="914411" indent="0">
              <a:buNone/>
              <a:defRPr sz="1200"/>
            </a:lvl3pPr>
            <a:lvl4pPr marL="1371617" indent="0">
              <a:buNone/>
              <a:defRPr sz="1000"/>
            </a:lvl4pPr>
            <a:lvl5pPr marL="1828823" indent="0">
              <a:buNone/>
              <a:defRPr sz="1000"/>
            </a:lvl5pPr>
            <a:lvl6pPr marL="2286029" indent="0">
              <a:buNone/>
              <a:defRPr sz="1000"/>
            </a:lvl6pPr>
            <a:lvl7pPr marL="2743234" indent="0">
              <a:buNone/>
              <a:defRPr sz="1000"/>
            </a:lvl7pPr>
            <a:lvl8pPr marL="3200440" indent="0">
              <a:buNone/>
              <a:defRPr sz="1000"/>
            </a:lvl8pPr>
            <a:lvl9pPr marL="3657646"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AEE79F89-B9FD-40DA-A4A8-5549A4F97D5C}" type="datetime1">
              <a:rPr lang="en-US" smtClean="0"/>
              <a:t>12/2/2024</a:t>
            </a:fld>
            <a:endParaRPr lang="en-US" dirty="0"/>
          </a:p>
        </p:txBody>
      </p:sp>
      <p:sp>
        <p:nvSpPr>
          <p:cNvPr id="6" name="Footer Placeholder 5"/>
          <p:cNvSpPr>
            <a:spLocks noGrp="1"/>
          </p:cNvSpPr>
          <p:nvPr>
            <p:ph type="ftr" sz="quarter" idx="11"/>
          </p:nvPr>
        </p:nvSpPr>
        <p:spPr/>
        <p:txBody>
          <a:bodyPr/>
          <a:lstStyle/>
          <a:p>
            <a:r>
              <a:rPr lang="en-US" dirty="0"/>
              <a:t>Key Benefit Administrators</a:t>
            </a:r>
          </a:p>
        </p:txBody>
      </p:sp>
      <p:sp>
        <p:nvSpPr>
          <p:cNvPr id="7" name="Slide Number Placeholder 6"/>
          <p:cNvSpPr>
            <a:spLocks noGrp="1"/>
          </p:cNvSpPr>
          <p:nvPr>
            <p:ph type="sldNum" sz="quarter" idx="12"/>
          </p:nvPr>
        </p:nvSpPr>
        <p:spPr/>
        <p:txBody>
          <a:bodyPr/>
          <a:lstStyle/>
          <a:p>
            <a:fld id="{3AFC719D-C4A7-4544-876E-D411D11AF6C9}" type="slidenum">
              <a:rPr lang="en-US" smtClean="0"/>
              <a:t>‹#›</a:t>
            </a:fld>
            <a:endParaRPr lang="en-US" dirty="0"/>
          </a:p>
        </p:txBody>
      </p:sp>
    </p:spTree>
    <p:extLst>
      <p:ext uri="{BB962C8B-B14F-4D97-AF65-F5344CB8AC3E}">
        <p14:creationId xmlns:p14="http://schemas.microsoft.com/office/powerpoint/2010/main" val="29047587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BCDCB60-C599-4AF2-9C31-DCD390D25F3F}" type="datetime1">
              <a:rPr lang="en-US" smtClean="0"/>
              <a:t>12/2/2024</a:t>
            </a:fld>
            <a:endParaRPr lang="en-US" dirty="0"/>
          </a:p>
        </p:txBody>
      </p:sp>
      <p:sp>
        <p:nvSpPr>
          <p:cNvPr id="5" name="Footer Placeholder 4"/>
          <p:cNvSpPr>
            <a:spLocks noGrp="1"/>
          </p:cNvSpPr>
          <p:nvPr>
            <p:ph type="ftr" sz="quarter" idx="11"/>
          </p:nvPr>
        </p:nvSpPr>
        <p:spPr/>
        <p:txBody>
          <a:bodyPr/>
          <a:lstStyle/>
          <a:p>
            <a:r>
              <a:rPr lang="en-US" dirty="0"/>
              <a:t>Key Benefit Administrators</a:t>
            </a:r>
          </a:p>
        </p:txBody>
      </p:sp>
      <p:sp>
        <p:nvSpPr>
          <p:cNvPr id="6" name="Slide Number Placeholder 5"/>
          <p:cNvSpPr>
            <a:spLocks noGrp="1"/>
          </p:cNvSpPr>
          <p:nvPr>
            <p:ph type="sldNum" sz="quarter" idx="12"/>
          </p:nvPr>
        </p:nvSpPr>
        <p:spPr/>
        <p:txBody>
          <a:bodyPr/>
          <a:lstStyle/>
          <a:p>
            <a:fld id="{3AFC719D-C4A7-4544-876E-D411D11AF6C9}" type="slidenum">
              <a:rPr lang="en-US" smtClean="0"/>
              <a:t>‹#›</a:t>
            </a:fld>
            <a:endParaRPr lang="en-US" dirty="0"/>
          </a:p>
        </p:txBody>
      </p:sp>
    </p:spTree>
    <p:extLst>
      <p:ext uri="{BB962C8B-B14F-4D97-AF65-F5344CB8AC3E}">
        <p14:creationId xmlns:p14="http://schemas.microsoft.com/office/powerpoint/2010/main" val="375223625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899" y="365125"/>
            <a:ext cx="2628900"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199"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3187DF3D-F650-432E-A6F6-439A0FF53FA0}" type="datetime1">
              <a:rPr lang="en-US" smtClean="0"/>
              <a:t>12/2/2024</a:t>
            </a:fld>
            <a:endParaRPr lang="en-US" dirty="0"/>
          </a:p>
        </p:txBody>
      </p:sp>
      <p:sp>
        <p:nvSpPr>
          <p:cNvPr id="5" name="Footer Placeholder 4"/>
          <p:cNvSpPr>
            <a:spLocks noGrp="1"/>
          </p:cNvSpPr>
          <p:nvPr>
            <p:ph type="ftr" sz="quarter" idx="11"/>
          </p:nvPr>
        </p:nvSpPr>
        <p:spPr/>
        <p:txBody>
          <a:bodyPr/>
          <a:lstStyle/>
          <a:p>
            <a:r>
              <a:rPr lang="en-US" dirty="0"/>
              <a:t>Key Benefit Administrators</a:t>
            </a:r>
          </a:p>
        </p:txBody>
      </p:sp>
      <p:sp>
        <p:nvSpPr>
          <p:cNvPr id="6" name="Slide Number Placeholder 5"/>
          <p:cNvSpPr>
            <a:spLocks noGrp="1"/>
          </p:cNvSpPr>
          <p:nvPr>
            <p:ph type="sldNum" sz="quarter" idx="12"/>
          </p:nvPr>
        </p:nvSpPr>
        <p:spPr/>
        <p:txBody>
          <a:bodyPr/>
          <a:lstStyle/>
          <a:p>
            <a:fld id="{3AFC719D-C4A7-4544-876E-D411D11AF6C9}" type="slidenum">
              <a:rPr lang="en-US" smtClean="0"/>
              <a:t>‹#›</a:t>
            </a:fld>
            <a:endParaRPr lang="en-US" dirty="0"/>
          </a:p>
        </p:txBody>
      </p:sp>
    </p:spTree>
    <p:extLst>
      <p:ext uri="{BB962C8B-B14F-4D97-AF65-F5344CB8AC3E}">
        <p14:creationId xmlns:p14="http://schemas.microsoft.com/office/powerpoint/2010/main" val="289988197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ags" Target="../tags/tag2.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2"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838202"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38201" y="6356351"/>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CD48873-4569-48AE-9711-BF92EE297A77}" type="datetime1">
              <a:rPr lang="en-US" smtClean="0"/>
              <a:t>12/2/2024</a:t>
            </a:fld>
            <a:endParaRPr lang="en-US" dirty="0"/>
          </a:p>
        </p:txBody>
      </p:sp>
      <p:sp>
        <p:nvSpPr>
          <p:cNvPr id="5" name="Footer Placeholder 4"/>
          <p:cNvSpPr>
            <a:spLocks noGrp="1"/>
          </p:cNvSpPr>
          <p:nvPr>
            <p:ph type="ftr" sz="quarter" idx="3"/>
          </p:nvPr>
        </p:nvSpPr>
        <p:spPr>
          <a:xfrm>
            <a:off x="4038602" y="6356351"/>
            <a:ext cx="4114800" cy="365125"/>
          </a:xfrm>
          <a:prstGeom prst="rect">
            <a:avLst/>
          </a:prstGeom>
        </p:spPr>
        <p:txBody>
          <a:bodyPr vert="horz" lIns="91440" tIns="45720" rIns="91440" bIns="45720" rtlCol="0" anchor="ctr"/>
          <a:lstStyle>
            <a:lvl1pPr algn="ctr">
              <a:defRPr sz="1200" spc="300">
                <a:solidFill>
                  <a:schemeClr val="tx1">
                    <a:tint val="75000"/>
                  </a:schemeClr>
                </a:solidFill>
              </a:defRPr>
            </a:lvl1pPr>
          </a:lstStyle>
          <a:p>
            <a:r>
              <a:rPr lang="en-US" dirty="0"/>
              <a:t>Key Benefit Administrators</a:t>
            </a:r>
          </a:p>
        </p:txBody>
      </p:sp>
      <p:sp>
        <p:nvSpPr>
          <p:cNvPr id="6" name="Slide Number Placeholder 5"/>
          <p:cNvSpPr>
            <a:spLocks noGrp="1"/>
          </p:cNvSpPr>
          <p:nvPr>
            <p:ph type="sldNum" sz="quarter" idx="4"/>
          </p:nvPr>
        </p:nvSpPr>
        <p:spPr>
          <a:xfrm>
            <a:off x="8610601" y="6356351"/>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AFC719D-C4A7-4544-876E-D411D11AF6C9}" type="slidenum">
              <a:rPr lang="en-US" smtClean="0"/>
              <a:t>‹#›</a:t>
            </a:fld>
            <a:endParaRPr lang="en-US" dirty="0"/>
          </a:p>
        </p:txBody>
      </p:sp>
    </p:spTree>
    <p:custDataLst>
      <p:tags r:id="rId13"/>
    </p:custDataLst>
    <p:extLst>
      <p:ext uri="{BB962C8B-B14F-4D97-AF65-F5344CB8AC3E}">
        <p14:creationId xmlns:p14="http://schemas.microsoft.com/office/powerpoint/2010/main" val="3019070536"/>
      </p:ext>
    </p:extLst>
  </p:cSld>
  <p:clrMap bg1="lt1" tx1="dk1" bg2="lt2" tx2="dk2" accent1="accent1" accent2="accent2" accent3="accent3" accent4="accent4" accent5="accent5" accent6="accent6" hlink="hlink" folHlink="folHlink"/>
  <p:sldLayoutIdLst>
    <p:sldLayoutId id="2147483745" r:id="rId1"/>
    <p:sldLayoutId id="2147483746" r:id="rId2"/>
    <p:sldLayoutId id="2147483747" r:id="rId3"/>
    <p:sldLayoutId id="2147483748" r:id="rId4"/>
    <p:sldLayoutId id="2147483749" r:id="rId5"/>
    <p:sldLayoutId id="2147483750" r:id="rId6"/>
    <p:sldLayoutId id="2147483751" r:id="rId7"/>
    <p:sldLayoutId id="2147483752" r:id="rId8"/>
    <p:sldLayoutId id="2147483753" r:id="rId9"/>
    <p:sldLayoutId id="2147483754" r:id="rId10"/>
    <p:sldLayoutId id="2147483755" r:id="rId11"/>
  </p:sldLayoutIdLst>
  <p:hf hdr="0" dt="0"/>
  <p:txStyles>
    <p:titleStyle>
      <a:lvl1pPr algn="l" defTabSz="914411"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3" indent="-228603" algn="l" defTabSz="914411"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8" indent="-228603" algn="l" defTabSz="914411"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14" indent="-228603" algn="l" defTabSz="914411"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20"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26"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32"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37"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43"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48"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11" rtl="0" eaLnBrk="1" latinLnBrk="0" hangingPunct="1">
        <a:defRPr sz="1800" kern="1200">
          <a:solidFill>
            <a:schemeClr val="tx1"/>
          </a:solidFill>
          <a:latin typeface="+mn-lt"/>
          <a:ea typeface="+mn-ea"/>
          <a:cs typeface="+mn-cs"/>
        </a:defRPr>
      </a:lvl1pPr>
      <a:lvl2pPr marL="457206" algn="l" defTabSz="914411" rtl="0" eaLnBrk="1" latinLnBrk="0" hangingPunct="1">
        <a:defRPr sz="1800" kern="1200">
          <a:solidFill>
            <a:schemeClr val="tx1"/>
          </a:solidFill>
          <a:latin typeface="+mn-lt"/>
          <a:ea typeface="+mn-ea"/>
          <a:cs typeface="+mn-cs"/>
        </a:defRPr>
      </a:lvl2pPr>
      <a:lvl3pPr marL="914411" algn="l" defTabSz="914411" rtl="0" eaLnBrk="1" latinLnBrk="0" hangingPunct="1">
        <a:defRPr sz="1800" kern="1200">
          <a:solidFill>
            <a:schemeClr val="tx1"/>
          </a:solidFill>
          <a:latin typeface="+mn-lt"/>
          <a:ea typeface="+mn-ea"/>
          <a:cs typeface="+mn-cs"/>
        </a:defRPr>
      </a:lvl3pPr>
      <a:lvl4pPr marL="1371617" algn="l" defTabSz="914411" rtl="0" eaLnBrk="1" latinLnBrk="0" hangingPunct="1">
        <a:defRPr sz="1800" kern="1200">
          <a:solidFill>
            <a:schemeClr val="tx1"/>
          </a:solidFill>
          <a:latin typeface="+mn-lt"/>
          <a:ea typeface="+mn-ea"/>
          <a:cs typeface="+mn-cs"/>
        </a:defRPr>
      </a:lvl4pPr>
      <a:lvl5pPr marL="1828823" algn="l" defTabSz="914411" rtl="0" eaLnBrk="1" latinLnBrk="0" hangingPunct="1">
        <a:defRPr sz="1800" kern="1200">
          <a:solidFill>
            <a:schemeClr val="tx1"/>
          </a:solidFill>
          <a:latin typeface="+mn-lt"/>
          <a:ea typeface="+mn-ea"/>
          <a:cs typeface="+mn-cs"/>
        </a:defRPr>
      </a:lvl5pPr>
      <a:lvl6pPr marL="2286029" algn="l" defTabSz="914411" rtl="0" eaLnBrk="1" latinLnBrk="0" hangingPunct="1">
        <a:defRPr sz="1800" kern="1200">
          <a:solidFill>
            <a:schemeClr val="tx1"/>
          </a:solidFill>
          <a:latin typeface="+mn-lt"/>
          <a:ea typeface="+mn-ea"/>
          <a:cs typeface="+mn-cs"/>
        </a:defRPr>
      </a:lvl6pPr>
      <a:lvl7pPr marL="2743234" algn="l" defTabSz="914411" rtl="0" eaLnBrk="1" latinLnBrk="0" hangingPunct="1">
        <a:defRPr sz="1800" kern="1200">
          <a:solidFill>
            <a:schemeClr val="tx1"/>
          </a:solidFill>
          <a:latin typeface="+mn-lt"/>
          <a:ea typeface="+mn-ea"/>
          <a:cs typeface="+mn-cs"/>
        </a:defRPr>
      </a:lvl7pPr>
      <a:lvl8pPr marL="3200440" algn="l" defTabSz="914411" rtl="0" eaLnBrk="1" latinLnBrk="0" hangingPunct="1">
        <a:defRPr sz="1800" kern="1200">
          <a:solidFill>
            <a:schemeClr val="tx1"/>
          </a:solidFill>
          <a:latin typeface="+mn-lt"/>
          <a:ea typeface="+mn-ea"/>
          <a:cs typeface="+mn-cs"/>
        </a:defRPr>
      </a:lvl8pPr>
      <a:lvl9pPr marL="3657646" algn="l" defTabSz="914411"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 Id="rId4" Type="http://schemas.openxmlformats.org/officeDocument/2006/relationships/image" Target="../media/image6.jpeg"/></Relationships>
</file>

<file path=ppt/slides/_rels/slide4.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image" Target="../media/image5.png"/><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image" Target="../media/image8.jpe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image" Target="../media/image11.jpe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1.jpe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1.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Downtown Allentown">
            <a:extLst>
              <a:ext uri="{FF2B5EF4-FFF2-40B4-BE49-F238E27FC236}">
                <a16:creationId xmlns:a16="http://schemas.microsoft.com/office/drawing/2014/main" id="{3327B67F-31D2-69E3-9B86-3FE70BE0679F}"/>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t="5330" b="5113"/>
          <a:stretch/>
        </p:blipFill>
        <p:spPr bwMode="auto">
          <a:xfrm>
            <a:off x="6095999" y="0"/>
            <a:ext cx="6096001" cy="6858000"/>
          </a:xfrm>
          <a:prstGeom prst="rect">
            <a:avLst/>
          </a:prstGeom>
          <a:noFill/>
          <a:extLst>
            <a:ext uri="{909E8E84-426E-40DD-AFC4-6F175D3DCCD1}">
              <a14:hiddenFill xmlns:a14="http://schemas.microsoft.com/office/drawing/2010/main">
                <a:solidFill>
                  <a:srgbClr val="FFFFFF"/>
                </a:solidFill>
              </a14:hiddenFill>
            </a:ext>
          </a:extLst>
        </p:spPr>
      </p:pic>
      <p:sp>
        <p:nvSpPr>
          <p:cNvPr id="5" name="Slide Number Placeholder 4">
            <a:extLst>
              <a:ext uri="{FF2B5EF4-FFF2-40B4-BE49-F238E27FC236}">
                <a16:creationId xmlns:a16="http://schemas.microsoft.com/office/drawing/2014/main" id="{FE9385F4-6849-73EA-0BE2-48EEEB3666C9}"/>
              </a:ext>
            </a:extLst>
          </p:cNvPr>
          <p:cNvSpPr>
            <a:spLocks noGrp="1"/>
          </p:cNvSpPr>
          <p:nvPr>
            <p:ph type="sldNum" sz="quarter" idx="12"/>
          </p:nvPr>
        </p:nvSpPr>
        <p:spPr/>
        <p:txBody>
          <a:bodyPr/>
          <a:lstStyle/>
          <a:p>
            <a:fld id="{3AFC719D-C4A7-4544-876E-D411D11AF6C9}" type="slidenum">
              <a:rPr lang="en-US" smtClean="0"/>
              <a:t>1</a:t>
            </a:fld>
            <a:endParaRPr lang="en-US" dirty="0"/>
          </a:p>
        </p:txBody>
      </p:sp>
      <p:pic>
        <p:nvPicPr>
          <p:cNvPr id="1028" name="Picture 4" descr="Wall Street Explained: History, Naming &amp; Importance | Plus500">
            <a:extLst>
              <a:ext uri="{FF2B5EF4-FFF2-40B4-BE49-F238E27FC236}">
                <a16:creationId xmlns:a16="http://schemas.microsoft.com/office/drawing/2014/main" id="{439035C1-3CCB-8153-117E-F43024EA6A3B}"/>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r="33391"/>
          <a:stretch/>
        </p:blipFill>
        <p:spPr bwMode="auto">
          <a:xfrm>
            <a:off x="0" y="0"/>
            <a:ext cx="6096000" cy="6858000"/>
          </a:xfrm>
          <a:prstGeom prst="rect">
            <a:avLst/>
          </a:prstGeom>
          <a:noFill/>
          <a:extLst>
            <a:ext uri="{909E8E84-426E-40DD-AFC4-6F175D3DCCD1}">
              <a14:hiddenFill xmlns:a14="http://schemas.microsoft.com/office/drawing/2010/main">
                <a:solidFill>
                  <a:srgbClr val="FFFFFF"/>
                </a:solidFill>
              </a14:hiddenFill>
            </a:ext>
          </a:extLst>
        </p:spPr>
      </p:pic>
      <p:sp>
        <p:nvSpPr>
          <p:cNvPr id="6" name="Rectangle 5">
            <a:extLst>
              <a:ext uri="{FF2B5EF4-FFF2-40B4-BE49-F238E27FC236}">
                <a16:creationId xmlns:a16="http://schemas.microsoft.com/office/drawing/2014/main" id="{6086B112-27E4-3EA1-B673-36BBD6EF784A}"/>
              </a:ext>
            </a:extLst>
          </p:cNvPr>
          <p:cNvSpPr/>
          <p:nvPr/>
        </p:nvSpPr>
        <p:spPr>
          <a:xfrm>
            <a:off x="2622061" y="2933002"/>
            <a:ext cx="6947877" cy="1320800"/>
          </a:xfrm>
          <a:prstGeom prst="rect">
            <a:avLst/>
          </a:prstGeom>
          <a:solidFill>
            <a:srgbClr val="30589B">
              <a:alpha val="76078"/>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200" dirty="0"/>
              <a:t>Economics of Moving Local Healthcare</a:t>
            </a:r>
          </a:p>
          <a:p>
            <a:pPr algn="ctr"/>
            <a:r>
              <a:rPr lang="en-US" sz="3200" dirty="0"/>
              <a:t>From Wall Street to Main Street</a:t>
            </a:r>
          </a:p>
        </p:txBody>
      </p:sp>
    </p:spTree>
    <p:extLst>
      <p:ext uri="{BB962C8B-B14F-4D97-AF65-F5344CB8AC3E}">
        <p14:creationId xmlns:p14="http://schemas.microsoft.com/office/powerpoint/2010/main" val="422638763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5F9CFB-714A-4CB7-9915-2C74E697A7F1}"/>
              </a:ext>
            </a:extLst>
          </p:cNvPr>
          <p:cNvSpPr>
            <a:spLocks noGrp="1"/>
          </p:cNvSpPr>
          <p:nvPr>
            <p:ph type="title"/>
          </p:nvPr>
        </p:nvSpPr>
        <p:spPr>
          <a:xfrm>
            <a:off x="1118682" y="136525"/>
            <a:ext cx="10652404" cy="1091529"/>
          </a:xfrm>
        </p:spPr>
        <p:txBody>
          <a:bodyPr>
            <a:noAutofit/>
          </a:bodyPr>
          <a:lstStyle/>
          <a:p>
            <a:pPr>
              <a:lnSpc>
                <a:spcPct val="100000"/>
              </a:lnSpc>
              <a:spcBef>
                <a:spcPts val="1800"/>
              </a:spcBef>
              <a:spcAft>
                <a:spcPts val="600"/>
              </a:spcAft>
            </a:pPr>
            <a:r>
              <a:rPr lang="en-US" sz="2800" dirty="0">
                <a:solidFill>
                  <a:srgbClr val="000B2E"/>
                </a:solidFill>
                <a:latin typeface="Arial" panose="020B0604020202020204" pitchFamily="34" charset="0"/>
                <a:cs typeface="Arial" panose="020B0604020202020204" pitchFamily="34" charset="0"/>
              </a:rPr>
              <a:t>Direct-to-Employer Strategy:</a:t>
            </a:r>
            <a:br>
              <a:rPr lang="en-US" sz="4000" b="1" dirty="0">
                <a:solidFill>
                  <a:srgbClr val="000B2E"/>
                </a:solidFill>
                <a:latin typeface="Arial" panose="020B0604020202020204" pitchFamily="34" charset="0"/>
                <a:cs typeface="Arial" panose="020B0604020202020204" pitchFamily="34" charset="0"/>
              </a:rPr>
            </a:br>
            <a:r>
              <a:rPr lang="en-US" sz="4000" b="1" dirty="0">
                <a:solidFill>
                  <a:srgbClr val="000B2E"/>
                </a:solidFill>
                <a:latin typeface="Arial" panose="020B0604020202020204" pitchFamily="34" charset="0"/>
                <a:cs typeface="Arial" panose="020B0604020202020204" pitchFamily="34" charset="0"/>
              </a:rPr>
              <a:t>Only Available to </a:t>
            </a:r>
            <a:r>
              <a:rPr lang="en-US" sz="4000" b="1" i="1" dirty="0">
                <a:solidFill>
                  <a:srgbClr val="000B2E"/>
                </a:solidFill>
                <a:latin typeface="Arial" panose="020B0604020202020204" pitchFamily="34" charset="0"/>
                <a:cs typeface="Arial" panose="020B0604020202020204" pitchFamily="34" charset="0"/>
              </a:rPr>
              <a:t>Premier</a:t>
            </a:r>
            <a:r>
              <a:rPr lang="en-US" sz="4000" b="1" dirty="0">
                <a:solidFill>
                  <a:srgbClr val="000B2E"/>
                </a:solidFill>
                <a:latin typeface="Arial" panose="020B0604020202020204" pitchFamily="34" charset="0"/>
                <a:cs typeface="Arial" panose="020B0604020202020204" pitchFamily="34" charset="0"/>
              </a:rPr>
              <a:t> Health Systems</a:t>
            </a:r>
            <a:endParaRPr lang="en-US" sz="1600" dirty="0">
              <a:solidFill>
                <a:schemeClr val="tx1">
                  <a:lumMod val="75000"/>
                  <a:lumOff val="25000"/>
                </a:schemeClr>
              </a:solidFill>
              <a:latin typeface="Arial" panose="020B0604020202020204" pitchFamily="34" charset="0"/>
              <a:cs typeface="Arial" panose="020B0604020202020204" pitchFamily="34" charset="0"/>
            </a:endParaRPr>
          </a:p>
        </p:txBody>
      </p:sp>
      <p:sp>
        <p:nvSpPr>
          <p:cNvPr id="3" name="Content Placeholder 2">
            <a:extLst>
              <a:ext uri="{FF2B5EF4-FFF2-40B4-BE49-F238E27FC236}">
                <a16:creationId xmlns:a16="http://schemas.microsoft.com/office/drawing/2014/main" id="{AA5B62E5-A9EF-46A8-AEE5-C69E2BA73BE1}"/>
              </a:ext>
            </a:extLst>
          </p:cNvPr>
          <p:cNvSpPr>
            <a:spLocks noGrp="1"/>
          </p:cNvSpPr>
          <p:nvPr>
            <p:ph idx="1"/>
          </p:nvPr>
        </p:nvSpPr>
        <p:spPr>
          <a:xfrm>
            <a:off x="5317243" y="1572305"/>
            <a:ext cx="5672318" cy="4660901"/>
          </a:xfrm>
        </p:spPr>
        <p:txBody>
          <a:bodyPr>
            <a:normAutofit/>
          </a:bodyPr>
          <a:lstStyle/>
          <a:p>
            <a:pPr marL="0" indent="0">
              <a:lnSpc>
                <a:spcPct val="150000"/>
              </a:lnSpc>
              <a:spcAft>
                <a:spcPts val="1200"/>
              </a:spcAft>
              <a:buNone/>
            </a:pPr>
            <a:r>
              <a:rPr lang="en-US" sz="3200" b="1" dirty="0">
                <a:solidFill>
                  <a:srgbClr val="59CAE8"/>
                </a:solidFill>
                <a:latin typeface="Arial Black" panose="020B0A04020102020204" pitchFamily="34" charset="0"/>
              </a:rPr>
              <a:t>STRONG</a:t>
            </a:r>
            <a:r>
              <a:rPr lang="en-US" sz="3200" dirty="0">
                <a:solidFill>
                  <a:srgbClr val="9900CC"/>
                </a:solidFill>
              </a:rPr>
              <a:t> </a:t>
            </a:r>
            <a:r>
              <a:rPr lang="en-US" sz="3200" dirty="0">
                <a:solidFill>
                  <a:schemeClr val="tx1">
                    <a:lumMod val="75000"/>
                    <a:lumOff val="25000"/>
                  </a:schemeClr>
                </a:solidFill>
              </a:rPr>
              <a:t>Brand Quality</a:t>
            </a:r>
          </a:p>
          <a:p>
            <a:pPr marL="0" indent="0">
              <a:lnSpc>
                <a:spcPct val="150000"/>
              </a:lnSpc>
              <a:spcAft>
                <a:spcPts val="1200"/>
              </a:spcAft>
              <a:buNone/>
            </a:pPr>
            <a:r>
              <a:rPr lang="en-US" sz="3200" b="1" dirty="0">
                <a:solidFill>
                  <a:srgbClr val="59CAE8"/>
                </a:solidFill>
                <a:latin typeface="Arial Black" panose="020B0A04020102020204" pitchFamily="34" charset="0"/>
              </a:rPr>
              <a:t>EXTENSIVE</a:t>
            </a:r>
            <a:r>
              <a:rPr lang="en-US" sz="3200" dirty="0"/>
              <a:t> </a:t>
            </a:r>
            <a:r>
              <a:rPr lang="en-US" sz="3200" dirty="0">
                <a:solidFill>
                  <a:schemeClr val="tx1">
                    <a:lumMod val="75000"/>
                    <a:lumOff val="25000"/>
                  </a:schemeClr>
                </a:solidFill>
              </a:rPr>
              <a:t>Patient Access</a:t>
            </a:r>
          </a:p>
          <a:p>
            <a:pPr marL="0" indent="0">
              <a:lnSpc>
                <a:spcPct val="150000"/>
              </a:lnSpc>
              <a:spcAft>
                <a:spcPts val="1200"/>
              </a:spcAft>
              <a:buNone/>
            </a:pPr>
            <a:r>
              <a:rPr lang="en-US" sz="3200" b="1" dirty="0">
                <a:solidFill>
                  <a:srgbClr val="59CAE8"/>
                </a:solidFill>
                <a:latin typeface="Arial Black" panose="020B0A04020102020204" pitchFamily="34" charset="0"/>
              </a:rPr>
              <a:t>AFFORDABLE</a:t>
            </a:r>
            <a:r>
              <a:rPr lang="en-US" sz="3200" dirty="0"/>
              <a:t> </a:t>
            </a:r>
            <a:r>
              <a:rPr lang="en-US" sz="3200" dirty="0">
                <a:solidFill>
                  <a:schemeClr val="tx1">
                    <a:lumMod val="75000"/>
                    <a:lumOff val="25000"/>
                  </a:schemeClr>
                </a:solidFill>
              </a:rPr>
              <a:t>Value Pricing</a:t>
            </a:r>
          </a:p>
          <a:p>
            <a:pPr marL="0" indent="0">
              <a:lnSpc>
                <a:spcPct val="150000"/>
              </a:lnSpc>
              <a:spcAft>
                <a:spcPts val="1200"/>
              </a:spcAft>
              <a:buNone/>
            </a:pPr>
            <a:r>
              <a:rPr lang="en-US" sz="3200" b="1" dirty="0">
                <a:solidFill>
                  <a:srgbClr val="59CAE8"/>
                </a:solidFill>
                <a:latin typeface="Arial Black" panose="020B0A04020102020204" pitchFamily="34" charset="0"/>
              </a:rPr>
              <a:t>EXCELENT</a:t>
            </a:r>
            <a:r>
              <a:rPr lang="en-US" sz="3200" dirty="0">
                <a:solidFill>
                  <a:srgbClr val="9900CC"/>
                </a:solidFill>
              </a:rPr>
              <a:t> </a:t>
            </a:r>
            <a:r>
              <a:rPr lang="en-US" sz="3200" dirty="0">
                <a:solidFill>
                  <a:schemeClr val="tx1">
                    <a:lumMod val="75000"/>
                    <a:lumOff val="25000"/>
                  </a:schemeClr>
                </a:solidFill>
              </a:rPr>
              <a:t>Care Quality  </a:t>
            </a:r>
          </a:p>
        </p:txBody>
      </p:sp>
      <p:sp>
        <p:nvSpPr>
          <p:cNvPr id="4" name="Footer Placeholder 3">
            <a:extLst>
              <a:ext uri="{FF2B5EF4-FFF2-40B4-BE49-F238E27FC236}">
                <a16:creationId xmlns:a16="http://schemas.microsoft.com/office/drawing/2014/main" id="{82DDCACF-3B2C-45F6-88BB-41D64A301D53}"/>
              </a:ext>
            </a:extLst>
          </p:cNvPr>
          <p:cNvSpPr>
            <a:spLocks noGrp="1"/>
          </p:cNvSpPr>
          <p:nvPr>
            <p:ph type="ftr" sz="quarter" idx="11"/>
          </p:nvPr>
        </p:nvSpPr>
        <p:spPr/>
        <p:txBody>
          <a:bodyPr/>
          <a:lstStyle/>
          <a:p>
            <a:r>
              <a:rPr lang="en-US" dirty="0"/>
              <a:t>Key Benefit Administrators</a:t>
            </a:r>
          </a:p>
        </p:txBody>
      </p:sp>
      <p:sp>
        <p:nvSpPr>
          <p:cNvPr id="5" name="Slide Number Placeholder 4">
            <a:extLst>
              <a:ext uri="{FF2B5EF4-FFF2-40B4-BE49-F238E27FC236}">
                <a16:creationId xmlns:a16="http://schemas.microsoft.com/office/drawing/2014/main" id="{5345DC2E-CAD1-4A3B-BB6C-627FC995DD0D}"/>
              </a:ext>
            </a:extLst>
          </p:cNvPr>
          <p:cNvSpPr>
            <a:spLocks noGrp="1"/>
          </p:cNvSpPr>
          <p:nvPr>
            <p:ph type="sldNum" sz="quarter" idx="12"/>
          </p:nvPr>
        </p:nvSpPr>
        <p:spPr/>
        <p:txBody>
          <a:bodyPr/>
          <a:lstStyle/>
          <a:p>
            <a:fld id="{3AFC719D-C4A7-4544-876E-D411D11AF6C9}" type="slidenum">
              <a:rPr lang="en-US" smtClean="0"/>
              <a:t>2</a:t>
            </a:fld>
            <a:endParaRPr lang="en-US" dirty="0"/>
          </a:p>
        </p:txBody>
      </p:sp>
      <p:sp>
        <p:nvSpPr>
          <p:cNvPr id="9" name="Rectangle 8">
            <a:extLst>
              <a:ext uri="{FF2B5EF4-FFF2-40B4-BE49-F238E27FC236}">
                <a16:creationId xmlns:a16="http://schemas.microsoft.com/office/drawing/2014/main" id="{BB2B5697-E648-40EC-88C5-97A77999C18D}"/>
              </a:ext>
            </a:extLst>
          </p:cNvPr>
          <p:cNvSpPr/>
          <p:nvPr/>
        </p:nvSpPr>
        <p:spPr>
          <a:xfrm>
            <a:off x="0" y="0"/>
            <a:ext cx="981075" cy="6858000"/>
          </a:xfrm>
          <a:prstGeom prst="rect">
            <a:avLst/>
          </a:prstGeom>
          <a:solidFill>
            <a:srgbClr val="254F96">
              <a:alpha val="9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7" name="Picture 4" descr="St. Luke's University Health Network's 150th Anniversary">
            <a:extLst>
              <a:ext uri="{FF2B5EF4-FFF2-40B4-BE49-F238E27FC236}">
                <a16:creationId xmlns:a16="http://schemas.microsoft.com/office/drawing/2014/main" id="{54C4C891-BACC-B531-6B4E-417D42F3127C}"/>
              </a:ext>
            </a:extLst>
          </p:cNvPr>
          <p:cNvPicPr>
            <a:picLocks noChangeAspect="1" noChangeArrowheads="1"/>
          </p:cNvPicPr>
          <p:nvPr/>
        </p:nvPicPr>
        <p:blipFill>
          <a:blip r:embed="rId2" cstate="screen">
            <a:clrChange>
              <a:clrFrom>
                <a:srgbClr val="FFFFFF"/>
              </a:clrFrom>
              <a:clrTo>
                <a:srgbClr val="FFFFFF">
                  <a:alpha val="0"/>
                </a:srgbClr>
              </a:clrTo>
            </a:clrChange>
            <a:extLst>
              <a:ext uri="{28A0092B-C50C-407E-A947-70E740481C1C}">
                <a14:useLocalDpi xmlns:a14="http://schemas.microsoft.com/office/drawing/2010/main"/>
              </a:ext>
            </a:extLst>
          </a:blip>
          <a:srcRect/>
          <a:stretch>
            <a:fillRect/>
          </a:stretch>
        </p:blipFill>
        <p:spPr bwMode="auto">
          <a:xfrm>
            <a:off x="1553935" y="2433244"/>
            <a:ext cx="2910924" cy="152915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83285224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Content Placeholder 6">
            <a:extLst>
              <a:ext uri="{FF2B5EF4-FFF2-40B4-BE49-F238E27FC236}">
                <a16:creationId xmlns:a16="http://schemas.microsoft.com/office/drawing/2014/main" id="{E6B5926E-4AAC-8204-A9FD-B546D2D620A9}"/>
              </a:ext>
            </a:extLst>
          </p:cNvPr>
          <p:cNvPicPr>
            <a:picLocks noGrp="1" noChangeAspect="1"/>
          </p:cNvPicPr>
          <p:nvPr>
            <p:ph idx="1"/>
          </p:nvPr>
        </p:nvPicPr>
        <p:blipFill>
          <a:blip r:embed="rId2"/>
          <a:stretch>
            <a:fillRect/>
          </a:stretch>
        </p:blipFill>
        <p:spPr>
          <a:xfrm>
            <a:off x="4609338" y="1690687"/>
            <a:ext cx="5768630" cy="4518224"/>
          </a:xfrm>
        </p:spPr>
      </p:pic>
      <p:pic>
        <p:nvPicPr>
          <p:cNvPr id="8" name="Picture 2" descr="Welcome to Lehigh Valley Health Network ...">
            <a:extLst>
              <a:ext uri="{FF2B5EF4-FFF2-40B4-BE49-F238E27FC236}">
                <a16:creationId xmlns:a16="http://schemas.microsoft.com/office/drawing/2014/main" id="{DDC94D88-BA34-5AA9-EA9B-C148FD0A7157}"/>
              </a:ext>
            </a:extLst>
          </p:cNvPr>
          <p:cNvPicPr>
            <a:picLocks noChangeAspect="1" noChangeArrowheads="1"/>
          </p:cNvPicPr>
          <p:nvPr/>
        </p:nvPicPr>
        <p:blipFill>
          <a:blip r:embed="rId3">
            <a:clrChange>
              <a:clrFrom>
                <a:srgbClr val="FFFFFF"/>
              </a:clrFrom>
              <a:clrTo>
                <a:srgbClr val="FFFFFF">
                  <a:alpha val="0"/>
                </a:srgbClr>
              </a:clrTo>
            </a:clrChange>
            <a:extLst>
              <a:ext uri="{28A0092B-C50C-407E-A947-70E740481C1C}">
                <a14:useLocalDpi xmlns:a14="http://schemas.microsoft.com/office/drawing/2010/main"/>
              </a:ext>
            </a:extLst>
          </a:blip>
          <a:srcRect/>
          <a:stretch>
            <a:fillRect/>
          </a:stretch>
        </p:blipFill>
        <p:spPr bwMode="auto">
          <a:xfrm>
            <a:off x="3982212" y="5178426"/>
            <a:ext cx="3066288" cy="609600"/>
          </a:xfrm>
          <a:prstGeom prst="rect">
            <a:avLst/>
          </a:prstGeom>
          <a:noFill/>
          <a:extLst>
            <a:ext uri="{909E8E84-426E-40DD-AFC4-6F175D3DCCD1}">
              <a14:hiddenFill xmlns:a14="http://schemas.microsoft.com/office/drawing/2010/main">
                <a:solidFill>
                  <a:srgbClr val="FFFFFF"/>
                </a:solidFill>
              </a14:hiddenFill>
            </a:ext>
          </a:extLst>
        </p:spPr>
      </p:pic>
      <p:pic>
        <p:nvPicPr>
          <p:cNvPr id="9" name="Picture 4" descr="St. Luke's University Health Network's 150th Anniversary">
            <a:extLst>
              <a:ext uri="{FF2B5EF4-FFF2-40B4-BE49-F238E27FC236}">
                <a16:creationId xmlns:a16="http://schemas.microsoft.com/office/drawing/2014/main" id="{86AC65E6-F3F0-4B89-D1E6-216DC9C8C86F}"/>
              </a:ext>
            </a:extLst>
          </p:cNvPr>
          <p:cNvPicPr>
            <a:picLocks noChangeAspect="1" noChangeArrowheads="1"/>
          </p:cNvPicPr>
          <p:nvPr/>
        </p:nvPicPr>
        <p:blipFill>
          <a:blip r:embed="rId4" cstate="screen">
            <a:clrChange>
              <a:clrFrom>
                <a:srgbClr val="FFFFFF"/>
              </a:clrFrom>
              <a:clrTo>
                <a:srgbClr val="FFFFFF">
                  <a:alpha val="0"/>
                </a:srgbClr>
              </a:clrTo>
            </a:clrChange>
            <a:extLst>
              <a:ext uri="{28A0092B-C50C-407E-A947-70E740481C1C}">
                <a14:useLocalDpi xmlns:a14="http://schemas.microsoft.com/office/drawing/2010/main"/>
              </a:ext>
            </a:extLst>
          </a:blip>
          <a:srcRect/>
          <a:stretch>
            <a:fillRect/>
          </a:stretch>
        </p:blipFill>
        <p:spPr bwMode="auto">
          <a:xfrm>
            <a:off x="8502650" y="3328966"/>
            <a:ext cx="2266950" cy="1190866"/>
          </a:xfrm>
          <a:prstGeom prst="rect">
            <a:avLst/>
          </a:prstGeom>
          <a:noFill/>
          <a:extLst>
            <a:ext uri="{909E8E84-426E-40DD-AFC4-6F175D3DCCD1}">
              <a14:hiddenFill xmlns:a14="http://schemas.microsoft.com/office/drawing/2010/main">
                <a:solidFill>
                  <a:srgbClr val="FFFFFF"/>
                </a:solidFill>
              </a14:hiddenFill>
            </a:ext>
          </a:extLst>
        </p:spPr>
      </p:pic>
      <p:sp>
        <p:nvSpPr>
          <p:cNvPr id="3" name="Rectangle 2">
            <a:extLst>
              <a:ext uri="{FF2B5EF4-FFF2-40B4-BE49-F238E27FC236}">
                <a16:creationId xmlns:a16="http://schemas.microsoft.com/office/drawing/2014/main" id="{62A072E6-5B59-F58D-E1D5-FBB1C6050929}"/>
              </a:ext>
            </a:extLst>
          </p:cNvPr>
          <p:cNvSpPr/>
          <p:nvPr/>
        </p:nvSpPr>
        <p:spPr>
          <a:xfrm>
            <a:off x="0" y="0"/>
            <a:ext cx="978408" cy="6858000"/>
          </a:xfrm>
          <a:prstGeom prst="rect">
            <a:avLst/>
          </a:prstGeom>
          <a:solidFill>
            <a:srgbClr val="254F96">
              <a:alpha val="86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TextBox 3">
            <a:extLst>
              <a:ext uri="{FF2B5EF4-FFF2-40B4-BE49-F238E27FC236}">
                <a16:creationId xmlns:a16="http://schemas.microsoft.com/office/drawing/2014/main" id="{7F890093-D539-CA4F-976A-7B1A5C58F15B}"/>
              </a:ext>
            </a:extLst>
          </p:cNvPr>
          <p:cNvSpPr txBox="1"/>
          <p:nvPr/>
        </p:nvSpPr>
        <p:spPr>
          <a:xfrm>
            <a:off x="1284079" y="2851320"/>
            <a:ext cx="2757206" cy="1477328"/>
          </a:xfrm>
          <a:prstGeom prst="rect">
            <a:avLst/>
          </a:prstGeom>
          <a:noFill/>
        </p:spPr>
        <p:txBody>
          <a:bodyPr wrap="square" rtlCol="0">
            <a:spAutoFit/>
          </a:bodyPr>
          <a:lstStyle/>
          <a:p>
            <a:r>
              <a:rPr lang="en-US" dirty="0">
                <a:latin typeface="Arial" panose="020B0604020202020204" pitchFamily="34" charset="0"/>
                <a:cs typeface="Arial" panose="020B0604020202020204" pitchFamily="34" charset="0"/>
              </a:rPr>
              <a:t>Comparison of Medicare payment market share by zip code: St Luke’s vs Lehigh Valley Health Network</a:t>
            </a:r>
          </a:p>
        </p:txBody>
      </p:sp>
      <p:sp>
        <p:nvSpPr>
          <p:cNvPr id="10" name="Title 1">
            <a:extLst>
              <a:ext uri="{FF2B5EF4-FFF2-40B4-BE49-F238E27FC236}">
                <a16:creationId xmlns:a16="http://schemas.microsoft.com/office/drawing/2014/main" id="{9164B861-2919-13B0-DF11-6C92DA49C7C5}"/>
              </a:ext>
            </a:extLst>
          </p:cNvPr>
          <p:cNvSpPr>
            <a:spLocks noGrp="1"/>
          </p:cNvSpPr>
          <p:nvPr>
            <p:ph type="title"/>
          </p:nvPr>
        </p:nvSpPr>
        <p:spPr>
          <a:xfrm>
            <a:off x="1118682" y="136525"/>
            <a:ext cx="10652404" cy="1091529"/>
          </a:xfrm>
        </p:spPr>
        <p:txBody>
          <a:bodyPr>
            <a:noAutofit/>
          </a:bodyPr>
          <a:lstStyle/>
          <a:p>
            <a:pPr>
              <a:lnSpc>
                <a:spcPct val="100000"/>
              </a:lnSpc>
              <a:spcBef>
                <a:spcPts val="1800"/>
              </a:spcBef>
              <a:spcAft>
                <a:spcPts val="600"/>
              </a:spcAft>
            </a:pPr>
            <a:r>
              <a:rPr lang="en-US" sz="2800" dirty="0">
                <a:solidFill>
                  <a:srgbClr val="000B2E"/>
                </a:solidFill>
                <a:latin typeface="Arial" panose="020B0604020202020204" pitchFamily="34" charset="0"/>
                <a:cs typeface="Arial" panose="020B0604020202020204" pitchFamily="34" charset="0"/>
              </a:rPr>
              <a:t>SLUHN Advantage:</a:t>
            </a:r>
            <a:br>
              <a:rPr lang="en-US" sz="4000" b="1" dirty="0">
                <a:solidFill>
                  <a:srgbClr val="000B2E"/>
                </a:solidFill>
                <a:latin typeface="Arial" panose="020B0604020202020204" pitchFamily="34" charset="0"/>
                <a:cs typeface="Arial" panose="020B0604020202020204" pitchFamily="34" charset="0"/>
              </a:rPr>
            </a:br>
            <a:r>
              <a:rPr lang="en-US" sz="4000" b="1" dirty="0">
                <a:solidFill>
                  <a:srgbClr val="000B2E"/>
                </a:solidFill>
                <a:latin typeface="Arial" panose="020B0604020202020204" pitchFamily="34" charset="0"/>
                <a:cs typeface="Arial" panose="020B0604020202020204" pitchFamily="34" charset="0"/>
              </a:rPr>
              <a:t>Strong </a:t>
            </a:r>
            <a:r>
              <a:rPr lang="en-US" sz="4000" b="1" dirty="0">
                <a:solidFill>
                  <a:srgbClr val="59CAE8"/>
                </a:solidFill>
                <a:latin typeface="Arial" panose="020B0604020202020204" pitchFamily="34" charset="0"/>
                <a:cs typeface="Arial" panose="020B0604020202020204" pitchFamily="34" charset="0"/>
              </a:rPr>
              <a:t>Brand</a:t>
            </a:r>
            <a:r>
              <a:rPr lang="en-US" sz="4000" b="1" dirty="0">
                <a:solidFill>
                  <a:srgbClr val="000B2E"/>
                </a:solidFill>
                <a:latin typeface="Arial" panose="020B0604020202020204" pitchFamily="34" charset="0"/>
                <a:cs typeface="Arial" panose="020B0604020202020204" pitchFamily="34" charset="0"/>
              </a:rPr>
              <a:t> Quality</a:t>
            </a:r>
            <a:endParaRPr lang="en-US" sz="1600" dirty="0">
              <a:solidFill>
                <a:schemeClr val="tx1">
                  <a:lumMod val="75000"/>
                  <a:lumOff val="25000"/>
                </a:schemeClr>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94939410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Welcome to Lehigh Valley Health Network ...">
            <a:extLst>
              <a:ext uri="{FF2B5EF4-FFF2-40B4-BE49-F238E27FC236}">
                <a16:creationId xmlns:a16="http://schemas.microsoft.com/office/drawing/2014/main" id="{D35E0F37-25DB-A6ED-FA0B-749C789F7434}"/>
              </a:ext>
            </a:extLst>
          </p:cNvPr>
          <p:cNvPicPr>
            <a:picLocks noChangeAspect="1" noChangeArrowheads="1"/>
          </p:cNvPicPr>
          <p:nvPr/>
        </p:nvPicPr>
        <p:blipFill>
          <a:blip r:embed="rId2">
            <a:extLst>
              <a:ext uri="{28A0092B-C50C-407E-A947-70E740481C1C}">
                <a14:useLocalDpi xmlns:a14="http://schemas.microsoft.com/office/drawing/2010/main"/>
              </a:ext>
            </a:extLst>
          </a:blip>
          <a:srcRect/>
          <a:stretch>
            <a:fillRect/>
          </a:stretch>
        </p:blipFill>
        <p:spPr bwMode="auto">
          <a:xfrm>
            <a:off x="161604" y="2216823"/>
            <a:ext cx="3066288" cy="609600"/>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St. Luke's University Health Network's 150th Anniversary">
            <a:extLst>
              <a:ext uri="{FF2B5EF4-FFF2-40B4-BE49-F238E27FC236}">
                <a16:creationId xmlns:a16="http://schemas.microsoft.com/office/drawing/2014/main" id="{81F606B0-F3E0-4A78-98C0-7AA2580C33ED}"/>
              </a:ext>
            </a:extLst>
          </p:cNvPr>
          <p:cNvPicPr>
            <a:picLocks noChangeAspect="1" noChangeArrowheads="1"/>
          </p:cNvPicPr>
          <p:nvPr/>
        </p:nvPicPr>
        <p:blipFill>
          <a:blip r:embed="rId3" cstate="screen">
            <a:clrChange>
              <a:clrFrom>
                <a:srgbClr val="FFFFFF"/>
              </a:clrFrom>
              <a:clrTo>
                <a:srgbClr val="FFFFFF">
                  <a:alpha val="0"/>
                </a:srgbClr>
              </a:clrTo>
            </a:clrChange>
            <a:extLst>
              <a:ext uri="{28A0092B-C50C-407E-A947-70E740481C1C}">
                <a14:useLocalDpi xmlns:a14="http://schemas.microsoft.com/office/drawing/2010/main"/>
              </a:ext>
            </a:extLst>
          </a:blip>
          <a:srcRect/>
          <a:stretch>
            <a:fillRect/>
          </a:stretch>
        </p:blipFill>
        <p:spPr bwMode="auto">
          <a:xfrm>
            <a:off x="9448800" y="985158"/>
            <a:ext cx="2266950" cy="1190866"/>
          </a:xfrm>
          <a:prstGeom prst="rect">
            <a:avLst/>
          </a:prstGeom>
          <a:noFill/>
          <a:extLst>
            <a:ext uri="{909E8E84-426E-40DD-AFC4-6F175D3DCCD1}">
              <a14:hiddenFill xmlns:a14="http://schemas.microsoft.com/office/drawing/2010/main">
                <a:solidFill>
                  <a:srgbClr val="FFFFFF"/>
                </a:solidFill>
              </a14:hiddenFill>
            </a:ext>
          </a:extLst>
        </p:spPr>
      </p:pic>
      <p:graphicFrame>
        <p:nvGraphicFramePr>
          <p:cNvPr id="6" name="Table 5">
            <a:extLst>
              <a:ext uri="{FF2B5EF4-FFF2-40B4-BE49-F238E27FC236}">
                <a16:creationId xmlns:a16="http://schemas.microsoft.com/office/drawing/2014/main" id="{802C5E5F-C08F-02C6-5478-0FD5169A64CD}"/>
              </a:ext>
            </a:extLst>
          </p:cNvPr>
          <p:cNvGraphicFramePr>
            <a:graphicFrameLocks noGrp="1"/>
          </p:cNvGraphicFramePr>
          <p:nvPr/>
        </p:nvGraphicFramePr>
        <p:xfrm>
          <a:off x="311586" y="3139930"/>
          <a:ext cx="2766324" cy="1097280"/>
        </p:xfrm>
        <a:graphic>
          <a:graphicData uri="http://schemas.openxmlformats.org/drawingml/2006/table">
            <a:tbl>
              <a:tblPr firstRow="1" bandRow="1">
                <a:tableStyleId>{5C22544A-7EE6-4342-B048-85BDC9FD1C3A}</a:tableStyleId>
              </a:tblPr>
              <a:tblGrid>
                <a:gridCol w="1383162">
                  <a:extLst>
                    <a:ext uri="{9D8B030D-6E8A-4147-A177-3AD203B41FA5}">
                      <a16:colId xmlns:a16="http://schemas.microsoft.com/office/drawing/2014/main" val="1499193583"/>
                    </a:ext>
                  </a:extLst>
                </a:gridCol>
                <a:gridCol w="1383162">
                  <a:extLst>
                    <a:ext uri="{9D8B030D-6E8A-4147-A177-3AD203B41FA5}">
                      <a16:colId xmlns:a16="http://schemas.microsoft.com/office/drawing/2014/main" val="3693673618"/>
                    </a:ext>
                  </a:extLst>
                </a:gridCol>
              </a:tblGrid>
              <a:tr h="251800">
                <a:tc>
                  <a:txBody>
                    <a:bodyPr/>
                    <a:lstStyle/>
                    <a:p>
                      <a:r>
                        <a:rPr lang="en-US" sz="1200" dirty="0"/>
                        <a:t>Hospital</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rgbClr val="00B050"/>
                    </a:solidFill>
                  </a:tcPr>
                </a:tc>
                <a:tc>
                  <a:txBody>
                    <a:bodyPr/>
                    <a:lstStyle/>
                    <a:p>
                      <a:r>
                        <a:rPr lang="en-US" sz="1200" dirty="0"/>
                        <a:t>Population Within 5 Miles</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rgbClr val="00B050"/>
                    </a:solidFill>
                  </a:tcPr>
                </a:tc>
                <a:extLst>
                  <a:ext uri="{0D108BD9-81ED-4DB2-BD59-A6C34878D82A}">
                    <a16:rowId xmlns:a16="http://schemas.microsoft.com/office/drawing/2014/main" val="3311402759"/>
                  </a:ext>
                </a:extLst>
              </a:tr>
              <a:tr h="251800">
                <a:tc>
                  <a:txBody>
                    <a:bodyPr/>
                    <a:lstStyle/>
                    <a:p>
                      <a:r>
                        <a:rPr lang="en-US" sz="1200" dirty="0"/>
                        <a:t>Lehigh Valley Hospital Cedar Crest</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rgbClr val="F7FFFB"/>
                    </a:solidFill>
                  </a:tcPr>
                </a:tc>
                <a:tc>
                  <a:txBody>
                    <a:bodyPr/>
                    <a:lstStyle/>
                    <a:p>
                      <a:pPr algn="ctr"/>
                      <a:r>
                        <a:rPr lang="en-US" sz="1200" dirty="0"/>
                        <a:t>227,393</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rgbClr val="F7FFFB"/>
                    </a:solidFill>
                  </a:tcPr>
                </a:tc>
                <a:extLst>
                  <a:ext uri="{0D108BD9-81ED-4DB2-BD59-A6C34878D82A}">
                    <a16:rowId xmlns:a16="http://schemas.microsoft.com/office/drawing/2014/main" val="316278004"/>
                  </a:ext>
                </a:extLst>
              </a:tr>
            </a:tbl>
          </a:graphicData>
        </a:graphic>
      </p:graphicFrame>
      <p:graphicFrame>
        <p:nvGraphicFramePr>
          <p:cNvPr id="7" name="Table 6">
            <a:extLst>
              <a:ext uri="{FF2B5EF4-FFF2-40B4-BE49-F238E27FC236}">
                <a16:creationId xmlns:a16="http://schemas.microsoft.com/office/drawing/2014/main" id="{F5DFB184-5687-810D-E027-F824D29970B6}"/>
              </a:ext>
            </a:extLst>
          </p:cNvPr>
          <p:cNvGraphicFramePr>
            <a:graphicFrameLocks noGrp="1"/>
          </p:cNvGraphicFramePr>
          <p:nvPr/>
        </p:nvGraphicFramePr>
        <p:xfrm>
          <a:off x="9199113" y="2198898"/>
          <a:ext cx="2766324" cy="3663655"/>
        </p:xfrm>
        <a:graphic>
          <a:graphicData uri="http://schemas.openxmlformats.org/drawingml/2006/table">
            <a:tbl>
              <a:tblPr firstRow="1" bandRow="1">
                <a:tableStyleId>{5C22544A-7EE6-4342-B048-85BDC9FD1C3A}</a:tableStyleId>
              </a:tblPr>
              <a:tblGrid>
                <a:gridCol w="1810632">
                  <a:extLst>
                    <a:ext uri="{9D8B030D-6E8A-4147-A177-3AD203B41FA5}">
                      <a16:colId xmlns:a16="http://schemas.microsoft.com/office/drawing/2014/main" val="1499193583"/>
                    </a:ext>
                  </a:extLst>
                </a:gridCol>
                <a:gridCol w="955692">
                  <a:extLst>
                    <a:ext uri="{9D8B030D-6E8A-4147-A177-3AD203B41FA5}">
                      <a16:colId xmlns:a16="http://schemas.microsoft.com/office/drawing/2014/main" val="3693673618"/>
                    </a:ext>
                  </a:extLst>
                </a:gridCol>
              </a:tblGrid>
              <a:tr h="251800">
                <a:tc>
                  <a:txBody>
                    <a:bodyPr/>
                    <a:lstStyle/>
                    <a:p>
                      <a:pPr algn="l"/>
                      <a:r>
                        <a:rPr lang="en-US" sz="1200" dirty="0"/>
                        <a:t>Hospital</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accent5"/>
                    </a:solidFill>
                  </a:tcPr>
                </a:tc>
                <a:tc>
                  <a:txBody>
                    <a:bodyPr/>
                    <a:lstStyle/>
                    <a:p>
                      <a:r>
                        <a:rPr lang="en-US" sz="1200" dirty="0"/>
                        <a:t>Population Within 5 Miles</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accent5"/>
                    </a:solidFill>
                  </a:tcPr>
                </a:tc>
                <a:extLst>
                  <a:ext uri="{0D108BD9-81ED-4DB2-BD59-A6C34878D82A}">
                    <a16:rowId xmlns:a16="http://schemas.microsoft.com/office/drawing/2014/main" val="3311402759"/>
                  </a:ext>
                </a:extLst>
              </a:tr>
              <a:tr h="251800">
                <a:tc>
                  <a:txBody>
                    <a:bodyPr/>
                    <a:lstStyle/>
                    <a:p>
                      <a:pPr algn="l" fontAlgn="b"/>
                      <a:r>
                        <a:rPr lang="en-US" sz="1200" kern="1200" dirty="0">
                          <a:solidFill>
                            <a:schemeClr val="dk1"/>
                          </a:solidFill>
                          <a:latin typeface="+mn-lt"/>
                          <a:ea typeface="+mn-ea"/>
                          <a:cs typeface="+mn-cs"/>
                        </a:rPr>
                        <a:t>St Luke's Hospital - Anderson Campus</a:t>
                      </a:r>
                    </a:p>
                  </a:txBody>
                  <a:tcPr marR="9525" marT="9525"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rgbClr val="E5F2F7"/>
                    </a:solidFill>
                  </a:tcPr>
                </a:tc>
                <a:tc>
                  <a:txBody>
                    <a:bodyPr/>
                    <a:lstStyle/>
                    <a:p>
                      <a:pPr algn="r" fontAlgn="b"/>
                      <a:r>
                        <a:rPr lang="en-US" sz="1200" kern="1200" dirty="0">
                          <a:solidFill>
                            <a:schemeClr val="dk1"/>
                          </a:solidFill>
                          <a:latin typeface="+mn-lt"/>
                          <a:ea typeface="+mn-ea"/>
                          <a:cs typeface="+mn-cs"/>
                        </a:rPr>
                        <a:t>142,000</a:t>
                      </a:r>
                    </a:p>
                  </a:txBody>
                  <a:tcPr marT="9525"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rgbClr val="E5F2F7"/>
                    </a:solidFill>
                  </a:tcPr>
                </a:tc>
                <a:extLst>
                  <a:ext uri="{0D108BD9-81ED-4DB2-BD59-A6C34878D82A}">
                    <a16:rowId xmlns:a16="http://schemas.microsoft.com/office/drawing/2014/main" val="316278004"/>
                  </a:ext>
                </a:extLst>
              </a:tr>
              <a:tr h="251800">
                <a:tc>
                  <a:txBody>
                    <a:bodyPr/>
                    <a:lstStyle/>
                    <a:p>
                      <a:pPr algn="l" fontAlgn="b"/>
                      <a:r>
                        <a:rPr lang="en-US" sz="1200" kern="1200" dirty="0">
                          <a:solidFill>
                            <a:schemeClr val="dk1"/>
                          </a:solidFill>
                          <a:latin typeface="+mn-lt"/>
                          <a:ea typeface="+mn-ea"/>
                          <a:cs typeface="+mn-cs"/>
                        </a:rPr>
                        <a:t>St Lukes Upper Bucks Campus</a:t>
                      </a:r>
                    </a:p>
                  </a:txBody>
                  <a:tcPr marR="9525" marT="9525"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rgbClr val="E5F2F7"/>
                    </a:solidFill>
                  </a:tcPr>
                </a:tc>
                <a:tc>
                  <a:txBody>
                    <a:bodyPr/>
                    <a:lstStyle/>
                    <a:p>
                      <a:pPr algn="r" fontAlgn="b"/>
                      <a:r>
                        <a:rPr lang="en-US" sz="1200" kern="1200" dirty="0">
                          <a:solidFill>
                            <a:schemeClr val="dk1"/>
                          </a:solidFill>
                          <a:latin typeface="+mn-lt"/>
                          <a:ea typeface="+mn-ea"/>
                          <a:cs typeface="+mn-cs"/>
                        </a:rPr>
                        <a:t>46,000</a:t>
                      </a:r>
                    </a:p>
                  </a:txBody>
                  <a:tcPr marT="9525"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rgbClr val="E5F2F7"/>
                    </a:solidFill>
                  </a:tcPr>
                </a:tc>
                <a:extLst>
                  <a:ext uri="{0D108BD9-81ED-4DB2-BD59-A6C34878D82A}">
                    <a16:rowId xmlns:a16="http://schemas.microsoft.com/office/drawing/2014/main" val="352114391"/>
                  </a:ext>
                </a:extLst>
              </a:tr>
              <a:tr h="251800">
                <a:tc>
                  <a:txBody>
                    <a:bodyPr/>
                    <a:lstStyle/>
                    <a:p>
                      <a:pPr algn="l" fontAlgn="b"/>
                      <a:r>
                        <a:rPr lang="en-US" sz="1200" kern="1200" dirty="0">
                          <a:solidFill>
                            <a:schemeClr val="dk1"/>
                          </a:solidFill>
                          <a:latin typeface="+mn-lt"/>
                          <a:ea typeface="+mn-ea"/>
                          <a:cs typeface="+mn-cs"/>
                        </a:rPr>
                        <a:t>St Luke's Hospital Bethlehem</a:t>
                      </a:r>
                    </a:p>
                  </a:txBody>
                  <a:tcPr marR="9525" marT="9525"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rgbClr val="E5F2F7"/>
                    </a:solidFill>
                  </a:tcPr>
                </a:tc>
                <a:tc>
                  <a:txBody>
                    <a:bodyPr/>
                    <a:lstStyle/>
                    <a:p>
                      <a:pPr algn="r" fontAlgn="b"/>
                      <a:r>
                        <a:rPr lang="en-US" sz="1200" kern="1200" dirty="0">
                          <a:solidFill>
                            <a:schemeClr val="dk1"/>
                          </a:solidFill>
                          <a:latin typeface="+mn-lt"/>
                          <a:ea typeface="+mn-ea"/>
                          <a:cs typeface="+mn-cs"/>
                        </a:rPr>
                        <a:t>255,000</a:t>
                      </a:r>
                    </a:p>
                  </a:txBody>
                  <a:tcPr marT="9525"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rgbClr val="E5F2F7"/>
                    </a:solidFill>
                  </a:tcPr>
                </a:tc>
                <a:extLst>
                  <a:ext uri="{0D108BD9-81ED-4DB2-BD59-A6C34878D82A}">
                    <a16:rowId xmlns:a16="http://schemas.microsoft.com/office/drawing/2014/main" val="1612802536"/>
                  </a:ext>
                </a:extLst>
              </a:tr>
              <a:tr h="251800">
                <a:tc>
                  <a:txBody>
                    <a:bodyPr/>
                    <a:lstStyle/>
                    <a:p>
                      <a:pPr algn="l" fontAlgn="b"/>
                      <a:r>
                        <a:rPr lang="en-US" sz="1200" kern="1200" dirty="0">
                          <a:solidFill>
                            <a:schemeClr val="dk1"/>
                          </a:solidFill>
                          <a:latin typeface="+mn-lt"/>
                          <a:ea typeface="+mn-ea"/>
                          <a:cs typeface="+mn-cs"/>
                        </a:rPr>
                        <a:t>St Luke's Warren Hospital</a:t>
                      </a:r>
                    </a:p>
                  </a:txBody>
                  <a:tcPr marR="9525" marT="9525"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rgbClr val="E5F2F7"/>
                    </a:solidFill>
                  </a:tcPr>
                </a:tc>
                <a:tc>
                  <a:txBody>
                    <a:bodyPr/>
                    <a:lstStyle/>
                    <a:p>
                      <a:pPr algn="r" fontAlgn="b"/>
                      <a:r>
                        <a:rPr lang="en-US" sz="1200" kern="1200" dirty="0">
                          <a:solidFill>
                            <a:schemeClr val="dk1"/>
                          </a:solidFill>
                          <a:latin typeface="+mn-lt"/>
                          <a:ea typeface="+mn-ea"/>
                          <a:cs typeface="+mn-cs"/>
                        </a:rPr>
                        <a:t>118,000</a:t>
                      </a:r>
                    </a:p>
                  </a:txBody>
                  <a:tcPr marT="9525"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rgbClr val="E5F2F7"/>
                    </a:solidFill>
                  </a:tcPr>
                </a:tc>
                <a:extLst>
                  <a:ext uri="{0D108BD9-81ED-4DB2-BD59-A6C34878D82A}">
                    <a16:rowId xmlns:a16="http://schemas.microsoft.com/office/drawing/2014/main" val="1181464314"/>
                  </a:ext>
                </a:extLst>
              </a:tr>
              <a:tr h="251800">
                <a:tc>
                  <a:txBody>
                    <a:bodyPr/>
                    <a:lstStyle/>
                    <a:p>
                      <a:pPr algn="l"/>
                      <a:r>
                        <a:rPr lang="en-US" sz="1200" kern="1200" dirty="0">
                          <a:solidFill>
                            <a:schemeClr val="dk1"/>
                          </a:solidFill>
                          <a:latin typeface="+mn-lt"/>
                          <a:ea typeface="+mn-ea"/>
                          <a:cs typeface="+mn-cs"/>
                        </a:rPr>
                        <a:t>St Luke's Hospital - Easton Campus</a:t>
                      </a: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rgbClr val="E5F2F7"/>
                    </a:solidFill>
                  </a:tcPr>
                </a:tc>
                <a:tc>
                  <a:txBody>
                    <a:bodyPr/>
                    <a:lstStyle/>
                    <a:p>
                      <a:pPr algn="r"/>
                      <a:r>
                        <a:rPr lang="en-US" sz="1200" kern="1200" dirty="0">
                          <a:solidFill>
                            <a:schemeClr val="dk1"/>
                          </a:solidFill>
                          <a:latin typeface="+mn-lt"/>
                          <a:ea typeface="+mn-ea"/>
                          <a:cs typeface="+mn-cs"/>
                        </a:rPr>
                        <a:t>141,000</a:t>
                      </a:r>
                    </a:p>
                    <a:p>
                      <a:pPr algn="r"/>
                      <a:endParaRPr lang="en-US" sz="1200" kern="1200" dirty="0">
                        <a:solidFill>
                          <a:schemeClr val="dk1"/>
                        </a:solidFill>
                        <a:latin typeface="+mn-lt"/>
                        <a:ea typeface="+mn-ea"/>
                        <a:cs typeface="+mn-cs"/>
                      </a:endParaRP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rgbClr val="E5F2F7"/>
                    </a:solidFill>
                  </a:tcPr>
                </a:tc>
                <a:extLst>
                  <a:ext uri="{0D108BD9-81ED-4DB2-BD59-A6C34878D82A}">
                    <a16:rowId xmlns:a16="http://schemas.microsoft.com/office/drawing/2014/main" val="3713141400"/>
                  </a:ext>
                </a:extLst>
              </a:tr>
              <a:tr h="251800">
                <a:tc>
                  <a:txBody>
                    <a:bodyPr/>
                    <a:lstStyle/>
                    <a:p>
                      <a:pPr algn="l"/>
                      <a:r>
                        <a:rPr lang="en-US" sz="1200" kern="1200" dirty="0">
                          <a:solidFill>
                            <a:schemeClr val="dk1"/>
                          </a:solidFill>
                          <a:latin typeface="+mn-lt"/>
                          <a:ea typeface="+mn-ea"/>
                          <a:cs typeface="+mn-cs"/>
                        </a:rPr>
                        <a:t>St. Luke’s Hospital Monroe County</a:t>
                      </a: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rgbClr val="E5F2F7"/>
                    </a:solidFill>
                  </a:tcPr>
                </a:tc>
                <a:tc>
                  <a:txBody>
                    <a:bodyPr/>
                    <a:lstStyle/>
                    <a:p>
                      <a:pPr algn="r"/>
                      <a:r>
                        <a:rPr lang="en-US" sz="1200" kern="1200" dirty="0">
                          <a:solidFill>
                            <a:schemeClr val="dk1"/>
                          </a:solidFill>
                          <a:latin typeface="+mn-lt"/>
                          <a:ea typeface="+mn-ea"/>
                          <a:cs typeface="+mn-cs"/>
                        </a:rPr>
                        <a:t>48,667</a:t>
                      </a: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rgbClr val="E5F2F7"/>
                    </a:solidFill>
                  </a:tcPr>
                </a:tc>
                <a:extLst>
                  <a:ext uri="{0D108BD9-81ED-4DB2-BD59-A6C34878D82A}">
                    <a16:rowId xmlns:a16="http://schemas.microsoft.com/office/drawing/2014/main" val="2385780560"/>
                  </a:ext>
                </a:extLst>
              </a:tr>
              <a:tr h="251800">
                <a:tc>
                  <a:txBody>
                    <a:bodyPr/>
                    <a:lstStyle/>
                    <a:p>
                      <a:pPr algn="l"/>
                      <a:r>
                        <a:rPr lang="en-US" sz="1200" kern="1200" dirty="0">
                          <a:solidFill>
                            <a:schemeClr val="dk1"/>
                          </a:solidFill>
                          <a:latin typeface="+mn-lt"/>
                          <a:ea typeface="+mn-ea"/>
                          <a:cs typeface="+mn-cs"/>
                        </a:rPr>
                        <a:t>St. Luke’s Hospital Carbon County</a:t>
                      </a: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rgbClr val="E5F2F7"/>
                    </a:solidFill>
                  </a:tcPr>
                </a:tc>
                <a:tc>
                  <a:txBody>
                    <a:bodyPr/>
                    <a:lstStyle/>
                    <a:p>
                      <a:pPr algn="r"/>
                      <a:r>
                        <a:rPr lang="en-US" sz="1200" kern="1200" dirty="0">
                          <a:solidFill>
                            <a:schemeClr val="dk1"/>
                          </a:solidFill>
                          <a:latin typeface="+mn-lt"/>
                          <a:ea typeface="+mn-ea"/>
                          <a:cs typeface="+mn-cs"/>
                        </a:rPr>
                        <a:t>26,628</a:t>
                      </a: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rgbClr val="E5F2F7"/>
                    </a:solidFill>
                  </a:tcPr>
                </a:tc>
                <a:extLst>
                  <a:ext uri="{0D108BD9-81ED-4DB2-BD59-A6C34878D82A}">
                    <a16:rowId xmlns:a16="http://schemas.microsoft.com/office/drawing/2014/main" val="1165044891"/>
                  </a:ext>
                </a:extLst>
              </a:tr>
              <a:tr h="251800">
                <a:tc>
                  <a:txBody>
                    <a:bodyPr/>
                    <a:lstStyle/>
                    <a:p>
                      <a:pPr algn="l"/>
                      <a:r>
                        <a:rPr lang="en-US" sz="1200" kern="1200" dirty="0">
                          <a:solidFill>
                            <a:schemeClr val="dk1"/>
                          </a:solidFill>
                          <a:latin typeface="+mn-lt"/>
                          <a:ea typeface="+mn-ea"/>
                          <a:cs typeface="+mn-cs"/>
                        </a:rPr>
                        <a:t>Grand View Hospital</a:t>
                      </a: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rgbClr val="E5F2F7"/>
                    </a:solidFill>
                  </a:tcPr>
                </a:tc>
                <a:tc>
                  <a:txBody>
                    <a:bodyPr/>
                    <a:lstStyle/>
                    <a:p>
                      <a:pPr algn="r"/>
                      <a:r>
                        <a:rPr lang="en-US" sz="1200" kern="1200" dirty="0">
                          <a:solidFill>
                            <a:schemeClr val="dk1"/>
                          </a:solidFill>
                          <a:latin typeface="+mn-lt"/>
                          <a:ea typeface="+mn-ea"/>
                          <a:cs typeface="+mn-cs"/>
                        </a:rPr>
                        <a:t>70,739</a:t>
                      </a: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rgbClr val="E5F2F7"/>
                    </a:solidFill>
                  </a:tcPr>
                </a:tc>
                <a:extLst>
                  <a:ext uri="{0D108BD9-81ED-4DB2-BD59-A6C34878D82A}">
                    <a16:rowId xmlns:a16="http://schemas.microsoft.com/office/drawing/2014/main" val="1318321328"/>
                  </a:ext>
                </a:extLst>
              </a:tr>
            </a:tbl>
          </a:graphicData>
        </a:graphic>
      </p:graphicFrame>
      <p:sp>
        <p:nvSpPr>
          <p:cNvPr id="8" name="Title 1">
            <a:extLst>
              <a:ext uri="{FF2B5EF4-FFF2-40B4-BE49-F238E27FC236}">
                <a16:creationId xmlns:a16="http://schemas.microsoft.com/office/drawing/2014/main" id="{B7A296EC-ABAC-52BC-9CE3-E14DAA57D327}"/>
              </a:ext>
            </a:extLst>
          </p:cNvPr>
          <p:cNvSpPr>
            <a:spLocks noGrp="1"/>
          </p:cNvSpPr>
          <p:nvPr>
            <p:ph type="title"/>
          </p:nvPr>
        </p:nvSpPr>
        <p:spPr>
          <a:xfrm>
            <a:off x="480053" y="277460"/>
            <a:ext cx="10652404" cy="1091529"/>
          </a:xfrm>
        </p:spPr>
        <p:txBody>
          <a:bodyPr>
            <a:noAutofit/>
          </a:bodyPr>
          <a:lstStyle/>
          <a:p>
            <a:pPr>
              <a:lnSpc>
                <a:spcPct val="100000"/>
              </a:lnSpc>
              <a:spcBef>
                <a:spcPts val="1800"/>
              </a:spcBef>
              <a:spcAft>
                <a:spcPts val="600"/>
              </a:spcAft>
            </a:pPr>
            <a:r>
              <a:rPr lang="en-US" sz="2800" dirty="0">
                <a:solidFill>
                  <a:srgbClr val="000B2E"/>
                </a:solidFill>
                <a:latin typeface="Arial" panose="020B0604020202020204" pitchFamily="34" charset="0"/>
                <a:cs typeface="Arial" panose="020B0604020202020204" pitchFamily="34" charset="0"/>
              </a:rPr>
              <a:t>SLUHN Advantage:</a:t>
            </a:r>
            <a:br>
              <a:rPr lang="en-US" sz="4000" b="1" dirty="0">
                <a:solidFill>
                  <a:srgbClr val="000B2E"/>
                </a:solidFill>
                <a:latin typeface="Arial" panose="020B0604020202020204" pitchFamily="34" charset="0"/>
                <a:cs typeface="Arial" panose="020B0604020202020204" pitchFamily="34" charset="0"/>
              </a:rPr>
            </a:br>
            <a:r>
              <a:rPr lang="en-US" sz="4000" b="1" dirty="0">
                <a:solidFill>
                  <a:srgbClr val="000B2E"/>
                </a:solidFill>
                <a:latin typeface="Arial" panose="020B0604020202020204" pitchFamily="34" charset="0"/>
                <a:cs typeface="Arial" panose="020B0604020202020204" pitchFamily="34" charset="0"/>
              </a:rPr>
              <a:t>Best-in-Area </a:t>
            </a:r>
            <a:r>
              <a:rPr lang="en-US" sz="4000" b="1" dirty="0">
                <a:solidFill>
                  <a:srgbClr val="59CAE8"/>
                </a:solidFill>
                <a:latin typeface="Arial" panose="020B0604020202020204" pitchFamily="34" charset="0"/>
                <a:cs typeface="Arial" panose="020B0604020202020204" pitchFamily="34" charset="0"/>
              </a:rPr>
              <a:t>Patient Access</a:t>
            </a:r>
            <a:endParaRPr lang="en-US" sz="1600" dirty="0">
              <a:solidFill>
                <a:schemeClr val="tx1">
                  <a:lumMod val="75000"/>
                  <a:lumOff val="25000"/>
                </a:schemeClr>
              </a:solidFill>
              <a:latin typeface="Arial" panose="020B0604020202020204" pitchFamily="34" charset="0"/>
              <a:cs typeface="Arial" panose="020B0604020202020204" pitchFamily="34" charset="0"/>
            </a:endParaRPr>
          </a:p>
        </p:txBody>
      </p:sp>
      <p:pic>
        <p:nvPicPr>
          <p:cNvPr id="9" name="Content Placeholder 8">
            <a:extLst>
              <a:ext uri="{FF2B5EF4-FFF2-40B4-BE49-F238E27FC236}">
                <a16:creationId xmlns:a16="http://schemas.microsoft.com/office/drawing/2014/main" id="{4A1C0BBF-67AE-4FA8-B00B-C8516DF8406E}"/>
              </a:ext>
            </a:extLst>
          </p:cNvPr>
          <p:cNvPicPr>
            <a:picLocks noGrp="1" noChangeAspect="1"/>
          </p:cNvPicPr>
          <p:nvPr>
            <p:ph idx="1"/>
          </p:nvPr>
        </p:nvPicPr>
        <p:blipFill>
          <a:blip r:embed="rId4"/>
          <a:srcRect b="11790"/>
          <a:stretch/>
        </p:blipFill>
        <p:spPr>
          <a:xfrm>
            <a:off x="3767055" y="1825625"/>
            <a:ext cx="4657890" cy="3838328"/>
          </a:xfrm>
          <a:prstGeom prst="rect">
            <a:avLst/>
          </a:prstGeom>
        </p:spPr>
      </p:pic>
    </p:spTree>
    <p:extLst>
      <p:ext uri="{BB962C8B-B14F-4D97-AF65-F5344CB8AC3E}">
        <p14:creationId xmlns:p14="http://schemas.microsoft.com/office/powerpoint/2010/main" val="212309206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ontent Placeholder 3">
            <a:extLst>
              <a:ext uri="{FF2B5EF4-FFF2-40B4-BE49-F238E27FC236}">
                <a16:creationId xmlns:a16="http://schemas.microsoft.com/office/drawing/2014/main" id="{D9C61F8C-B152-2706-CA9F-96880601EEFA}"/>
              </a:ext>
            </a:extLst>
          </p:cNvPr>
          <p:cNvGraphicFramePr>
            <a:graphicFrameLocks noGrp="1"/>
          </p:cNvGraphicFramePr>
          <p:nvPr>
            <p:ph idx="1"/>
          </p:nvPr>
        </p:nvGraphicFramePr>
        <p:xfrm>
          <a:off x="4102100" y="-123825"/>
          <a:ext cx="7963024" cy="5886452"/>
        </p:xfrm>
        <a:graphic>
          <a:graphicData uri="http://schemas.openxmlformats.org/drawingml/2006/table">
            <a:tbl>
              <a:tblPr/>
              <a:tblGrid>
                <a:gridCol w="2120045">
                  <a:extLst>
                    <a:ext uri="{9D8B030D-6E8A-4147-A177-3AD203B41FA5}">
                      <a16:colId xmlns:a16="http://schemas.microsoft.com/office/drawing/2014/main" val="2222280177"/>
                    </a:ext>
                  </a:extLst>
                </a:gridCol>
                <a:gridCol w="2120045">
                  <a:extLst>
                    <a:ext uri="{9D8B030D-6E8A-4147-A177-3AD203B41FA5}">
                      <a16:colId xmlns:a16="http://schemas.microsoft.com/office/drawing/2014/main" val="1625810600"/>
                    </a:ext>
                  </a:extLst>
                </a:gridCol>
                <a:gridCol w="2152929">
                  <a:extLst>
                    <a:ext uri="{9D8B030D-6E8A-4147-A177-3AD203B41FA5}">
                      <a16:colId xmlns:a16="http://schemas.microsoft.com/office/drawing/2014/main" val="1336689831"/>
                    </a:ext>
                  </a:extLst>
                </a:gridCol>
                <a:gridCol w="1570005">
                  <a:extLst>
                    <a:ext uri="{9D8B030D-6E8A-4147-A177-3AD203B41FA5}">
                      <a16:colId xmlns:a16="http://schemas.microsoft.com/office/drawing/2014/main" val="300144108"/>
                    </a:ext>
                  </a:extLst>
                </a:gridCol>
              </a:tblGrid>
              <a:tr h="3309550">
                <a:tc>
                  <a:txBody>
                    <a:bodyPr/>
                    <a:lstStyle/>
                    <a:p>
                      <a:pPr algn="l" fontAlgn="b">
                        <a:spcBef>
                          <a:spcPts val="0"/>
                        </a:spcBef>
                        <a:spcAft>
                          <a:spcPts val="0"/>
                        </a:spcAft>
                      </a:pPr>
                      <a:r>
                        <a:rPr lang="en-US" sz="2000" b="0" i="0" u="none" strike="noStrike" dirty="0">
                          <a:solidFill>
                            <a:srgbClr val="000000"/>
                          </a:solidFill>
                          <a:effectLst/>
                          <a:latin typeface="Arial" panose="020B0604020202020204" pitchFamily="34" charset="0"/>
                          <a:cs typeface="Arial" panose="020B0604020202020204" pitchFamily="34" charset="0"/>
                        </a:rPr>
                        <a:t>Patient HCAHPS Recommendation Rate Percentile</a:t>
                      </a:r>
                      <a:endParaRPr lang="en-US" sz="4000" b="0" i="0" u="none" strike="noStrike" dirty="0">
                        <a:effectLst/>
                        <a:latin typeface="Arial" panose="020B0604020202020204" pitchFamily="34" charset="0"/>
                        <a:cs typeface="Arial" panose="020B0604020202020204" pitchFamily="34" charset="0"/>
                      </a:endParaRPr>
                    </a:p>
                  </a:txBody>
                  <a:tcPr marL="23679" marR="23679" marT="23679" marB="0" anchor="b">
                    <a:lnL>
                      <a:noFill/>
                    </a:lnL>
                    <a:lnR>
                      <a:noFill/>
                    </a:lnR>
                    <a:lnT>
                      <a:noFill/>
                    </a:lnT>
                    <a:lnB>
                      <a:noFill/>
                    </a:lnB>
                    <a:noFill/>
                  </a:tcPr>
                </a:tc>
                <a:tc>
                  <a:txBody>
                    <a:bodyPr/>
                    <a:lstStyle/>
                    <a:p>
                      <a:pPr algn="l" fontAlgn="b">
                        <a:spcBef>
                          <a:spcPts val="0"/>
                        </a:spcBef>
                        <a:spcAft>
                          <a:spcPts val="0"/>
                        </a:spcAft>
                      </a:pPr>
                      <a:r>
                        <a:rPr lang="en-US" sz="2000" b="0" i="0" u="none" strike="noStrike" dirty="0">
                          <a:solidFill>
                            <a:srgbClr val="000000"/>
                          </a:solidFill>
                          <a:effectLst/>
                          <a:latin typeface="Arial" panose="020B0604020202020204" pitchFamily="34" charset="0"/>
                          <a:cs typeface="Arial" panose="020B0604020202020204" pitchFamily="34" charset="0"/>
                        </a:rPr>
                        <a:t>CMS Quality Stars Percentile</a:t>
                      </a:r>
                      <a:endParaRPr lang="en-US" sz="4000" b="0" i="0" u="none" strike="noStrike" dirty="0">
                        <a:effectLst/>
                        <a:latin typeface="Arial" panose="020B0604020202020204" pitchFamily="34" charset="0"/>
                        <a:cs typeface="Arial" panose="020B0604020202020204" pitchFamily="34" charset="0"/>
                      </a:endParaRPr>
                    </a:p>
                  </a:txBody>
                  <a:tcPr marL="23679" marR="23679" marT="23679" marB="0" anchor="b">
                    <a:lnL>
                      <a:noFill/>
                    </a:lnL>
                    <a:lnR>
                      <a:noFill/>
                    </a:lnR>
                    <a:lnT>
                      <a:noFill/>
                    </a:lnT>
                    <a:lnB>
                      <a:noFill/>
                    </a:lnB>
                    <a:noFill/>
                  </a:tcPr>
                </a:tc>
                <a:tc>
                  <a:txBody>
                    <a:bodyPr/>
                    <a:lstStyle/>
                    <a:p>
                      <a:pPr algn="l" fontAlgn="b">
                        <a:spcBef>
                          <a:spcPts val="0"/>
                        </a:spcBef>
                        <a:spcAft>
                          <a:spcPts val="0"/>
                        </a:spcAft>
                      </a:pPr>
                      <a:r>
                        <a:rPr lang="en-US" sz="2000" b="0" i="0" u="none" strike="noStrike" dirty="0">
                          <a:solidFill>
                            <a:srgbClr val="000000"/>
                          </a:solidFill>
                          <a:effectLst/>
                          <a:latin typeface="Arial" panose="020B0604020202020204" pitchFamily="34" charset="0"/>
                          <a:cs typeface="Arial" panose="020B0604020202020204" pitchFamily="34" charset="0"/>
                        </a:rPr>
                        <a:t>Mortality Average Percentile</a:t>
                      </a:r>
                      <a:endParaRPr lang="en-US" sz="4000" b="0" i="0" u="none" strike="noStrike" dirty="0">
                        <a:effectLst/>
                        <a:latin typeface="Arial" panose="020B0604020202020204" pitchFamily="34" charset="0"/>
                        <a:cs typeface="Arial" panose="020B0604020202020204" pitchFamily="34" charset="0"/>
                      </a:endParaRPr>
                    </a:p>
                  </a:txBody>
                  <a:tcPr marL="23679" marR="23679" marT="23679" marB="0" anchor="b">
                    <a:lnL>
                      <a:noFill/>
                    </a:lnL>
                    <a:lnR>
                      <a:noFill/>
                    </a:lnR>
                    <a:lnT>
                      <a:noFill/>
                    </a:lnT>
                    <a:lnB>
                      <a:noFill/>
                    </a:lnB>
                    <a:noFill/>
                  </a:tcPr>
                </a:tc>
                <a:tc>
                  <a:txBody>
                    <a:bodyPr/>
                    <a:lstStyle/>
                    <a:p>
                      <a:pPr algn="l" fontAlgn="b">
                        <a:spcBef>
                          <a:spcPts val="0"/>
                        </a:spcBef>
                        <a:spcAft>
                          <a:spcPts val="0"/>
                        </a:spcAft>
                      </a:pPr>
                      <a:r>
                        <a:rPr lang="en-US" sz="2000" b="0" i="0" u="none" strike="noStrike" dirty="0">
                          <a:solidFill>
                            <a:srgbClr val="000000"/>
                          </a:solidFill>
                          <a:effectLst/>
                          <a:latin typeface="Arial" panose="020B0604020202020204" pitchFamily="34" charset="0"/>
                          <a:cs typeface="Arial" panose="020B0604020202020204" pitchFamily="34" charset="0"/>
                        </a:rPr>
                        <a:t>Readmission Percentile</a:t>
                      </a:r>
                      <a:endParaRPr lang="en-US" sz="4000" b="0" i="0" u="none" strike="noStrike" dirty="0">
                        <a:effectLst/>
                        <a:latin typeface="Arial" panose="020B0604020202020204" pitchFamily="34" charset="0"/>
                        <a:cs typeface="Arial" panose="020B0604020202020204" pitchFamily="34" charset="0"/>
                      </a:endParaRPr>
                    </a:p>
                  </a:txBody>
                  <a:tcPr marL="23679" marR="23679" marT="23679" marB="0" anchor="b">
                    <a:lnL>
                      <a:noFill/>
                    </a:lnL>
                    <a:lnR>
                      <a:noFill/>
                    </a:lnR>
                    <a:lnT>
                      <a:noFill/>
                    </a:lnT>
                    <a:lnB>
                      <a:noFill/>
                    </a:lnB>
                    <a:noFill/>
                  </a:tcPr>
                </a:tc>
                <a:extLst>
                  <a:ext uri="{0D108BD9-81ED-4DB2-BD59-A6C34878D82A}">
                    <a16:rowId xmlns:a16="http://schemas.microsoft.com/office/drawing/2014/main" val="2286023769"/>
                  </a:ext>
                </a:extLst>
              </a:tr>
              <a:tr h="1288451">
                <a:tc>
                  <a:txBody>
                    <a:bodyPr/>
                    <a:lstStyle/>
                    <a:p>
                      <a:pPr algn="r" fontAlgn="b">
                        <a:spcBef>
                          <a:spcPts val="0"/>
                        </a:spcBef>
                        <a:spcAft>
                          <a:spcPts val="0"/>
                        </a:spcAft>
                      </a:pPr>
                      <a:r>
                        <a:rPr lang="en-US" sz="2000" b="0" i="0" u="none" strike="noStrike" dirty="0">
                          <a:solidFill>
                            <a:srgbClr val="000000"/>
                          </a:solidFill>
                          <a:effectLst/>
                          <a:highlight>
                            <a:srgbClr val="B8E1C5"/>
                          </a:highlight>
                          <a:latin typeface="Arial" panose="020B0604020202020204" pitchFamily="34" charset="0"/>
                          <a:cs typeface="Arial" panose="020B0604020202020204" pitchFamily="34" charset="0"/>
                        </a:rPr>
                        <a:t>73%</a:t>
                      </a:r>
                      <a:endParaRPr lang="en-US" sz="4000" b="0" i="0" u="none" strike="noStrike" dirty="0">
                        <a:effectLst/>
                        <a:highlight>
                          <a:srgbClr val="B8E1C5"/>
                        </a:highlight>
                        <a:latin typeface="Arial" panose="020B0604020202020204" pitchFamily="34" charset="0"/>
                        <a:cs typeface="Arial" panose="020B0604020202020204" pitchFamily="34" charset="0"/>
                      </a:endParaRPr>
                    </a:p>
                  </a:txBody>
                  <a:tcPr marL="23679" marR="23679" marT="23679" marB="0" anchor="b">
                    <a:lnL>
                      <a:noFill/>
                    </a:lnL>
                    <a:lnR>
                      <a:noFill/>
                    </a:lnR>
                    <a:lnT>
                      <a:noFill/>
                    </a:lnT>
                    <a:lnB>
                      <a:noFill/>
                    </a:lnB>
                    <a:solidFill>
                      <a:srgbClr val="B8E1C5"/>
                    </a:solidFill>
                  </a:tcPr>
                </a:tc>
                <a:tc>
                  <a:txBody>
                    <a:bodyPr/>
                    <a:lstStyle/>
                    <a:p>
                      <a:pPr algn="r" fontAlgn="b">
                        <a:spcBef>
                          <a:spcPts val="0"/>
                        </a:spcBef>
                        <a:spcAft>
                          <a:spcPts val="0"/>
                        </a:spcAft>
                      </a:pPr>
                      <a:r>
                        <a:rPr lang="en-US" sz="2000" b="0" i="0" u="none" strike="noStrike">
                          <a:solidFill>
                            <a:srgbClr val="000000"/>
                          </a:solidFill>
                          <a:effectLst/>
                          <a:highlight>
                            <a:srgbClr val="63BE7B"/>
                          </a:highlight>
                          <a:latin typeface="Arial" panose="020B0604020202020204" pitchFamily="34" charset="0"/>
                          <a:cs typeface="Arial" panose="020B0604020202020204" pitchFamily="34" charset="0"/>
                        </a:rPr>
                        <a:t>99%</a:t>
                      </a:r>
                      <a:endParaRPr lang="en-US" sz="4000" b="0" i="0" u="none" strike="noStrike">
                        <a:effectLst/>
                        <a:highlight>
                          <a:srgbClr val="63BE7B"/>
                        </a:highlight>
                        <a:latin typeface="Arial" panose="020B0604020202020204" pitchFamily="34" charset="0"/>
                        <a:cs typeface="Arial" panose="020B0604020202020204" pitchFamily="34" charset="0"/>
                      </a:endParaRPr>
                    </a:p>
                  </a:txBody>
                  <a:tcPr marL="23679" marR="23679" marT="23679" marB="0" anchor="b">
                    <a:lnL>
                      <a:noFill/>
                    </a:lnL>
                    <a:lnR>
                      <a:noFill/>
                    </a:lnR>
                    <a:lnT>
                      <a:noFill/>
                    </a:lnT>
                    <a:lnB>
                      <a:noFill/>
                    </a:lnB>
                    <a:solidFill>
                      <a:srgbClr val="63BE7B"/>
                    </a:solidFill>
                  </a:tcPr>
                </a:tc>
                <a:tc>
                  <a:txBody>
                    <a:bodyPr/>
                    <a:lstStyle/>
                    <a:p>
                      <a:pPr algn="r" fontAlgn="b">
                        <a:spcBef>
                          <a:spcPts val="0"/>
                        </a:spcBef>
                        <a:spcAft>
                          <a:spcPts val="0"/>
                        </a:spcAft>
                      </a:pPr>
                      <a:r>
                        <a:rPr lang="en-US" sz="2000" b="0" i="0" u="none" strike="noStrike">
                          <a:solidFill>
                            <a:srgbClr val="000000"/>
                          </a:solidFill>
                          <a:effectLst/>
                          <a:highlight>
                            <a:srgbClr val="8ED0A0"/>
                          </a:highlight>
                          <a:latin typeface="Arial" panose="020B0604020202020204" pitchFamily="34" charset="0"/>
                          <a:cs typeface="Arial" panose="020B0604020202020204" pitchFamily="34" charset="0"/>
                        </a:rPr>
                        <a:t>86%</a:t>
                      </a:r>
                      <a:endParaRPr lang="en-US" sz="4000" b="0" i="0" u="none" strike="noStrike">
                        <a:effectLst/>
                        <a:highlight>
                          <a:srgbClr val="8ED0A0"/>
                        </a:highlight>
                        <a:latin typeface="Arial" panose="020B0604020202020204" pitchFamily="34" charset="0"/>
                        <a:cs typeface="Arial" panose="020B0604020202020204" pitchFamily="34" charset="0"/>
                      </a:endParaRPr>
                    </a:p>
                  </a:txBody>
                  <a:tcPr marL="23679" marR="23679" marT="23679" marB="0" anchor="b">
                    <a:lnL>
                      <a:noFill/>
                    </a:lnL>
                    <a:lnR>
                      <a:noFill/>
                    </a:lnR>
                    <a:lnT>
                      <a:noFill/>
                    </a:lnT>
                    <a:lnB>
                      <a:noFill/>
                    </a:lnB>
                    <a:solidFill>
                      <a:srgbClr val="8ED0A0"/>
                    </a:solidFill>
                  </a:tcPr>
                </a:tc>
                <a:tc>
                  <a:txBody>
                    <a:bodyPr/>
                    <a:lstStyle/>
                    <a:p>
                      <a:pPr algn="r" fontAlgn="b">
                        <a:spcBef>
                          <a:spcPts val="0"/>
                        </a:spcBef>
                        <a:spcAft>
                          <a:spcPts val="0"/>
                        </a:spcAft>
                      </a:pPr>
                      <a:r>
                        <a:rPr lang="en-US" sz="2000" b="0" i="0" u="none" strike="noStrike">
                          <a:solidFill>
                            <a:srgbClr val="000000"/>
                          </a:solidFill>
                          <a:effectLst/>
                          <a:highlight>
                            <a:srgbClr val="DDF0E4"/>
                          </a:highlight>
                          <a:latin typeface="Arial" panose="020B0604020202020204" pitchFamily="34" charset="0"/>
                          <a:cs typeface="Arial" panose="020B0604020202020204" pitchFamily="34" charset="0"/>
                        </a:rPr>
                        <a:t>63%</a:t>
                      </a:r>
                      <a:endParaRPr lang="en-US" sz="4000" b="0" i="0" u="none" strike="noStrike">
                        <a:effectLst/>
                        <a:highlight>
                          <a:srgbClr val="DDF0E4"/>
                        </a:highlight>
                        <a:latin typeface="Arial" panose="020B0604020202020204" pitchFamily="34" charset="0"/>
                        <a:cs typeface="Arial" panose="020B0604020202020204" pitchFamily="34" charset="0"/>
                      </a:endParaRPr>
                    </a:p>
                  </a:txBody>
                  <a:tcPr marL="23679" marR="23679" marT="23679" marB="0" anchor="b">
                    <a:lnL>
                      <a:noFill/>
                    </a:lnL>
                    <a:lnR>
                      <a:noFill/>
                    </a:lnR>
                    <a:lnT>
                      <a:noFill/>
                    </a:lnT>
                    <a:lnB>
                      <a:noFill/>
                    </a:lnB>
                    <a:solidFill>
                      <a:srgbClr val="DDF0E4"/>
                    </a:solidFill>
                  </a:tcPr>
                </a:tc>
                <a:extLst>
                  <a:ext uri="{0D108BD9-81ED-4DB2-BD59-A6C34878D82A}">
                    <a16:rowId xmlns:a16="http://schemas.microsoft.com/office/drawing/2014/main" val="1456460964"/>
                  </a:ext>
                </a:extLst>
              </a:tr>
              <a:tr h="1288451">
                <a:tc>
                  <a:txBody>
                    <a:bodyPr/>
                    <a:lstStyle/>
                    <a:p>
                      <a:pPr algn="r" fontAlgn="b">
                        <a:spcBef>
                          <a:spcPts val="0"/>
                        </a:spcBef>
                        <a:spcAft>
                          <a:spcPts val="0"/>
                        </a:spcAft>
                      </a:pPr>
                      <a:r>
                        <a:rPr lang="en-US" sz="2000" b="0" i="0" u="none" strike="noStrike">
                          <a:solidFill>
                            <a:srgbClr val="000000"/>
                          </a:solidFill>
                          <a:effectLst/>
                          <a:highlight>
                            <a:srgbClr val="FCFCFF"/>
                          </a:highlight>
                          <a:latin typeface="Arial" panose="020B0604020202020204" pitchFamily="34" charset="0"/>
                          <a:cs typeface="Arial" panose="020B0604020202020204" pitchFamily="34" charset="0"/>
                        </a:rPr>
                        <a:t>53%</a:t>
                      </a:r>
                      <a:endParaRPr lang="en-US" sz="4000" b="0" i="0" u="none" strike="noStrike">
                        <a:effectLst/>
                        <a:highlight>
                          <a:srgbClr val="FCFCFF"/>
                        </a:highlight>
                        <a:latin typeface="Arial" panose="020B0604020202020204" pitchFamily="34" charset="0"/>
                        <a:cs typeface="Arial" panose="020B0604020202020204" pitchFamily="34" charset="0"/>
                      </a:endParaRPr>
                    </a:p>
                  </a:txBody>
                  <a:tcPr marL="23679" marR="23679" marT="23679" marB="0" anchor="b">
                    <a:lnL>
                      <a:noFill/>
                    </a:lnL>
                    <a:lnR>
                      <a:noFill/>
                    </a:lnR>
                    <a:lnT>
                      <a:noFill/>
                    </a:lnT>
                    <a:lnB>
                      <a:noFill/>
                    </a:lnB>
                    <a:solidFill>
                      <a:srgbClr val="FCFCFF"/>
                    </a:solidFill>
                  </a:tcPr>
                </a:tc>
                <a:tc>
                  <a:txBody>
                    <a:bodyPr/>
                    <a:lstStyle/>
                    <a:p>
                      <a:pPr algn="r" fontAlgn="b">
                        <a:spcBef>
                          <a:spcPts val="0"/>
                        </a:spcBef>
                        <a:spcAft>
                          <a:spcPts val="0"/>
                        </a:spcAft>
                      </a:pPr>
                      <a:r>
                        <a:rPr lang="en-US" sz="2000" b="0" i="0" u="none" strike="noStrike" dirty="0">
                          <a:solidFill>
                            <a:srgbClr val="000000"/>
                          </a:solidFill>
                          <a:effectLst/>
                          <a:highlight>
                            <a:srgbClr val="ECF6F1"/>
                          </a:highlight>
                          <a:latin typeface="Arial" panose="020B0604020202020204" pitchFamily="34" charset="0"/>
                          <a:cs typeface="Arial" panose="020B0604020202020204" pitchFamily="34" charset="0"/>
                        </a:rPr>
                        <a:t>58%</a:t>
                      </a:r>
                      <a:endParaRPr lang="en-US" sz="4000" b="0" i="0" u="none" strike="noStrike" dirty="0">
                        <a:effectLst/>
                        <a:highlight>
                          <a:srgbClr val="ECF6F1"/>
                        </a:highlight>
                        <a:latin typeface="Arial" panose="020B0604020202020204" pitchFamily="34" charset="0"/>
                        <a:cs typeface="Arial" panose="020B0604020202020204" pitchFamily="34" charset="0"/>
                      </a:endParaRPr>
                    </a:p>
                  </a:txBody>
                  <a:tcPr marL="23679" marR="23679" marT="23679" marB="0" anchor="b">
                    <a:lnL>
                      <a:noFill/>
                    </a:lnL>
                    <a:lnR>
                      <a:noFill/>
                    </a:lnR>
                    <a:lnT>
                      <a:noFill/>
                    </a:lnT>
                    <a:lnB>
                      <a:noFill/>
                    </a:lnB>
                    <a:solidFill>
                      <a:srgbClr val="ECF6F1"/>
                    </a:solidFill>
                  </a:tcPr>
                </a:tc>
                <a:tc>
                  <a:txBody>
                    <a:bodyPr/>
                    <a:lstStyle/>
                    <a:p>
                      <a:pPr algn="r" fontAlgn="b">
                        <a:spcBef>
                          <a:spcPts val="0"/>
                        </a:spcBef>
                        <a:spcAft>
                          <a:spcPts val="0"/>
                        </a:spcAft>
                      </a:pPr>
                      <a:r>
                        <a:rPr lang="en-US" sz="2000" b="0" i="0" u="none" strike="noStrike">
                          <a:solidFill>
                            <a:srgbClr val="000000"/>
                          </a:solidFill>
                          <a:effectLst/>
                          <a:highlight>
                            <a:srgbClr val="BDE3C9"/>
                          </a:highlight>
                          <a:latin typeface="Arial" panose="020B0604020202020204" pitchFamily="34" charset="0"/>
                          <a:cs typeface="Arial" panose="020B0604020202020204" pitchFamily="34" charset="0"/>
                        </a:rPr>
                        <a:t>72%</a:t>
                      </a:r>
                      <a:endParaRPr lang="en-US" sz="4000" b="0" i="0" u="none" strike="noStrike">
                        <a:effectLst/>
                        <a:highlight>
                          <a:srgbClr val="BDE3C9"/>
                        </a:highlight>
                        <a:latin typeface="Arial" panose="020B0604020202020204" pitchFamily="34" charset="0"/>
                        <a:cs typeface="Arial" panose="020B0604020202020204" pitchFamily="34" charset="0"/>
                      </a:endParaRPr>
                    </a:p>
                  </a:txBody>
                  <a:tcPr marL="23679" marR="23679" marT="23679" marB="0" anchor="b">
                    <a:lnL>
                      <a:noFill/>
                    </a:lnL>
                    <a:lnR>
                      <a:noFill/>
                    </a:lnR>
                    <a:lnT>
                      <a:noFill/>
                    </a:lnT>
                    <a:lnB>
                      <a:noFill/>
                    </a:lnB>
                    <a:solidFill>
                      <a:srgbClr val="BDE3C9"/>
                    </a:solidFill>
                  </a:tcPr>
                </a:tc>
                <a:tc>
                  <a:txBody>
                    <a:bodyPr/>
                    <a:lstStyle/>
                    <a:p>
                      <a:pPr algn="r" fontAlgn="b">
                        <a:spcBef>
                          <a:spcPts val="0"/>
                        </a:spcBef>
                        <a:spcAft>
                          <a:spcPts val="0"/>
                        </a:spcAft>
                      </a:pPr>
                      <a:r>
                        <a:rPr lang="en-US" sz="2000" b="0" i="0" u="none" strike="noStrike" dirty="0">
                          <a:solidFill>
                            <a:srgbClr val="000000"/>
                          </a:solidFill>
                          <a:effectLst/>
                          <a:highlight>
                            <a:srgbClr val="DBEFE3"/>
                          </a:highlight>
                          <a:latin typeface="Arial" panose="020B0604020202020204" pitchFamily="34" charset="0"/>
                          <a:cs typeface="Arial" panose="020B0604020202020204" pitchFamily="34" charset="0"/>
                        </a:rPr>
                        <a:t>63%</a:t>
                      </a:r>
                      <a:endParaRPr lang="en-US" sz="4000" b="0" i="0" u="none" strike="noStrike" dirty="0">
                        <a:effectLst/>
                        <a:highlight>
                          <a:srgbClr val="DBEFE3"/>
                        </a:highlight>
                        <a:latin typeface="Arial" panose="020B0604020202020204" pitchFamily="34" charset="0"/>
                        <a:cs typeface="Arial" panose="020B0604020202020204" pitchFamily="34" charset="0"/>
                      </a:endParaRPr>
                    </a:p>
                  </a:txBody>
                  <a:tcPr marL="23679" marR="23679" marT="23679" marB="0" anchor="b">
                    <a:lnL>
                      <a:noFill/>
                    </a:lnL>
                    <a:lnR>
                      <a:noFill/>
                    </a:lnR>
                    <a:lnT>
                      <a:noFill/>
                    </a:lnT>
                    <a:lnB>
                      <a:noFill/>
                    </a:lnB>
                    <a:solidFill>
                      <a:srgbClr val="DBEFE3"/>
                    </a:solidFill>
                  </a:tcPr>
                </a:tc>
                <a:extLst>
                  <a:ext uri="{0D108BD9-81ED-4DB2-BD59-A6C34878D82A}">
                    <a16:rowId xmlns:a16="http://schemas.microsoft.com/office/drawing/2014/main" val="543260720"/>
                  </a:ext>
                </a:extLst>
              </a:tr>
            </a:tbl>
          </a:graphicData>
        </a:graphic>
      </p:graphicFrame>
      <p:pic>
        <p:nvPicPr>
          <p:cNvPr id="5" name="Picture 2" descr="Welcome to Lehigh Valley Health Network ...">
            <a:extLst>
              <a:ext uri="{FF2B5EF4-FFF2-40B4-BE49-F238E27FC236}">
                <a16:creationId xmlns:a16="http://schemas.microsoft.com/office/drawing/2014/main" id="{F9CBBC25-2379-DA66-C994-34C7894D0939}"/>
              </a:ext>
            </a:extLst>
          </p:cNvPr>
          <p:cNvPicPr>
            <a:picLocks noChangeAspect="1" noChangeArrowheads="1"/>
          </p:cNvPicPr>
          <p:nvPr/>
        </p:nvPicPr>
        <p:blipFill>
          <a:blip r:embed="rId3" cstate="screen">
            <a:extLst>
              <a:ext uri="{28A0092B-C50C-407E-A947-70E740481C1C}">
                <a14:useLocalDpi xmlns:a14="http://schemas.microsoft.com/office/drawing/2010/main"/>
              </a:ext>
            </a:extLst>
          </a:blip>
          <a:srcRect/>
          <a:stretch>
            <a:fillRect/>
          </a:stretch>
        </p:blipFill>
        <p:spPr bwMode="auto">
          <a:xfrm>
            <a:off x="1670112" y="4895461"/>
            <a:ext cx="2266950" cy="450686"/>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4" descr="St. Luke's University Health Network's 150th Anniversary">
            <a:extLst>
              <a:ext uri="{FF2B5EF4-FFF2-40B4-BE49-F238E27FC236}">
                <a16:creationId xmlns:a16="http://schemas.microsoft.com/office/drawing/2014/main" id="{359DA4E3-A816-8BBD-E4DF-EBB8182B642F}"/>
              </a:ext>
            </a:extLst>
          </p:cNvPr>
          <p:cNvPicPr>
            <a:picLocks noChangeAspect="1" noChangeArrowheads="1"/>
          </p:cNvPicPr>
          <p:nvPr/>
        </p:nvPicPr>
        <p:blipFill>
          <a:blip r:embed="rId4" cstate="screen">
            <a:clrChange>
              <a:clrFrom>
                <a:srgbClr val="FFFFFF"/>
              </a:clrFrom>
              <a:clrTo>
                <a:srgbClr val="FFFFFF">
                  <a:alpha val="0"/>
                </a:srgbClr>
              </a:clrTo>
            </a:clrChange>
            <a:extLst>
              <a:ext uri="{28A0092B-C50C-407E-A947-70E740481C1C}">
                <a14:useLocalDpi xmlns:a14="http://schemas.microsoft.com/office/drawing/2010/main"/>
              </a:ext>
            </a:extLst>
          </a:blip>
          <a:srcRect/>
          <a:stretch>
            <a:fillRect/>
          </a:stretch>
        </p:blipFill>
        <p:spPr bwMode="auto">
          <a:xfrm>
            <a:off x="2266693" y="3419623"/>
            <a:ext cx="1505331" cy="790775"/>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a:extLst>
              <a:ext uri="{FF2B5EF4-FFF2-40B4-BE49-F238E27FC236}">
                <a16:creationId xmlns:a16="http://schemas.microsoft.com/office/drawing/2014/main" id="{7AF85B4F-4461-B17C-D1D9-5A4173F20833}"/>
              </a:ext>
            </a:extLst>
          </p:cNvPr>
          <p:cNvSpPr txBox="1"/>
          <p:nvPr/>
        </p:nvSpPr>
        <p:spPr>
          <a:xfrm>
            <a:off x="3019358" y="6015534"/>
            <a:ext cx="8788525" cy="73866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5B5B5B"/>
                </a:solidFill>
                <a:effectLst/>
                <a:uLnTx/>
                <a:uFillTx/>
                <a:latin typeface="Arial" panose="020B0604020202020204" pitchFamily="34" charset="0"/>
                <a:cs typeface="Arial" panose="020B0604020202020204" pitchFamily="34" charset="0"/>
              </a:rPr>
              <a:t>Source: CMS measurements of HCAHPS patient experience (percent who would strongly recommend), CMS Stars, high-variation mortality rates and high-variation readmission rates all shown as percentiles compared to all hospitals nationally, with the 99</a:t>
            </a:r>
            <a:r>
              <a:rPr kumimoji="0" lang="en-US" sz="1400" b="0" i="0" u="none" strike="noStrike" kern="1200" cap="none" spc="0" normalizeH="0" baseline="30000" noProof="0" dirty="0">
                <a:ln>
                  <a:noFill/>
                </a:ln>
                <a:solidFill>
                  <a:srgbClr val="5B5B5B"/>
                </a:solidFill>
                <a:effectLst/>
                <a:uLnTx/>
                <a:uFillTx/>
                <a:latin typeface="Arial" panose="020B0604020202020204" pitchFamily="34" charset="0"/>
                <a:cs typeface="Arial" panose="020B0604020202020204" pitchFamily="34" charset="0"/>
              </a:rPr>
              <a:t>th</a:t>
            </a:r>
            <a:r>
              <a:rPr kumimoji="0" lang="en-US" sz="1400" b="0" i="0" u="none" strike="noStrike" kern="1200" cap="none" spc="0" normalizeH="0" baseline="0" noProof="0" dirty="0">
                <a:ln>
                  <a:noFill/>
                </a:ln>
                <a:solidFill>
                  <a:srgbClr val="5B5B5B"/>
                </a:solidFill>
                <a:effectLst/>
                <a:uLnTx/>
                <a:uFillTx/>
                <a:latin typeface="Arial" panose="020B0604020202020204" pitchFamily="34" charset="0"/>
                <a:cs typeface="Arial" panose="020B0604020202020204" pitchFamily="34" charset="0"/>
              </a:rPr>
              <a:t> percentile being the best. </a:t>
            </a:r>
          </a:p>
        </p:txBody>
      </p:sp>
      <p:sp>
        <p:nvSpPr>
          <p:cNvPr id="7" name="Rectangle 6">
            <a:extLst>
              <a:ext uri="{FF2B5EF4-FFF2-40B4-BE49-F238E27FC236}">
                <a16:creationId xmlns:a16="http://schemas.microsoft.com/office/drawing/2014/main" id="{06EC2811-E3FF-9DAD-A862-D025B8B049B2}"/>
              </a:ext>
            </a:extLst>
          </p:cNvPr>
          <p:cNvSpPr/>
          <p:nvPr/>
        </p:nvSpPr>
        <p:spPr>
          <a:xfrm>
            <a:off x="0" y="0"/>
            <a:ext cx="978408" cy="6858000"/>
          </a:xfrm>
          <a:prstGeom prst="rect">
            <a:avLst/>
          </a:prstGeom>
          <a:solidFill>
            <a:srgbClr val="254F96">
              <a:alpha val="86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Title 1">
            <a:extLst>
              <a:ext uri="{FF2B5EF4-FFF2-40B4-BE49-F238E27FC236}">
                <a16:creationId xmlns:a16="http://schemas.microsoft.com/office/drawing/2014/main" id="{58B5BAC4-765B-3901-8C3A-00577DDBB959}"/>
              </a:ext>
            </a:extLst>
          </p:cNvPr>
          <p:cNvSpPr>
            <a:spLocks noGrp="1"/>
          </p:cNvSpPr>
          <p:nvPr>
            <p:ph type="title"/>
          </p:nvPr>
        </p:nvSpPr>
        <p:spPr>
          <a:xfrm>
            <a:off x="1143446" y="281668"/>
            <a:ext cx="10652404" cy="1091529"/>
          </a:xfrm>
        </p:spPr>
        <p:txBody>
          <a:bodyPr>
            <a:noAutofit/>
          </a:bodyPr>
          <a:lstStyle/>
          <a:p>
            <a:pPr>
              <a:lnSpc>
                <a:spcPct val="100000"/>
              </a:lnSpc>
              <a:spcBef>
                <a:spcPts val="1800"/>
              </a:spcBef>
              <a:spcAft>
                <a:spcPts val="600"/>
              </a:spcAft>
            </a:pPr>
            <a:r>
              <a:rPr lang="en-US" sz="2800" dirty="0">
                <a:solidFill>
                  <a:srgbClr val="000B2E"/>
                </a:solidFill>
                <a:latin typeface="Arial" panose="020B0604020202020204" pitchFamily="34" charset="0"/>
                <a:cs typeface="Arial" panose="020B0604020202020204" pitchFamily="34" charset="0"/>
              </a:rPr>
              <a:t>SLUHN Advantage:</a:t>
            </a:r>
            <a:br>
              <a:rPr lang="en-US" sz="4000" b="1" dirty="0">
                <a:solidFill>
                  <a:srgbClr val="000B2E"/>
                </a:solidFill>
                <a:latin typeface="Arial" panose="020B0604020202020204" pitchFamily="34" charset="0"/>
                <a:cs typeface="Arial" panose="020B0604020202020204" pitchFamily="34" charset="0"/>
              </a:rPr>
            </a:br>
            <a:r>
              <a:rPr lang="en-US" sz="4000" b="1" dirty="0">
                <a:solidFill>
                  <a:srgbClr val="000B2E"/>
                </a:solidFill>
                <a:latin typeface="Arial" panose="020B0604020202020204" pitchFamily="34" charset="0"/>
                <a:cs typeface="Arial" panose="020B0604020202020204" pitchFamily="34" charset="0"/>
              </a:rPr>
              <a:t>Leading </a:t>
            </a:r>
            <a:r>
              <a:rPr lang="en-US" sz="4000" b="1" dirty="0">
                <a:solidFill>
                  <a:srgbClr val="59CAE8"/>
                </a:solidFill>
                <a:latin typeface="Arial" panose="020B0604020202020204" pitchFamily="34" charset="0"/>
                <a:cs typeface="Arial" panose="020B0604020202020204" pitchFamily="34" charset="0"/>
              </a:rPr>
              <a:t>Care Quality</a:t>
            </a:r>
            <a:endParaRPr lang="en-US" sz="1600" dirty="0">
              <a:solidFill>
                <a:schemeClr val="tx1">
                  <a:lumMod val="75000"/>
                  <a:lumOff val="25000"/>
                </a:schemeClr>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85039536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ontent Placeholder 4">
            <a:extLst>
              <a:ext uri="{FF2B5EF4-FFF2-40B4-BE49-F238E27FC236}">
                <a16:creationId xmlns:a16="http://schemas.microsoft.com/office/drawing/2014/main" id="{AFA2A0DF-5447-9DFA-147E-C70145DBB6EE}"/>
              </a:ext>
            </a:extLst>
          </p:cNvPr>
          <p:cNvGraphicFramePr>
            <a:graphicFrameLocks noGrp="1"/>
          </p:cNvGraphicFramePr>
          <p:nvPr>
            <p:ph idx="1"/>
          </p:nvPr>
        </p:nvGraphicFramePr>
        <p:xfrm>
          <a:off x="1433867" y="1710771"/>
          <a:ext cx="10506457" cy="4194691"/>
        </p:xfrm>
        <a:graphic>
          <a:graphicData uri="http://schemas.openxmlformats.org/drawingml/2006/table">
            <a:tbl>
              <a:tblPr firstRow="1" bandRow="1"/>
              <a:tblGrid>
                <a:gridCol w="4496672">
                  <a:extLst>
                    <a:ext uri="{9D8B030D-6E8A-4147-A177-3AD203B41FA5}">
                      <a16:colId xmlns:a16="http://schemas.microsoft.com/office/drawing/2014/main" val="3878184201"/>
                    </a:ext>
                  </a:extLst>
                </a:gridCol>
                <a:gridCol w="3108378">
                  <a:extLst>
                    <a:ext uri="{9D8B030D-6E8A-4147-A177-3AD203B41FA5}">
                      <a16:colId xmlns:a16="http://schemas.microsoft.com/office/drawing/2014/main" val="184236409"/>
                    </a:ext>
                  </a:extLst>
                </a:gridCol>
                <a:gridCol w="2901407">
                  <a:extLst>
                    <a:ext uri="{9D8B030D-6E8A-4147-A177-3AD203B41FA5}">
                      <a16:colId xmlns:a16="http://schemas.microsoft.com/office/drawing/2014/main" val="1684919295"/>
                    </a:ext>
                  </a:extLst>
                </a:gridCol>
              </a:tblGrid>
              <a:tr h="764963">
                <a:tc>
                  <a:txBody>
                    <a:bodyPr/>
                    <a:lstStyle/>
                    <a:p>
                      <a:pPr algn="l" fontAlgn="b"/>
                      <a:r>
                        <a:rPr lang="en-US" sz="2200" b="0" i="0" u="none" strike="noStrike" dirty="0">
                          <a:solidFill>
                            <a:srgbClr val="000000"/>
                          </a:solidFill>
                          <a:effectLst/>
                          <a:latin typeface="Calibri" panose="020F0502020204030204" pitchFamily="34" charset="0"/>
                        </a:rPr>
                        <a:t>Hospital</a:t>
                      </a:r>
                    </a:p>
                  </a:txBody>
                  <a:tcPr marL="19105" marR="19105" marT="19105" marB="0" anchor="b">
                    <a:lnL>
                      <a:noFill/>
                    </a:lnL>
                    <a:lnR>
                      <a:noFill/>
                    </a:lnR>
                    <a:lnT>
                      <a:noFill/>
                    </a:lnT>
                    <a:lnB>
                      <a:noFill/>
                    </a:lnB>
                    <a:noFill/>
                  </a:tcPr>
                </a:tc>
                <a:tc>
                  <a:txBody>
                    <a:bodyPr/>
                    <a:lstStyle/>
                    <a:p>
                      <a:pPr algn="l" fontAlgn="b"/>
                      <a:r>
                        <a:rPr lang="en-US" sz="2200" b="0" i="0" u="none" strike="noStrike" dirty="0">
                          <a:solidFill>
                            <a:srgbClr val="000000"/>
                          </a:solidFill>
                          <a:effectLst/>
                          <a:latin typeface="Calibri" panose="020F0502020204030204" pitchFamily="34" charset="0"/>
                        </a:rPr>
                        <a:t>Rand Outpatient Services Percent of Medicare</a:t>
                      </a:r>
                    </a:p>
                  </a:txBody>
                  <a:tcPr marL="19105" marR="19105" marT="19105" marB="0" anchor="b">
                    <a:lnL>
                      <a:noFill/>
                    </a:lnL>
                    <a:lnR>
                      <a:noFill/>
                    </a:lnR>
                    <a:lnT>
                      <a:noFill/>
                    </a:lnT>
                    <a:lnB>
                      <a:noFill/>
                    </a:lnB>
                    <a:noFill/>
                  </a:tcPr>
                </a:tc>
                <a:tc>
                  <a:txBody>
                    <a:bodyPr/>
                    <a:lstStyle/>
                    <a:p>
                      <a:pPr algn="l" fontAlgn="b"/>
                      <a:r>
                        <a:rPr lang="en-US" sz="2200" b="0" i="0" u="none" strike="noStrike">
                          <a:solidFill>
                            <a:srgbClr val="000000"/>
                          </a:solidFill>
                          <a:effectLst/>
                          <a:latin typeface="Calibri" panose="020F0502020204030204" pitchFamily="34" charset="0"/>
                        </a:rPr>
                        <a:t>Rand Inpatient Services Percent of Medicare</a:t>
                      </a:r>
                    </a:p>
                  </a:txBody>
                  <a:tcPr marL="19105" marR="19105" marT="19105" marB="0" anchor="b">
                    <a:lnL>
                      <a:noFill/>
                    </a:lnL>
                    <a:lnR>
                      <a:noFill/>
                    </a:lnR>
                    <a:lnT>
                      <a:noFill/>
                    </a:lnT>
                    <a:lnB>
                      <a:noFill/>
                    </a:lnB>
                    <a:noFill/>
                  </a:tcPr>
                </a:tc>
                <a:extLst>
                  <a:ext uri="{0D108BD9-81ED-4DB2-BD59-A6C34878D82A}">
                    <a16:rowId xmlns:a16="http://schemas.microsoft.com/office/drawing/2014/main" val="1885184669"/>
                  </a:ext>
                </a:extLst>
              </a:tr>
              <a:tr h="428716">
                <a:tc>
                  <a:txBody>
                    <a:bodyPr/>
                    <a:lstStyle/>
                    <a:p>
                      <a:pPr algn="l" fontAlgn="b"/>
                      <a:r>
                        <a:rPr lang="en-US" sz="2200" b="0" i="0" u="none" strike="noStrike" dirty="0">
                          <a:solidFill>
                            <a:srgbClr val="000000"/>
                          </a:solidFill>
                          <a:effectLst/>
                          <a:latin typeface="Calibri" panose="020F0502020204030204" pitchFamily="34" charset="0"/>
                        </a:rPr>
                        <a:t>St Luke's Hospital - Anderson Campus</a:t>
                      </a:r>
                    </a:p>
                  </a:txBody>
                  <a:tcPr marL="19105" marR="19105" marT="19105" marB="0" anchor="b">
                    <a:lnL>
                      <a:noFill/>
                    </a:lnL>
                    <a:lnR>
                      <a:noFill/>
                    </a:lnR>
                    <a:lnT>
                      <a:noFill/>
                    </a:lnT>
                    <a:lnB>
                      <a:noFill/>
                    </a:lnB>
                    <a:noFill/>
                  </a:tcPr>
                </a:tc>
                <a:tc>
                  <a:txBody>
                    <a:bodyPr/>
                    <a:lstStyle/>
                    <a:p>
                      <a:pPr algn="r" fontAlgn="b"/>
                      <a:r>
                        <a:rPr lang="en-US" sz="2200" b="0" i="0" u="none" strike="noStrike">
                          <a:solidFill>
                            <a:srgbClr val="000000"/>
                          </a:solidFill>
                          <a:effectLst/>
                          <a:highlight>
                            <a:srgbClr val="F9B073"/>
                          </a:highlight>
                          <a:latin typeface="Calibri" panose="020F0502020204030204" pitchFamily="34" charset="0"/>
                        </a:rPr>
                        <a:t>290%</a:t>
                      </a:r>
                    </a:p>
                  </a:txBody>
                  <a:tcPr marL="19105" marR="19105" marT="19105" marB="0" anchor="b">
                    <a:lnL>
                      <a:noFill/>
                    </a:lnL>
                    <a:lnR>
                      <a:noFill/>
                    </a:lnR>
                    <a:lnT>
                      <a:noFill/>
                    </a:lnT>
                    <a:lnB>
                      <a:noFill/>
                    </a:lnB>
                    <a:solidFill>
                      <a:srgbClr val="F9B073"/>
                    </a:solidFill>
                  </a:tcPr>
                </a:tc>
                <a:tc>
                  <a:txBody>
                    <a:bodyPr/>
                    <a:lstStyle/>
                    <a:p>
                      <a:pPr algn="r" fontAlgn="b"/>
                      <a:r>
                        <a:rPr lang="en-US" sz="2200" b="0" i="0" u="none" strike="noStrike">
                          <a:solidFill>
                            <a:srgbClr val="000000"/>
                          </a:solidFill>
                          <a:effectLst/>
                          <a:highlight>
                            <a:srgbClr val="FABA85"/>
                          </a:highlight>
                          <a:latin typeface="Calibri" panose="020F0502020204030204" pitchFamily="34" charset="0"/>
                        </a:rPr>
                        <a:t>280%</a:t>
                      </a:r>
                    </a:p>
                  </a:txBody>
                  <a:tcPr marL="19105" marR="19105" marT="19105" marB="0" anchor="b">
                    <a:lnL>
                      <a:noFill/>
                    </a:lnL>
                    <a:lnR>
                      <a:noFill/>
                    </a:lnR>
                    <a:lnT>
                      <a:noFill/>
                    </a:lnT>
                    <a:lnB>
                      <a:noFill/>
                    </a:lnB>
                    <a:solidFill>
                      <a:srgbClr val="FABA85"/>
                    </a:solidFill>
                  </a:tcPr>
                </a:tc>
                <a:extLst>
                  <a:ext uri="{0D108BD9-81ED-4DB2-BD59-A6C34878D82A}">
                    <a16:rowId xmlns:a16="http://schemas.microsoft.com/office/drawing/2014/main" val="4015801012"/>
                  </a:ext>
                </a:extLst>
              </a:tr>
              <a:tr h="428716">
                <a:tc>
                  <a:txBody>
                    <a:bodyPr/>
                    <a:lstStyle/>
                    <a:p>
                      <a:pPr algn="l" fontAlgn="b"/>
                      <a:r>
                        <a:rPr lang="en-US" sz="2200" b="0" i="0" u="none" strike="noStrike" dirty="0">
                          <a:solidFill>
                            <a:srgbClr val="000000"/>
                          </a:solidFill>
                          <a:effectLst/>
                          <a:latin typeface="Calibri" panose="020F0502020204030204" pitchFamily="34" charset="0"/>
                        </a:rPr>
                        <a:t>St Lukes Upper Bucks Campus</a:t>
                      </a:r>
                    </a:p>
                  </a:txBody>
                  <a:tcPr marL="19105" marR="19105" marT="19105" marB="0" anchor="b">
                    <a:lnL>
                      <a:noFill/>
                    </a:lnL>
                    <a:lnR>
                      <a:noFill/>
                    </a:lnR>
                    <a:lnT>
                      <a:noFill/>
                    </a:lnT>
                    <a:lnB>
                      <a:noFill/>
                    </a:lnB>
                    <a:noFill/>
                  </a:tcPr>
                </a:tc>
                <a:tc>
                  <a:txBody>
                    <a:bodyPr/>
                    <a:lstStyle/>
                    <a:p>
                      <a:pPr algn="r" fontAlgn="b"/>
                      <a:r>
                        <a:rPr lang="en-US" sz="2200" b="0" i="0" u="none" strike="noStrike">
                          <a:solidFill>
                            <a:srgbClr val="000000"/>
                          </a:solidFill>
                          <a:effectLst/>
                          <a:highlight>
                            <a:srgbClr val="F9AE70"/>
                          </a:highlight>
                          <a:latin typeface="Calibri" panose="020F0502020204030204" pitchFamily="34" charset="0"/>
                        </a:rPr>
                        <a:t>292%</a:t>
                      </a:r>
                    </a:p>
                  </a:txBody>
                  <a:tcPr marL="19105" marR="19105" marT="19105" marB="0" anchor="b">
                    <a:lnL>
                      <a:noFill/>
                    </a:lnL>
                    <a:lnR>
                      <a:noFill/>
                    </a:lnR>
                    <a:lnT>
                      <a:noFill/>
                    </a:lnT>
                    <a:lnB>
                      <a:noFill/>
                    </a:lnB>
                    <a:solidFill>
                      <a:srgbClr val="F9AE70"/>
                    </a:solidFill>
                  </a:tcPr>
                </a:tc>
                <a:tc>
                  <a:txBody>
                    <a:bodyPr/>
                    <a:lstStyle/>
                    <a:p>
                      <a:pPr algn="l" fontAlgn="b"/>
                      <a:r>
                        <a:rPr lang="en-US" sz="2200" b="0" i="0" u="none" strike="noStrike">
                          <a:solidFill>
                            <a:srgbClr val="000000"/>
                          </a:solidFill>
                          <a:effectLst/>
                          <a:latin typeface="Calibri" panose="020F0502020204030204" pitchFamily="34" charset="0"/>
                        </a:rPr>
                        <a:t>         </a:t>
                      </a:r>
                    </a:p>
                  </a:txBody>
                  <a:tcPr marL="19105" marR="19105" marT="19105" marB="0" anchor="b">
                    <a:lnL>
                      <a:noFill/>
                    </a:lnL>
                    <a:lnR>
                      <a:noFill/>
                    </a:lnR>
                    <a:lnT>
                      <a:noFill/>
                    </a:lnT>
                    <a:lnB>
                      <a:noFill/>
                    </a:lnB>
                    <a:noFill/>
                  </a:tcPr>
                </a:tc>
                <a:extLst>
                  <a:ext uri="{0D108BD9-81ED-4DB2-BD59-A6C34878D82A}">
                    <a16:rowId xmlns:a16="http://schemas.microsoft.com/office/drawing/2014/main" val="3873359961"/>
                  </a:ext>
                </a:extLst>
              </a:tr>
              <a:tr h="428716">
                <a:tc>
                  <a:txBody>
                    <a:bodyPr/>
                    <a:lstStyle/>
                    <a:p>
                      <a:pPr algn="l" fontAlgn="b"/>
                      <a:r>
                        <a:rPr lang="en-US" sz="2200" b="0" i="0" u="none" strike="noStrike">
                          <a:solidFill>
                            <a:srgbClr val="000000"/>
                          </a:solidFill>
                          <a:effectLst/>
                          <a:latin typeface="Calibri" panose="020F0502020204030204" pitchFamily="34" charset="0"/>
                        </a:rPr>
                        <a:t>St Luke's Hospital Bethlehem</a:t>
                      </a:r>
                    </a:p>
                  </a:txBody>
                  <a:tcPr marL="19105" marR="19105" marT="19105" marB="0" anchor="b">
                    <a:lnL>
                      <a:noFill/>
                    </a:lnL>
                    <a:lnR>
                      <a:noFill/>
                    </a:lnR>
                    <a:lnT>
                      <a:noFill/>
                    </a:lnT>
                    <a:lnB>
                      <a:noFill/>
                    </a:lnB>
                    <a:noFill/>
                  </a:tcPr>
                </a:tc>
                <a:tc>
                  <a:txBody>
                    <a:bodyPr/>
                    <a:lstStyle/>
                    <a:p>
                      <a:pPr algn="r" fontAlgn="b"/>
                      <a:r>
                        <a:rPr lang="en-US" sz="2200" b="0" i="0" u="none" strike="noStrike">
                          <a:solidFill>
                            <a:srgbClr val="000000"/>
                          </a:solidFill>
                          <a:effectLst/>
                          <a:highlight>
                            <a:srgbClr val="FAB379"/>
                          </a:highlight>
                          <a:latin typeface="Calibri" panose="020F0502020204030204" pitchFamily="34" charset="0"/>
                        </a:rPr>
                        <a:t>287%</a:t>
                      </a:r>
                    </a:p>
                  </a:txBody>
                  <a:tcPr marL="19105" marR="19105" marT="19105" marB="0" anchor="b">
                    <a:lnL>
                      <a:noFill/>
                    </a:lnL>
                    <a:lnR>
                      <a:noFill/>
                    </a:lnR>
                    <a:lnT>
                      <a:noFill/>
                    </a:lnT>
                    <a:lnB>
                      <a:noFill/>
                    </a:lnB>
                    <a:solidFill>
                      <a:srgbClr val="FAB379"/>
                    </a:solidFill>
                  </a:tcPr>
                </a:tc>
                <a:tc>
                  <a:txBody>
                    <a:bodyPr/>
                    <a:lstStyle/>
                    <a:p>
                      <a:pPr algn="r" fontAlgn="b"/>
                      <a:r>
                        <a:rPr lang="en-US" sz="2200" b="0" i="0" u="none" strike="noStrike">
                          <a:solidFill>
                            <a:srgbClr val="000000"/>
                          </a:solidFill>
                          <a:effectLst/>
                          <a:highlight>
                            <a:srgbClr val="FFFDFC"/>
                          </a:highlight>
                          <a:latin typeface="Calibri" panose="020F0502020204030204" pitchFamily="34" charset="0"/>
                        </a:rPr>
                        <a:t>214%</a:t>
                      </a:r>
                    </a:p>
                  </a:txBody>
                  <a:tcPr marL="19105" marR="19105" marT="19105" marB="0" anchor="b">
                    <a:lnL>
                      <a:noFill/>
                    </a:lnL>
                    <a:lnR>
                      <a:noFill/>
                    </a:lnR>
                    <a:lnT>
                      <a:noFill/>
                    </a:lnT>
                    <a:lnB>
                      <a:noFill/>
                    </a:lnB>
                    <a:solidFill>
                      <a:srgbClr val="FFFDFC"/>
                    </a:solidFill>
                  </a:tcPr>
                </a:tc>
                <a:extLst>
                  <a:ext uri="{0D108BD9-81ED-4DB2-BD59-A6C34878D82A}">
                    <a16:rowId xmlns:a16="http://schemas.microsoft.com/office/drawing/2014/main" val="1959494578"/>
                  </a:ext>
                </a:extLst>
              </a:tr>
              <a:tr h="428716">
                <a:tc>
                  <a:txBody>
                    <a:bodyPr/>
                    <a:lstStyle/>
                    <a:p>
                      <a:pPr algn="l" fontAlgn="b"/>
                      <a:r>
                        <a:rPr lang="en-US" sz="2200" b="0" i="0" u="none" strike="noStrike" dirty="0">
                          <a:solidFill>
                            <a:srgbClr val="000000"/>
                          </a:solidFill>
                          <a:effectLst/>
                          <a:latin typeface="Calibri" panose="020F0502020204030204" pitchFamily="34" charset="0"/>
                        </a:rPr>
                        <a:t>St Luke's Warren Hospital</a:t>
                      </a:r>
                    </a:p>
                  </a:txBody>
                  <a:tcPr marL="19105" marR="19105" marT="19105" marB="0" anchor="b">
                    <a:lnL>
                      <a:noFill/>
                    </a:lnL>
                    <a:lnR>
                      <a:noFill/>
                    </a:lnR>
                    <a:lnT>
                      <a:noFill/>
                    </a:lnT>
                    <a:lnB>
                      <a:noFill/>
                    </a:lnB>
                    <a:noFill/>
                  </a:tcPr>
                </a:tc>
                <a:tc>
                  <a:txBody>
                    <a:bodyPr/>
                    <a:lstStyle/>
                    <a:p>
                      <a:pPr algn="r" fontAlgn="b"/>
                      <a:r>
                        <a:rPr lang="en-US" sz="2200" b="0" i="0" u="none" strike="noStrike" dirty="0">
                          <a:solidFill>
                            <a:srgbClr val="000000"/>
                          </a:solidFill>
                          <a:effectLst/>
                          <a:highlight>
                            <a:srgbClr val="FCD8B9"/>
                          </a:highlight>
                          <a:latin typeface="Calibri" panose="020F0502020204030204" pitchFamily="34" charset="0"/>
                        </a:rPr>
                        <a:t>251%</a:t>
                      </a:r>
                    </a:p>
                  </a:txBody>
                  <a:tcPr marL="19105" marR="19105" marT="19105" marB="0" anchor="b">
                    <a:lnL>
                      <a:noFill/>
                    </a:lnL>
                    <a:lnR>
                      <a:noFill/>
                    </a:lnR>
                    <a:lnT>
                      <a:noFill/>
                    </a:lnT>
                    <a:lnB>
                      <a:noFill/>
                    </a:lnB>
                    <a:solidFill>
                      <a:srgbClr val="FCD8B9"/>
                    </a:solidFill>
                  </a:tcPr>
                </a:tc>
                <a:tc>
                  <a:txBody>
                    <a:bodyPr/>
                    <a:lstStyle/>
                    <a:p>
                      <a:pPr algn="l" fontAlgn="b"/>
                      <a:r>
                        <a:rPr lang="en-US" sz="2200" b="0" i="0" u="none" strike="noStrike" dirty="0">
                          <a:solidFill>
                            <a:srgbClr val="000000"/>
                          </a:solidFill>
                          <a:effectLst/>
                          <a:latin typeface="Calibri" panose="020F0502020204030204" pitchFamily="34" charset="0"/>
                        </a:rPr>
                        <a:t>         </a:t>
                      </a:r>
                    </a:p>
                  </a:txBody>
                  <a:tcPr marL="19105" marR="19105" marT="19105" marB="0" anchor="b">
                    <a:lnL>
                      <a:noFill/>
                    </a:lnL>
                    <a:lnR>
                      <a:noFill/>
                    </a:lnR>
                    <a:lnT>
                      <a:noFill/>
                    </a:lnT>
                    <a:lnB>
                      <a:noFill/>
                    </a:lnB>
                    <a:noFill/>
                  </a:tcPr>
                </a:tc>
                <a:extLst>
                  <a:ext uri="{0D108BD9-81ED-4DB2-BD59-A6C34878D82A}">
                    <a16:rowId xmlns:a16="http://schemas.microsoft.com/office/drawing/2014/main" val="3205911860"/>
                  </a:ext>
                </a:extLst>
              </a:tr>
              <a:tr h="428716">
                <a:tc>
                  <a:txBody>
                    <a:bodyPr/>
                    <a:lstStyle/>
                    <a:p>
                      <a:pPr algn="l" fontAlgn="b"/>
                      <a:r>
                        <a:rPr lang="en-US" sz="2200" b="0" i="0" u="none" strike="noStrike">
                          <a:solidFill>
                            <a:srgbClr val="000000"/>
                          </a:solidFill>
                          <a:effectLst/>
                          <a:latin typeface="Calibri" panose="020F0502020204030204" pitchFamily="34" charset="0"/>
                        </a:rPr>
                        <a:t>St Luke's Hospital - Easton Campus</a:t>
                      </a:r>
                    </a:p>
                  </a:txBody>
                  <a:tcPr marL="19105" marR="19105" marT="19105" marB="0" anchor="b">
                    <a:lnL>
                      <a:noFill/>
                    </a:lnL>
                    <a:lnR>
                      <a:noFill/>
                    </a:lnR>
                    <a:lnT>
                      <a:noFill/>
                    </a:lnT>
                    <a:lnB>
                      <a:noFill/>
                    </a:lnB>
                    <a:noFill/>
                  </a:tcPr>
                </a:tc>
                <a:tc>
                  <a:txBody>
                    <a:bodyPr/>
                    <a:lstStyle/>
                    <a:p>
                      <a:pPr algn="r" fontAlgn="b"/>
                      <a:r>
                        <a:rPr lang="en-US" sz="2200" b="0" i="0" u="none" strike="noStrike" dirty="0">
                          <a:solidFill>
                            <a:srgbClr val="000000"/>
                          </a:solidFill>
                          <a:effectLst/>
                          <a:highlight>
                            <a:srgbClr val="FFFFFF"/>
                          </a:highlight>
                          <a:latin typeface="Calibri" panose="020F0502020204030204" pitchFamily="34" charset="0"/>
                        </a:rPr>
                        <a:t>212%</a:t>
                      </a:r>
                    </a:p>
                  </a:txBody>
                  <a:tcPr marL="19105" marR="19105" marT="19105" marB="0" anchor="b">
                    <a:lnL>
                      <a:noFill/>
                    </a:lnL>
                    <a:lnR>
                      <a:noFill/>
                    </a:lnR>
                    <a:lnT>
                      <a:noFill/>
                    </a:lnT>
                    <a:lnB>
                      <a:noFill/>
                    </a:lnB>
                    <a:solidFill>
                      <a:srgbClr val="FFFFFF"/>
                    </a:solidFill>
                  </a:tcPr>
                </a:tc>
                <a:tc>
                  <a:txBody>
                    <a:bodyPr/>
                    <a:lstStyle/>
                    <a:p>
                      <a:pPr algn="l" fontAlgn="b"/>
                      <a:r>
                        <a:rPr lang="en-US" sz="2200" b="0" i="0" u="none" strike="noStrike" dirty="0">
                          <a:solidFill>
                            <a:srgbClr val="000000"/>
                          </a:solidFill>
                          <a:effectLst/>
                          <a:latin typeface="Calibri" panose="020F0502020204030204" pitchFamily="34" charset="0"/>
                        </a:rPr>
                        <a:t>         </a:t>
                      </a:r>
                    </a:p>
                  </a:txBody>
                  <a:tcPr marL="19105" marR="19105" marT="19105" marB="0" anchor="b">
                    <a:lnL>
                      <a:noFill/>
                    </a:lnL>
                    <a:lnR>
                      <a:noFill/>
                    </a:lnR>
                    <a:lnT>
                      <a:noFill/>
                    </a:lnT>
                    <a:lnB>
                      <a:noFill/>
                    </a:lnB>
                    <a:noFill/>
                  </a:tcPr>
                </a:tc>
                <a:extLst>
                  <a:ext uri="{0D108BD9-81ED-4DB2-BD59-A6C34878D82A}">
                    <a16:rowId xmlns:a16="http://schemas.microsoft.com/office/drawing/2014/main" val="2759948968"/>
                  </a:ext>
                </a:extLst>
              </a:tr>
              <a:tr h="428716">
                <a:tc>
                  <a:txBody>
                    <a:bodyPr/>
                    <a:lstStyle/>
                    <a:p>
                      <a:pPr algn="l" fontAlgn="b"/>
                      <a:r>
                        <a:rPr lang="en-US" sz="2200" b="0" i="0" u="none" strike="noStrike" dirty="0">
                          <a:solidFill>
                            <a:srgbClr val="000000"/>
                          </a:solidFill>
                          <a:effectLst/>
                          <a:latin typeface="Calibri" panose="020F0502020204030204" pitchFamily="34" charset="0"/>
                        </a:rPr>
                        <a:t>St Luke’s Hospital - Monroe County</a:t>
                      </a:r>
                    </a:p>
                  </a:txBody>
                  <a:tcPr marL="19105" marR="19105" marT="19105" marB="0" anchor="b">
                    <a:lnL>
                      <a:noFill/>
                    </a:lnL>
                    <a:lnR>
                      <a:noFill/>
                    </a:lnR>
                    <a:lnT>
                      <a:noFill/>
                    </a:lnT>
                    <a:lnB>
                      <a:noFill/>
                    </a:lnB>
                    <a:noFill/>
                  </a:tcPr>
                </a:tc>
                <a:tc>
                  <a:txBody>
                    <a:bodyPr/>
                    <a:lstStyle/>
                    <a:p>
                      <a:pPr algn="r" fontAlgn="b"/>
                      <a:r>
                        <a:rPr lang="en-US" sz="2200" b="0" i="0" u="none" strike="noStrike" dirty="0">
                          <a:solidFill>
                            <a:srgbClr val="000000"/>
                          </a:solidFill>
                          <a:effectLst/>
                          <a:latin typeface="Calibri" panose="020F0502020204030204" pitchFamily="34" charset="0"/>
                        </a:rPr>
                        <a:t>251%</a:t>
                      </a:r>
                    </a:p>
                  </a:txBody>
                  <a:tcPr marL="19105" marR="19105" marT="19105" marB="0" anchor="b">
                    <a:lnL>
                      <a:noFill/>
                    </a:lnL>
                    <a:lnR>
                      <a:noFill/>
                    </a:lnR>
                    <a:lnT>
                      <a:noFill/>
                    </a:lnT>
                    <a:lnB>
                      <a:noFill/>
                    </a:lnB>
                    <a:solidFill>
                      <a:srgbClr val="FCD8B9"/>
                    </a:solidFill>
                  </a:tcPr>
                </a:tc>
                <a:tc>
                  <a:txBody>
                    <a:bodyPr/>
                    <a:lstStyle/>
                    <a:p>
                      <a:pPr algn="r" fontAlgn="b"/>
                      <a:r>
                        <a:rPr lang="en-US" sz="2200" b="0" i="0" u="none" strike="noStrike" dirty="0">
                          <a:solidFill>
                            <a:srgbClr val="000000"/>
                          </a:solidFill>
                          <a:effectLst/>
                          <a:latin typeface="Calibri" panose="020F0502020204030204" pitchFamily="34" charset="0"/>
                        </a:rPr>
                        <a:t>219%</a:t>
                      </a:r>
                    </a:p>
                  </a:txBody>
                  <a:tcPr marL="19105" marR="19105" marT="19105" marB="0" anchor="b">
                    <a:lnL>
                      <a:noFill/>
                    </a:lnL>
                    <a:lnR>
                      <a:noFill/>
                    </a:lnR>
                    <a:lnT>
                      <a:noFill/>
                    </a:lnT>
                    <a:lnB>
                      <a:noFill/>
                    </a:lnB>
                    <a:solidFill>
                      <a:srgbClr val="FCD8B9"/>
                    </a:solidFill>
                  </a:tcPr>
                </a:tc>
                <a:extLst>
                  <a:ext uri="{0D108BD9-81ED-4DB2-BD59-A6C34878D82A}">
                    <a16:rowId xmlns:a16="http://schemas.microsoft.com/office/drawing/2014/main" val="4245907629"/>
                  </a:ext>
                </a:extLst>
              </a:tr>
              <a:tr h="428716">
                <a:tc>
                  <a:txBody>
                    <a:bodyPr/>
                    <a:lstStyle/>
                    <a:p>
                      <a:pPr algn="l" fontAlgn="b"/>
                      <a:r>
                        <a:rPr lang="en-US" sz="2200" b="0" i="0" u="none" strike="noStrike" dirty="0">
                          <a:solidFill>
                            <a:srgbClr val="000000"/>
                          </a:solidFill>
                          <a:effectLst/>
                          <a:latin typeface="Calibri" panose="020F0502020204030204" pitchFamily="34" charset="0"/>
                        </a:rPr>
                        <a:t>Grand View Hospital</a:t>
                      </a:r>
                    </a:p>
                  </a:txBody>
                  <a:tcPr marL="19105" marR="19105" marT="19105" marB="0" anchor="b">
                    <a:lnL>
                      <a:noFill/>
                    </a:lnL>
                    <a:lnR>
                      <a:noFill/>
                    </a:lnR>
                    <a:lnT>
                      <a:noFill/>
                    </a:lnT>
                    <a:lnB>
                      <a:noFill/>
                    </a:lnB>
                    <a:solidFill>
                      <a:schemeClr val="bg1"/>
                    </a:solidFill>
                  </a:tcPr>
                </a:tc>
                <a:tc>
                  <a:txBody>
                    <a:bodyPr/>
                    <a:lstStyle/>
                    <a:p>
                      <a:pPr algn="r" fontAlgn="b"/>
                      <a:r>
                        <a:rPr lang="en-US" sz="2200" b="0" i="0" u="none" strike="noStrike" dirty="0">
                          <a:solidFill>
                            <a:srgbClr val="000000"/>
                          </a:solidFill>
                          <a:effectLst/>
                          <a:latin typeface="Calibri" panose="020F0502020204030204" pitchFamily="34" charset="0"/>
                        </a:rPr>
                        <a:t>179%</a:t>
                      </a:r>
                    </a:p>
                  </a:txBody>
                  <a:tcPr marL="19105" marR="19105" marT="19105" marB="0" anchor="b">
                    <a:lnL>
                      <a:noFill/>
                    </a:lnL>
                    <a:lnR>
                      <a:noFill/>
                    </a:lnR>
                    <a:lnT>
                      <a:noFill/>
                    </a:lnT>
                    <a:lnB>
                      <a:noFill/>
                    </a:lnB>
                    <a:solidFill>
                      <a:schemeClr val="bg1"/>
                    </a:solidFill>
                  </a:tcPr>
                </a:tc>
                <a:tc>
                  <a:txBody>
                    <a:bodyPr/>
                    <a:lstStyle/>
                    <a:p>
                      <a:pPr algn="r" fontAlgn="b"/>
                      <a:r>
                        <a:rPr lang="en-US" sz="2200" b="0" i="0" u="none" strike="noStrike" dirty="0">
                          <a:solidFill>
                            <a:srgbClr val="000000"/>
                          </a:solidFill>
                          <a:effectLst/>
                          <a:latin typeface="Calibri" panose="020F0502020204030204" pitchFamily="34" charset="0"/>
                        </a:rPr>
                        <a:t>197%</a:t>
                      </a:r>
                    </a:p>
                  </a:txBody>
                  <a:tcPr marL="19105" marR="19105" marT="19105" marB="0" anchor="b">
                    <a:lnL>
                      <a:noFill/>
                    </a:lnL>
                    <a:lnR>
                      <a:noFill/>
                    </a:lnR>
                    <a:lnT>
                      <a:noFill/>
                    </a:lnT>
                    <a:lnB>
                      <a:noFill/>
                    </a:lnB>
                    <a:solidFill>
                      <a:schemeClr val="bg1"/>
                    </a:solidFill>
                  </a:tcPr>
                </a:tc>
                <a:extLst>
                  <a:ext uri="{0D108BD9-81ED-4DB2-BD59-A6C34878D82A}">
                    <a16:rowId xmlns:a16="http://schemas.microsoft.com/office/drawing/2014/main" val="2433459656"/>
                  </a:ext>
                </a:extLst>
              </a:tr>
              <a:tr h="428716">
                <a:tc>
                  <a:txBody>
                    <a:bodyPr/>
                    <a:lstStyle/>
                    <a:p>
                      <a:pPr algn="l" fontAlgn="b"/>
                      <a:r>
                        <a:rPr lang="en-US" sz="2200" b="0" i="0" u="none" strike="noStrike" dirty="0">
                          <a:solidFill>
                            <a:srgbClr val="000000"/>
                          </a:solidFill>
                          <a:effectLst/>
                          <a:latin typeface="Calibri" panose="020F0502020204030204" pitchFamily="34" charset="0"/>
                        </a:rPr>
                        <a:t>Lehigh Valley Hospital Cedar Crest</a:t>
                      </a:r>
                    </a:p>
                  </a:txBody>
                  <a:tcPr marL="19105" marR="19105" marT="19105" marB="0" anchor="b">
                    <a:lnL>
                      <a:noFill/>
                    </a:lnL>
                    <a:lnR>
                      <a:noFill/>
                    </a:lnR>
                    <a:lnT>
                      <a:noFill/>
                    </a:lnT>
                    <a:lnB>
                      <a:noFill/>
                    </a:lnB>
                    <a:noFill/>
                  </a:tcPr>
                </a:tc>
                <a:tc>
                  <a:txBody>
                    <a:bodyPr/>
                    <a:lstStyle/>
                    <a:p>
                      <a:pPr algn="r" fontAlgn="b"/>
                      <a:r>
                        <a:rPr lang="en-US" sz="2200" b="0" i="0" u="none" strike="noStrike" dirty="0">
                          <a:solidFill>
                            <a:srgbClr val="000000"/>
                          </a:solidFill>
                          <a:effectLst/>
                          <a:highlight>
                            <a:srgbClr val="F79646"/>
                          </a:highlight>
                          <a:latin typeface="Calibri" panose="020F0502020204030204" pitchFamily="34" charset="0"/>
                        </a:rPr>
                        <a:t>315%</a:t>
                      </a:r>
                    </a:p>
                  </a:txBody>
                  <a:tcPr marL="19105" marR="19105" marT="19105" marB="0" anchor="b">
                    <a:lnL>
                      <a:noFill/>
                    </a:lnL>
                    <a:lnR>
                      <a:noFill/>
                    </a:lnR>
                    <a:lnT>
                      <a:noFill/>
                    </a:lnT>
                    <a:lnB>
                      <a:noFill/>
                    </a:lnB>
                    <a:solidFill>
                      <a:srgbClr val="F79646"/>
                    </a:solidFill>
                  </a:tcPr>
                </a:tc>
                <a:tc>
                  <a:txBody>
                    <a:bodyPr/>
                    <a:lstStyle/>
                    <a:p>
                      <a:pPr algn="r" fontAlgn="b"/>
                      <a:r>
                        <a:rPr lang="en-US" sz="2200" b="0" i="0" u="none" strike="noStrike" dirty="0">
                          <a:solidFill>
                            <a:srgbClr val="000000"/>
                          </a:solidFill>
                          <a:effectLst/>
                          <a:highlight>
                            <a:srgbClr val="FDDABD"/>
                          </a:highlight>
                          <a:latin typeface="Calibri" panose="020F0502020204030204" pitchFamily="34" charset="0"/>
                        </a:rPr>
                        <a:t>249%</a:t>
                      </a:r>
                    </a:p>
                  </a:txBody>
                  <a:tcPr marL="19105" marR="19105" marT="19105" marB="0" anchor="b">
                    <a:lnL>
                      <a:noFill/>
                    </a:lnL>
                    <a:lnR>
                      <a:noFill/>
                    </a:lnR>
                    <a:lnT>
                      <a:noFill/>
                    </a:lnT>
                    <a:lnB>
                      <a:noFill/>
                    </a:lnB>
                    <a:solidFill>
                      <a:srgbClr val="FDDABD"/>
                    </a:solidFill>
                  </a:tcPr>
                </a:tc>
                <a:extLst>
                  <a:ext uri="{0D108BD9-81ED-4DB2-BD59-A6C34878D82A}">
                    <a16:rowId xmlns:a16="http://schemas.microsoft.com/office/drawing/2014/main" val="2437637617"/>
                  </a:ext>
                </a:extLst>
              </a:tr>
            </a:tbl>
          </a:graphicData>
        </a:graphic>
      </p:graphicFrame>
      <p:sp>
        <p:nvSpPr>
          <p:cNvPr id="3" name="TextBox 2">
            <a:extLst>
              <a:ext uri="{FF2B5EF4-FFF2-40B4-BE49-F238E27FC236}">
                <a16:creationId xmlns:a16="http://schemas.microsoft.com/office/drawing/2014/main" id="{76CBA33A-A09D-F008-EFF9-25B34FFB78DA}"/>
              </a:ext>
            </a:extLst>
          </p:cNvPr>
          <p:cNvSpPr txBox="1"/>
          <p:nvPr/>
        </p:nvSpPr>
        <p:spPr>
          <a:xfrm>
            <a:off x="2813414" y="5982133"/>
            <a:ext cx="8788525" cy="307777"/>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5B5B5B"/>
                </a:solidFill>
                <a:effectLst/>
                <a:uLnTx/>
                <a:uFillTx/>
                <a:latin typeface="Aileron Light"/>
                <a:ea typeface="+mn-ea"/>
                <a:cs typeface="+mn-cs"/>
              </a:rPr>
              <a:t>Source: RAND round 5 hospital cost data: https://www.rand.org/pubs/research_reports/RRA1144-2.html</a:t>
            </a:r>
          </a:p>
        </p:txBody>
      </p:sp>
      <p:sp>
        <p:nvSpPr>
          <p:cNvPr id="5" name="Rectangle 4">
            <a:extLst>
              <a:ext uri="{FF2B5EF4-FFF2-40B4-BE49-F238E27FC236}">
                <a16:creationId xmlns:a16="http://schemas.microsoft.com/office/drawing/2014/main" id="{071177CF-501D-49B4-18C3-24177CC6F96F}"/>
              </a:ext>
            </a:extLst>
          </p:cNvPr>
          <p:cNvSpPr/>
          <p:nvPr/>
        </p:nvSpPr>
        <p:spPr>
          <a:xfrm>
            <a:off x="0" y="0"/>
            <a:ext cx="978408" cy="6858000"/>
          </a:xfrm>
          <a:prstGeom prst="rect">
            <a:avLst/>
          </a:prstGeom>
          <a:solidFill>
            <a:srgbClr val="254F96">
              <a:alpha val="86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Title 1">
            <a:extLst>
              <a:ext uri="{FF2B5EF4-FFF2-40B4-BE49-F238E27FC236}">
                <a16:creationId xmlns:a16="http://schemas.microsoft.com/office/drawing/2014/main" id="{DFF233D9-7F19-9283-14DF-A46881A805AF}"/>
              </a:ext>
            </a:extLst>
          </p:cNvPr>
          <p:cNvSpPr>
            <a:spLocks noGrp="1"/>
          </p:cNvSpPr>
          <p:nvPr>
            <p:ph type="title"/>
          </p:nvPr>
        </p:nvSpPr>
        <p:spPr>
          <a:xfrm>
            <a:off x="1118682" y="136525"/>
            <a:ext cx="10652404" cy="1091529"/>
          </a:xfrm>
        </p:spPr>
        <p:txBody>
          <a:bodyPr>
            <a:noAutofit/>
          </a:bodyPr>
          <a:lstStyle/>
          <a:p>
            <a:pPr>
              <a:lnSpc>
                <a:spcPct val="100000"/>
              </a:lnSpc>
              <a:spcBef>
                <a:spcPts val="1800"/>
              </a:spcBef>
              <a:spcAft>
                <a:spcPts val="600"/>
              </a:spcAft>
            </a:pPr>
            <a:r>
              <a:rPr lang="en-US" sz="2800" dirty="0">
                <a:solidFill>
                  <a:srgbClr val="000B2E"/>
                </a:solidFill>
                <a:latin typeface="Arial" panose="020B0604020202020204" pitchFamily="34" charset="0"/>
                <a:cs typeface="Arial" panose="020B0604020202020204" pitchFamily="34" charset="0"/>
              </a:rPr>
              <a:t>SLUHN Advantage:</a:t>
            </a:r>
            <a:br>
              <a:rPr lang="en-US" sz="4000" b="1" dirty="0">
                <a:solidFill>
                  <a:srgbClr val="000B2E"/>
                </a:solidFill>
                <a:latin typeface="Arial" panose="020B0604020202020204" pitchFamily="34" charset="0"/>
                <a:cs typeface="Arial" panose="020B0604020202020204" pitchFamily="34" charset="0"/>
              </a:rPr>
            </a:br>
            <a:r>
              <a:rPr lang="en-US" sz="4000" b="1" dirty="0">
                <a:solidFill>
                  <a:srgbClr val="000B2E"/>
                </a:solidFill>
                <a:latin typeface="Arial" panose="020B0604020202020204" pitchFamily="34" charset="0"/>
                <a:cs typeface="Arial" panose="020B0604020202020204" pitchFamily="34" charset="0"/>
              </a:rPr>
              <a:t>Care at </a:t>
            </a:r>
            <a:r>
              <a:rPr lang="en-US" sz="4000" b="1" dirty="0">
                <a:solidFill>
                  <a:srgbClr val="59CAE8"/>
                </a:solidFill>
                <a:latin typeface="Arial" panose="020B0604020202020204" pitchFamily="34" charset="0"/>
                <a:cs typeface="Arial" panose="020B0604020202020204" pitchFamily="34" charset="0"/>
              </a:rPr>
              <a:t>Value Pricing</a:t>
            </a:r>
            <a:endParaRPr lang="en-US" sz="1600" dirty="0">
              <a:solidFill>
                <a:schemeClr val="tx1">
                  <a:lumMod val="75000"/>
                  <a:lumOff val="25000"/>
                </a:schemeClr>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400626412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 name="Rectangle: Rounded Corners 35">
            <a:extLst>
              <a:ext uri="{FF2B5EF4-FFF2-40B4-BE49-F238E27FC236}">
                <a16:creationId xmlns:a16="http://schemas.microsoft.com/office/drawing/2014/main" id="{F5CD47C0-7C74-2EAC-E7ED-2C59952511EC}"/>
              </a:ext>
            </a:extLst>
          </p:cNvPr>
          <p:cNvSpPr/>
          <p:nvPr/>
        </p:nvSpPr>
        <p:spPr>
          <a:xfrm>
            <a:off x="5041828" y="545891"/>
            <a:ext cx="2071648" cy="940546"/>
          </a:xfrm>
          <a:prstGeom prst="round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Rectangle: Rounded Corners 34">
            <a:extLst>
              <a:ext uri="{FF2B5EF4-FFF2-40B4-BE49-F238E27FC236}">
                <a16:creationId xmlns:a16="http://schemas.microsoft.com/office/drawing/2014/main" id="{C75E05BF-E7BA-F584-D2FB-F9A25B6DFEBC}"/>
              </a:ext>
            </a:extLst>
          </p:cNvPr>
          <p:cNvSpPr/>
          <p:nvPr/>
        </p:nvSpPr>
        <p:spPr>
          <a:xfrm>
            <a:off x="8801976" y="5337245"/>
            <a:ext cx="2071648" cy="940546"/>
          </a:xfrm>
          <a:prstGeom prst="round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Rectangle: Rounded Corners 28">
            <a:extLst>
              <a:ext uri="{FF2B5EF4-FFF2-40B4-BE49-F238E27FC236}">
                <a16:creationId xmlns:a16="http://schemas.microsoft.com/office/drawing/2014/main" id="{69DD2001-FAF3-1144-8AA3-35CBB7D471F4}"/>
              </a:ext>
            </a:extLst>
          </p:cNvPr>
          <p:cNvSpPr/>
          <p:nvPr/>
        </p:nvSpPr>
        <p:spPr>
          <a:xfrm>
            <a:off x="1174809" y="5330376"/>
            <a:ext cx="2071648" cy="940546"/>
          </a:xfrm>
          <a:prstGeom prst="round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Footer Placeholder 3">
            <a:extLst>
              <a:ext uri="{FF2B5EF4-FFF2-40B4-BE49-F238E27FC236}">
                <a16:creationId xmlns:a16="http://schemas.microsoft.com/office/drawing/2014/main" id="{765CE139-9C23-380F-F6D7-100846F86FD6}"/>
              </a:ext>
            </a:extLst>
          </p:cNvPr>
          <p:cNvSpPr>
            <a:spLocks noGrp="1"/>
          </p:cNvSpPr>
          <p:nvPr>
            <p:ph type="ftr" sz="quarter" idx="11"/>
          </p:nvPr>
        </p:nvSpPr>
        <p:spPr/>
        <p:txBody>
          <a:bodyPr/>
          <a:lstStyle/>
          <a:p>
            <a:r>
              <a:rPr lang="en-US" dirty="0"/>
              <a:t>Key Benefit Administrators</a:t>
            </a:r>
          </a:p>
        </p:txBody>
      </p:sp>
      <p:sp>
        <p:nvSpPr>
          <p:cNvPr id="5" name="Slide Number Placeholder 4">
            <a:extLst>
              <a:ext uri="{FF2B5EF4-FFF2-40B4-BE49-F238E27FC236}">
                <a16:creationId xmlns:a16="http://schemas.microsoft.com/office/drawing/2014/main" id="{683D161C-4339-416A-6237-237802E83836}"/>
              </a:ext>
            </a:extLst>
          </p:cNvPr>
          <p:cNvSpPr>
            <a:spLocks noGrp="1"/>
          </p:cNvSpPr>
          <p:nvPr>
            <p:ph type="sldNum" sz="quarter" idx="12"/>
          </p:nvPr>
        </p:nvSpPr>
        <p:spPr/>
        <p:txBody>
          <a:bodyPr/>
          <a:lstStyle/>
          <a:p>
            <a:fld id="{3AFC719D-C4A7-4544-876E-D411D11AF6C9}" type="slidenum">
              <a:rPr lang="en-US" smtClean="0"/>
              <a:t>7</a:t>
            </a:fld>
            <a:endParaRPr lang="en-US" dirty="0"/>
          </a:p>
        </p:txBody>
      </p:sp>
      <p:sp>
        <p:nvSpPr>
          <p:cNvPr id="6" name="Isosceles Triangle 5">
            <a:extLst>
              <a:ext uri="{FF2B5EF4-FFF2-40B4-BE49-F238E27FC236}">
                <a16:creationId xmlns:a16="http://schemas.microsoft.com/office/drawing/2014/main" id="{5588CCFA-91B8-CD99-8F4F-2CB2B876CD2A}"/>
              </a:ext>
            </a:extLst>
          </p:cNvPr>
          <p:cNvSpPr/>
          <p:nvPr/>
        </p:nvSpPr>
        <p:spPr>
          <a:xfrm>
            <a:off x="3067259" y="1306287"/>
            <a:ext cx="6057481" cy="4481564"/>
          </a:xfrm>
          <a:prstGeom prst="triangle">
            <a:avLst/>
          </a:prstGeom>
          <a:solidFill>
            <a:schemeClr val="accent1">
              <a:lumMod val="20000"/>
              <a:lumOff val="80000"/>
            </a:schemeClr>
          </a:solidFill>
          <a:ln>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extBox 6">
            <a:extLst>
              <a:ext uri="{FF2B5EF4-FFF2-40B4-BE49-F238E27FC236}">
                <a16:creationId xmlns:a16="http://schemas.microsoft.com/office/drawing/2014/main" id="{BFBC6BC2-5BF3-BF61-E867-814CA37C105F}"/>
              </a:ext>
            </a:extLst>
          </p:cNvPr>
          <p:cNvSpPr txBox="1"/>
          <p:nvPr/>
        </p:nvSpPr>
        <p:spPr>
          <a:xfrm>
            <a:off x="1158916" y="5409427"/>
            <a:ext cx="1929283" cy="830997"/>
          </a:xfrm>
          <a:prstGeom prst="rect">
            <a:avLst/>
          </a:prstGeom>
          <a:noFill/>
        </p:spPr>
        <p:txBody>
          <a:bodyPr wrap="square" rtlCol="0">
            <a:spAutoFit/>
          </a:bodyPr>
          <a:lstStyle/>
          <a:p>
            <a:pPr algn="ctr"/>
            <a:r>
              <a:rPr lang="en-US" sz="2400" dirty="0">
                <a:latin typeface="Arial" panose="020B0604020202020204" pitchFamily="34" charset="0"/>
                <a:cs typeface="Arial" panose="020B0604020202020204" pitchFamily="34" charset="0"/>
              </a:rPr>
              <a:t>Steerage to SLUHN</a:t>
            </a:r>
          </a:p>
        </p:txBody>
      </p:sp>
      <p:sp>
        <p:nvSpPr>
          <p:cNvPr id="8" name="TextBox 7">
            <a:extLst>
              <a:ext uri="{FF2B5EF4-FFF2-40B4-BE49-F238E27FC236}">
                <a16:creationId xmlns:a16="http://schemas.microsoft.com/office/drawing/2014/main" id="{7DC7EB02-7599-2040-66BC-16C80D327D21}"/>
              </a:ext>
            </a:extLst>
          </p:cNvPr>
          <p:cNvSpPr txBox="1"/>
          <p:nvPr/>
        </p:nvSpPr>
        <p:spPr>
          <a:xfrm>
            <a:off x="9017559" y="5372352"/>
            <a:ext cx="1929283" cy="830997"/>
          </a:xfrm>
          <a:prstGeom prst="rect">
            <a:avLst/>
          </a:prstGeom>
          <a:noFill/>
        </p:spPr>
        <p:txBody>
          <a:bodyPr wrap="square" rtlCol="0">
            <a:spAutoFit/>
          </a:bodyPr>
          <a:lstStyle/>
          <a:p>
            <a:pPr algn="ctr"/>
            <a:r>
              <a:rPr lang="en-US" sz="2400" dirty="0">
                <a:latin typeface="Arial" panose="020B0604020202020204" pitchFamily="34" charset="0"/>
                <a:cs typeface="Arial" panose="020B0604020202020204" pitchFamily="34" charset="0"/>
              </a:rPr>
              <a:t>Beneficial Pricing</a:t>
            </a:r>
          </a:p>
        </p:txBody>
      </p:sp>
      <p:sp>
        <p:nvSpPr>
          <p:cNvPr id="9" name="TextBox 8">
            <a:extLst>
              <a:ext uri="{FF2B5EF4-FFF2-40B4-BE49-F238E27FC236}">
                <a16:creationId xmlns:a16="http://schemas.microsoft.com/office/drawing/2014/main" id="{0EA6335E-1796-95DE-CEAB-0C05F3B03A86}"/>
              </a:ext>
            </a:extLst>
          </p:cNvPr>
          <p:cNvSpPr txBox="1"/>
          <p:nvPr/>
        </p:nvSpPr>
        <p:spPr>
          <a:xfrm>
            <a:off x="4900717" y="500684"/>
            <a:ext cx="2404907" cy="954107"/>
          </a:xfrm>
          <a:prstGeom prst="rect">
            <a:avLst/>
          </a:prstGeom>
          <a:noFill/>
        </p:spPr>
        <p:txBody>
          <a:bodyPr wrap="square" rtlCol="0">
            <a:spAutoFit/>
          </a:bodyPr>
          <a:lstStyle/>
          <a:p>
            <a:pPr algn="ctr"/>
            <a:r>
              <a:rPr lang="en-US" sz="2800" dirty="0">
                <a:latin typeface="Arial" panose="020B0604020202020204" pitchFamily="34" charset="0"/>
                <a:cs typeface="Arial" panose="020B0604020202020204" pitchFamily="34" charset="0"/>
              </a:rPr>
              <a:t>Community</a:t>
            </a:r>
          </a:p>
          <a:p>
            <a:pPr algn="ctr"/>
            <a:r>
              <a:rPr lang="en-US" sz="2800" dirty="0">
                <a:latin typeface="Arial" panose="020B0604020202020204" pitchFamily="34" charset="0"/>
                <a:cs typeface="Arial" panose="020B0604020202020204" pitchFamily="34" charset="0"/>
              </a:rPr>
              <a:t>Plan</a:t>
            </a:r>
          </a:p>
        </p:txBody>
      </p:sp>
      <p:sp>
        <p:nvSpPr>
          <p:cNvPr id="10" name="TextBox 9">
            <a:extLst>
              <a:ext uri="{FF2B5EF4-FFF2-40B4-BE49-F238E27FC236}">
                <a16:creationId xmlns:a16="http://schemas.microsoft.com/office/drawing/2014/main" id="{473E28C2-5446-4C35-3ECA-D3797363348D}"/>
              </a:ext>
            </a:extLst>
          </p:cNvPr>
          <p:cNvSpPr txBox="1"/>
          <p:nvPr/>
        </p:nvSpPr>
        <p:spPr>
          <a:xfrm>
            <a:off x="3434307" y="4973934"/>
            <a:ext cx="535724" cy="923330"/>
          </a:xfrm>
          <a:prstGeom prst="rect">
            <a:avLst/>
          </a:prstGeom>
          <a:noFill/>
        </p:spPr>
        <p:txBody>
          <a:bodyPr wrap="none" rtlCol="0">
            <a:spAutoFit/>
          </a:bodyPr>
          <a:lstStyle/>
          <a:p>
            <a:r>
              <a:rPr lang="en-US" sz="5400" dirty="0">
                <a:solidFill>
                  <a:schemeClr val="accent6">
                    <a:lumMod val="75000"/>
                  </a:schemeClr>
                </a:solidFill>
              </a:rPr>
              <a:t>$</a:t>
            </a:r>
          </a:p>
        </p:txBody>
      </p:sp>
      <p:sp>
        <p:nvSpPr>
          <p:cNvPr id="11" name="TextBox 10">
            <a:extLst>
              <a:ext uri="{FF2B5EF4-FFF2-40B4-BE49-F238E27FC236}">
                <a16:creationId xmlns:a16="http://schemas.microsoft.com/office/drawing/2014/main" id="{135AF12C-AD28-B523-E442-38437E646DB9}"/>
              </a:ext>
            </a:extLst>
          </p:cNvPr>
          <p:cNvSpPr txBox="1"/>
          <p:nvPr/>
        </p:nvSpPr>
        <p:spPr>
          <a:xfrm>
            <a:off x="8221971" y="4973934"/>
            <a:ext cx="535724" cy="923330"/>
          </a:xfrm>
          <a:prstGeom prst="rect">
            <a:avLst/>
          </a:prstGeom>
          <a:noFill/>
        </p:spPr>
        <p:txBody>
          <a:bodyPr wrap="none" rtlCol="0">
            <a:spAutoFit/>
          </a:bodyPr>
          <a:lstStyle/>
          <a:p>
            <a:r>
              <a:rPr lang="en-US" sz="5400" dirty="0">
                <a:solidFill>
                  <a:schemeClr val="accent6">
                    <a:lumMod val="75000"/>
                  </a:schemeClr>
                </a:solidFill>
              </a:rPr>
              <a:t>$</a:t>
            </a:r>
          </a:p>
        </p:txBody>
      </p:sp>
      <p:sp>
        <p:nvSpPr>
          <p:cNvPr id="12" name="TextBox 11">
            <a:extLst>
              <a:ext uri="{FF2B5EF4-FFF2-40B4-BE49-F238E27FC236}">
                <a16:creationId xmlns:a16="http://schemas.microsoft.com/office/drawing/2014/main" id="{64BAC7F4-60C2-4B6A-B7AA-CD62BA3AF2AA}"/>
              </a:ext>
            </a:extLst>
          </p:cNvPr>
          <p:cNvSpPr txBox="1"/>
          <p:nvPr/>
        </p:nvSpPr>
        <p:spPr>
          <a:xfrm>
            <a:off x="5542705" y="1969508"/>
            <a:ext cx="1106585" cy="461665"/>
          </a:xfrm>
          <a:prstGeom prst="rect">
            <a:avLst/>
          </a:prstGeom>
          <a:noFill/>
        </p:spPr>
        <p:txBody>
          <a:bodyPr wrap="none" rtlCol="0">
            <a:spAutoFit/>
          </a:bodyPr>
          <a:lstStyle/>
          <a:p>
            <a:r>
              <a:rPr lang="en-US" sz="2400" dirty="0">
                <a:solidFill>
                  <a:schemeClr val="accent6">
                    <a:lumMod val="75000"/>
                  </a:schemeClr>
                </a:solidFill>
              </a:rPr>
              <a:t>Control</a:t>
            </a:r>
          </a:p>
        </p:txBody>
      </p:sp>
      <p:sp>
        <p:nvSpPr>
          <p:cNvPr id="13" name="Isosceles Triangle 12">
            <a:extLst>
              <a:ext uri="{FF2B5EF4-FFF2-40B4-BE49-F238E27FC236}">
                <a16:creationId xmlns:a16="http://schemas.microsoft.com/office/drawing/2014/main" id="{58DD9804-9476-00CE-F11D-E1C524E3221F}"/>
              </a:ext>
            </a:extLst>
          </p:cNvPr>
          <p:cNvSpPr/>
          <p:nvPr/>
        </p:nvSpPr>
        <p:spPr>
          <a:xfrm>
            <a:off x="4581627" y="1306287"/>
            <a:ext cx="3028734" cy="2240280"/>
          </a:xfrm>
          <a:prstGeom prst="triangle">
            <a:avLst/>
          </a:prstGeom>
          <a:solidFill>
            <a:schemeClr val="accent1">
              <a:lumMod val="75000"/>
            </a:schemeClr>
          </a:solidFill>
          <a:ln w="762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Isosceles Triangle 13">
            <a:extLst>
              <a:ext uri="{FF2B5EF4-FFF2-40B4-BE49-F238E27FC236}">
                <a16:creationId xmlns:a16="http://schemas.microsoft.com/office/drawing/2014/main" id="{3920D1E6-4A78-6F6A-C3F3-8C4DC0150E38}"/>
              </a:ext>
            </a:extLst>
          </p:cNvPr>
          <p:cNvSpPr/>
          <p:nvPr/>
        </p:nvSpPr>
        <p:spPr>
          <a:xfrm>
            <a:off x="3067260" y="3547571"/>
            <a:ext cx="3028734" cy="2240280"/>
          </a:xfrm>
          <a:prstGeom prst="triangle">
            <a:avLst/>
          </a:prstGeom>
          <a:solidFill>
            <a:schemeClr val="bg2">
              <a:lumMod val="75000"/>
            </a:schemeClr>
          </a:solidFill>
          <a:ln w="762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Isosceles Triangle 14">
            <a:extLst>
              <a:ext uri="{FF2B5EF4-FFF2-40B4-BE49-F238E27FC236}">
                <a16:creationId xmlns:a16="http://schemas.microsoft.com/office/drawing/2014/main" id="{EF8E3A1F-74ED-C2CE-5E31-AD23C8799D5B}"/>
              </a:ext>
            </a:extLst>
          </p:cNvPr>
          <p:cNvSpPr/>
          <p:nvPr/>
        </p:nvSpPr>
        <p:spPr>
          <a:xfrm>
            <a:off x="6106042" y="3562413"/>
            <a:ext cx="3028734" cy="2240280"/>
          </a:xfrm>
          <a:prstGeom prst="triangle">
            <a:avLst/>
          </a:prstGeom>
          <a:ln w="762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6" name="Graphic 19">
            <a:extLst>
              <a:ext uri="{FF2B5EF4-FFF2-40B4-BE49-F238E27FC236}">
                <a16:creationId xmlns:a16="http://schemas.microsoft.com/office/drawing/2014/main" id="{EC490FEB-CE0A-8E00-02F5-7C3E47E4FAEC}"/>
              </a:ext>
            </a:extLst>
          </p:cNvPr>
          <p:cNvGrpSpPr/>
          <p:nvPr/>
        </p:nvGrpSpPr>
        <p:grpSpPr>
          <a:xfrm>
            <a:off x="7298450" y="4300222"/>
            <a:ext cx="785041" cy="764662"/>
            <a:chOff x="5389573" y="2759251"/>
            <a:chExt cx="1412519" cy="1320857"/>
          </a:xfrm>
          <a:solidFill>
            <a:schemeClr val="bg1"/>
          </a:solidFill>
        </p:grpSpPr>
        <p:sp>
          <p:nvSpPr>
            <p:cNvPr id="17" name="Freeform: Shape 194">
              <a:extLst>
                <a:ext uri="{FF2B5EF4-FFF2-40B4-BE49-F238E27FC236}">
                  <a16:creationId xmlns:a16="http://schemas.microsoft.com/office/drawing/2014/main" id="{A81AE90A-DB86-2337-9B66-04953506CFA0}"/>
                </a:ext>
              </a:extLst>
            </p:cNvPr>
            <p:cNvSpPr/>
            <p:nvPr/>
          </p:nvSpPr>
          <p:spPr>
            <a:xfrm>
              <a:off x="5660635" y="3560751"/>
              <a:ext cx="1141457" cy="519357"/>
            </a:xfrm>
            <a:custGeom>
              <a:avLst/>
              <a:gdLst>
                <a:gd name="connsiteX0" fmla="*/ 1112781 w 1141457"/>
                <a:gd name="connsiteY0" fmla="*/ 168578 h 519357"/>
                <a:gd name="connsiteX1" fmla="*/ 830852 w 1141457"/>
                <a:gd name="connsiteY1" fmla="*/ 293357 h 519357"/>
                <a:gd name="connsiteX2" fmla="*/ 628850 w 1141457"/>
                <a:gd name="connsiteY2" fmla="*/ 336262 h 519357"/>
                <a:gd name="connsiteX3" fmla="*/ 293405 w 1141457"/>
                <a:gd name="connsiteY3" fmla="*/ 336262 h 519357"/>
                <a:gd name="connsiteX4" fmla="*/ 248946 w 1141457"/>
                <a:gd name="connsiteY4" fmla="*/ 291727 h 519357"/>
                <a:gd name="connsiteX5" fmla="*/ 293405 w 1141457"/>
                <a:gd name="connsiteY5" fmla="*/ 247181 h 519357"/>
                <a:gd name="connsiteX6" fmla="*/ 624433 w 1141457"/>
                <a:gd name="connsiteY6" fmla="*/ 247181 h 519357"/>
                <a:gd name="connsiteX7" fmla="*/ 546588 w 1141457"/>
                <a:gd name="connsiteY7" fmla="*/ 110532 h 519357"/>
                <a:gd name="connsiteX8" fmla="*/ 398466 w 1141457"/>
                <a:gd name="connsiteY8" fmla="*/ 110532 h 519357"/>
                <a:gd name="connsiteX9" fmla="*/ 312846 w 1141457"/>
                <a:gd name="connsiteY9" fmla="*/ 61088 h 519357"/>
                <a:gd name="connsiteX10" fmla="*/ 177820 w 1141457"/>
                <a:gd name="connsiteY10" fmla="*/ 657 h 519357"/>
                <a:gd name="connsiteX11" fmla="*/ 598 w 1141457"/>
                <a:gd name="connsiteY11" fmla="*/ 31985 h 519357"/>
                <a:gd name="connsiteX12" fmla="*/ 598 w 1141457"/>
                <a:gd name="connsiteY12" fmla="*/ 518979 h 519357"/>
                <a:gd name="connsiteX13" fmla="*/ 602572 w 1141457"/>
                <a:gd name="connsiteY13" fmla="*/ 518979 h 519357"/>
                <a:gd name="connsiteX14" fmla="*/ 830833 w 1141457"/>
                <a:gd name="connsiteY14" fmla="*/ 457208 h 519357"/>
                <a:gd name="connsiteX15" fmla="*/ 1101463 w 1141457"/>
                <a:gd name="connsiteY15" fmla="*/ 299238 h 519357"/>
                <a:gd name="connsiteX16" fmla="*/ 1112781 w 1141457"/>
                <a:gd name="connsiteY16" fmla="*/ 168578 h 5193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141457" h="519357">
                  <a:moveTo>
                    <a:pt x="1112781" y="168578"/>
                  </a:moveTo>
                  <a:lnTo>
                    <a:pt x="830852" y="293357"/>
                  </a:lnTo>
                  <a:cubicBezTo>
                    <a:pt x="766900" y="321833"/>
                    <a:pt x="698920" y="336262"/>
                    <a:pt x="628850" y="336262"/>
                  </a:cubicBezTo>
                  <a:lnTo>
                    <a:pt x="293405" y="336262"/>
                  </a:lnTo>
                  <a:cubicBezTo>
                    <a:pt x="268858" y="336262"/>
                    <a:pt x="248946" y="316341"/>
                    <a:pt x="248946" y="291727"/>
                  </a:cubicBezTo>
                  <a:cubicBezTo>
                    <a:pt x="248946" y="267135"/>
                    <a:pt x="268858" y="247181"/>
                    <a:pt x="293405" y="247181"/>
                  </a:cubicBezTo>
                  <a:lnTo>
                    <a:pt x="624433" y="247181"/>
                  </a:lnTo>
                  <a:cubicBezTo>
                    <a:pt x="659782" y="187645"/>
                    <a:pt x="616991" y="110532"/>
                    <a:pt x="546588" y="110532"/>
                  </a:cubicBezTo>
                  <a:lnTo>
                    <a:pt x="398466" y="110532"/>
                  </a:lnTo>
                  <a:cubicBezTo>
                    <a:pt x="363163" y="110532"/>
                    <a:pt x="331131" y="91313"/>
                    <a:pt x="312846" y="61088"/>
                  </a:cubicBezTo>
                  <a:cubicBezTo>
                    <a:pt x="287676" y="19423"/>
                    <a:pt x="236646" y="657"/>
                    <a:pt x="177820" y="657"/>
                  </a:cubicBezTo>
                  <a:cubicBezTo>
                    <a:pt x="133521" y="472"/>
                    <a:pt x="57691" y="-939"/>
                    <a:pt x="598" y="31985"/>
                  </a:cubicBezTo>
                  <a:lnTo>
                    <a:pt x="598" y="518979"/>
                  </a:lnTo>
                  <a:lnTo>
                    <a:pt x="602572" y="518979"/>
                  </a:lnTo>
                  <a:cubicBezTo>
                    <a:pt x="682763" y="518979"/>
                    <a:pt x="761504" y="497655"/>
                    <a:pt x="830833" y="457208"/>
                  </a:cubicBezTo>
                  <a:lnTo>
                    <a:pt x="1101463" y="299238"/>
                  </a:lnTo>
                  <a:cubicBezTo>
                    <a:pt x="1149153" y="271417"/>
                    <a:pt x="1155120" y="204480"/>
                    <a:pt x="1112781" y="168578"/>
                  </a:cubicBezTo>
                  <a:close/>
                </a:path>
              </a:pathLst>
            </a:custGeom>
            <a:grpFill/>
            <a:ln w="275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entury Gothic" panose="020F0302020204030204"/>
                <a:ea typeface="+mn-ea"/>
                <a:cs typeface="+mn-cs"/>
              </a:endParaRPr>
            </a:p>
          </p:txBody>
        </p:sp>
        <p:sp>
          <p:nvSpPr>
            <p:cNvPr id="18" name="Freeform: Shape 195">
              <a:extLst>
                <a:ext uri="{FF2B5EF4-FFF2-40B4-BE49-F238E27FC236}">
                  <a16:creationId xmlns:a16="http://schemas.microsoft.com/office/drawing/2014/main" id="{0D39D242-8EB9-D5D5-5FB8-AFEFF3283D8B}"/>
                </a:ext>
              </a:extLst>
            </p:cNvPr>
            <p:cNvSpPr/>
            <p:nvPr/>
          </p:nvSpPr>
          <p:spPr>
            <a:xfrm>
              <a:off x="5389573" y="3686535"/>
              <a:ext cx="181971" cy="392280"/>
            </a:xfrm>
            <a:custGeom>
              <a:avLst/>
              <a:gdLst>
                <a:gd name="connsiteX0" fmla="*/ 598 w 181971"/>
                <a:gd name="connsiteY0" fmla="*/ 599 h 392280"/>
                <a:gd name="connsiteX1" fmla="*/ 182741 w 181971"/>
                <a:gd name="connsiteY1" fmla="*/ 599 h 392280"/>
                <a:gd name="connsiteX2" fmla="*/ 182741 w 181971"/>
                <a:gd name="connsiteY2" fmla="*/ 393128 h 392280"/>
                <a:gd name="connsiteX3" fmla="*/ 598 w 181971"/>
                <a:gd name="connsiteY3" fmla="*/ 393128 h 392280"/>
              </a:gdLst>
              <a:ahLst/>
              <a:cxnLst>
                <a:cxn ang="0">
                  <a:pos x="connsiteX0" y="connsiteY0"/>
                </a:cxn>
                <a:cxn ang="0">
                  <a:pos x="connsiteX1" y="connsiteY1"/>
                </a:cxn>
                <a:cxn ang="0">
                  <a:pos x="connsiteX2" y="connsiteY2"/>
                </a:cxn>
                <a:cxn ang="0">
                  <a:pos x="connsiteX3" y="connsiteY3"/>
                </a:cxn>
              </a:cxnLst>
              <a:rect l="l" t="t" r="r" b="b"/>
              <a:pathLst>
                <a:path w="181971" h="392280">
                  <a:moveTo>
                    <a:pt x="598" y="599"/>
                  </a:moveTo>
                  <a:lnTo>
                    <a:pt x="182741" y="599"/>
                  </a:lnTo>
                  <a:lnTo>
                    <a:pt x="182741" y="393128"/>
                  </a:lnTo>
                  <a:lnTo>
                    <a:pt x="598" y="393128"/>
                  </a:lnTo>
                  <a:close/>
                </a:path>
              </a:pathLst>
            </a:custGeom>
            <a:grpFill/>
            <a:ln w="275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entury Gothic" panose="020F0302020204030204"/>
                <a:ea typeface="+mn-ea"/>
                <a:cs typeface="+mn-cs"/>
              </a:endParaRPr>
            </a:p>
          </p:txBody>
        </p:sp>
        <p:sp>
          <p:nvSpPr>
            <p:cNvPr id="19" name="Freeform: Shape 196">
              <a:extLst>
                <a:ext uri="{FF2B5EF4-FFF2-40B4-BE49-F238E27FC236}">
                  <a16:creationId xmlns:a16="http://schemas.microsoft.com/office/drawing/2014/main" id="{B1DEAFF9-FEE4-F1B1-7FE1-3B635E6C1D5D}"/>
                </a:ext>
              </a:extLst>
            </p:cNvPr>
            <p:cNvSpPr/>
            <p:nvPr/>
          </p:nvSpPr>
          <p:spPr>
            <a:xfrm>
              <a:off x="5724340" y="2759251"/>
              <a:ext cx="741671" cy="743123"/>
            </a:xfrm>
            <a:custGeom>
              <a:avLst/>
              <a:gdLst>
                <a:gd name="connsiteX0" fmla="*/ 371660 w 741671"/>
                <a:gd name="connsiteY0" fmla="*/ 744166 h 743122"/>
                <a:gd name="connsiteX1" fmla="*/ 742710 w 741671"/>
                <a:gd name="connsiteY1" fmla="*/ 372386 h 743122"/>
                <a:gd name="connsiteX2" fmla="*/ 371660 w 741671"/>
                <a:gd name="connsiteY2" fmla="*/ 599 h 743122"/>
                <a:gd name="connsiteX3" fmla="*/ 598 w 741671"/>
                <a:gd name="connsiteY3" fmla="*/ 372386 h 743122"/>
                <a:gd name="connsiteX4" fmla="*/ 371660 w 741671"/>
                <a:gd name="connsiteY4" fmla="*/ 744166 h 743122"/>
                <a:gd name="connsiteX5" fmla="*/ 336194 w 741671"/>
                <a:gd name="connsiteY5" fmla="*/ 222271 h 743122"/>
                <a:gd name="connsiteX6" fmla="*/ 340997 w 741671"/>
                <a:gd name="connsiteY6" fmla="*/ 222271 h 743122"/>
                <a:gd name="connsiteX7" fmla="*/ 340997 w 741671"/>
                <a:gd name="connsiteY7" fmla="*/ 200268 h 743122"/>
                <a:gd name="connsiteX8" fmla="*/ 382851 w 741671"/>
                <a:gd name="connsiteY8" fmla="*/ 158344 h 743122"/>
                <a:gd name="connsiteX9" fmla="*/ 424690 w 741671"/>
                <a:gd name="connsiteY9" fmla="*/ 200268 h 743122"/>
                <a:gd name="connsiteX10" fmla="*/ 424690 w 741671"/>
                <a:gd name="connsiteY10" fmla="*/ 222271 h 743122"/>
                <a:gd name="connsiteX11" fmla="*/ 463754 w 741671"/>
                <a:gd name="connsiteY11" fmla="*/ 222271 h 743122"/>
                <a:gd name="connsiteX12" fmla="*/ 505596 w 741671"/>
                <a:gd name="connsiteY12" fmla="*/ 264205 h 743122"/>
                <a:gd name="connsiteX13" fmla="*/ 463754 w 741671"/>
                <a:gd name="connsiteY13" fmla="*/ 306129 h 743122"/>
                <a:gd name="connsiteX14" fmla="*/ 336194 w 741671"/>
                <a:gd name="connsiteY14" fmla="*/ 306129 h 743122"/>
                <a:gd name="connsiteX15" fmla="*/ 321416 w 741671"/>
                <a:gd name="connsiteY15" fmla="*/ 320923 h 743122"/>
                <a:gd name="connsiteX16" fmla="*/ 336194 w 741671"/>
                <a:gd name="connsiteY16" fmla="*/ 335730 h 743122"/>
                <a:gd name="connsiteX17" fmla="*/ 407147 w 741671"/>
                <a:gd name="connsiteY17" fmla="*/ 335730 h 743122"/>
                <a:gd name="connsiteX18" fmla="*/ 505596 w 741671"/>
                <a:gd name="connsiteY18" fmla="*/ 434383 h 743122"/>
                <a:gd name="connsiteX19" fmla="*/ 424690 w 741671"/>
                <a:gd name="connsiteY19" fmla="*/ 531439 h 743122"/>
                <a:gd name="connsiteX20" fmla="*/ 424690 w 741671"/>
                <a:gd name="connsiteY20" fmla="*/ 555028 h 743122"/>
                <a:gd name="connsiteX21" fmla="*/ 382851 w 741671"/>
                <a:gd name="connsiteY21" fmla="*/ 596961 h 743122"/>
                <a:gd name="connsiteX22" fmla="*/ 340997 w 741671"/>
                <a:gd name="connsiteY22" fmla="*/ 555028 h 743122"/>
                <a:gd name="connsiteX23" fmla="*/ 340997 w 741671"/>
                <a:gd name="connsiteY23" fmla="*/ 533036 h 743122"/>
                <a:gd name="connsiteX24" fmla="*/ 280566 w 741671"/>
                <a:gd name="connsiteY24" fmla="*/ 533036 h 743122"/>
                <a:gd name="connsiteX25" fmla="*/ 238724 w 741671"/>
                <a:gd name="connsiteY25" fmla="*/ 491101 h 743122"/>
                <a:gd name="connsiteX26" fmla="*/ 280566 w 741671"/>
                <a:gd name="connsiteY26" fmla="*/ 449165 h 743122"/>
                <a:gd name="connsiteX27" fmla="*/ 407147 w 741671"/>
                <a:gd name="connsiteY27" fmla="*/ 449165 h 743122"/>
                <a:gd name="connsiteX28" fmla="*/ 421903 w 741671"/>
                <a:gd name="connsiteY28" fmla="*/ 434383 h 743122"/>
                <a:gd name="connsiteX29" fmla="*/ 407147 w 741671"/>
                <a:gd name="connsiteY29" fmla="*/ 419598 h 743122"/>
                <a:gd name="connsiteX30" fmla="*/ 336194 w 741671"/>
                <a:gd name="connsiteY30" fmla="*/ 419598 h 743122"/>
                <a:gd name="connsiteX31" fmla="*/ 237712 w 741671"/>
                <a:gd name="connsiteY31" fmla="*/ 320923 h 743122"/>
                <a:gd name="connsiteX32" fmla="*/ 336194 w 741671"/>
                <a:gd name="connsiteY32" fmla="*/ 222271 h 7431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741671" h="743122">
                  <a:moveTo>
                    <a:pt x="371660" y="744166"/>
                  </a:moveTo>
                  <a:cubicBezTo>
                    <a:pt x="576270" y="744166"/>
                    <a:pt x="742710" y="577397"/>
                    <a:pt x="742710" y="372386"/>
                  </a:cubicBezTo>
                  <a:cubicBezTo>
                    <a:pt x="742710" y="167376"/>
                    <a:pt x="576270" y="599"/>
                    <a:pt x="371660" y="599"/>
                  </a:cubicBezTo>
                  <a:cubicBezTo>
                    <a:pt x="167071" y="599"/>
                    <a:pt x="598" y="167376"/>
                    <a:pt x="598" y="372386"/>
                  </a:cubicBezTo>
                  <a:cubicBezTo>
                    <a:pt x="598" y="577397"/>
                    <a:pt x="167071" y="744166"/>
                    <a:pt x="371660" y="744166"/>
                  </a:cubicBezTo>
                  <a:close/>
                  <a:moveTo>
                    <a:pt x="336194" y="222271"/>
                  </a:moveTo>
                  <a:lnTo>
                    <a:pt x="340997" y="222271"/>
                  </a:lnTo>
                  <a:lnTo>
                    <a:pt x="340997" y="200268"/>
                  </a:lnTo>
                  <a:cubicBezTo>
                    <a:pt x="340997" y="177121"/>
                    <a:pt x="359749" y="158344"/>
                    <a:pt x="382851" y="158344"/>
                  </a:cubicBezTo>
                  <a:cubicBezTo>
                    <a:pt x="405972" y="158344"/>
                    <a:pt x="424690" y="177121"/>
                    <a:pt x="424690" y="200268"/>
                  </a:cubicBezTo>
                  <a:lnTo>
                    <a:pt x="424690" y="222271"/>
                  </a:lnTo>
                  <a:lnTo>
                    <a:pt x="463754" y="222271"/>
                  </a:lnTo>
                  <a:cubicBezTo>
                    <a:pt x="486878" y="222271"/>
                    <a:pt x="505596" y="241027"/>
                    <a:pt x="505596" y="264205"/>
                  </a:cubicBezTo>
                  <a:cubicBezTo>
                    <a:pt x="505596" y="287341"/>
                    <a:pt x="486878" y="306129"/>
                    <a:pt x="463754" y="306129"/>
                  </a:cubicBezTo>
                  <a:lnTo>
                    <a:pt x="336194" y="306129"/>
                  </a:lnTo>
                  <a:cubicBezTo>
                    <a:pt x="328053" y="306129"/>
                    <a:pt x="321416" y="312754"/>
                    <a:pt x="321416" y="320923"/>
                  </a:cubicBezTo>
                  <a:cubicBezTo>
                    <a:pt x="321416" y="329083"/>
                    <a:pt x="328053" y="335730"/>
                    <a:pt x="336194" y="335730"/>
                  </a:cubicBezTo>
                  <a:lnTo>
                    <a:pt x="407147" y="335730"/>
                  </a:lnTo>
                  <a:cubicBezTo>
                    <a:pt x="461440" y="335730"/>
                    <a:pt x="505596" y="379983"/>
                    <a:pt x="505596" y="434383"/>
                  </a:cubicBezTo>
                  <a:cubicBezTo>
                    <a:pt x="505596" y="482769"/>
                    <a:pt x="470646" y="523107"/>
                    <a:pt x="424690" y="531439"/>
                  </a:cubicBezTo>
                  <a:lnTo>
                    <a:pt x="424690" y="555028"/>
                  </a:lnTo>
                  <a:cubicBezTo>
                    <a:pt x="424690" y="578176"/>
                    <a:pt x="405972" y="596961"/>
                    <a:pt x="382851" y="596961"/>
                  </a:cubicBezTo>
                  <a:cubicBezTo>
                    <a:pt x="359749" y="596961"/>
                    <a:pt x="340997" y="578176"/>
                    <a:pt x="340997" y="555028"/>
                  </a:cubicBezTo>
                  <a:lnTo>
                    <a:pt x="340997" y="533036"/>
                  </a:lnTo>
                  <a:lnTo>
                    <a:pt x="280566" y="533036"/>
                  </a:lnTo>
                  <a:cubicBezTo>
                    <a:pt x="257442" y="533036"/>
                    <a:pt x="238724" y="514270"/>
                    <a:pt x="238724" y="491101"/>
                  </a:cubicBezTo>
                  <a:cubicBezTo>
                    <a:pt x="238724" y="467953"/>
                    <a:pt x="257442" y="449165"/>
                    <a:pt x="280566" y="449165"/>
                  </a:cubicBezTo>
                  <a:lnTo>
                    <a:pt x="407147" y="449165"/>
                  </a:lnTo>
                  <a:cubicBezTo>
                    <a:pt x="415289" y="449165"/>
                    <a:pt x="421903" y="442541"/>
                    <a:pt x="421903" y="434383"/>
                  </a:cubicBezTo>
                  <a:cubicBezTo>
                    <a:pt x="421903" y="426225"/>
                    <a:pt x="415289" y="419598"/>
                    <a:pt x="407147" y="419598"/>
                  </a:cubicBezTo>
                  <a:lnTo>
                    <a:pt x="336194" y="419598"/>
                  </a:lnTo>
                  <a:cubicBezTo>
                    <a:pt x="281901" y="419598"/>
                    <a:pt x="237712" y="375323"/>
                    <a:pt x="237712" y="320923"/>
                  </a:cubicBezTo>
                  <a:cubicBezTo>
                    <a:pt x="237712" y="266526"/>
                    <a:pt x="281901" y="222271"/>
                    <a:pt x="336194" y="222271"/>
                  </a:cubicBezTo>
                  <a:close/>
                </a:path>
              </a:pathLst>
            </a:custGeom>
            <a:grpFill/>
            <a:ln w="275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entury Gothic" panose="020F0302020204030204"/>
                <a:ea typeface="+mn-ea"/>
                <a:cs typeface="+mn-cs"/>
              </a:endParaRPr>
            </a:p>
          </p:txBody>
        </p:sp>
      </p:grpSp>
      <p:pic>
        <p:nvPicPr>
          <p:cNvPr id="20" name="Graphic 309">
            <a:extLst>
              <a:ext uri="{FF2B5EF4-FFF2-40B4-BE49-F238E27FC236}">
                <a16:creationId xmlns:a16="http://schemas.microsoft.com/office/drawing/2014/main" id="{B9BB7BE8-2BDE-9A36-90A0-B9504CE70B5B}"/>
              </a:ext>
            </a:extLst>
          </p:cNvPr>
          <p:cNvPicPr>
            <a:picLocks noChangeAspect="1"/>
          </p:cNvPicPr>
          <p:nvPr/>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4085150" y="4334971"/>
            <a:ext cx="790913" cy="790910"/>
          </a:xfrm>
          <a:prstGeom prst="rect">
            <a:avLst/>
          </a:prstGeom>
        </p:spPr>
      </p:pic>
      <p:grpSp>
        <p:nvGrpSpPr>
          <p:cNvPr id="21" name="Group 20">
            <a:extLst>
              <a:ext uri="{FF2B5EF4-FFF2-40B4-BE49-F238E27FC236}">
                <a16:creationId xmlns:a16="http://schemas.microsoft.com/office/drawing/2014/main" id="{C1D29A41-3E3F-C795-D7DE-B8215116A53E}"/>
              </a:ext>
            </a:extLst>
          </p:cNvPr>
          <p:cNvGrpSpPr/>
          <p:nvPr/>
        </p:nvGrpSpPr>
        <p:grpSpPr>
          <a:xfrm>
            <a:off x="5706650" y="2065526"/>
            <a:ext cx="798783" cy="699848"/>
            <a:chOff x="5636339" y="2862738"/>
            <a:chExt cx="917337" cy="888629"/>
          </a:xfrm>
          <a:solidFill>
            <a:schemeClr val="bg1"/>
          </a:solidFill>
        </p:grpSpPr>
        <p:sp>
          <p:nvSpPr>
            <p:cNvPr id="22" name="Freeform: Shape 21">
              <a:extLst>
                <a:ext uri="{FF2B5EF4-FFF2-40B4-BE49-F238E27FC236}">
                  <a16:creationId xmlns:a16="http://schemas.microsoft.com/office/drawing/2014/main" id="{C1FE8C81-8315-C33B-7DD7-09E86EB565B2}"/>
                </a:ext>
              </a:extLst>
            </p:cNvPr>
            <p:cNvSpPr/>
            <p:nvPr/>
          </p:nvSpPr>
          <p:spPr>
            <a:xfrm>
              <a:off x="5932646" y="2862738"/>
              <a:ext cx="323850" cy="447675"/>
            </a:xfrm>
            <a:custGeom>
              <a:avLst/>
              <a:gdLst>
                <a:gd name="connsiteX0" fmla="*/ 33814 w 323850"/>
                <a:gd name="connsiteY0" fmla="*/ 448151 h 447675"/>
                <a:gd name="connsiteX1" fmla="*/ 291941 w 323850"/>
                <a:gd name="connsiteY1" fmla="*/ 448151 h 447675"/>
                <a:gd name="connsiteX2" fmla="*/ 318611 w 323850"/>
                <a:gd name="connsiteY2" fmla="*/ 421481 h 447675"/>
                <a:gd name="connsiteX3" fmla="*/ 318611 w 323850"/>
                <a:gd name="connsiteY3" fmla="*/ 240506 h 447675"/>
                <a:gd name="connsiteX4" fmla="*/ 214789 w 323850"/>
                <a:gd name="connsiteY4" fmla="*/ 115729 h 447675"/>
                <a:gd name="connsiteX5" fmla="*/ 214789 w 323850"/>
                <a:gd name="connsiteY5" fmla="*/ 74771 h 447675"/>
                <a:gd name="connsiteX6" fmla="*/ 216694 w 323850"/>
                <a:gd name="connsiteY6" fmla="*/ 74771 h 447675"/>
                <a:gd name="connsiteX7" fmla="*/ 244316 w 323850"/>
                <a:gd name="connsiteY7" fmla="*/ 47149 h 447675"/>
                <a:gd name="connsiteX8" fmla="*/ 244316 w 323850"/>
                <a:gd name="connsiteY8" fmla="*/ 34766 h 447675"/>
                <a:gd name="connsiteX9" fmla="*/ 216694 w 323850"/>
                <a:gd name="connsiteY9" fmla="*/ 7144 h 447675"/>
                <a:gd name="connsiteX10" fmla="*/ 109061 w 323850"/>
                <a:gd name="connsiteY10" fmla="*/ 7144 h 447675"/>
                <a:gd name="connsiteX11" fmla="*/ 81439 w 323850"/>
                <a:gd name="connsiteY11" fmla="*/ 34766 h 447675"/>
                <a:gd name="connsiteX12" fmla="*/ 81439 w 323850"/>
                <a:gd name="connsiteY12" fmla="*/ 47149 h 447675"/>
                <a:gd name="connsiteX13" fmla="*/ 109061 w 323850"/>
                <a:gd name="connsiteY13" fmla="*/ 74771 h 447675"/>
                <a:gd name="connsiteX14" fmla="*/ 110966 w 323850"/>
                <a:gd name="connsiteY14" fmla="*/ 74771 h 447675"/>
                <a:gd name="connsiteX15" fmla="*/ 110966 w 323850"/>
                <a:gd name="connsiteY15" fmla="*/ 115729 h 447675"/>
                <a:gd name="connsiteX16" fmla="*/ 7144 w 323850"/>
                <a:gd name="connsiteY16" fmla="*/ 240506 h 447675"/>
                <a:gd name="connsiteX17" fmla="*/ 7144 w 323850"/>
                <a:gd name="connsiteY17" fmla="*/ 421481 h 447675"/>
                <a:gd name="connsiteX18" fmla="*/ 33814 w 323850"/>
                <a:gd name="connsiteY18" fmla="*/ 448151 h 447675"/>
                <a:gd name="connsiteX19" fmla="*/ 89059 w 323850"/>
                <a:gd name="connsiteY19" fmla="*/ 214789 h 447675"/>
                <a:gd name="connsiteX20" fmla="*/ 237649 w 323850"/>
                <a:gd name="connsiteY20" fmla="*/ 214789 h 447675"/>
                <a:gd name="connsiteX21" fmla="*/ 237649 w 323850"/>
                <a:gd name="connsiteY21" fmla="*/ 363379 h 447675"/>
                <a:gd name="connsiteX22" fmla="*/ 89059 w 323850"/>
                <a:gd name="connsiteY22" fmla="*/ 363379 h 447675"/>
                <a:gd name="connsiteX23" fmla="*/ 89059 w 323850"/>
                <a:gd name="connsiteY23" fmla="*/ 214789 h 4476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323850" h="447675">
                  <a:moveTo>
                    <a:pt x="33814" y="448151"/>
                  </a:moveTo>
                  <a:lnTo>
                    <a:pt x="291941" y="448151"/>
                  </a:lnTo>
                  <a:cubicBezTo>
                    <a:pt x="307181" y="448151"/>
                    <a:pt x="318611" y="435769"/>
                    <a:pt x="318611" y="421481"/>
                  </a:cubicBezTo>
                  <a:lnTo>
                    <a:pt x="318611" y="240506"/>
                  </a:lnTo>
                  <a:cubicBezTo>
                    <a:pt x="318611" y="178594"/>
                    <a:pt x="273844" y="127159"/>
                    <a:pt x="214789" y="115729"/>
                  </a:cubicBezTo>
                  <a:lnTo>
                    <a:pt x="214789" y="74771"/>
                  </a:lnTo>
                  <a:lnTo>
                    <a:pt x="216694" y="74771"/>
                  </a:lnTo>
                  <a:cubicBezTo>
                    <a:pt x="231934" y="74771"/>
                    <a:pt x="244316" y="62389"/>
                    <a:pt x="244316" y="47149"/>
                  </a:cubicBezTo>
                  <a:lnTo>
                    <a:pt x="244316" y="34766"/>
                  </a:lnTo>
                  <a:cubicBezTo>
                    <a:pt x="244316" y="19526"/>
                    <a:pt x="231934" y="7144"/>
                    <a:pt x="216694" y="7144"/>
                  </a:cubicBezTo>
                  <a:lnTo>
                    <a:pt x="109061" y="7144"/>
                  </a:lnTo>
                  <a:cubicBezTo>
                    <a:pt x="93821" y="7144"/>
                    <a:pt x="81439" y="19526"/>
                    <a:pt x="81439" y="34766"/>
                  </a:cubicBezTo>
                  <a:lnTo>
                    <a:pt x="81439" y="47149"/>
                  </a:lnTo>
                  <a:cubicBezTo>
                    <a:pt x="81439" y="62389"/>
                    <a:pt x="93821" y="74771"/>
                    <a:pt x="109061" y="74771"/>
                  </a:cubicBezTo>
                  <a:lnTo>
                    <a:pt x="110966" y="74771"/>
                  </a:lnTo>
                  <a:lnTo>
                    <a:pt x="110966" y="115729"/>
                  </a:lnTo>
                  <a:cubicBezTo>
                    <a:pt x="51911" y="126206"/>
                    <a:pt x="7144" y="178594"/>
                    <a:pt x="7144" y="240506"/>
                  </a:cubicBezTo>
                  <a:lnTo>
                    <a:pt x="7144" y="421481"/>
                  </a:lnTo>
                  <a:cubicBezTo>
                    <a:pt x="7144" y="435769"/>
                    <a:pt x="19526" y="448151"/>
                    <a:pt x="33814" y="448151"/>
                  </a:cubicBezTo>
                  <a:close/>
                  <a:moveTo>
                    <a:pt x="89059" y="214789"/>
                  </a:moveTo>
                  <a:lnTo>
                    <a:pt x="237649" y="214789"/>
                  </a:lnTo>
                  <a:lnTo>
                    <a:pt x="237649" y="363379"/>
                  </a:lnTo>
                  <a:lnTo>
                    <a:pt x="89059" y="363379"/>
                  </a:lnTo>
                  <a:lnTo>
                    <a:pt x="89059" y="214789"/>
                  </a:ln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23" name="Freeform: Shape 22">
              <a:extLst>
                <a:ext uri="{FF2B5EF4-FFF2-40B4-BE49-F238E27FC236}">
                  <a16:creationId xmlns:a16="http://schemas.microsoft.com/office/drawing/2014/main" id="{A169EEBF-E4DA-CF14-3737-33DFF1E15E91}"/>
                </a:ext>
              </a:extLst>
            </p:cNvPr>
            <p:cNvSpPr/>
            <p:nvPr/>
          </p:nvSpPr>
          <p:spPr>
            <a:xfrm>
              <a:off x="6039326" y="3095148"/>
              <a:ext cx="104775" cy="104775"/>
            </a:xfrm>
            <a:custGeom>
              <a:avLst/>
              <a:gdLst>
                <a:gd name="connsiteX0" fmla="*/ 75724 w 104775"/>
                <a:gd name="connsiteY0" fmla="*/ 7144 h 104775"/>
                <a:gd name="connsiteX1" fmla="*/ 37624 w 104775"/>
                <a:gd name="connsiteY1" fmla="*/ 7144 h 104775"/>
                <a:gd name="connsiteX2" fmla="*/ 37624 w 104775"/>
                <a:gd name="connsiteY2" fmla="*/ 37624 h 104775"/>
                <a:gd name="connsiteX3" fmla="*/ 7144 w 104775"/>
                <a:gd name="connsiteY3" fmla="*/ 37624 h 104775"/>
                <a:gd name="connsiteX4" fmla="*/ 7144 w 104775"/>
                <a:gd name="connsiteY4" fmla="*/ 76676 h 104775"/>
                <a:gd name="connsiteX5" fmla="*/ 37624 w 104775"/>
                <a:gd name="connsiteY5" fmla="*/ 76676 h 104775"/>
                <a:gd name="connsiteX6" fmla="*/ 37624 w 104775"/>
                <a:gd name="connsiteY6" fmla="*/ 106204 h 104775"/>
                <a:gd name="connsiteX7" fmla="*/ 75724 w 104775"/>
                <a:gd name="connsiteY7" fmla="*/ 106204 h 104775"/>
                <a:gd name="connsiteX8" fmla="*/ 75724 w 104775"/>
                <a:gd name="connsiteY8" fmla="*/ 76676 h 104775"/>
                <a:gd name="connsiteX9" fmla="*/ 106204 w 104775"/>
                <a:gd name="connsiteY9" fmla="*/ 76676 h 104775"/>
                <a:gd name="connsiteX10" fmla="*/ 106204 w 104775"/>
                <a:gd name="connsiteY10" fmla="*/ 37624 h 104775"/>
                <a:gd name="connsiteX11" fmla="*/ 75724 w 104775"/>
                <a:gd name="connsiteY11" fmla="*/ 37624 h 104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04775" h="104775">
                  <a:moveTo>
                    <a:pt x="75724" y="7144"/>
                  </a:moveTo>
                  <a:lnTo>
                    <a:pt x="37624" y="7144"/>
                  </a:lnTo>
                  <a:lnTo>
                    <a:pt x="37624" y="37624"/>
                  </a:lnTo>
                  <a:lnTo>
                    <a:pt x="7144" y="37624"/>
                  </a:lnTo>
                  <a:lnTo>
                    <a:pt x="7144" y="76676"/>
                  </a:lnTo>
                  <a:lnTo>
                    <a:pt x="37624" y="76676"/>
                  </a:lnTo>
                  <a:lnTo>
                    <a:pt x="37624" y="106204"/>
                  </a:lnTo>
                  <a:lnTo>
                    <a:pt x="75724" y="106204"/>
                  </a:lnTo>
                  <a:lnTo>
                    <a:pt x="75724" y="76676"/>
                  </a:lnTo>
                  <a:lnTo>
                    <a:pt x="106204" y="76676"/>
                  </a:lnTo>
                  <a:lnTo>
                    <a:pt x="106204" y="37624"/>
                  </a:lnTo>
                  <a:lnTo>
                    <a:pt x="75724" y="37624"/>
                  </a:ln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24" name="Freeform: Shape 23">
              <a:extLst>
                <a:ext uri="{FF2B5EF4-FFF2-40B4-BE49-F238E27FC236}">
                  <a16:creationId xmlns:a16="http://schemas.microsoft.com/office/drawing/2014/main" id="{C39ED2F2-FA7D-48A9-D2F4-19B4F5F262FC}"/>
                </a:ext>
              </a:extLst>
            </p:cNvPr>
            <p:cNvSpPr/>
            <p:nvPr/>
          </p:nvSpPr>
          <p:spPr>
            <a:xfrm>
              <a:off x="5636339" y="3179692"/>
              <a:ext cx="409575" cy="571500"/>
            </a:xfrm>
            <a:custGeom>
              <a:avLst/>
              <a:gdLst>
                <a:gd name="connsiteX0" fmla="*/ 358697 w 409575"/>
                <a:gd name="connsiteY0" fmla="*/ 283597 h 571500"/>
                <a:gd name="connsiteX1" fmla="*/ 290117 w 409575"/>
                <a:gd name="connsiteY1" fmla="*/ 195967 h 571500"/>
                <a:gd name="connsiteX2" fmla="*/ 225346 w 409575"/>
                <a:gd name="connsiteY2" fmla="*/ 116910 h 571500"/>
                <a:gd name="connsiteX3" fmla="*/ 175817 w 409575"/>
                <a:gd name="connsiteY3" fmla="*/ 108337 h 571500"/>
                <a:gd name="connsiteX4" fmla="*/ 163434 w 409575"/>
                <a:gd name="connsiteY4" fmla="*/ 185490 h 571500"/>
                <a:gd name="connsiteX5" fmla="*/ 226299 w 409575"/>
                <a:gd name="connsiteY5" fmla="*/ 263595 h 571500"/>
                <a:gd name="connsiteX6" fmla="*/ 231062 w 409575"/>
                <a:gd name="connsiteY6" fmla="*/ 269310 h 571500"/>
                <a:gd name="connsiteX7" fmla="*/ 228204 w 409575"/>
                <a:gd name="connsiteY7" fmla="*/ 292170 h 571500"/>
                <a:gd name="connsiteX8" fmla="*/ 208202 w 409575"/>
                <a:gd name="connsiteY8" fmla="*/ 289312 h 571500"/>
                <a:gd name="connsiteX9" fmla="*/ 204392 w 409575"/>
                <a:gd name="connsiteY9" fmla="*/ 284550 h 571500"/>
                <a:gd name="connsiteX10" fmla="*/ 151052 w 409575"/>
                <a:gd name="connsiteY10" fmla="*/ 221685 h 571500"/>
                <a:gd name="connsiteX11" fmla="*/ 136764 w 409575"/>
                <a:gd name="connsiteY11" fmla="*/ 198825 h 571500"/>
                <a:gd name="connsiteX12" fmla="*/ 129144 w 409575"/>
                <a:gd name="connsiteY12" fmla="*/ 119767 h 571500"/>
                <a:gd name="connsiteX13" fmla="*/ 96759 w 409575"/>
                <a:gd name="connsiteY13" fmla="*/ 40710 h 571500"/>
                <a:gd name="connsiteX14" fmla="*/ 7224 w 409575"/>
                <a:gd name="connsiteY14" fmla="*/ 58807 h 571500"/>
                <a:gd name="connsiteX15" fmla="*/ 88186 w 409575"/>
                <a:gd name="connsiteY15" fmla="*/ 379800 h 571500"/>
                <a:gd name="connsiteX16" fmla="*/ 210106 w 409575"/>
                <a:gd name="connsiteY16" fmla="*/ 485527 h 571500"/>
                <a:gd name="connsiteX17" fmla="*/ 222489 w 409575"/>
                <a:gd name="connsiteY17" fmla="*/ 509340 h 571500"/>
                <a:gd name="connsiteX18" fmla="*/ 222489 w 409575"/>
                <a:gd name="connsiteY18" fmla="*/ 549345 h 571500"/>
                <a:gd name="connsiteX19" fmla="*/ 244396 w 409575"/>
                <a:gd name="connsiteY19" fmla="*/ 571252 h 571500"/>
                <a:gd name="connsiteX20" fmla="*/ 383462 w 409575"/>
                <a:gd name="connsiteY20" fmla="*/ 571252 h 571500"/>
                <a:gd name="connsiteX21" fmla="*/ 405369 w 409575"/>
                <a:gd name="connsiteY21" fmla="*/ 549345 h 571500"/>
                <a:gd name="connsiteX22" fmla="*/ 401559 w 409575"/>
                <a:gd name="connsiteY22" fmla="*/ 451237 h 571500"/>
                <a:gd name="connsiteX23" fmla="*/ 358697 w 409575"/>
                <a:gd name="connsiteY23" fmla="*/ 283597 h 5715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409575" h="571500">
                  <a:moveTo>
                    <a:pt x="358697" y="283597"/>
                  </a:moveTo>
                  <a:cubicBezTo>
                    <a:pt x="343457" y="257880"/>
                    <a:pt x="316787" y="226447"/>
                    <a:pt x="290117" y="195967"/>
                  </a:cubicBezTo>
                  <a:cubicBezTo>
                    <a:pt x="267257" y="169297"/>
                    <a:pt x="242492" y="142627"/>
                    <a:pt x="225346" y="116910"/>
                  </a:cubicBezTo>
                  <a:cubicBezTo>
                    <a:pt x="212964" y="98812"/>
                    <a:pt x="191056" y="98812"/>
                    <a:pt x="175817" y="108337"/>
                  </a:cubicBezTo>
                  <a:cubicBezTo>
                    <a:pt x="156767" y="119767"/>
                    <a:pt x="142479" y="145485"/>
                    <a:pt x="163434" y="185490"/>
                  </a:cubicBezTo>
                  <a:cubicBezTo>
                    <a:pt x="173912" y="206445"/>
                    <a:pt x="199629" y="235020"/>
                    <a:pt x="226299" y="263595"/>
                  </a:cubicBezTo>
                  <a:cubicBezTo>
                    <a:pt x="228204" y="265500"/>
                    <a:pt x="229156" y="267405"/>
                    <a:pt x="231062" y="269310"/>
                  </a:cubicBezTo>
                  <a:cubicBezTo>
                    <a:pt x="237729" y="275977"/>
                    <a:pt x="235824" y="287407"/>
                    <a:pt x="228204" y="292170"/>
                  </a:cubicBezTo>
                  <a:cubicBezTo>
                    <a:pt x="221537" y="295980"/>
                    <a:pt x="213917" y="294075"/>
                    <a:pt x="208202" y="289312"/>
                  </a:cubicBezTo>
                  <a:cubicBezTo>
                    <a:pt x="206296" y="287407"/>
                    <a:pt x="205344" y="286455"/>
                    <a:pt x="204392" y="284550"/>
                  </a:cubicBezTo>
                  <a:cubicBezTo>
                    <a:pt x="183437" y="261690"/>
                    <a:pt x="164387" y="240735"/>
                    <a:pt x="151052" y="221685"/>
                  </a:cubicBezTo>
                  <a:cubicBezTo>
                    <a:pt x="145337" y="214065"/>
                    <a:pt x="140574" y="206445"/>
                    <a:pt x="136764" y="198825"/>
                  </a:cubicBezTo>
                  <a:cubicBezTo>
                    <a:pt x="120571" y="168345"/>
                    <a:pt x="120571" y="140722"/>
                    <a:pt x="129144" y="119767"/>
                  </a:cubicBezTo>
                  <a:cubicBezTo>
                    <a:pt x="114856" y="89287"/>
                    <a:pt x="102474" y="59760"/>
                    <a:pt x="96759" y="40710"/>
                  </a:cubicBezTo>
                  <a:cubicBezTo>
                    <a:pt x="78661" y="-12630"/>
                    <a:pt x="4366" y="705"/>
                    <a:pt x="7224" y="58807"/>
                  </a:cubicBezTo>
                  <a:cubicBezTo>
                    <a:pt x="10081" y="117862"/>
                    <a:pt x="31036" y="313125"/>
                    <a:pt x="88186" y="379800"/>
                  </a:cubicBezTo>
                  <a:cubicBezTo>
                    <a:pt x="113904" y="410280"/>
                    <a:pt x="160577" y="451237"/>
                    <a:pt x="210106" y="485527"/>
                  </a:cubicBezTo>
                  <a:cubicBezTo>
                    <a:pt x="217727" y="491242"/>
                    <a:pt x="222489" y="499815"/>
                    <a:pt x="222489" y="509340"/>
                  </a:cubicBezTo>
                  <a:lnTo>
                    <a:pt x="222489" y="549345"/>
                  </a:lnTo>
                  <a:cubicBezTo>
                    <a:pt x="222489" y="561727"/>
                    <a:pt x="232014" y="571252"/>
                    <a:pt x="244396" y="571252"/>
                  </a:cubicBezTo>
                  <a:lnTo>
                    <a:pt x="383462" y="571252"/>
                  </a:lnTo>
                  <a:cubicBezTo>
                    <a:pt x="395844" y="571252"/>
                    <a:pt x="405369" y="561727"/>
                    <a:pt x="405369" y="549345"/>
                  </a:cubicBezTo>
                  <a:cubicBezTo>
                    <a:pt x="404417" y="525532"/>
                    <a:pt x="403464" y="485527"/>
                    <a:pt x="401559" y="451237"/>
                  </a:cubicBezTo>
                  <a:cubicBezTo>
                    <a:pt x="396797" y="378847"/>
                    <a:pt x="374889" y="312172"/>
                    <a:pt x="358697" y="283597"/>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25" name="Freeform: Shape 24">
              <a:extLst>
                <a:ext uri="{FF2B5EF4-FFF2-40B4-BE49-F238E27FC236}">
                  <a16:creationId xmlns:a16="http://schemas.microsoft.com/office/drawing/2014/main" id="{1521FD29-EE92-080D-AE14-EAFB7606D99B}"/>
                </a:ext>
              </a:extLst>
            </p:cNvPr>
            <p:cNvSpPr/>
            <p:nvPr/>
          </p:nvSpPr>
          <p:spPr>
            <a:xfrm>
              <a:off x="6144101" y="3179867"/>
              <a:ext cx="409575" cy="571500"/>
            </a:xfrm>
            <a:custGeom>
              <a:avLst/>
              <a:gdLst>
                <a:gd name="connsiteX0" fmla="*/ 315754 w 409575"/>
                <a:gd name="connsiteY0" fmla="*/ 41487 h 571500"/>
                <a:gd name="connsiteX1" fmla="*/ 283369 w 409575"/>
                <a:gd name="connsiteY1" fmla="*/ 120545 h 571500"/>
                <a:gd name="connsiteX2" fmla="*/ 275749 w 409575"/>
                <a:gd name="connsiteY2" fmla="*/ 199602 h 571500"/>
                <a:gd name="connsiteX3" fmla="*/ 261461 w 409575"/>
                <a:gd name="connsiteY3" fmla="*/ 222462 h 571500"/>
                <a:gd name="connsiteX4" fmla="*/ 208121 w 409575"/>
                <a:gd name="connsiteY4" fmla="*/ 285327 h 571500"/>
                <a:gd name="connsiteX5" fmla="*/ 204311 w 409575"/>
                <a:gd name="connsiteY5" fmla="*/ 290090 h 571500"/>
                <a:gd name="connsiteX6" fmla="*/ 184309 w 409575"/>
                <a:gd name="connsiteY6" fmla="*/ 292947 h 571500"/>
                <a:gd name="connsiteX7" fmla="*/ 181451 w 409575"/>
                <a:gd name="connsiteY7" fmla="*/ 270087 h 571500"/>
                <a:gd name="connsiteX8" fmla="*/ 186214 w 409575"/>
                <a:gd name="connsiteY8" fmla="*/ 264372 h 571500"/>
                <a:gd name="connsiteX9" fmla="*/ 249079 w 409575"/>
                <a:gd name="connsiteY9" fmla="*/ 186267 h 571500"/>
                <a:gd name="connsiteX10" fmla="*/ 236696 w 409575"/>
                <a:gd name="connsiteY10" fmla="*/ 109115 h 571500"/>
                <a:gd name="connsiteX11" fmla="*/ 187166 w 409575"/>
                <a:gd name="connsiteY11" fmla="*/ 117687 h 571500"/>
                <a:gd name="connsiteX12" fmla="*/ 122396 w 409575"/>
                <a:gd name="connsiteY12" fmla="*/ 196745 h 571500"/>
                <a:gd name="connsiteX13" fmla="*/ 53816 w 409575"/>
                <a:gd name="connsiteY13" fmla="*/ 284375 h 571500"/>
                <a:gd name="connsiteX14" fmla="*/ 10954 w 409575"/>
                <a:gd name="connsiteY14" fmla="*/ 450110 h 571500"/>
                <a:gd name="connsiteX15" fmla="*/ 7144 w 409575"/>
                <a:gd name="connsiteY15" fmla="*/ 548217 h 571500"/>
                <a:gd name="connsiteX16" fmla="*/ 29051 w 409575"/>
                <a:gd name="connsiteY16" fmla="*/ 570125 h 571500"/>
                <a:gd name="connsiteX17" fmla="*/ 168116 w 409575"/>
                <a:gd name="connsiteY17" fmla="*/ 570125 h 571500"/>
                <a:gd name="connsiteX18" fmla="*/ 190024 w 409575"/>
                <a:gd name="connsiteY18" fmla="*/ 548217 h 571500"/>
                <a:gd name="connsiteX19" fmla="*/ 190024 w 409575"/>
                <a:gd name="connsiteY19" fmla="*/ 508212 h 571500"/>
                <a:gd name="connsiteX20" fmla="*/ 202406 w 409575"/>
                <a:gd name="connsiteY20" fmla="*/ 484400 h 571500"/>
                <a:gd name="connsiteX21" fmla="*/ 324326 w 409575"/>
                <a:gd name="connsiteY21" fmla="*/ 378672 h 571500"/>
                <a:gd name="connsiteX22" fmla="*/ 405289 w 409575"/>
                <a:gd name="connsiteY22" fmla="*/ 58632 h 571500"/>
                <a:gd name="connsiteX23" fmla="*/ 315754 w 409575"/>
                <a:gd name="connsiteY23" fmla="*/ 41487 h 5715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409575" h="571500">
                  <a:moveTo>
                    <a:pt x="315754" y="41487"/>
                  </a:moveTo>
                  <a:cubicBezTo>
                    <a:pt x="310039" y="60537"/>
                    <a:pt x="297656" y="89112"/>
                    <a:pt x="283369" y="120545"/>
                  </a:cubicBezTo>
                  <a:cubicBezTo>
                    <a:pt x="291941" y="141500"/>
                    <a:pt x="290989" y="169122"/>
                    <a:pt x="275749" y="199602"/>
                  </a:cubicBezTo>
                  <a:cubicBezTo>
                    <a:pt x="271939" y="207222"/>
                    <a:pt x="267176" y="213890"/>
                    <a:pt x="261461" y="222462"/>
                  </a:cubicBezTo>
                  <a:cubicBezTo>
                    <a:pt x="247174" y="241512"/>
                    <a:pt x="229076" y="262467"/>
                    <a:pt x="208121" y="285327"/>
                  </a:cubicBezTo>
                  <a:cubicBezTo>
                    <a:pt x="207169" y="287232"/>
                    <a:pt x="205264" y="288185"/>
                    <a:pt x="204311" y="290090"/>
                  </a:cubicBezTo>
                  <a:cubicBezTo>
                    <a:pt x="199549" y="295805"/>
                    <a:pt x="190976" y="297710"/>
                    <a:pt x="184309" y="292947"/>
                  </a:cubicBezTo>
                  <a:cubicBezTo>
                    <a:pt x="176689" y="288185"/>
                    <a:pt x="174784" y="276755"/>
                    <a:pt x="181451" y="270087"/>
                  </a:cubicBezTo>
                  <a:cubicBezTo>
                    <a:pt x="183356" y="268182"/>
                    <a:pt x="184309" y="266277"/>
                    <a:pt x="186214" y="264372"/>
                  </a:cubicBezTo>
                  <a:cubicBezTo>
                    <a:pt x="212884" y="234845"/>
                    <a:pt x="238601" y="207222"/>
                    <a:pt x="249079" y="186267"/>
                  </a:cubicBezTo>
                  <a:cubicBezTo>
                    <a:pt x="269081" y="147215"/>
                    <a:pt x="255746" y="120545"/>
                    <a:pt x="236696" y="109115"/>
                  </a:cubicBezTo>
                  <a:cubicBezTo>
                    <a:pt x="220504" y="99590"/>
                    <a:pt x="198596" y="99590"/>
                    <a:pt x="187166" y="117687"/>
                  </a:cubicBezTo>
                  <a:cubicBezTo>
                    <a:pt x="170021" y="143405"/>
                    <a:pt x="146209" y="171027"/>
                    <a:pt x="122396" y="196745"/>
                  </a:cubicBezTo>
                  <a:cubicBezTo>
                    <a:pt x="95726" y="227225"/>
                    <a:pt x="69056" y="258657"/>
                    <a:pt x="53816" y="284375"/>
                  </a:cubicBezTo>
                  <a:cubicBezTo>
                    <a:pt x="36671" y="312950"/>
                    <a:pt x="15716" y="379625"/>
                    <a:pt x="10954" y="450110"/>
                  </a:cubicBezTo>
                  <a:cubicBezTo>
                    <a:pt x="9049" y="484400"/>
                    <a:pt x="8096" y="524405"/>
                    <a:pt x="7144" y="548217"/>
                  </a:cubicBezTo>
                  <a:cubicBezTo>
                    <a:pt x="7144" y="560600"/>
                    <a:pt x="16669" y="570125"/>
                    <a:pt x="29051" y="570125"/>
                  </a:cubicBezTo>
                  <a:lnTo>
                    <a:pt x="168116" y="570125"/>
                  </a:lnTo>
                  <a:cubicBezTo>
                    <a:pt x="180499" y="570125"/>
                    <a:pt x="190024" y="560600"/>
                    <a:pt x="190024" y="548217"/>
                  </a:cubicBezTo>
                  <a:lnTo>
                    <a:pt x="190024" y="508212"/>
                  </a:lnTo>
                  <a:cubicBezTo>
                    <a:pt x="190024" y="498687"/>
                    <a:pt x="194786" y="490115"/>
                    <a:pt x="202406" y="484400"/>
                  </a:cubicBezTo>
                  <a:cubicBezTo>
                    <a:pt x="251936" y="450110"/>
                    <a:pt x="298609" y="409152"/>
                    <a:pt x="324326" y="378672"/>
                  </a:cubicBezTo>
                  <a:cubicBezTo>
                    <a:pt x="381476" y="311997"/>
                    <a:pt x="401479" y="116735"/>
                    <a:pt x="405289" y="58632"/>
                  </a:cubicBezTo>
                  <a:cubicBezTo>
                    <a:pt x="407194" y="530"/>
                    <a:pt x="332899" y="-12805"/>
                    <a:pt x="315754" y="41487"/>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grpSp>
      <p:sp>
        <p:nvSpPr>
          <p:cNvPr id="26" name="TextBox 25">
            <a:extLst>
              <a:ext uri="{FF2B5EF4-FFF2-40B4-BE49-F238E27FC236}">
                <a16:creationId xmlns:a16="http://schemas.microsoft.com/office/drawing/2014/main" id="{14D4B05F-FA1E-D64A-D054-2B6C3F014F96}"/>
              </a:ext>
            </a:extLst>
          </p:cNvPr>
          <p:cNvSpPr txBox="1"/>
          <p:nvPr/>
        </p:nvSpPr>
        <p:spPr>
          <a:xfrm>
            <a:off x="5032494" y="2893831"/>
            <a:ext cx="2141355" cy="461665"/>
          </a:xfrm>
          <a:prstGeom prst="rect">
            <a:avLst/>
          </a:prstGeom>
          <a:noFill/>
        </p:spPr>
        <p:txBody>
          <a:bodyPr wrap="none" rtlCol="0">
            <a:spAutoFit/>
          </a:bodyPr>
          <a:lstStyle/>
          <a:p>
            <a:r>
              <a:rPr lang="en-US" sz="2400" b="1" dirty="0">
                <a:solidFill>
                  <a:schemeClr val="bg1"/>
                </a:solidFill>
              </a:rPr>
              <a:t>Transformation</a:t>
            </a:r>
          </a:p>
        </p:txBody>
      </p:sp>
      <p:sp>
        <p:nvSpPr>
          <p:cNvPr id="27" name="TextBox 26">
            <a:extLst>
              <a:ext uri="{FF2B5EF4-FFF2-40B4-BE49-F238E27FC236}">
                <a16:creationId xmlns:a16="http://schemas.microsoft.com/office/drawing/2014/main" id="{8EBEC1F6-6F3F-DF09-8F61-B4DFA6F2DBCF}"/>
              </a:ext>
            </a:extLst>
          </p:cNvPr>
          <p:cNvSpPr txBox="1"/>
          <p:nvPr/>
        </p:nvSpPr>
        <p:spPr>
          <a:xfrm>
            <a:off x="3472762" y="5150060"/>
            <a:ext cx="2011641" cy="461665"/>
          </a:xfrm>
          <a:prstGeom prst="rect">
            <a:avLst/>
          </a:prstGeom>
          <a:noFill/>
        </p:spPr>
        <p:txBody>
          <a:bodyPr wrap="none" rtlCol="0">
            <a:spAutoFit/>
          </a:bodyPr>
          <a:lstStyle/>
          <a:p>
            <a:r>
              <a:rPr lang="en-US" sz="2400" b="1" dirty="0">
                <a:solidFill>
                  <a:schemeClr val="bg1"/>
                </a:solidFill>
              </a:rPr>
              <a:t>Volume/Profit</a:t>
            </a:r>
          </a:p>
        </p:txBody>
      </p:sp>
      <p:sp>
        <p:nvSpPr>
          <p:cNvPr id="28" name="TextBox 27">
            <a:extLst>
              <a:ext uri="{FF2B5EF4-FFF2-40B4-BE49-F238E27FC236}">
                <a16:creationId xmlns:a16="http://schemas.microsoft.com/office/drawing/2014/main" id="{64AEEA99-AABD-715D-7A92-516BA10214C5}"/>
              </a:ext>
            </a:extLst>
          </p:cNvPr>
          <p:cNvSpPr txBox="1"/>
          <p:nvPr/>
        </p:nvSpPr>
        <p:spPr>
          <a:xfrm>
            <a:off x="7151215" y="5094954"/>
            <a:ext cx="1097993" cy="461665"/>
          </a:xfrm>
          <a:prstGeom prst="rect">
            <a:avLst/>
          </a:prstGeom>
          <a:noFill/>
        </p:spPr>
        <p:txBody>
          <a:bodyPr wrap="none" rtlCol="0">
            <a:spAutoFit/>
          </a:bodyPr>
          <a:lstStyle/>
          <a:p>
            <a:r>
              <a:rPr lang="en-US" sz="2400" b="1" dirty="0">
                <a:solidFill>
                  <a:schemeClr val="bg1"/>
                </a:solidFill>
              </a:rPr>
              <a:t>Margin</a:t>
            </a:r>
          </a:p>
        </p:txBody>
      </p:sp>
    </p:spTree>
    <p:extLst>
      <p:ext uri="{BB962C8B-B14F-4D97-AF65-F5344CB8AC3E}">
        <p14:creationId xmlns:p14="http://schemas.microsoft.com/office/powerpoint/2010/main" val="5063212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500"/>
                                        <p:tgtEl>
                                          <p:spTgt spid="9"/>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7"/>
                                        </p:tgtEl>
                                        <p:attrNameLst>
                                          <p:attrName>style.visibility</p:attrName>
                                        </p:attrNameLst>
                                      </p:cBhvr>
                                      <p:to>
                                        <p:strVal val="visible"/>
                                      </p:to>
                                    </p:set>
                                    <p:animEffect transition="in" filter="fade">
                                      <p:cBhvr>
                                        <p:cTn id="10" dur="500"/>
                                        <p:tgtEl>
                                          <p:spTgt spid="7"/>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8"/>
                                        </p:tgtEl>
                                        <p:attrNameLst>
                                          <p:attrName>style.visibility</p:attrName>
                                        </p:attrNameLst>
                                      </p:cBhvr>
                                      <p:to>
                                        <p:strVal val="visible"/>
                                      </p:to>
                                    </p:set>
                                    <p:animEffect transition="in" filter="fade">
                                      <p:cBhvr>
                                        <p:cTn id="13" dur="500"/>
                                        <p:tgtEl>
                                          <p:spTgt spid="8"/>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12"/>
                                        </p:tgtEl>
                                        <p:attrNameLst>
                                          <p:attrName>style.visibility</p:attrName>
                                        </p:attrNameLst>
                                      </p:cBhvr>
                                      <p:to>
                                        <p:strVal val="visible"/>
                                      </p:to>
                                    </p:set>
                                    <p:animEffect transition="in" filter="fade">
                                      <p:cBhvr>
                                        <p:cTn id="18" dur="500"/>
                                        <p:tgtEl>
                                          <p:spTgt spid="12"/>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10"/>
                                        </p:tgtEl>
                                        <p:attrNameLst>
                                          <p:attrName>style.visibility</p:attrName>
                                        </p:attrNameLst>
                                      </p:cBhvr>
                                      <p:to>
                                        <p:strVal val="visible"/>
                                      </p:to>
                                    </p:set>
                                    <p:animEffect transition="in" filter="fade">
                                      <p:cBhvr>
                                        <p:cTn id="21" dur="500"/>
                                        <p:tgtEl>
                                          <p:spTgt spid="10"/>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11"/>
                                        </p:tgtEl>
                                        <p:attrNameLst>
                                          <p:attrName>style.visibility</p:attrName>
                                        </p:attrNameLst>
                                      </p:cBhvr>
                                      <p:to>
                                        <p:strVal val="visible"/>
                                      </p:to>
                                    </p:set>
                                    <p:animEffect transition="in" filter="fade">
                                      <p:cBhvr>
                                        <p:cTn id="24"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8" grpId="0"/>
      <p:bldP spid="9" grpId="0"/>
      <p:bldP spid="10" grpId="0"/>
      <p:bldP spid="11" grpId="0"/>
      <p:bldP spid="12"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5B3B7911-4429-5620-651D-8CF02A22EE52}"/>
              </a:ext>
            </a:extLst>
          </p:cNvPr>
          <p:cNvSpPr>
            <a:spLocks noGrp="1"/>
          </p:cNvSpPr>
          <p:nvPr>
            <p:ph type="sldNum" sz="quarter" idx="12"/>
          </p:nvPr>
        </p:nvSpPr>
        <p:spPr>
          <a:xfrm>
            <a:off x="8610601" y="6258922"/>
            <a:ext cx="2743200" cy="250380"/>
          </a:xfrm>
        </p:spPr>
        <p:txBody>
          <a:bodyPr/>
          <a:lstStyle/>
          <a:p>
            <a:fld id="{3AFC719D-C4A7-4544-876E-D411D11AF6C9}" type="slidenum">
              <a:rPr lang="en-US" smtClean="0"/>
              <a:t>8</a:t>
            </a:fld>
            <a:endParaRPr lang="en-US" dirty="0"/>
          </a:p>
        </p:txBody>
      </p:sp>
      <p:graphicFrame>
        <p:nvGraphicFramePr>
          <p:cNvPr id="8" name="Table 7">
            <a:extLst>
              <a:ext uri="{FF2B5EF4-FFF2-40B4-BE49-F238E27FC236}">
                <a16:creationId xmlns:a16="http://schemas.microsoft.com/office/drawing/2014/main" id="{0074741D-2B9A-0122-543B-08154EC422A8}"/>
              </a:ext>
            </a:extLst>
          </p:cNvPr>
          <p:cNvGraphicFramePr>
            <a:graphicFrameLocks noGrp="1"/>
          </p:cNvGraphicFramePr>
          <p:nvPr>
            <p:extLst>
              <p:ext uri="{D42A27DB-BD31-4B8C-83A1-F6EECF244321}">
                <p14:modId xmlns:p14="http://schemas.microsoft.com/office/powerpoint/2010/main" val="2606549359"/>
              </p:ext>
            </p:extLst>
          </p:nvPr>
        </p:nvGraphicFramePr>
        <p:xfrm>
          <a:off x="8710838" y="338214"/>
          <a:ext cx="3228870" cy="5755496"/>
        </p:xfrm>
        <a:graphic>
          <a:graphicData uri="http://schemas.openxmlformats.org/drawingml/2006/table">
            <a:tbl>
              <a:tblPr/>
              <a:tblGrid>
                <a:gridCol w="1076290">
                  <a:extLst>
                    <a:ext uri="{9D8B030D-6E8A-4147-A177-3AD203B41FA5}">
                      <a16:colId xmlns:a16="http://schemas.microsoft.com/office/drawing/2014/main" val="747333909"/>
                    </a:ext>
                  </a:extLst>
                </a:gridCol>
                <a:gridCol w="1076290">
                  <a:extLst>
                    <a:ext uri="{9D8B030D-6E8A-4147-A177-3AD203B41FA5}">
                      <a16:colId xmlns:a16="http://schemas.microsoft.com/office/drawing/2014/main" val="3421697369"/>
                    </a:ext>
                  </a:extLst>
                </a:gridCol>
                <a:gridCol w="1076290">
                  <a:extLst>
                    <a:ext uri="{9D8B030D-6E8A-4147-A177-3AD203B41FA5}">
                      <a16:colId xmlns:a16="http://schemas.microsoft.com/office/drawing/2014/main" val="1427849391"/>
                    </a:ext>
                  </a:extLst>
                </a:gridCol>
              </a:tblGrid>
              <a:tr h="604396">
                <a:tc>
                  <a:txBody>
                    <a:bodyPr/>
                    <a:lstStyle/>
                    <a:p>
                      <a:pPr marL="0" marR="0" algn="ctr">
                        <a:lnSpc>
                          <a:spcPct val="100000"/>
                        </a:lnSpc>
                        <a:spcBef>
                          <a:spcPts val="0"/>
                        </a:spcBef>
                        <a:spcAft>
                          <a:spcPts val="0"/>
                        </a:spcAft>
                        <a:buNone/>
                      </a:pPr>
                      <a:r>
                        <a:rPr sz="1100" b="1" i="0" u="none" cap="none" dirty="0">
                          <a:solidFill>
                            <a:srgbClr val="000000">
                              <a:alpha val="100000"/>
                            </a:srgbClr>
                          </a:solidFill>
                          <a:latin typeface="Arial"/>
                          <a:cs typeface="Arial"/>
                          <a:sym typeface="Arial"/>
                        </a:rPr>
                        <a:t>Year</a:t>
                      </a:r>
                    </a:p>
                  </a:txBody>
                  <a:tcPr marL="0" marR="0" marT="0" marB="0" anchor="ctr">
                    <a:lnL w="12700" cap="flat" cmpd="sng" algn="ctr">
                      <a:solidFill>
                        <a:schemeClr val="tx1"/>
                      </a:solidFill>
                      <a:prstDash val="solid"/>
                      <a:round/>
                      <a:headEnd type="none" w="med" len="med"/>
                      <a:tailEnd type="none" w="med" len="med"/>
                    </a:lnL>
                    <a:lnR w="0" cap="flat" cmpd="sng" algn="ctr">
                      <a:noFill/>
                      <a:prstDash val="solid"/>
                    </a:lnR>
                    <a:lnT w="12700" cap="flat" cmpd="sng" algn="ctr">
                      <a:solidFill>
                        <a:schemeClr val="tx1"/>
                      </a:solidFill>
                      <a:prstDash val="solid"/>
                      <a:round/>
                      <a:headEnd type="none" w="med" len="med"/>
                      <a:tailEnd type="none" w="med" len="med"/>
                    </a:lnT>
                    <a:lnB w="25400" cap="flat" cmpd="sng" algn="ctr">
                      <a:solidFill>
                        <a:srgbClr val="000000"/>
                      </a:solidFill>
                      <a:prstDash val="solid"/>
                      <a:round/>
                      <a:headEnd type="none" w="med" len="med"/>
                      <a:tailEnd type="none" w="med" len="med"/>
                    </a:lnB>
                    <a:solidFill>
                      <a:srgbClr val="F2F2F2">
                        <a:alpha val="100000"/>
                      </a:srgbClr>
                    </a:solidFill>
                  </a:tcPr>
                </a:tc>
                <a:tc>
                  <a:txBody>
                    <a:bodyPr/>
                    <a:lstStyle/>
                    <a:p>
                      <a:pPr marL="0" marR="0" algn="ctr">
                        <a:lnSpc>
                          <a:spcPct val="100000"/>
                        </a:lnSpc>
                        <a:spcBef>
                          <a:spcPts val="0"/>
                        </a:spcBef>
                        <a:spcAft>
                          <a:spcPts val="0"/>
                        </a:spcAft>
                        <a:buNone/>
                      </a:pPr>
                      <a:r>
                        <a:rPr lang="en-US" sz="1100" b="1" i="0" u="none" cap="none" dirty="0">
                          <a:solidFill>
                            <a:srgbClr val="000000">
                              <a:alpha val="100000"/>
                            </a:srgbClr>
                          </a:solidFill>
                          <a:latin typeface="Arial"/>
                          <a:cs typeface="Arial"/>
                          <a:sym typeface="Arial"/>
                        </a:rPr>
                        <a:t>Target</a:t>
                      </a:r>
                    </a:p>
                    <a:p>
                      <a:pPr marL="0" marR="0" algn="ctr">
                        <a:lnSpc>
                          <a:spcPct val="100000"/>
                        </a:lnSpc>
                        <a:spcBef>
                          <a:spcPts val="0"/>
                        </a:spcBef>
                        <a:spcAft>
                          <a:spcPts val="0"/>
                        </a:spcAft>
                        <a:buNone/>
                      </a:pPr>
                      <a:r>
                        <a:rPr sz="1100" b="1" i="0" u="none" cap="none" dirty="0">
                          <a:solidFill>
                            <a:srgbClr val="000000">
                              <a:alpha val="100000"/>
                            </a:srgbClr>
                          </a:solidFill>
                          <a:latin typeface="Arial"/>
                          <a:cs typeface="Arial"/>
                          <a:sym typeface="Arial"/>
                        </a:rPr>
                        <a:t>Employees</a:t>
                      </a:r>
                    </a:p>
                  </a:txBody>
                  <a:tcPr marL="0" marR="0" marT="0" marB="0" anchor="ctr">
                    <a:lnL w="0" cap="flat" cmpd="sng" algn="ctr">
                      <a:noFill/>
                      <a:prstDash val="solid"/>
                    </a:lnL>
                    <a:lnR w="0" cap="flat" cmpd="sng" algn="ctr">
                      <a:noFill/>
                      <a:prstDash val="solid"/>
                    </a:lnR>
                    <a:lnT w="12700" cap="flat" cmpd="sng" algn="ctr">
                      <a:solidFill>
                        <a:schemeClr val="tx1"/>
                      </a:solidFill>
                      <a:prstDash val="solid"/>
                      <a:round/>
                      <a:headEnd type="none" w="med" len="med"/>
                      <a:tailEnd type="none" w="med" len="med"/>
                    </a:lnT>
                    <a:lnB w="25400" cap="flat" cmpd="sng" algn="ctr">
                      <a:solidFill>
                        <a:srgbClr val="000000"/>
                      </a:solidFill>
                      <a:prstDash val="solid"/>
                      <a:round/>
                      <a:headEnd type="none" w="med" len="med"/>
                      <a:tailEnd type="none" w="med" len="med"/>
                    </a:lnB>
                    <a:solidFill>
                      <a:srgbClr val="F2F2F2">
                        <a:alpha val="100000"/>
                      </a:srgbClr>
                    </a:solidFill>
                  </a:tcPr>
                </a:tc>
                <a:tc>
                  <a:txBody>
                    <a:bodyPr/>
                    <a:lstStyle/>
                    <a:p>
                      <a:pPr marL="0" marR="0" algn="ctr">
                        <a:lnSpc>
                          <a:spcPct val="100000"/>
                        </a:lnSpc>
                        <a:spcBef>
                          <a:spcPts val="0"/>
                        </a:spcBef>
                        <a:spcAft>
                          <a:spcPts val="0"/>
                        </a:spcAft>
                        <a:buNone/>
                      </a:pPr>
                      <a:r>
                        <a:rPr lang="en-US" sz="1100" b="1" i="0" u="none" cap="none" dirty="0">
                          <a:solidFill>
                            <a:srgbClr val="000000">
                              <a:alpha val="100000"/>
                            </a:srgbClr>
                          </a:solidFill>
                          <a:latin typeface="Arial"/>
                          <a:cs typeface="Arial"/>
                          <a:sym typeface="Arial"/>
                        </a:rPr>
                        <a:t>Target</a:t>
                      </a:r>
                    </a:p>
                    <a:p>
                      <a:pPr marL="0" marR="0" algn="ctr">
                        <a:lnSpc>
                          <a:spcPct val="100000"/>
                        </a:lnSpc>
                        <a:spcBef>
                          <a:spcPts val="0"/>
                        </a:spcBef>
                        <a:spcAft>
                          <a:spcPts val="0"/>
                        </a:spcAft>
                        <a:buNone/>
                      </a:pPr>
                      <a:r>
                        <a:rPr sz="1100" b="1" i="0" u="none" cap="none" dirty="0">
                          <a:solidFill>
                            <a:srgbClr val="000000">
                              <a:alpha val="100000"/>
                            </a:srgbClr>
                          </a:solidFill>
                          <a:latin typeface="Arial"/>
                          <a:cs typeface="Arial"/>
                          <a:sym typeface="Arial"/>
                        </a:rPr>
                        <a:t>Members</a:t>
                      </a:r>
                    </a:p>
                  </a:txBody>
                  <a:tcPr marL="0" marR="0" marT="0" marB="0" anchor="ctr">
                    <a:lnL w="0" cap="flat" cmpd="sng" algn="ctr">
                      <a:noFill/>
                      <a:prstDash val="soli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5400" cap="flat" cmpd="sng" algn="ctr">
                      <a:solidFill>
                        <a:srgbClr val="000000"/>
                      </a:solidFill>
                      <a:prstDash val="solid"/>
                      <a:round/>
                      <a:headEnd type="none" w="med" len="med"/>
                      <a:tailEnd type="none" w="med" len="med"/>
                    </a:lnB>
                    <a:solidFill>
                      <a:srgbClr val="F2F2F2">
                        <a:alpha val="100000"/>
                      </a:srgbClr>
                    </a:solidFill>
                  </a:tcPr>
                </a:tc>
                <a:extLst>
                  <a:ext uri="{0D108BD9-81ED-4DB2-BD59-A6C34878D82A}">
                    <a16:rowId xmlns:a16="http://schemas.microsoft.com/office/drawing/2014/main" val="2737570731"/>
                  </a:ext>
                </a:extLst>
              </a:tr>
              <a:tr h="206044">
                <a:tc>
                  <a:txBody>
                    <a:bodyPr/>
                    <a:lstStyle/>
                    <a:p>
                      <a:pPr marL="0" marR="0" algn="ctr">
                        <a:lnSpc>
                          <a:spcPct val="100000"/>
                        </a:lnSpc>
                        <a:spcBef>
                          <a:spcPts val="0"/>
                        </a:spcBef>
                        <a:spcAft>
                          <a:spcPts val="0"/>
                        </a:spcAft>
                        <a:buNone/>
                      </a:pPr>
                      <a:r>
                        <a:rPr sz="1100" b="1" i="0" u="none" cap="none" dirty="0">
                          <a:solidFill>
                            <a:srgbClr val="000000">
                              <a:alpha val="100000"/>
                            </a:srgbClr>
                          </a:solidFill>
                          <a:latin typeface="Arial"/>
                          <a:cs typeface="Arial"/>
                          <a:sym typeface="Arial"/>
                        </a:rPr>
                        <a:t>1</a:t>
                      </a:r>
                    </a:p>
                  </a:txBody>
                  <a:tcPr marL="0" marR="0" marT="0" marB="0" anchor="ctr">
                    <a:lnL w="12700" cap="flat" cmpd="sng" algn="ctr">
                      <a:solidFill>
                        <a:schemeClr val="tx1"/>
                      </a:solidFill>
                      <a:prstDash val="solid"/>
                      <a:round/>
                      <a:headEnd type="none" w="med" len="med"/>
                      <a:tailEnd type="none" w="med" len="med"/>
                    </a:lnL>
                    <a:lnR w="0" cap="flat" cmpd="sng" algn="ctr">
                      <a:no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500</a:t>
                      </a:r>
                    </a:p>
                  </a:txBody>
                  <a:tcPr marL="0" marR="0" marT="0" marB="0" anchor="ctr">
                    <a:lnL w="0" cap="flat" cmpd="sng" algn="ctr">
                      <a:noFill/>
                      <a:prstDash val="solid"/>
                    </a:lnL>
                    <a:lnR w="0" cap="flat" cmpd="sng" algn="ctr">
                      <a:no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lang="en-US" sz="1100" b="0" i="0" u="none" cap="none" dirty="0">
                          <a:solidFill>
                            <a:srgbClr val="000000">
                              <a:alpha val="100000"/>
                            </a:srgbClr>
                          </a:solidFill>
                          <a:latin typeface="Arial"/>
                          <a:cs typeface="Arial"/>
                          <a:sym typeface="Arial"/>
                        </a:rPr>
                        <a:t>1,0</a:t>
                      </a:r>
                      <a:r>
                        <a:rPr sz="1100" b="0" i="0" u="none" cap="none" dirty="0">
                          <a:solidFill>
                            <a:srgbClr val="000000">
                              <a:alpha val="100000"/>
                            </a:srgbClr>
                          </a:solidFill>
                          <a:latin typeface="Arial"/>
                          <a:cs typeface="Arial"/>
                          <a:sym typeface="Arial"/>
                        </a:rPr>
                        <a:t>00</a:t>
                      </a:r>
                    </a:p>
                  </a:txBody>
                  <a:tcPr marL="0" marR="0" marT="0" marB="0" anchor="ctr">
                    <a:lnL w="0" cap="flat" cmpd="sng" algn="ctr">
                      <a:noFill/>
                      <a:prstDash val="solid"/>
                    </a:lnL>
                    <a:lnR w="12700" cap="flat" cmpd="sng" algn="ctr">
                      <a:solidFill>
                        <a:schemeClr val="tx1"/>
                      </a:solidFill>
                      <a:prstDash val="solid"/>
                      <a:round/>
                      <a:headEnd type="none" w="med" len="med"/>
                      <a:tailEnd type="none" w="med" len="me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2580220669"/>
                  </a:ext>
                </a:extLst>
              </a:tr>
              <a:tr h="206044">
                <a:tc>
                  <a:txBody>
                    <a:bodyPr/>
                    <a:lstStyle/>
                    <a:p>
                      <a:pPr marL="0" marR="0" algn="ctr">
                        <a:lnSpc>
                          <a:spcPct val="100000"/>
                        </a:lnSpc>
                        <a:spcBef>
                          <a:spcPts val="0"/>
                        </a:spcBef>
                        <a:spcAft>
                          <a:spcPts val="0"/>
                        </a:spcAft>
                        <a:buNone/>
                      </a:pPr>
                      <a:r>
                        <a:rPr sz="1100" b="1" i="0" u="none" cap="none" dirty="0">
                          <a:solidFill>
                            <a:srgbClr val="000000">
                              <a:alpha val="100000"/>
                            </a:srgbClr>
                          </a:solidFill>
                          <a:latin typeface="Arial"/>
                          <a:cs typeface="Arial"/>
                          <a:sym typeface="Arial"/>
                        </a:rPr>
                        <a:t>2</a:t>
                      </a:r>
                    </a:p>
                  </a:txBody>
                  <a:tcPr marL="0" marR="0" marT="0" marB="0" anchor="ctr">
                    <a:lnL w="12700" cap="flat" cmpd="sng" algn="ctr">
                      <a:solidFill>
                        <a:schemeClr val="tx1"/>
                      </a:solidFill>
                      <a:prstDash val="solid"/>
                      <a:round/>
                      <a:headEnd type="none" w="med" len="med"/>
                      <a:tailEnd type="none" w="med" len="me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1,100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2,000</a:t>
                      </a:r>
                    </a:p>
                  </a:txBody>
                  <a:tcPr marL="0" marR="0" marT="0" marB="0" anchor="ctr">
                    <a:lnL w="0" cap="flat" cmpd="sng" algn="ctr">
                      <a:noFill/>
                      <a:prstDash val="solid"/>
                    </a:lnL>
                    <a:lnR w="12700" cap="flat" cmpd="sng" algn="ctr">
                      <a:solidFill>
                        <a:schemeClr val="tx1"/>
                      </a:solidFill>
                      <a:prstDash val="solid"/>
                      <a:round/>
                      <a:headEnd type="none" w="med" len="med"/>
                      <a:tailEnd type="none" w="med" len="me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2430363122"/>
                  </a:ext>
                </a:extLst>
              </a:tr>
              <a:tr h="206044">
                <a:tc>
                  <a:txBody>
                    <a:bodyPr/>
                    <a:lstStyle/>
                    <a:p>
                      <a:pPr marL="0" marR="0" algn="ctr">
                        <a:lnSpc>
                          <a:spcPct val="100000"/>
                        </a:lnSpc>
                        <a:spcBef>
                          <a:spcPts val="0"/>
                        </a:spcBef>
                        <a:spcAft>
                          <a:spcPts val="0"/>
                        </a:spcAft>
                        <a:buNone/>
                      </a:pPr>
                      <a:r>
                        <a:rPr sz="1100" b="1" i="0" u="none" cap="none">
                          <a:solidFill>
                            <a:srgbClr val="000000">
                              <a:alpha val="100000"/>
                            </a:srgbClr>
                          </a:solidFill>
                          <a:latin typeface="Arial"/>
                          <a:cs typeface="Arial"/>
                          <a:sym typeface="Arial"/>
                        </a:rPr>
                        <a:t>3</a:t>
                      </a:r>
                    </a:p>
                  </a:txBody>
                  <a:tcPr marL="0" marR="0" marT="0" marB="0" anchor="ctr">
                    <a:lnL w="12700" cap="flat" cmpd="sng" algn="ctr">
                      <a:solidFill>
                        <a:schemeClr val="tx1"/>
                      </a:solidFill>
                      <a:prstDash val="solid"/>
                      <a:round/>
                      <a:headEnd type="none" w="med" len="med"/>
                      <a:tailEnd type="none" w="med" len="me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dirty="0">
                          <a:solidFill>
                            <a:srgbClr val="000000">
                              <a:alpha val="100000"/>
                            </a:srgbClr>
                          </a:solidFill>
                          <a:latin typeface="Arial"/>
                          <a:cs typeface="Arial"/>
                          <a:sym typeface="Arial"/>
                        </a:rPr>
                        <a:t>1,800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3,200</a:t>
                      </a:r>
                    </a:p>
                  </a:txBody>
                  <a:tcPr marL="0" marR="0" marT="0" marB="0" anchor="ctr">
                    <a:lnL w="0" cap="flat" cmpd="sng" algn="ctr">
                      <a:noFill/>
                      <a:prstDash val="solid"/>
                    </a:lnL>
                    <a:lnR w="12700" cap="flat" cmpd="sng" algn="ctr">
                      <a:solidFill>
                        <a:schemeClr val="tx1"/>
                      </a:solidFill>
                      <a:prstDash val="solid"/>
                      <a:round/>
                      <a:headEnd type="none" w="med" len="med"/>
                      <a:tailEnd type="none" w="med" len="me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2731343589"/>
                  </a:ext>
                </a:extLst>
              </a:tr>
              <a:tr h="206044">
                <a:tc>
                  <a:txBody>
                    <a:bodyPr/>
                    <a:lstStyle/>
                    <a:p>
                      <a:pPr marL="0" marR="0" algn="ctr">
                        <a:lnSpc>
                          <a:spcPct val="100000"/>
                        </a:lnSpc>
                        <a:spcBef>
                          <a:spcPts val="0"/>
                        </a:spcBef>
                        <a:spcAft>
                          <a:spcPts val="0"/>
                        </a:spcAft>
                        <a:buNone/>
                      </a:pPr>
                      <a:r>
                        <a:rPr sz="1100" b="1" i="0" u="none" cap="none">
                          <a:solidFill>
                            <a:srgbClr val="000000">
                              <a:alpha val="100000"/>
                            </a:srgbClr>
                          </a:solidFill>
                          <a:latin typeface="Arial"/>
                          <a:cs typeface="Arial"/>
                          <a:sym typeface="Arial"/>
                        </a:rPr>
                        <a:t>4</a:t>
                      </a:r>
                    </a:p>
                  </a:txBody>
                  <a:tcPr marL="0" marR="0" marT="0" marB="0" anchor="ctr">
                    <a:lnL w="12700" cap="flat" cmpd="sng" algn="ctr">
                      <a:solidFill>
                        <a:schemeClr val="tx1"/>
                      </a:solidFill>
                      <a:prstDash val="solid"/>
                      <a:round/>
                      <a:headEnd type="none" w="med" len="med"/>
                      <a:tailEnd type="none" w="med" len="me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dirty="0">
                          <a:solidFill>
                            <a:srgbClr val="000000">
                              <a:alpha val="100000"/>
                            </a:srgbClr>
                          </a:solidFill>
                          <a:latin typeface="Arial"/>
                          <a:cs typeface="Arial"/>
                          <a:sym typeface="Arial"/>
                        </a:rPr>
                        <a:t>2,800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5,000</a:t>
                      </a:r>
                    </a:p>
                  </a:txBody>
                  <a:tcPr marL="0" marR="0" marT="0" marB="0" anchor="ctr">
                    <a:lnL w="0" cap="flat" cmpd="sng" algn="ctr">
                      <a:noFill/>
                      <a:prstDash val="solid"/>
                    </a:lnL>
                    <a:lnR w="12700" cap="flat" cmpd="sng" algn="ctr">
                      <a:solidFill>
                        <a:schemeClr val="tx1"/>
                      </a:solidFill>
                      <a:prstDash val="solid"/>
                      <a:round/>
                      <a:headEnd type="none" w="med" len="med"/>
                      <a:tailEnd type="none" w="med" len="me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3796413393"/>
                  </a:ext>
                </a:extLst>
              </a:tr>
              <a:tr h="206044">
                <a:tc>
                  <a:txBody>
                    <a:bodyPr/>
                    <a:lstStyle/>
                    <a:p>
                      <a:pPr marL="0" marR="0" algn="ctr">
                        <a:lnSpc>
                          <a:spcPct val="100000"/>
                        </a:lnSpc>
                        <a:spcBef>
                          <a:spcPts val="0"/>
                        </a:spcBef>
                        <a:spcAft>
                          <a:spcPts val="0"/>
                        </a:spcAft>
                        <a:buNone/>
                      </a:pPr>
                      <a:r>
                        <a:rPr sz="1100" b="1" i="0" u="none" cap="none">
                          <a:solidFill>
                            <a:srgbClr val="000000">
                              <a:alpha val="100000"/>
                            </a:srgbClr>
                          </a:solidFill>
                          <a:latin typeface="Arial"/>
                          <a:cs typeface="Arial"/>
                          <a:sym typeface="Arial"/>
                        </a:rPr>
                        <a:t>5</a:t>
                      </a:r>
                    </a:p>
                  </a:txBody>
                  <a:tcPr marL="0" marR="0" marT="0" marB="0" anchor="ctr">
                    <a:lnL w="12700" cap="flat" cmpd="sng" algn="ctr">
                      <a:solidFill>
                        <a:schemeClr val="tx1"/>
                      </a:solidFill>
                      <a:prstDash val="solid"/>
                      <a:round/>
                      <a:headEnd type="none" w="med" len="med"/>
                      <a:tailEnd type="none" w="med" len="me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dirty="0">
                          <a:solidFill>
                            <a:srgbClr val="000000">
                              <a:alpha val="100000"/>
                            </a:srgbClr>
                          </a:solidFill>
                          <a:latin typeface="Arial"/>
                          <a:cs typeface="Arial"/>
                          <a:sym typeface="Arial"/>
                        </a:rPr>
                        <a:t>4,100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7,400</a:t>
                      </a:r>
                    </a:p>
                  </a:txBody>
                  <a:tcPr marL="0" marR="0" marT="0" marB="0" anchor="ctr">
                    <a:lnL w="0" cap="flat" cmpd="sng" algn="ctr">
                      <a:noFill/>
                      <a:prstDash val="solid"/>
                    </a:lnL>
                    <a:lnR w="12700" cap="flat" cmpd="sng" algn="ctr">
                      <a:solidFill>
                        <a:schemeClr val="tx1"/>
                      </a:solidFill>
                      <a:prstDash val="solid"/>
                      <a:round/>
                      <a:headEnd type="none" w="med" len="med"/>
                      <a:tailEnd type="none" w="med" len="me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3685085520"/>
                  </a:ext>
                </a:extLst>
              </a:tr>
              <a:tr h="206044">
                <a:tc>
                  <a:txBody>
                    <a:bodyPr/>
                    <a:lstStyle/>
                    <a:p>
                      <a:pPr marL="0" marR="0" algn="ctr">
                        <a:lnSpc>
                          <a:spcPct val="100000"/>
                        </a:lnSpc>
                        <a:spcBef>
                          <a:spcPts val="0"/>
                        </a:spcBef>
                        <a:spcAft>
                          <a:spcPts val="0"/>
                        </a:spcAft>
                        <a:buNone/>
                      </a:pPr>
                      <a:r>
                        <a:rPr sz="1100" b="1" i="0" u="none" cap="none">
                          <a:solidFill>
                            <a:srgbClr val="000000">
                              <a:alpha val="100000"/>
                            </a:srgbClr>
                          </a:solidFill>
                          <a:latin typeface="Arial"/>
                          <a:cs typeface="Arial"/>
                          <a:sym typeface="Arial"/>
                        </a:rPr>
                        <a:t>6</a:t>
                      </a:r>
                    </a:p>
                  </a:txBody>
                  <a:tcPr marL="0" marR="0" marT="0" marB="0" anchor="ctr">
                    <a:lnL w="12700" cap="flat" cmpd="sng" algn="ctr">
                      <a:solidFill>
                        <a:schemeClr val="tx1"/>
                      </a:solidFill>
                      <a:prstDash val="solid"/>
                      <a:round/>
                      <a:headEnd type="none" w="med" len="med"/>
                      <a:tailEnd type="none" w="med" len="me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dirty="0">
                          <a:solidFill>
                            <a:srgbClr val="000000">
                              <a:alpha val="100000"/>
                            </a:srgbClr>
                          </a:solidFill>
                          <a:latin typeface="Arial"/>
                          <a:cs typeface="Arial"/>
                          <a:sym typeface="Arial"/>
                        </a:rPr>
                        <a:t>5,700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10,300</a:t>
                      </a:r>
                    </a:p>
                  </a:txBody>
                  <a:tcPr marL="0" marR="0" marT="0" marB="0" anchor="ctr">
                    <a:lnL w="0" cap="flat" cmpd="sng" algn="ctr">
                      <a:noFill/>
                      <a:prstDash val="solid"/>
                    </a:lnL>
                    <a:lnR w="12700" cap="flat" cmpd="sng" algn="ctr">
                      <a:solidFill>
                        <a:schemeClr val="tx1"/>
                      </a:solidFill>
                      <a:prstDash val="solid"/>
                      <a:round/>
                      <a:headEnd type="none" w="med" len="med"/>
                      <a:tailEnd type="none" w="med" len="me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3647458886"/>
                  </a:ext>
                </a:extLst>
              </a:tr>
              <a:tr h="206044">
                <a:tc>
                  <a:txBody>
                    <a:bodyPr/>
                    <a:lstStyle/>
                    <a:p>
                      <a:pPr marL="0" marR="0" algn="ctr">
                        <a:lnSpc>
                          <a:spcPct val="100000"/>
                        </a:lnSpc>
                        <a:spcBef>
                          <a:spcPts val="0"/>
                        </a:spcBef>
                        <a:spcAft>
                          <a:spcPts val="0"/>
                        </a:spcAft>
                        <a:buNone/>
                      </a:pPr>
                      <a:r>
                        <a:rPr sz="1100" b="1" i="0" u="none" cap="none">
                          <a:solidFill>
                            <a:srgbClr val="000000">
                              <a:alpha val="100000"/>
                            </a:srgbClr>
                          </a:solidFill>
                          <a:latin typeface="Arial"/>
                          <a:cs typeface="Arial"/>
                          <a:sym typeface="Arial"/>
                        </a:rPr>
                        <a:t>7</a:t>
                      </a:r>
                    </a:p>
                  </a:txBody>
                  <a:tcPr marL="0" marR="0" marT="0" marB="0" anchor="ctr">
                    <a:lnL w="12700" cap="flat" cmpd="sng" algn="ctr">
                      <a:solidFill>
                        <a:schemeClr val="tx1"/>
                      </a:solidFill>
                      <a:prstDash val="solid"/>
                      <a:round/>
                      <a:headEnd type="none" w="med" len="med"/>
                      <a:tailEnd type="none" w="med" len="me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dirty="0">
                          <a:solidFill>
                            <a:srgbClr val="000000">
                              <a:alpha val="100000"/>
                            </a:srgbClr>
                          </a:solidFill>
                          <a:latin typeface="Arial"/>
                          <a:cs typeface="Arial"/>
                          <a:sym typeface="Arial"/>
                        </a:rPr>
                        <a:t>7,800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14,000</a:t>
                      </a:r>
                    </a:p>
                  </a:txBody>
                  <a:tcPr marL="0" marR="0" marT="0" marB="0" anchor="ctr">
                    <a:lnL w="0" cap="flat" cmpd="sng" algn="ctr">
                      <a:noFill/>
                      <a:prstDash val="solid"/>
                    </a:lnL>
                    <a:lnR w="12700" cap="flat" cmpd="sng" algn="ctr">
                      <a:solidFill>
                        <a:schemeClr val="tx1"/>
                      </a:solidFill>
                      <a:prstDash val="solid"/>
                      <a:round/>
                      <a:headEnd type="none" w="med" len="med"/>
                      <a:tailEnd type="none" w="med" len="me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417589541"/>
                  </a:ext>
                </a:extLst>
              </a:tr>
              <a:tr h="206044">
                <a:tc>
                  <a:txBody>
                    <a:bodyPr/>
                    <a:lstStyle/>
                    <a:p>
                      <a:pPr marL="0" marR="0" algn="ctr">
                        <a:lnSpc>
                          <a:spcPct val="100000"/>
                        </a:lnSpc>
                        <a:spcBef>
                          <a:spcPts val="0"/>
                        </a:spcBef>
                        <a:spcAft>
                          <a:spcPts val="0"/>
                        </a:spcAft>
                        <a:buNone/>
                      </a:pPr>
                      <a:r>
                        <a:rPr sz="1100" b="1" i="0" u="none" cap="none">
                          <a:solidFill>
                            <a:srgbClr val="000000">
                              <a:alpha val="100000"/>
                            </a:srgbClr>
                          </a:solidFill>
                          <a:latin typeface="Arial"/>
                          <a:cs typeface="Arial"/>
                          <a:sym typeface="Arial"/>
                        </a:rPr>
                        <a:t>8</a:t>
                      </a:r>
                    </a:p>
                  </a:txBody>
                  <a:tcPr marL="0" marR="0" marT="0" marB="0" anchor="ctr">
                    <a:lnL w="12700" cap="flat" cmpd="sng" algn="ctr">
                      <a:solidFill>
                        <a:schemeClr val="tx1"/>
                      </a:solidFill>
                      <a:prstDash val="solid"/>
                      <a:round/>
                      <a:headEnd type="none" w="med" len="med"/>
                      <a:tailEnd type="none" w="med" len="me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dirty="0">
                          <a:solidFill>
                            <a:srgbClr val="000000">
                              <a:alpha val="100000"/>
                            </a:srgbClr>
                          </a:solidFill>
                          <a:latin typeface="Arial"/>
                          <a:cs typeface="Arial"/>
                          <a:sym typeface="Arial"/>
                        </a:rPr>
                        <a:t>10,300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18,500</a:t>
                      </a:r>
                    </a:p>
                  </a:txBody>
                  <a:tcPr marL="0" marR="0" marT="0" marB="0" anchor="ctr">
                    <a:lnL w="0" cap="flat" cmpd="sng" algn="ctr">
                      <a:noFill/>
                      <a:prstDash val="solid"/>
                    </a:lnL>
                    <a:lnR w="12700" cap="flat" cmpd="sng" algn="ctr">
                      <a:solidFill>
                        <a:schemeClr val="tx1"/>
                      </a:solidFill>
                      <a:prstDash val="solid"/>
                      <a:round/>
                      <a:headEnd type="none" w="med" len="med"/>
                      <a:tailEnd type="none" w="med" len="me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386991442"/>
                  </a:ext>
                </a:extLst>
              </a:tr>
              <a:tr h="206044">
                <a:tc>
                  <a:txBody>
                    <a:bodyPr/>
                    <a:lstStyle/>
                    <a:p>
                      <a:pPr marL="0" marR="0" algn="ctr">
                        <a:lnSpc>
                          <a:spcPct val="100000"/>
                        </a:lnSpc>
                        <a:spcBef>
                          <a:spcPts val="0"/>
                        </a:spcBef>
                        <a:spcAft>
                          <a:spcPts val="0"/>
                        </a:spcAft>
                        <a:buNone/>
                      </a:pPr>
                      <a:r>
                        <a:rPr sz="1100" b="1" i="0" u="none" cap="none">
                          <a:solidFill>
                            <a:srgbClr val="000000">
                              <a:alpha val="100000"/>
                            </a:srgbClr>
                          </a:solidFill>
                          <a:latin typeface="Arial"/>
                          <a:cs typeface="Arial"/>
                          <a:sym typeface="Arial"/>
                        </a:rPr>
                        <a:t>9</a:t>
                      </a:r>
                    </a:p>
                  </a:txBody>
                  <a:tcPr marL="0" marR="0" marT="0" marB="0" anchor="ctr">
                    <a:lnL w="12700" cap="flat" cmpd="sng" algn="ctr">
                      <a:solidFill>
                        <a:schemeClr val="tx1"/>
                      </a:solidFill>
                      <a:prstDash val="solid"/>
                      <a:round/>
                      <a:headEnd type="none" w="med" len="med"/>
                      <a:tailEnd type="none" w="med" len="me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dirty="0">
                          <a:solidFill>
                            <a:srgbClr val="000000">
                              <a:alpha val="100000"/>
                            </a:srgbClr>
                          </a:solidFill>
                          <a:latin typeface="Arial"/>
                          <a:cs typeface="Arial"/>
                          <a:sym typeface="Arial"/>
                        </a:rPr>
                        <a:t>13,500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24,300</a:t>
                      </a:r>
                    </a:p>
                  </a:txBody>
                  <a:tcPr marL="0" marR="0" marT="0" marB="0" anchor="ctr">
                    <a:lnL w="0" cap="flat" cmpd="sng" algn="ctr">
                      <a:noFill/>
                      <a:prstDash val="solid"/>
                    </a:lnL>
                    <a:lnR w="12700" cap="flat" cmpd="sng" algn="ctr">
                      <a:solidFill>
                        <a:schemeClr val="tx1"/>
                      </a:solidFill>
                      <a:prstDash val="solid"/>
                      <a:round/>
                      <a:headEnd type="none" w="med" len="med"/>
                      <a:tailEnd type="none" w="med" len="me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932558393"/>
                  </a:ext>
                </a:extLst>
              </a:tr>
              <a:tr h="206044">
                <a:tc>
                  <a:txBody>
                    <a:bodyPr/>
                    <a:lstStyle/>
                    <a:p>
                      <a:pPr marL="0" marR="0" algn="ctr">
                        <a:lnSpc>
                          <a:spcPct val="100000"/>
                        </a:lnSpc>
                        <a:spcBef>
                          <a:spcPts val="0"/>
                        </a:spcBef>
                        <a:spcAft>
                          <a:spcPts val="0"/>
                        </a:spcAft>
                        <a:buNone/>
                      </a:pPr>
                      <a:r>
                        <a:rPr sz="1100" b="1" i="0" u="none" cap="none">
                          <a:solidFill>
                            <a:srgbClr val="000000">
                              <a:alpha val="100000"/>
                            </a:srgbClr>
                          </a:solidFill>
                          <a:latin typeface="Arial"/>
                          <a:cs typeface="Arial"/>
                          <a:sym typeface="Arial"/>
                        </a:rPr>
                        <a:t>10</a:t>
                      </a:r>
                    </a:p>
                  </a:txBody>
                  <a:tcPr marL="0" marR="0" marT="0" marB="0" anchor="ctr">
                    <a:lnL w="12700" cap="flat" cmpd="sng" algn="ctr">
                      <a:solidFill>
                        <a:schemeClr val="tx1"/>
                      </a:solidFill>
                      <a:prstDash val="solid"/>
                      <a:round/>
                      <a:headEnd type="none" w="med" len="med"/>
                      <a:tailEnd type="none" w="med" len="me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dirty="0">
                          <a:solidFill>
                            <a:srgbClr val="000000">
                              <a:alpha val="100000"/>
                            </a:srgbClr>
                          </a:solidFill>
                          <a:latin typeface="Arial"/>
                          <a:cs typeface="Arial"/>
                          <a:sym typeface="Arial"/>
                        </a:rPr>
                        <a:t>17,300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31,100</a:t>
                      </a:r>
                    </a:p>
                  </a:txBody>
                  <a:tcPr marL="0" marR="0" marT="0" marB="0" anchor="ctr">
                    <a:lnL w="0" cap="flat" cmpd="sng" algn="ctr">
                      <a:noFill/>
                      <a:prstDash val="solid"/>
                    </a:lnL>
                    <a:lnR w="12700" cap="flat" cmpd="sng" algn="ctr">
                      <a:solidFill>
                        <a:schemeClr val="tx1"/>
                      </a:solidFill>
                      <a:prstDash val="solid"/>
                      <a:round/>
                      <a:headEnd type="none" w="med" len="med"/>
                      <a:tailEnd type="none" w="med" len="me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469837802"/>
                  </a:ext>
                </a:extLst>
              </a:tr>
              <a:tr h="206044">
                <a:tc>
                  <a:txBody>
                    <a:bodyPr/>
                    <a:lstStyle/>
                    <a:p>
                      <a:pPr marL="0" marR="0" algn="ctr">
                        <a:lnSpc>
                          <a:spcPct val="100000"/>
                        </a:lnSpc>
                        <a:spcBef>
                          <a:spcPts val="0"/>
                        </a:spcBef>
                        <a:spcAft>
                          <a:spcPts val="0"/>
                        </a:spcAft>
                        <a:buNone/>
                      </a:pPr>
                      <a:r>
                        <a:rPr sz="1100" b="1" i="0" u="none" cap="none">
                          <a:solidFill>
                            <a:srgbClr val="000000">
                              <a:alpha val="100000"/>
                            </a:srgbClr>
                          </a:solidFill>
                          <a:latin typeface="Arial"/>
                          <a:cs typeface="Arial"/>
                          <a:sym typeface="Arial"/>
                        </a:rPr>
                        <a:t>11</a:t>
                      </a:r>
                    </a:p>
                  </a:txBody>
                  <a:tcPr marL="0" marR="0" marT="0" marB="0" anchor="ctr">
                    <a:lnL w="12700" cap="flat" cmpd="sng" algn="ctr">
                      <a:solidFill>
                        <a:schemeClr val="tx1"/>
                      </a:solidFill>
                      <a:prstDash val="solid"/>
                      <a:round/>
                      <a:headEnd type="none" w="med" len="med"/>
                      <a:tailEnd type="none" w="med" len="me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dirty="0">
                          <a:solidFill>
                            <a:srgbClr val="000000">
                              <a:alpha val="100000"/>
                            </a:srgbClr>
                          </a:solidFill>
                          <a:latin typeface="Arial"/>
                          <a:cs typeface="Arial"/>
                          <a:sym typeface="Arial"/>
                        </a:rPr>
                        <a:t>21,600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38,900</a:t>
                      </a:r>
                    </a:p>
                  </a:txBody>
                  <a:tcPr marL="0" marR="0" marT="0" marB="0" anchor="ctr">
                    <a:lnL w="0" cap="flat" cmpd="sng" algn="ctr">
                      <a:noFill/>
                      <a:prstDash val="solid"/>
                    </a:lnL>
                    <a:lnR w="12700" cap="flat" cmpd="sng" algn="ctr">
                      <a:solidFill>
                        <a:schemeClr val="tx1"/>
                      </a:solidFill>
                      <a:prstDash val="solid"/>
                      <a:round/>
                      <a:headEnd type="none" w="med" len="med"/>
                      <a:tailEnd type="none" w="med" len="me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2675900602"/>
                  </a:ext>
                </a:extLst>
              </a:tr>
              <a:tr h="206044">
                <a:tc>
                  <a:txBody>
                    <a:bodyPr/>
                    <a:lstStyle/>
                    <a:p>
                      <a:pPr marL="0" marR="0" algn="ctr">
                        <a:lnSpc>
                          <a:spcPct val="100000"/>
                        </a:lnSpc>
                        <a:spcBef>
                          <a:spcPts val="0"/>
                        </a:spcBef>
                        <a:spcAft>
                          <a:spcPts val="0"/>
                        </a:spcAft>
                        <a:buNone/>
                      </a:pPr>
                      <a:r>
                        <a:rPr sz="1100" b="1" i="0" u="none" cap="none">
                          <a:solidFill>
                            <a:srgbClr val="000000">
                              <a:alpha val="100000"/>
                            </a:srgbClr>
                          </a:solidFill>
                          <a:latin typeface="Arial"/>
                          <a:cs typeface="Arial"/>
                          <a:sym typeface="Arial"/>
                        </a:rPr>
                        <a:t>12</a:t>
                      </a:r>
                    </a:p>
                  </a:txBody>
                  <a:tcPr marL="0" marR="0" marT="0" marB="0" anchor="ctr">
                    <a:lnL w="12700" cap="flat" cmpd="sng" algn="ctr">
                      <a:solidFill>
                        <a:schemeClr val="tx1"/>
                      </a:solidFill>
                      <a:prstDash val="solid"/>
                      <a:round/>
                      <a:headEnd type="none" w="med" len="med"/>
                      <a:tailEnd type="none" w="med" len="me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dirty="0">
                          <a:solidFill>
                            <a:srgbClr val="000000">
                              <a:alpha val="100000"/>
                            </a:srgbClr>
                          </a:solidFill>
                          <a:latin typeface="Arial"/>
                          <a:cs typeface="Arial"/>
                          <a:sym typeface="Arial"/>
                        </a:rPr>
                        <a:t>26,400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47,500</a:t>
                      </a:r>
                    </a:p>
                  </a:txBody>
                  <a:tcPr marL="0" marR="0" marT="0" marB="0" anchor="ctr">
                    <a:lnL w="0" cap="flat" cmpd="sng" algn="ctr">
                      <a:noFill/>
                      <a:prstDash val="solid"/>
                    </a:lnL>
                    <a:lnR w="12700" cap="flat" cmpd="sng" algn="ctr">
                      <a:solidFill>
                        <a:schemeClr val="tx1"/>
                      </a:solidFill>
                      <a:prstDash val="solid"/>
                      <a:round/>
                      <a:headEnd type="none" w="med" len="med"/>
                      <a:tailEnd type="none" w="med" len="me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4029062366"/>
                  </a:ext>
                </a:extLst>
              </a:tr>
              <a:tr h="206044">
                <a:tc>
                  <a:txBody>
                    <a:bodyPr/>
                    <a:lstStyle/>
                    <a:p>
                      <a:pPr marL="0" marR="0" algn="ctr">
                        <a:lnSpc>
                          <a:spcPct val="100000"/>
                        </a:lnSpc>
                        <a:spcBef>
                          <a:spcPts val="0"/>
                        </a:spcBef>
                        <a:spcAft>
                          <a:spcPts val="0"/>
                        </a:spcAft>
                        <a:buNone/>
                      </a:pPr>
                      <a:r>
                        <a:rPr sz="1100" b="1" i="0" u="none" cap="none">
                          <a:solidFill>
                            <a:srgbClr val="000000">
                              <a:alpha val="100000"/>
                            </a:srgbClr>
                          </a:solidFill>
                          <a:latin typeface="Arial"/>
                          <a:cs typeface="Arial"/>
                          <a:sym typeface="Arial"/>
                        </a:rPr>
                        <a:t>13</a:t>
                      </a:r>
                    </a:p>
                  </a:txBody>
                  <a:tcPr marL="0" marR="0" marT="0" marB="0" anchor="ctr">
                    <a:lnL w="12700" cap="flat" cmpd="sng" algn="ctr">
                      <a:solidFill>
                        <a:schemeClr val="tx1"/>
                      </a:solidFill>
                      <a:prstDash val="solid"/>
                      <a:round/>
                      <a:headEnd type="none" w="med" len="med"/>
                      <a:tailEnd type="none" w="med" len="me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31,400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56,500</a:t>
                      </a:r>
                    </a:p>
                  </a:txBody>
                  <a:tcPr marL="0" marR="0" marT="0" marB="0" anchor="ctr">
                    <a:lnL w="0" cap="flat" cmpd="sng" algn="ctr">
                      <a:noFill/>
                      <a:prstDash val="solid"/>
                    </a:lnL>
                    <a:lnR w="12700" cap="flat" cmpd="sng" algn="ctr">
                      <a:solidFill>
                        <a:schemeClr val="tx1"/>
                      </a:solidFill>
                      <a:prstDash val="solid"/>
                      <a:round/>
                      <a:headEnd type="none" w="med" len="med"/>
                      <a:tailEnd type="none" w="med" len="me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2657002496"/>
                  </a:ext>
                </a:extLst>
              </a:tr>
              <a:tr h="206044">
                <a:tc>
                  <a:txBody>
                    <a:bodyPr/>
                    <a:lstStyle/>
                    <a:p>
                      <a:pPr marL="0" marR="0" algn="ctr">
                        <a:lnSpc>
                          <a:spcPct val="100000"/>
                        </a:lnSpc>
                        <a:spcBef>
                          <a:spcPts val="0"/>
                        </a:spcBef>
                        <a:spcAft>
                          <a:spcPts val="0"/>
                        </a:spcAft>
                        <a:buNone/>
                      </a:pPr>
                      <a:r>
                        <a:rPr sz="1100" b="1" i="0" u="none" cap="none">
                          <a:solidFill>
                            <a:srgbClr val="000000">
                              <a:alpha val="100000"/>
                            </a:srgbClr>
                          </a:solidFill>
                          <a:latin typeface="Arial"/>
                          <a:cs typeface="Arial"/>
                          <a:sym typeface="Arial"/>
                        </a:rPr>
                        <a:t>14</a:t>
                      </a:r>
                    </a:p>
                  </a:txBody>
                  <a:tcPr marL="0" marR="0" marT="0" marB="0" anchor="ctr">
                    <a:lnL w="12700" cap="flat" cmpd="sng" algn="ctr">
                      <a:solidFill>
                        <a:schemeClr val="tx1"/>
                      </a:solidFill>
                      <a:prstDash val="solid"/>
                      <a:round/>
                      <a:headEnd type="none" w="med" len="med"/>
                      <a:tailEnd type="none" w="med" len="me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dirty="0">
                          <a:solidFill>
                            <a:srgbClr val="000000">
                              <a:alpha val="100000"/>
                            </a:srgbClr>
                          </a:solidFill>
                          <a:latin typeface="Arial"/>
                          <a:cs typeface="Arial"/>
                          <a:sym typeface="Arial"/>
                        </a:rPr>
                        <a:t>36,400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65,500</a:t>
                      </a:r>
                    </a:p>
                  </a:txBody>
                  <a:tcPr marL="0" marR="0" marT="0" marB="0" anchor="ctr">
                    <a:lnL w="0" cap="flat" cmpd="sng" algn="ctr">
                      <a:noFill/>
                      <a:prstDash val="solid"/>
                    </a:lnL>
                    <a:lnR w="12700" cap="flat" cmpd="sng" algn="ctr">
                      <a:solidFill>
                        <a:schemeClr val="tx1"/>
                      </a:solidFill>
                      <a:prstDash val="solid"/>
                      <a:round/>
                      <a:headEnd type="none" w="med" len="med"/>
                      <a:tailEnd type="none" w="med" len="me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618553573"/>
                  </a:ext>
                </a:extLst>
              </a:tr>
              <a:tr h="206044">
                <a:tc>
                  <a:txBody>
                    <a:bodyPr/>
                    <a:lstStyle/>
                    <a:p>
                      <a:pPr marL="0" marR="0" algn="ctr">
                        <a:lnSpc>
                          <a:spcPct val="100000"/>
                        </a:lnSpc>
                        <a:spcBef>
                          <a:spcPts val="0"/>
                        </a:spcBef>
                        <a:spcAft>
                          <a:spcPts val="0"/>
                        </a:spcAft>
                        <a:buNone/>
                      </a:pPr>
                      <a:r>
                        <a:rPr sz="1100" b="1" i="0" u="none" cap="none">
                          <a:solidFill>
                            <a:srgbClr val="000000">
                              <a:alpha val="100000"/>
                            </a:srgbClr>
                          </a:solidFill>
                          <a:latin typeface="Arial"/>
                          <a:cs typeface="Arial"/>
                          <a:sym typeface="Arial"/>
                        </a:rPr>
                        <a:t>15</a:t>
                      </a:r>
                    </a:p>
                  </a:txBody>
                  <a:tcPr marL="0" marR="0" marT="0" marB="0" anchor="ctr">
                    <a:lnL w="12700" cap="flat" cmpd="sng" algn="ctr">
                      <a:solidFill>
                        <a:schemeClr val="tx1"/>
                      </a:solidFill>
                      <a:prstDash val="solid"/>
                      <a:round/>
                      <a:headEnd type="none" w="med" len="med"/>
                      <a:tailEnd type="none" w="med" len="me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41,200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dirty="0">
                          <a:solidFill>
                            <a:srgbClr val="000000">
                              <a:alpha val="100000"/>
                            </a:srgbClr>
                          </a:solidFill>
                          <a:latin typeface="Arial"/>
                          <a:cs typeface="Arial"/>
                          <a:sym typeface="Arial"/>
                        </a:rPr>
                        <a:t>74,200</a:t>
                      </a:r>
                    </a:p>
                  </a:txBody>
                  <a:tcPr marL="0" marR="0" marT="0" marB="0" anchor="ctr">
                    <a:lnL w="0" cap="flat" cmpd="sng" algn="ctr">
                      <a:noFill/>
                      <a:prstDash val="solid"/>
                    </a:lnL>
                    <a:lnR w="12700" cap="flat" cmpd="sng" algn="ctr">
                      <a:solidFill>
                        <a:schemeClr val="tx1"/>
                      </a:solidFill>
                      <a:prstDash val="solid"/>
                      <a:round/>
                      <a:headEnd type="none" w="med" len="med"/>
                      <a:tailEnd type="none" w="med" len="me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383893595"/>
                  </a:ext>
                </a:extLst>
              </a:tr>
              <a:tr h="206044">
                <a:tc>
                  <a:txBody>
                    <a:bodyPr/>
                    <a:lstStyle/>
                    <a:p>
                      <a:pPr marL="0" marR="0" algn="ctr">
                        <a:lnSpc>
                          <a:spcPct val="100000"/>
                        </a:lnSpc>
                        <a:spcBef>
                          <a:spcPts val="0"/>
                        </a:spcBef>
                        <a:spcAft>
                          <a:spcPts val="0"/>
                        </a:spcAft>
                        <a:buNone/>
                      </a:pPr>
                      <a:r>
                        <a:rPr sz="1100" b="1" i="0" u="none" cap="none">
                          <a:solidFill>
                            <a:srgbClr val="000000">
                              <a:alpha val="100000"/>
                            </a:srgbClr>
                          </a:solidFill>
                          <a:latin typeface="Arial"/>
                          <a:cs typeface="Arial"/>
                          <a:sym typeface="Arial"/>
                        </a:rPr>
                        <a:t>16</a:t>
                      </a:r>
                    </a:p>
                  </a:txBody>
                  <a:tcPr marL="0" marR="0" marT="0" marB="0" anchor="ctr">
                    <a:lnL w="12700" cap="flat" cmpd="sng" algn="ctr">
                      <a:solidFill>
                        <a:schemeClr val="tx1"/>
                      </a:solidFill>
                      <a:prstDash val="solid"/>
                      <a:round/>
                      <a:headEnd type="none" w="med" len="med"/>
                      <a:tailEnd type="none" w="med" len="me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45,600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dirty="0">
                          <a:solidFill>
                            <a:srgbClr val="000000">
                              <a:alpha val="100000"/>
                            </a:srgbClr>
                          </a:solidFill>
                          <a:latin typeface="Arial"/>
                          <a:cs typeface="Arial"/>
                          <a:sym typeface="Arial"/>
                        </a:rPr>
                        <a:t>82,100</a:t>
                      </a:r>
                    </a:p>
                  </a:txBody>
                  <a:tcPr marL="0" marR="0" marT="0" marB="0" anchor="ctr">
                    <a:lnL w="0" cap="flat" cmpd="sng" algn="ctr">
                      <a:noFill/>
                      <a:prstDash val="solid"/>
                    </a:lnL>
                    <a:lnR w="12700" cap="flat" cmpd="sng" algn="ctr">
                      <a:solidFill>
                        <a:schemeClr val="tx1"/>
                      </a:solidFill>
                      <a:prstDash val="solid"/>
                      <a:round/>
                      <a:headEnd type="none" w="med" len="med"/>
                      <a:tailEnd type="none" w="med" len="me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624918751"/>
                  </a:ext>
                </a:extLst>
              </a:tr>
              <a:tr h="206044">
                <a:tc>
                  <a:txBody>
                    <a:bodyPr/>
                    <a:lstStyle/>
                    <a:p>
                      <a:pPr marL="0" marR="0" algn="ctr">
                        <a:lnSpc>
                          <a:spcPct val="100000"/>
                        </a:lnSpc>
                        <a:spcBef>
                          <a:spcPts val="0"/>
                        </a:spcBef>
                        <a:spcAft>
                          <a:spcPts val="0"/>
                        </a:spcAft>
                        <a:buNone/>
                      </a:pPr>
                      <a:r>
                        <a:rPr sz="1100" b="1" i="0" u="none" cap="none">
                          <a:solidFill>
                            <a:srgbClr val="000000">
                              <a:alpha val="100000"/>
                            </a:srgbClr>
                          </a:solidFill>
                          <a:latin typeface="Arial"/>
                          <a:cs typeface="Arial"/>
                          <a:sym typeface="Arial"/>
                        </a:rPr>
                        <a:t>17</a:t>
                      </a:r>
                    </a:p>
                  </a:txBody>
                  <a:tcPr marL="0" marR="0" marT="0" marB="0" anchor="ctr">
                    <a:lnL w="12700" cap="flat" cmpd="sng" algn="ctr">
                      <a:solidFill>
                        <a:schemeClr val="tx1"/>
                      </a:solidFill>
                      <a:prstDash val="solid"/>
                      <a:round/>
                      <a:headEnd type="none" w="med" len="med"/>
                      <a:tailEnd type="none" w="med" len="me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49,400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88,900</a:t>
                      </a:r>
                    </a:p>
                  </a:txBody>
                  <a:tcPr marL="0" marR="0" marT="0" marB="0" anchor="ctr">
                    <a:lnL w="0" cap="flat" cmpd="sng" algn="ctr">
                      <a:noFill/>
                      <a:prstDash val="solid"/>
                    </a:lnL>
                    <a:lnR w="12700" cap="flat" cmpd="sng" algn="ctr">
                      <a:solidFill>
                        <a:schemeClr val="tx1"/>
                      </a:solidFill>
                      <a:prstDash val="solid"/>
                      <a:round/>
                      <a:headEnd type="none" w="med" len="med"/>
                      <a:tailEnd type="none" w="med" len="me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10869320"/>
                  </a:ext>
                </a:extLst>
              </a:tr>
              <a:tr h="206044">
                <a:tc>
                  <a:txBody>
                    <a:bodyPr/>
                    <a:lstStyle/>
                    <a:p>
                      <a:pPr marL="0" marR="0" algn="ctr">
                        <a:lnSpc>
                          <a:spcPct val="100000"/>
                        </a:lnSpc>
                        <a:spcBef>
                          <a:spcPts val="0"/>
                        </a:spcBef>
                        <a:spcAft>
                          <a:spcPts val="0"/>
                        </a:spcAft>
                        <a:buNone/>
                      </a:pPr>
                      <a:r>
                        <a:rPr sz="1100" b="1" i="0" u="none" cap="none">
                          <a:solidFill>
                            <a:srgbClr val="000000">
                              <a:alpha val="100000"/>
                            </a:srgbClr>
                          </a:solidFill>
                          <a:latin typeface="Arial"/>
                          <a:cs typeface="Arial"/>
                          <a:sym typeface="Arial"/>
                        </a:rPr>
                        <a:t>18</a:t>
                      </a:r>
                    </a:p>
                  </a:txBody>
                  <a:tcPr marL="0" marR="0" marT="0" marB="0" anchor="ctr">
                    <a:lnL w="12700" cap="flat" cmpd="sng" algn="ctr">
                      <a:solidFill>
                        <a:schemeClr val="tx1"/>
                      </a:solidFill>
                      <a:prstDash val="solid"/>
                      <a:round/>
                      <a:headEnd type="none" w="med" len="med"/>
                      <a:tailEnd type="none" w="med" len="me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52,600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dirty="0">
                          <a:solidFill>
                            <a:srgbClr val="000000">
                              <a:alpha val="100000"/>
                            </a:srgbClr>
                          </a:solidFill>
                          <a:latin typeface="Arial"/>
                          <a:cs typeface="Arial"/>
                          <a:sym typeface="Arial"/>
                        </a:rPr>
                        <a:t>94,700</a:t>
                      </a:r>
                    </a:p>
                  </a:txBody>
                  <a:tcPr marL="0" marR="0" marT="0" marB="0" anchor="ctr">
                    <a:lnL w="0" cap="flat" cmpd="sng" algn="ctr">
                      <a:noFill/>
                      <a:prstDash val="solid"/>
                    </a:lnL>
                    <a:lnR w="12700" cap="flat" cmpd="sng" algn="ctr">
                      <a:solidFill>
                        <a:schemeClr val="tx1"/>
                      </a:solidFill>
                      <a:prstDash val="solid"/>
                      <a:round/>
                      <a:headEnd type="none" w="med" len="med"/>
                      <a:tailEnd type="none" w="med" len="me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69531247"/>
                  </a:ext>
                </a:extLst>
              </a:tr>
              <a:tr h="206044">
                <a:tc>
                  <a:txBody>
                    <a:bodyPr/>
                    <a:lstStyle/>
                    <a:p>
                      <a:pPr marL="0" marR="0" algn="ctr">
                        <a:lnSpc>
                          <a:spcPct val="100000"/>
                        </a:lnSpc>
                        <a:spcBef>
                          <a:spcPts val="0"/>
                        </a:spcBef>
                        <a:spcAft>
                          <a:spcPts val="0"/>
                        </a:spcAft>
                        <a:buNone/>
                      </a:pPr>
                      <a:r>
                        <a:rPr sz="1100" b="1" i="0" u="none" cap="none">
                          <a:solidFill>
                            <a:srgbClr val="000000">
                              <a:alpha val="100000"/>
                            </a:srgbClr>
                          </a:solidFill>
                          <a:latin typeface="Arial"/>
                          <a:cs typeface="Arial"/>
                          <a:sym typeface="Arial"/>
                        </a:rPr>
                        <a:t>19</a:t>
                      </a:r>
                    </a:p>
                  </a:txBody>
                  <a:tcPr marL="0" marR="0" marT="0" marB="0" anchor="ctr">
                    <a:lnL w="12700" cap="flat" cmpd="sng" algn="ctr">
                      <a:solidFill>
                        <a:schemeClr val="tx1"/>
                      </a:solidFill>
                      <a:prstDash val="solid"/>
                      <a:round/>
                      <a:headEnd type="none" w="med" len="med"/>
                      <a:tailEnd type="none" w="med" len="me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55,200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dirty="0">
                          <a:solidFill>
                            <a:srgbClr val="000000">
                              <a:alpha val="100000"/>
                            </a:srgbClr>
                          </a:solidFill>
                          <a:latin typeface="Arial"/>
                          <a:cs typeface="Arial"/>
                          <a:sym typeface="Arial"/>
                        </a:rPr>
                        <a:t>99,400</a:t>
                      </a:r>
                    </a:p>
                  </a:txBody>
                  <a:tcPr marL="0" marR="0" marT="0" marB="0" anchor="ctr">
                    <a:lnL w="0" cap="flat" cmpd="sng" algn="ctr">
                      <a:noFill/>
                      <a:prstDash val="solid"/>
                    </a:lnL>
                    <a:lnR w="12700" cap="flat" cmpd="sng" algn="ctr">
                      <a:solidFill>
                        <a:schemeClr val="tx1"/>
                      </a:solidFill>
                      <a:prstDash val="solid"/>
                      <a:round/>
                      <a:headEnd type="none" w="med" len="med"/>
                      <a:tailEnd type="none" w="med" len="me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238404874"/>
                  </a:ext>
                </a:extLst>
              </a:tr>
              <a:tr h="206044">
                <a:tc>
                  <a:txBody>
                    <a:bodyPr/>
                    <a:lstStyle/>
                    <a:p>
                      <a:pPr marL="0" marR="0" algn="ctr">
                        <a:lnSpc>
                          <a:spcPct val="100000"/>
                        </a:lnSpc>
                        <a:spcBef>
                          <a:spcPts val="0"/>
                        </a:spcBef>
                        <a:spcAft>
                          <a:spcPts val="0"/>
                        </a:spcAft>
                        <a:buNone/>
                      </a:pPr>
                      <a:r>
                        <a:rPr sz="1100" b="1" i="0" u="none" cap="none">
                          <a:solidFill>
                            <a:srgbClr val="000000">
                              <a:alpha val="100000"/>
                            </a:srgbClr>
                          </a:solidFill>
                          <a:latin typeface="Arial"/>
                          <a:cs typeface="Arial"/>
                          <a:sym typeface="Arial"/>
                        </a:rPr>
                        <a:t>20</a:t>
                      </a:r>
                    </a:p>
                  </a:txBody>
                  <a:tcPr marL="0" marR="0" marT="0" marB="0" anchor="ctr">
                    <a:lnL w="12700" cap="flat" cmpd="sng" algn="ctr">
                      <a:solidFill>
                        <a:schemeClr val="tx1"/>
                      </a:solidFill>
                      <a:prstDash val="solid"/>
                      <a:round/>
                      <a:headEnd type="none" w="med" len="med"/>
                      <a:tailEnd type="none" w="med" len="me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57,200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dirty="0">
                          <a:solidFill>
                            <a:srgbClr val="000000">
                              <a:alpha val="100000"/>
                            </a:srgbClr>
                          </a:solidFill>
                          <a:latin typeface="Arial"/>
                          <a:cs typeface="Arial"/>
                          <a:sym typeface="Arial"/>
                        </a:rPr>
                        <a:t>103,000</a:t>
                      </a:r>
                    </a:p>
                  </a:txBody>
                  <a:tcPr marL="0" marR="0" marT="0" marB="0" anchor="ctr">
                    <a:lnL w="0" cap="flat" cmpd="sng" algn="ctr">
                      <a:noFill/>
                      <a:prstDash val="solid"/>
                    </a:lnL>
                    <a:lnR w="12700" cap="flat" cmpd="sng" algn="ctr">
                      <a:solidFill>
                        <a:schemeClr val="tx1"/>
                      </a:solidFill>
                      <a:prstDash val="solid"/>
                      <a:round/>
                      <a:headEnd type="none" w="med" len="med"/>
                      <a:tailEnd type="none" w="med" len="me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342138655"/>
                  </a:ext>
                </a:extLst>
              </a:tr>
              <a:tr h="206044">
                <a:tc>
                  <a:txBody>
                    <a:bodyPr/>
                    <a:lstStyle/>
                    <a:p>
                      <a:pPr marL="0" marR="0" algn="ctr">
                        <a:lnSpc>
                          <a:spcPct val="100000"/>
                        </a:lnSpc>
                        <a:spcBef>
                          <a:spcPts val="0"/>
                        </a:spcBef>
                        <a:spcAft>
                          <a:spcPts val="0"/>
                        </a:spcAft>
                        <a:buNone/>
                      </a:pPr>
                      <a:r>
                        <a:rPr sz="1100" b="1" i="0" u="none" cap="none">
                          <a:solidFill>
                            <a:srgbClr val="000000">
                              <a:alpha val="100000"/>
                            </a:srgbClr>
                          </a:solidFill>
                          <a:latin typeface="Arial"/>
                          <a:cs typeface="Arial"/>
                          <a:sym typeface="Arial"/>
                        </a:rPr>
                        <a:t>21</a:t>
                      </a:r>
                    </a:p>
                  </a:txBody>
                  <a:tcPr marL="0" marR="0" marT="0" marB="0" anchor="ctr">
                    <a:lnL w="12700" cap="flat" cmpd="sng" algn="ctr">
                      <a:solidFill>
                        <a:schemeClr val="tx1"/>
                      </a:solidFill>
                      <a:prstDash val="solid"/>
                      <a:round/>
                      <a:headEnd type="none" w="med" len="med"/>
                      <a:tailEnd type="none" w="med" len="me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58,700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dirty="0">
                          <a:solidFill>
                            <a:srgbClr val="000000">
                              <a:alpha val="100000"/>
                            </a:srgbClr>
                          </a:solidFill>
                          <a:latin typeface="Arial"/>
                          <a:cs typeface="Arial"/>
                          <a:sym typeface="Arial"/>
                        </a:rPr>
                        <a:t>105,700</a:t>
                      </a:r>
                    </a:p>
                  </a:txBody>
                  <a:tcPr marL="0" marR="0" marT="0" marB="0" anchor="ctr">
                    <a:lnL w="0" cap="flat" cmpd="sng" algn="ctr">
                      <a:noFill/>
                      <a:prstDash val="solid"/>
                    </a:lnL>
                    <a:lnR w="12700" cap="flat" cmpd="sng" algn="ctr">
                      <a:solidFill>
                        <a:schemeClr val="tx1"/>
                      </a:solidFill>
                      <a:prstDash val="solid"/>
                      <a:round/>
                      <a:headEnd type="none" w="med" len="med"/>
                      <a:tailEnd type="none" w="med" len="me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4120445984"/>
                  </a:ext>
                </a:extLst>
              </a:tr>
              <a:tr h="206044">
                <a:tc>
                  <a:txBody>
                    <a:bodyPr/>
                    <a:lstStyle/>
                    <a:p>
                      <a:pPr marL="0" marR="0" algn="ctr">
                        <a:lnSpc>
                          <a:spcPct val="100000"/>
                        </a:lnSpc>
                        <a:spcBef>
                          <a:spcPts val="0"/>
                        </a:spcBef>
                        <a:spcAft>
                          <a:spcPts val="0"/>
                        </a:spcAft>
                        <a:buNone/>
                      </a:pPr>
                      <a:r>
                        <a:rPr sz="1100" b="1" i="0" u="none" cap="none">
                          <a:solidFill>
                            <a:srgbClr val="000000">
                              <a:alpha val="100000"/>
                            </a:srgbClr>
                          </a:solidFill>
                          <a:latin typeface="Arial"/>
                          <a:cs typeface="Arial"/>
                          <a:sym typeface="Arial"/>
                        </a:rPr>
                        <a:t>22</a:t>
                      </a:r>
                    </a:p>
                  </a:txBody>
                  <a:tcPr marL="0" marR="0" marT="0" marB="0" anchor="ctr">
                    <a:lnL w="12700" cap="flat" cmpd="sng" algn="ctr">
                      <a:solidFill>
                        <a:schemeClr val="tx1"/>
                      </a:solidFill>
                      <a:prstDash val="solid"/>
                      <a:round/>
                      <a:headEnd type="none" w="med" len="med"/>
                      <a:tailEnd type="none" w="med" len="me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59,800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dirty="0">
                          <a:solidFill>
                            <a:srgbClr val="000000">
                              <a:alpha val="100000"/>
                            </a:srgbClr>
                          </a:solidFill>
                          <a:latin typeface="Arial"/>
                          <a:cs typeface="Arial"/>
                          <a:sym typeface="Arial"/>
                        </a:rPr>
                        <a:t>107,600</a:t>
                      </a:r>
                    </a:p>
                  </a:txBody>
                  <a:tcPr marL="0" marR="0" marT="0" marB="0" anchor="ctr">
                    <a:lnL w="0" cap="flat" cmpd="sng" algn="ctr">
                      <a:noFill/>
                      <a:prstDash val="solid"/>
                    </a:lnL>
                    <a:lnR w="12700" cap="flat" cmpd="sng" algn="ctr">
                      <a:solidFill>
                        <a:schemeClr val="tx1"/>
                      </a:solidFill>
                      <a:prstDash val="solid"/>
                      <a:round/>
                      <a:headEnd type="none" w="med" len="med"/>
                      <a:tailEnd type="none" w="med" len="me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2172368928"/>
                  </a:ext>
                </a:extLst>
              </a:tr>
              <a:tr h="206044">
                <a:tc>
                  <a:txBody>
                    <a:bodyPr/>
                    <a:lstStyle/>
                    <a:p>
                      <a:pPr marL="0" marR="0" algn="ctr">
                        <a:lnSpc>
                          <a:spcPct val="100000"/>
                        </a:lnSpc>
                        <a:spcBef>
                          <a:spcPts val="0"/>
                        </a:spcBef>
                        <a:spcAft>
                          <a:spcPts val="0"/>
                        </a:spcAft>
                        <a:buNone/>
                      </a:pPr>
                      <a:r>
                        <a:rPr sz="1100" b="1" i="0" u="none" cap="none">
                          <a:solidFill>
                            <a:srgbClr val="000000">
                              <a:alpha val="100000"/>
                            </a:srgbClr>
                          </a:solidFill>
                          <a:latin typeface="Arial"/>
                          <a:cs typeface="Arial"/>
                          <a:sym typeface="Arial"/>
                        </a:rPr>
                        <a:t>23</a:t>
                      </a:r>
                    </a:p>
                  </a:txBody>
                  <a:tcPr marL="0" marR="0" marT="0" marB="0" anchor="ctr">
                    <a:lnL w="12700" cap="flat" cmpd="sng" algn="ctr">
                      <a:solidFill>
                        <a:schemeClr val="tx1"/>
                      </a:solidFill>
                      <a:prstDash val="solid"/>
                      <a:round/>
                      <a:headEnd type="none" w="med" len="med"/>
                      <a:tailEnd type="none" w="med" len="me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60,700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dirty="0">
                          <a:solidFill>
                            <a:srgbClr val="000000">
                              <a:alpha val="100000"/>
                            </a:srgbClr>
                          </a:solidFill>
                          <a:latin typeface="Arial"/>
                          <a:cs typeface="Arial"/>
                          <a:sym typeface="Arial"/>
                        </a:rPr>
                        <a:t>109,300</a:t>
                      </a:r>
                    </a:p>
                  </a:txBody>
                  <a:tcPr marL="0" marR="0" marT="0" marB="0" anchor="ctr">
                    <a:lnL w="0" cap="flat" cmpd="sng" algn="ctr">
                      <a:noFill/>
                      <a:prstDash val="solid"/>
                    </a:lnL>
                    <a:lnR w="12700" cap="flat" cmpd="sng" algn="ctr">
                      <a:solidFill>
                        <a:schemeClr val="tx1"/>
                      </a:solidFill>
                      <a:prstDash val="solid"/>
                      <a:round/>
                      <a:headEnd type="none" w="med" len="med"/>
                      <a:tailEnd type="none" w="med" len="me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4116833567"/>
                  </a:ext>
                </a:extLst>
              </a:tr>
              <a:tr h="206044">
                <a:tc>
                  <a:txBody>
                    <a:bodyPr/>
                    <a:lstStyle/>
                    <a:p>
                      <a:pPr marL="0" marR="0" algn="ctr">
                        <a:lnSpc>
                          <a:spcPct val="100000"/>
                        </a:lnSpc>
                        <a:spcBef>
                          <a:spcPts val="0"/>
                        </a:spcBef>
                        <a:spcAft>
                          <a:spcPts val="0"/>
                        </a:spcAft>
                        <a:buNone/>
                      </a:pPr>
                      <a:r>
                        <a:rPr sz="1100" b="1" i="0" u="none" cap="none">
                          <a:solidFill>
                            <a:srgbClr val="000000">
                              <a:alpha val="100000"/>
                            </a:srgbClr>
                          </a:solidFill>
                          <a:latin typeface="Arial"/>
                          <a:cs typeface="Arial"/>
                          <a:sym typeface="Arial"/>
                        </a:rPr>
                        <a:t>24</a:t>
                      </a:r>
                    </a:p>
                  </a:txBody>
                  <a:tcPr marL="0" marR="0" marT="0" marB="0" anchor="ctr">
                    <a:lnL w="12700" cap="flat" cmpd="sng" algn="ctr">
                      <a:solidFill>
                        <a:schemeClr val="tx1"/>
                      </a:solidFill>
                      <a:prstDash val="solid"/>
                      <a:round/>
                      <a:headEnd type="none" w="med" len="med"/>
                      <a:tailEnd type="none" w="med" len="me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61,300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dirty="0">
                          <a:solidFill>
                            <a:srgbClr val="000000">
                              <a:alpha val="100000"/>
                            </a:srgbClr>
                          </a:solidFill>
                          <a:latin typeface="Arial"/>
                          <a:cs typeface="Arial"/>
                          <a:sym typeface="Arial"/>
                        </a:rPr>
                        <a:t>110,300</a:t>
                      </a:r>
                    </a:p>
                  </a:txBody>
                  <a:tcPr marL="0" marR="0" marT="0" marB="0" anchor="ctr">
                    <a:lnL w="0" cap="flat" cmpd="sng" algn="ctr">
                      <a:noFill/>
                      <a:prstDash val="solid"/>
                    </a:lnL>
                    <a:lnR w="12700" cap="flat" cmpd="sng" algn="ctr">
                      <a:solidFill>
                        <a:schemeClr val="tx1"/>
                      </a:solidFill>
                      <a:prstDash val="solid"/>
                      <a:round/>
                      <a:headEnd type="none" w="med" len="med"/>
                      <a:tailEnd type="none" w="med" len="me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3619667492"/>
                  </a:ext>
                </a:extLst>
              </a:tr>
              <a:tr h="206044">
                <a:tc>
                  <a:txBody>
                    <a:bodyPr/>
                    <a:lstStyle/>
                    <a:p>
                      <a:pPr marL="0" marR="0" algn="ctr">
                        <a:lnSpc>
                          <a:spcPct val="100000"/>
                        </a:lnSpc>
                        <a:spcBef>
                          <a:spcPts val="0"/>
                        </a:spcBef>
                        <a:spcAft>
                          <a:spcPts val="0"/>
                        </a:spcAft>
                        <a:buNone/>
                      </a:pPr>
                      <a:r>
                        <a:rPr sz="1100" b="1" i="0" u="none" cap="none">
                          <a:solidFill>
                            <a:srgbClr val="000000">
                              <a:alpha val="100000"/>
                            </a:srgbClr>
                          </a:solidFill>
                          <a:latin typeface="Arial"/>
                          <a:cs typeface="Arial"/>
                          <a:sym typeface="Arial"/>
                        </a:rPr>
                        <a:t>25</a:t>
                      </a:r>
                    </a:p>
                  </a:txBody>
                  <a:tcPr marL="0" marR="0" marT="0" marB="0" anchor="ctr">
                    <a:lnL w="12700" cap="flat" cmpd="sng" algn="ctr">
                      <a:solidFill>
                        <a:schemeClr val="tx1"/>
                      </a:solidFill>
                      <a:prstDash val="solid"/>
                      <a:round/>
                      <a:headEnd type="none" w="med" len="med"/>
                      <a:tailEnd type="none" w="med" len="med"/>
                    </a:lnL>
                    <a:lnR w="0" cap="flat" cmpd="sng" algn="ctr">
                      <a:noFill/>
                      <a:prstDash val="solid"/>
                    </a:lnR>
                    <a:lnT w="12700" cap="flat" cmpd="sng" algn="ctr">
                      <a:solidFill>
                        <a:srgbClr val="BEBEBE">
                          <a:alpha val="100000"/>
                        </a:srgbClr>
                      </a:solidFill>
                      <a:prstDash val="solid"/>
                    </a:lnT>
                    <a:lnB w="12700" cap="flat" cmpd="sng" algn="ctr">
                      <a:solidFill>
                        <a:schemeClr val="tx1"/>
                      </a:solidFill>
                      <a:prstDash val="solid"/>
                      <a:round/>
                      <a:headEnd type="none" w="med" len="med"/>
                      <a:tailEnd type="none" w="med" len="me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61,800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chemeClr val="tx1"/>
                      </a:solidFill>
                      <a:prstDash val="solid"/>
                      <a:round/>
                      <a:headEnd type="none" w="med" len="med"/>
                      <a:tailEnd type="none" w="med" len="med"/>
                    </a:lnB>
                    <a:solidFill>
                      <a:srgbClr val="FFFFFF">
                        <a:alpha val="0"/>
                      </a:srgbClr>
                    </a:solidFill>
                  </a:tcPr>
                </a:tc>
                <a:tc>
                  <a:txBody>
                    <a:bodyPr/>
                    <a:lstStyle/>
                    <a:p>
                      <a:pPr marL="0" marR="0" algn="ctr">
                        <a:lnSpc>
                          <a:spcPct val="100000"/>
                        </a:lnSpc>
                        <a:spcBef>
                          <a:spcPts val="0"/>
                        </a:spcBef>
                        <a:spcAft>
                          <a:spcPts val="0"/>
                        </a:spcAft>
                        <a:buNone/>
                      </a:pPr>
                      <a:r>
                        <a:rPr sz="1100" b="0" i="0" u="none" cap="none" dirty="0">
                          <a:solidFill>
                            <a:srgbClr val="000000">
                              <a:alpha val="100000"/>
                            </a:srgbClr>
                          </a:solidFill>
                          <a:latin typeface="Arial"/>
                          <a:cs typeface="Arial"/>
                          <a:sym typeface="Arial"/>
                        </a:rPr>
                        <a:t>111,200</a:t>
                      </a:r>
                    </a:p>
                  </a:txBody>
                  <a:tcPr marL="0" marR="0" marT="0" marB="0" anchor="ctr">
                    <a:lnL w="0" cap="flat" cmpd="sng" algn="ctr">
                      <a:noFill/>
                      <a:prstDash val="solid"/>
                    </a:lnL>
                    <a:lnR w="12700" cap="flat" cmpd="sng" algn="ctr">
                      <a:solidFill>
                        <a:schemeClr val="tx1"/>
                      </a:solidFill>
                      <a:prstDash val="solid"/>
                      <a:round/>
                      <a:headEnd type="none" w="med" len="med"/>
                      <a:tailEnd type="none" w="med" len="med"/>
                    </a:lnR>
                    <a:lnT w="12700" cap="flat" cmpd="sng" algn="ctr">
                      <a:solidFill>
                        <a:srgbClr val="BEBEBE">
                          <a:alpha val="100000"/>
                        </a:srgbClr>
                      </a:solidFill>
                      <a:prstDash val="solid"/>
                    </a:lnT>
                    <a:lnB w="12700" cap="flat" cmpd="sng" algn="ctr">
                      <a:solidFill>
                        <a:schemeClr val="tx1"/>
                      </a:solidFill>
                      <a:prstDash val="solid"/>
                      <a:round/>
                      <a:headEnd type="none" w="med" len="med"/>
                      <a:tailEnd type="none" w="med" len="med"/>
                    </a:lnB>
                    <a:solidFill>
                      <a:srgbClr val="FFFFFF">
                        <a:alpha val="0"/>
                      </a:srgbClr>
                    </a:solidFill>
                  </a:tcPr>
                </a:tc>
                <a:extLst>
                  <a:ext uri="{0D108BD9-81ED-4DB2-BD59-A6C34878D82A}">
                    <a16:rowId xmlns:a16="http://schemas.microsoft.com/office/drawing/2014/main" val="388699002"/>
                  </a:ext>
                </a:extLst>
              </a:tr>
            </a:tbl>
          </a:graphicData>
        </a:graphic>
      </p:graphicFrame>
      <p:sp>
        <p:nvSpPr>
          <p:cNvPr id="9" name="TextBox 13">
            <a:extLst>
              <a:ext uri="{FF2B5EF4-FFF2-40B4-BE49-F238E27FC236}">
                <a16:creationId xmlns:a16="http://schemas.microsoft.com/office/drawing/2014/main" id="{3AA1946D-2370-3937-43B6-7AAAA0156EA5}"/>
              </a:ext>
            </a:extLst>
          </p:cNvPr>
          <p:cNvSpPr txBox="1"/>
          <p:nvPr/>
        </p:nvSpPr>
        <p:spPr>
          <a:xfrm>
            <a:off x="5585070" y="1224971"/>
            <a:ext cx="2568332" cy="630942"/>
          </a:xfrm>
          <a:prstGeom prst="rect">
            <a:avLst/>
          </a:prstGeom>
          <a:noFill/>
        </p:spPr>
        <p:txBody>
          <a:bodyPr wrap="none" rtlCol="0">
            <a:spAutoFit/>
          </a:bodyPr>
          <a:lstStyle/>
          <a:p>
            <a:pPr algn="ctr"/>
            <a:r>
              <a:rPr lang="en-US" sz="2400" b="1" dirty="0">
                <a:solidFill>
                  <a:srgbClr val="6087CE"/>
                </a:solidFill>
              </a:rPr>
              <a:t>Early Stage</a:t>
            </a:r>
          </a:p>
          <a:p>
            <a:pPr algn="ctr"/>
            <a:r>
              <a:rPr lang="en-US" sz="1100" dirty="0">
                <a:solidFill>
                  <a:srgbClr val="6087CE"/>
                </a:solidFill>
              </a:rPr>
              <a:t>Gaining Name Recognition, Early Growth</a:t>
            </a:r>
          </a:p>
        </p:txBody>
      </p:sp>
      <p:sp>
        <p:nvSpPr>
          <p:cNvPr id="10" name="TextBox 6">
            <a:extLst>
              <a:ext uri="{FF2B5EF4-FFF2-40B4-BE49-F238E27FC236}">
                <a16:creationId xmlns:a16="http://schemas.microsoft.com/office/drawing/2014/main" id="{C1427FCD-60BD-44A4-7EC8-0DA3A8B8AAB4}"/>
              </a:ext>
            </a:extLst>
          </p:cNvPr>
          <p:cNvSpPr txBox="1"/>
          <p:nvPr/>
        </p:nvSpPr>
        <p:spPr>
          <a:xfrm>
            <a:off x="5147926" y="1881897"/>
            <a:ext cx="1624165" cy="307777"/>
          </a:xfrm>
          <a:prstGeom prst="rect">
            <a:avLst/>
          </a:prstGeom>
          <a:noFill/>
        </p:spPr>
        <p:txBody>
          <a:bodyPr wrap="square">
            <a:spAutoFit/>
          </a:bodyPr>
          <a:lstStyle/>
          <a:p>
            <a:pPr algn="ctr"/>
            <a:r>
              <a:rPr lang="en-US" sz="1400" dirty="0">
                <a:solidFill>
                  <a:srgbClr val="6087CE"/>
                </a:solidFill>
              </a:rPr>
              <a:t>New Revenue:</a:t>
            </a:r>
          </a:p>
        </p:txBody>
      </p:sp>
      <p:sp>
        <p:nvSpPr>
          <p:cNvPr id="11" name="TextBox 7">
            <a:extLst>
              <a:ext uri="{FF2B5EF4-FFF2-40B4-BE49-F238E27FC236}">
                <a16:creationId xmlns:a16="http://schemas.microsoft.com/office/drawing/2014/main" id="{8AD15935-ECCD-D33E-6374-87A76F55473C}"/>
              </a:ext>
            </a:extLst>
          </p:cNvPr>
          <p:cNvSpPr txBox="1"/>
          <p:nvPr/>
        </p:nvSpPr>
        <p:spPr>
          <a:xfrm>
            <a:off x="7232150" y="1881897"/>
            <a:ext cx="1118086" cy="307777"/>
          </a:xfrm>
          <a:prstGeom prst="rect">
            <a:avLst/>
          </a:prstGeom>
          <a:noFill/>
        </p:spPr>
        <p:txBody>
          <a:bodyPr wrap="square">
            <a:spAutoFit/>
          </a:bodyPr>
          <a:lstStyle/>
          <a:p>
            <a:pPr algn="ctr"/>
            <a:r>
              <a:rPr lang="en-US" sz="1400" dirty="0">
                <a:solidFill>
                  <a:srgbClr val="6087CE"/>
                </a:solidFill>
              </a:rPr>
              <a:t>New Profit:</a:t>
            </a:r>
          </a:p>
        </p:txBody>
      </p:sp>
      <p:sp>
        <p:nvSpPr>
          <p:cNvPr id="12" name="TextBox 9">
            <a:extLst>
              <a:ext uri="{FF2B5EF4-FFF2-40B4-BE49-F238E27FC236}">
                <a16:creationId xmlns:a16="http://schemas.microsoft.com/office/drawing/2014/main" id="{5F94E5B5-90A3-01DA-6460-61E0FBE73982}"/>
              </a:ext>
            </a:extLst>
          </p:cNvPr>
          <p:cNvSpPr txBox="1"/>
          <p:nvPr/>
        </p:nvSpPr>
        <p:spPr>
          <a:xfrm>
            <a:off x="5141641" y="2127622"/>
            <a:ext cx="1588535" cy="400110"/>
          </a:xfrm>
          <a:prstGeom prst="rect">
            <a:avLst/>
          </a:prstGeom>
          <a:noFill/>
        </p:spPr>
        <p:txBody>
          <a:bodyPr wrap="square">
            <a:spAutoFit/>
          </a:bodyPr>
          <a:lstStyle/>
          <a:p>
            <a:pPr algn="ctr"/>
            <a:r>
              <a:rPr lang="en-US" sz="2000" b="1" dirty="0">
                <a:solidFill>
                  <a:srgbClr val="6087CE"/>
                </a:solidFill>
              </a:rPr>
              <a:t>$15.31M</a:t>
            </a:r>
            <a:endParaRPr lang="en-US" sz="2000" dirty="0"/>
          </a:p>
        </p:txBody>
      </p:sp>
      <p:sp>
        <p:nvSpPr>
          <p:cNvPr id="13" name="TextBox 14">
            <a:extLst>
              <a:ext uri="{FF2B5EF4-FFF2-40B4-BE49-F238E27FC236}">
                <a16:creationId xmlns:a16="http://schemas.microsoft.com/office/drawing/2014/main" id="{81ED2F41-E94D-4EB7-140C-733A91ADF312}"/>
              </a:ext>
            </a:extLst>
          </p:cNvPr>
          <p:cNvSpPr txBox="1"/>
          <p:nvPr/>
        </p:nvSpPr>
        <p:spPr>
          <a:xfrm>
            <a:off x="6935190" y="2127622"/>
            <a:ext cx="1588535" cy="400110"/>
          </a:xfrm>
          <a:prstGeom prst="rect">
            <a:avLst/>
          </a:prstGeom>
          <a:noFill/>
        </p:spPr>
        <p:txBody>
          <a:bodyPr wrap="square">
            <a:spAutoFit/>
          </a:bodyPr>
          <a:lstStyle/>
          <a:p>
            <a:pPr algn="ctr"/>
            <a:r>
              <a:rPr lang="en-US" sz="2000" b="1" dirty="0">
                <a:solidFill>
                  <a:srgbClr val="6087CE"/>
                </a:solidFill>
              </a:rPr>
              <a:t>$1.73M</a:t>
            </a:r>
            <a:endParaRPr lang="en-US" sz="2000" dirty="0"/>
          </a:p>
        </p:txBody>
      </p:sp>
      <p:sp>
        <p:nvSpPr>
          <p:cNvPr id="14" name="TextBox 15">
            <a:extLst>
              <a:ext uri="{FF2B5EF4-FFF2-40B4-BE49-F238E27FC236}">
                <a16:creationId xmlns:a16="http://schemas.microsoft.com/office/drawing/2014/main" id="{2A316622-4106-CE16-17A4-8DC79524A1B9}"/>
              </a:ext>
            </a:extLst>
          </p:cNvPr>
          <p:cNvSpPr txBox="1"/>
          <p:nvPr/>
        </p:nvSpPr>
        <p:spPr>
          <a:xfrm>
            <a:off x="5794071" y="2739387"/>
            <a:ext cx="2132315" cy="630942"/>
          </a:xfrm>
          <a:prstGeom prst="rect">
            <a:avLst/>
          </a:prstGeom>
          <a:noFill/>
        </p:spPr>
        <p:txBody>
          <a:bodyPr wrap="none" rtlCol="0">
            <a:spAutoFit/>
          </a:bodyPr>
          <a:lstStyle/>
          <a:p>
            <a:pPr algn="ctr"/>
            <a:r>
              <a:rPr lang="en-US" sz="2400" b="1" dirty="0">
                <a:solidFill>
                  <a:srgbClr val="2F5597"/>
                </a:solidFill>
              </a:rPr>
              <a:t>Growth Stage</a:t>
            </a:r>
          </a:p>
          <a:p>
            <a:pPr algn="ctr"/>
            <a:r>
              <a:rPr lang="en-US" sz="1100" dirty="0">
                <a:solidFill>
                  <a:srgbClr val="2F5597"/>
                </a:solidFill>
              </a:rPr>
              <a:t>Strong Reputation, Strong Growth</a:t>
            </a:r>
          </a:p>
        </p:txBody>
      </p:sp>
      <p:sp>
        <p:nvSpPr>
          <p:cNvPr id="15" name="TextBox 16">
            <a:extLst>
              <a:ext uri="{FF2B5EF4-FFF2-40B4-BE49-F238E27FC236}">
                <a16:creationId xmlns:a16="http://schemas.microsoft.com/office/drawing/2014/main" id="{CB5443F6-CBCE-0B5E-95A0-4546ACCCA0A2}"/>
              </a:ext>
            </a:extLst>
          </p:cNvPr>
          <p:cNvSpPr txBox="1"/>
          <p:nvPr/>
        </p:nvSpPr>
        <p:spPr>
          <a:xfrm>
            <a:off x="5138917" y="3396313"/>
            <a:ext cx="1624165" cy="307777"/>
          </a:xfrm>
          <a:prstGeom prst="rect">
            <a:avLst/>
          </a:prstGeom>
          <a:noFill/>
        </p:spPr>
        <p:txBody>
          <a:bodyPr wrap="square">
            <a:spAutoFit/>
          </a:bodyPr>
          <a:lstStyle/>
          <a:p>
            <a:pPr algn="ctr"/>
            <a:r>
              <a:rPr lang="en-US" sz="1400" dirty="0">
                <a:solidFill>
                  <a:srgbClr val="2F5597"/>
                </a:solidFill>
              </a:rPr>
              <a:t>New Revenue:</a:t>
            </a:r>
          </a:p>
        </p:txBody>
      </p:sp>
      <p:sp>
        <p:nvSpPr>
          <p:cNvPr id="16" name="TextBox 17">
            <a:extLst>
              <a:ext uri="{FF2B5EF4-FFF2-40B4-BE49-F238E27FC236}">
                <a16:creationId xmlns:a16="http://schemas.microsoft.com/office/drawing/2014/main" id="{51CA331C-EDBB-6424-3011-8BAA8071699E}"/>
              </a:ext>
            </a:extLst>
          </p:cNvPr>
          <p:cNvSpPr txBox="1"/>
          <p:nvPr/>
        </p:nvSpPr>
        <p:spPr>
          <a:xfrm>
            <a:off x="7223141" y="3396313"/>
            <a:ext cx="1118086" cy="307777"/>
          </a:xfrm>
          <a:prstGeom prst="rect">
            <a:avLst/>
          </a:prstGeom>
          <a:noFill/>
        </p:spPr>
        <p:txBody>
          <a:bodyPr wrap="square">
            <a:spAutoFit/>
          </a:bodyPr>
          <a:lstStyle/>
          <a:p>
            <a:pPr algn="ctr"/>
            <a:r>
              <a:rPr lang="en-US" sz="1400" dirty="0">
                <a:solidFill>
                  <a:srgbClr val="2F5597"/>
                </a:solidFill>
              </a:rPr>
              <a:t>New Profit:</a:t>
            </a:r>
          </a:p>
        </p:txBody>
      </p:sp>
      <p:sp>
        <p:nvSpPr>
          <p:cNvPr id="17" name="TextBox 20">
            <a:extLst>
              <a:ext uri="{FF2B5EF4-FFF2-40B4-BE49-F238E27FC236}">
                <a16:creationId xmlns:a16="http://schemas.microsoft.com/office/drawing/2014/main" id="{31855B83-A62D-B4EB-698B-7A3D235EB37F}"/>
              </a:ext>
            </a:extLst>
          </p:cNvPr>
          <p:cNvSpPr txBox="1"/>
          <p:nvPr/>
        </p:nvSpPr>
        <p:spPr>
          <a:xfrm>
            <a:off x="5132632" y="3642038"/>
            <a:ext cx="1588535" cy="400110"/>
          </a:xfrm>
          <a:prstGeom prst="rect">
            <a:avLst/>
          </a:prstGeom>
          <a:noFill/>
        </p:spPr>
        <p:txBody>
          <a:bodyPr wrap="square">
            <a:spAutoFit/>
          </a:bodyPr>
          <a:lstStyle/>
          <a:p>
            <a:pPr algn="ctr"/>
            <a:r>
              <a:rPr lang="en-US" sz="2000" b="1" dirty="0">
                <a:solidFill>
                  <a:srgbClr val="2F5597"/>
                </a:solidFill>
              </a:rPr>
              <a:t>$106.68M</a:t>
            </a:r>
            <a:endParaRPr lang="en-US" sz="2000" dirty="0">
              <a:solidFill>
                <a:srgbClr val="2F5597"/>
              </a:solidFill>
            </a:endParaRPr>
          </a:p>
        </p:txBody>
      </p:sp>
      <p:sp>
        <p:nvSpPr>
          <p:cNvPr id="18" name="TextBox 21">
            <a:extLst>
              <a:ext uri="{FF2B5EF4-FFF2-40B4-BE49-F238E27FC236}">
                <a16:creationId xmlns:a16="http://schemas.microsoft.com/office/drawing/2014/main" id="{EE789833-C289-5294-8F2D-4D767E61DB81}"/>
              </a:ext>
            </a:extLst>
          </p:cNvPr>
          <p:cNvSpPr txBox="1"/>
          <p:nvPr/>
        </p:nvSpPr>
        <p:spPr>
          <a:xfrm>
            <a:off x="6926181" y="3642038"/>
            <a:ext cx="1588535" cy="400110"/>
          </a:xfrm>
          <a:prstGeom prst="rect">
            <a:avLst/>
          </a:prstGeom>
          <a:noFill/>
        </p:spPr>
        <p:txBody>
          <a:bodyPr wrap="square">
            <a:spAutoFit/>
          </a:bodyPr>
          <a:lstStyle/>
          <a:p>
            <a:pPr algn="ctr"/>
            <a:r>
              <a:rPr lang="en-US" sz="2000" b="1" dirty="0">
                <a:solidFill>
                  <a:srgbClr val="2F5597"/>
                </a:solidFill>
              </a:rPr>
              <a:t>$13.26M</a:t>
            </a:r>
            <a:endParaRPr lang="en-US" sz="2000" dirty="0">
              <a:solidFill>
                <a:srgbClr val="2F5597"/>
              </a:solidFill>
            </a:endParaRPr>
          </a:p>
        </p:txBody>
      </p:sp>
      <p:sp>
        <p:nvSpPr>
          <p:cNvPr id="19" name="TextBox 22">
            <a:extLst>
              <a:ext uri="{FF2B5EF4-FFF2-40B4-BE49-F238E27FC236}">
                <a16:creationId xmlns:a16="http://schemas.microsoft.com/office/drawing/2014/main" id="{C134E2B3-DCEE-CE93-C822-3E071F419FE3}"/>
              </a:ext>
            </a:extLst>
          </p:cNvPr>
          <p:cNvSpPr txBox="1"/>
          <p:nvPr/>
        </p:nvSpPr>
        <p:spPr>
          <a:xfrm>
            <a:off x="5742165" y="4359954"/>
            <a:ext cx="2254143" cy="630942"/>
          </a:xfrm>
          <a:prstGeom prst="rect">
            <a:avLst/>
          </a:prstGeom>
          <a:noFill/>
        </p:spPr>
        <p:txBody>
          <a:bodyPr wrap="none" rtlCol="0">
            <a:spAutoFit/>
          </a:bodyPr>
          <a:lstStyle/>
          <a:p>
            <a:pPr algn="ctr"/>
            <a:r>
              <a:rPr lang="en-US" sz="2400" b="1" dirty="0">
                <a:solidFill>
                  <a:srgbClr val="2F5597"/>
                </a:solidFill>
              </a:rPr>
              <a:t>Mature Stage</a:t>
            </a:r>
          </a:p>
          <a:p>
            <a:pPr algn="ctr"/>
            <a:r>
              <a:rPr lang="en-US" sz="1100" dirty="0">
                <a:solidFill>
                  <a:srgbClr val="2F5597"/>
                </a:solidFill>
              </a:rPr>
              <a:t>High Profitability, Market Saturation</a:t>
            </a:r>
          </a:p>
        </p:txBody>
      </p:sp>
      <p:sp>
        <p:nvSpPr>
          <p:cNvPr id="20" name="TextBox 23">
            <a:extLst>
              <a:ext uri="{FF2B5EF4-FFF2-40B4-BE49-F238E27FC236}">
                <a16:creationId xmlns:a16="http://schemas.microsoft.com/office/drawing/2014/main" id="{3F4F68E6-2801-B9F2-EAD1-E82286699AA8}"/>
              </a:ext>
            </a:extLst>
          </p:cNvPr>
          <p:cNvSpPr txBox="1"/>
          <p:nvPr/>
        </p:nvSpPr>
        <p:spPr>
          <a:xfrm>
            <a:off x="5147926" y="5016880"/>
            <a:ext cx="1624165" cy="307777"/>
          </a:xfrm>
          <a:prstGeom prst="rect">
            <a:avLst/>
          </a:prstGeom>
          <a:noFill/>
        </p:spPr>
        <p:txBody>
          <a:bodyPr wrap="square">
            <a:spAutoFit/>
          </a:bodyPr>
          <a:lstStyle/>
          <a:p>
            <a:pPr algn="ctr"/>
            <a:r>
              <a:rPr lang="en-US" sz="1400" dirty="0">
                <a:solidFill>
                  <a:srgbClr val="2F5597"/>
                </a:solidFill>
              </a:rPr>
              <a:t>New Revenue:</a:t>
            </a:r>
          </a:p>
        </p:txBody>
      </p:sp>
      <p:sp>
        <p:nvSpPr>
          <p:cNvPr id="21" name="TextBox 24">
            <a:extLst>
              <a:ext uri="{FF2B5EF4-FFF2-40B4-BE49-F238E27FC236}">
                <a16:creationId xmlns:a16="http://schemas.microsoft.com/office/drawing/2014/main" id="{BC106FB7-5807-5278-7987-C1D6F675EFB8}"/>
              </a:ext>
            </a:extLst>
          </p:cNvPr>
          <p:cNvSpPr txBox="1"/>
          <p:nvPr/>
        </p:nvSpPr>
        <p:spPr>
          <a:xfrm>
            <a:off x="7232150" y="5016880"/>
            <a:ext cx="1118086" cy="307777"/>
          </a:xfrm>
          <a:prstGeom prst="rect">
            <a:avLst/>
          </a:prstGeom>
          <a:noFill/>
        </p:spPr>
        <p:txBody>
          <a:bodyPr wrap="square">
            <a:spAutoFit/>
          </a:bodyPr>
          <a:lstStyle/>
          <a:p>
            <a:pPr algn="ctr"/>
            <a:r>
              <a:rPr lang="en-US" sz="1400" dirty="0">
                <a:solidFill>
                  <a:srgbClr val="2F5597"/>
                </a:solidFill>
              </a:rPr>
              <a:t>New Profit:</a:t>
            </a:r>
          </a:p>
        </p:txBody>
      </p:sp>
      <p:sp>
        <p:nvSpPr>
          <p:cNvPr id="22" name="TextBox 25">
            <a:extLst>
              <a:ext uri="{FF2B5EF4-FFF2-40B4-BE49-F238E27FC236}">
                <a16:creationId xmlns:a16="http://schemas.microsoft.com/office/drawing/2014/main" id="{9EBA24F1-3A8C-6150-D927-082474F79D22}"/>
              </a:ext>
            </a:extLst>
          </p:cNvPr>
          <p:cNvSpPr txBox="1"/>
          <p:nvPr/>
        </p:nvSpPr>
        <p:spPr>
          <a:xfrm>
            <a:off x="5141641" y="5262605"/>
            <a:ext cx="1588535" cy="400110"/>
          </a:xfrm>
          <a:prstGeom prst="rect">
            <a:avLst/>
          </a:prstGeom>
          <a:noFill/>
        </p:spPr>
        <p:txBody>
          <a:bodyPr wrap="square">
            <a:spAutoFit/>
          </a:bodyPr>
          <a:lstStyle/>
          <a:p>
            <a:pPr algn="ctr"/>
            <a:r>
              <a:rPr lang="en-US" sz="2000" b="1" dirty="0">
                <a:solidFill>
                  <a:srgbClr val="2F5597"/>
                </a:solidFill>
              </a:rPr>
              <a:t>$212.54M</a:t>
            </a:r>
            <a:endParaRPr lang="en-US" sz="2000" dirty="0">
              <a:solidFill>
                <a:srgbClr val="2F5597"/>
              </a:solidFill>
            </a:endParaRPr>
          </a:p>
        </p:txBody>
      </p:sp>
      <p:sp>
        <p:nvSpPr>
          <p:cNvPr id="23" name="TextBox 26">
            <a:extLst>
              <a:ext uri="{FF2B5EF4-FFF2-40B4-BE49-F238E27FC236}">
                <a16:creationId xmlns:a16="http://schemas.microsoft.com/office/drawing/2014/main" id="{681ACBDE-3D92-84E0-860E-5CE53753C151}"/>
              </a:ext>
            </a:extLst>
          </p:cNvPr>
          <p:cNvSpPr txBox="1"/>
          <p:nvPr/>
        </p:nvSpPr>
        <p:spPr>
          <a:xfrm>
            <a:off x="6935190" y="5262605"/>
            <a:ext cx="1588535" cy="400110"/>
          </a:xfrm>
          <a:prstGeom prst="rect">
            <a:avLst/>
          </a:prstGeom>
          <a:noFill/>
        </p:spPr>
        <p:txBody>
          <a:bodyPr wrap="square">
            <a:spAutoFit/>
          </a:bodyPr>
          <a:lstStyle/>
          <a:p>
            <a:pPr algn="ctr"/>
            <a:r>
              <a:rPr lang="en-US" sz="2000" b="1" dirty="0">
                <a:solidFill>
                  <a:srgbClr val="2F5597"/>
                </a:solidFill>
              </a:rPr>
              <a:t>$26.58M</a:t>
            </a:r>
            <a:endParaRPr lang="en-US" sz="2000" dirty="0">
              <a:solidFill>
                <a:srgbClr val="2F5597"/>
              </a:solidFill>
            </a:endParaRPr>
          </a:p>
        </p:txBody>
      </p:sp>
      <p:sp>
        <p:nvSpPr>
          <p:cNvPr id="27" name="Title 1">
            <a:extLst>
              <a:ext uri="{FF2B5EF4-FFF2-40B4-BE49-F238E27FC236}">
                <a16:creationId xmlns:a16="http://schemas.microsoft.com/office/drawing/2014/main" id="{5CB06021-EBF8-C602-9396-8BD2590988EA}"/>
              </a:ext>
            </a:extLst>
          </p:cNvPr>
          <p:cNvSpPr txBox="1">
            <a:spLocks/>
          </p:cNvSpPr>
          <p:nvPr/>
        </p:nvSpPr>
        <p:spPr>
          <a:xfrm>
            <a:off x="327270" y="74824"/>
            <a:ext cx="10515600" cy="1325563"/>
          </a:xfrm>
          <a:prstGeom prst="rect">
            <a:avLst/>
          </a:prstGeom>
        </p:spPr>
        <p:txBody>
          <a:bodyPr vert="horz" lIns="91440" tIns="45720" rIns="91440" bIns="45720" rtlCol="0" anchor="ctr">
            <a:normAutofit/>
          </a:bodyPr>
          <a:lstStyle>
            <a:lvl1pPr algn="l" defTabSz="914411" rtl="0" eaLnBrk="1" latinLnBrk="0" hangingPunct="1">
              <a:lnSpc>
                <a:spcPct val="90000"/>
              </a:lnSpc>
              <a:spcBef>
                <a:spcPct val="0"/>
              </a:spcBef>
              <a:buNone/>
              <a:defRPr sz="4400" kern="1200">
                <a:solidFill>
                  <a:schemeClr val="tx1"/>
                </a:solidFill>
                <a:latin typeface="+mj-lt"/>
                <a:ea typeface="+mj-ea"/>
                <a:cs typeface="+mj-cs"/>
              </a:defRPr>
            </a:lvl1pPr>
          </a:lstStyle>
          <a:p>
            <a:r>
              <a:rPr lang="en-US" b="1" dirty="0">
                <a:latin typeface="Garamond" panose="02020404030301010803" pitchFamily="18" charset="0"/>
              </a:rPr>
              <a:t>Traditional Volume-Based DTE</a:t>
            </a:r>
          </a:p>
        </p:txBody>
      </p:sp>
      <p:pic>
        <p:nvPicPr>
          <p:cNvPr id="1026" name="Picture 2" descr="Key Benefit Administrators Partners with Tennova Healthcare and UT Medical  Center to Provide Direct-to-Employer Health Plans for East Tennessee  Employers | Business Wire">
            <a:extLst>
              <a:ext uri="{FF2B5EF4-FFF2-40B4-BE49-F238E27FC236}">
                <a16:creationId xmlns:a16="http://schemas.microsoft.com/office/drawing/2014/main" id="{E784EB8F-FE7C-3931-B3B9-745064A0584F}"/>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8001" t="37311" r="2234" b="36582"/>
          <a:stretch/>
        </p:blipFill>
        <p:spPr bwMode="auto">
          <a:xfrm>
            <a:off x="581967" y="6528043"/>
            <a:ext cx="1678913" cy="255133"/>
          </a:xfrm>
          <a:prstGeom prst="rect">
            <a:avLst/>
          </a:prstGeom>
          <a:noFill/>
          <a:extLst>
            <a:ext uri="{909E8E84-426E-40DD-AFC4-6F175D3DCCD1}">
              <a14:hiddenFill xmlns:a14="http://schemas.microsoft.com/office/drawing/2010/main">
                <a:solidFill>
                  <a:srgbClr val="FFFFFF"/>
                </a:solidFill>
              </a14:hiddenFill>
            </a:ext>
          </a:extLst>
        </p:spPr>
      </p:pic>
      <p:sp>
        <p:nvSpPr>
          <p:cNvPr id="2" name="Rectangle 6">
            <a:extLst>
              <a:ext uri="{FF2B5EF4-FFF2-40B4-BE49-F238E27FC236}">
                <a16:creationId xmlns:a16="http://schemas.microsoft.com/office/drawing/2014/main" id="{3242B65F-F983-BAE9-112C-59B9EA0096AD}"/>
              </a:ext>
            </a:extLst>
          </p:cNvPr>
          <p:cNvSpPr/>
          <p:nvPr/>
        </p:nvSpPr>
        <p:spPr>
          <a:xfrm>
            <a:off x="2732818" y="6622035"/>
            <a:ext cx="9459182" cy="255133"/>
          </a:xfrm>
          <a:prstGeom prst="rect">
            <a:avLst/>
          </a:prstGeom>
          <a:solidFill>
            <a:srgbClr val="254F96">
              <a:alpha val="9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416672882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5B3B7911-4429-5620-651D-8CF02A22EE52}"/>
              </a:ext>
            </a:extLst>
          </p:cNvPr>
          <p:cNvSpPr>
            <a:spLocks noGrp="1"/>
          </p:cNvSpPr>
          <p:nvPr>
            <p:ph type="sldNum" sz="quarter" idx="12"/>
          </p:nvPr>
        </p:nvSpPr>
        <p:spPr>
          <a:xfrm>
            <a:off x="8610601" y="6199791"/>
            <a:ext cx="2743200" cy="250380"/>
          </a:xfrm>
        </p:spPr>
        <p:txBody>
          <a:bodyPr/>
          <a:lstStyle/>
          <a:p>
            <a:fld id="{3AFC719D-C4A7-4544-876E-D411D11AF6C9}" type="slidenum">
              <a:rPr lang="en-US" smtClean="0"/>
              <a:t>9</a:t>
            </a:fld>
            <a:endParaRPr lang="en-US" dirty="0"/>
          </a:p>
        </p:txBody>
      </p:sp>
      <p:graphicFrame>
        <p:nvGraphicFramePr>
          <p:cNvPr id="8" name="Table 7">
            <a:extLst>
              <a:ext uri="{FF2B5EF4-FFF2-40B4-BE49-F238E27FC236}">
                <a16:creationId xmlns:a16="http://schemas.microsoft.com/office/drawing/2014/main" id="{0074741D-2B9A-0122-543B-08154EC422A8}"/>
              </a:ext>
            </a:extLst>
          </p:cNvPr>
          <p:cNvGraphicFramePr>
            <a:graphicFrameLocks noGrp="1"/>
          </p:cNvGraphicFramePr>
          <p:nvPr>
            <p:extLst>
              <p:ext uri="{D42A27DB-BD31-4B8C-83A1-F6EECF244321}">
                <p14:modId xmlns:p14="http://schemas.microsoft.com/office/powerpoint/2010/main" val="3694134252"/>
              </p:ext>
            </p:extLst>
          </p:nvPr>
        </p:nvGraphicFramePr>
        <p:xfrm>
          <a:off x="8710838" y="338214"/>
          <a:ext cx="3228870" cy="5755496"/>
        </p:xfrm>
        <a:graphic>
          <a:graphicData uri="http://schemas.openxmlformats.org/drawingml/2006/table">
            <a:tbl>
              <a:tblPr/>
              <a:tblGrid>
                <a:gridCol w="1076290">
                  <a:extLst>
                    <a:ext uri="{9D8B030D-6E8A-4147-A177-3AD203B41FA5}">
                      <a16:colId xmlns:a16="http://schemas.microsoft.com/office/drawing/2014/main" val="747333909"/>
                    </a:ext>
                  </a:extLst>
                </a:gridCol>
                <a:gridCol w="1076290">
                  <a:extLst>
                    <a:ext uri="{9D8B030D-6E8A-4147-A177-3AD203B41FA5}">
                      <a16:colId xmlns:a16="http://schemas.microsoft.com/office/drawing/2014/main" val="3421697369"/>
                    </a:ext>
                  </a:extLst>
                </a:gridCol>
                <a:gridCol w="1076290">
                  <a:extLst>
                    <a:ext uri="{9D8B030D-6E8A-4147-A177-3AD203B41FA5}">
                      <a16:colId xmlns:a16="http://schemas.microsoft.com/office/drawing/2014/main" val="1427849391"/>
                    </a:ext>
                  </a:extLst>
                </a:gridCol>
              </a:tblGrid>
              <a:tr h="604396">
                <a:tc>
                  <a:txBody>
                    <a:bodyPr/>
                    <a:lstStyle/>
                    <a:p>
                      <a:pPr marL="0" marR="0" algn="ctr">
                        <a:lnSpc>
                          <a:spcPct val="100000"/>
                        </a:lnSpc>
                        <a:spcBef>
                          <a:spcPts val="0"/>
                        </a:spcBef>
                        <a:spcAft>
                          <a:spcPts val="0"/>
                        </a:spcAft>
                        <a:buNone/>
                      </a:pPr>
                      <a:r>
                        <a:rPr sz="1100" b="1" i="0" u="none" cap="none" dirty="0">
                          <a:solidFill>
                            <a:srgbClr val="000000">
                              <a:alpha val="100000"/>
                            </a:srgbClr>
                          </a:solidFill>
                          <a:latin typeface="Arial"/>
                          <a:cs typeface="Arial"/>
                          <a:sym typeface="Arial"/>
                        </a:rPr>
                        <a:t>Year</a:t>
                      </a:r>
                    </a:p>
                  </a:txBody>
                  <a:tcPr marL="0" marR="0" marT="0" marB="0" anchor="ctr">
                    <a:lnL w="12700" cap="flat" cmpd="sng" algn="ctr">
                      <a:solidFill>
                        <a:schemeClr val="tx1"/>
                      </a:solidFill>
                      <a:prstDash val="solid"/>
                      <a:round/>
                      <a:headEnd type="none" w="med" len="med"/>
                      <a:tailEnd type="none" w="med" len="med"/>
                    </a:lnL>
                    <a:lnR w="0" cap="flat" cmpd="sng" algn="ctr">
                      <a:noFill/>
                      <a:prstDash val="solid"/>
                    </a:lnR>
                    <a:lnT w="12700" cap="flat" cmpd="sng" algn="ctr">
                      <a:solidFill>
                        <a:schemeClr val="tx1"/>
                      </a:solidFill>
                      <a:prstDash val="solid"/>
                      <a:round/>
                      <a:headEnd type="none" w="med" len="med"/>
                      <a:tailEnd type="none" w="med" len="med"/>
                    </a:lnT>
                    <a:lnB w="25400" cap="flat" cmpd="sng" algn="ctr">
                      <a:solidFill>
                        <a:srgbClr val="000000"/>
                      </a:solidFill>
                      <a:prstDash val="solid"/>
                      <a:round/>
                      <a:headEnd type="none" w="med" len="med"/>
                      <a:tailEnd type="none" w="med" len="med"/>
                    </a:lnB>
                    <a:solidFill>
                      <a:srgbClr val="F2F2F2">
                        <a:alpha val="100000"/>
                      </a:srgbClr>
                    </a:solidFill>
                  </a:tcPr>
                </a:tc>
                <a:tc>
                  <a:txBody>
                    <a:bodyPr/>
                    <a:lstStyle/>
                    <a:p>
                      <a:pPr marL="0" marR="0" algn="ctr">
                        <a:lnSpc>
                          <a:spcPct val="100000"/>
                        </a:lnSpc>
                        <a:spcBef>
                          <a:spcPts val="0"/>
                        </a:spcBef>
                        <a:spcAft>
                          <a:spcPts val="0"/>
                        </a:spcAft>
                        <a:buNone/>
                      </a:pPr>
                      <a:r>
                        <a:rPr lang="en-US" sz="1100" b="1" i="0" u="none" cap="none" dirty="0">
                          <a:solidFill>
                            <a:srgbClr val="000000">
                              <a:alpha val="100000"/>
                            </a:srgbClr>
                          </a:solidFill>
                          <a:latin typeface="Arial"/>
                          <a:cs typeface="Arial"/>
                          <a:sym typeface="Arial"/>
                        </a:rPr>
                        <a:t>Target</a:t>
                      </a:r>
                    </a:p>
                    <a:p>
                      <a:pPr marL="0" marR="0" algn="ctr">
                        <a:lnSpc>
                          <a:spcPct val="100000"/>
                        </a:lnSpc>
                        <a:spcBef>
                          <a:spcPts val="0"/>
                        </a:spcBef>
                        <a:spcAft>
                          <a:spcPts val="0"/>
                        </a:spcAft>
                        <a:buNone/>
                      </a:pPr>
                      <a:r>
                        <a:rPr sz="1100" b="1" i="0" u="none" cap="none" dirty="0">
                          <a:solidFill>
                            <a:srgbClr val="000000">
                              <a:alpha val="100000"/>
                            </a:srgbClr>
                          </a:solidFill>
                          <a:latin typeface="Arial"/>
                          <a:cs typeface="Arial"/>
                          <a:sym typeface="Arial"/>
                        </a:rPr>
                        <a:t>Employees</a:t>
                      </a:r>
                    </a:p>
                  </a:txBody>
                  <a:tcPr marL="0" marR="0" marT="0" marB="0" anchor="ctr">
                    <a:lnL w="0" cap="flat" cmpd="sng" algn="ctr">
                      <a:noFill/>
                      <a:prstDash val="solid"/>
                    </a:lnL>
                    <a:lnR w="0" cap="flat" cmpd="sng" algn="ctr">
                      <a:noFill/>
                      <a:prstDash val="solid"/>
                    </a:lnR>
                    <a:lnT w="12700" cap="flat" cmpd="sng" algn="ctr">
                      <a:solidFill>
                        <a:schemeClr val="tx1"/>
                      </a:solidFill>
                      <a:prstDash val="solid"/>
                      <a:round/>
                      <a:headEnd type="none" w="med" len="med"/>
                      <a:tailEnd type="none" w="med" len="med"/>
                    </a:lnT>
                    <a:lnB w="25400" cap="flat" cmpd="sng" algn="ctr">
                      <a:solidFill>
                        <a:srgbClr val="000000"/>
                      </a:solidFill>
                      <a:prstDash val="solid"/>
                      <a:round/>
                      <a:headEnd type="none" w="med" len="med"/>
                      <a:tailEnd type="none" w="med" len="med"/>
                    </a:lnB>
                    <a:solidFill>
                      <a:srgbClr val="F2F2F2">
                        <a:alpha val="100000"/>
                      </a:srgbClr>
                    </a:solidFill>
                  </a:tcPr>
                </a:tc>
                <a:tc>
                  <a:txBody>
                    <a:bodyPr/>
                    <a:lstStyle/>
                    <a:p>
                      <a:pPr marL="0" marR="0" algn="ctr">
                        <a:lnSpc>
                          <a:spcPct val="100000"/>
                        </a:lnSpc>
                        <a:spcBef>
                          <a:spcPts val="0"/>
                        </a:spcBef>
                        <a:spcAft>
                          <a:spcPts val="0"/>
                        </a:spcAft>
                        <a:buNone/>
                      </a:pPr>
                      <a:r>
                        <a:rPr lang="en-US" sz="1100" b="1" i="0" u="none" cap="none" dirty="0">
                          <a:solidFill>
                            <a:srgbClr val="000000">
                              <a:alpha val="100000"/>
                            </a:srgbClr>
                          </a:solidFill>
                          <a:latin typeface="Arial"/>
                          <a:cs typeface="Arial"/>
                          <a:sym typeface="Arial"/>
                        </a:rPr>
                        <a:t>Target</a:t>
                      </a:r>
                    </a:p>
                    <a:p>
                      <a:pPr marL="0" marR="0" algn="ctr">
                        <a:lnSpc>
                          <a:spcPct val="100000"/>
                        </a:lnSpc>
                        <a:spcBef>
                          <a:spcPts val="0"/>
                        </a:spcBef>
                        <a:spcAft>
                          <a:spcPts val="0"/>
                        </a:spcAft>
                        <a:buNone/>
                      </a:pPr>
                      <a:r>
                        <a:rPr sz="1100" b="1" i="0" u="none" cap="none" dirty="0">
                          <a:solidFill>
                            <a:srgbClr val="000000">
                              <a:alpha val="100000"/>
                            </a:srgbClr>
                          </a:solidFill>
                          <a:latin typeface="Arial"/>
                          <a:cs typeface="Arial"/>
                          <a:sym typeface="Arial"/>
                        </a:rPr>
                        <a:t>Members</a:t>
                      </a:r>
                    </a:p>
                  </a:txBody>
                  <a:tcPr marL="0" marR="0" marT="0" marB="0" anchor="ctr">
                    <a:lnL w="0" cap="flat" cmpd="sng" algn="ctr">
                      <a:noFill/>
                      <a:prstDash val="soli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5400" cap="flat" cmpd="sng" algn="ctr">
                      <a:solidFill>
                        <a:srgbClr val="000000"/>
                      </a:solidFill>
                      <a:prstDash val="solid"/>
                      <a:round/>
                      <a:headEnd type="none" w="med" len="med"/>
                      <a:tailEnd type="none" w="med" len="med"/>
                    </a:lnB>
                    <a:solidFill>
                      <a:srgbClr val="F2F2F2">
                        <a:alpha val="100000"/>
                      </a:srgbClr>
                    </a:solidFill>
                  </a:tcPr>
                </a:tc>
                <a:extLst>
                  <a:ext uri="{0D108BD9-81ED-4DB2-BD59-A6C34878D82A}">
                    <a16:rowId xmlns:a16="http://schemas.microsoft.com/office/drawing/2014/main" val="2737570731"/>
                  </a:ext>
                </a:extLst>
              </a:tr>
              <a:tr h="206044">
                <a:tc>
                  <a:txBody>
                    <a:bodyPr/>
                    <a:lstStyle/>
                    <a:p>
                      <a:pPr marL="0" marR="0" algn="ctr">
                        <a:lnSpc>
                          <a:spcPct val="100000"/>
                        </a:lnSpc>
                        <a:spcBef>
                          <a:spcPts val="0"/>
                        </a:spcBef>
                        <a:spcAft>
                          <a:spcPts val="0"/>
                        </a:spcAft>
                        <a:buNone/>
                      </a:pPr>
                      <a:r>
                        <a:rPr sz="1100" b="1" i="0" u="none" cap="none" dirty="0">
                          <a:solidFill>
                            <a:srgbClr val="000000">
                              <a:alpha val="100000"/>
                            </a:srgbClr>
                          </a:solidFill>
                          <a:latin typeface="Arial"/>
                          <a:cs typeface="Arial"/>
                          <a:sym typeface="Arial"/>
                        </a:rPr>
                        <a:t>1</a:t>
                      </a:r>
                    </a:p>
                  </a:txBody>
                  <a:tcPr marL="0" marR="0" marT="0" marB="0" anchor="ctr">
                    <a:lnL w="12700" cap="flat" cmpd="sng" algn="ctr">
                      <a:solidFill>
                        <a:schemeClr val="tx1"/>
                      </a:solidFill>
                      <a:prstDash val="solid"/>
                      <a:round/>
                      <a:headEnd type="none" w="med" len="med"/>
                      <a:tailEnd type="none" w="med" len="med"/>
                    </a:lnL>
                    <a:lnR w="0" cap="flat" cmpd="sng" algn="ctr">
                      <a:no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100</a:t>
                      </a:r>
                    </a:p>
                  </a:txBody>
                  <a:tcPr marL="0" marR="0" marT="0" marB="0" anchor="ctr">
                    <a:lnL w="0" cap="flat" cmpd="sng" algn="ctr">
                      <a:noFill/>
                      <a:prstDash val="solid"/>
                    </a:lnL>
                    <a:lnR w="0" cap="flat" cmpd="sng" algn="ctr">
                      <a:no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200</a:t>
                      </a:r>
                    </a:p>
                  </a:txBody>
                  <a:tcPr marL="0" marR="0" marT="0" marB="0" anchor="ctr">
                    <a:lnL w="0" cap="flat" cmpd="sng" algn="ctr">
                      <a:noFill/>
                      <a:prstDash val="solid"/>
                    </a:lnL>
                    <a:lnR w="12700" cap="flat" cmpd="sng" algn="ctr">
                      <a:solidFill>
                        <a:schemeClr val="tx1"/>
                      </a:solidFill>
                      <a:prstDash val="solid"/>
                      <a:round/>
                      <a:headEnd type="none" w="med" len="med"/>
                      <a:tailEnd type="none" w="med" len="me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2580220669"/>
                  </a:ext>
                </a:extLst>
              </a:tr>
              <a:tr h="206044">
                <a:tc>
                  <a:txBody>
                    <a:bodyPr/>
                    <a:lstStyle/>
                    <a:p>
                      <a:pPr marL="0" marR="0" algn="ctr">
                        <a:lnSpc>
                          <a:spcPct val="100000"/>
                        </a:lnSpc>
                        <a:spcBef>
                          <a:spcPts val="0"/>
                        </a:spcBef>
                        <a:spcAft>
                          <a:spcPts val="0"/>
                        </a:spcAft>
                        <a:buNone/>
                      </a:pPr>
                      <a:r>
                        <a:rPr sz="1100" b="1" i="0" u="none" cap="none">
                          <a:solidFill>
                            <a:srgbClr val="000000">
                              <a:alpha val="100000"/>
                            </a:srgbClr>
                          </a:solidFill>
                          <a:latin typeface="Arial"/>
                          <a:cs typeface="Arial"/>
                          <a:sym typeface="Arial"/>
                        </a:rPr>
                        <a:t>2</a:t>
                      </a:r>
                    </a:p>
                  </a:txBody>
                  <a:tcPr marL="0" marR="0" marT="0" marB="0" anchor="ctr">
                    <a:lnL w="12700" cap="flat" cmpd="sng" algn="ctr">
                      <a:solidFill>
                        <a:schemeClr val="tx1"/>
                      </a:solidFill>
                      <a:prstDash val="solid"/>
                      <a:round/>
                      <a:headEnd type="none" w="med" len="med"/>
                      <a:tailEnd type="none" w="med" len="me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200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400</a:t>
                      </a:r>
                    </a:p>
                  </a:txBody>
                  <a:tcPr marL="0" marR="0" marT="0" marB="0" anchor="ctr">
                    <a:lnL w="0" cap="flat" cmpd="sng" algn="ctr">
                      <a:noFill/>
                      <a:prstDash val="solid"/>
                    </a:lnL>
                    <a:lnR w="12700" cap="flat" cmpd="sng" algn="ctr">
                      <a:solidFill>
                        <a:schemeClr val="tx1"/>
                      </a:solidFill>
                      <a:prstDash val="solid"/>
                      <a:round/>
                      <a:headEnd type="none" w="med" len="med"/>
                      <a:tailEnd type="none" w="med" len="me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2430363122"/>
                  </a:ext>
                </a:extLst>
              </a:tr>
              <a:tr h="206044">
                <a:tc>
                  <a:txBody>
                    <a:bodyPr/>
                    <a:lstStyle/>
                    <a:p>
                      <a:pPr marL="0" marR="0" algn="ctr">
                        <a:lnSpc>
                          <a:spcPct val="100000"/>
                        </a:lnSpc>
                        <a:spcBef>
                          <a:spcPts val="0"/>
                        </a:spcBef>
                        <a:spcAft>
                          <a:spcPts val="0"/>
                        </a:spcAft>
                        <a:buNone/>
                      </a:pPr>
                      <a:r>
                        <a:rPr sz="1100" b="1" i="0" u="none" cap="none">
                          <a:solidFill>
                            <a:srgbClr val="000000">
                              <a:alpha val="100000"/>
                            </a:srgbClr>
                          </a:solidFill>
                          <a:latin typeface="Arial"/>
                          <a:cs typeface="Arial"/>
                          <a:sym typeface="Arial"/>
                        </a:rPr>
                        <a:t>3</a:t>
                      </a:r>
                    </a:p>
                  </a:txBody>
                  <a:tcPr marL="0" marR="0" marT="0" marB="0" anchor="ctr">
                    <a:lnL w="12700" cap="flat" cmpd="sng" algn="ctr">
                      <a:solidFill>
                        <a:schemeClr val="tx1"/>
                      </a:solidFill>
                      <a:prstDash val="solid"/>
                      <a:round/>
                      <a:headEnd type="none" w="med" len="med"/>
                      <a:tailEnd type="none" w="med" len="me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300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500</a:t>
                      </a:r>
                    </a:p>
                  </a:txBody>
                  <a:tcPr marL="0" marR="0" marT="0" marB="0" anchor="ctr">
                    <a:lnL w="0" cap="flat" cmpd="sng" algn="ctr">
                      <a:noFill/>
                      <a:prstDash val="solid"/>
                    </a:lnL>
                    <a:lnR w="12700" cap="flat" cmpd="sng" algn="ctr">
                      <a:solidFill>
                        <a:schemeClr val="tx1"/>
                      </a:solidFill>
                      <a:prstDash val="solid"/>
                      <a:round/>
                      <a:headEnd type="none" w="med" len="med"/>
                      <a:tailEnd type="none" w="med" len="me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2731343589"/>
                  </a:ext>
                </a:extLst>
              </a:tr>
              <a:tr h="206044">
                <a:tc>
                  <a:txBody>
                    <a:bodyPr/>
                    <a:lstStyle/>
                    <a:p>
                      <a:pPr marL="0" marR="0" algn="ctr">
                        <a:lnSpc>
                          <a:spcPct val="100000"/>
                        </a:lnSpc>
                        <a:spcBef>
                          <a:spcPts val="0"/>
                        </a:spcBef>
                        <a:spcAft>
                          <a:spcPts val="0"/>
                        </a:spcAft>
                        <a:buNone/>
                      </a:pPr>
                      <a:r>
                        <a:rPr sz="1100" b="1" i="0" u="none" cap="none">
                          <a:solidFill>
                            <a:srgbClr val="000000">
                              <a:alpha val="100000"/>
                            </a:srgbClr>
                          </a:solidFill>
                          <a:latin typeface="Arial"/>
                          <a:cs typeface="Arial"/>
                          <a:sym typeface="Arial"/>
                        </a:rPr>
                        <a:t>4</a:t>
                      </a:r>
                    </a:p>
                  </a:txBody>
                  <a:tcPr marL="0" marR="0" marT="0" marB="0" anchor="ctr">
                    <a:lnL w="12700" cap="flat" cmpd="sng" algn="ctr">
                      <a:solidFill>
                        <a:schemeClr val="tx1"/>
                      </a:solidFill>
                      <a:prstDash val="solid"/>
                      <a:round/>
                      <a:headEnd type="none" w="med" len="med"/>
                      <a:tailEnd type="none" w="med" len="me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dirty="0">
                          <a:solidFill>
                            <a:srgbClr val="000000">
                              <a:alpha val="100000"/>
                            </a:srgbClr>
                          </a:solidFill>
                          <a:latin typeface="Arial"/>
                          <a:cs typeface="Arial"/>
                          <a:sym typeface="Arial"/>
                        </a:rPr>
                        <a:t>400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700</a:t>
                      </a:r>
                    </a:p>
                  </a:txBody>
                  <a:tcPr marL="0" marR="0" marT="0" marB="0" anchor="ctr">
                    <a:lnL w="0" cap="flat" cmpd="sng" algn="ctr">
                      <a:noFill/>
                      <a:prstDash val="solid"/>
                    </a:lnL>
                    <a:lnR w="12700" cap="flat" cmpd="sng" algn="ctr">
                      <a:solidFill>
                        <a:schemeClr val="tx1"/>
                      </a:solidFill>
                      <a:prstDash val="solid"/>
                      <a:round/>
                      <a:headEnd type="none" w="med" len="med"/>
                      <a:tailEnd type="none" w="med" len="me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3796413393"/>
                  </a:ext>
                </a:extLst>
              </a:tr>
              <a:tr h="206044">
                <a:tc>
                  <a:txBody>
                    <a:bodyPr/>
                    <a:lstStyle/>
                    <a:p>
                      <a:pPr marL="0" marR="0" algn="ctr">
                        <a:lnSpc>
                          <a:spcPct val="100000"/>
                        </a:lnSpc>
                        <a:spcBef>
                          <a:spcPts val="0"/>
                        </a:spcBef>
                        <a:spcAft>
                          <a:spcPts val="0"/>
                        </a:spcAft>
                        <a:buNone/>
                      </a:pPr>
                      <a:r>
                        <a:rPr sz="1100" b="1" i="0" u="none" cap="none">
                          <a:solidFill>
                            <a:srgbClr val="000000">
                              <a:alpha val="100000"/>
                            </a:srgbClr>
                          </a:solidFill>
                          <a:latin typeface="Arial"/>
                          <a:cs typeface="Arial"/>
                          <a:sym typeface="Arial"/>
                        </a:rPr>
                        <a:t>5</a:t>
                      </a:r>
                    </a:p>
                  </a:txBody>
                  <a:tcPr marL="0" marR="0" marT="0" marB="0" anchor="ctr">
                    <a:lnL w="12700" cap="flat" cmpd="sng" algn="ctr">
                      <a:solidFill>
                        <a:schemeClr val="tx1"/>
                      </a:solidFill>
                      <a:prstDash val="solid"/>
                      <a:round/>
                      <a:headEnd type="none" w="med" len="med"/>
                      <a:tailEnd type="none" w="med" len="me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dirty="0">
                          <a:solidFill>
                            <a:srgbClr val="000000">
                              <a:alpha val="100000"/>
                            </a:srgbClr>
                          </a:solidFill>
                          <a:latin typeface="Arial"/>
                          <a:cs typeface="Arial"/>
                          <a:sym typeface="Arial"/>
                        </a:rPr>
                        <a:t>600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1,100</a:t>
                      </a:r>
                    </a:p>
                  </a:txBody>
                  <a:tcPr marL="0" marR="0" marT="0" marB="0" anchor="ctr">
                    <a:lnL w="0" cap="flat" cmpd="sng" algn="ctr">
                      <a:noFill/>
                      <a:prstDash val="solid"/>
                    </a:lnL>
                    <a:lnR w="12700" cap="flat" cmpd="sng" algn="ctr">
                      <a:solidFill>
                        <a:schemeClr val="tx1"/>
                      </a:solidFill>
                      <a:prstDash val="solid"/>
                      <a:round/>
                      <a:headEnd type="none" w="med" len="med"/>
                      <a:tailEnd type="none" w="med" len="me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3685085520"/>
                  </a:ext>
                </a:extLst>
              </a:tr>
              <a:tr h="206044">
                <a:tc>
                  <a:txBody>
                    <a:bodyPr/>
                    <a:lstStyle/>
                    <a:p>
                      <a:pPr marL="0" marR="0" algn="ctr">
                        <a:lnSpc>
                          <a:spcPct val="100000"/>
                        </a:lnSpc>
                        <a:spcBef>
                          <a:spcPts val="0"/>
                        </a:spcBef>
                        <a:spcAft>
                          <a:spcPts val="0"/>
                        </a:spcAft>
                        <a:buNone/>
                      </a:pPr>
                      <a:r>
                        <a:rPr sz="1100" b="1" i="0" u="none" cap="none">
                          <a:solidFill>
                            <a:srgbClr val="000000">
                              <a:alpha val="100000"/>
                            </a:srgbClr>
                          </a:solidFill>
                          <a:latin typeface="Arial"/>
                          <a:cs typeface="Arial"/>
                          <a:sym typeface="Arial"/>
                        </a:rPr>
                        <a:t>6</a:t>
                      </a:r>
                    </a:p>
                  </a:txBody>
                  <a:tcPr marL="0" marR="0" marT="0" marB="0" anchor="ctr">
                    <a:lnL w="12700" cap="flat" cmpd="sng" algn="ctr">
                      <a:solidFill>
                        <a:schemeClr val="tx1"/>
                      </a:solidFill>
                      <a:prstDash val="solid"/>
                      <a:round/>
                      <a:headEnd type="none" w="med" len="med"/>
                      <a:tailEnd type="none" w="med" len="me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900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1,600</a:t>
                      </a:r>
                    </a:p>
                  </a:txBody>
                  <a:tcPr marL="0" marR="0" marT="0" marB="0" anchor="ctr">
                    <a:lnL w="0" cap="flat" cmpd="sng" algn="ctr">
                      <a:noFill/>
                      <a:prstDash val="solid"/>
                    </a:lnL>
                    <a:lnR w="12700" cap="flat" cmpd="sng" algn="ctr">
                      <a:solidFill>
                        <a:schemeClr val="tx1"/>
                      </a:solidFill>
                      <a:prstDash val="solid"/>
                      <a:round/>
                      <a:headEnd type="none" w="med" len="med"/>
                      <a:tailEnd type="none" w="med" len="me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3647458886"/>
                  </a:ext>
                </a:extLst>
              </a:tr>
              <a:tr h="206044">
                <a:tc>
                  <a:txBody>
                    <a:bodyPr/>
                    <a:lstStyle/>
                    <a:p>
                      <a:pPr marL="0" marR="0" algn="ctr">
                        <a:lnSpc>
                          <a:spcPct val="100000"/>
                        </a:lnSpc>
                        <a:spcBef>
                          <a:spcPts val="0"/>
                        </a:spcBef>
                        <a:spcAft>
                          <a:spcPts val="0"/>
                        </a:spcAft>
                        <a:buNone/>
                      </a:pPr>
                      <a:r>
                        <a:rPr sz="1100" b="1" i="0" u="none" cap="none">
                          <a:solidFill>
                            <a:srgbClr val="000000">
                              <a:alpha val="100000"/>
                            </a:srgbClr>
                          </a:solidFill>
                          <a:latin typeface="Arial"/>
                          <a:cs typeface="Arial"/>
                          <a:sym typeface="Arial"/>
                        </a:rPr>
                        <a:t>7</a:t>
                      </a:r>
                    </a:p>
                  </a:txBody>
                  <a:tcPr marL="0" marR="0" marT="0" marB="0" anchor="ctr">
                    <a:lnL w="12700" cap="flat" cmpd="sng" algn="ctr">
                      <a:solidFill>
                        <a:schemeClr val="tx1"/>
                      </a:solidFill>
                      <a:prstDash val="solid"/>
                      <a:round/>
                      <a:headEnd type="none" w="med" len="med"/>
                      <a:tailEnd type="none" w="med" len="me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dirty="0">
                          <a:solidFill>
                            <a:srgbClr val="000000">
                              <a:alpha val="100000"/>
                            </a:srgbClr>
                          </a:solidFill>
                          <a:latin typeface="Arial"/>
                          <a:cs typeface="Arial"/>
                          <a:sym typeface="Arial"/>
                        </a:rPr>
                        <a:t>1,200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2,200</a:t>
                      </a:r>
                    </a:p>
                  </a:txBody>
                  <a:tcPr marL="0" marR="0" marT="0" marB="0" anchor="ctr">
                    <a:lnL w="0" cap="flat" cmpd="sng" algn="ctr">
                      <a:noFill/>
                      <a:prstDash val="solid"/>
                    </a:lnL>
                    <a:lnR w="12700" cap="flat" cmpd="sng" algn="ctr">
                      <a:solidFill>
                        <a:schemeClr val="tx1"/>
                      </a:solidFill>
                      <a:prstDash val="solid"/>
                      <a:round/>
                      <a:headEnd type="none" w="med" len="med"/>
                      <a:tailEnd type="none" w="med" len="me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417589541"/>
                  </a:ext>
                </a:extLst>
              </a:tr>
              <a:tr h="206044">
                <a:tc>
                  <a:txBody>
                    <a:bodyPr/>
                    <a:lstStyle/>
                    <a:p>
                      <a:pPr marL="0" marR="0" algn="ctr">
                        <a:lnSpc>
                          <a:spcPct val="100000"/>
                        </a:lnSpc>
                        <a:spcBef>
                          <a:spcPts val="0"/>
                        </a:spcBef>
                        <a:spcAft>
                          <a:spcPts val="0"/>
                        </a:spcAft>
                        <a:buNone/>
                      </a:pPr>
                      <a:r>
                        <a:rPr sz="1100" b="1" i="0" u="none" cap="none">
                          <a:solidFill>
                            <a:srgbClr val="000000">
                              <a:alpha val="100000"/>
                            </a:srgbClr>
                          </a:solidFill>
                          <a:latin typeface="Arial"/>
                          <a:cs typeface="Arial"/>
                          <a:sym typeface="Arial"/>
                        </a:rPr>
                        <a:t>8</a:t>
                      </a:r>
                    </a:p>
                  </a:txBody>
                  <a:tcPr marL="0" marR="0" marT="0" marB="0" anchor="ctr">
                    <a:lnL w="12700" cap="flat" cmpd="sng" algn="ctr">
                      <a:solidFill>
                        <a:schemeClr val="tx1"/>
                      </a:solidFill>
                      <a:prstDash val="solid"/>
                      <a:round/>
                      <a:headEnd type="none" w="med" len="med"/>
                      <a:tailEnd type="none" w="med" len="me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dirty="0">
                          <a:solidFill>
                            <a:srgbClr val="000000">
                              <a:alpha val="100000"/>
                            </a:srgbClr>
                          </a:solidFill>
                          <a:latin typeface="Arial"/>
                          <a:cs typeface="Arial"/>
                          <a:sym typeface="Arial"/>
                        </a:rPr>
                        <a:t>1,600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2,900</a:t>
                      </a:r>
                    </a:p>
                  </a:txBody>
                  <a:tcPr marL="0" marR="0" marT="0" marB="0" anchor="ctr">
                    <a:lnL w="0" cap="flat" cmpd="sng" algn="ctr">
                      <a:noFill/>
                      <a:prstDash val="solid"/>
                    </a:lnL>
                    <a:lnR w="12700" cap="flat" cmpd="sng" algn="ctr">
                      <a:solidFill>
                        <a:schemeClr val="tx1"/>
                      </a:solidFill>
                      <a:prstDash val="solid"/>
                      <a:round/>
                      <a:headEnd type="none" w="med" len="med"/>
                      <a:tailEnd type="none" w="med" len="me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386991442"/>
                  </a:ext>
                </a:extLst>
              </a:tr>
              <a:tr h="206044">
                <a:tc>
                  <a:txBody>
                    <a:bodyPr/>
                    <a:lstStyle/>
                    <a:p>
                      <a:pPr marL="0" marR="0" algn="ctr">
                        <a:lnSpc>
                          <a:spcPct val="100000"/>
                        </a:lnSpc>
                        <a:spcBef>
                          <a:spcPts val="0"/>
                        </a:spcBef>
                        <a:spcAft>
                          <a:spcPts val="0"/>
                        </a:spcAft>
                        <a:buNone/>
                      </a:pPr>
                      <a:r>
                        <a:rPr sz="1100" b="1" i="0" u="none" cap="none">
                          <a:solidFill>
                            <a:srgbClr val="000000">
                              <a:alpha val="100000"/>
                            </a:srgbClr>
                          </a:solidFill>
                          <a:latin typeface="Arial"/>
                          <a:cs typeface="Arial"/>
                          <a:sym typeface="Arial"/>
                        </a:rPr>
                        <a:t>9</a:t>
                      </a:r>
                    </a:p>
                  </a:txBody>
                  <a:tcPr marL="0" marR="0" marT="0" marB="0" anchor="ctr">
                    <a:lnL w="12700" cap="flat" cmpd="sng" algn="ctr">
                      <a:solidFill>
                        <a:schemeClr val="tx1"/>
                      </a:solidFill>
                      <a:prstDash val="solid"/>
                      <a:round/>
                      <a:headEnd type="none" w="med" len="med"/>
                      <a:tailEnd type="none" w="med" len="me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2,100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3,800</a:t>
                      </a:r>
                    </a:p>
                  </a:txBody>
                  <a:tcPr marL="0" marR="0" marT="0" marB="0" anchor="ctr">
                    <a:lnL w="0" cap="flat" cmpd="sng" algn="ctr">
                      <a:noFill/>
                      <a:prstDash val="solid"/>
                    </a:lnL>
                    <a:lnR w="12700" cap="flat" cmpd="sng" algn="ctr">
                      <a:solidFill>
                        <a:schemeClr val="tx1"/>
                      </a:solidFill>
                      <a:prstDash val="solid"/>
                      <a:round/>
                      <a:headEnd type="none" w="med" len="med"/>
                      <a:tailEnd type="none" w="med" len="me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932558393"/>
                  </a:ext>
                </a:extLst>
              </a:tr>
              <a:tr h="206044">
                <a:tc>
                  <a:txBody>
                    <a:bodyPr/>
                    <a:lstStyle/>
                    <a:p>
                      <a:pPr marL="0" marR="0" algn="ctr">
                        <a:lnSpc>
                          <a:spcPct val="100000"/>
                        </a:lnSpc>
                        <a:spcBef>
                          <a:spcPts val="0"/>
                        </a:spcBef>
                        <a:spcAft>
                          <a:spcPts val="0"/>
                        </a:spcAft>
                        <a:buNone/>
                      </a:pPr>
                      <a:r>
                        <a:rPr sz="1100" b="1" i="0" u="none" cap="none">
                          <a:solidFill>
                            <a:srgbClr val="000000">
                              <a:alpha val="100000"/>
                            </a:srgbClr>
                          </a:solidFill>
                          <a:latin typeface="Arial"/>
                          <a:cs typeface="Arial"/>
                          <a:sym typeface="Arial"/>
                        </a:rPr>
                        <a:t>10</a:t>
                      </a:r>
                    </a:p>
                  </a:txBody>
                  <a:tcPr marL="0" marR="0" marT="0" marB="0" anchor="ctr">
                    <a:lnL w="12700" cap="flat" cmpd="sng" algn="ctr">
                      <a:solidFill>
                        <a:schemeClr val="tx1"/>
                      </a:solidFill>
                      <a:prstDash val="solid"/>
                      <a:round/>
                      <a:headEnd type="none" w="med" len="med"/>
                      <a:tailEnd type="none" w="med" len="me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2,600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4,700</a:t>
                      </a:r>
                    </a:p>
                  </a:txBody>
                  <a:tcPr marL="0" marR="0" marT="0" marB="0" anchor="ctr">
                    <a:lnL w="0" cap="flat" cmpd="sng" algn="ctr">
                      <a:noFill/>
                      <a:prstDash val="solid"/>
                    </a:lnL>
                    <a:lnR w="12700" cap="flat" cmpd="sng" algn="ctr">
                      <a:solidFill>
                        <a:schemeClr val="tx1"/>
                      </a:solidFill>
                      <a:prstDash val="solid"/>
                      <a:round/>
                      <a:headEnd type="none" w="med" len="med"/>
                      <a:tailEnd type="none" w="med" len="me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469837802"/>
                  </a:ext>
                </a:extLst>
              </a:tr>
              <a:tr h="206044">
                <a:tc>
                  <a:txBody>
                    <a:bodyPr/>
                    <a:lstStyle/>
                    <a:p>
                      <a:pPr marL="0" marR="0" algn="ctr">
                        <a:lnSpc>
                          <a:spcPct val="100000"/>
                        </a:lnSpc>
                        <a:spcBef>
                          <a:spcPts val="0"/>
                        </a:spcBef>
                        <a:spcAft>
                          <a:spcPts val="0"/>
                        </a:spcAft>
                        <a:buNone/>
                      </a:pPr>
                      <a:r>
                        <a:rPr sz="1100" b="1" i="0" u="none" cap="none">
                          <a:solidFill>
                            <a:srgbClr val="000000">
                              <a:alpha val="100000"/>
                            </a:srgbClr>
                          </a:solidFill>
                          <a:latin typeface="Arial"/>
                          <a:cs typeface="Arial"/>
                          <a:sym typeface="Arial"/>
                        </a:rPr>
                        <a:t>11</a:t>
                      </a:r>
                    </a:p>
                  </a:txBody>
                  <a:tcPr marL="0" marR="0" marT="0" marB="0" anchor="ctr">
                    <a:lnL w="12700" cap="flat" cmpd="sng" algn="ctr">
                      <a:solidFill>
                        <a:schemeClr val="tx1"/>
                      </a:solidFill>
                      <a:prstDash val="solid"/>
                      <a:round/>
                      <a:headEnd type="none" w="med" len="med"/>
                      <a:tailEnd type="none" w="med" len="me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dirty="0">
                          <a:solidFill>
                            <a:srgbClr val="000000">
                              <a:alpha val="100000"/>
                            </a:srgbClr>
                          </a:solidFill>
                          <a:latin typeface="Arial"/>
                          <a:cs typeface="Arial"/>
                          <a:sym typeface="Arial"/>
                        </a:rPr>
                        <a:t>3,300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5,900</a:t>
                      </a:r>
                    </a:p>
                  </a:txBody>
                  <a:tcPr marL="0" marR="0" marT="0" marB="0" anchor="ctr">
                    <a:lnL w="0" cap="flat" cmpd="sng" algn="ctr">
                      <a:noFill/>
                      <a:prstDash val="solid"/>
                    </a:lnL>
                    <a:lnR w="12700" cap="flat" cmpd="sng" algn="ctr">
                      <a:solidFill>
                        <a:schemeClr val="tx1"/>
                      </a:solidFill>
                      <a:prstDash val="solid"/>
                      <a:round/>
                      <a:headEnd type="none" w="med" len="med"/>
                      <a:tailEnd type="none" w="med" len="me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2675900602"/>
                  </a:ext>
                </a:extLst>
              </a:tr>
              <a:tr h="206044">
                <a:tc>
                  <a:txBody>
                    <a:bodyPr/>
                    <a:lstStyle/>
                    <a:p>
                      <a:pPr marL="0" marR="0" algn="ctr">
                        <a:lnSpc>
                          <a:spcPct val="100000"/>
                        </a:lnSpc>
                        <a:spcBef>
                          <a:spcPts val="0"/>
                        </a:spcBef>
                        <a:spcAft>
                          <a:spcPts val="0"/>
                        </a:spcAft>
                        <a:buNone/>
                      </a:pPr>
                      <a:r>
                        <a:rPr sz="1100" b="1" i="0" u="none" cap="none">
                          <a:solidFill>
                            <a:srgbClr val="000000">
                              <a:alpha val="100000"/>
                            </a:srgbClr>
                          </a:solidFill>
                          <a:latin typeface="Arial"/>
                          <a:cs typeface="Arial"/>
                          <a:sym typeface="Arial"/>
                        </a:rPr>
                        <a:t>12</a:t>
                      </a:r>
                    </a:p>
                  </a:txBody>
                  <a:tcPr marL="0" marR="0" marT="0" marB="0" anchor="ctr">
                    <a:lnL w="12700" cap="flat" cmpd="sng" algn="ctr">
                      <a:solidFill>
                        <a:schemeClr val="tx1"/>
                      </a:solidFill>
                      <a:prstDash val="solid"/>
                      <a:round/>
                      <a:headEnd type="none" w="med" len="med"/>
                      <a:tailEnd type="none" w="med" len="me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4,000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dirty="0">
                          <a:solidFill>
                            <a:srgbClr val="000000">
                              <a:alpha val="100000"/>
                            </a:srgbClr>
                          </a:solidFill>
                          <a:latin typeface="Arial"/>
                          <a:cs typeface="Arial"/>
                          <a:sym typeface="Arial"/>
                        </a:rPr>
                        <a:t>7,200</a:t>
                      </a:r>
                    </a:p>
                  </a:txBody>
                  <a:tcPr marL="0" marR="0" marT="0" marB="0" anchor="ctr">
                    <a:lnL w="0" cap="flat" cmpd="sng" algn="ctr">
                      <a:noFill/>
                      <a:prstDash val="solid"/>
                    </a:lnL>
                    <a:lnR w="12700" cap="flat" cmpd="sng" algn="ctr">
                      <a:solidFill>
                        <a:schemeClr val="tx1"/>
                      </a:solidFill>
                      <a:prstDash val="solid"/>
                      <a:round/>
                      <a:headEnd type="none" w="med" len="med"/>
                      <a:tailEnd type="none" w="med" len="me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4029062366"/>
                  </a:ext>
                </a:extLst>
              </a:tr>
              <a:tr h="206044">
                <a:tc>
                  <a:txBody>
                    <a:bodyPr/>
                    <a:lstStyle/>
                    <a:p>
                      <a:pPr marL="0" marR="0" algn="ctr">
                        <a:lnSpc>
                          <a:spcPct val="100000"/>
                        </a:lnSpc>
                        <a:spcBef>
                          <a:spcPts val="0"/>
                        </a:spcBef>
                        <a:spcAft>
                          <a:spcPts val="0"/>
                        </a:spcAft>
                        <a:buNone/>
                      </a:pPr>
                      <a:r>
                        <a:rPr sz="1100" b="1" i="0" u="none" cap="none">
                          <a:solidFill>
                            <a:srgbClr val="000000">
                              <a:alpha val="100000"/>
                            </a:srgbClr>
                          </a:solidFill>
                          <a:latin typeface="Arial"/>
                          <a:cs typeface="Arial"/>
                          <a:sym typeface="Arial"/>
                        </a:rPr>
                        <a:t>13</a:t>
                      </a:r>
                    </a:p>
                  </a:txBody>
                  <a:tcPr marL="0" marR="0" marT="0" marB="0" anchor="ctr">
                    <a:lnL w="12700" cap="flat" cmpd="sng" algn="ctr">
                      <a:solidFill>
                        <a:schemeClr val="tx1"/>
                      </a:solidFill>
                      <a:prstDash val="solid"/>
                      <a:round/>
                      <a:headEnd type="none" w="med" len="med"/>
                      <a:tailEnd type="none" w="med" len="me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4,800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dirty="0">
                          <a:solidFill>
                            <a:srgbClr val="000000">
                              <a:alpha val="100000"/>
                            </a:srgbClr>
                          </a:solidFill>
                          <a:latin typeface="Arial"/>
                          <a:cs typeface="Arial"/>
                          <a:sym typeface="Arial"/>
                        </a:rPr>
                        <a:t>8,600</a:t>
                      </a:r>
                    </a:p>
                  </a:txBody>
                  <a:tcPr marL="0" marR="0" marT="0" marB="0" anchor="ctr">
                    <a:lnL w="0" cap="flat" cmpd="sng" algn="ctr">
                      <a:noFill/>
                      <a:prstDash val="solid"/>
                    </a:lnL>
                    <a:lnR w="12700" cap="flat" cmpd="sng" algn="ctr">
                      <a:solidFill>
                        <a:schemeClr val="tx1"/>
                      </a:solidFill>
                      <a:prstDash val="solid"/>
                      <a:round/>
                      <a:headEnd type="none" w="med" len="med"/>
                      <a:tailEnd type="none" w="med" len="me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2657002496"/>
                  </a:ext>
                </a:extLst>
              </a:tr>
              <a:tr h="206044">
                <a:tc>
                  <a:txBody>
                    <a:bodyPr/>
                    <a:lstStyle/>
                    <a:p>
                      <a:pPr marL="0" marR="0" algn="ctr">
                        <a:lnSpc>
                          <a:spcPct val="100000"/>
                        </a:lnSpc>
                        <a:spcBef>
                          <a:spcPts val="0"/>
                        </a:spcBef>
                        <a:spcAft>
                          <a:spcPts val="0"/>
                        </a:spcAft>
                        <a:buNone/>
                      </a:pPr>
                      <a:r>
                        <a:rPr sz="1100" b="1" i="0" u="none" cap="none">
                          <a:solidFill>
                            <a:srgbClr val="000000">
                              <a:alpha val="100000"/>
                            </a:srgbClr>
                          </a:solidFill>
                          <a:latin typeface="Arial"/>
                          <a:cs typeface="Arial"/>
                          <a:sym typeface="Arial"/>
                        </a:rPr>
                        <a:t>14</a:t>
                      </a:r>
                    </a:p>
                  </a:txBody>
                  <a:tcPr marL="0" marR="0" marT="0" marB="0" anchor="ctr">
                    <a:lnL w="12700" cap="flat" cmpd="sng" algn="ctr">
                      <a:solidFill>
                        <a:schemeClr val="tx1"/>
                      </a:solidFill>
                      <a:prstDash val="solid"/>
                      <a:round/>
                      <a:headEnd type="none" w="med" len="med"/>
                      <a:tailEnd type="none" w="med" len="me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dirty="0">
                          <a:solidFill>
                            <a:srgbClr val="000000">
                              <a:alpha val="100000"/>
                            </a:srgbClr>
                          </a:solidFill>
                          <a:latin typeface="Arial"/>
                          <a:cs typeface="Arial"/>
                          <a:sym typeface="Arial"/>
                        </a:rPr>
                        <a:t>5,500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9,900</a:t>
                      </a:r>
                    </a:p>
                  </a:txBody>
                  <a:tcPr marL="0" marR="0" marT="0" marB="0" anchor="ctr">
                    <a:lnL w="0" cap="flat" cmpd="sng" algn="ctr">
                      <a:noFill/>
                      <a:prstDash val="solid"/>
                    </a:lnL>
                    <a:lnR w="12700" cap="flat" cmpd="sng" algn="ctr">
                      <a:solidFill>
                        <a:schemeClr val="tx1"/>
                      </a:solidFill>
                      <a:prstDash val="solid"/>
                      <a:round/>
                      <a:headEnd type="none" w="med" len="med"/>
                      <a:tailEnd type="none" w="med" len="me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618553573"/>
                  </a:ext>
                </a:extLst>
              </a:tr>
              <a:tr h="206044">
                <a:tc>
                  <a:txBody>
                    <a:bodyPr/>
                    <a:lstStyle/>
                    <a:p>
                      <a:pPr marL="0" marR="0" algn="ctr">
                        <a:lnSpc>
                          <a:spcPct val="100000"/>
                        </a:lnSpc>
                        <a:spcBef>
                          <a:spcPts val="0"/>
                        </a:spcBef>
                        <a:spcAft>
                          <a:spcPts val="0"/>
                        </a:spcAft>
                        <a:buNone/>
                      </a:pPr>
                      <a:r>
                        <a:rPr sz="1100" b="1" i="0" u="none" cap="none">
                          <a:solidFill>
                            <a:srgbClr val="000000">
                              <a:alpha val="100000"/>
                            </a:srgbClr>
                          </a:solidFill>
                          <a:latin typeface="Arial"/>
                          <a:cs typeface="Arial"/>
                          <a:sym typeface="Arial"/>
                        </a:rPr>
                        <a:t>15</a:t>
                      </a:r>
                    </a:p>
                  </a:txBody>
                  <a:tcPr marL="0" marR="0" marT="0" marB="0" anchor="ctr">
                    <a:lnL w="12700" cap="flat" cmpd="sng" algn="ctr">
                      <a:solidFill>
                        <a:schemeClr val="tx1"/>
                      </a:solidFill>
                      <a:prstDash val="solid"/>
                      <a:round/>
                      <a:headEnd type="none" w="med" len="med"/>
                      <a:tailEnd type="none" w="med" len="me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6,300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dirty="0">
                          <a:solidFill>
                            <a:srgbClr val="000000">
                              <a:alpha val="100000"/>
                            </a:srgbClr>
                          </a:solidFill>
                          <a:latin typeface="Arial"/>
                          <a:cs typeface="Arial"/>
                          <a:sym typeface="Arial"/>
                        </a:rPr>
                        <a:t>11,300</a:t>
                      </a:r>
                    </a:p>
                  </a:txBody>
                  <a:tcPr marL="0" marR="0" marT="0" marB="0" anchor="ctr">
                    <a:lnL w="0" cap="flat" cmpd="sng" algn="ctr">
                      <a:noFill/>
                      <a:prstDash val="solid"/>
                    </a:lnL>
                    <a:lnR w="12700" cap="flat" cmpd="sng" algn="ctr">
                      <a:solidFill>
                        <a:schemeClr val="tx1"/>
                      </a:solidFill>
                      <a:prstDash val="solid"/>
                      <a:round/>
                      <a:headEnd type="none" w="med" len="med"/>
                      <a:tailEnd type="none" w="med" len="me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383893595"/>
                  </a:ext>
                </a:extLst>
              </a:tr>
              <a:tr h="206044">
                <a:tc>
                  <a:txBody>
                    <a:bodyPr/>
                    <a:lstStyle/>
                    <a:p>
                      <a:pPr marL="0" marR="0" algn="ctr">
                        <a:lnSpc>
                          <a:spcPct val="100000"/>
                        </a:lnSpc>
                        <a:spcBef>
                          <a:spcPts val="0"/>
                        </a:spcBef>
                        <a:spcAft>
                          <a:spcPts val="0"/>
                        </a:spcAft>
                        <a:buNone/>
                      </a:pPr>
                      <a:r>
                        <a:rPr sz="1100" b="1" i="0" u="none" cap="none">
                          <a:solidFill>
                            <a:srgbClr val="000000">
                              <a:alpha val="100000"/>
                            </a:srgbClr>
                          </a:solidFill>
                          <a:latin typeface="Arial"/>
                          <a:cs typeface="Arial"/>
                          <a:sym typeface="Arial"/>
                        </a:rPr>
                        <a:t>16</a:t>
                      </a:r>
                    </a:p>
                  </a:txBody>
                  <a:tcPr marL="0" marR="0" marT="0" marB="0" anchor="ctr">
                    <a:lnL w="12700" cap="flat" cmpd="sng" algn="ctr">
                      <a:solidFill>
                        <a:schemeClr val="tx1"/>
                      </a:solidFill>
                      <a:prstDash val="solid"/>
                      <a:round/>
                      <a:headEnd type="none" w="med" len="med"/>
                      <a:tailEnd type="none" w="med" len="me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6,900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dirty="0">
                          <a:solidFill>
                            <a:srgbClr val="000000">
                              <a:alpha val="100000"/>
                            </a:srgbClr>
                          </a:solidFill>
                          <a:latin typeface="Arial"/>
                          <a:cs typeface="Arial"/>
                          <a:sym typeface="Arial"/>
                        </a:rPr>
                        <a:t>12,400</a:t>
                      </a:r>
                    </a:p>
                  </a:txBody>
                  <a:tcPr marL="0" marR="0" marT="0" marB="0" anchor="ctr">
                    <a:lnL w="0" cap="flat" cmpd="sng" algn="ctr">
                      <a:noFill/>
                      <a:prstDash val="solid"/>
                    </a:lnL>
                    <a:lnR w="12700" cap="flat" cmpd="sng" algn="ctr">
                      <a:solidFill>
                        <a:schemeClr val="tx1"/>
                      </a:solidFill>
                      <a:prstDash val="solid"/>
                      <a:round/>
                      <a:headEnd type="none" w="med" len="med"/>
                      <a:tailEnd type="none" w="med" len="me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624918751"/>
                  </a:ext>
                </a:extLst>
              </a:tr>
              <a:tr h="206044">
                <a:tc>
                  <a:txBody>
                    <a:bodyPr/>
                    <a:lstStyle/>
                    <a:p>
                      <a:pPr marL="0" marR="0" algn="ctr">
                        <a:lnSpc>
                          <a:spcPct val="100000"/>
                        </a:lnSpc>
                        <a:spcBef>
                          <a:spcPts val="0"/>
                        </a:spcBef>
                        <a:spcAft>
                          <a:spcPts val="0"/>
                        </a:spcAft>
                        <a:buNone/>
                      </a:pPr>
                      <a:r>
                        <a:rPr sz="1100" b="1" i="0" u="none" cap="none">
                          <a:solidFill>
                            <a:srgbClr val="000000">
                              <a:alpha val="100000"/>
                            </a:srgbClr>
                          </a:solidFill>
                          <a:latin typeface="Arial"/>
                          <a:cs typeface="Arial"/>
                          <a:sym typeface="Arial"/>
                        </a:rPr>
                        <a:t>17</a:t>
                      </a:r>
                    </a:p>
                  </a:txBody>
                  <a:tcPr marL="0" marR="0" marT="0" marB="0" anchor="ctr">
                    <a:lnL w="12700" cap="flat" cmpd="sng" algn="ctr">
                      <a:solidFill>
                        <a:schemeClr val="tx1"/>
                      </a:solidFill>
                      <a:prstDash val="solid"/>
                      <a:round/>
                      <a:headEnd type="none" w="med" len="med"/>
                      <a:tailEnd type="none" w="med" len="me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7,500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dirty="0">
                          <a:solidFill>
                            <a:srgbClr val="000000">
                              <a:alpha val="100000"/>
                            </a:srgbClr>
                          </a:solidFill>
                          <a:latin typeface="Arial"/>
                          <a:cs typeface="Arial"/>
                          <a:sym typeface="Arial"/>
                        </a:rPr>
                        <a:t>13,500</a:t>
                      </a:r>
                    </a:p>
                  </a:txBody>
                  <a:tcPr marL="0" marR="0" marT="0" marB="0" anchor="ctr">
                    <a:lnL w="0" cap="flat" cmpd="sng" algn="ctr">
                      <a:noFill/>
                      <a:prstDash val="solid"/>
                    </a:lnL>
                    <a:lnR w="12700" cap="flat" cmpd="sng" algn="ctr">
                      <a:solidFill>
                        <a:schemeClr val="tx1"/>
                      </a:solidFill>
                      <a:prstDash val="solid"/>
                      <a:round/>
                      <a:headEnd type="none" w="med" len="med"/>
                      <a:tailEnd type="none" w="med" len="me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10869320"/>
                  </a:ext>
                </a:extLst>
              </a:tr>
              <a:tr h="206044">
                <a:tc>
                  <a:txBody>
                    <a:bodyPr/>
                    <a:lstStyle/>
                    <a:p>
                      <a:pPr marL="0" marR="0" algn="ctr">
                        <a:lnSpc>
                          <a:spcPct val="100000"/>
                        </a:lnSpc>
                        <a:spcBef>
                          <a:spcPts val="0"/>
                        </a:spcBef>
                        <a:spcAft>
                          <a:spcPts val="0"/>
                        </a:spcAft>
                        <a:buNone/>
                      </a:pPr>
                      <a:r>
                        <a:rPr sz="1100" b="1" i="0" u="none" cap="none">
                          <a:solidFill>
                            <a:srgbClr val="000000">
                              <a:alpha val="100000"/>
                            </a:srgbClr>
                          </a:solidFill>
                          <a:latin typeface="Arial"/>
                          <a:cs typeface="Arial"/>
                          <a:sym typeface="Arial"/>
                        </a:rPr>
                        <a:t>18</a:t>
                      </a:r>
                    </a:p>
                  </a:txBody>
                  <a:tcPr marL="0" marR="0" marT="0" marB="0" anchor="ctr">
                    <a:lnL w="12700" cap="flat" cmpd="sng" algn="ctr">
                      <a:solidFill>
                        <a:schemeClr val="tx1"/>
                      </a:solidFill>
                      <a:prstDash val="solid"/>
                      <a:round/>
                      <a:headEnd type="none" w="med" len="med"/>
                      <a:tailEnd type="none" w="med" len="me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8,000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dirty="0">
                          <a:solidFill>
                            <a:srgbClr val="000000">
                              <a:alpha val="100000"/>
                            </a:srgbClr>
                          </a:solidFill>
                          <a:latin typeface="Arial"/>
                          <a:cs typeface="Arial"/>
                          <a:sym typeface="Arial"/>
                        </a:rPr>
                        <a:t>14,400</a:t>
                      </a:r>
                    </a:p>
                  </a:txBody>
                  <a:tcPr marL="0" marR="0" marT="0" marB="0" anchor="ctr">
                    <a:lnL w="0" cap="flat" cmpd="sng" algn="ctr">
                      <a:noFill/>
                      <a:prstDash val="solid"/>
                    </a:lnL>
                    <a:lnR w="12700" cap="flat" cmpd="sng" algn="ctr">
                      <a:solidFill>
                        <a:schemeClr val="tx1"/>
                      </a:solidFill>
                      <a:prstDash val="solid"/>
                      <a:round/>
                      <a:headEnd type="none" w="med" len="med"/>
                      <a:tailEnd type="none" w="med" len="me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69531247"/>
                  </a:ext>
                </a:extLst>
              </a:tr>
              <a:tr h="206044">
                <a:tc>
                  <a:txBody>
                    <a:bodyPr/>
                    <a:lstStyle/>
                    <a:p>
                      <a:pPr marL="0" marR="0" algn="ctr">
                        <a:lnSpc>
                          <a:spcPct val="100000"/>
                        </a:lnSpc>
                        <a:spcBef>
                          <a:spcPts val="0"/>
                        </a:spcBef>
                        <a:spcAft>
                          <a:spcPts val="0"/>
                        </a:spcAft>
                        <a:buNone/>
                      </a:pPr>
                      <a:r>
                        <a:rPr sz="1100" b="1" i="0" u="none" cap="none">
                          <a:solidFill>
                            <a:srgbClr val="000000">
                              <a:alpha val="100000"/>
                            </a:srgbClr>
                          </a:solidFill>
                          <a:latin typeface="Arial"/>
                          <a:cs typeface="Arial"/>
                          <a:sym typeface="Arial"/>
                        </a:rPr>
                        <a:t>19</a:t>
                      </a:r>
                    </a:p>
                  </a:txBody>
                  <a:tcPr marL="0" marR="0" marT="0" marB="0" anchor="ctr">
                    <a:lnL w="12700" cap="flat" cmpd="sng" algn="ctr">
                      <a:solidFill>
                        <a:schemeClr val="tx1"/>
                      </a:solidFill>
                      <a:prstDash val="solid"/>
                      <a:round/>
                      <a:headEnd type="none" w="med" len="med"/>
                      <a:tailEnd type="none" w="med" len="me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8,400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15,100</a:t>
                      </a:r>
                    </a:p>
                  </a:txBody>
                  <a:tcPr marL="0" marR="0" marT="0" marB="0" anchor="ctr">
                    <a:lnL w="0" cap="flat" cmpd="sng" algn="ctr">
                      <a:noFill/>
                      <a:prstDash val="solid"/>
                    </a:lnL>
                    <a:lnR w="12700" cap="flat" cmpd="sng" algn="ctr">
                      <a:solidFill>
                        <a:schemeClr val="tx1"/>
                      </a:solidFill>
                      <a:prstDash val="solid"/>
                      <a:round/>
                      <a:headEnd type="none" w="med" len="med"/>
                      <a:tailEnd type="none" w="med" len="me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238404874"/>
                  </a:ext>
                </a:extLst>
              </a:tr>
              <a:tr h="206044">
                <a:tc>
                  <a:txBody>
                    <a:bodyPr/>
                    <a:lstStyle/>
                    <a:p>
                      <a:pPr marL="0" marR="0" algn="ctr">
                        <a:lnSpc>
                          <a:spcPct val="100000"/>
                        </a:lnSpc>
                        <a:spcBef>
                          <a:spcPts val="0"/>
                        </a:spcBef>
                        <a:spcAft>
                          <a:spcPts val="0"/>
                        </a:spcAft>
                        <a:buNone/>
                      </a:pPr>
                      <a:r>
                        <a:rPr sz="1100" b="1" i="0" u="none" cap="none">
                          <a:solidFill>
                            <a:srgbClr val="000000">
                              <a:alpha val="100000"/>
                            </a:srgbClr>
                          </a:solidFill>
                          <a:latin typeface="Arial"/>
                          <a:cs typeface="Arial"/>
                          <a:sym typeface="Arial"/>
                        </a:rPr>
                        <a:t>20</a:t>
                      </a:r>
                    </a:p>
                  </a:txBody>
                  <a:tcPr marL="0" marR="0" marT="0" marB="0" anchor="ctr">
                    <a:lnL w="12700" cap="flat" cmpd="sng" algn="ctr">
                      <a:solidFill>
                        <a:schemeClr val="tx1"/>
                      </a:solidFill>
                      <a:prstDash val="solid"/>
                      <a:round/>
                      <a:headEnd type="none" w="med" len="med"/>
                      <a:tailEnd type="none" w="med" len="me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8,700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dirty="0">
                          <a:solidFill>
                            <a:srgbClr val="000000">
                              <a:alpha val="100000"/>
                            </a:srgbClr>
                          </a:solidFill>
                          <a:latin typeface="Arial"/>
                          <a:cs typeface="Arial"/>
                          <a:sym typeface="Arial"/>
                        </a:rPr>
                        <a:t>15,700</a:t>
                      </a:r>
                    </a:p>
                  </a:txBody>
                  <a:tcPr marL="0" marR="0" marT="0" marB="0" anchor="ctr">
                    <a:lnL w="0" cap="flat" cmpd="sng" algn="ctr">
                      <a:noFill/>
                      <a:prstDash val="solid"/>
                    </a:lnL>
                    <a:lnR w="12700" cap="flat" cmpd="sng" algn="ctr">
                      <a:solidFill>
                        <a:schemeClr val="tx1"/>
                      </a:solidFill>
                      <a:prstDash val="solid"/>
                      <a:round/>
                      <a:headEnd type="none" w="med" len="med"/>
                      <a:tailEnd type="none" w="med" len="me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342138655"/>
                  </a:ext>
                </a:extLst>
              </a:tr>
              <a:tr h="206044">
                <a:tc>
                  <a:txBody>
                    <a:bodyPr/>
                    <a:lstStyle/>
                    <a:p>
                      <a:pPr marL="0" marR="0" algn="ctr">
                        <a:lnSpc>
                          <a:spcPct val="100000"/>
                        </a:lnSpc>
                        <a:spcBef>
                          <a:spcPts val="0"/>
                        </a:spcBef>
                        <a:spcAft>
                          <a:spcPts val="0"/>
                        </a:spcAft>
                        <a:buNone/>
                      </a:pPr>
                      <a:r>
                        <a:rPr sz="1100" b="1" i="0" u="none" cap="none">
                          <a:solidFill>
                            <a:srgbClr val="000000">
                              <a:alpha val="100000"/>
                            </a:srgbClr>
                          </a:solidFill>
                          <a:latin typeface="Arial"/>
                          <a:cs typeface="Arial"/>
                          <a:sym typeface="Arial"/>
                        </a:rPr>
                        <a:t>21</a:t>
                      </a:r>
                    </a:p>
                  </a:txBody>
                  <a:tcPr marL="0" marR="0" marT="0" marB="0" anchor="ctr">
                    <a:lnL w="12700" cap="flat" cmpd="sng" algn="ctr">
                      <a:solidFill>
                        <a:schemeClr val="tx1"/>
                      </a:solidFill>
                      <a:prstDash val="solid"/>
                      <a:round/>
                      <a:headEnd type="none" w="med" len="med"/>
                      <a:tailEnd type="none" w="med" len="me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8,900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dirty="0">
                          <a:solidFill>
                            <a:srgbClr val="000000">
                              <a:alpha val="100000"/>
                            </a:srgbClr>
                          </a:solidFill>
                          <a:latin typeface="Arial"/>
                          <a:cs typeface="Arial"/>
                          <a:sym typeface="Arial"/>
                        </a:rPr>
                        <a:t>16,000</a:t>
                      </a:r>
                    </a:p>
                  </a:txBody>
                  <a:tcPr marL="0" marR="0" marT="0" marB="0" anchor="ctr">
                    <a:lnL w="0" cap="flat" cmpd="sng" algn="ctr">
                      <a:noFill/>
                      <a:prstDash val="solid"/>
                    </a:lnL>
                    <a:lnR w="12700" cap="flat" cmpd="sng" algn="ctr">
                      <a:solidFill>
                        <a:schemeClr val="tx1"/>
                      </a:solidFill>
                      <a:prstDash val="solid"/>
                      <a:round/>
                      <a:headEnd type="none" w="med" len="med"/>
                      <a:tailEnd type="none" w="med" len="me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4120445984"/>
                  </a:ext>
                </a:extLst>
              </a:tr>
              <a:tr h="206044">
                <a:tc>
                  <a:txBody>
                    <a:bodyPr/>
                    <a:lstStyle/>
                    <a:p>
                      <a:pPr marL="0" marR="0" algn="ctr">
                        <a:lnSpc>
                          <a:spcPct val="100000"/>
                        </a:lnSpc>
                        <a:spcBef>
                          <a:spcPts val="0"/>
                        </a:spcBef>
                        <a:spcAft>
                          <a:spcPts val="0"/>
                        </a:spcAft>
                        <a:buNone/>
                      </a:pPr>
                      <a:r>
                        <a:rPr sz="1100" b="1" i="0" u="none" cap="none">
                          <a:solidFill>
                            <a:srgbClr val="000000">
                              <a:alpha val="100000"/>
                            </a:srgbClr>
                          </a:solidFill>
                          <a:latin typeface="Arial"/>
                          <a:cs typeface="Arial"/>
                          <a:sym typeface="Arial"/>
                        </a:rPr>
                        <a:t>22</a:t>
                      </a:r>
                    </a:p>
                  </a:txBody>
                  <a:tcPr marL="0" marR="0" marT="0" marB="0" anchor="ctr">
                    <a:lnL w="12700" cap="flat" cmpd="sng" algn="ctr">
                      <a:solidFill>
                        <a:schemeClr val="tx1"/>
                      </a:solidFill>
                      <a:prstDash val="solid"/>
                      <a:round/>
                      <a:headEnd type="none" w="med" len="med"/>
                      <a:tailEnd type="none" w="med" len="me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9,100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dirty="0">
                          <a:solidFill>
                            <a:srgbClr val="000000">
                              <a:alpha val="100000"/>
                            </a:srgbClr>
                          </a:solidFill>
                          <a:latin typeface="Arial"/>
                          <a:cs typeface="Arial"/>
                          <a:sym typeface="Arial"/>
                        </a:rPr>
                        <a:t>16,400</a:t>
                      </a:r>
                    </a:p>
                  </a:txBody>
                  <a:tcPr marL="0" marR="0" marT="0" marB="0" anchor="ctr">
                    <a:lnL w="0" cap="flat" cmpd="sng" algn="ctr">
                      <a:noFill/>
                      <a:prstDash val="solid"/>
                    </a:lnL>
                    <a:lnR w="12700" cap="flat" cmpd="sng" algn="ctr">
                      <a:solidFill>
                        <a:schemeClr val="tx1"/>
                      </a:solidFill>
                      <a:prstDash val="solid"/>
                      <a:round/>
                      <a:headEnd type="none" w="med" len="med"/>
                      <a:tailEnd type="none" w="med" len="me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2172368928"/>
                  </a:ext>
                </a:extLst>
              </a:tr>
              <a:tr h="206044">
                <a:tc>
                  <a:txBody>
                    <a:bodyPr/>
                    <a:lstStyle/>
                    <a:p>
                      <a:pPr marL="0" marR="0" algn="ctr">
                        <a:lnSpc>
                          <a:spcPct val="100000"/>
                        </a:lnSpc>
                        <a:spcBef>
                          <a:spcPts val="0"/>
                        </a:spcBef>
                        <a:spcAft>
                          <a:spcPts val="0"/>
                        </a:spcAft>
                        <a:buNone/>
                      </a:pPr>
                      <a:r>
                        <a:rPr sz="1100" b="1" i="0" u="none" cap="none">
                          <a:solidFill>
                            <a:srgbClr val="000000">
                              <a:alpha val="100000"/>
                            </a:srgbClr>
                          </a:solidFill>
                          <a:latin typeface="Arial"/>
                          <a:cs typeface="Arial"/>
                          <a:sym typeface="Arial"/>
                        </a:rPr>
                        <a:t>23</a:t>
                      </a:r>
                    </a:p>
                  </a:txBody>
                  <a:tcPr marL="0" marR="0" marT="0" marB="0" anchor="ctr">
                    <a:lnL w="12700" cap="flat" cmpd="sng" algn="ctr">
                      <a:solidFill>
                        <a:schemeClr val="tx1"/>
                      </a:solidFill>
                      <a:prstDash val="solid"/>
                      <a:round/>
                      <a:headEnd type="none" w="med" len="med"/>
                      <a:tailEnd type="none" w="med" len="me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9,200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dirty="0">
                          <a:solidFill>
                            <a:srgbClr val="000000">
                              <a:alpha val="100000"/>
                            </a:srgbClr>
                          </a:solidFill>
                          <a:latin typeface="Arial"/>
                          <a:cs typeface="Arial"/>
                          <a:sym typeface="Arial"/>
                        </a:rPr>
                        <a:t>16,600</a:t>
                      </a:r>
                    </a:p>
                  </a:txBody>
                  <a:tcPr marL="0" marR="0" marT="0" marB="0" anchor="ctr">
                    <a:lnL w="0" cap="flat" cmpd="sng" algn="ctr">
                      <a:noFill/>
                      <a:prstDash val="solid"/>
                    </a:lnL>
                    <a:lnR w="12700" cap="flat" cmpd="sng" algn="ctr">
                      <a:solidFill>
                        <a:schemeClr val="tx1"/>
                      </a:solidFill>
                      <a:prstDash val="solid"/>
                      <a:round/>
                      <a:headEnd type="none" w="med" len="med"/>
                      <a:tailEnd type="none" w="med" len="me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4116833567"/>
                  </a:ext>
                </a:extLst>
              </a:tr>
              <a:tr h="206044">
                <a:tc>
                  <a:txBody>
                    <a:bodyPr/>
                    <a:lstStyle/>
                    <a:p>
                      <a:pPr marL="0" marR="0" algn="ctr">
                        <a:lnSpc>
                          <a:spcPct val="100000"/>
                        </a:lnSpc>
                        <a:spcBef>
                          <a:spcPts val="0"/>
                        </a:spcBef>
                        <a:spcAft>
                          <a:spcPts val="0"/>
                        </a:spcAft>
                        <a:buNone/>
                      </a:pPr>
                      <a:r>
                        <a:rPr sz="1100" b="1" i="0" u="none" cap="none">
                          <a:solidFill>
                            <a:srgbClr val="000000">
                              <a:alpha val="100000"/>
                            </a:srgbClr>
                          </a:solidFill>
                          <a:latin typeface="Arial"/>
                          <a:cs typeface="Arial"/>
                          <a:sym typeface="Arial"/>
                        </a:rPr>
                        <a:t>24</a:t>
                      </a:r>
                    </a:p>
                  </a:txBody>
                  <a:tcPr marL="0" marR="0" marT="0" marB="0" anchor="ctr">
                    <a:lnL w="12700" cap="flat" cmpd="sng" algn="ctr">
                      <a:solidFill>
                        <a:schemeClr val="tx1"/>
                      </a:solidFill>
                      <a:prstDash val="solid"/>
                      <a:round/>
                      <a:headEnd type="none" w="med" len="med"/>
                      <a:tailEnd type="none" w="med" len="me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9,300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dirty="0">
                          <a:solidFill>
                            <a:srgbClr val="000000">
                              <a:alpha val="100000"/>
                            </a:srgbClr>
                          </a:solidFill>
                          <a:latin typeface="Arial"/>
                          <a:cs typeface="Arial"/>
                          <a:sym typeface="Arial"/>
                        </a:rPr>
                        <a:t>16,700</a:t>
                      </a:r>
                    </a:p>
                  </a:txBody>
                  <a:tcPr marL="0" marR="0" marT="0" marB="0" anchor="ctr">
                    <a:lnL w="0" cap="flat" cmpd="sng" algn="ctr">
                      <a:noFill/>
                      <a:prstDash val="solid"/>
                    </a:lnL>
                    <a:lnR w="12700" cap="flat" cmpd="sng" algn="ctr">
                      <a:solidFill>
                        <a:schemeClr val="tx1"/>
                      </a:solidFill>
                      <a:prstDash val="solid"/>
                      <a:round/>
                      <a:headEnd type="none" w="med" len="med"/>
                      <a:tailEnd type="none" w="med" len="me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3619667492"/>
                  </a:ext>
                </a:extLst>
              </a:tr>
              <a:tr h="206044">
                <a:tc>
                  <a:txBody>
                    <a:bodyPr/>
                    <a:lstStyle/>
                    <a:p>
                      <a:pPr marL="0" marR="0" algn="ctr">
                        <a:lnSpc>
                          <a:spcPct val="100000"/>
                        </a:lnSpc>
                        <a:spcBef>
                          <a:spcPts val="0"/>
                        </a:spcBef>
                        <a:spcAft>
                          <a:spcPts val="0"/>
                        </a:spcAft>
                        <a:buNone/>
                      </a:pPr>
                      <a:r>
                        <a:rPr sz="1100" b="1" i="0" u="none" cap="none">
                          <a:solidFill>
                            <a:srgbClr val="000000">
                              <a:alpha val="100000"/>
                            </a:srgbClr>
                          </a:solidFill>
                          <a:latin typeface="Arial"/>
                          <a:cs typeface="Arial"/>
                          <a:sym typeface="Arial"/>
                        </a:rPr>
                        <a:t>25</a:t>
                      </a:r>
                    </a:p>
                  </a:txBody>
                  <a:tcPr marL="0" marR="0" marT="0" marB="0" anchor="ctr">
                    <a:lnL w="12700" cap="flat" cmpd="sng" algn="ctr">
                      <a:solidFill>
                        <a:schemeClr val="tx1"/>
                      </a:solidFill>
                      <a:prstDash val="solid"/>
                      <a:round/>
                      <a:headEnd type="none" w="med" len="med"/>
                      <a:tailEnd type="none" w="med" len="med"/>
                    </a:lnL>
                    <a:lnR w="0" cap="flat" cmpd="sng" algn="ctr">
                      <a:noFill/>
                      <a:prstDash val="solid"/>
                    </a:lnR>
                    <a:lnT w="12700" cap="flat" cmpd="sng" algn="ctr">
                      <a:solidFill>
                        <a:srgbClr val="BEBEBE">
                          <a:alpha val="100000"/>
                        </a:srgbClr>
                      </a:solidFill>
                      <a:prstDash val="solid"/>
                    </a:lnT>
                    <a:lnB w="12700" cap="flat" cmpd="sng" algn="ctr">
                      <a:solidFill>
                        <a:schemeClr val="tx1"/>
                      </a:solidFill>
                      <a:prstDash val="solid"/>
                      <a:round/>
                      <a:headEnd type="none" w="med" len="med"/>
                      <a:tailEnd type="none" w="med" len="me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9,400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chemeClr val="tx1"/>
                      </a:solidFill>
                      <a:prstDash val="solid"/>
                      <a:round/>
                      <a:headEnd type="none" w="med" len="med"/>
                      <a:tailEnd type="none" w="med" len="med"/>
                    </a:lnB>
                    <a:solidFill>
                      <a:srgbClr val="FFFFFF">
                        <a:alpha val="0"/>
                      </a:srgbClr>
                    </a:solidFill>
                  </a:tcPr>
                </a:tc>
                <a:tc>
                  <a:txBody>
                    <a:bodyPr/>
                    <a:lstStyle/>
                    <a:p>
                      <a:pPr marL="0" marR="0" algn="ctr">
                        <a:lnSpc>
                          <a:spcPct val="100000"/>
                        </a:lnSpc>
                        <a:spcBef>
                          <a:spcPts val="0"/>
                        </a:spcBef>
                        <a:spcAft>
                          <a:spcPts val="0"/>
                        </a:spcAft>
                        <a:buNone/>
                      </a:pPr>
                      <a:r>
                        <a:rPr sz="1100" b="0" i="0" u="none" cap="none" dirty="0">
                          <a:solidFill>
                            <a:srgbClr val="000000">
                              <a:alpha val="100000"/>
                            </a:srgbClr>
                          </a:solidFill>
                          <a:latin typeface="Arial"/>
                          <a:cs typeface="Arial"/>
                          <a:sym typeface="Arial"/>
                        </a:rPr>
                        <a:t>16,900</a:t>
                      </a:r>
                    </a:p>
                  </a:txBody>
                  <a:tcPr marL="0" marR="0" marT="0" marB="0" anchor="ctr">
                    <a:lnL w="0" cap="flat" cmpd="sng" algn="ctr">
                      <a:noFill/>
                      <a:prstDash val="solid"/>
                    </a:lnL>
                    <a:lnR w="12700" cap="flat" cmpd="sng" algn="ctr">
                      <a:solidFill>
                        <a:schemeClr val="tx1"/>
                      </a:solidFill>
                      <a:prstDash val="solid"/>
                      <a:round/>
                      <a:headEnd type="none" w="med" len="med"/>
                      <a:tailEnd type="none" w="med" len="med"/>
                    </a:lnR>
                    <a:lnT w="12700" cap="flat" cmpd="sng" algn="ctr">
                      <a:solidFill>
                        <a:srgbClr val="BEBEBE">
                          <a:alpha val="100000"/>
                        </a:srgbClr>
                      </a:solidFill>
                      <a:prstDash val="solid"/>
                    </a:lnT>
                    <a:lnB w="12700" cap="flat" cmpd="sng" algn="ctr">
                      <a:solidFill>
                        <a:schemeClr val="tx1"/>
                      </a:solidFill>
                      <a:prstDash val="solid"/>
                      <a:round/>
                      <a:headEnd type="none" w="med" len="med"/>
                      <a:tailEnd type="none" w="med" len="med"/>
                    </a:lnB>
                    <a:solidFill>
                      <a:srgbClr val="FFFFFF">
                        <a:alpha val="0"/>
                      </a:srgbClr>
                    </a:solidFill>
                  </a:tcPr>
                </a:tc>
                <a:extLst>
                  <a:ext uri="{0D108BD9-81ED-4DB2-BD59-A6C34878D82A}">
                    <a16:rowId xmlns:a16="http://schemas.microsoft.com/office/drawing/2014/main" val="388699002"/>
                  </a:ext>
                </a:extLst>
              </a:tr>
            </a:tbl>
          </a:graphicData>
        </a:graphic>
      </p:graphicFrame>
      <p:sp>
        <p:nvSpPr>
          <p:cNvPr id="27" name="Title 1">
            <a:extLst>
              <a:ext uri="{FF2B5EF4-FFF2-40B4-BE49-F238E27FC236}">
                <a16:creationId xmlns:a16="http://schemas.microsoft.com/office/drawing/2014/main" id="{5CB06021-EBF8-C602-9396-8BD2590988EA}"/>
              </a:ext>
            </a:extLst>
          </p:cNvPr>
          <p:cNvSpPr txBox="1">
            <a:spLocks/>
          </p:cNvSpPr>
          <p:nvPr/>
        </p:nvSpPr>
        <p:spPr>
          <a:xfrm>
            <a:off x="327270" y="74824"/>
            <a:ext cx="10515600" cy="1325563"/>
          </a:xfrm>
          <a:prstGeom prst="rect">
            <a:avLst/>
          </a:prstGeom>
        </p:spPr>
        <p:txBody>
          <a:bodyPr vert="horz" lIns="91440" tIns="45720" rIns="91440" bIns="45720" rtlCol="0" anchor="ctr">
            <a:normAutofit/>
          </a:bodyPr>
          <a:lstStyle>
            <a:lvl1pPr algn="l" defTabSz="914411" rtl="0" eaLnBrk="1" latinLnBrk="0" hangingPunct="1">
              <a:lnSpc>
                <a:spcPct val="90000"/>
              </a:lnSpc>
              <a:spcBef>
                <a:spcPct val="0"/>
              </a:spcBef>
              <a:buNone/>
              <a:defRPr sz="4400" kern="1200">
                <a:solidFill>
                  <a:schemeClr val="tx1"/>
                </a:solidFill>
                <a:latin typeface="+mj-lt"/>
                <a:ea typeface="+mj-ea"/>
                <a:cs typeface="+mj-cs"/>
              </a:defRPr>
            </a:lvl1pPr>
          </a:lstStyle>
          <a:p>
            <a:r>
              <a:rPr lang="en-US" b="1" dirty="0">
                <a:latin typeface="Garamond" panose="02020404030301010803" pitchFamily="18" charset="0"/>
              </a:rPr>
              <a:t>Margin-Focused DTE</a:t>
            </a:r>
          </a:p>
        </p:txBody>
      </p:sp>
      <p:sp>
        <p:nvSpPr>
          <p:cNvPr id="3" name="TextBox 13">
            <a:extLst>
              <a:ext uri="{FF2B5EF4-FFF2-40B4-BE49-F238E27FC236}">
                <a16:creationId xmlns:a16="http://schemas.microsoft.com/office/drawing/2014/main" id="{7C3C7598-6660-4FB4-EB3D-A0A45ADE6DD5}"/>
              </a:ext>
            </a:extLst>
          </p:cNvPr>
          <p:cNvSpPr txBox="1"/>
          <p:nvPr/>
        </p:nvSpPr>
        <p:spPr>
          <a:xfrm>
            <a:off x="5586890" y="1216553"/>
            <a:ext cx="2568332" cy="630942"/>
          </a:xfrm>
          <a:prstGeom prst="rect">
            <a:avLst/>
          </a:prstGeom>
          <a:noFill/>
        </p:spPr>
        <p:txBody>
          <a:bodyPr wrap="none" rtlCol="0">
            <a:spAutoFit/>
          </a:bodyPr>
          <a:lstStyle/>
          <a:p>
            <a:pPr algn="ctr"/>
            <a:r>
              <a:rPr lang="en-US" sz="2400" b="1" dirty="0">
                <a:solidFill>
                  <a:srgbClr val="6087CE"/>
                </a:solidFill>
              </a:rPr>
              <a:t>Early Stage</a:t>
            </a:r>
          </a:p>
          <a:p>
            <a:pPr algn="ctr"/>
            <a:r>
              <a:rPr lang="en-US" sz="1100" dirty="0">
                <a:solidFill>
                  <a:srgbClr val="6087CE"/>
                </a:solidFill>
              </a:rPr>
              <a:t>Gaining Name Recognition, Early Growth</a:t>
            </a:r>
          </a:p>
        </p:txBody>
      </p:sp>
      <p:sp>
        <p:nvSpPr>
          <p:cNvPr id="6" name="TextBox 6">
            <a:extLst>
              <a:ext uri="{FF2B5EF4-FFF2-40B4-BE49-F238E27FC236}">
                <a16:creationId xmlns:a16="http://schemas.microsoft.com/office/drawing/2014/main" id="{6E4B4D13-3141-F0D2-CEE7-0A4E14B0E7E3}"/>
              </a:ext>
            </a:extLst>
          </p:cNvPr>
          <p:cNvSpPr txBox="1"/>
          <p:nvPr/>
        </p:nvSpPr>
        <p:spPr>
          <a:xfrm>
            <a:off x="5149746" y="1873479"/>
            <a:ext cx="1624165" cy="307777"/>
          </a:xfrm>
          <a:prstGeom prst="rect">
            <a:avLst/>
          </a:prstGeom>
          <a:noFill/>
        </p:spPr>
        <p:txBody>
          <a:bodyPr wrap="square">
            <a:spAutoFit/>
          </a:bodyPr>
          <a:lstStyle/>
          <a:p>
            <a:pPr algn="ctr"/>
            <a:r>
              <a:rPr lang="en-US" sz="1400" dirty="0">
                <a:solidFill>
                  <a:srgbClr val="6087CE"/>
                </a:solidFill>
              </a:rPr>
              <a:t>New Revenue:</a:t>
            </a:r>
          </a:p>
        </p:txBody>
      </p:sp>
      <p:sp>
        <p:nvSpPr>
          <p:cNvPr id="24" name="TextBox 7">
            <a:extLst>
              <a:ext uri="{FF2B5EF4-FFF2-40B4-BE49-F238E27FC236}">
                <a16:creationId xmlns:a16="http://schemas.microsoft.com/office/drawing/2014/main" id="{9778C666-653F-5F1F-BF94-15501A5C22F6}"/>
              </a:ext>
            </a:extLst>
          </p:cNvPr>
          <p:cNvSpPr txBox="1"/>
          <p:nvPr/>
        </p:nvSpPr>
        <p:spPr>
          <a:xfrm>
            <a:off x="7233970" y="1873479"/>
            <a:ext cx="1118086" cy="307777"/>
          </a:xfrm>
          <a:prstGeom prst="rect">
            <a:avLst/>
          </a:prstGeom>
          <a:noFill/>
        </p:spPr>
        <p:txBody>
          <a:bodyPr wrap="square">
            <a:spAutoFit/>
          </a:bodyPr>
          <a:lstStyle/>
          <a:p>
            <a:pPr algn="ctr"/>
            <a:r>
              <a:rPr lang="en-US" sz="1400" dirty="0">
                <a:solidFill>
                  <a:srgbClr val="6087CE"/>
                </a:solidFill>
              </a:rPr>
              <a:t>New Profit:</a:t>
            </a:r>
          </a:p>
        </p:txBody>
      </p:sp>
      <p:sp>
        <p:nvSpPr>
          <p:cNvPr id="25" name="TextBox 9">
            <a:extLst>
              <a:ext uri="{FF2B5EF4-FFF2-40B4-BE49-F238E27FC236}">
                <a16:creationId xmlns:a16="http://schemas.microsoft.com/office/drawing/2014/main" id="{84C48BCB-F206-200A-4FBC-326A716E90D7}"/>
              </a:ext>
            </a:extLst>
          </p:cNvPr>
          <p:cNvSpPr txBox="1"/>
          <p:nvPr/>
        </p:nvSpPr>
        <p:spPr>
          <a:xfrm>
            <a:off x="5143461" y="2119204"/>
            <a:ext cx="1588535" cy="400110"/>
          </a:xfrm>
          <a:prstGeom prst="rect">
            <a:avLst/>
          </a:prstGeom>
          <a:noFill/>
        </p:spPr>
        <p:txBody>
          <a:bodyPr wrap="square">
            <a:spAutoFit/>
          </a:bodyPr>
          <a:lstStyle/>
          <a:p>
            <a:pPr algn="ctr"/>
            <a:r>
              <a:rPr lang="en-US" sz="2000" b="1" dirty="0">
                <a:solidFill>
                  <a:srgbClr val="6087CE"/>
                </a:solidFill>
              </a:rPr>
              <a:t>$2.55M</a:t>
            </a:r>
            <a:endParaRPr lang="en-US" sz="2000" dirty="0"/>
          </a:p>
        </p:txBody>
      </p:sp>
      <p:sp>
        <p:nvSpPr>
          <p:cNvPr id="26" name="TextBox 14">
            <a:extLst>
              <a:ext uri="{FF2B5EF4-FFF2-40B4-BE49-F238E27FC236}">
                <a16:creationId xmlns:a16="http://schemas.microsoft.com/office/drawing/2014/main" id="{4701CB32-7002-50CC-E4FD-3B2BE3DED5A3}"/>
              </a:ext>
            </a:extLst>
          </p:cNvPr>
          <p:cNvSpPr txBox="1"/>
          <p:nvPr/>
        </p:nvSpPr>
        <p:spPr>
          <a:xfrm>
            <a:off x="6937010" y="2119204"/>
            <a:ext cx="1588535" cy="400110"/>
          </a:xfrm>
          <a:prstGeom prst="rect">
            <a:avLst/>
          </a:prstGeom>
          <a:noFill/>
        </p:spPr>
        <p:txBody>
          <a:bodyPr wrap="square">
            <a:spAutoFit/>
          </a:bodyPr>
          <a:lstStyle/>
          <a:p>
            <a:pPr algn="ctr"/>
            <a:r>
              <a:rPr lang="en-US" sz="2000" b="1" dirty="0">
                <a:solidFill>
                  <a:srgbClr val="6087CE"/>
                </a:solidFill>
              </a:rPr>
              <a:t>$0.37M</a:t>
            </a:r>
            <a:endParaRPr lang="en-US" sz="2000" dirty="0"/>
          </a:p>
        </p:txBody>
      </p:sp>
      <p:sp>
        <p:nvSpPr>
          <p:cNvPr id="28" name="TextBox 15">
            <a:extLst>
              <a:ext uri="{FF2B5EF4-FFF2-40B4-BE49-F238E27FC236}">
                <a16:creationId xmlns:a16="http://schemas.microsoft.com/office/drawing/2014/main" id="{20A0EF07-55BD-5BD1-D289-D769AF292463}"/>
              </a:ext>
            </a:extLst>
          </p:cNvPr>
          <p:cNvSpPr txBox="1"/>
          <p:nvPr/>
        </p:nvSpPr>
        <p:spPr>
          <a:xfrm>
            <a:off x="5795891" y="2730969"/>
            <a:ext cx="2132315" cy="630942"/>
          </a:xfrm>
          <a:prstGeom prst="rect">
            <a:avLst/>
          </a:prstGeom>
          <a:noFill/>
        </p:spPr>
        <p:txBody>
          <a:bodyPr wrap="none" rtlCol="0">
            <a:spAutoFit/>
          </a:bodyPr>
          <a:lstStyle/>
          <a:p>
            <a:pPr algn="ctr"/>
            <a:r>
              <a:rPr lang="en-US" sz="2400" b="1" dirty="0">
                <a:solidFill>
                  <a:srgbClr val="2F5597"/>
                </a:solidFill>
              </a:rPr>
              <a:t>Growth Stage</a:t>
            </a:r>
          </a:p>
          <a:p>
            <a:pPr algn="ctr"/>
            <a:r>
              <a:rPr lang="en-US" sz="1100" dirty="0">
                <a:solidFill>
                  <a:srgbClr val="2F5597"/>
                </a:solidFill>
              </a:rPr>
              <a:t>Strong Reputation, Strong Growth</a:t>
            </a:r>
          </a:p>
        </p:txBody>
      </p:sp>
      <p:sp>
        <p:nvSpPr>
          <p:cNvPr id="29" name="TextBox 16">
            <a:extLst>
              <a:ext uri="{FF2B5EF4-FFF2-40B4-BE49-F238E27FC236}">
                <a16:creationId xmlns:a16="http://schemas.microsoft.com/office/drawing/2014/main" id="{5F35CCBE-D9AF-2C00-152C-29BC4213DD03}"/>
              </a:ext>
            </a:extLst>
          </p:cNvPr>
          <p:cNvSpPr txBox="1"/>
          <p:nvPr/>
        </p:nvSpPr>
        <p:spPr>
          <a:xfrm>
            <a:off x="5140737" y="3387895"/>
            <a:ext cx="1624165" cy="307777"/>
          </a:xfrm>
          <a:prstGeom prst="rect">
            <a:avLst/>
          </a:prstGeom>
          <a:noFill/>
        </p:spPr>
        <p:txBody>
          <a:bodyPr wrap="square">
            <a:spAutoFit/>
          </a:bodyPr>
          <a:lstStyle/>
          <a:p>
            <a:pPr algn="ctr"/>
            <a:r>
              <a:rPr lang="en-US" sz="1400" dirty="0">
                <a:solidFill>
                  <a:srgbClr val="2F5597"/>
                </a:solidFill>
              </a:rPr>
              <a:t>New Revenue:</a:t>
            </a:r>
          </a:p>
        </p:txBody>
      </p:sp>
      <p:sp>
        <p:nvSpPr>
          <p:cNvPr id="30" name="TextBox 17">
            <a:extLst>
              <a:ext uri="{FF2B5EF4-FFF2-40B4-BE49-F238E27FC236}">
                <a16:creationId xmlns:a16="http://schemas.microsoft.com/office/drawing/2014/main" id="{C1D3B1A8-FAAE-0B88-C29F-E85065B280D4}"/>
              </a:ext>
            </a:extLst>
          </p:cNvPr>
          <p:cNvSpPr txBox="1"/>
          <p:nvPr/>
        </p:nvSpPr>
        <p:spPr>
          <a:xfrm>
            <a:off x="7224961" y="3387895"/>
            <a:ext cx="1118086" cy="307777"/>
          </a:xfrm>
          <a:prstGeom prst="rect">
            <a:avLst/>
          </a:prstGeom>
          <a:noFill/>
        </p:spPr>
        <p:txBody>
          <a:bodyPr wrap="square">
            <a:spAutoFit/>
          </a:bodyPr>
          <a:lstStyle/>
          <a:p>
            <a:pPr algn="ctr"/>
            <a:r>
              <a:rPr lang="en-US" sz="1400" dirty="0">
                <a:solidFill>
                  <a:srgbClr val="2F5597"/>
                </a:solidFill>
              </a:rPr>
              <a:t>New Profit:</a:t>
            </a:r>
          </a:p>
        </p:txBody>
      </p:sp>
      <p:sp>
        <p:nvSpPr>
          <p:cNvPr id="31" name="TextBox 20">
            <a:extLst>
              <a:ext uri="{FF2B5EF4-FFF2-40B4-BE49-F238E27FC236}">
                <a16:creationId xmlns:a16="http://schemas.microsoft.com/office/drawing/2014/main" id="{2874283C-CA06-5479-4602-EB0270C154E4}"/>
              </a:ext>
            </a:extLst>
          </p:cNvPr>
          <p:cNvSpPr txBox="1"/>
          <p:nvPr/>
        </p:nvSpPr>
        <p:spPr>
          <a:xfrm>
            <a:off x="5134452" y="3633620"/>
            <a:ext cx="1588535" cy="400110"/>
          </a:xfrm>
          <a:prstGeom prst="rect">
            <a:avLst/>
          </a:prstGeom>
          <a:noFill/>
        </p:spPr>
        <p:txBody>
          <a:bodyPr wrap="square">
            <a:spAutoFit/>
          </a:bodyPr>
          <a:lstStyle/>
          <a:p>
            <a:pPr algn="ctr"/>
            <a:r>
              <a:rPr lang="en-US" sz="2000" b="1" dirty="0">
                <a:solidFill>
                  <a:srgbClr val="2F5597"/>
                </a:solidFill>
              </a:rPr>
              <a:t>$17.78M</a:t>
            </a:r>
            <a:endParaRPr lang="en-US" sz="2000" dirty="0">
              <a:solidFill>
                <a:srgbClr val="2F5597"/>
              </a:solidFill>
            </a:endParaRPr>
          </a:p>
        </p:txBody>
      </p:sp>
      <p:sp>
        <p:nvSpPr>
          <p:cNvPr id="32" name="TextBox 21">
            <a:extLst>
              <a:ext uri="{FF2B5EF4-FFF2-40B4-BE49-F238E27FC236}">
                <a16:creationId xmlns:a16="http://schemas.microsoft.com/office/drawing/2014/main" id="{4D69DD81-2339-406D-F79D-43DD31A624AE}"/>
              </a:ext>
            </a:extLst>
          </p:cNvPr>
          <p:cNvSpPr txBox="1"/>
          <p:nvPr/>
        </p:nvSpPr>
        <p:spPr>
          <a:xfrm>
            <a:off x="6928001" y="3633620"/>
            <a:ext cx="1588535" cy="400110"/>
          </a:xfrm>
          <a:prstGeom prst="rect">
            <a:avLst/>
          </a:prstGeom>
          <a:noFill/>
        </p:spPr>
        <p:txBody>
          <a:bodyPr wrap="square">
            <a:spAutoFit/>
          </a:bodyPr>
          <a:lstStyle/>
          <a:p>
            <a:pPr algn="ctr"/>
            <a:r>
              <a:rPr lang="en-US" sz="2000" b="1" dirty="0">
                <a:solidFill>
                  <a:srgbClr val="2F5597"/>
                </a:solidFill>
              </a:rPr>
              <a:t>$3.75M</a:t>
            </a:r>
            <a:endParaRPr lang="en-US" sz="2000" dirty="0">
              <a:solidFill>
                <a:srgbClr val="2F5597"/>
              </a:solidFill>
            </a:endParaRPr>
          </a:p>
        </p:txBody>
      </p:sp>
      <p:sp>
        <p:nvSpPr>
          <p:cNvPr id="33" name="TextBox 22">
            <a:extLst>
              <a:ext uri="{FF2B5EF4-FFF2-40B4-BE49-F238E27FC236}">
                <a16:creationId xmlns:a16="http://schemas.microsoft.com/office/drawing/2014/main" id="{312B49EA-FDDE-9E1D-77A0-02F68C559BD9}"/>
              </a:ext>
            </a:extLst>
          </p:cNvPr>
          <p:cNvSpPr txBox="1"/>
          <p:nvPr/>
        </p:nvSpPr>
        <p:spPr>
          <a:xfrm>
            <a:off x="5743985" y="4351536"/>
            <a:ext cx="2254143" cy="630942"/>
          </a:xfrm>
          <a:prstGeom prst="rect">
            <a:avLst/>
          </a:prstGeom>
          <a:noFill/>
        </p:spPr>
        <p:txBody>
          <a:bodyPr wrap="none" rtlCol="0">
            <a:spAutoFit/>
          </a:bodyPr>
          <a:lstStyle/>
          <a:p>
            <a:pPr algn="ctr"/>
            <a:r>
              <a:rPr lang="en-US" sz="2400" b="1" dirty="0">
                <a:solidFill>
                  <a:srgbClr val="2F5597"/>
                </a:solidFill>
              </a:rPr>
              <a:t>Mature Stage</a:t>
            </a:r>
          </a:p>
          <a:p>
            <a:pPr algn="ctr"/>
            <a:r>
              <a:rPr lang="en-US" sz="1100" dirty="0">
                <a:solidFill>
                  <a:srgbClr val="2F5597"/>
                </a:solidFill>
              </a:rPr>
              <a:t>High Profitability, Market Saturation</a:t>
            </a:r>
          </a:p>
        </p:txBody>
      </p:sp>
      <p:sp>
        <p:nvSpPr>
          <p:cNvPr id="34" name="TextBox 23">
            <a:extLst>
              <a:ext uri="{FF2B5EF4-FFF2-40B4-BE49-F238E27FC236}">
                <a16:creationId xmlns:a16="http://schemas.microsoft.com/office/drawing/2014/main" id="{A1A34FF8-3080-8575-C5C5-BC34F65F6E3C}"/>
              </a:ext>
            </a:extLst>
          </p:cNvPr>
          <p:cNvSpPr txBox="1"/>
          <p:nvPr/>
        </p:nvSpPr>
        <p:spPr>
          <a:xfrm>
            <a:off x="5149746" y="5008462"/>
            <a:ext cx="1624165" cy="307777"/>
          </a:xfrm>
          <a:prstGeom prst="rect">
            <a:avLst/>
          </a:prstGeom>
          <a:noFill/>
        </p:spPr>
        <p:txBody>
          <a:bodyPr wrap="square">
            <a:spAutoFit/>
          </a:bodyPr>
          <a:lstStyle/>
          <a:p>
            <a:pPr algn="ctr"/>
            <a:r>
              <a:rPr lang="en-US" sz="1400" dirty="0">
                <a:solidFill>
                  <a:srgbClr val="2F5597"/>
                </a:solidFill>
              </a:rPr>
              <a:t>New Revenue:</a:t>
            </a:r>
          </a:p>
        </p:txBody>
      </p:sp>
      <p:sp>
        <p:nvSpPr>
          <p:cNvPr id="35" name="TextBox 24">
            <a:extLst>
              <a:ext uri="{FF2B5EF4-FFF2-40B4-BE49-F238E27FC236}">
                <a16:creationId xmlns:a16="http://schemas.microsoft.com/office/drawing/2014/main" id="{B8C04B80-4154-902A-4A59-2F92CBA523E7}"/>
              </a:ext>
            </a:extLst>
          </p:cNvPr>
          <p:cNvSpPr txBox="1"/>
          <p:nvPr/>
        </p:nvSpPr>
        <p:spPr>
          <a:xfrm>
            <a:off x="7233970" y="5008462"/>
            <a:ext cx="1118086" cy="307777"/>
          </a:xfrm>
          <a:prstGeom prst="rect">
            <a:avLst/>
          </a:prstGeom>
          <a:noFill/>
        </p:spPr>
        <p:txBody>
          <a:bodyPr wrap="square">
            <a:spAutoFit/>
          </a:bodyPr>
          <a:lstStyle/>
          <a:p>
            <a:pPr algn="ctr"/>
            <a:r>
              <a:rPr lang="en-US" sz="1400" dirty="0">
                <a:solidFill>
                  <a:srgbClr val="2F5597"/>
                </a:solidFill>
              </a:rPr>
              <a:t>New Profit:</a:t>
            </a:r>
          </a:p>
        </p:txBody>
      </p:sp>
      <p:sp>
        <p:nvSpPr>
          <p:cNvPr id="36" name="TextBox 25">
            <a:extLst>
              <a:ext uri="{FF2B5EF4-FFF2-40B4-BE49-F238E27FC236}">
                <a16:creationId xmlns:a16="http://schemas.microsoft.com/office/drawing/2014/main" id="{2C44FC3C-3343-4CC8-02C5-6DCA80215658}"/>
              </a:ext>
            </a:extLst>
          </p:cNvPr>
          <p:cNvSpPr txBox="1"/>
          <p:nvPr/>
        </p:nvSpPr>
        <p:spPr>
          <a:xfrm>
            <a:off x="5143461" y="5254187"/>
            <a:ext cx="1588535" cy="400110"/>
          </a:xfrm>
          <a:prstGeom prst="rect">
            <a:avLst/>
          </a:prstGeom>
          <a:noFill/>
        </p:spPr>
        <p:txBody>
          <a:bodyPr wrap="square">
            <a:spAutoFit/>
          </a:bodyPr>
          <a:lstStyle/>
          <a:p>
            <a:pPr algn="ctr"/>
            <a:r>
              <a:rPr lang="en-US" sz="2000" b="1" dirty="0">
                <a:solidFill>
                  <a:srgbClr val="2F5597"/>
                </a:solidFill>
              </a:rPr>
              <a:t>$35.42M</a:t>
            </a:r>
            <a:endParaRPr lang="en-US" sz="2000" dirty="0">
              <a:solidFill>
                <a:srgbClr val="2F5597"/>
              </a:solidFill>
            </a:endParaRPr>
          </a:p>
        </p:txBody>
      </p:sp>
      <p:sp>
        <p:nvSpPr>
          <p:cNvPr id="37" name="TextBox 26">
            <a:extLst>
              <a:ext uri="{FF2B5EF4-FFF2-40B4-BE49-F238E27FC236}">
                <a16:creationId xmlns:a16="http://schemas.microsoft.com/office/drawing/2014/main" id="{22C2A19F-FEC8-EE24-6C1A-DEC9F80CB3E3}"/>
              </a:ext>
            </a:extLst>
          </p:cNvPr>
          <p:cNvSpPr txBox="1"/>
          <p:nvPr/>
        </p:nvSpPr>
        <p:spPr>
          <a:xfrm>
            <a:off x="6937010" y="5254187"/>
            <a:ext cx="1588535" cy="400110"/>
          </a:xfrm>
          <a:prstGeom prst="rect">
            <a:avLst/>
          </a:prstGeom>
          <a:noFill/>
        </p:spPr>
        <p:txBody>
          <a:bodyPr wrap="square">
            <a:spAutoFit/>
          </a:bodyPr>
          <a:lstStyle/>
          <a:p>
            <a:pPr algn="ctr"/>
            <a:r>
              <a:rPr lang="en-US" sz="2000" b="1" dirty="0">
                <a:solidFill>
                  <a:srgbClr val="2F5597"/>
                </a:solidFill>
              </a:rPr>
              <a:t>$7.63M</a:t>
            </a:r>
            <a:endParaRPr lang="en-US" sz="2000" dirty="0">
              <a:solidFill>
                <a:srgbClr val="2F5597"/>
              </a:solidFill>
            </a:endParaRPr>
          </a:p>
        </p:txBody>
      </p:sp>
      <p:pic>
        <p:nvPicPr>
          <p:cNvPr id="2" name="Picture 2" descr="Key Benefit Administrators Partners with Tennova Healthcare and UT Medical  Center to Provide Direct-to-Employer Health Plans for East Tennessee  Employers | Business Wire">
            <a:extLst>
              <a:ext uri="{FF2B5EF4-FFF2-40B4-BE49-F238E27FC236}">
                <a16:creationId xmlns:a16="http://schemas.microsoft.com/office/drawing/2014/main" id="{9B558DBB-66FB-BAD0-6D55-52E6FE24BA09}"/>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8001" t="37311" r="2234" b="36582"/>
          <a:stretch/>
        </p:blipFill>
        <p:spPr bwMode="auto">
          <a:xfrm>
            <a:off x="581967" y="6528043"/>
            <a:ext cx="1678913" cy="255133"/>
          </a:xfrm>
          <a:prstGeom prst="rect">
            <a:avLst/>
          </a:prstGeom>
          <a:noFill/>
          <a:extLst>
            <a:ext uri="{909E8E84-426E-40DD-AFC4-6F175D3DCCD1}">
              <a14:hiddenFill xmlns:a14="http://schemas.microsoft.com/office/drawing/2010/main">
                <a:solidFill>
                  <a:srgbClr val="FFFFFF"/>
                </a:solidFill>
              </a14:hiddenFill>
            </a:ext>
          </a:extLst>
        </p:spPr>
      </p:pic>
      <p:sp>
        <p:nvSpPr>
          <p:cNvPr id="7" name="Rectangle 6">
            <a:extLst>
              <a:ext uri="{FF2B5EF4-FFF2-40B4-BE49-F238E27FC236}">
                <a16:creationId xmlns:a16="http://schemas.microsoft.com/office/drawing/2014/main" id="{FC744B69-5E8A-3265-EE80-940EE2968AFE}"/>
              </a:ext>
            </a:extLst>
          </p:cNvPr>
          <p:cNvSpPr/>
          <p:nvPr/>
        </p:nvSpPr>
        <p:spPr>
          <a:xfrm>
            <a:off x="2732818" y="6622035"/>
            <a:ext cx="9459182" cy="255133"/>
          </a:xfrm>
          <a:prstGeom prst="rect">
            <a:avLst/>
          </a:prstGeom>
          <a:solidFill>
            <a:srgbClr val="254F96">
              <a:alpha val="9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190286323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5B3B7911-4429-5620-651D-8CF02A22EE52}"/>
              </a:ext>
            </a:extLst>
          </p:cNvPr>
          <p:cNvSpPr>
            <a:spLocks noGrp="1"/>
          </p:cNvSpPr>
          <p:nvPr>
            <p:ph type="sldNum" sz="quarter" idx="12"/>
          </p:nvPr>
        </p:nvSpPr>
        <p:spPr>
          <a:xfrm>
            <a:off x="8610601" y="6209839"/>
            <a:ext cx="2743200" cy="250380"/>
          </a:xfrm>
        </p:spPr>
        <p:txBody>
          <a:bodyPr/>
          <a:lstStyle/>
          <a:p>
            <a:fld id="{3AFC719D-C4A7-4544-876E-D411D11AF6C9}" type="slidenum">
              <a:rPr lang="en-US" smtClean="0"/>
              <a:t>10</a:t>
            </a:fld>
            <a:endParaRPr lang="en-US" dirty="0"/>
          </a:p>
        </p:txBody>
      </p:sp>
      <p:graphicFrame>
        <p:nvGraphicFramePr>
          <p:cNvPr id="8" name="Table 7">
            <a:extLst>
              <a:ext uri="{FF2B5EF4-FFF2-40B4-BE49-F238E27FC236}">
                <a16:creationId xmlns:a16="http://schemas.microsoft.com/office/drawing/2014/main" id="{0074741D-2B9A-0122-543B-08154EC422A8}"/>
              </a:ext>
            </a:extLst>
          </p:cNvPr>
          <p:cNvGraphicFramePr>
            <a:graphicFrameLocks noGrp="1"/>
          </p:cNvGraphicFramePr>
          <p:nvPr>
            <p:extLst>
              <p:ext uri="{D42A27DB-BD31-4B8C-83A1-F6EECF244321}">
                <p14:modId xmlns:p14="http://schemas.microsoft.com/office/powerpoint/2010/main" val="2540639798"/>
              </p:ext>
            </p:extLst>
          </p:nvPr>
        </p:nvGraphicFramePr>
        <p:xfrm>
          <a:off x="8700415" y="1712788"/>
          <a:ext cx="3228870" cy="2664836"/>
        </p:xfrm>
        <a:graphic>
          <a:graphicData uri="http://schemas.openxmlformats.org/drawingml/2006/table">
            <a:tbl>
              <a:tblPr/>
              <a:tblGrid>
                <a:gridCol w="1076290">
                  <a:extLst>
                    <a:ext uri="{9D8B030D-6E8A-4147-A177-3AD203B41FA5}">
                      <a16:colId xmlns:a16="http://schemas.microsoft.com/office/drawing/2014/main" val="747333909"/>
                    </a:ext>
                  </a:extLst>
                </a:gridCol>
                <a:gridCol w="1076290">
                  <a:extLst>
                    <a:ext uri="{9D8B030D-6E8A-4147-A177-3AD203B41FA5}">
                      <a16:colId xmlns:a16="http://schemas.microsoft.com/office/drawing/2014/main" val="3421697369"/>
                    </a:ext>
                  </a:extLst>
                </a:gridCol>
                <a:gridCol w="1076290">
                  <a:extLst>
                    <a:ext uri="{9D8B030D-6E8A-4147-A177-3AD203B41FA5}">
                      <a16:colId xmlns:a16="http://schemas.microsoft.com/office/drawing/2014/main" val="1427849391"/>
                    </a:ext>
                  </a:extLst>
                </a:gridCol>
              </a:tblGrid>
              <a:tr h="604396">
                <a:tc>
                  <a:txBody>
                    <a:bodyPr/>
                    <a:lstStyle/>
                    <a:p>
                      <a:pPr marL="0" marR="0" algn="ctr">
                        <a:lnSpc>
                          <a:spcPct val="100000"/>
                        </a:lnSpc>
                        <a:spcBef>
                          <a:spcPts val="0"/>
                        </a:spcBef>
                        <a:spcAft>
                          <a:spcPts val="0"/>
                        </a:spcAft>
                        <a:buNone/>
                      </a:pPr>
                      <a:r>
                        <a:rPr sz="1100" b="1" i="0" u="none" cap="none" dirty="0">
                          <a:solidFill>
                            <a:srgbClr val="000000">
                              <a:alpha val="100000"/>
                            </a:srgbClr>
                          </a:solidFill>
                          <a:latin typeface="Arial"/>
                          <a:cs typeface="Arial"/>
                          <a:sym typeface="Arial"/>
                        </a:rPr>
                        <a:t>Year</a:t>
                      </a:r>
                    </a:p>
                  </a:txBody>
                  <a:tcPr marL="0" marR="0" marT="0" marB="0" anchor="ctr">
                    <a:lnL w="12700" cap="flat" cmpd="sng" algn="ctr">
                      <a:solidFill>
                        <a:schemeClr val="tx1"/>
                      </a:solidFill>
                      <a:prstDash val="solid"/>
                      <a:round/>
                      <a:headEnd type="none" w="med" len="med"/>
                      <a:tailEnd type="none" w="med" len="med"/>
                    </a:lnL>
                    <a:lnR w="0" cap="flat" cmpd="sng" algn="ctr">
                      <a:noFill/>
                      <a:prstDash val="solid"/>
                    </a:lnR>
                    <a:lnT w="12700" cap="flat" cmpd="sng" algn="ctr">
                      <a:solidFill>
                        <a:schemeClr val="tx1"/>
                      </a:solidFill>
                      <a:prstDash val="solid"/>
                      <a:round/>
                      <a:headEnd type="none" w="med" len="med"/>
                      <a:tailEnd type="none" w="med" len="med"/>
                    </a:lnT>
                    <a:lnB w="25400" cap="flat" cmpd="sng" algn="ctr">
                      <a:solidFill>
                        <a:srgbClr val="000000"/>
                      </a:solidFill>
                      <a:prstDash val="solid"/>
                      <a:round/>
                      <a:headEnd type="none" w="med" len="med"/>
                      <a:tailEnd type="none" w="med" len="med"/>
                    </a:lnB>
                    <a:solidFill>
                      <a:srgbClr val="F2F2F2">
                        <a:alpha val="100000"/>
                      </a:srgbClr>
                    </a:solidFill>
                  </a:tcPr>
                </a:tc>
                <a:tc>
                  <a:txBody>
                    <a:bodyPr/>
                    <a:lstStyle/>
                    <a:p>
                      <a:pPr marL="0" marR="0" algn="ctr">
                        <a:lnSpc>
                          <a:spcPct val="100000"/>
                        </a:lnSpc>
                        <a:spcBef>
                          <a:spcPts val="0"/>
                        </a:spcBef>
                        <a:spcAft>
                          <a:spcPts val="0"/>
                        </a:spcAft>
                        <a:buNone/>
                      </a:pPr>
                      <a:r>
                        <a:rPr sz="1100" b="1" i="0" u="none" cap="none">
                          <a:solidFill>
                            <a:srgbClr val="000000">
                              <a:alpha val="100000"/>
                            </a:srgbClr>
                          </a:solidFill>
                          <a:latin typeface="Arial"/>
                          <a:cs typeface="Arial"/>
                          <a:sym typeface="Arial"/>
                        </a:rPr>
                        <a:t>Employees</a:t>
                      </a:r>
                    </a:p>
                  </a:txBody>
                  <a:tcPr marL="0" marR="0" marT="0" marB="0" anchor="ctr">
                    <a:lnL w="0" cap="flat" cmpd="sng" algn="ctr">
                      <a:noFill/>
                      <a:prstDash val="solid"/>
                    </a:lnL>
                    <a:lnR w="0" cap="flat" cmpd="sng" algn="ctr">
                      <a:noFill/>
                      <a:prstDash val="solid"/>
                    </a:lnR>
                    <a:lnT w="12700" cap="flat" cmpd="sng" algn="ctr">
                      <a:solidFill>
                        <a:schemeClr val="tx1"/>
                      </a:solidFill>
                      <a:prstDash val="solid"/>
                      <a:round/>
                      <a:headEnd type="none" w="med" len="med"/>
                      <a:tailEnd type="none" w="med" len="med"/>
                    </a:lnT>
                    <a:lnB w="25400" cap="flat" cmpd="sng" algn="ctr">
                      <a:solidFill>
                        <a:srgbClr val="000000"/>
                      </a:solidFill>
                      <a:prstDash val="solid"/>
                      <a:round/>
                      <a:headEnd type="none" w="med" len="med"/>
                      <a:tailEnd type="none" w="med" len="med"/>
                    </a:lnB>
                    <a:solidFill>
                      <a:srgbClr val="F2F2F2">
                        <a:alpha val="100000"/>
                      </a:srgbClr>
                    </a:solidFill>
                  </a:tcPr>
                </a:tc>
                <a:tc>
                  <a:txBody>
                    <a:bodyPr/>
                    <a:lstStyle/>
                    <a:p>
                      <a:pPr marL="0" marR="0" algn="ctr">
                        <a:lnSpc>
                          <a:spcPct val="100000"/>
                        </a:lnSpc>
                        <a:spcBef>
                          <a:spcPts val="0"/>
                        </a:spcBef>
                        <a:spcAft>
                          <a:spcPts val="0"/>
                        </a:spcAft>
                        <a:buNone/>
                      </a:pPr>
                      <a:r>
                        <a:rPr sz="1100" b="1" i="0" u="none" cap="none" dirty="0">
                          <a:solidFill>
                            <a:srgbClr val="000000">
                              <a:alpha val="100000"/>
                            </a:srgbClr>
                          </a:solidFill>
                          <a:latin typeface="Arial"/>
                          <a:cs typeface="Arial"/>
                          <a:sym typeface="Arial"/>
                        </a:rPr>
                        <a:t>Members</a:t>
                      </a:r>
                    </a:p>
                  </a:txBody>
                  <a:tcPr marL="0" marR="0" marT="0" marB="0" anchor="ctr">
                    <a:lnL w="0" cap="flat" cmpd="sng" algn="ctr">
                      <a:noFill/>
                      <a:prstDash val="soli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5400" cap="flat" cmpd="sng" algn="ctr">
                      <a:solidFill>
                        <a:srgbClr val="000000"/>
                      </a:solidFill>
                      <a:prstDash val="solid"/>
                      <a:round/>
                      <a:headEnd type="none" w="med" len="med"/>
                      <a:tailEnd type="none" w="med" len="med"/>
                    </a:lnB>
                    <a:solidFill>
                      <a:srgbClr val="F2F2F2">
                        <a:alpha val="100000"/>
                      </a:srgbClr>
                    </a:solidFill>
                  </a:tcPr>
                </a:tc>
                <a:extLst>
                  <a:ext uri="{0D108BD9-81ED-4DB2-BD59-A6C34878D82A}">
                    <a16:rowId xmlns:a16="http://schemas.microsoft.com/office/drawing/2014/main" val="2737570731"/>
                  </a:ext>
                </a:extLst>
              </a:tr>
              <a:tr h="206044">
                <a:tc>
                  <a:txBody>
                    <a:bodyPr/>
                    <a:lstStyle/>
                    <a:p>
                      <a:pPr marL="0" marR="0" algn="ctr" defTabSz="914411" rtl="0" eaLnBrk="1" fontAlgn="b" latinLnBrk="0" hangingPunct="1">
                        <a:lnSpc>
                          <a:spcPct val="100000"/>
                        </a:lnSpc>
                        <a:spcBef>
                          <a:spcPts val="0"/>
                        </a:spcBef>
                        <a:spcAft>
                          <a:spcPts val="0"/>
                        </a:spcAft>
                        <a:buNone/>
                      </a:pPr>
                      <a:r>
                        <a:rPr lang="en-US" sz="1100" b="1" i="0" u="none" kern="1200" cap="none" dirty="0">
                          <a:solidFill>
                            <a:srgbClr val="000000">
                              <a:alpha val="100000"/>
                            </a:srgbClr>
                          </a:solidFill>
                          <a:latin typeface="Arial"/>
                          <a:ea typeface="+mn-ea"/>
                          <a:cs typeface="Arial"/>
                        </a:rPr>
                        <a:t>1</a:t>
                      </a:r>
                    </a:p>
                  </a:txBody>
                  <a:tcPr marL="9525" marR="9525" marT="9525" marB="0" anchor="b">
                    <a:lnL w="12700" cap="flat" cmpd="sng" algn="ctr">
                      <a:solidFill>
                        <a:schemeClr val="tx1"/>
                      </a:solidFill>
                      <a:prstDash val="solid"/>
                      <a:round/>
                      <a:headEnd type="none" w="med" len="med"/>
                      <a:tailEnd type="none" w="med" len="med"/>
                    </a:lnL>
                    <a:lnR w="0" cap="flat" cmpd="sng" algn="ctr">
                      <a:no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0" marR="0" algn="ctr" defTabSz="914411" rtl="0" eaLnBrk="1" fontAlgn="b" latinLnBrk="0" hangingPunct="1">
                        <a:lnSpc>
                          <a:spcPct val="100000"/>
                        </a:lnSpc>
                        <a:spcBef>
                          <a:spcPts val="0"/>
                        </a:spcBef>
                        <a:spcAft>
                          <a:spcPts val="0"/>
                        </a:spcAft>
                        <a:buNone/>
                      </a:pPr>
                      <a:r>
                        <a:rPr lang="en-US" sz="1100" b="0" i="0" u="none" kern="1200" cap="none" dirty="0">
                          <a:solidFill>
                            <a:srgbClr val="000000">
                              <a:alpha val="100000"/>
                            </a:srgbClr>
                          </a:solidFill>
                          <a:latin typeface="Arial"/>
                          <a:ea typeface="+mn-ea"/>
                          <a:cs typeface="Arial"/>
                        </a:rPr>
                        <a:t>9,100</a:t>
                      </a:r>
                    </a:p>
                  </a:txBody>
                  <a:tcPr marL="9525" marR="9525" marT="9525" marB="0" anchor="b">
                    <a:lnL w="0" cap="flat" cmpd="sng" algn="ctr">
                      <a:noFill/>
                      <a:prstDash val="solid"/>
                    </a:lnL>
                    <a:lnR w="0" cap="flat" cmpd="sng" algn="ctr">
                      <a:no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0" marR="0" algn="ctr" defTabSz="914411" rtl="0" eaLnBrk="1" fontAlgn="b" latinLnBrk="0" hangingPunct="1">
                        <a:lnSpc>
                          <a:spcPct val="100000"/>
                        </a:lnSpc>
                        <a:spcBef>
                          <a:spcPts val="0"/>
                        </a:spcBef>
                        <a:spcAft>
                          <a:spcPts val="0"/>
                        </a:spcAft>
                        <a:buNone/>
                      </a:pPr>
                      <a:r>
                        <a:rPr lang="en-US" sz="1100" b="0" i="0" u="none" kern="1200" cap="none" dirty="0">
                          <a:solidFill>
                            <a:srgbClr val="000000">
                              <a:alpha val="100000"/>
                            </a:srgbClr>
                          </a:solidFill>
                          <a:latin typeface="Arial"/>
                          <a:ea typeface="+mn-ea"/>
                          <a:cs typeface="Arial"/>
                        </a:rPr>
                        <a:t>20,020</a:t>
                      </a:r>
                    </a:p>
                  </a:txBody>
                  <a:tcPr marL="9525" marR="9525" marT="9525" marB="0" anchor="b">
                    <a:lnL w="0" cap="flat" cmpd="sng" algn="ctr">
                      <a:noFill/>
                      <a:prstDash val="solid"/>
                    </a:lnL>
                    <a:lnR w="12700" cap="flat" cmpd="sng" algn="ctr">
                      <a:solidFill>
                        <a:schemeClr val="tx1"/>
                      </a:solidFill>
                      <a:prstDash val="solid"/>
                      <a:round/>
                      <a:headEnd type="none" w="med" len="med"/>
                      <a:tailEnd type="none" w="med" len="me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2580220669"/>
                  </a:ext>
                </a:extLst>
              </a:tr>
              <a:tr h="206044">
                <a:tc>
                  <a:txBody>
                    <a:bodyPr/>
                    <a:lstStyle/>
                    <a:p>
                      <a:pPr marL="0" marR="0" algn="ctr" defTabSz="914411" rtl="0" eaLnBrk="1" fontAlgn="b" latinLnBrk="0" hangingPunct="1">
                        <a:lnSpc>
                          <a:spcPct val="100000"/>
                        </a:lnSpc>
                        <a:spcBef>
                          <a:spcPts val="0"/>
                        </a:spcBef>
                        <a:spcAft>
                          <a:spcPts val="0"/>
                        </a:spcAft>
                        <a:buNone/>
                      </a:pPr>
                      <a:r>
                        <a:rPr lang="en-US" sz="1100" b="1" i="0" u="none" kern="1200" cap="none" dirty="0">
                          <a:solidFill>
                            <a:srgbClr val="000000">
                              <a:alpha val="100000"/>
                            </a:srgbClr>
                          </a:solidFill>
                          <a:latin typeface="Arial"/>
                          <a:ea typeface="+mn-ea"/>
                          <a:cs typeface="Arial"/>
                        </a:rPr>
                        <a:t>2</a:t>
                      </a:r>
                    </a:p>
                  </a:txBody>
                  <a:tcPr marL="9525" marR="9525" marT="9525" marB="0" anchor="b">
                    <a:lnL w="12700" cap="flat" cmpd="sng" algn="ctr">
                      <a:solidFill>
                        <a:schemeClr val="tx1"/>
                      </a:solidFill>
                      <a:prstDash val="solid"/>
                      <a:round/>
                      <a:headEnd type="none" w="med" len="med"/>
                      <a:tailEnd type="none" w="med" len="me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defTabSz="914411" rtl="0" eaLnBrk="1" fontAlgn="b" latinLnBrk="0" hangingPunct="1">
                        <a:lnSpc>
                          <a:spcPct val="100000"/>
                        </a:lnSpc>
                        <a:spcBef>
                          <a:spcPts val="0"/>
                        </a:spcBef>
                        <a:spcAft>
                          <a:spcPts val="0"/>
                        </a:spcAft>
                        <a:buNone/>
                      </a:pPr>
                      <a:r>
                        <a:rPr lang="en-US" sz="1100" b="0" i="0" u="none" kern="1200" cap="none" dirty="0">
                          <a:solidFill>
                            <a:srgbClr val="000000">
                              <a:alpha val="100000"/>
                            </a:srgbClr>
                          </a:solidFill>
                          <a:latin typeface="Arial"/>
                          <a:ea typeface="+mn-ea"/>
                          <a:cs typeface="Arial"/>
                        </a:rPr>
                        <a:t>18,300</a:t>
                      </a:r>
                    </a:p>
                  </a:txBody>
                  <a:tcPr marL="9525" marR="9525" marT="9525" marB="0" anchor="b">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defTabSz="914411" rtl="0" eaLnBrk="1" fontAlgn="b" latinLnBrk="0" hangingPunct="1">
                        <a:lnSpc>
                          <a:spcPct val="100000"/>
                        </a:lnSpc>
                        <a:spcBef>
                          <a:spcPts val="0"/>
                        </a:spcBef>
                        <a:spcAft>
                          <a:spcPts val="0"/>
                        </a:spcAft>
                        <a:buNone/>
                      </a:pPr>
                      <a:r>
                        <a:rPr lang="en-US" sz="1100" b="0" i="0" u="none" kern="1200" cap="none" dirty="0">
                          <a:solidFill>
                            <a:srgbClr val="000000">
                              <a:alpha val="100000"/>
                            </a:srgbClr>
                          </a:solidFill>
                          <a:latin typeface="Arial"/>
                          <a:ea typeface="+mn-ea"/>
                          <a:cs typeface="Arial"/>
                        </a:rPr>
                        <a:t>40,260</a:t>
                      </a:r>
                    </a:p>
                  </a:txBody>
                  <a:tcPr marL="9525" marR="9525" marT="9525" marB="0" anchor="b">
                    <a:lnL w="0" cap="flat" cmpd="sng" algn="ctr">
                      <a:noFill/>
                      <a:prstDash val="solid"/>
                    </a:lnL>
                    <a:lnR w="12700" cap="flat" cmpd="sng" algn="ctr">
                      <a:solidFill>
                        <a:schemeClr val="tx1"/>
                      </a:solidFill>
                      <a:prstDash val="solid"/>
                      <a:round/>
                      <a:headEnd type="none" w="med" len="med"/>
                      <a:tailEnd type="none" w="med" len="me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2430363122"/>
                  </a:ext>
                </a:extLst>
              </a:tr>
              <a:tr h="206044">
                <a:tc>
                  <a:txBody>
                    <a:bodyPr/>
                    <a:lstStyle/>
                    <a:p>
                      <a:pPr marL="0" marR="0" algn="ctr" defTabSz="914411" rtl="0" eaLnBrk="1" fontAlgn="b" latinLnBrk="0" hangingPunct="1">
                        <a:lnSpc>
                          <a:spcPct val="100000"/>
                        </a:lnSpc>
                        <a:spcBef>
                          <a:spcPts val="0"/>
                        </a:spcBef>
                        <a:spcAft>
                          <a:spcPts val="0"/>
                        </a:spcAft>
                        <a:buNone/>
                      </a:pPr>
                      <a:r>
                        <a:rPr lang="en-US" sz="1100" b="1" i="0" u="none" kern="1200" cap="none">
                          <a:solidFill>
                            <a:srgbClr val="000000">
                              <a:alpha val="100000"/>
                            </a:srgbClr>
                          </a:solidFill>
                          <a:latin typeface="Arial"/>
                          <a:ea typeface="+mn-ea"/>
                          <a:cs typeface="Arial"/>
                        </a:rPr>
                        <a:t>3</a:t>
                      </a:r>
                    </a:p>
                  </a:txBody>
                  <a:tcPr marL="9525" marR="9525" marT="9525" marB="0" anchor="b">
                    <a:lnL w="12700" cap="flat" cmpd="sng" algn="ctr">
                      <a:solidFill>
                        <a:schemeClr val="tx1"/>
                      </a:solidFill>
                      <a:prstDash val="solid"/>
                      <a:round/>
                      <a:headEnd type="none" w="med" len="med"/>
                      <a:tailEnd type="none" w="med" len="me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defTabSz="914411" rtl="0" eaLnBrk="1" fontAlgn="b" latinLnBrk="0" hangingPunct="1">
                        <a:lnSpc>
                          <a:spcPct val="100000"/>
                        </a:lnSpc>
                        <a:spcBef>
                          <a:spcPts val="0"/>
                        </a:spcBef>
                        <a:spcAft>
                          <a:spcPts val="0"/>
                        </a:spcAft>
                        <a:buNone/>
                      </a:pPr>
                      <a:r>
                        <a:rPr lang="en-US" sz="1100" b="0" i="0" u="none" kern="1200" cap="none" dirty="0">
                          <a:solidFill>
                            <a:srgbClr val="000000">
                              <a:alpha val="100000"/>
                            </a:srgbClr>
                          </a:solidFill>
                          <a:latin typeface="Arial"/>
                          <a:ea typeface="+mn-ea"/>
                          <a:cs typeface="Arial"/>
                        </a:rPr>
                        <a:t>27,600</a:t>
                      </a:r>
                    </a:p>
                  </a:txBody>
                  <a:tcPr marL="9525" marR="9525" marT="9525" marB="0" anchor="b">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defTabSz="914411" rtl="0" eaLnBrk="1" fontAlgn="b" latinLnBrk="0" hangingPunct="1">
                        <a:lnSpc>
                          <a:spcPct val="100000"/>
                        </a:lnSpc>
                        <a:spcBef>
                          <a:spcPts val="0"/>
                        </a:spcBef>
                        <a:spcAft>
                          <a:spcPts val="0"/>
                        </a:spcAft>
                        <a:buNone/>
                      </a:pPr>
                      <a:r>
                        <a:rPr lang="en-US" sz="1100" b="0" i="0" u="none" kern="1200" cap="none" dirty="0">
                          <a:solidFill>
                            <a:srgbClr val="000000">
                              <a:alpha val="100000"/>
                            </a:srgbClr>
                          </a:solidFill>
                          <a:latin typeface="Arial"/>
                          <a:ea typeface="+mn-ea"/>
                          <a:cs typeface="Arial"/>
                        </a:rPr>
                        <a:t>60,720</a:t>
                      </a:r>
                    </a:p>
                  </a:txBody>
                  <a:tcPr marL="9525" marR="9525" marT="9525" marB="0" anchor="b">
                    <a:lnL w="0" cap="flat" cmpd="sng" algn="ctr">
                      <a:noFill/>
                      <a:prstDash val="solid"/>
                    </a:lnL>
                    <a:lnR w="12700" cap="flat" cmpd="sng" algn="ctr">
                      <a:solidFill>
                        <a:schemeClr val="tx1"/>
                      </a:solidFill>
                      <a:prstDash val="solid"/>
                      <a:round/>
                      <a:headEnd type="none" w="med" len="med"/>
                      <a:tailEnd type="none" w="med" len="me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2731343589"/>
                  </a:ext>
                </a:extLst>
              </a:tr>
              <a:tr h="206044">
                <a:tc>
                  <a:txBody>
                    <a:bodyPr/>
                    <a:lstStyle/>
                    <a:p>
                      <a:pPr marL="0" marR="0" algn="ctr" defTabSz="914411" rtl="0" eaLnBrk="1" fontAlgn="b" latinLnBrk="0" hangingPunct="1">
                        <a:lnSpc>
                          <a:spcPct val="100000"/>
                        </a:lnSpc>
                        <a:spcBef>
                          <a:spcPts val="0"/>
                        </a:spcBef>
                        <a:spcAft>
                          <a:spcPts val="0"/>
                        </a:spcAft>
                        <a:buNone/>
                      </a:pPr>
                      <a:r>
                        <a:rPr lang="en-US" sz="1100" b="1" i="0" u="none" kern="1200" cap="none">
                          <a:solidFill>
                            <a:srgbClr val="000000">
                              <a:alpha val="100000"/>
                            </a:srgbClr>
                          </a:solidFill>
                          <a:latin typeface="Arial"/>
                          <a:ea typeface="+mn-ea"/>
                          <a:cs typeface="Arial"/>
                        </a:rPr>
                        <a:t>4</a:t>
                      </a:r>
                    </a:p>
                  </a:txBody>
                  <a:tcPr marL="9525" marR="9525" marT="9525" marB="0" anchor="b">
                    <a:lnL w="12700" cap="flat" cmpd="sng" algn="ctr">
                      <a:solidFill>
                        <a:schemeClr val="tx1"/>
                      </a:solidFill>
                      <a:prstDash val="solid"/>
                      <a:round/>
                      <a:headEnd type="none" w="med" len="med"/>
                      <a:tailEnd type="none" w="med" len="me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defTabSz="914411" rtl="0" eaLnBrk="1" fontAlgn="b" latinLnBrk="0" hangingPunct="1">
                        <a:lnSpc>
                          <a:spcPct val="100000"/>
                        </a:lnSpc>
                        <a:spcBef>
                          <a:spcPts val="0"/>
                        </a:spcBef>
                        <a:spcAft>
                          <a:spcPts val="0"/>
                        </a:spcAft>
                        <a:buNone/>
                      </a:pPr>
                      <a:r>
                        <a:rPr lang="en-US" sz="1100" b="0" i="0" u="none" kern="1200" cap="none" dirty="0">
                          <a:solidFill>
                            <a:srgbClr val="000000">
                              <a:alpha val="100000"/>
                            </a:srgbClr>
                          </a:solidFill>
                          <a:latin typeface="Arial"/>
                          <a:ea typeface="+mn-ea"/>
                          <a:cs typeface="Arial"/>
                        </a:rPr>
                        <a:t>38,200</a:t>
                      </a:r>
                    </a:p>
                  </a:txBody>
                  <a:tcPr marL="9525" marR="9525" marT="9525" marB="0" anchor="b">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defTabSz="914411" rtl="0" eaLnBrk="1" fontAlgn="b" latinLnBrk="0" hangingPunct="1">
                        <a:lnSpc>
                          <a:spcPct val="100000"/>
                        </a:lnSpc>
                        <a:spcBef>
                          <a:spcPts val="0"/>
                        </a:spcBef>
                        <a:spcAft>
                          <a:spcPts val="0"/>
                        </a:spcAft>
                        <a:buNone/>
                      </a:pPr>
                      <a:r>
                        <a:rPr lang="en-US" sz="1100" b="0" i="0" u="none" kern="1200" cap="none" dirty="0">
                          <a:solidFill>
                            <a:srgbClr val="000000">
                              <a:alpha val="100000"/>
                            </a:srgbClr>
                          </a:solidFill>
                          <a:latin typeface="Arial"/>
                          <a:ea typeface="+mn-ea"/>
                          <a:cs typeface="Arial"/>
                        </a:rPr>
                        <a:t>84,040</a:t>
                      </a:r>
                    </a:p>
                  </a:txBody>
                  <a:tcPr marL="9525" marR="9525" marT="9525" marB="0" anchor="b">
                    <a:lnL w="0" cap="flat" cmpd="sng" algn="ctr">
                      <a:noFill/>
                      <a:prstDash val="solid"/>
                    </a:lnL>
                    <a:lnR w="12700" cap="flat" cmpd="sng" algn="ctr">
                      <a:solidFill>
                        <a:schemeClr val="tx1"/>
                      </a:solidFill>
                      <a:prstDash val="solid"/>
                      <a:round/>
                      <a:headEnd type="none" w="med" len="med"/>
                      <a:tailEnd type="none" w="med" len="me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3796413393"/>
                  </a:ext>
                </a:extLst>
              </a:tr>
              <a:tr h="206044">
                <a:tc>
                  <a:txBody>
                    <a:bodyPr/>
                    <a:lstStyle/>
                    <a:p>
                      <a:pPr marL="0" marR="0" algn="ctr" defTabSz="914411" rtl="0" eaLnBrk="1" fontAlgn="b" latinLnBrk="0" hangingPunct="1">
                        <a:lnSpc>
                          <a:spcPct val="100000"/>
                        </a:lnSpc>
                        <a:spcBef>
                          <a:spcPts val="0"/>
                        </a:spcBef>
                        <a:spcAft>
                          <a:spcPts val="0"/>
                        </a:spcAft>
                        <a:buNone/>
                      </a:pPr>
                      <a:r>
                        <a:rPr lang="en-US" sz="1100" b="1" i="0" u="none" kern="1200" cap="none">
                          <a:solidFill>
                            <a:srgbClr val="000000">
                              <a:alpha val="100000"/>
                            </a:srgbClr>
                          </a:solidFill>
                          <a:latin typeface="Arial"/>
                          <a:ea typeface="+mn-ea"/>
                          <a:cs typeface="Arial"/>
                        </a:rPr>
                        <a:t>5</a:t>
                      </a:r>
                    </a:p>
                  </a:txBody>
                  <a:tcPr marL="9525" marR="9525" marT="9525" marB="0" anchor="b">
                    <a:lnL w="12700" cap="flat" cmpd="sng" algn="ctr">
                      <a:solidFill>
                        <a:schemeClr val="tx1"/>
                      </a:solidFill>
                      <a:prstDash val="solid"/>
                      <a:round/>
                      <a:headEnd type="none" w="med" len="med"/>
                      <a:tailEnd type="none" w="med" len="me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defTabSz="914411" rtl="0" eaLnBrk="1" fontAlgn="b" latinLnBrk="0" hangingPunct="1">
                        <a:lnSpc>
                          <a:spcPct val="100000"/>
                        </a:lnSpc>
                        <a:spcBef>
                          <a:spcPts val="0"/>
                        </a:spcBef>
                        <a:spcAft>
                          <a:spcPts val="0"/>
                        </a:spcAft>
                        <a:buNone/>
                      </a:pPr>
                      <a:r>
                        <a:rPr lang="en-US" sz="1100" b="0" i="0" u="none" kern="1200" cap="none" dirty="0">
                          <a:solidFill>
                            <a:srgbClr val="000000">
                              <a:alpha val="100000"/>
                            </a:srgbClr>
                          </a:solidFill>
                          <a:latin typeface="Arial"/>
                          <a:ea typeface="+mn-ea"/>
                          <a:cs typeface="Arial"/>
                        </a:rPr>
                        <a:t>49,600</a:t>
                      </a:r>
                    </a:p>
                  </a:txBody>
                  <a:tcPr marL="9525" marR="9525" marT="9525" marB="0" anchor="b">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defTabSz="914411" rtl="0" eaLnBrk="1" fontAlgn="b" latinLnBrk="0" hangingPunct="1">
                        <a:lnSpc>
                          <a:spcPct val="100000"/>
                        </a:lnSpc>
                        <a:spcBef>
                          <a:spcPts val="0"/>
                        </a:spcBef>
                        <a:spcAft>
                          <a:spcPts val="0"/>
                        </a:spcAft>
                        <a:buNone/>
                      </a:pPr>
                      <a:r>
                        <a:rPr lang="en-US" sz="1100" b="0" i="0" u="none" kern="1200" cap="none" dirty="0">
                          <a:solidFill>
                            <a:srgbClr val="000000">
                              <a:alpha val="100000"/>
                            </a:srgbClr>
                          </a:solidFill>
                          <a:latin typeface="Arial"/>
                          <a:ea typeface="+mn-ea"/>
                          <a:cs typeface="Arial"/>
                        </a:rPr>
                        <a:t>109,120</a:t>
                      </a:r>
                    </a:p>
                  </a:txBody>
                  <a:tcPr marL="9525" marR="9525" marT="9525" marB="0" anchor="b">
                    <a:lnL w="0" cap="flat" cmpd="sng" algn="ctr">
                      <a:noFill/>
                      <a:prstDash val="solid"/>
                    </a:lnL>
                    <a:lnR w="12700" cap="flat" cmpd="sng" algn="ctr">
                      <a:solidFill>
                        <a:schemeClr val="tx1"/>
                      </a:solidFill>
                      <a:prstDash val="solid"/>
                      <a:round/>
                      <a:headEnd type="none" w="med" len="med"/>
                      <a:tailEnd type="none" w="med" len="me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3685085520"/>
                  </a:ext>
                </a:extLst>
              </a:tr>
              <a:tr h="206044">
                <a:tc>
                  <a:txBody>
                    <a:bodyPr/>
                    <a:lstStyle/>
                    <a:p>
                      <a:pPr marL="0" marR="0" algn="ctr" defTabSz="914411" rtl="0" eaLnBrk="1" fontAlgn="b" latinLnBrk="0" hangingPunct="1">
                        <a:lnSpc>
                          <a:spcPct val="100000"/>
                        </a:lnSpc>
                        <a:spcBef>
                          <a:spcPts val="0"/>
                        </a:spcBef>
                        <a:spcAft>
                          <a:spcPts val="0"/>
                        </a:spcAft>
                        <a:buNone/>
                      </a:pPr>
                      <a:r>
                        <a:rPr lang="en-US" sz="1100" b="1" i="0" u="none" kern="1200" cap="none">
                          <a:solidFill>
                            <a:srgbClr val="000000">
                              <a:alpha val="100000"/>
                            </a:srgbClr>
                          </a:solidFill>
                          <a:latin typeface="Arial"/>
                          <a:ea typeface="+mn-ea"/>
                          <a:cs typeface="Arial"/>
                        </a:rPr>
                        <a:t>6</a:t>
                      </a:r>
                    </a:p>
                  </a:txBody>
                  <a:tcPr marL="9525" marR="9525" marT="9525" marB="0" anchor="b">
                    <a:lnL w="12700" cap="flat" cmpd="sng" algn="ctr">
                      <a:solidFill>
                        <a:schemeClr val="tx1"/>
                      </a:solidFill>
                      <a:prstDash val="solid"/>
                      <a:round/>
                      <a:headEnd type="none" w="med" len="med"/>
                      <a:tailEnd type="none" w="med" len="me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defTabSz="914411" rtl="0" eaLnBrk="1" fontAlgn="b" latinLnBrk="0" hangingPunct="1">
                        <a:lnSpc>
                          <a:spcPct val="100000"/>
                        </a:lnSpc>
                        <a:spcBef>
                          <a:spcPts val="0"/>
                        </a:spcBef>
                        <a:spcAft>
                          <a:spcPts val="0"/>
                        </a:spcAft>
                        <a:buNone/>
                      </a:pPr>
                      <a:r>
                        <a:rPr lang="en-US" sz="1100" b="0" i="0" u="none" kern="1200" cap="none" dirty="0">
                          <a:solidFill>
                            <a:srgbClr val="000000">
                              <a:alpha val="100000"/>
                            </a:srgbClr>
                          </a:solidFill>
                          <a:latin typeface="Arial"/>
                          <a:ea typeface="+mn-ea"/>
                          <a:cs typeface="Arial"/>
                        </a:rPr>
                        <a:t>61,300</a:t>
                      </a:r>
                    </a:p>
                  </a:txBody>
                  <a:tcPr marL="9525" marR="9525" marT="9525" marB="0" anchor="b">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defTabSz="914411" rtl="0" eaLnBrk="1" fontAlgn="b" latinLnBrk="0" hangingPunct="1">
                        <a:lnSpc>
                          <a:spcPct val="100000"/>
                        </a:lnSpc>
                        <a:spcBef>
                          <a:spcPts val="0"/>
                        </a:spcBef>
                        <a:spcAft>
                          <a:spcPts val="0"/>
                        </a:spcAft>
                        <a:buNone/>
                      </a:pPr>
                      <a:r>
                        <a:rPr lang="en-US" sz="1100" b="0" i="0" u="none" kern="1200" cap="none" dirty="0">
                          <a:solidFill>
                            <a:srgbClr val="000000">
                              <a:alpha val="100000"/>
                            </a:srgbClr>
                          </a:solidFill>
                          <a:latin typeface="Arial"/>
                          <a:ea typeface="+mn-ea"/>
                          <a:cs typeface="Arial"/>
                        </a:rPr>
                        <a:t>134,860</a:t>
                      </a:r>
                    </a:p>
                  </a:txBody>
                  <a:tcPr marL="9525" marR="9525" marT="9525" marB="0" anchor="b">
                    <a:lnL w="0" cap="flat" cmpd="sng" algn="ctr">
                      <a:noFill/>
                      <a:prstDash val="solid"/>
                    </a:lnL>
                    <a:lnR w="12700" cap="flat" cmpd="sng" algn="ctr">
                      <a:solidFill>
                        <a:schemeClr val="tx1"/>
                      </a:solidFill>
                      <a:prstDash val="solid"/>
                      <a:round/>
                      <a:headEnd type="none" w="med" len="med"/>
                      <a:tailEnd type="none" w="med" len="me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3647458886"/>
                  </a:ext>
                </a:extLst>
              </a:tr>
              <a:tr h="206044">
                <a:tc>
                  <a:txBody>
                    <a:bodyPr/>
                    <a:lstStyle/>
                    <a:p>
                      <a:pPr marL="0" marR="0" algn="ctr" defTabSz="914411" rtl="0" eaLnBrk="1" fontAlgn="b" latinLnBrk="0" hangingPunct="1">
                        <a:lnSpc>
                          <a:spcPct val="100000"/>
                        </a:lnSpc>
                        <a:spcBef>
                          <a:spcPts val="0"/>
                        </a:spcBef>
                        <a:spcAft>
                          <a:spcPts val="0"/>
                        </a:spcAft>
                        <a:buNone/>
                      </a:pPr>
                      <a:r>
                        <a:rPr lang="en-US" sz="1100" b="1" i="0" u="none" kern="1200" cap="none">
                          <a:solidFill>
                            <a:srgbClr val="000000">
                              <a:alpha val="100000"/>
                            </a:srgbClr>
                          </a:solidFill>
                          <a:latin typeface="Arial"/>
                          <a:ea typeface="+mn-ea"/>
                          <a:cs typeface="Arial"/>
                        </a:rPr>
                        <a:t>7</a:t>
                      </a:r>
                    </a:p>
                  </a:txBody>
                  <a:tcPr marL="9525" marR="9525" marT="9525" marB="0" anchor="b">
                    <a:lnL w="12700" cap="flat" cmpd="sng" algn="ctr">
                      <a:solidFill>
                        <a:schemeClr val="tx1"/>
                      </a:solidFill>
                      <a:prstDash val="solid"/>
                      <a:round/>
                      <a:headEnd type="none" w="med" len="med"/>
                      <a:tailEnd type="none" w="med" len="me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defTabSz="914411" rtl="0" eaLnBrk="1" fontAlgn="b" latinLnBrk="0" hangingPunct="1">
                        <a:lnSpc>
                          <a:spcPct val="100000"/>
                        </a:lnSpc>
                        <a:spcBef>
                          <a:spcPts val="0"/>
                        </a:spcBef>
                        <a:spcAft>
                          <a:spcPts val="0"/>
                        </a:spcAft>
                        <a:buNone/>
                      </a:pPr>
                      <a:r>
                        <a:rPr lang="en-US" sz="1100" b="0" i="0" u="none" kern="1200" cap="none" dirty="0">
                          <a:solidFill>
                            <a:srgbClr val="000000">
                              <a:alpha val="100000"/>
                            </a:srgbClr>
                          </a:solidFill>
                          <a:latin typeface="Arial"/>
                          <a:ea typeface="+mn-ea"/>
                          <a:cs typeface="Arial"/>
                        </a:rPr>
                        <a:t>72,900</a:t>
                      </a:r>
                    </a:p>
                  </a:txBody>
                  <a:tcPr marL="9525" marR="9525" marT="9525" marB="0" anchor="b">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defTabSz="914411" rtl="0" eaLnBrk="1" fontAlgn="b" latinLnBrk="0" hangingPunct="1">
                        <a:lnSpc>
                          <a:spcPct val="100000"/>
                        </a:lnSpc>
                        <a:spcBef>
                          <a:spcPts val="0"/>
                        </a:spcBef>
                        <a:spcAft>
                          <a:spcPts val="0"/>
                        </a:spcAft>
                        <a:buNone/>
                      </a:pPr>
                      <a:r>
                        <a:rPr lang="en-US" sz="1100" b="0" i="0" u="none" kern="1200" cap="none" dirty="0">
                          <a:solidFill>
                            <a:srgbClr val="000000">
                              <a:alpha val="100000"/>
                            </a:srgbClr>
                          </a:solidFill>
                          <a:latin typeface="Arial"/>
                          <a:ea typeface="+mn-ea"/>
                          <a:cs typeface="Arial"/>
                        </a:rPr>
                        <a:t>160,380</a:t>
                      </a:r>
                    </a:p>
                  </a:txBody>
                  <a:tcPr marL="9525" marR="9525" marT="9525" marB="0" anchor="b">
                    <a:lnL w="0" cap="flat" cmpd="sng" algn="ctr">
                      <a:noFill/>
                      <a:prstDash val="solid"/>
                    </a:lnL>
                    <a:lnR w="12700" cap="flat" cmpd="sng" algn="ctr">
                      <a:solidFill>
                        <a:schemeClr val="tx1"/>
                      </a:solidFill>
                      <a:prstDash val="solid"/>
                      <a:round/>
                      <a:headEnd type="none" w="med" len="med"/>
                      <a:tailEnd type="none" w="med" len="me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417589541"/>
                  </a:ext>
                </a:extLst>
              </a:tr>
              <a:tr h="206044">
                <a:tc>
                  <a:txBody>
                    <a:bodyPr/>
                    <a:lstStyle/>
                    <a:p>
                      <a:pPr marL="0" marR="0" algn="ctr" defTabSz="914411" rtl="0" eaLnBrk="1" fontAlgn="b" latinLnBrk="0" hangingPunct="1">
                        <a:lnSpc>
                          <a:spcPct val="100000"/>
                        </a:lnSpc>
                        <a:spcBef>
                          <a:spcPts val="0"/>
                        </a:spcBef>
                        <a:spcAft>
                          <a:spcPts val="0"/>
                        </a:spcAft>
                        <a:buNone/>
                      </a:pPr>
                      <a:r>
                        <a:rPr lang="en-US" sz="1100" b="1" i="0" u="none" kern="1200" cap="none">
                          <a:solidFill>
                            <a:srgbClr val="000000">
                              <a:alpha val="100000"/>
                            </a:srgbClr>
                          </a:solidFill>
                          <a:latin typeface="Arial"/>
                          <a:ea typeface="+mn-ea"/>
                          <a:cs typeface="Arial"/>
                        </a:rPr>
                        <a:t>8</a:t>
                      </a:r>
                    </a:p>
                  </a:txBody>
                  <a:tcPr marL="9525" marR="9525" marT="9525" marB="0" anchor="b">
                    <a:lnL w="12700" cap="flat" cmpd="sng" algn="ctr">
                      <a:solidFill>
                        <a:schemeClr val="tx1"/>
                      </a:solidFill>
                      <a:prstDash val="solid"/>
                      <a:round/>
                      <a:headEnd type="none" w="med" len="med"/>
                      <a:tailEnd type="none" w="med" len="me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defTabSz="914411" rtl="0" eaLnBrk="1" fontAlgn="b" latinLnBrk="0" hangingPunct="1">
                        <a:lnSpc>
                          <a:spcPct val="100000"/>
                        </a:lnSpc>
                        <a:spcBef>
                          <a:spcPts val="0"/>
                        </a:spcBef>
                        <a:spcAft>
                          <a:spcPts val="0"/>
                        </a:spcAft>
                        <a:buNone/>
                      </a:pPr>
                      <a:r>
                        <a:rPr lang="en-US" sz="1100" b="0" i="0" u="none" kern="1200" cap="none" dirty="0">
                          <a:solidFill>
                            <a:srgbClr val="000000">
                              <a:alpha val="100000"/>
                            </a:srgbClr>
                          </a:solidFill>
                          <a:latin typeface="Arial"/>
                          <a:ea typeface="+mn-ea"/>
                          <a:cs typeface="Arial"/>
                        </a:rPr>
                        <a:t>83,600</a:t>
                      </a:r>
                    </a:p>
                  </a:txBody>
                  <a:tcPr marL="9525" marR="9525" marT="9525" marB="0" anchor="b">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defTabSz="914411" rtl="0" eaLnBrk="1" fontAlgn="b" latinLnBrk="0" hangingPunct="1">
                        <a:lnSpc>
                          <a:spcPct val="100000"/>
                        </a:lnSpc>
                        <a:spcBef>
                          <a:spcPts val="0"/>
                        </a:spcBef>
                        <a:spcAft>
                          <a:spcPts val="0"/>
                        </a:spcAft>
                        <a:buNone/>
                      </a:pPr>
                      <a:r>
                        <a:rPr lang="en-US" sz="1100" b="0" i="0" u="none" kern="1200" cap="none" dirty="0">
                          <a:solidFill>
                            <a:srgbClr val="000000">
                              <a:alpha val="100000"/>
                            </a:srgbClr>
                          </a:solidFill>
                          <a:latin typeface="Arial"/>
                          <a:ea typeface="+mn-ea"/>
                          <a:cs typeface="Arial"/>
                        </a:rPr>
                        <a:t>183,920</a:t>
                      </a:r>
                    </a:p>
                  </a:txBody>
                  <a:tcPr marL="9525" marR="9525" marT="9525" marB="0" anchor="b">
                    <a:lnL w="0" cap="flat" cmpd="sng" algn="ctr">
                      <a:noFill/>
                      <a:prstDash val="solid"/>
                    </a:lnL>
                    <a:lnR w="12700" cap="flat" cmpd="sng" algn="ctr">
                      <a:solidFill>
                        <a:schemeClr val="tx1"/>
                      </a:solidFill>
                      <a:prstDash val="solid"/>
                      <a:round/>
                      <a:headEnd type="none" w="med" len="med"/>
                      <a:tailEnd type="none" w="med" len="me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386991442"/>
                  </a:ext>
                </a:extLst>
              </a:tr>
              <a:tr h="206044">
                <a:tc>
                  <a:txBody>
                    <a:bodyPr/>
                    <a:lstStyle/>
                    <a:p>
                      <a:pPr marL="0" marR="0" algn="ctr" defTabSz="914411" rtl="0" eaLnBrk="1" fontAlgn="b" latinLnBrk="0" hangingPunct="1">
                        <a:lnSpc>
                          <a:spcPct val="100000"/>
                        </a:lnSpc>
                        <a:spcBef>
                          <a:spcPts val="0"/>
                        </a:spcBef>
                        <a:spcAft>
                          <a:spcPts val="0"/>
                        </a:spcAft>
                        <a:buNone/>
                      </a:pPr>
                      <a:r>
                        <a:rPr lang="en-US" sz="1100" b="1" i="0" u="none" kern="1200" cap="none">
                          <a:solidFill>
                            <a:srgbClr val="000000">
                              <a:alpha val="100000"/>
                            </a:srgbClr>
                          </a:solidFill>
                          <a:latin typeface="Arial"/>
                          <a:ea typeface="+mn-ea"/>
                          <a:cs typeface="Arial"/>
                        </a:rPr>
                        <a:t>9</a:t>
                      </a:r>
                    </a:p>
                  </a:txBody>
                  <a:tcPr marL="9525" marR="9525" marT="9525" marB="0" anchor="b">
                    <a:lnL w="12700" cap="flat" cmpd="sng" algn="ctr">
                      <a:solidFill>
                        <a:schemeClr val="tx1"/>
                      </a:solidFill>
                      <a:prstDash val="solid"/>
                      <a:round/>
                      <a:headEnd type="none" w="med" len="med"/>
                      <a:tailEnd type="none" w="med" len="me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defTabSz="914411" rtl="0" eaLnBrk="1" fontAlgn="b" latinLnBrk="0" hangingPunct="1">
                        <a:lnSpc>
                          <a:spcPct val="100000"/>
                        </a:lnSpc>
                        <a:spcBef>
                          <a:spcPts val="0"/>
                        </a:spcBef>
                        <a:spcAft>
                          <a:spcPts val="0"/>
                        </a:spcAft>
                        <a:buNone/>
                      </a:pPr>
                      <a:r>
                        <a:rPr lang="en-US" sz="1100" b="0" i="0" u="none" kern="1200" cap="none" dirty="0">
                          <a:solidFill>
                            <a:srgbClr val="000000">
                              <a:alpha val="100000"/>
                            </a:srgbClr>
                          </a:solidFill>
                          <a:latin typeface="Arial"/>
                          <a:ea typeface="+mn-ea"/>
                          <a:cs typeface="Arial"/>
                        </a:rPr>
                        <a:t>93,200</a:t>
                      </a:r>
                    </a:p>
                  </a:txBody>
                  <a:tcPr marL="9525" marR="9525" marT="9525" marB="0" anchor="b">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defTabSz="914411" rtl="0" eaLnBrk="1" fontAlgn="b" latinLnBrk="0" hangingPunct="1">
                        <a:lnSpc>
                          <a:spcPct val="100000"/>
                        </a:lnSpc>
                        <a:spcBef>
                          <a:spcPts val="0"/>
                        </a:spcBef>
                        <a:spcAft>
                          <a:spcPts val="0"/>
                        </a:spcAft>
                        <a:buNone/>
                      </a:pPr>
                      <a:r>
                        <a:rPr lang="en-US" sz="1100" b="0" i="0" u="none" kern="1200" cap="none" dirty="0">
                          <a:solidFill>
                            <a:srgbClr val="000000">
                              <a:alpha val="100000"/>
                            </a:srgbClr>
                          </a:solidFill>
                          <a:latin typeface="Arial"/>
                          <a:ea typeface="+mn-ea"/>
                          <a:cs typeface="Arial"/>
                        </a:rPr>
                        <a:t>205,040</a:t>
                      </a:r>
                    </a:p>
                  </a:txBody>
                  <a:tcPr marL="9525" marR="9525" marT="9525" marB="0" anchor="b">
                    <a:lnL w="0" cap="flat" cmpd="sng" algn="ctr">
                      <a:noFill/>
                      <a:prstDash val="solid"/>
                    </a:lnL>
                    <a:lnR w="12700" cap="flat" cmpd="sng" algn="ctr">
                      <a:solidFill>
                        <a:schemeClr val="tx1"/>
                      </a:solidFill>
                      <a:prstDash val="solid"/>
                      <a:round/>
                      <a:headEnd type="none" w="med" len="med"/>
                      <a:tailEnd type="none" w="med" len="me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932558393"/>
                  </a:ext>
                </a:extLst>
              </a:tr>
              <a:tr h="206044">
                <a:tc>
                  <a:txBody>
                    <a:bodyPr/>
                    <a:lstStyle/>
                    <a:p>
                      <a:pPr marL="0" marR="0" algn="ctr" defTabSz="914411" rtl="0" eaLnBrk="1" fontAlgn="b" latinLnBrk="0" hangingPunct="1">
                        <a:lnSpc>
                          <a:spcPct val="100000"/>
                        </a:lnSpc>
                        <a:spcBef>
                          <a:spcPts val="0"/>
                        </a:spcBef>
                        <a:spcAft>
                          <a:spcPts val="0"/>
                        </a:spcAft>
                        <a:buNone/>
                      </a:pPr>
                      <a:r>
                        <a:rPr lang="en-US" sz="1100" b="1" i="0" u="none" kern="1200" cap="none">
                          <a:solidFill>
                            <a:srgbClr val="000000">
                              <a:alpha val="100000"/>
                            </a:srgbClr>
                          </a:solidFill>
                          <a:latin typeface="Arial"/>
                          <a:ea typeface="+mn-ea"/>
                          <a:cs typeface="Arial"/>
                        </a:rPr>
                        <a:t>10</a:t>
                      </a:r>
                    </a:p>
                  </a:txBody>
                  <a:tcPr marL="9525" marR="9525" marT="9525" marB="0" anchor="b">
                    <a:lnL w="12700" cap="flat" cmpd="sng" algn="ctr">
                      <a:solidFill>
                        <a:schemeClr val="tx1"/>
                      </a:solidFill>
                      <a:prstDash val="solid"/>
                      <a:round/>
                      <a:headEnd type="none" w="med" len="med"/>
                      <a:tailEnd type="none" w="med" len="me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defTabSz="914411" rtl="0" eaLnBrk="1" fontAlgn="b" latinLnBrk="0" hangingPunct="1">
                        <a:lnSpc>
                          <a:spcPct val="100000"/>
                        </a:lnSpc>
                        <a:spcBef>
                          <a:spcPts val="0"/>
                        </a:spcBef>
                        <a:spcAft>
                          <a:spcPts val="0"/>
                        </a:spcAft>
                        <a:buNone/>
                      </a:pPr>
                      <a:r>
                        <a:rPr lang="en-US" sz="1100" b="0" i="0" u="none" kern="1200" cap="none" dirty="0">
                          <a:solidFill>
                            <a:srgbClr val="000000">
                              <a:alpha val="100000"/>
                            </a:srgbClr>
                          </a:solidFill>
                          <a:latin typeface="Arial"/>
                          <a:ea typeface="+mn-ea"/>
                          <a:cs typeface="Arial"/>
                        </a:rPr>
                        <a:t>101,400</a:t>
                      </a:r>
                    </a:p>
                  </a:txBody>
                  <a:tcPr marL="9525" marR="9525" marT="9525" marB="0" anchor="b">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defTabSz="914411" rtl="0" eaLnBrk="1" fontAlgn="b" latinLnBrk="0" hangingPunct="1">
                        <a:lnSpc>
                          <a:spcPct val="100000"/>
                        </a:lnSpc>
                        <a:spcBef>
                          <a:spcPts val="0"/>
                        </a:spcBef>
                        <a:spcAft>
                          <a:spcPts val="0"/>
                        </a:spcAft>
                        <a:buNone/>
                      </a:pPr>
                      <a:r>
                        <a:rPr lang="en-US" sz="1100" b="0" i="0" u="none" kern="1200" cap="none" dirty="0">
                          <a:solidFill>
                            <a:srgbClr val="000000">
                              <a:alpha val="100000"/>
                            </a:srgbClr>
                          </a:solidFill>
                          <a:latin typeface="Arial"/>
                          <a:ea typeface="+mn-ea"/>
                          <a:cs typeface="Arial"/>
                        </a:rPr>
                        <a:t>223,080</a:t>
                      </a:r>
                    </a:p>
                  </a:txBody>
                  <a:tcPr marL="9525" marR="9525" marT="9525" marB="0" anchor="b">
                    <a:lnL w="0" cap="flat" cmpd="sng" algn="ctr">
                      <a:noFill/>
                      <a:prstDash val="solid"/>
                    </a:lnL>
                    <a:lnR w="12700" cap="flat" cmpd="sng" algn="ctr">
                      <a:solidFill>
                        <a:schemeClr val="tx1"/>
                      </a:solidFill>
                      <a:prstDash val="solid"/>
                      <a:round/>
                      <a:headEnd type="none" w="med" len="med"/>
                      <a:tailEnd type="none" w="med" len="me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469837802"/>
                  </a:ext>
                </a:extLst>
              </a:tr>
            </a:tbl>
          </a:graphicData>
        </a:graphic>
      </p:graphicFrame>
      <p:sp>
        <p:nvSpPr>
          <p:cNvPr id="27" name="Title 1">
            <a:extLst>
              <a:ext uri="{FF2B5EF4-FFF2-40B4-BE49-F238E27FC236}">
                <a16:creationId xmlns:a16="http://schemas.microsoft.com/office/drawing/2014/main" id="{5CB06021-EBF8-C602-9396-8BD2590988EA}"/>
              </a:ext>
            </a:extLst>
          </p:cNvPr>
          <p:cNvSpPr txBox="1">
            <a:spLocks/>
          </p:cNvSpPr>
          <p:nvPr/>
        </p:nvSpPr>
        <p:spPr>
          <a:xfrm>
            <a:off x="319042" y="64776"/>
            <a:ext cx="10515600" cy="1325563"/>
          </a:xfrm>
          <a:prstGeom prst="rect">
            <a:avLst/>
          </a:prstGeom>
        </p:spPr>
        <p:txBody>
          <a:bodyPr vert="horz" lIns="91440" tIns="45720" rIns="91440" bIns="45720" rtlCol="0" anchor="ctr">
            <a:normAutofit/>
          </a:bodyPr>
          <a:lstStyle>
            <a:lvl1pPr algn="l" defTabSz="914411" rtl="0" eaLnBrk="1" latinLnBrk="0" hangingPunct="1">
              <a:lnSpc>
                <a:spcPct val="90000"/>
              </a:lnSpc>
              <a:spcBef>
                <a:spcPct val="0"/>
              </a:spcBef>
              <a:buNone/>
              <a:defRPr sz="4400" kern="1200">
                <a:solidFill>
                  <a:schemeClr val="tx1"/>
                </a:solidFill>
                <a:latin typeface="+mj-lt"/>
                <a:ea typeface="+mj-ea"/>
                <a:cs typeface="+mj-cs"/>
              </a:defRPr>
            </a:lvl1pPr>
          </a:lstStyle>
          <a:p>
            <a:r>
              <a:rPr lang="en-US" b="1" dirty="0">
                <a:latin typeface="Garamond" panose="02020404030301010803" pitchFamily="18" charset="0"/>
              </a:rPr>
              <a:t>State-Wide DTE</a:t>
            </a:r>
          </a:p>
        </p:txBody>
      </p:sp>
      <p:sp>
        <p:nvSpPr>
          <p:cNvPr id="38" name="TextBox 13">
            <a:extLst>
              <a:ext uri="{FF2B5EF4-FFF2-40B4-BE49-F238E27FC236}">
                <a16:creationId xmlns:a16="http://schemas.microsoft.com/office/drawing/2014/main" id="{B59902C4-7FD1-F4A5-BE4E-9204ED577CCA}"/>
              </a:ext>
            </a:extLst>
          </p:cNvPr>
          <p:cNvSpPr txBox="1"/>
          <p:nvPr/>
        </p:nvSpPr>
        <p:spPr>
          <a:xfrm>
            <a:off x="5576842" y="1196457"/>
            <a:ext cx="2568332" cy="630942"/>
          </a:xfrm>
          <a:prstGeom prst="rect">
            <a:avLst/>
          </a:prstGeom>
          <a:noFill/>
        </p:spPr>
        <p:txBody>
          <a:bodyPr wrap="none" rtlCol="0">
            <a:spAutoFit/>
          </a:bodyPr>
          <a:lstStyle/>
          <a:p>
            <a:pPr algn="ctr"/>
            <a:r>
              <a:rPr lang="en-US" sz="2400" b="1" dirty="0">
                <a:solidFill>
                  <a:srgbClr val="6087CE"/>
                </a:solidFill>
              </a:rPr>
              <a:t>Early Stage</a:t>
            </a:r>
          </a:p>
          <a:p>
            <a:pPr algn="ctr"/>
            <a:r>
              <a:rPr lang="en-US" sz="1100" dirty="0">
                <a:solidFill>
                  <a:srgbClr val="6087CE"/>
                </a:solidFill>
              </a:rPr>
              <a:t>Gaining Name Recognition, Early Growth</a:t>
            </a:r>
          </a:p>
        </p:txBody>
      </p:sp>
      <p:sp>
        <p:nvSpPr>
          <p:cNvPr id="39" name="TextBox 6">
            <a:extLst>
              <a:ext uri="{FF2B5EF4-FFF2-40B4-BE49-F238E27FC236}">
                <a16:creationId xmlns:a16="http://schemas.microsoft.com/office/drawing/2014/main" id="{E45599C2-66D9-647F-48A6-2321DBA54CC3}"/>
              </a:ext>
            </a:extLst>
          </p:cNvPr>
          <p:cNvSpPr txBox="1"/>
          <p:nvPr/>
        </p:nvSpPr>
        <p:spPr>
          <a:xfrm>
            <a:off x="5139698" y="1853383"/>
            <a:ext cx="1624165" cy="307777"/>
          </a:xfrm>
          <a:prstGeom prst="rect">
            <a:avLst/>
          </a:prstGeom>
          <a:noFill/>
        </p:spPr>
        <p:txBody>
          <a:bodyPr wrap="square">
            <a:spAutoFit/>
          </a:bodyPr>
          <a:lstStyle/>
          <a:p>
            <a:pPr algn="ctr"/>
            <a:r>
              <a:rPr lang="en-US" sz="1400" dirty="0">
                <a:solidFill>
                  <a:srgbClr val="6087CE"/>
                </a:solidFill>
              </a:rPr>
              <a:t>New Revenue:</a:t>
            </a:r>
          </a:p>
        </p:txBody>
      </p:sp>
      <p:sp>
        <p:nvSpPr>
          <p:cNvPr id="40" name="TextBox 7">
            <a:extLst>
              <a:ext uri="{FF2B5EF4-FFF2-40B4-BE49-F238E27FC236}">
                <a16:creationId xmlns:a16="http://schemas.microsoft.com/office/drawing/2014/main" id="{58CFC727-98D7-62CE-89F0-573E962A246B}"/>
              </a:ext>
            </a:extLst>
          </p:cNvPr>
          <p:cNvSpPr txBox="1"/>
          <p:nvPr/>
        </p:nvSpPr>
        <p:spPr>
          <a:xfrm>
            <a:off x="7223922" y="1853383"/>
            <a:ext cx="1118086" cy="307777"/>
          </a:xfrm>
          <a:prstGeom prst="rect">
            <a:avLst/>
          </a:prstGeom>
          <a:noFill/>
        </p:spPr>
        <p:txBody>
          <a:bodyPr wrap="square">
            <a:spAutoFit/>
          </a:bodyPr>
          <a:lstStyle/>
          <a:p>
            <a:pPr algn="ctr"/>
            <a:r>
              <a:rPr lang="en-US" sz="1400" dirty="0">
                <a:solidFill>
                  <a:srgbClr val="6087CE"/>
                </a:solidFill>
              </a:rPr>
              <a:t>New Profit:</a:t>
            </a:r>
          </a:p>
        </p:txBody>
      </p:sp>
      <p:sp>
        <p:nvSpPr>
          <p:cNvPr id="41" name="TextBox 9">
            <a:extLst>
              <a:ext uri="{FF2B5EF4-FFF2-40B4-BE49-F238E27FC236}">
                <a16:creationId xmlns:a16="http://schemas.microsoft.com/office/drawing/2014/main" id="{E4A829FD-164F-8DB7-364E-EF7312F8462E}"/>
              </a:ext>
            </a:extLst>
          </p:cNvPr>
          <p:cNvSpPr txBox="1"/>
          <p:nvPr/>
        </p:nvSpPr>
        <p:spPr>
          <a:xfrm>
            <a:off x="5133413" y="2099108"/>
            <a:ext cx="1588535" cy="400110"/>
          </a:xfrm>
          <a:prstGeom prst="rect">
            <a:avLst/>
          </a:prstGeom>
          <a:noFill/>
        </p:spPr>
        <p:txBody>
          <a:bodyPr wrap="square">
            <a:spAutoFit/>
          </a:bodyPr>
          <a:lstStyle/>
          <a:p>
            <a:pPr algn="ctr"/>
            <a:r>
              <a:rPr lang="en-US" sz="2000" b="1" dirty="0">
                <a:solidFill>
                  <a:srgbClr val="6087CE"/>
                </a:solidFill>
              </a:rPr>
              <a:t>$0M</a:t>
            </a:r>
            <a:endParaRPr lang="en-US" sz="2000" dirty="0"/>
          </a:p>
        </p:txBody>
      </p:sp>
      <p:sp>
        <p:nvSpPr>
          <p:cNvPr id="42" name="TextBox 14">
            <a:extLst>
              <a:ext uri="{FF2B5EF4-FFF2-40B4-BE49-F238E27FC236}">
                <a16:creationId xmlns:a16="http://schemas.microsoft.com/office/drawing/2014/main" id="{5A8A101E-3AB6-C93B-0252-9A624BE57254}"/>
              </a:ext>
            </a:extLst>
          </p:cNvPr>
          <p:cNvSpPr txBox="1"/>
          <p:nvPr/>
        </p:nvSpPr>
        <p:spPr>
          <a:xfrm>
            <a:off x="6926962" y="2099108"/>
            <a:ext cx="1588535" cy="400110"/>
          </a:xfrm>
          <a:prstGeom prst="rect">
            <a:avLst/>
          </a:prstGeom>
          <a:noFill/>
        </p:spPr>
        <p:txBody>
          <a:bodyPr wrap="square">
            <a:spAutoFit/>
          </a:bodyPr>
          <a:lstStyle/>
          <a:p>
            <a:pPr algn="ctr"/>
            <a:r>
              <a:rPr lang="en-US" sz="2000" b="1" dirty="0">
                <a:solidFill>
                  <a:srgbClr val="6087CE"/>
                </a:solidFill>
              </a:rPr>
              <a:t>$0M</a:t>
            </a:r>
            <a:endParaRPr lang="en-US" sz="2000" dirty="0"/>
          </a:p>
        </p:txBody>
      </p:sp>
      <p:sp>
        <p:nvSpPr>
          <p:cNvPr id="43" name="TextBox 15">
            <a:extLst>
              <a:ext uri="{FF2B5EF4-FFF2-40B4-BE49-F238E27FC236}">
                <a16:creationId xmlns:a16="http://schemas.microsoft.com/office/drawing/2014/main" id="{ED224C45-9D66-A5A0-B7E7-65E8652BEB9B}"/>
              </a:ext>
            </a:extLst>
          </p:cNvPr>
          <p:cNvSpPr txBox="1"/>
          <p:nvPr/>
        </p:nvSpPr>
        <p:spPr>
          <a:xfrm>
            <a:off x="5785843" y="2710873"/>
            <a:ext cx="2132315" cy="630942"/>
          </a:xfrm>
          <a:prstGeom prst="rect">
            <a:avLst/>
          </a:prstGeom>
          <a:noFill/>
        </p:spPr>
        <p:txBody>
          <a:bodyPr wrap="none" rtlCol="0">
            <a:spAutoFit/>
          </a:bodyPr>
          <a:lstStyle/>
          <a:p>
            <a:pPr algn="ctr"/>
            <a:r>
              <a:rPr lang="en-US" sz="2400" b="1" dirty="0">
                <a:solidFill>
                  <a:srgbClr val="2F5597"/>
                </a:solidFill>
              </a:rPr>
              <a:t>Growth Stage</a:t>
            </a:r>
          </a:p>
          <a:p>
            <a:pPr algn="ctr"/>
            <a:r>
              <a:rPr lang="en-US" sz="1100" dirty="0">
                <a:solidFill>
                  <a:srgbClr val="2F5597"/>
                </a:solidFill>
              </a:rPr>
              <a:t>Strong Reputation, Strong Growth</a:t>
            </a:r>
          </a:p>
        </p:txBody>
      </p:sp>
      <p:sp>
        <p:nvSpPr>
          <p:cNvPr id="44" name="TextBox 16">
            <a:extLst>
              <a:ext uri="{FF2B5EF4-FFF2-40B4-BE49-F238E27FC236}">
                <a16:creationId xmlns:a16="http://schemas.microsoft.com/office/drawing/2014/main" id="{23C14FE5-6236-6CF3-3013-1E0933D78809}"/>
              </a:ext>
            </a:extLst>
          </p:cNvPr>
          <p:cNvSpPr txBox="1"/>
          <p:nvPr/>
        </p:nvSpPr>
        <p:spPr>
          <a:xfrm>
            <a:off x="5130689" y="3367799"/>
            <a:ext cx="1624165" cy="307777"/>
          </a:xfrm>
          <a:prstGeom prst="rect">
            <a:avLst/>
          </a:prstGeom>
          <a:noFill/>
        </p:spPr>
        <p:txBody>
          <a:bodyPr wrap="square">
            <a:spAutoFit/>
          </a:bodyPr>
          <a:lstStyle/>
          <a:p>
            <a:pPr algn="ctr"/>
            <a:r>
              <a:rPr lang="en-US" sz="1400" dirty="0">
                <a:solidFill>
                  <a:srgbClr val="2F5597"/>
                </a:solidFill>
              </a:rPr>
              <a:t>New Revenue:</a:t>
            </a:r>
          </a:p>
        </p:txBody>
      </p:sp>
      <p:sp>
        <p:nvSpPr>
          <p:cNvPr id="45" name="TextBox 17">
            <a:extLst>
              <a:ext uri="{FF2B5EF4-FFF2-40B4-BE49-F238E27FC236}">
                <a16:creationId xmlns:a16="http://schemas.microsoft.com/office/drawing/2014/main" id="{56BF6F06-2AD8-1DDA-0DDD-2B6F165F49CE}"/>
              </a:ext>
            </a:extLst>
          </p:cNvPr>
          <p:cNvSpPr txBox="1"/>
          <p:nvPr/>
        </p:nvSpPr>
        <p:spPr>
          <a:xfrm>
            <a:off x="7214913" y="3367799"/>
            <a:ext cx="1118086" cy="307777"/>
          </a:xfrm>
          <a:prstGeom prst="rect">
            <a:avLst/>
          </a:prstGeom>
          <a:noFill/>
        </p:spPr>
        <p:txBody>
          <a:bodyPr wrap="square">
            <a:spAutoFit/>
          </a:bodyPr>
          <a:lstStyle/>
          <a:p>
            <a:pPr algn="ctr"/>
            <a:r>
              <a:rPr lang="en-US" sz="1400" dirty="0">
                <a:solidFill>
                  <a:srgbClr val="2F5597"/>
                </a:solidFill>
              </a:rPr>
              <a:t>New Profit:</a:t>
            </a:r>
          </a:p>
        </p:txBody>
      </p:sp>
      <p:sp>
        <p:nvSpPr>
          <p:cNvPr id="46" name="TextBox 20">
            <a:extLst>
              <a:ext uri="{FF2B5EF4-FFF2-40B4-BE49-F238E27FC236}">
                <a16:creationId xmlns:a16="http://schemas.microsoft.com/office/drawing/2014/main" id="{2AEAF150-16D0-7903-CB63-3745FFBF619D}"/>
              </a:ext>
            </a:extLst>
          </p:cNvPr>
          <p:cNvSpPr txBox="1"/>
          <p:nvPr/>
        </p:nvSpPr>
        <p:spPr>
          <a:xfrm>
            <a:off x="5124404" y="3613524"/>
            <a:ext cx="1588535" cy="400110"/>
          </a:xfrm>
          <a:prstGeom prst="rect">
            <a:avLst/>
          </a:prstGeom>
          <a:noFill/>
        </p:spPr>
        <p:txBody>
          <a:bodyPr wrap="square">
            <a:spAutoFit/>
          </a:bodyPr>
          <a:lstStyle/>
          <a:p>
            <a:pPr algn="ctr"/>
            <a:r>
              <a:rPr lang="en-US" sz="2000" b="1" dirty="0">
                <a:solidFill>
                  <a:srgbClr val="2F5597"/>
                </a:solidFill>
              </a:rPr>
              <a:t>$0M</a:t>
            </a:r>
            <a:endParaRPr lang="en-US" sz="2000" dirty="0">
              <a:solidFill>
                <a:srgbClr val="2F5597"/>
              </a:solidFill>
            </a:endParaRPr>
          </a:p>
        </p:txBody>
      </p:sp>
      <p:sp>
        <p:nvSpPr>
          <p:cNvPr id="47" name="TextBox 21">
            <a:extLst>
              <a:ext uri="{FF2B5EF4-FFF2-40B4-BE49-F238E27FC236}">
                <a16:creationId xmlns:a16="http://schemas.microsoft.com/office/drawing/2014/main" id="{43D38FFD-B2C4-C300-4FCA-EB94ECBDF280}"/>
              </a:ext>
            </a:extLst>
          </p:cNvPr>
          <p:cNvSpPr txBox="1"/>
          <p:nvPr/>
        </p:nvSpPr>
        <p:spPr>
          <a:xfrm>
            <a:off x="6917953" y="3613524"/>
            <a:ext cx="1588535" cy="400110"/>
          </a:xfrm>
          <a:prstGeom prst="rect">
            <a:avLst/>
          </a:prstGeom>
          <a:noFill/>
        </p:spPr>
        <p:txBody>
          <a:bodyPr wrap="square">
            <a:spAutoFit/>
          </a:bodyPr>
          <a:lstStyle/>
          <a:p>
            <a:pPr algn="ctr"/>
            <a:r>
              <a:rPr lang="en-US" sz="2000" b="1" dirty="0">
                <a:solidFill>
                  <a:srgbClr val="2F5597"/>
                </a:solidFill>
              </a:rPr>
              <a:t>$0M</a:t>
            </a:r>
            <a:endParaRPr lang="en-US" sz="2000" dirty="0">
              <a:solidFill>
                <a:srgbClr val="2F5597"/>
              </a:solidFill>
            </a:endParaRPr>
          </a:p>
        </p:txBody>
      </p:sp>
      <p:sp>
        <p:nvSpPr>
          <p:cNvPr id="48" name="TextBox 22">
            <a:extLst>
              <a:ext uri="{FF2B5EF4-FFF2-40B4-BE49-F238E27FC236}">
                <a16:creationId xmlns:a16="http://schemas.microsoft.com/office/drawing/2014/main" id="{FAE4B28E-F4EA-A7EB-D15E-AF6466E1E0C4}"/>
              </a:ext>
            </a:extLst>
          </p:cNvPr>
          <p:cNvSpPr txBox="1"/>
          <p:nvPr/>
        </p:nvSpPr>
        <p:spPr>
          <a:xfrm>
            <a:off x="5733937" y="4331440"/>
            <a:ext cx="2254143" cy="630942"/>
          </a:xfrm>
          <a:prstGeom prst="rect">
            <a:avLst/>
          </a:prstGeom>
          <a:noFill/>
        </p:spPr>
        <p:txBody>
          <a:bodyPr wrap="none" rtlCol="0">
            <a:spAutoFit/>
          </a:bodyPr>
          <a:lstStyle/>
          <a:p>
            <a:pPr algn="ctr"/>
            <a:r>
              <a:rPr lang="en-US" sz="2400" b="1" dirty="0">
                <a:solidFill>
                  <a:srgbClr val="2F5597"/>
                </a:solidFill>
              </a:rPr>
              <a:t>Mature Stage</a:t>
            </a:r>
          </a:p>
          <a:p>
            <a:pPr algn="ctr"/>
            <a:r>
              <a:rPr lang="en-US" sz="1100" dirty="0">
                <a:solidFill>
                  <a:srgbClr val="2F5597"/>
                </a:solidFill>
              </a:rPr>
              <a:t>High Profitability, Market Saturation</a:t>
            </a:r>
          </a:p>
        </p:txBody>
      </p:sp>
      <p:sp>
        <p:nvSpPr>
          <p:cNvPr id="49" name="TextBox 23">
            <a:extLst>
              <a:ext uri="{FF2B5EF4-FFF2-40B4-BE49-F238E27FC236}">
                <a16:creationId xmlns:a16="http://schemas.microsoft.com/office/drawing/2014/main" id="{7BD911B9-2A59-EA60-CF23-3538655E860A}"/>
              </a:ext>
            </a:extLst>
          </p:cNvPr>
          <p:cNvSpPr txBox="1"/>
          <p:nvPr/>
        </p:nvSpPr>
        <p:spPr>
          <a:xfrm>
            <a:off x="5139698" y="4988366"/>
            <a:ext cx="1624165" cy="307777"/>
          </a:xfrm>
          <a:prstGeom prst="rect">
            <a:avLst/>
          </a:prstGeom>
          <a:noFill/>
        </p:spPr>
        <p:txBody>
          <a:bodyPr wrap="square">
            <a:spAutoFit/>
          </a:bodyPr>
          <a:lstStyle/>
          <a:p>
            <a:pPr algn="ctr"/>
            <a:r>
              <a:rPr lang="en-US" sz="1400" dirty="0">
                <a:solidFill>
                  <a:srgbClr val="2F5597"/>
                </a:solidFill>
              </a:rPr>
              <a:t>New Revenue:</a:t>
            </a:r>
          </a:p>
        </p:txBody>
      </p:sp>
      <p:sp>
        <p:nvSpPr>
          <p:cNvPr id="50" name="TextBox 24">
            <a:extLst>
              <a:ext uri="{FF2B5EF4-FFF2-40B4-BE49-F238E27FC236}">
                <a16:creationId xmlns:a16="http://schemas.microsoft.com/office/drawing/2014/main" id="{4087BB16-49AE-3800-9E71-5EF2BE2A84DE}"/>
              </a:ext>
            </a:extLst>
          </p:cNvPr>
          <p:cNvSpPr txBox="1"/>
          <p:nvPr/>
        </p:nvSpPr>
        <p:spPr>
          <a:xfrm>
            <a:off x="7223922" y="4988366"/>
            <a:ext cx="1118086" cy="307777"/>
          </a:xfrm>
          <a:prstGeom prst="rect">
            <a:avLst/>
          </a:prstGeom>
          <a:noFill/>
        </p:spPr>
        <p:txBody>
          <a:bodyPr wrap="square">
            <a:spAutoFit/>
          </a:bodyPr>
          <a:lstStyle/>
          <a:p>
            <a:pPr algn="ctr"/>
            <a:r>
              <a:rPr lang="en-US" sz="1400" dirty="0">
                <a:solidFill>
                  <a:srgbClr val="2F5597"/>
                </a:solidFill>
              </a:rPr>
              <a:t>New Profit:</a:t>
            </a:r>
          </a:p>
        </p:txBody>
      </p:sp>
      <p:sp>
        <p:nvSpPr>
          <p:cNvPr id="51" name="TextBox 25">
            <a:extLst>
              <a:ext uri="{FF2B5EF4-FFF2-40B4-BE49-F238E27FC236}">
                <a16:creationId xmlns:a16="http://schemas.microsoft.com/office/drawing/2014/main" id="{56930A29-01DD-91E7-EA0B-27BE38DB5E6E}"/>
              </a:ext>
            </a:extLst>
          </p:cNvPr>
          <p:cNvSpPr txBox="1"/>
          <p:nvPr/>
        </p:nvSpPr>
        <p:spPr>
          <a:xfrm>
            <a:off x="5133413" y="5234091"/>
            <a:ext cx="1588535" cy="400110"/>
          </a:xfrm>
          <a:prstGeom prst="rect">
            <a:avLst/>
          </a:prstGeom>
          <a:noFill/>
        </p:spPr>
        <p:txBody>
          <a:bodyPr wrap="square">
            <a:spAutoFit/>
          </a:bodyPr>
          <a:lstStyle/>
          <a:p>
            <a:pPr algn="ctr"/>
            <a:r>
              <a:rPr lang="en-US" sz="2000" b="1" dirty="0">
                <a:solidFill>
                  <a:srgbClr val="2F5597"/>
                </a:solidFill>
              </a:rPr>
              <a:t>$0M</a:t>
            </a:r>
            <a:endParaRPr lang="en-US" sz="2000" dirty="0">
              <a:solidFill>
                <a:srgbClr val="2F5597"/>
              </a:solidFill>
            </a:endParaRPr>
          </a:p>
        </p:txBody>
      </p:sp>
      <p:sp>
        <p:nvSpPr>
          <p:cNvPr id="52" name="TextBox 26">
            <a:extLst>
              <a:ext uri="{FF2B5EF4-FFF2-40B4-BE49-F238E27FC236}">
                <a16:creationId xmlns:a16="http://schemas.microsoft.com/office/drawing/2014/main" id="{9B9CAC14-29C4-08EE-9339-2B048C7F45AE}"/>
              </a:ext>
            </a:extLst>
          </p:cNvPr>
          <p:cNvSpPr txBox="1"/>
          <p:nvPr/>
        </p:nvSpPr>
        <p:spPr>
          <a:xfrm>
            <a:off x="6926962" y="5234091"/>
            <a:ext cx="1588535" cy="400110"/>
          </a:xfrm>
          <a:prstGeom prst="rect">
            <a:avLst/>
          </a:prstGeom>
          <a:noFill/>
        </p:spPr>
        <p:txBody>
          <a:bodyPr wrap="square">
            <a:spAutoFit/>
          </a:bodyPr>
          <a:lstStyle/>
          <a:p>
            <a:pPr algn="ctr"/>
            <a:r>
              <a:rPr lang="en-US" sz="2000" b="1" dirty="0">
                <a:solidFill>
                  <a:srgbClr val="2F5597"/>
                </a:solidFill>
              </a:rPr>
              <a:t>$0M</a:t>
            </a:r>
            <a:endParaRPr lang="en-US" sz="2000" dirty="0">
              <a:solidFill>
                <a:srgbClr val="2F5597"/>
              </a:solidFill>
            </a:endParaRPr>
          </a:p>
        </p:txBody>
      </p:sp>
      <p:sp>
        <p:nvSpPr>
          <p:cNvPr id="53" name="Rectangle 52">
            <a:extLst>
              <a:ext uri="{FF2B5EF4-FFF2-40B4-BE49-F238E27FC236}">
                <a16:creationId xmlns:a16="http://schemas.microsoft.com/office/drawing/2014/main" id="{83BD93A0-B825-A6F8-E887-1FAC1F00892F}"/>
              </a:ext>
            </a:extLst>
          </p:cNvPr>
          <p:cNvSpPr/>
          <p:nvPr/>
        </p:nvSpPr>
        <p:spPr>
          <a:xfrm>
            <a:off x="8699557" y="4394054"/>
            <a:ext cx="3228870" cy="1092346"/>
          </a:xfrm>
          <a:prstGeom prst="rect">
            <a:avLst/>
          </a:prstGeom>
          <a:gradFill flip="none" rotWithShape="1">
            <a:gsLst>
              <a:gs pos="0">
                <a:schemeClr val="accent1">
                  <a:lumMod val="50000"/>
                </a:schemeClr>
              </a:gs>
              <a:gs pos="50000">
                <a:schemeClr val="accent1">
                  <a:lumMod val="75000"/>
                </a:schemeClr>
              </a:gs>
              <a:gs pos="100000">
                <a:schemeClr val="accent1">
                  <a:lumMod val="60000"/>
                  <a:lumOff val="40000"/>
                </a:schemeClr>
              </a:gs>
            </a:gsLst>
            <a:lin ang="54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Target of reaching 20% of the population in 10 years. </a:t>
            </a:r>
          </a:p>
        </p:txBody>
      </p:sp>
      <p:pic>
        <p:nvPicPr>
          <p:cNvPr id="2" name="Picture 2" descr="Key Benefit Administrators Partners with Tennova Healthcare and UT Medical  Center to Provide Direct-to-Employer Health Plans for East Tennessee  Employers | Business Wire">
            <a:extLst>
              <a:ext uri="{FF2B5EF4-FFF2-40B4-BE49-F238E27FC236}">
                <a16:creationId xmlns:a16="http://schemas.microsoft.com/office/drawing/2014/main" id="{30397B89-52E0-5B39-B444-A2273679824C}"/>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8001" t="37311" r="2234" b="36582"/>
          <a:stretch/>
        </p:blipFill>
        <p:spPr bwMode="auto">
          <a:xfrm>
            <a:off x="581967" y="6528043"/>
            <a:ext cx="1678913" cy="255133"/>
          </a:xfrm>
          <a:prstGeom prst="rect">
            <a:avLst/>
          </a:prstGeom>
          <a:noFill/>
          <a:extLst>
            <a:ext uri="{909E8E84-426E-40DD-AFC4-6F175D3DCCD1}">
              <a14:hiddenFill xmlns:a14="http://schemas.microsoft.com/office/drawing/2010/main">
                <a:solidFill>
                  <a:srgbClr val="FFFFFF"/>
                </a:solidFill>
              </a14:hiddenFill>
            </a:ext>
          </a:extLst>
        </p:spPr>
      </p:pic>
      <p:sp>
        <p:nvSpPr>
          <p:cNvPr id="3" name="Rectangle 6">
            <a:extLst>
              <a:ext uri="{FF2B5EF4-FFF2-40B4-BE49-F238E27FC236}">
                <a16:creationId xmlns:a16="http://schemas.microsoft.com/office/drawing/2014/main" id="{976FB48C-7409-C94F-1139-4E86B51326DE}"/>
              </a:ext>
            </a:extLst>
          </p:cNvPr>
          <p:cNvSpPr/>
          <p:nvPr/>
        </p:nvSpPr>
        <p:spPr>
          <a:xfrm>
            <a:off x="2732818" y="6622035"/>
            <a:ext cx="9459182" cy="255133"/>
          </a:xfrm>
          <a:prstGeom prst="rect">
            <a:avLst/>
          </a:prstGeom>
          <a:solidFill>
            <a:srgbClr val="254F96">
              <a:alpha val="9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114960786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D06256-72DC-B631-BBA3-69573AD2A8ED}"/>
              </a:ext>
            </a:extLst>
          </p:cNvPr>
          <p:cNvSpPr>
            <a:spLocks noGrp="1"/>
          </p:cNvSpPr>
          <p:nvPr>
            <p:ph type="title"/>
          </p:nvPr>
        </p:nvSpPr>
        <p:spPr/>
        <p:txBody>
          <a:bodyPr/>
          <a:lstStyle/>
          <a:p>
            <a:pPr algn="ctr"/>
            <a:r>
              <a:rPr lang="en-US" b="1" dirty="0">
                <a:latin typeface="Garamond" panose="02020404030301010803" pitchFamily="18" charset="0"/>
                <a:cs typeface="Arial" panose="020B0604020202020204" pitchFamily="34" charset="0"/>
              </a:rPr>
              <a:t>Per-Member Medical Spend in Maine</a:t>
            </a:r>
          </a:p>
        </p:txBody>
      </p:sp>
      <p:sp>
        <p:nvSpPr>
          <p:cNvPr id="4" name="Footer Placeholder 3">
            <a:extLst>
              <a:ext uri="{FF2B5EF4-FFF2-40B4-BE49-F238E27FC236}">
                <a16:creationId xmlns:a16="http://schemas.microsoft.com/office/drawing/2014/main" id="{C82BDA4B-1E84-E6AD-7D58-31AD1105EB90}"/>
              </a:ext>
            </a:extLst>
          </p:cNvPr>
          <p:cNvSpPr>
            <a:spLocks noGrp="1"/>
          </p:cNvSpPr>
          <p:nvPr>
            <p:ph type="ftr" sz="quarter" idx="11"/>
          </p:nvPr>
        </p:nvSpPr>
        <p:spPr/>
        <p:txBody>
          <a:bodyPr/>
          <a:lstStyle/>
          <a:p>
            <a:r>
              <a:rPr lang="en-US"/>
              <a:t>Key Benefit Administrators</a:t>
            </a:r>
            <a:endParaRPr lang="en-US" dirty="0"/>
          </a:p>
        </p:txBody>
      </p:sp>
      <p:sp>
        <p:nvSpPr>
          <p:cNvPr id="5" name="Slide Number Placeholder 4">
            <a:extLst>
              <a:ext uri="{FF2B5EF4-FFF2-40B4-BE49-F238E27FC236}">
                <a16:creationId xmlns:a16="http://schemas.microsoft.com/office/drawing/2014/main" id="{47CCFBE6-6040-1980-CD43-0118D46743E9}"/>
              </a:ext>
            </a:extLst>
          </p:cNvPr>
          <p:cNvSpPr>
            <a:spLocks noGrp="1"/>
          </p:cNvSpPr>
          <p:nvPr>
            <p:ph type="sldNum" sz="quarter" idx="12"/>
          </p:nvPr>
        </p:nvSpPr>
        <p:spPr/>
        <p:txBody>
          <a:bodyPr/>
          <a:lstStyle/>
          <a:p>
            <a:fld id="{3AFC719D-C4A7-4544-876E-D411D11AF6C9}" type="slidenum">
              <a:rPr lang="en-US" smtClean="0"/>
              <a:t>11</a:t>
            </a:fld>
            <a:endParaRPr lang="en-US" dirty="0"/>
          </a:p>
        </p:txBody>
      </p:sp>
      <p:sp>
        <p:nvSpPr>
          <p:cNvPr id="6" name="TextBox 5">
            <a:extLst>
              <a:ext uri="{FF2B5EF4-FFF2-40B4-BE49-F238E27FC236}">
                <a16:creationId xmlns:a16="http://schemas.microsoft.com/office/drawing/2014/main" id="{51525B4B-8541-3853-B0CD-11243C17C1B6}"/>
              </a:ext>
            </a:extLst>
          </p:cNvPr>
          <p:cNvSpPr txBox="1"/>
          <p:nvPr/>
        </p:nvSpPr>
        <p:spPr>
          <a:xfrm>
            <a:off x="139799" y="2103723"/>
            <a:ext cx="3059043" cy="1569660"/>
          </a:xfrm>
          <a:prstGeom prst="rect">
            <a:avLst/>
          </a:prstGeom>
          <a:noFill/>
        </p:spPr>
        <p:txBody>
          <a:bodyPr wrap="none" rtlCol="0">
            <a:spAutoFit/>
          </a:bodyPr>
          <a:lstStyle/>
          <a:p>
            <a:pPr algn="ctr"/>
            <a:r>
              <a:rPr lang="en-US" sz="2400" b="1" dirty="0"/>
              <a:t>PMPY Commercial </a:t>
            </a:r>
          </a:p>
          <a:p>
            <a:pPr algn="ctr"/>
            <a:r>
              <a:rPr lang="en-US" sz="2400" b="1" dirty="0"/>
              <a:t>Medical </a:t>
            </a:r>
          </a:p>
          <a:p>
            <a:pPr algn="ctr"/>
            <a:r>
              <a:rPr lang="en-US" sz="2400" b="1" dirty="0"/>
              <a:t>Inpatient/Ambulatory </a:t>
            </a:r>
          </a:p>
          <a:p>
            <a:pPr algn="ctr"/>
            <a:r>
              <a:rPr lang="en-US" sz="2400" b="1" dirty="0"/>
              <a:t>Spend*</a:t>
            </a:r>
          </a:p>
        </p:txBody>
      </p:sp>
      <p:sp>
        <p:nvSpPr>
          <p:cNvPr id="7" name="TextBox 6">
            <a:extLst>
              <a:ext uri="{FF2B5EF4-FFF2-40B4-BE49-F238E27FC236}">
                <a16:creationId xmlns:a16="http://schemas.microsoft.com/office/drawing/2014/main" id="{D37823B2-D89D-4DC8-1E14-CF95E91C5800}"/>
              </a:ext>
            </a:extLst>
          </p:cNvPr>
          <p:cNvSpPr txBox="1"/>
          <p:nvPr/>
        </p:nvSpPr>
        <p:spPr>
          <a:xfrm>
            <a:off x="793118" y="3525625"/>
            <a:ext cx="1752403" cy="769441"/>
          </a:xfrm>
          <a:prstGeom prst="rect">
            <a:avLst/>
          </a:prstGeom>
          <a:noFill/>
        </p:spPr>
        <p:txBody>
          <a:bodyPr wrap="none" rtlCol="0">
            <a:spAutoFit/>
          </a:bodyPr>
          <a:lstStyle/>
          <a:p>
            <a:r>
              <a:rPr lang="en-US" sz="4400" dirty="0"/>
              <a:t>$7,779</a:t>
            </a:r>
          </a:p>
        </p:txBody>
      </p:sp>
      <p:graphicFrame>
        <p:nvGraphicFramePr>
          <p:cNvPr id="8" name="Table 7">
            <a:extLst>
              <a:ext uri="{FF2B5EF4-FFF2-40B4-BE49-F238E27FC236}">
                <a16:creationId xmlns:a16="http://schemas.microsoft.com/office/drawing/2014/main" id="{21A1B493-0DB8-CD9E-9E38-7E9AE810125A}"/>
              </a:ext>
            </a:extLst>
          </p:cNvPr>
          <p:cNvGraphicFramePr>
            <a:graphicFrameLocks noGrp="1"/>
          </p:cNvGraphicFramePr>
          <p:nvPr/>
        </p:nvGraphicFramePr>
        <p:xfrm>
          <a:off x="3485232" y="1597331"/>
          <a:ext cx="8354832" cy="4058748"/>
        </p:xfrm>
        <a:graphic>
          <a:graphicData uri="http://schemas.openxmlformats.org/drawingml/2006/table">
            <a:tbl>
              <a:tblPr/>
              <a:tblGrid>
                <a:gridCol w="3075824">
                  <a:extLst>
                    <a:ext uri="{9D8B030D-6E8A-4147-A177-3AD203B41FA5}">
                      <a16:colId xmlns:a16="http://schemas.microsoft.com/office/drawing/2014/main" val="1055420789"/>
                    </a:ext>
                  </a:extLst>
                </a:gridCol>
                <a:gridCol w="1291472">
                  <a:extLst>
                    <a:ext uri="{9D8B030D-6E8A-4147-A177-3AD203B41FA5}">
                      <a16:colId xmlns:a16="http://schemas.microsoft.com/office/drawing/2014/main" val="1409171867"/>
                    </a:ext>
                  </a:extLst>
                </a:gridCol>
                <a:gridCol w="1263192">
                  <a:extLst>
                    <a:ext uri="{9D8B030D-6E8A-4147-A177-3AD203B41FA5}">
                      <a16:colId xmlns:a16="http://schemas.microsoft.com/office/drawing/2014/main" val="14081307"/>
                    </a:ext>
                  </a:extLst>
                </a:gridCol>
                <a:gridCol w="1329179">
                  <a:extLst>
                    <a:ext uri="{9D8B030D-6E8A-4147-A177-3AD203B41FA5}">
                      <a16:colId xmlns:a16="http://schemas.microsoft.com/office/drawing/2014/main" val="3305028853"/>
                    </a:ext>
                  </a:extLst>
                </a:gridCol>
                <a:gridCol w="1395165">
                  <a:extLst>
                    <a:ext uri="{9D8B030D-6E8A-4147-A177-3AD203B41FA5}">
                      <a16:colId xmlns:a16="http://schemas.microsoft.com/office/drawing/2014/main" val="1296173635"/>
                    </a:ext>
                  </a:extLst>
                </a:gridCol>
              </a:tblGrid>
              <a:tr h="1021332">
                <a:tc>
                  <a:txBody>
                    <a:bodyPr/>
                    <a:lstStyle/>
                    <a:p>
                      <a:pPr algn="l" fontAlgn="b"/>
                      <a:r>
                        <a:rPr lang="en-US" sz="2000" b="0" i="0" u="none" strike="noStrike" dirty="0">
                          <a:solidFill>
                            <a:srgbClr val="000000"/>
                          </a:solidFill>
                          <a:effectLst/>
                          <a:latin typeface="Aptos Narrow" panose="020B0004020202020204" pitchFamily="34" charset="0"/>
                        </a:rPr>
                        <a:t>Health System/Group</a:t>
                      </a:r>
                    </a:p>
                  </a:txBody>
                  <a:tcPr marL="9525" marR="9525" marT="9525" marB="0" anchor="b">
                    <a:lnL>
                      <a:noFill/>
                    </a:lnL>
                    <a:lnR>
                      <a:noFill/>
                    </a:lnR>
                    <a:lnT>
                      <a:noFill/>
                    </a:lnT>
                    <a:lnB w="12700" cap="flat" cmpd="sng" algn="ctr">
                      <a:solidFill>
                        <a:schemeClr val="bg1">
                          <a:lumMod val="65000"/>
                        </a:schemeClr>
                      </a:solidFill>
                      <a:prstDash val="solid"/>
                      <a:round/>
                      <a:headEnd type="none" w="med" len="med"/>
                      <a:tailEnd type="none" w="med" len="med"/>
                    </a:lnB>
                    <a:noFill/>
                  </a:tcPr>
                </a:tc>
                <a:tc>
                  <a:txBody>
                    <a:bodyPr/>
                    <a:lstStyle/>
                    <a:p>
                      <a:pPr algn="ctr" fontAlgn="b"/>
                      <a:r>
                        <a:rPr lang="en-US" sz="2000" b="0" i="0" u="none" strike="noStrike" dirty="0">
                          <a:solidFill>
                            <a:srgbClr val="000000"/>
                          </a:solidFill>
                          <a:effectLst/>
                          <a:latin typeface="Aptos Narrow" panose="020B0004020202020204" pitchFamily="34" charset="0"/>
                        </a:rPr>
                        <a:t>Inpatient Market Share</a:t>
                      </a:r>
                    </a:p>
                  </a:txBody>
                  <a:tcPr marL="9525" marR="9525" marT="9525" marB="0" anchor="b">
                    <a:lnL>
                      <a:noFill/>
                    </a:lnL>
                    <a:lnR>
                      <a:noFill/>
                    </a:lnR>
                    <a:lnT>
                      <a:noFill/>
                    </a:lnT>
                    <a:lnB w="12700" cap="flat" cmpd="sng" algn="ctr">
                      <a:solidFill>
                        <a:schemeClr val="bg1">
                          <a:lumMod val="65000"/>
                        </a:schemeClr>
                      </a:solidFill>
                      <a:prstDash val="solid"/>
                      <a:round/>
                      <a:headEnd type="none" w="med" len="med"/>
                      <a:tailEnd type="none" w="med" len="med"/>
                    </a:lnB>
                    <a:noFill/>
                  </a:tcPr>
                </a:tc>
                <a:tc>
                  <a:txBody>
                    <a:bodyPr/>
                    <a:lstStyle/>
                    <a:p>
                      <a:pPr algn="ctr" fontAlgn="b"/>
                      <a:r>
                        <a:rPr lang="en-US" sz="2000" b="0" i="0" u="none" strike="noStrike" dirty="0">
                          <a:solidFill>
                            <a:srgbClr val="000000"/>
                          </a:solidFill>
                          <a:effectLst/>
                          <a:latin typeface="Aptos Narrow" panose="020B0004020202020204" pitchFamily="34" charset="0"/>
                        </a:rPr>
                        <a:t>Outpatient Market Share</a:t>
                      </a:r>
                    </a:p>
                  </a:txBody>
                  <a:tcPr marL="9525" marR="9525" marT="9525" marB="0" anchor="b">
                    <a:lnL>
                      <a:noFill/>
                    </a:lnL>
                    <a:lnR>
                      <a:noFill/>
                    </a:lnR>
                    <a:lnT>
                      <a:noFill/>
                    </a:lnT>
                    <a:lnB w="12700" cap="flat" cmpd="sng" algn="ctr">
                      <a:solidFill>
                        <a:schemeClr val="bg1">
                          <a:lumMod val="65000"/>
                        </a:schemeClr>
                      </a:solidFill>
                      <a:prstDash val="solid"/>
                      <a:round/>
                      <a:headEnd type="none" w="med" len="med"/>
                      <a:tailEnd type="none" w="med" len="med"/>
                    </a:lnB>
                    <a:noFill/>
                  </a:tcPr>
                </a:tc>
                <a:tc>
                  <a:txBody>
                    <a:bodyPr/>
                    <a:lstStyle/>
                    <a:p>
                      <a:pPr algn="ctr" fontAlgn="b"/>
                      <a:r>
                        <a:rPr lang="en-US" sz="2000" b="0" i="0" u="none" strike="noStrike" dirty="0">
                          <a:solidFill>
                            <a:srgbClr val="000000"/>
                          </a:solidFill>
                          <a:effectLst/>
                          <a:latin typeface="Aptos Narrow" panose="020B0004020202020204" pitchFamily="34" charset="0"/>
                        </a:rPr>
                        <a:t>Inpatient Dollars</a:t>
                      </a:r>
                    </a:p>
                  </a:txBody>
                  <a:tcPr marL="9525" marR="9525" marT="9525" marB="0" anchor="b">
                    <a:lnL>
                      <a:noFill/>
                    </a:lnL>
                    <a:lnR>
                      <a:noFill/>
                    </a:lnR>
                    <a:lnT>
                      <a:noFill/>
                    </a:lnT>
                    <a:lnB w="12700" cap="flat" cmpd="sng" algn="ctr">
                      <a:solidFill>
                        <a:schemeClr val="bg1">
                          <a:lumMod val="65000"/>
                        </a:schemeClr>
                      </a:solidFill>
                      <a:prstDash val="solid"/>
                      <a:round/>
                      <a:headEnd type="none" w="med" len="med"/>
                      <a:tailEnd type="none" w="med" len="med"/>
                    </a:lnB>
                    <a:noFill/>
                  </a:tcPr>
                </a:tc>
                <a:tc>
                  <a:txBody>
                    <a:bodyPr/>
                    <a:lstStyle/>
                    <a:p>
                      <a:pPr algn="ctr" fontAlgn="b"/>
                      <a:r>
                        <a:rPr lang="en-US" sz="2000" b="0" i="0" u="none" strike="noStrike" dirty="0">
                          <a:solidFill>
                            <a:srgbClr val="000000"/>
                          </a:solidFill>
                          <a:effectLst/>
                          <a:latin typeface="Aptos Narrow" panose="020B0004020202020204" pitchFamily="34" charset="0"/>
                        </a:rPr>
                        <a:t>Outpatient Dollars</a:t>
                      </a:r>
                    </a:p>
                  </a:txBody>
                  <a:tcPr marL="9525" marR="9525" marT="9525" marB="0" anchor="b">
                    <a:lnL>
                      <a:noFill/>
                    </a:lnL>
                    <a:lnR>
                      <a:noFill/>
                    </a:lnR>
                    <a:lnT>
                      <a:noFill/>
                    </a:lnT>
                    <a:lnB w="12700" cap="flat" cmpd="sng" algn="ctr">
                      <a:solidFill>
                        <a:schemeClr val="bg1">
                          <a:lumMod val="65000"/>
                        </a:schemeClr>
                      </a:solidFill>
                      <a:prstDash val="solid"/>
                      <a:round/>
                      <a:headEnd type="none" w="med" len="med"/>
                      <a:tailEnd type="none" w="med" len="med"/>
                    </a:lnB>
                    <a:noFill/>
                  </a:tcPr>
                </a:tc>
                <a:extLst>
                  <a:ext uri="{0D108BD9-81ED-4DB2-BD59-A6C34878D82A}">
                    <a16:rowId xmlns:a16="http://schemas.microsoft.com/office/drawing/2014/main" val="3325467811"/>
                  </a:ext>
                </a:extLst>
              </a:tr>
              <a:tr h="379677">
                <a:tc>
                  <a:txBody>
                    <a:bodyPr/>
                    <a:lstStyle/>
                    <a:p>
                      <a:pPr algn="l" fontAlgn="b"/>
                      <a:r>
                        <a:rPr lang="en-US" sz="2000" b="0" i="0" u="none" strike="noStrike" dirty="0" err="1">
                          <a:solidFill>
                            <a:srgbClr val="000000"/>
                          </a:solidFill>
                          <a:effectLst/>
                          <a:latin typeface="Aptos Narrow" panose="020B0004020202020204" pitchFamily="34" charset="0"/>
                        </a:rPr>
                        <a:t>MaineHealth</a:t>
                      </a:r>
                      <a:endParaRPr lang="en-US" sz="2000" b="0" i="0" u="none" strike="noStrike" dirty="0">
                        <a:solidFill>
                          <a:srgbClr val="000000"/>
                        </a:solidFill>
                        <a:effectLst/>
                        <a:latin typeface="Aptos Narrow" panose="020B0004020202020204" pitchFamily="34" charset="0"/>
                      </a:endParaRPr>
                    </a:p>
                  </a:txBody>
                  <a:tcPr marL="9525" marR="9525" marT="9525" marB="0" anchor="b">
                    <a:lnL>
                      <a:noFill/>
                    </a:lnL>
                    <a:lnR>
                      <a:noFill/>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tc>
                  <a:txBody>
                    <a:bodyPr/>
                    <a:lstStyle/>
                    <a:p>
                      <a:pPr algn="ctr" fontAlgn="b"/>
                      <a:r>
                        <a:rPr lang="en-US" sz="2000" b="0" i="0" u="none" strike="noStrike" kern="1200" dirty="0">
                          <a:solidFill>
                            <a:srgbClr val="000000"/>
                          </a:solidFill>
                          <a:effectLst/>
                          <a:latin typeface="Aptos Narrow" panose="020B0004020202020204" pitchFamily="34" charset="0"/>
                          <a:ea typeface="+mn-ea"/>
                          <a:cs typeface="+mn-cs"/>
                        </a:rPr>
                        <a:t>53%</a:t>
                      </a:r>
                    </a:p>
                  </a:txBody>
                  <a:tcPr marL="9525" marR="9525" marT="9525" marB="0" anchor="b">
                    <a:lnL>
                      <a:noFill/>
                    </a:lnL>
                    <a:lnR>
                      <a:noFill/>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tc>
                  <a:txBody>
                    <a:bodyPr/>
                    <a:lstStyle/>
                    <a:p>
                      <a:pPr algn="ctr" fontAlgn="b"/>
                      <a:r>
                        <a:rPr lang="en-US" sz="2000" b="0" i="0" u="none" strike="noStrike" kern="1200">
                          <a:solidFill>
                            <a:srgbClr val="000000"/>
                          </a:solidFill>
                          <a:effectLst/>
                          <a:latin typeface="Aptos Narrow" panose="020B0004020202020204" pitchFamily="34" charset="0"/>
                          <a:ea typeface="+mn-ea"/>
                          <a:cs typeface="+mn-cs"/>
                        </a:rPr>
                        <a:t>21%</a:t>
                      </a:r>
                    </a:p>
                  </a:txBody>
                  <a:tcPr marL="9525" marR="9525" marT="9525" marB="0" anchor="b">
                    <a:lnL>
                      <a:noFill/>
                    </a:lnL>
                    <a:lnR>
                      <a:noFill/>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tc>
                  <a:txBody>
                    <a:bodyPr/>
                    <a:lstStyle/>
                    <a:p>
                      <a:pPr algn="ctr" fontAlgn="b"/>
                      <a:r>
                        <a:rPr lang="en-US" sz="2000" b="0" i="0" u="none" strike="noStrike" kern="1200">
                          <a:solidFill>
                            <a:srgbClr val="000000"/>
                          </a:solidFill>
                          <a:effectLst/>
                          <a:latin typeface="Aptos Narrow" panose="020B0004020202020204" pitchFamily="34" charset="0"/>
                          <a:ea typeface="+mn-ea"/>
                          <a:cs typeface="+mn-cs"/>
                        </a:rPr>
                        <a:t> $ 1,130 </a:t>
                      </a:r>
                    </a:p>
                  </a:txBody>
                  <a:tcPr marL="9525" marR="9525" marT="9525" marB="0" anchor="b">
                    <a:lnL>
                      <a:noFill/>
                    </a:lnL>
                    <a:lnR>
                      <a:noFill/>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tc>
                  <a:txBody>
                    <a:bodyPr/>
                    <a:lstStyle/>
                    <a:p>
                      <a:pPr algn="ctr" fontAlgn="b"/>
                      <a:r>
                        <a:rPr lang="en-US" sz="2000" b="0" i="0" u="none" strike="noStrike" kern="1200">
                          <a:solidFill>
                            <a:srgbClr val="000000"/>
                          </a:solidFill>
                          <a:effectLst/>
                          <a:latin typeface="Aptos Narrow" panose="020B0004020202020204" pitchFamily="34" charset="0"/>
                          <a:ea typeface="+mn-ea"/>
                          <a:cs typeface="+mn-cs"/>
                        </a:rPr>
                        <a:t> $ 1,214 </a:t>
                      </a:r>
                    </a:p>
                  </a:txBody>
                  <a:tcPr marL="9525" marR="9525" marT="9525" marB="0" anchor="b">
                    <a:lnL>
                      <a:noFill/>
                    </a:lnL>
                    <a:lnR>
                      <a:noFill/>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extLst>
                  <a:ext uri="{0D108BD9-81ED-4DB2-BD59-A6C34878D82A}">
                    <a16:rowId xmlns:a16="http://schemas.microsoft.com/office/drawing/2014/main" val="1255094804"/>
                  </a:ext>
                </a:extLst>
              </a:tr>
              <a:tr h="379677">
                <a:tc>
                  <a:txBody>
                    <a:bodyPr/>
                    <a:lstStyle/>
                    <a:p>
                      <a:pPr algn="l" fontAlgn="b"/>
                      <a:r>
                        <a:rPr lang="en-US" sz="2000" b="0" i="0" u="none" strike="noStrike">
                          <a:solidFill>
                            <a:srgbClr val="000000"/>
                          </a:solidFill>
                          <a:effectLst/>
                          <a:latin typeface="Aptos Narrow" panose="020B0004020202020204" pitchFamily="34" charset="0"/>
                        </a:rPr>
                        <a:t>Northern Light Health</a:t>
                      </a:r>
                    </a:p>
                  </a:txBody>
                  <a:tcPr marL="9525" marR="9525" marT="9525" marB="0" anchor="b">
                    <a:lnL>
                      <a:noFill/>
                    </a:lnL>
                    <a:lnR>
                      <a:noFill/>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tc>
                  <a:txBody>
                    <a:bodyPr/>
                    <a:lstStyle/>
                    <a:p>
                      <a:pPr algn="ctr" fontAlgn="b"/>
                      <a:r>
                        <a:rPr lang="en-US" sz="2000" b="0" i="0" u="none" strike="noStrike" kern="1200" dirty="0">
                          <a:solidFill>
                            <a:srgbClr val="000000"/>
                          </a:solidFill>
                          <a:effectLst/>
                          <a:latin typeface="Aptos Narrow" panose="020B0004020202020204" pitchFamily="34" charset="0"/>
                          <a:ea typeface="+mn-ea"/>
                          <a:cs typeface="+mn-cs"/>
                        </a:rPr>
                        <a:t>24%</a:t>
                      </a:r>
                    </a:p>
                  </a:txBody>
                  <a:tcPr marL="9525" marR="9525" marT="9525" marB="0" anchor="b">
                    <a:lnL>
                      <a:noFill/>
                    </a:lnL>
                    <a:lnR>
                      <a:noFill/>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tc>
                  <a:txBody>
                    <a:bodyPr/>
                    <a:lstStyle/>
                    <a:p>
                      <a:pPr algn="ctr" fontAlgn="b"/>
                      <a:r>
                        <a:rPr lang="en-US" sz="2000" b="0" i="0" u="none" strike="noStrike" kern="1200" dirty="0">
                          <a:solidFill>
                            <a:srgbClr val="000000"/>
                          </a:solidFill>
                          <a:effectLst/>
                          <a:latin typeface="Aptos Narrow" panose="020B0004020202020204" pitchFamily="34" charset="0"/>
                          <a:ea typeface="+mn-ea"/>
                          <a:cs typeface="+mn-cs"/>
                        </a:rPr>
                        <a:t>14%</a:t>
                      </a:r>
                    </a:p>
                  </a:txBody>
                  <a:tcPr marL="9525" marR="9525" marT="9525" marB="0" anchor="b">
                    <a:lnL>
                      <a:noFill/>
                    </a:lnL>
                    <a:lnR>
                      <a:noFill/>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tc>
                  <a:txBody>
                    <a:bodyPr/>
                    <a:lstStyle/>
                    <a:p>
                      <a:pPr algn="ctr" fontAlgn="b"/>
                      <a:r>
                        <a:rPr lang="en-US" sz="2000" b="0" i="0" u="none" strike="noStrike" kern="1200">
                          <a:solidFill>
                            <a:srgbClr val="000000"/>
                          </a:solidFill>
                          <a:effectLst/>
                          <a:latin typeface="Aptos Narrow" panose="020B0004020202020204" pitchFamily="34" charset="0"/>
                          <a:ea typeface="+mn-ea"/>
                          <a:cs typeface="+mn-cs"/>
                        </a:rPr>
                        <a:t> $ 502 </a:t>
                      </a:r>
                    </a:p>
                  </a:txBody>
                  <a:tcPr marL="9525" marR="9525" marT="9525" marB="0" anchor="b">
                    <a:lnL>
                      <a:noFill/>
                    </a:lnL>
                    <a:lnR>
                      <a:noFill/>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tc>
                  <a:txBody>
                    <a:bodyPr/>
                    <a:lstStyle/>
                    <a:p>
                      <a:pPr algn="ctr" fontAlgn="b"/>
                      <a:r>
                        <a:rPr lang="en-US" sz="2000" b="0" i="0" u="none" strike="noStrike" kern="1200">
                          <a:solidFill>
                            <a:srgbClr val="000000"/>
                          </a:solidFill>
                          <a:effectLst/>
                          <a:latin typeface="Aptos Narrow" panose="020B0004020202020204" pitchFamily="34" charset="0"/>
                          <a:ea typeface="+mn-ea"/>
                          <a:cs typeface="+mn-cs"/>
                        </a:rPr>
                        <a:t> $ 800 </a:t>
                      </a:r>
                    </a:p>
                  </a:txBody>
                  <a:tcPr marL="9525" marR="9525" marT="9525" marB="0" anchor="b">
                    <a:lnL>
                      <a:noFill/>
                    </a:lnL>
                    <a:lnR>
                      <a:noFill/>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extLst>
                  <a:ext uri="{0D108BD9-81ED-4DB2-BD59-A6C34878D82A}">
                    <a16:rowId xmlns:a16="http://schemas.microsoft.com/office/drawing/2014/main" val="3919556571"/>
                  </a:ext>
                </a:extLst>
              </a:tr>
              <a:tr h="379677">
                <a:tc>
                  <a:txBody>
                    <a:bodyPr/>
                    <a:lstStyle/>
                    <a:p>
                      <a:pPr algn="l" fontAlgn="b"/>
                      <a:r>
                        <a:rPr lang="en-US" sz="2000" b="0" i="0" u="none" strike="noStrike">
                          <a:solidFill>
                            <a:srgbClr val="000000"/>
                          </a:solidFill>
                          <a:effectLst/>
                          <a:latin typeface="Aptos Narrow" panose="020B0004020202020204" pitchFamily="34" charset="0"/>
                        </a:rPr>
                        <a:t>Central Maine Healthcare</a:t>
                      </a:r>
                    </a:p>
                  </a:txBody>
                  <a:tcPr marL="9525" marR="9525" marT="9525" marB="0" anchor="b">
                    <a:lnL>
                      <a:noFill/>
                    </a:lnL>
                    <a:lnR>
                      <a:noFill/>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tc>
                  <a:txBody>
                    <a:bodyPr/>
                    <a:lstStyle/>
                    <a:p>
                      <a:pPr algn="ctr" fontAlgn="b"/>
                      <a:r>
                        <a:rPr lang="en-US" sz="2000" b="0" i="0" u="none" strike="noStrike" kern="1200">
                          <a:solidFill>
                            <a:srgbClr val="000000"/>
                          </a:solidFill>
                          <a:effectLst/>
                          <a:latin typeface="Aptos Narrow" panose="020B0004020202020204" pitchFamily="34" charset="0"/>
                          <a:ea typeface="+mn-ea"/>
                          <a:cs typeface="+mn-cs"/>
                        </a:rPr>
                        <a:t>7%</a:t>
                      </a:r>
                    </a:p>
                  </a:txBody>
                  <a:tcPr marL="9525" marR="9525" marT="9525" marB="0" anchor="b">
                    <a:lnL>
                      <a:noFill/>
                    </a:lnL>
                    <a:lnR>
                      <a:noFill/>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tc>
                  <a:txBody>
                    <a:bodyPr/>
                    <a:lstStyle/>
                    <a:p>
                      <a:pPr algn="ctr" fontAlgn="b"/>
                      <a:r>
                        <a:rPr lang="en-US" sz="2000" b="0" i="0" u="none" strike="noStrike" kern="1200" dirty="0">
                          <a:solidFill>
                            <a:srgbClr val="000000"/>
                          </a:solidFill>
                          <a:effectLst/>
                          <a:latin typeface="Aptos Narrow" panose="020B0004020202020204" pitchFamily="34" charset="0"/>
                          <a:ea typeface="+mn-ea"/>
                          <a:cs typeface="+mn-cs"/>
                        </a:rPr>
                        <a:t>4%</a:t>
                      </a:r>
                    </a:p>
                  </a:txBody>
                  <a:tcPr marL="9525" marR="9525" marT="9525" marB="0" anchor="b">
                    <a:lnL>
                      <a:noFill/>
                    </a:lnL>
                    <a:lnR>
                      <a:noFill/>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tc>
                  <a:txBody>
                    <a:bodyPr/>
                    <a:lstStyle/>
                    <a:p>
                      <a:pPr algn="ctr" fontAlgn="b"/>
                      <a:r>
                        <a:rPr lang="en-US" sz="2000" b="0" i="0" u="none" strike="noStrike" kern="1200" dirty="0">
                          <a:solidFill>
                            <a:srgbClr val="000000"/>
                          </a:solidFill>
                          <a:effectLst/>
                          <a:latin typeface="Aptos Narrow" panose="020B0004020202020204" pitchFamily="34" charset="0"/>
                          <a:ea typeface="+mn-ea"/>
                          <a:cs typeface="+mn-cs"/>
                        </a:rPr>
                        <a:t> $ 141 </a:t>
                      </a:r>
                    </a:p>
                  </a:txBody>
                  <a:tcPr marL="9525" marR="9525" marT="9525" marB="0" anchor="b">
                    <a:lnL>
                      <a:noFill/>
                    </a:lnL>
                    <a:lnR>
                      <a:noFill/>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tc>
                  <a:txBody>
                    <a:bodyPr/>
                    <a:lstStyle/>
                    <a:p>
                      <a:pPr algn="ctr" fontAlgn="b"/>
                      <a:r>
                        <a:rPr lang="en-US" sz="2000" b="0" i="0" u="none" strike="noStrike" kern="1200">
                          <a:solidFill>
                            <a:srgbClr val="000000"/>
                          </a:solidFill>
                          <a:effectLst/>
                          <a:latin typeface="Aptos Narrow" panose="020B0004020202020204" pitchFamily="34" charset="0"/>
                          <a:ea typeface="+mn-ea"/>
                          <a:cs typeface="+mn-cs"/>
                        </a:rPr>
                        <a:t> $ 243 </a:t>
                      </a:r>
                    </a:p>
                  </a:txBody>
                  <a:tcPr marL="9525" marR="9525" marT="9525" marB="0" anchor="b">
                    <a:lnL>
                      <a:noFill/>
                    </a:lnL>
                    <a:lnR>
                      <a:noFill/>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extLst>
                  <a:ext uri="{0D108BD9-81ED-4DB2-BD59-A6C34878D82A}">
                    <a16:rowId xmlns:a16="http://schemas.microsoft.com/office/drawing/2014/main" val="4072990383"/>
                  </a:ext>
                </a:extLst>
              </a:tr>
              <a:tr h="379677">
                <a:tc>
                  <a:txBody>
                    <a:bodyPr/>
                    <a:lstStyle/>
                    <a:p>
                      <a:pPr algn="l" fontAlgn="b"/>
                      <a:r>
                        <a:rPr lang="en-US" sz="2000" b="0" i="0" u="none" strike="noStrike">
                          <a:solidFill>
                            <a:srgbClr val="000000"/>
                          </a:solidFill>
                          <a:effectLst/>
                          <a:latin typeface="Aptos Narrow" panose="020B0004020202020204" pitchFamily="34" charset="0"/>
                        </a:rPr>
                        <a:t>MaineGeneral Health</a:t>
                      </a:r>
                    </a:p>
                  </a:txBody>
                  <a:tcPr marL="9525" marR="9525" marT="9525" marB="0" anchor="b">
                    <a:lnL>
                      <a:noFill/>
                    </a:lnL>
                    <a:lnR>
                      <a:noFill/>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tc>
                  <a:txBody>
                    <a:bodyPr/>
                    <a:lstStyle/>
                    <a:p>
                      <a:pPr algn="ctr" fontAlgn="b"/>
                      <a:r>
                        <a:rPr lang="en-US" sz="2000" b="0" i="0" u="none" strike="noStrike" kern="1200">
                          <a:solidFill>
                            <a:srgbClr val="000000"/>
                          </a:solidFill>
                          <a:effectLst/>
                          <a:latin typeface="Aptos Narrow" panose="020B0004020202020204" pitchFamily="34" charset="0"/>
                          <a:ea typeface="+mn-ea"/>
                          <a:cs typeface="+mn-cs"/>
                        </a:rPr>
                        <a:t>7%</a:t>
                      </a:r>
                    </a:p>
                  </a:txBody>
                  <a:tcPr marL="9525" marR="9525" marT="9525" marB="0" anchor="b">
                    <a:lnL>
                      <a:noFill/>
                    </a:lnL>
                    <a:lnR>
                      <a:noFill/>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tc>
                  <a:txBody>
                    <a:bodyPr/>
                    <a:lstStyle/>
                    <a:p>
                      <a:pPr algn="ctr" fontAlgn="b"/>
                      <a:r>
                        <a:rPr lang="en-US" sz="2000" b="0" i="0" u="none" strike="noStrike" kern="1200">
                          <a:solidFill>
                            <a:srgbClr val="000000"/>
                          </a:solidFill>
                          <a:effectLst/>
                          <a:latin typeface="Aptos Narrow" panose="020B0004020202020204" pitchFamily="34" charset="0"/>
                          <a:ea typeface="+mn-ea"/>
                          <a:cs typeface="+mn-cs"/>
                        </a:rPr>
                        <a:t>5%</a:t>
                      </a:r>
                    </a:p>
                  </a:txBody>
                  <a:tcPr marL="9525" marR="9525" marT="9525" marB="0" anchor="b">
                    <a:lnL>
                      <a:noFill/>
                    </a:lnL>
                    <a:lnR>
                      <a:noFill/>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tc>
                  <a:txBody>
                    <a:bodyPr/>
                    <a:lstStyle/>
                    <a:p>
                      <a:pPr algn="ctr" fontAlgn="b"/>
                      <a:r>
                        <a:rPr lang="en-US" sz="2000" b="0" i="0" u="none" strike="noStrike" kern="1200" dirty="0">
                          <a:solidFill>
                            <a:srgbClr val="000000"/>
                          </a:solidFill>
                          <a:effectLst/>
                          <a:latin typeface="Aptos Narrow" panose="020B0004020202020204" pitchFamily="34" charset="0"/>
                          <a:ea typeface="+mn-ea"/>
                          <a:cs typeface="+mn-cs"/>
                        </a:rPr>
                        <a:t> $ 151 </a:t>
                      </a:r>
                    </a:p>
                  </a:txBody>
                  <a:tcPr marL="9525" marR="9525" marT="9525" marB="0" anchor="b">
                    <a:lnL>
                      <a:noFill/>
                    </a:lnL>
                    <a:lnR>
                      <a:noFill/>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tc>
                  <a:txBody>
                    <a:bodyPr/>
                    <a:lstStyle/>
                    <a:p>
                      <a:pPr algn="ctr" fontAlgn="b"/>
                      <a:r>
                        <a:rPr lang="en-US" sz="2000" b="0" i="0" u="none" strike="noStrike" kern="1200">
                          <a:solidFill>
                            <a:srgbClr val="000000"/>
                          </a:solidFill>
                          <a:effectLst/>
                          <a:latin typeface="Aptos Narrow" panose="020B0004020202020204" pitchFamily="34" charset="0"/>
                          <a:ea typeface="+mn-ea"/>
                          <a:cs typeface="+mn-cs"/>
                        </a:rPr>
                        <a:t> $ 275 </a:t>
                      </a:r>
                    </a:p>
                  </a:txBody>
                  <a:tcPr marL="9525" marR="9525" marT="9525" marB="0" anchor="b">
                    <a:lnL>
                      <a:noFill/>
                    </a:lnL>
                    <a:lnR>
                      <a:noFill/>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extLst>
                  <a:ext uri="{0D108BD9-81ED-4DB2-BD59-A6C34878D82A}">
                    <a16:rowId xmlns:a16="http://schemas.microsoft.com/office/drawing/2014/main" val="2249078157"/>
                  </a:ext>
                </a:extLst>
              </a:tr>
              <a:tr h="379677">
                <a:tc>
                  <a:txBody>
                    <a:bodyPr/>
                    <a:lstStyle/>
                    <a:p>
                      <a:pPr algn="l" fontAlgn="b"/>
                      <a:r>
                        <a:rPr lang="en-US" sz="2000" b="0" i="0" u="none" strike="noStrike">
                          <a:solidFill>
                            <a:srgbClr val="000000"/>
                          </a:solidFill>
                          <a:effectLst/>
                          <a:latin typeface="Aptos Narrow" panose="020B0004020202020204" pitchFamily="34" charset="0"/>
                        </a:rPr>
                        <a:t>Other Standalone Hospitals</a:t>
                      </a:r>
                    </a:p>
                  </a:txBody>
                  <a:tcPr marL="9525" marR="9525" marT="9525" marB="0" anchor="b">
                    <a:lnL>
                      <a:noFill/>
                    </a:lnL>
                    <a:lnR>
                      <a:noFill/>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tc>
                  <a:txBody>
                    <a:bodyPr/>
                    <a:lstStyle/>
                    <a:p>
                      <a:pPr algn="ctr" fontAlgn="b"/>
                      <a:r>
                        <a:rPr lang="en-US" sz="2000" b="0" i="0" u="none" strike="noStrike" kern="1200">
                          <a:solidFill>
                            <a:srgbClr val="000000"/>
                          </a:solidFill>
                          <a:effectLst/>
                          <a:latin typeface="Aptos Narrow" panose="020B0004020202020204" pitchFamily="34" charset="0"/>
                          <a:ea typeface="+mn-ea"/>
                          <a:cs typeface="+mn-cs"/>
                        </a:rPr>
                        <a:t>5%</a:t>
                      </a:r>
                    </a:p>
                  </a:txBody>
                  <a:tcPr marL="9525" marR="9525" marT="9525" marB="0" anchor="b">
                    <a:lnL>
                      <a:noFill/>
                    </a:lnL>
                    <a:lnR>
                      <a:noFill/>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tc>
                  <a:txBody>
                    <a:bodyPr/>
                    <a:lstStyle/>
                    <a:p>
                      <a:pPr algn="ctr" fontAlgn="b"/>
                      <a:r>
                        <a:rPr lang="en-US" sz="2000" b="0" i="0" u="none" strike="noStrike" kern="1200">
                          <a:solidFill>
                            <a:srgbClr val="000000"/>
                          </a:solidFill>
                          <a:effectLst/>
                          <a:latin typeface="Aptos Narrow" panose="020B0004020202020204" pitchFamily="34" charset="0"/>
                          <a:ea typeface="+mn-ea"/>
                          <a:cs typeface="+mn-cs"/>
                        </a:rPr>
                        <a:t>7%</a:t>
                      </a:r>
                    </a:p>
                  </a:txBody>
                  <a:tcPr marL="9525" marR="9525" marT="9525" marB="0" anchor="b">
                    <a:lnL>
                      <a:noFill/>
                    </a:lnL>
                    <a:lnR>
                      <a:noFill/>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tc>
                  <a:txBody>
                    <a:bodyPr/>
                    <a:lstStyle/>
                    <a:p>
                      <a:pPr algn="ctr" fontAlgn="b"/>
                      <a:r>
                        <a:rPr lang="en-US" sz="2000" b="0" i="0" u="none" strike="noStrike" kern="1200" dirty="0">
                          <a:solidFill>
                            <a:srgbClr val="000000"/>
                          </a:solidFill>
                          <a:effectLst/>
                          <a:latin typeface="Aptos Narrow" panose="020B0004020202020204" pitchFamily="34" charset="0"/>
                          <a:ea typeface="+mn-ea"/>
                          <a:cs typeface="+mn-cs"/>
                        </a:rPr>
                        <a:t> $ 97 </a:t>
                      </a:r>
                    </a:p>
                  </a:txBody>
                  <a:tcPr marL="9525" marR="9525" marT="9525" marB="0" anchor="b">
                    <a:lnL>
                      <a:noFill/>
                    </a:lnL>
                    <a:lnR>
                      <a:noFill/>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tc>
                  <a:txBody>
                    <a:bodyPr/>
                    <a:lstStyle/>
                    <a:p>
                      <a:pPr algn="ctr" fontAlgn="b"/>
                      <a:r>
                        <a:rPr lang="en-US" sz="2000" b="0" i="0" u="none" strike="noStrike" kern="1200">
                          <a:solidFill>
                            <a:srgbClr val="000000"/>
                          </a:solidFill>
                          <a:effectLst/>
                          <a:latin typeface="Aptos Narrow" panose="020B0004020202020204" pitchFamily="34" charset="0"/>
                          <a:ea typeface="+mn-ea"/>
                          <a:cs typeface="+mn-cs"/>
                        </a:rPr>
                        <a:t> $ 374 </a:t>
                      </a:r>
                    </a:p>
                  </a:txBody>
                  <a:tcPr marL="9525" marR="9525" marT="9525" marB="0" anchor="b">
                    <a:lnL>
                      <a:noFill/>
                    </a:lnL>
                    <a:lnR>
                      <a:noFill/>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extLst>
                  <a:ext uri="{0D108BD9-81ED-4DB2-BD59-A6C34878D82A}">
                    <a16:rowId xmlns:a16="http://schemas.microsoft.com/office/drawing/2014/main" val="3636705492"/>
                  </a:ext>
                </a:extLst>
              </a:tr>
              <a:tr h="379677">
                <a:tc>
                  <a:txBody>
                    <a:bodyPr/>
                    <a:lstStyle/>
                    <a:p>
                      <a:pPr algn="l" fontAlgn="b"/>
                      <a:r>
                        <a:rPr lang="en-US" sz="2000" b="0" i="0" u="none" strike="noStrike">
                          <a:solidFill>
                            <a:srgbClr val="000000"/>
                          </a:solidFill>
                          <a:effectLst/>
                          <a:latin typeface="Aptos Narrow" panose="020B0004020202020204" pitchFamily="34" charset="0"/>
                        </a:rPr>
                        <a:t>Covenant Health</a:t>
                      </a:r>
                    </a:p>
                  </a:txBody>
                  <a:tcPr marL="9525" marR="9525" marT="9525" marB="0" anchor="b">
                    <a:lnL>
                      <a:noFill/>
                    </a:lnL>
                    <a:lnR>
                      <a:noFill/>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tc>
                  <a:txBody>
                    <a:bodyPr/>
                    <a:lstStyle/>
                    <a:p>
                      <a:pPr algn="ctr" fontAlgn="b"/>
                      <a:r>
                        <a:rPr lang="en-US" sz="2000" b="0" i="0" u="none" strike="noStrike" kern="1200">
                          <a:solidFill>
                            <a:srgbClr val="000000"/>
                          </a:solidFill>
                          <a:effectLst/>
                          <a:latin typeface="Aptos Narrow" panose="020B0004020202020204" pitchFamily="34" charset="0"/>
                          <a:ea typeface="+mn-ea"/>
                          <a:cs typeface="+mn-cs"/>
                        </a:rPr>
                        <a:t>4%</a:t>
                      </a:r>
                    </a:p>
                  </a:txBody>
                  <a:tcPr marL="9525" marR="9525" marT="9525" marB="0" anchor="b">
                    <a:lnL>
                      <a:noFill/>
                    </a:lnL>
                    <a:lnR>
                      <a:noFill/>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tc>
                  <a:txBody>
                    <a:bodyPr/>
                    <a:lstStyle/>
                    <a:p>
                      <a:pPr algn="ctr" fontAlgn="b"/>
                      <a:r>
                        <a:rPr lang="en-US" sz="2000" b="0" i="0" u="none" strike="noStrike" kern="1200">
                          <a:solidFill>
                            <a:srgbClr val="000000"/>
                          </a:solidFill>
                          <a:effectLst/>
                          <a:latin typeface="Aptos Narrow" panose="020B0004020202020204" pitchFamily="34" charset="0"/>
                          <a:ea typeface="+mn-ea"/>
                          <a:cs typeface="+mn-cs"/>
                        </a:rPr>
                        <a:t>4%</a:t>
                      </a:r>
                    </a:p>
                  </a:txBody>
                  <a:tcPr marL="9525" marR="9525" marT="9525" marB="0" anchor="b">
                    <a:lnL>
                      <a:noFill/>
                    </a:lnL>
                    <a:lnR>
                      <a:noFill/>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tc>
                  <a:txBody>
                    <a:bodyPr/>
                    <a:lstStyle/>
                    <a:p>
                      <a:pPr algn="ctr" fontAlgn="b"/>
                      <a:r>
                        <a:rPr lang="en-US" sz="2000" b="0" i="0" u="none" strike="noStrike" kern="1200" dirty="0">
                          <a:solidFill>
                            <a:srgbClr val="000000"/>
                          </a:solidFill>
                          <a:effectLst/>
                          <a:latin typeface="Aptos Narrow" panose="020B0004020202020204" pitchFamily="34" charset="0"/>
                          <a:ea typeface="+mn-ea"/>
                          <a:cs typeface="+mn-cs"/>
                        </a:rPr>
                        <a:t> $ 93 </a:t>
                      </a:r>
                    </a:p>
                  </a:txBody>
                  <a:tcPr marL="9525" marR="9525" marT="9525" marB="0" anchor="b">
                    <a:lnL>
                      <a:noFill/>
                    </a:lnL>
                    <a:lnR>
                      <a:noFill/>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tc>
                  <a:txBody>
                    <a:bodyPr/>
                    <a:lstStyle/>
                    <a:p>
                      <a:pPr algn="ctr" fontAlgn="b"/>
                      <a:r>
                        <a:rPr lang="en-US" sz="2000" b="0" i="0" u="none" strike="noStrike" kern="1200">
                          <a:solidFill>
                            <a:srgbClr val="000000"/>
                          </a:solidFill>
                          <a:effectLst/>
                          <a:latin typeface="Aptos Narrow" panose="020B0004020202020204" pitchFamily="34" charset="0"/>
                          <a:ea typeface="+mn-ea"/>
                          <a:cs typeface="+mn-cs"/>
                        </a:rPr>
                        <a:t> $ 213 </a:t>
                      </a:r>
                    </a:p>
                  </a:txBody>
                  <a:tcPr marL="9525" marR="9525" marT="9525" marB="0" anchor="b">
                    <a:lnL>
                      <a:noFill/>
                    </a:lnL>
                    <a:lnR>
                      <a:noFill/>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extLst>
                  <a:ext uri="{0D108BD9-81ED-4DB2-BD59-A6C34878D82A}">
                    <a16:rowId xmlns:a16="http://schemas.microsoft.com/office/drawing/2014/main" val="4019423869"/>
                  </a:ext>
                </a:extLst>
              </a:tr>
              <a:tr h="379677">
                <a:tc>
                  <a:txBody>
                    <a:bodyPr/>
                    <a:lstStyle/>
                    <a:p>
                      <a:pPr algn="l" fontAlgn="b"/>
                      <a:r>
                        <a:rPr lang="en-US" sz="2000" b="0" i="0" u="none" strike="noStrike">
                          <a:solidFill>
                            <a:srgbClr val="000000"/>
                          </a:solidFill>
                          <a:effectLst/>
                          <a:latin typeface="Aptos Narrow" panose="020B0004020202020204" pitchFamily="34" charset="0"/>
                        </a:rPr>
                        <a:t>DECH and CCH</a:t>
                      </a:r>
                    </a:p>
                  </a:txBody>
                  <a:tcPr marL="9525" marR="9525" marT="9525" marB="0" anchor="b">
                    <a:lnL>
                      <a:noFill/>
                    </a:lnL>
                    <a:lnR>
                      <a:noFill/>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tc>
                  <a:txBody>
                    <a:bodyPr/>
                    <a:lstStyle/>
                    <a:p>
                      <a:pPr algn="ctr" fontAlgn="b"/>
                      <a:r>
                        <a:rPr lang="en-US" sz="2000" b="0" i="0" u="none" strike="noStrike" kern="1200">
                          <a:solidFill>
                            <a:srgbClr val="000000"/>
                          </a:solidFill>
                          <a:effectLst/>
                          <a:latin typeface="Aptos Narrow" panose="020B0004020202020204" pitchFamily="34" charset="0"/>
                          <a:ea typeface="+mn-ea"/>
                          <a:cs typeface="+mn-cs"/>
                        </a:rPr>
                        <a:t>0%</a:t>
                      </a:r>
                    </a:p>
                  </a:txBody>
                  <a:tcPr marL="9525" marR="9525" marT="9525" marB="0" anchor="b">
                    <a:lnL>
                      <a:noFill/>
                    </a:lnL>
                    <a:lnR>
                      <a:noFill/>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tc>
                  <a:txBody>
                    <a:bodyPr/>
                    <a:lstStyle/>
                    <a:p>
                      <a:pPr algn="ctr" fontAlgn="b"/>
                      <a:r>
                        <a:rPr lang="en-US" sz="2000" b="0" i="0" u="none" strike="noStrike" kern="1200">
                          <a:solidFill>
                            <a:srgbClr val="000000"/>
                          </a:solidFill>
                          <a:effectLst/>
                          <a:latin typeface="Aptos Narrow" panose="020B0004020202020204" pitchFamily="34" charset="0"/>
                          <a:ea typeface="+mn-ea"/>
                          <a:cs typeface="+mn-cs"/>
                        </a:rPr>
                        <a:t>1%</a:t>
                      </a:r>
                    </a:p>
                  </a:txBody>
                  <a:tcPr marL="9525" marR="9525" marT="9525" marB="0" anchor="b">
                    <a:lnL>
                      <a:noFill/>
                    </a:lnL>
                    <a:lnR>
                      <a:noFill/>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tc>
                  <a:txBody>
                    <a:bodyPr/>
                    <a:lstStyle/>
                    <a:p>
                      <a:pPr algn="ctr" fontAlgn="b"/>
                      <a:r>
                        <a:rPr lang="en-US" sz="2000" b="0" i="0" u="none" strike="noStrike" kern="1200">
                          <a:solidFill>
                            <a:srgbClr val="000000"/>
                          </a:solidFill>
                          <a:effectLst/>
                          <a:latin typeface="Aptos Narrow" panose="020B0004020202020204" pitchFamily="34" charset="0"/>
                          <a:ea typeface="+mn-ea"/>
                          <a:cs typeface="+mn-cs"/>
                        </a:rPr>
                        <a:t> $ 8 </a:t>
                      </a:r>
                    </a:p>
                  </a:txBody>
                  <a:tcPr marL="9525" marR="9525" marT="9525" marB="0" anchor="b">
                    <a:lnL>
                      <a:noFill/>
                    </a:lnL>
                    <a:lnR>
                      <a:noFill/>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tc>
                  <a:txBody>
                    <a:bodyPr/>
                    <a:lstStyle/>
                    <a:p>
                      <a:pPr algn="ctr" fontAlgn="b"/>
                      <a:r>
                        <a:rPr lang="en-US" sz="2000" b="0" i="0" u="none" strike="noStrike" kern="1200" dirty="0">
                          <a:solidFill>
                            <a:srgbClr val="000000"/>
                          </a:solidFill>
                          <a:effectLst/>
                          <a:latin typeface="Aptos Narrow" panose="020B0004020202020204" pitchFamily="34" charset="0"/>
                          <a:ea typeface="+mn-ea"/>
                          <a:cs typeface="+mn-cs"/>
                        </a:rPr>
                        <a:t> $ 55 </a:t>
                      </a:r>
                    </a:p>
                  </a:txBody>
                  <a:tcPr marL="9525" marR="9525" marT="9525" marB="0" anchor="b">
                    <a:lnL>
                      <a:noFill/>
                    </a:lnL>
                    <a:lnR>
                      <a:noFill/>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extLst>
                  <a:ext uri="{0D108BD9-81ED-4DB2-BD59-A6C34878D82A}">
                    <a16:rowId xmlns:a16="http://schemas.microsoft.com/office/drawing/2014/main" val="1183180673"/>
                  </a:ext>
                </a:extLst>
              </a:tr>
              <a:tr h="379677">
                <a:tc>
                  <a:txBody>
                    <a:bodyPr/>
                    <a:lstStyle/>
                    <a:p>
                      <a:pPr algn="l" fontAlgn="b"/>
                      <a:r>
                        <a:rPr lang="en-US" sz="2000" b="0" i="0" u="none" strike="noStrike">
                          <a:solidFill>
                            <a:srgbClr val="000000"/>
                          </a:solidFill>
                          <a:effectLst/>
                          <a:latin typeface="Aptos Narrow" panose="020B0004020202020204" pitchFamily="34" charset="0"/>
                        </a:rPr>
                        <a:t>Independent Ambulatory</a:t>
                      </a:r>
                    </a:p>
                  </a:txBody>
                  <a:tcPr marL="9525" marR="9525" marT="9525" marB="0" anchor="b">
                    <a:lnL>
                      <a:noFill/>
                    </a:lnL>
                    <a:lnR>
                      <a:noFill/>
                    </a:lnR>
                    <a:lnT w="12700" cap="flat" cmpd="sng" algn="ctr">
                      <a:solidFill>
                        <a:schemeClr val="bg1">
                          <a:lumMod val="65000"/>
                        </a:schemeClr>
                      </a:solidFill>
                      <a:prstDash val="solid"/>
                      <a:round/>
                      <a:headEnd type="none" w="med" len="med"/>
                      <a:tailEnd type="none" w="med" len="med"/>
                    </a:lnT>
                    <a:lnB>
                      <a:noFill/>
                    </a:lnB>
                    <a:noFill/>
                  </a:tcPr>
                </a:tc>
                <a:tc>
                  <a:txBody>
                    <a:bodyPr/>
                    <a:lstStyle/>
                    <a:p>
                      <a:pPr algn="ctr" fontAlgn="b"/>
                      <a:endParaRPr lang="en-US" sz="2000" b="0" i="0" u="none" strike="noStrike" kern="1200">
                        <a:solidFill>
                          <a:srgbClr val="000000"/>
                        </a:solidFill>
                        <a:effectLst/>
                        <a:latin typeface="Aptos Narrow" panose="020B0004020202020204" pitchFamily="34" charset="0"/>
                        <a:ea typeface="+mn-ea"/>
                        <a:cs typeface="+mn-cs"/>
                      </a:endParaRPr>
                    </a:p>
                  </a:txBody>
                  <a:tcPr marL="9525" marR="9525" marT="9525" marB="0" anchor="b">
                    <a:lnL>
                      <a:noFill/>
                    </a:lnL>
                    <a:lnR>
                      <a:noFill/>
                    </a:lnR>
                    <a:lnT w="12700" cap="flat" cmpd="sng" algn="ctr">
                      <a:solidFill>
                        <a:schemeClr val="bg1">
                          <a:lumMod val="65000"/>
                        </a:schemeClr>
                      </a:solidFill>
                      <a:prstDash val="solid"/>
                      <a:round/>
                      <a:headEnd type="none" w="med" len="med"/>
                      <a:tailEnd type="none" w="med" len="med"/>
                    </a:lnT>
                    <a:lnB>
                      <a:noFill/>
                    </a:lnB>
                    <a:noFill/>
                  </a:tcPr>
                </a:tc>
                <a:tc>
                  <a:txBody>
                    <a:bodyPr/>
                    <a:lstStyle/>
                    <a:p>
                      <a:pPr algn="ctr" fontAlgn="b"/>
                      <a:r>
                        <a:rPr lang="en-US" sz="2000" b="0" i="0" u="none" strike="noStrike" kern="1200">
                          <a:solidFill>
                            <a:srgbClr val="000000"/>
                          </a:solidFill>
                          <a:effectLst/>
                          <a:latin typeface="Aptos Narrow" panose="020B0004020202020204" pitchFamily="34" charset="0"/>
                          <a:ea typeface="+mn-ea"/>
                          <a:cs typeface="+mn-cs"/>
                        </a:rPr>
                        <a:t>44%</a:t>
                      </a:r>
                    </a:p>
                  </a:txBody>
                  <a:tcPr marL="9525" marR="9525" marT="9525" marB="0" anchor="b">
                    <a:lnL>
                      <a:noFill/>
                    </a:lnL>
                    <a:lnR>
                      <a:noFill/>
                    </a:lnR>
                    <a:lnT w="12700" cap="flat" cmpd="sng" algn="ctr">
                      <a:solidFill>
                        <a:schemeClr val="bg1">
                          <a:lumMod val="65000"/>
                        </a:schemeClr>
                      </a:solidFill>
                      <a:prstDash val="solid"/>
                      <a:round/>
                      <a:headEnd type="none" w="med" len="med"/>
                      <a:tailEnd type="none" w="med" len="med"/>
                    </a:lnT>
                    <a:lnB>
                      <a:noFill/>
                    </a:lnB>
                    <a:noFill/>
                  </a:tcPr>
                </a:tc>
                <a:tc>
                  <a:txBody>
                    <a:bodyPr/>
                    <a:lstStyle/>
                    <a:p>
                      <a:pPr algn="ctr" fontAlgn="b"/>
                      <a:endParaRPr lang="en-US" sz="2000" b="0" i="0" u="none" strike="noStrike" kern="1200">
                        <a:solidFill>
                          <a:srgbClr val="000000"/>
                        </a:solidFill>
                        <a:effectLst/>
                        <a:latin typeface="Aptos Narrow" panose="020B0004020202020204" pitchFamily="34" charset="0"/>
                        <a:ea typeface="+mn-ea"/>
                        <a:cs typeface="+mn-cs"/>
                      </a:endParaRPr>
                    </a:p>
                  </a:txBody>
                  <a:tcPr marL="9525" marR="9525" marT="9525" marB="0" anchor="b">
                    <a:lnL>
                      <a:noFill/>
                    </a:lnL>
                    <a:lnR>
                      <a:noFill/>
                    </a:lnR>
                    <a:lnT w="12700" cap="flat" cmpd="sng" algn="ctr">
                      <a:solidFill>
                        <a:schemeClr val="bg1">
                          <a:lumMod val="65000"/>
                        </a:schemeClr>
                      </a:solidFill>
                      <a:prstDash val="solid"/>
                      <a:round/>
                      <a:headEnd type="none" w="med" len="med"/>
                      <a:tailEnd type="none" w="med" len="med"/>
                    </a:lnT>
                    <a:lnB>
                      <a:noFill/>
                    </a:lnB>
                    <a:noFill/>
                  </a:tcPr>
                </a:tc>
                <a:tc>
                  <a:txBody>
                    <a:bodyPr/>
                    <a:lstStyle/>
                    <a:p>
                      <a:pPr algn="ctr" fontAlgn="b"/>
                      <a:r>
                        <a:rPr lang="en-US" sz="2000" b="0" i="0" u="none" strike="noStrike" kern="1200" dirty="0">
                          <a:solidFill>
                            <a:srgbClr val="000000"/>
                          </a:solidFill>
                          <a:effectLst/>
                          <a:latin typeface="Aptos Narrow" panose="020B0004020202020204" pitchFamily="34" charset="0"/>
                          <a:ea typeface="+mn-ea"/>
                          <a:cs typeface="+mn-cs"/>
                        </a:rPr>
                        <a:t> $ 2,484 </a:t>
                      </a:r>
                    </a:p>
                  </a:txBody>
                  <a:tcPr marL="9525" marR="9525" marT="9525" marB="0" anchor="b">
                    <a:lnL>
                      <a:noFill/>
                    </a:lnL>
                    <a:lnR>
                      <a:noFill/>
                    </a:lnR>
                    <a:lnT w="12700" cap="flat" cmpd="sng" algn="ctr">
                      <a:solidFill>
                        <a:schemeClr val="bg1">
                          <a:lumMod val="65000"/>
                        </a:schemeClr>
                      </a:solidFill>
                      <a:prstDash val="solid"/>
                      <a:round/>
                      <a:headEnd type="none" w="med" len="med"/>
                      <a:tailEnd type="none" w="med" len="med"/>
                    </a:lnT>
                    <a:lnB>
                      <a:noFill/>
                    </a:lnB>
                    <a:noFill/>
                  </a:tcPr>
                </a:tc>
                <a:extLst>
                  <a:ext uri="{0D108BD9-81ED-4DB2-BD59-A6C34878D82A}">
                    <a16:rowId xmlns:a16="http://schemas.microsoft.com/office/drawing/2014/main" val="499385047"/>
                  </a:ext>
                </a:extLst>
              </a:tr>
            </a:tbl>
          </a:graphicData>
        </a:graphic>
      </p:graphicFrame>
      <p:sp>
        <p:nvSpPr>
          <p:cNvPr id="10" name="TextBox 9">
            <a:extLst>
              <a:ext uri="{FF2B5EF4-FFF2-40B4-BE49-F238E27FC236}">
                <a16:creationId xmlns:a16="http://schemas.microsoft.com/office/drawing/2014/main" id="{3C49838E-E72F-F394-FF92-966B63E74FCA}"/>
              </a:ext>
            </a:extLst>
          </p:cNvPr>
          <p:cNvSpPr txBox="1"/>
          <p:nvPr/>
        </p:nvSpPr>
        <p:spPr>
          <a:xfrm>
            <a:off x="523161" y="4439770"/>
            <a:ext cx="2292316" cy="2031325"/>
          </a:xfrm>
          <a:prstGeom prst="rect">
            <a:avLst/>
          </a:prstGeom>
          <a:noFill/>
        </p:spPr>
        <p:txBody>
          <a:bodyPr wrap="square">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*Number is derived from KBA data warehouse, drawing from over $3B in yearly adjudicated charges to estimate PMPY spend by inpatient, outpatient and professional charges. Pharmacy and non-health-system charges are excluded. </a:t>
            </a:r>
          </a:p>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Using the Milliman area adjustment factors by zip code, charges are standardized to local estimates. </a:t>
            </a:r>
          </a:p>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These estimated charges are conservative as KBA claims average ~15% below the market average. </a:t>
            </a:r>
          </a:p>
        </p:txBody>
      </p:sp>
    </p:spTree>
    <p:extLst>
      <p:ext uri="{BB962C8B-B14F-4D97-AF65-F5344CB8AC3E}">
        <p14:creationId xmlns:p14="http://schemas.microsoft.com/office/powerpoint/2010/main" val="389256018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B1AD69-803F-89AE-EE38-2B87E7EF50D3}"/>
              </a:ext>
            </a:extLst>
          </p:cNvPr>
          <p:cNvSpPr>
            <a:spLocks noGrp="1"/>
          </p:cNvSpPr>
          <p:nvPr>
            <p:ph type="title"/>
          </p:nvPr>
        </p:nvSpPr>
        <p:spPr>
          <a:xfrm>
            <a:off x="1177047" y="214175"/>
            <a:ext cx="11501485" cy="1325563"/>
          </a:xfrm>
        </p:spPr>
        <p:txBody>
          <a:bodyPr>
            <a:normAutofit/>
          </a:bodyPr>
          <a:lstStyle/>
          <a:p>
            <a:r>
              <a:rPr lang="en-US" sz="3200" b="1" dirty="0">
                <a:latin typeface="Garamond" panose="02020404030301010803" pitchFamily="18" charset="0"/>
                <a:cs typeface="Arial" panose="020B0604020202020204" pitchFamily="34" charset="0"/>
              </a:rPr>
              <a:t>The Impact of Just 1% Price or Net Collections Improvement</a:t>
            </a:r>
          </a:p>
        </p:txBody>
      </p:sp>
      <p:graphicFrame>
        <p:nvGraphicFramePr>
          <p:cNvPr id="6" name="Content Placeholder 5">
            <a:extLst>
              <a:ext uri="{FF2B5EF4-FFF2-40B4-BE49-F238E27FC236}">
                <a16:creationId xmlns:a16="http://schemas.microsoft.com/office/drawing/2014/main" id="{1FBFDCBB-5816-9640-2EA1-4ABF980D588E}"/>
              </a:ext>
            </a:extLst>
          </p:cNvPr>
          <p:cNvGraphicFramePr>
            <a:graphicFrameLocks noGrp="1"/>
          </p:cNvGraphicFramePr>
          <p:nvPr>
            <p:ph idx="1"/>
          </p:nvPr>
        </p:nvGraphicFramePr>
        <p:xfrm>
          <a:off x="1421860" y="1709420"/>
          <a:ext cx="9931941" cy="3801525"/>
        </p:xfrm>
        <a:graphic>
          <a:graphicData uri="http://schemas.openxmlformats.org/drawingml/2006/table">
            <a:tbl>
              <a:tblPr/>
              <a:tblGrid>
                <a:gridCol w="3836567">
                  <a:extLst>
                    <a:ext uri="{9D8B030D-6E8A-4147-A177-3AD203B41FA5}">
                      <a16:colId xmlns:a16="http://schemas.microsoft.com/office/drawing/2014/main" val="1230197357"/>
                    </a:ext>
                  </a:extLst>
                </a:gridCol>
                <a:gridCol w="1089676">
                  <a:extLst>
                    <a:ext uri="{9D8B030D-6E8A-4147-A177-3AD203B41FA5}">
                      <a16:colId xmlns:a16="http://schemas.microsoft.com/office/drawing/2014/main" val="1336076965"/>
                    </a:ext>
                  </a:extLst>
                </a:gridCol>
                <a:gridCol w="1089676">
                  <a:extLst>
                    <a:ext uri="{9D8B030D-6E8A-4147-A177-3AD203B41FA5}">
                      <a16:colId xmlns:a16="http://schemas.microsoft.com/office/drawing/2014/main" val="2643129316"/>
                    </a:ext>
                  </a:extLst>
                </a:gridCol>
                <a:gridCol w="1089676">
                  <a:extLst>
                    <a:ext uri="{9D8B030D-6E8A-4147-A177-3AD203B41FA5}">
                      <a16:colId xmlns:a16="http://schemas.microsoft.com/office/drawing/2014/main" val="2353997777"/>
                    </a:ext>
                  </a:extLst>
                </a:gridCol>
                <a:gridCol w="1413173">
                  <a:extLst>
                    <a:ext uri="{9D8B030D-6E8A-4147-A177-3AD203B41FA5}">
                      <a16:colId xmlns:a16="http://schemas.microsoft.com/office/drawing/2014/main" val="1807168460"/>
                    </a:ext>
                  </a:extLst>
                </a:gridCol>
                <a:gridCol w="1413173">
                  <a:extLst>
                    <a:ext uri="{9D8B030D-6E8A-4147-A177-3AD203B41FA5}">
                      <a16:colId xmlns:a16="http://schemas.microsoft.com/office/drawing/2014/main" val="3552182491"/>
                    </a:ext>
                  </a:extLst>
                </a:gridCol>
              </a:tblGrid>
              <a:tr h="902265">
                <a:tc>
                  <a:txBody>
                    <a:bodyPr/>
                    <a:lstStyle/>
                    <a:p>
                      <a:pPr algn="l" fontAlgn="b"/>
                      <a:r>
                        <a:rPr lang="en-US" sz="1400" b="1" i="0" u="none" strike="noStrike" dirty="0">
                          <a:solidFill>
                            <a:srgbClr val="000000"/>
                          </a:solidFill>
                          <a:effectLst/>
                          <a:latin typeface="Aptos Narrow" panose="020B0004020202020204" pitchFamily="34" charset="0"/>
                        </a:rPr>
                        <a:t>Health System/Group</a:t>
                      </a:r>
                    </a:p>
                  </a:txBody>
                  <a:tcPr marL="9525" marR="9525" marT="9525" marB="0" anchor="b">
                    <a:lnL>
                      <a:noFill/>
                    </a:lnL>
                    <a:lnR>
                      <a:noFill/>
                    </a:lnR>
                    <a:lnT>
                      <a:noFill/>
                    </a:lnT>
                    <a:lnB w="12700" cap="flat" cmpd="sng" algn="ctr">
                      <a:solidFill>
                        <a:schemeClr val="bg1">
                          <a:lumMod val="65000"/>
                        </a:schemeClr>
                      </a:solidFill>
                      <a:prstDash val="solid"/>
                      <a:round/>
                      <a:headEnd type="none" w="med" len="med"/>
                      <a:tailEnd type="none" w="med" len="med"/>
                    </a:lnB>
                    <a:noFill/>
                  </a:tcPr>
                </a:tc>
                <a:tc>
                  <a:txBody>
                    <a:bodyPr/>
                    <a:lstStyle/>
                    <a:p>
                      <a:pPr algn="ctr" fontAlgn="b"/>
                      <a:r>
                        <a:rPr lang="en-US" sz="1400" b="1" i="0" u="none" strike="noStrike" dirty="0">
                          <a:solidFill>
                            <a:srgbClr val="000000"/>
                          </a:solidFill>
                          <a:effectLst/>
                          <a:latin typeface="Aptos Narrow" panose="020B0004020202020204" pitchFamily="34" charset="0"/>
                        </a:rPr>
                        <a:t>Commercial Margin</a:t>
                      </a:r>
                    </a:p>
                  </a:txBody>
                  <a:tcPr marL="9525" marR="9525" marT="9525" marB="0" anchor="b">
                    <a:lnL>
                      <a:noFill/>
                    </a:lnL>
                    <a:lnR>
                      <a:noFill/>
                    </a:lnR>
                    <a:lnT>
                      <a:noFill/>
                    </a:lnT>
                    <a:lnB w="12700" cap="flat" cmpd="sng" algn="ctr">
                      <a:solidFill>
                        <a:schemeClr val="bg1">
                          <a:lumMod val="65000"/>
                        </a:schemeClr>
                      </a:solidFill>
                      <a:prstDash val="solid"/>
                      <a:round/>
                      <a:headEnd type="none" w="med" len="med"/>
                      <a:tailEnd type="none" w="med" len="med"/>
                    </a:lnB>
                    <a:noFill/>
                  </a:tcPr>
                </a:tc>
                <a:tc>
                  <a:txBody>
                    <a:bodyPr/>
                    <a:lstStyle/>
                    <a:p>
                      <a:pPr algn="ctr" fontAlgn="b"/>
                      <a:r>
                        <a:rPr lang="en-US" sz="1400" b="1" i="0" u="none" strike="noStrike" dirty="0">
                          <a:solidFill>
                            <a:srgbClr val="000000"/>
                          </a:solidFill>
                          <a:effectLst/>
                          <a:latin typeface="Aptos Narrow" panose="020B0004020202020204" pitchFamily="34" charset="0"/>
                        </a:rPr>
                        <a:t>Government Margin</a:t>
                      </a:r>
                    </a:p>
                  </a:txBody>
                  <a:tcPr marL="9525" marR="9525" marT="9525" marB="0" anchor="b">
                    <a:lnL>
                      <a:noFill/>
                    </a:lnL>
                    <a:lnR>
                      <a:noFill/>
                    </a:lnR>
                    <a:lnT>
                      <a:noFill/>
                    </a:lnT>
                    <a:lnB w="12700" cap="flat" cmpd="sng" algn="ctr">
                      <a:solidFill>
                        <a:schemeClr val="bg1">
                          <a:lumMod val="65000"/>
                        </a:schemeClr>
                      </a:solidFill>
                      <a:prstDash val="solid"/>
                      <a:round/>
                      <a:headEnd type="none" w="med" len="med"/>
                      <a:tailEnd type="none" w="med" len="med"/>
                    </a:lnB>
                    <a:noFill/>
                  </a:tcPr>
                </a:tc>
                <a:tc>
                  <a:txBody>
                    <a:bodyPr/>
                    <a:lstStyle/>
                    <a:p>
                      <a:pPr algn="ctr" fontAlgn="b"/>
                      <a:r>
                        <a:rPr lang="en-US" sz="1400" b="1" i="0" u="none" strike="noStrike" dirty="0">
                          <a:solidFill>
                            <a:srgbClr val="000000"/>
                          </a:solidFill>
                          <a:effectLst/>
                          <a:latin typeface="Aptos Narrow" panose="020B0004020202020204" pitchFamily="34" charset="0"/>
                        </a:rPr>
                        <a:t>Commercial Per-Member Net Income</a:t>
                      </a:r>
                    </a:p>
                  </a:txBody>
                  <a:tcPr marL="9525" marR="9525" marT="9525" marB="0" anchor="b">
                    <a:lnL>
                      <a:noFill/>
                    </a:lnL>
                    <a:lnR>
                      <a:noFill/>
                    </a:lnR>
                    <a:lnT>
                      <a:noFill/>
                    </a:lnT>
                    <a:lnB w="12700" cap="flat" cmpd="sng" algn="ctr">
                      <a:solidFill>
                        <a:schemeClr val="bg1">
                          <a:lumMod val="65000"/>
                        </a:schemeClr>
                      </a:solidFill>
                      <a:prstDash val="solid"/>
                      <a:round/>
                      <a:headEnd type="none" w="med" len="med"/>
                      <a:tailEnd type="none" w="med" len="med"/>
                    </a:lnB>
                    <a:noFill/>
                  </a:tcPr>
                </a:tc>
                <a:tc>
                  <a:txBody>
                    <a:bodyPr/>
                    <a:lstStyle/>
                    <a:p>
                      <a:pPr algn="ctr" fontAlgn="b"/>
                      <a:r>
                        <a:rPr lang="en-US" sz="1400" b="1" i="0" u="none" strike="noStrike" dirty="0">
                          <a:solidFill>
                            <a:srgbClr val="000000"/>
                          </a:solidFill>
                          <a:effectLst/>
                          <a:latin typeface="Aptos Narrow" panose="020B0004020202020204" pitchFamily="34" charset="0"/>
                        </a:rPr>
                        <a:t>Revenue Impact of 1% Price Improvement Per 100K Members</a:t>
                      </a:r>
                    </a:p>
                  </a:txBody>
                  <a:tcPr marL="9525" marR="9525" marT="9525" marB="0" anchor="b">
                    <a:lnL>
                      <a:noFill/>
                    </a:lnL>
                    <a:lnR>
                      <a:noFill/>
                    </a:lnR>
                    <a:lnT>
                      <a:noFill/>
                    </a:lnT>
                    <a:lnB w="12700" cap="flat" cmpd="sng" algn="ctr">
                      <a:solidFill>
                        <a:schemeClr val="bg1">
                          <a:lumMod val="65000"/>
                        </a:schemeClr>
                      </a:solidFill>
                      <a:prstDash val="solid"/>
                      <a:round/>
                      <a:headEnd type="none" w="med" len="med"/>
                      <a:tailEnd type="none" w="med" len="med"/>
                    </a:lnB>
                    <a:noFill/>
                  </a:tcPr>
                </a:tc>
                <a:tc>
                  <a:txBody>
                    <a:bodyPr/>
                    <a:lstStyle/>
                    <a:p>
                      <a:pPr algn="ctr" fontAlgn="b"/>
                      <a:r>
                        <a:rPr lang="en-US" sz="1400" b="1" i="0" u="none" strike="noStrike" dirty="0">
                          <a:solidFill>
                            <a:srgbClr val="000000"/>
                          </a:solidFill>
                          <a:effectLst/>
                          <a:latin typeface="Aptos Narrow" panose="020B0004020202020204" pitchFamily="34" charset="0"/>
                        </a:rPr>
                        <a:t>Net Income Impact of 1% Price Improvement Per 100K Members</a:t>
                      </a:r>
                    </a:p>
                  </a:txBody>
                  <a:tcPr marL="9525" marR="9525" marT="9525" marB="0" anchor="b">
                    <a:lnL>
                      <a:noFill/>
                    </a:lnL>
                    <a:lnR>
                      <a:noFill/>
                    </a:lnR>
                    <a:lnT>
                      <a:noFill/>
                    </a:lnT>
                    <a:lnB w="12700" cap="flat" cmpd="sng" algn="ctr">
                      <a:solidFill>
                        <a:schemeClr val="bg1">
                          <a:lumMod val="65000"/>
                        </a:schemeClr>
                      </a:solidFill>
                      <a:prstDash val="solid"/>
                      <a:round/>
                      <a:headEnd type="none" w="med" len="med"/>
                      <a:tailEnd type="none" w="med" len="med"/>
                    </a:lnB>
                    <a:noFill/>
                  </a:tcPr>
                </a:tc>
                <a:extLst>
                  <a:ext uri="{0D108BD9-81ED-4DB2-BD59-A6C34878D82A}">
                    <a16:rowId xmlns:a16="http://schemas.microsoft.com/office/drawing/2014/main" val="3370496556"/>
                  </a:ext>
                </a:extLst>
              </a:tr>
              <a:tr h="579852">
                <a:tc>
                  <a:txBody>
                    <a:bodyPr/>
                    <a:lstStyle/>
                    <a:p>
                      <a:pPr algn="l" fontAlgn="b"/>
                      <a:r>
                        <a:rPr lang="en-US" sz="1400" b="0" i="0" u="none" strike="noStrike" dirty="0" err="1">
                          <a:solidFill>
                            <a:srgbClr val="000000"/>
                          </a:solidFill>
                          <a:effectLst/>
                          <a:latin typeface="Aptos Narrow" panose="020B0004020202020204" pitchFamily="34" charset="0"/>
                        </a:rPr>
                        <a:t>MaineHealth</a:t>
                      </a:r>
                      <a:endParaRPr lang="en-US" sz="1400" b="0" i="0" u="none" strike="noStrike" dirty="0">
                        <a:solidFill>
                          <a:srgbClr val="000000"/>
                        </a:solidFill>
                        <a:effectLst/>
                        <a:latin typeface="Aptos Narrow" panose="020B0004020202020204" pitchFamily="34" charset="0"/>
                      </a:endParaRPr>
                    </a:p>
                  </a:txBody>
                  <a:tcPr marL="9525" marR="9525" marT="9525" marB="0" anchor="b">
                    <a:lnL>
                      <a:noFill/>
                    </a:lnL>
                    <a:lnR>
                      <a:noFill/>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tc>
                  <a:txBody>
                    <a:bodyPr/>
                    <a:lstStyle/>
                    <a:p>
                      <a:pPr algn="ctr" fontAlgn="b"/>
                      <a:r>
                        <a:rPr lang="en-US" sz="1400" b="0" i="0" u="none" strike="noStrike" kern="1200" dirty="0">
                          <a:solidFill>
                            <a:srgbClr val="000000"/>
                          </a:solidFill>
                          <a:effectLst/>
                          <a:latin typeface="Aptos Narrow" panose="020B0004020202020204" pitchFamily="34" charset="0"/>
                          <a:ea typeface="+mn-ea"/>
                          <a:cs typeface="+mn-cs"/>
                        </a:rPr>
                        <a:t>15%</a:t>
                      </a:r>
                    </a:p>
                  </a:txBody>
                  <a:tcPr marL="9525" marR="9525" marT="9525" marB="0" anchor="b">
                    <a:lnL>
                      <a:noFill/>
                    </a:lnL>
                    <a:lnR>
                      <a:noFill/>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tc>
                  <a:txBody>
                    <a:bodyPr/>
                    <a:lstStyle/>
                    <a:p>
                      <a:pPr algn="ctr" fontAlgn="b"/>
                      <a:r>
                        <a:rPr lang="en-US" sz="1400" b="0" i="0" u="none" strike="noStrike" kern="1200">
                          <a:solidFill>
                            <a:srgbClr val="000000"/>
                          </a:solidFill>
                          <a:effectLst/>
                          <a:latin typeface="Aptos Narrow" panose="020B0004020202020204" pitchFamily="34" charset="0"/>
                          <a:ea typeface="+mn-ea"/>
                          <a:cs typeface="+mn-cs"/>
                        </a:rPr>
                        <a:t>-111%</a:t>
                      </a:r>
                    </a:p>
                  </a:txBody>
                  <a:tcPr marL="9525" marR="9525" marT="9525" marB="0" anchor="b">
                    <a:lnL>
                      <a:noFill/>
                    </a:lnL>
                    <a:lnR>
                      <a:noFill/>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tc>
                  <a:txBody>
                    <a:bodyPr/>
                    <a:lstStyle/>
                    <a:p>
                      <a:pPr algn="ctr" fontAlgn="b"/>
                      <a:r>
                        <a:rPr lang="en-US" sz="1400" b="0" i="0" u="none" strike="noStrike" kern="1200">
                          <a:solidFill>
                            <a:srgbClr val="000000"/>
                          </a:solidFill>
                          <a:effectLst/>
                          <a:latin typeface="Aptos Narrow" panose="020B0004020202020204" pitchFamily="34" charset="0"/>
                          <a:ea typeface="+mn-ea"/>
                          <a:cs typeface="+mn-cs"/>
                        </a:rPr>
                        <a:t>$352 </a:t>
                      </a:r>
                    </a:p>
                  </a:txBody>
                  <a:tcPr marL="9525" marR="9525" marT="9525" marB="0" anchor="b">
                    <a:lnL>
                      <a:noFill/>
                    </a:lnL>
                    <a:lnR>
                      <a:noFill/>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tc>
                  <a:txBody>
                    <a:bodyPr/>
                    <a:lstStyle/>
                    <a:p>
                      <a:pPr algn="ctr" fontAlgn="b"/>
                      <a:r>
                        <a:rPr lang="en-US" sz="1400" b="0" i="0" u="none" strike="noStrike" kern="1200">
                          <a:solidFill>
                            <a:srgbClr val="000000"/>
                          </a:solidFill>
                          <a:effectLst/>
                          <a:latin typeface="Aptos Narrow" panose="020B0004020202020204" pitchFamily="34" charset="0"/>
                          <a:ea typeface="+mn-ea"/>
                          <a:cs typeface="+mn-cs"/>
                        </a:rPr>
                        <a:t>$2,343,835 </a:t>
                      </a:r>
                    </a:p>
                  </a:txBody>
                  <a:tcPr marL="9525" marR="9525" marT="9525" marB="0" anchor="b">
                    <a:lnL>
                      <a:noFill/>
                    </a:lnL>
                    <a:lnR>
                      <a:noFill/>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tc>
                  <a:txBody>
                    <a:bodyPr/>
                    <a:lstStyle/>
                    <a:p>
                      <a:pPr algn="ctr" fontAlgn="b"/>
                      <a:r>
                        <a:rPr lang="en-US" sz="1400" b="0" i="0" u="none" strike="noStrike" kern="1200">
                          <a:solidFill>
                            <a:srgbClr val="000000"/>
                          </a:solidFill>
                          <a:effectLst/>
                          <a:latin typeface="Aptos Narrow" panose="020B0004020202020204" pitchFamily="34" charset="0"/>
                          <a:ea typeface="+mn-ea"/>
                          <a:cs typeface="+mn-cs"/>
                        </a:rPr>
                        <a:t>$351,575 </a:t>
                      </a:r>
                    </a:p>
                  </a:txBody>
                  <a:tcPr marL="9525" marR="9525" marT="9525" marB="0" anchor="b">
                    <a:lnL>
                      <a:noFill/>
                    </a:lnL>
                    <a:lnR>
                      <a:noFill/>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extLst>
                  <a:ext uri="{0D108BD9-81ED-4DB2-BD59-A6C34878D82A}">
                    <a16:rowId xmlns:a16="http://schemas.microsoft.com/office/drawing/2014/main" val="4008449807"/>
                  </a:ext>
                </a:extLst>
              </a:tr>
              <a:tr h="579852">
                <a:tc>
                  <a:txBody>
                    <a:bodyPr/>
                    <a:lstStyle/>
                    <a:p>
                      <a:pPr algn="l" fontAlgn="b"/>
                      <a:r>
                        <a:rPr lang="en-US" sz="1400" b="0" i="0" u="none" strike="noStrike" dirty="0">
                          <a:solidFill>
                            <a:srgbClr val="000000"/>
                          </a:solidFill>
                          <a:effectLst/>
                          <a:latin typeface="Aptos Narrow" panose="020B0004020202020204" pitchFamily="34" charset="0"/>
                        </a:rPr>
                        <a:t>Northern Light Health</a:t>
                      </a:r>
                    </a:p>
                  </a:txBody>
                  <a:tcPr marL="9525" marR="9525" marT="9525" marB="0" anchor="b">
                    <a:lnL>
                      <a:noFill/>
                    </a:lnL>
                    <a:lnR>
                      <a:noFill/>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tc>
                  <a:txBody>
                    <a:bodyPr/>
                    <a:lstStyle/>
                    <a:p>
                      <a:pPr algn="ctr" fontAlgn="b"/>
                      <a:r>
                        <a:rPr lang="en-US" sz="1400" b="0" i="0" u="none" strike="noStrike" kern="1200">
                          <a:solidFill>
                            <a:srgbClr val="000000"/>
                          </a:solidFill>
                          <a:effectLst/>
                          <a:latin typeface="Aptos Narrow" panose="020B0004020202020204" pitchFamily="34" charset="0"/>
                          <a:ea typeface="+mn-ea"/>
                          <a:cs typeface="+mn-cs"/>
                        </a:rPr>
                        <a:t>27%</a:t>
                      </a:r>
                    </a:p>
                  </a:txBody>
                  <a:tcPr marL="9525" marR="9525" marT="9525" marB="0" anchor="b">
                    <a:lnL>
                      <a:noFill/>
                    </a:lnL>
                    <a:lnR>
                      <a:noFill/>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tc>
                  <a:txBody>
                    <a:bodyPr/>
                    <a:lstStyle/>
                    <a:p>
                      <a:pPr algn="ctr" fontAlgn="b"/>
                      <a:r>
                        <a:rPr lang="en-US" sz="1400" b="0" i="0" u="none" strike="noStrike" kern="1200" dirty="0">
                          <a:solidFill>
                            <a:srgbClr val="000000"/>
                          </a:solidFill>
                          <a:effectLst/>
                          <a:latin typeface="Aptos Narrow" panose="020B0004020202020204" pitchFamily="34" charset="0"/>
                          <a:ea typeface="+mn-ea"/>
                          <a:cs typeface="+mn-cs"/>
                        </a:rPr>
                        <a:t>-127%</a:t>
                      </a:r>
                    </a:p>
                  </a:txBody>
                  <a:tcPr marL="9525" marR="9525" marT="9525" marB="0" anchor="b">
                    <a:lnL>
                      <a:noFill/>
                    </a:lnL>
                    <a:lnR>
                      <a:noFill/>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tc>
                  <a:txBody>
                    <a:bodyPr/>
                    <a:lstStyle/>
                    <a:p>
                      <a:pPr algn="ctr" fontAlgn="b"/>
                      <a:r>
                        <a:rPr lang="en-US" sz="1400" b="0" i="0" u="none" strike="noStrike" kern="1200">
                          <a:solidFill>
                            <a:srgbClr val="000000"/>
                          </a:solidFill>
                          <a:effectLst/>
                          <a:latin typeface="Aptos Narrow" panose="020B0004020202020204" pitchFamily="34" charset="0"/>
                          <a:ea typeface="+mn-ea"/>
                          <a:cs typeface="+mn-cs"/>
                        </a:rPr>
                        <a:t>$351 </a:t>
                      </a:r>
                    </a:p>
                  </a:txBody>
                  <a:tcPr marL="9525" marR="9525" marT="9525" marB="0" anchor="b">
                    <a:lnL>
                      <a:noFill/>
                    </a:lnL>
                    <a:lnR>
                      <a:noFill/>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tc>
                  <a:txBody>
                    <a:bodyPr/>
                    <a:lstStyle/>
                    <a:p>
                      <a:pPr algn="ctr" fontAlgn="b"/>
                      <a:r>
                        <a:rPr lang="en-US" sz="1400" b="0" i="0" u="none" strike="noStrike" kern="1200">
                          <a:solidFill>
                            <a:srgbClr val="000000"/>
                          </a:solidFill>
                          <a:effectLst/>
                          <a:latin typeface="Aptos Narrow" panose="020B0004020202020204" pitchFamily="34" charset="0"/>
                          <a:ea typeface="+mn-ea"/>
                          <a:cs typeface="+mn-cs"/>
                        </a:rPr>
                        <a:t>$1,301,673 </a:t>
                      </a:r>
                    </a:p>
                  </a:txBody>
                  <a:tcPr marL="9525" marR="9525" marT="9525" marB="0" anchor="b">
                    <a:lnL>
                      <a:noFill/>
                    </a:lnL>
                    <a:lnR>
                      <a:noFill/>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tc>
                  <a:txBody>
                    <a:bodyPr/>
                    <a:lstStyle/>
                    <a:p>
                      <a:pPr algn="ctr" fontAlgn="b"/>
                      <a:r>
                        <a:rPr lang="en-US" sz="1400" b="0" i="0" u="none" strike="noStrike" kern="1200">
                          <a:solidFill>
                            <a:srgbClr val="000000"/>
                          </a:solidFill>
                          <a:effectLst/>
                          <a:latin typeface="Aptos Narrow" panose="020B0004020202020204" pitchFamily="34" charset="0"/>
                          <a:ea typeface="+mn-ea"/>
                          <a:cs typeface="+mn-cs"/>
                        </a:rPr>
                        <a:t>$351,452 </a:t>
                      </a:r>
                    </a:p>
                  </a:txBody>
                  <a:tcPr marL="9525" marR="9525" marT="9525" marB="0" anchor="b">
                    <a:lnL>
                      <a:noFill/>
                    </a:lnL>
                    <a:lnR>
                      <a:noFill/>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extLst>
                  <a:ext uri="{0D108BD9-81ED-4DB2-BD59-A6C34878D82A}">
                    <a16:rowId xmlns:a16="http://schemas.microsoft.com/office/drawing/2014/main" val="3078946806"/>
                  </a:ext>
                </a:extLst>
              </a:tr>
              <a:tr h="579852">
                <a:tc>
                  <a:txBody>
                    <a:bodyPr/>
                    <a:lstStyle/>
                    <a:p>
                      <a:pPr algn="l" fontAlgn="b"/>
                      <a:r>
                        <a:rPr lang="en-US" sz="1400" b="0" i="0" u="none" strike="noStrike">
                          <a:solidFill>
                            <a:srgbClr val="000000"/>
                          </a:solidFill>
                          <a:effectLst/>
                          <a:latin typeface="Aptos Narrow" panose="020B0004020202020204" pitchFamily="34" charset="0"/>
                        </a:rPr>
                        <a:t>Central Maine Healthcare</a:t>
                      </a:r>
                    </a:p>
                  </a:txBody>
                  <a:tcPr marL="9525" marR="9525" marT="9525" marB="0" anchor="b">
                    <a:lnL>
                      <a:noFill/>
                    </a:lnL>
                    <a:lnR>
                      <a:noFill/>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tc>
                  <a:txBody>
                    <a:bodyPr/>
                    <a:lstStyle/>
                    <a:p>
                      <a:pPr algn="ctr" fontAlgn="b"/>
                      <a:r>
                        <a:rPr lang="en-US" sz="1400" b="0" i="0" u="none" strike="noStrike" kern="1200" dirty="0">
                          <a:solidFill>
                            <a:srgbClr val="000000"/>
                          </a:solidFill>
                          <a:effectLst/>
                          <a:latin typeface="Aptos Narrow" panose="020B0004020202020204" pitchFamily="34" charset="0"/>
                          <a:ea typeface="+mn-ea"/>
                          <a:cs typeface="+mn-cs"/>
                        </a:rPr>
                        <a:t>23%</a:t>
                      </a:r>
                    </a:p>
                  </a:txBody>
                  <a:tcPr marL="9525" marR="9525" marT="9525" marB="0" anchor="b">
                    <a:lnL>
                      <a:noFill/>
                    </a:lnL>
                    <a:lnR>
                      <a:noFill/>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tc>
                  <a:txBody>
                    <a:bodyPr/>
                    <a:lstStyle/>
                    <a:p>
                      <a:pPr algn="ctr" fontAlgn="b"/>
                      <a:r>
                        <a:rPr lang="en-US" sz="1400" b="0" i="0" u="none" strike="noStrike" kern="1200" dirty="0">
                          <a:solidFill>
                            <a:srgbClr val="000000"/>
                          </a:solidFill>
                          <a:effectLst/>
                          <a:latin typeface="Aptos Narrow" panose="020B0004020202020204" pitchFamily="34" charset="0"/>
                          <a:ea typeface="+mn-ea"/>
                          <a:cs typeface="+mn-cs"/>
                        </a:rPr>
                        <a:t>-175%</a:t>
                      </a:r>
                    </a:p>
                  </a:txBody>
                  <a:tcPr marL="9525" marR="9525" marT="9525" marB="0" anchor="b">
                    <a:lnL>
                      <a:noFill/>
                    </a:lnL>
                    <a:lnR>
                      <a:noFill/>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tc>
                  <a:txBody>
                    <a:bodyPr/>
                    <a:lstStyle/>
                    <a:p>
                      <a:pPr algn="ctr" fontAlgn="b"/>
                      <a:r>
                        <a:rPr lang="en-US" sz="1400" b="0" i="0" u="none" strike="noStrike" kern="1200" dirty="0">
                          <a:solidFill>
                            <a:srgbClr val="000000"/>
                          </a:solidFill>
                          <a:effectLst/>
                          <a:latin typeface="Aptos Narrow" panose="020B0004020202020204" pitchFamily="34" charset="0"/>
                          <a:ea typeface="+mn-ea"/>
                          <a:cs typeface="+mn-cs"/>
                        </a:rPr>
                        <a:t>$88 </a:t>
                      </a:r>
                    </a:p>
                  </a:txBody>
                  <a:tcPr marL="9525" marR="9525" marT="9525" marB="0" anchor="b">
                    <a:lnL>
                      <a:noFill/>
                    </a:lnL>
                    <a:lnR>
                      <a:noFill/>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tc>
                  <a:txBody>
                    <a:bodyPr/>
                    <a:lstStyle/>
                    <a:p>
                      <a:pPr algn="ctr" fontAlgn="b"/>
                      <a:r>
                        <a:rPr lang="en-US" sz="1400" b="0" i="0" u="none" strike="noStrike" kern="1200" dirty="0">
                          <a:solidFill>
                            <a:srgbClr val="000000"/>
                          </a:solidFill>
                          <a:effectLst/>
                          <a:latin typeface="Aptos Narrow" panose="020B0004020202020204" pitchFamily="34" charset="0"/>
                          <a:ea typeface="+mn-ea"/>
                          <a:cs typeface="+mn-cs"/>
                        </a:rPr>
                        <a:t>$384,647 </a:t>
                      </a:r>
                    </a:p>
                  </a:txBody>
                  <a:tcPr marL="9525" marR="9525" marT="9525" marB="0" anchor="b">
                    <a:lnL>
                      <a:noFill/>
                    </a:lnL>
                    <a:lnR>
                      <a:noFill/>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tc>
                  <a:txBody>
                    <a:bodyPr/>
                    <a:lstStyle/>
                    <a:p>
                      <a:pPr algn="ctr" fontAlgn="b"/>
                      <a:r>
                        <a:rPr lang="en-US" sz="1400" b="0" i="0" u="none" strike="noStrike" kern="1200">
                          <a:solidFill>
                            <a:srgbClr val="000000"/>
                          </a:solidFill>
                          <a:effectLst/>
                          <a:latin typeface="Aptos Narrow" panose="020B0004020202020204" pitchFamily="34" charset="0"/>
                          <a:ea typeface="+mn-ea"/>
                          <a:cs typeface="+mn-cs"/>
                        </a:rPr>
                        <a:t>$88,469 </a:t>
                      </a:r>
                    </a:p>
                  </a:txBody>
                  <a:tcPr marL="9525" marR="9525" marT="9525" marB="0" anchor="b">
                    <a:lnL>
                      <a:noFill/>
                    </a:lnL>
                    <a:lnR>
                      <a:noFill/>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extLst>
                  <a:ext uri="{0D108BD9-81ED-4DB2-BD59-A6C34878D82A}">
                    <a16:rowId xmlns:a16="http://schemas.microsoft.com/office/drawing/2014/main" val="2156764899"/>
                  </a:ext>
                </a:extLst>
              </a:tr>
              <a:tr h="579852">
                <a:tc>
                  <a:txBody>
                    <a:bodyPr/>
                    <a:lstStyle/>
                    <a:p>
                      <a:pPr algn="l" fontAlgn="b"/>
                      <a:r>
                        <a:rPr lang="en-US" sz="1400" b="0" i="0" u="none" strike="noStrike">
                          <a:solidFill>
                            <a:srgbClr val="000000"/>
                          </a:solidFill>
                          <a:effectLst/>
                          <a:latin typeface="Aptos Narrow" panose="020B0004020202020204" pitchFamily="34" charset="0"/>
                        </a:rPr>
                        <a:t>MaineGeneral Health</a:t>
                      </a:r>
                    </a:p>
                  </a:txBody>
                  <a:tcPr marL="9525" marR="9525" marT="9525" marB="0" anchor="b">
                    <a:lnL>
                      <a:noFill/>
                    </a:lnL>
                    <a:lnR>
                      <a:noFill/>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tc>
                  <a:txBody>
                    <a:bodyPr/>
                    <a:lstStyle/>
                    <a:p>
                      <a:pPr algn="ctr" fontAlgn="b"/>
                      <a:r>
                        <a:rPr lang="en-US" sz="1400" b="0" i="0" u="none" strike="noStrike" kern="1200">
                          <a:solidFill>
                            <a:srgbClr val="000000"/>
                          </a:solidFill>
                          <a:effectLst/>
                          <a:latin typeface="Aptos Narrow" panose="020B0004020202020204" pitchFamily="34" charset="0"/>
                          <a:ea typeface="+mn-ea"/>
                          <a:cs typeface="+mn-cs"/>
                        </a:rPr>
                        <a:t>35%</a:t>
                      </a:r>
                    </a:p>
                  </a:txBody>
                  <a:tcPr marL="9525" marR="9525" marT="9525" marB="0" anchor="b">
                    <a:lnL>
                      <a:noFill/>
                    </a:lnL>
                    <a:lnR>
                      <a:noFill/>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tc>
                  <a:txBody>
                    <a:bodyPr/>
                    <a:lstStyle/>
                    <a:p>
                      <a:pPr algn="ctr" fontAlgn="b"/>
                      <a:r>
                        <a:rPr lang="en-US" sz="1400" b="0" i="0" u="none" strike="noStrike" kern="1200" dirty="0">
                          <a:solidFill>
                            <a:srgbClr val="000000"/>
                          </a:solidFill>
                          <a:effectLst/>
                          <a:latin typeface="Aptos Narrow" panose="020B0004020202020204" pitchFamily="34" charset="0"/>
                          <a:ea typeface="+mn-ea"/>
                          <a:cs typeface="+mn-cs"/>
                        </a:rPr>
                        <a:t>-222%</a:t>
                      </a:r>
                    </a:p>
                  </a:txBody>
                  <a:tcPr marL="9525" marR="9525" marT="9525" marB="0" anchor="b">
                    <a:lnL>
                      <a:noFill/>
                    </a:lnL>
                    <a:lnR>
                      <a:noFill/>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tc>
                  <a:txBody>
                    <a:bodyPr/>
                    <a:lstStyle/>
                    <a:p>
                      <a:pPr algn="ctr" fontAlgn="b"/>
                      <a:r>
                        <a:rPr lang="en-US" sz="1400" b="0" i="0" u="none" strike="noStrike" kern="1200" dirty="0">
                          <a:solidFill>
                            <a:srgbClr val="000000"/>
                          </a:solidFill>
                          <a:effectLst/>
                          <a:latin typeface="Aptos Narrow" panose="020B0004020202020204" pitchFamily="34" charset="0"/>
                          <a:ea typeface="+mn-ea"/>
                          <a:cs typeface="+mn-cs"/>
                        </a:rPr>
                        <a:t>$149 </a:t>
                      </a:r>
                    </a:p>
                  </a:txBody>
                  <a:tcPr marL="9525" marR="9525" marT="9525" marB="0" anchor="b">
                    <a:lnL>
                      <a:noFill/>
                    </a:lnL>
                    <a:lnR>
                      <a:noFill/>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tc>
                  <a:txBody>
                    <a:bodyPr/>
                    <a:lstStyle/>
                    <a:p>
                      <a:pPr algn="ctr" fontAlgn="b"/>
                      <a:r>
                        <a:rPr lang="en-US" sz="1400" b="0" i="0" u="none" strike="noStrike" kern="1200" dirty="0">
                          <a:solidFill>
                            <a:srgbClr val="000000"/>
                          </a:solidFill>
                          <a:effectLst/>
                          <a:latin typeface="Aptos Narrow" panose="020B0004020202020204" pitchFamily="34" charset="0"/>
                          <a:ea typeface="+mn-ea"/>
                          <a:cs typeface="+mn-cs"/>
                        </a:rPr>
                        <a:t>$425,718 </a:t>
                      </a:r>
                    </a:p>
                  </a:txBody>
                  <a:tcPr marL="9525" marR="9525" marT="9525" marB="0" anchor="b">
                    <a:lnL>
                      <a:noFill/>
                    </a:lnL>
                    <a:lnR>
                      <a:noFill/>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tc>
                  <a:txBody>
                    <a:bodyPr/>
                    <a:lstStyle/>
                    <a:p>
                      <a:pPr algn="ctr" fontAlgn="b"/>
                      <a:r>
                        <a:rPr lang="en-US" sz="1400" b="0" i="0" u="none" strike="noStrike" kern="1200" dirty="0">
                          <a:solidFill>
                            <a:srgbClr val="000000"/>
                          </a:solidFill>
                          <a:effectLst/>
                          <a:latin typeface="Aptos Narrow" panose="020B0004020202020204" pitchFamily="34" charset="0"/>
                          <a:ea typeface="+mn-ea"/>
                          <a:cs typeface="+mn-cs"/>
                        </a:rPr>
                        <a:t>$149,001 </a:t>
                      </a:r>
                    </a:p>
                  </a:txBody>
                  <a:tcPr marL="9525" marR="9525" marT="9525" marB="0" anchor="b">
                    <a:lnL>
                      <a:noFill/>
                    </a:lnL>
                    <a:lnR>
                      <a:noFill/>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extLst>
                  <a:ext uri="{0D108BD9-81ED-4DB2-BD59-A6C34878D82A}">
                    <a16:rowId xmlns:a16="http://schemas.microsoft.com/office/drawing/2014/main" val="443540859"/>
                  </a:ext>
                </a:extLst>
              </a:tr>
              <a:tr h="579852">
                <a:tc>
                  <a:txBody>
                    <a:bodyPr/>
                    <a:lstStyle/>
                    <a:p>
                      <a:pPr algn="l" fontAlgn="b"/>
                      <a:r>
                        <a:rPr lang="en-US" sz="1400" b="0" i="0" u="none" strike="noStrike" dirty="0">
                          <a:solidFill>
                            <a:srgbClr val="000000"/>
                          </a:solidFill>
                          <a:effectLst/>
                          <a:latin typeface="Aptos Narrow" panose="020B0004020202020204" pitchFamily="34" charset="0"/>
                        </a:rPr>
                        <a:t>Other Standalone Hospitals</a:t>
                      </a:r>
                    </a:p>
                  </a:txBody>
                  <a:tcPr marL="9525" marR="9525" marT="9525" marB="0" anchor="b">
                    <a:lnL>
                      <a:noFill/>
                    </a:lnL>
                    <a:lnR>
                      <a:noFill/>
                    </a:lnR>
                    <a:lnT w="12700" cap="flat" cmpd="sng" algn="ctr">
                      <a:solidFill>
                        <a:schemeClr val="bg1">
                          <a:lumMod val="65000"/>
                        </a:schemeClr>
                      </a:solidFill>
                      <a:prstDash val="solid"/>
                      <a:round/>
                      <a:headEnd type="none" w="med" len="med"/>
                      <a:tailEnd type="none" w="med" len="med"/>
                    </a:lnT>
                    <a:lnB>
                      <a:noFill/>
                    </a:lnB>
                    <a:noFill/>
                  </a:tcPr>
                </a:tc>
                <a:tc>
                  <a:txBody>
                    <a:bodyPr/>
                    <a:lstStyle/>
                    <a:p>
                      <a:pPr algn="ctr" fontAlgn="b"/>
                      <a:r>
                        <a:rPr lang="en-US" sz="1400" b="0" i="0" u="none" strike="noStrike" kern="1200">
                          <a:solidFill>
                            <a:srgbClr val="000000"/>
                          </a:solidFill>
                          <a:effectLst/>
                          <a:latin typeface="Aptos Narrow" panose="020B0004020202020204" pitchFamily="34" charset="0"/>
                          <a:ea typeface="+mn-ea"/>
                          <a:cs typeface="+mn-cs"/>
                        </a:rPr>
                        <a:t>36%</a:t>
                      </a:r>
                    </a:p>
                  </a:txBody>
                  <a:tcPr marL="9525" marR="9525" marT="9525" marB="0" anchor="b">
                    <a:lnL>
                      <a:noFill/>
                    </a:lnL>
                    <a:lnR>
                      <a:noFill/>
                    </a:lnR>
                    <a:lnT w="12700" cap="flat" cmpd="sng" algn="ctr">
                      <a:solidFill>
                        <a:schemeClr val="bg1">
                          <a:lumMod val="65000"/>
                        </a:schemeClr>
                      </a:solidFill>
                      <a:prstDash val="solid"/>
                      <a:round/>
                      <a:headEnd type="none" w="med" len="med"/>
                      <a:tailEnd type="none" w="med" len="med"/>
                    </a:lnT>
                    <a:lnB>
                      <a:noFill/>
                    </a:lnB>
                    <a:noFill/>
                  </a:tcPr>
                </a:tc>
                <a:tc>
                  <a:txBody>
                    <a:bodyPr/>
                    <a:lstStyle/>
                    <a:p>
                      <a:pPr algn="ctr" fontAlgn="b"/>
                      <a:r>
                        <a:rPr lang="en-US" sz="1400" b="0" i="0" u="none" strike="noStrike" kern="1200">
                          <a:solidFill>
                            <a:srgbClr val="000000"/>
                          </a:solidFill>
                          <a:effectLst/>
                          <a:latin typeface="Aptos Narrow" panose="020B0004020202020204" pitchFamily="34" charset="0"/>
                          <a:ea typeface="+mn-ea"/>
                          <a:cs typeface="+mn-cs"/>
                        </a:rPr>
                        <a:t>-117%</a:t>
                      </a:r>
                    </a:p>
                  </a:txBody>
                  <a:tcPr marL="9525" marR="9525" marT="9525" marB="0" anchor="b">
                    <a:lnL>
                      <a:noFill/>
                    </a:lnL>
                    <a:lnR>
                      <a:noFill/>
                    </a:lnR>
                    <a:lnT w="12700" cap="flat" cmpd="sng" algn="ctr">
                      <a:solidFill>
                        <a:schemeClr val="bg1">
                          <a:lumMod val="65000"/>
                        </a:schemeClr>
                      </a:solidFill>
                      <a:prstDash val="solid"/>
                      <a:round/>
                      <a:headEnd type="none" w="med" len="med"/>
                      <a:tailEnd type="none" w="med" len="med"/>
                    </a:lnT>
                    <a:lnB>
                      <a:noFill/>
                    </a:lnB>
                    <a:noFill/>
                  </a:tcPr>
                </a:tc>
                <a:tc>
                  <a:txBody>
                    <a:bodyPr/>
                    <a:lstStyle/>
                    <a:p>
                      <a:pPr algn="ctr" fontAlgn="b"/>
                      <a:r>
                        <a:rPr lang="en-US" sz="1400" b="0" i="0" u="none" strike="noStrike" kern="1200">
                          <a:solidFill>
                            <a:srgbClr val="000000"/>
                          </a:solidFill>
                          <a:effectLst/>
                          <a:latin typeface="Aptos Narrow" panose="020B0004020202020204" pitchFamily="34" charset="0"/>
                          <a:ea typeface="+mn-ea"/>
                          <a:cs typeface="+mn-cs"/>
                        </a:rPr>
                        <a:t>$170 </a:t>
                      </a:r>
                    </a:p>
                  </a:txBody>
                  <a:tcPr marL="9525" marR="9525" marT="9525" marB="0" anchor="b">
                    <a:lnL>
                      <a:noFill/>
                    </a:lnL>
                    <a:lnR>
                      <a:noFill/>
                    </a:lnR>
                    <a:lnT w="12700" cap="flat" cmpd="sng" algn="ctr">
                      <a:solidFill>
                        <a:schemeClr val="bg1">
                          <a:lumMod val="65000"/>
                        </a:schemeClr>
                      </a:solidFill>
                      <a:prstDash val="solid"/>
                      <a:round/>
                      <a:headEnd type="none" w="med" len="med"/>
                      <a:tailEnd type="none" w="med" len="med"/>
                    </a:lnT>
                    <a:lnB>
                      <a:noFill/>
                    </a:lnB>
                    <a:noFill/>
                  </a:tcPr>
                </a:tc>
                <a:tc>
                  <a:txBody>
                    <a:bodyPr/>
                    <a:lstStyle/>
                    <a:p>
                      <a:pPr algn="ctr" fontAlgn="b"/>
                      <a:r>
                        <a:rPr lang="en-US" sz="1400" b="0" i="0" u="none" strike="noStrike" kern="1200" dirty="0">
                          <a:solidFill>
                            <a:srgbClr val="000000"/>
                          </a:solidFill>
                          <a:effectLst/>
                          <a:latin typeface="Aptos Narrow" panose="020B0004020202020204" pitchFamily="34" charset="0"/>
                          <a:ea typeface="+mn-ea"/>
                          <a:cs typeface="+mn-cs"/>
                        </a:rPr>
                        <a:t>$470,911 </a:t>
                      </a:r>
                    </a:p>
                  </a:txBody>
                  <a:tcPr marL="9525" marR="9525" marT="9525" marB="0" anchor="b">
                    <a:lnL>
                      <a:noFill/>
                    </a:lnL>
                    <a:lnR>
                      <a:noFill/>
                    </a:lnR>
                    <a:lnT w="12700" cap="flat" cmpd="sng" algn="ctr">
                      <a:solidFill>
                        <a:schemeClr val="bg1">
                          <a:lumMod val="65000"/>
                        </a:schemeClr>
                      </a:solidFill>
                      <a:prstDash val="solid"/>
                      <a:round/>
                      <a:headEnd type="none" w="med" len="med"/>
                      <a:tailEnd type="none" w="med" len="med"/>
                    </a:lnT>
                    <a:lnB>
                      <a:noFill/>
                    </a:lnB>
                    <a:noFill/>
                  </a:tcPr>
                </a:tc>
                <a:tc>
                  <a:txBody>
                    <a:bodyPr/>
                    <a:lstStyle/>
                    <a:p>
                      <a:pPr algn="ctr" fontAlgn="b"/>
                      <a:r>
                        <a:rPr lang="en-US" sz="1400" b="0" i="0" u="none" strike="noStrike" kern="1200" dirty="0">
                          <a:solidFill>
                            <a:srgbClr val="000000"/>
                          </a:solidFill>
                          <a:effectLst/>
                          <a:latin typeface="Aptos Narrow" panose="020B0004020202020204" pitchFamily="34" charset="0"/>
                          <a:ea typeface="+mn-ea"/>
                          <a:cs typeface="+mn-cs"/>
                        </a:rPr>
                        <a:t>$169,528 </a:t>
                      </a:r>
                    </a:p>
                  </a:txBody>
                  <a:tcPr marL="9525" marR="9525" marT="9525" marB="0" anchor="b">
                    <a:lnL>
                      <a:noFill/>
                    </a:lnL>
                    <a:lnR>
                      <a:noFill/>
                    </a:lnR>
                    <a:lnT w="12700" cap="flat" cmpd="sng" algn="ctr">
                      <a:solidFill>
                        <a:schemeClr val="bg1">
                          <a:lumMod val="65000"/>
                        </a:schemeClr>
                      </a:solidFill>
                      <a:prstDash val="solid"/>
                      <a:round/>
                      <a:headEnd type="none" w="med" len="med"/>
                      <a:tailEnd type="none" w="med" len="med"/>
                    </a:lnT>
                    <a:lnB>
                      <a:noFill/>
                    </a:lnB>
                    <a:noFill/>
                  </a:tcPr>
                </a:tc>
                <a:extLst>
                  <a:ext uri="{0D108BD9-81ED-4DB2-BD59-A6C34878D82A}">
                    <a16:rowId xmlns:a16="http://schemas.microsoft.com/office/drawing/2014/main" val="3350881136"/>
                  </a:ext>
                </a:extLst>
              </a:tr>
            </a:tbl>
          </a:graphicData>
        </a:graphic>
      </p:graphicFrame>
      <p:sp>
        <p:nvSpPr>
          <p:cNvPr id="4" name="Footer Placeholder 3">
            <a:extLst>
              <a:ext uri="{FF2B5EF4-FFF2-40B4-BE49-F238E27FC236}">
                <a16:creationId xmlns:a16="http://schemas.microsoft.com/office/drawing/2014/main" id="{5D542BDA-2B63-2646-338F-9A578DF88920}"/>
              </a:ext>
            </a:extLst>
          </p:cNvPr>
          <p:cNvSpPr>
            <a:spLocks noGrp="1"/>
          </p:cNvSpPr>
          <p:nvPr>
            <p:ph type="ftr" sz="quarter" idx="11"/>
          </p:nvPr>
        </p:nvSpPr>
        <p:spPr/>
        <p:txBody>
          <a:bodyPr/>
          <a:lstStyle/>
          <a:p>
            <a:r>
              <a:rPr lang="en-US"/>
              <a:t>Key Benefit Administrators</a:t>
            </a:r>
            <a:endParaRPr lang="en-US" dirty="0"/>
          </a:p>
        </p:txBody>
      </p:sp>
      <p:sp>
        <p:nvSpPr>
          <p:cNvPr id="5" name="Slide Number Placeholder 4">
            <a:extLst>
              <a:ext uri="{FF2B5EF4-FFF2-40B4-BE49-F238E27FC236}">
                <a16:creationId xmlns:a16="http://schemas.microsoft.com/office/drawing/2014/main" id="{1E79436C-708C-33F5-A1C7-13D70A7330D4}"/>
              </a:ext>
            </a:extLst>
          </p:cNvPr>
          <p:cNvSpPr>
            <a:spLocks noGrp="1"/>
          </p:cNvSpPr>
          <p:nvPr>
            <p:ph type="sldNum" sz="quarter" idx="12"/>
          </p:nvPr>
        </p:nvSpPr>
        <p:spPr/>
        <p:txBody>
          <a:bodyPr/>
          <a:lstStyle/>
          <a:p>
            <a:fld id="{3AFC719D-C4A7-4544-876E-D411D11AF6C9}" type="slidenum">
              <a:rPr lang="en-US" smtClean="0"/>
              <a:t>12</a:t>
            </a:fld>
            <a:endParaRPr lang="en-US" dirty="0"/>
          </a:p>
        </p:txBody>
      </p:sp>
      <p:sp>
        <p:nvSpPr>
          <p:cNvPr id="7" name="Rectangle 8">
            <a:extLst>
              <a:ext uri="{FF2B5EF4-FFF2-40B4-BE49-F238E27FC236}">
                <a16:creationId xmlns:a16="http://schemas.microsoft.com/office/drawing/2014/main" id="{8ED48EC5-AD77-055E-8E24-65BED282346A}"/>
              </a:ext>
            </a:extLst>
          </p:cNvPr>
          <p:cNvSpPr/>
          <p:nvPr/>
        </p:nvSpPr>
        <p:spPr>
          <a:xfrm>
            <a:off x="0" y="0"/>
            <a:ext cx="981075" cy="6858000"/>
          </a:xfrm>
          <a:prstGeom prst="rect">
            <a:avLst/>
          </a:prstGeom>
          <a:solidFill>
            <a:srgbClr val="254F96">
              <a:alpha val="9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30442443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020CCE-F739-8633-848E-AA7349974A46}"/>
              </a:ext>
            </a:extLst>
          </p:cNvPr>
          <p:cNvSpPr>
            <a:spLocks noGrp="1"/>
          </p:cNvSpPr>
          <p:nvPr>
            <p:ph type="title"/>
          </p:nvPr>
        </p:nvSpPr>
        <p:spPr>
          <a:xfrm>
            <a:off x="1536975" y="111754"/>
            <a:ext cx="10458459" cy="1325563"/>
          </a:xfrm>
        </p:spPr>
        <p:txBody>
          <a:bodyPr>
            <a:normAutofit/>
          </a:bodyPr>
          <a:lstStyle/>
          <a:p>
            <a:r>
              <a:rPr lang="en-US" sz="3600" b="1" dirty="0">
                <a:solidFill>
                  <a:schemeClr val="tx1">
                    <a:lumMod val="85000"/>
                    <a:lumOff val="15000"/>
                  </a:schemeClr>
                </a:solidFill>
                <a:latin typeface="Garamond" panose="02020404030301010803" pitchFamily="18" charset="0"/>
                <a:cs typeface="Arial" panose="020B0604020202020204" pitchFamily="34" charset="0"/>
              </a:rPr>
              <a:t>Estimated Financial Returns and Assumptions</a:t>
            </a:r>
          </a:p>
        </p:txBody>
      </p:sp>
      <p:sp>
        <p:nvSpPr>
          <p:cNvPr id="3" name="Footer Placeholder 3">
            <a:extLst>
              <a:ext uri="{FF2B5EF4-FFF2-40B4-BE49-F238E27FC236}">
                <a16:creationId xmlns:a16="http://schemas.microsoft.com/office/drawing/2014/main" id="{5507C855-B839-95B6-9EA2-093923967C6B}"/>
              </a:ext>
            </a:extLst>
          </p:cNvPr>
          <p:cNvSpPr>
            <a:spLocks noGrp="1"/>
          </p:cNvSpPr>
          <p:nvPr>
            <p:ph type="ftr" sz="quarter" idx="11"/>
          </p:nvPr>
        </p:nvSpPr>
        <p:spPr>
          <a:xfrm>
            <a:off x="4038602" y="6490145"/>
            <a:ext cx="4114800" cy="250380"/>
          </a:xfrm>
        </p:spPr>
        <p:txBody>
          <a:bodyPr/>
          <a:lstStyle/>
          <a:p>
            <a:r>
              <a:rPr lang="en-US"/>
              <a:t>Key Benefit Administrators</a:t>
            </a:r>
            <a:endParaRPr lang="en-US" dirty="0"/>
          </a:p>
        </p:txBody>
      </p:sp>
      <p:sp>
        <p:nvSpPr>
          <p:cNvPr id="4" name="Slide Number Placeholder 4">
            <a:extLst>
              <a:ext uri="{FF2B5EF4-FFF2-40B4-BE49-F238E27FC236}">
                <a16:creationId xmlns:a16="http://schemas.microsoft.com/office/drawing/2014/main" id="{F7E7619F-9C66-420C-88E0-81D9A3B4FEB7}"/>
              </a:ext>
            </a:extLst>
          </p:cNvPr>
          <p:cNvSpPr>
            <a:spLocks noGrp="1"/>
          </p:cNvSpPr>
          <p:nvPr>
            <p:ph type="sldNum" sz="quarter" idx="12"/>
          </p:nvPr>
        </p:nvSpPr>
        <p:spPr>
          <a:xfrm>
            <a:off x="8610601" y="6490145"/>
            <a:ext cx="2743200" cy="250380"/>
          </a:xfrm>
        </p:spPr>
        <p:txBody>
          <a:bodyPr/>
          <a:lstStyle/>
          <a:p>
            <a:fld id="{3AFC719D-C4A7-4544-876E-D411D11AF6C9}" type="slidenum">
              <a:rPr lang="en-US" smtClean="0"/>
              <a:t>13</a:t>
            </a:fld>
            <a:endParaRPr lang="en-US" dirty="0"/>
          </a:p>
        </p:txBody>
      </p:sp>
      <p:sp>
        <p:nvSpPr>
          <p:cNvPr id="5" name="Rectangle 7">
            <a:extLst>
              <a:ext uri="{FF2B5EF4-FFF2-40B4-BE49-F238E27FC236}">
                <a16:creationId xmlns:a16="http://schemas.microsoft.com/office/drawing/2014/main" id="{55A48ACE-D370-6BA3-A39B-CF7D87E5C9A5}"/>
              </a:ext>
            </a:extLst>
          </p:cNvPr>
          <p:cNvSpPr/>
          <p:nvPr/>
        </p:nvSpPr>
        <p:spPr>
          <a:xfrm>
            <a:off x="7466120" y="1574676"/>
            <a:ext cx="4725880" cy="585927"/>
          </a:xfrm>
          <a:prstGeom prst="rect">
            <a:avLst/>
          </a:prstGeom>
          <a:solidFill>
            <a:srgbClr val="30589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Oval 8">
            <a:extLst>
              <a:ext uri="{FF2B5EF4-FFF2-40B4-BE49-F238E27FC236}">
                <a16:creationId xmlns:a16="http://schemas.microsoft.com/office/drawing/2014/main" id="{99386F57-8E81-E6DF-1A01-623E3BB7AB0B}"/>
              </a:ext>
            </a:extLst>
          </p:cNvPr>
          <p:cNvSpPr/>
          <p:nvPr/>
        </p:nvSpPr>
        <p:spPr>
          <a:xfrm>
            <a:off x="7168718" y="1574676"/>
            <a:ext cx="594804" cy="585927"/>
          </a:xfrm>
          <a:prstGeom prst="ellipse">
            <a:avLst/>
          </a:prstGeom>
          <a:solidFill>
            <a:srgbClr val="30589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extBox 11">
            <a:extLst>
              <a:ext uri="{FF2B5EF4-FFF2-40B4-BE49-F238E27FC236}">
                <a16:creationId xmlns:a16="http://schemas.microsoft.com/office/drawing/2014/main" id="{7B828AB6-CD3A-4CD3-8950-2942DDBEAC0D}"/>
              </a:ext>
            </a:extLst>
          </p:cNvPr>
          <p:cNvSpPr txBox="1"/>
          <p:nvPr/>
        </p:nvSpPr>
        <p:spPr>
          <a:xfrm>
            <a:off x="7869057" y="1587197"/>
            <a:ext cx="3719288" cy="461665"/>
          </a:xfrm>
          <a:prstGeom prst="rect">
            <a:avLst/>
          </a:prstGeom>
          <a:noFill/>
        </p:spPr>
        <p:txBody>
          <a:bodyPr wrap="none" rtlCol="0">
            <a:spAutoFit/>
          </a:bodyPr>
          <a:lstStyle/>
          <a:p>
            <a:r>
              <a:rPr lang="en-US" sz="2400" dirty="0">
                <a:solidFill>
                  <a:schemeClr val="bg1"/>
                </a:solidFill>
                <a:latin typeface="Garamond" panose="02020404030301010803" pitchFamily="18" charset="0"/>
                <a:cs typeface="Arial" panose="020B0604020202020204" pitchFamily="34" charset="0"/>
              </a:rPr>
              <a:t>Patient Steerage Assumptions</a:t>
            </a:r>
          </a:p>
        </p:txBody>
      </p:sp>
      <p:sp>
        <p:nvSpPr>
          <p:cNvPr id="8" name="TextBox 12">
            <a:extLst>
              <a:ext uri="{FF2B5EF4-FFF2-40B4-BE49-F238E27FC236}">
                <a16:creationId xmlns:a16="http://schemas.microsoft.com/office/drawing/2014/main" id="{025AE6BF-C458-13D4-626E-DAD4C1439055}"/>
              </a:ext>
            </a:extLst>
          </p:cNvPr>
          <p:cNvSpPr txBox="1"/>
          <p:nvPr/>
        </p:nvSpPr>
        <p:spPr>
          <a:xfrm>
            <a:off x="7466120" y="2250333"/>
            <a:ext cx="4616389" cy="900246"/>
          </a:xfrm>
          <a:prstGeom prst="rect">
            <a:avLst/>
          </a:prstGeom>
          <a:noFill/>
        </p:spPr>
        <p:txBody>
          <a:bodyPr wrap="square" rtlCol="0">
            <a:spAutoFit/>
          </a:bodyPr>
          <a:lstStyle/>
          <a:p>
            <a:r>
              <a:rPr lang="en-US" sz="1050" dirty="0">
                <a:solidFill/>
              </a:rPr>
              <a:t>KBA currently estimates that MaineHealth has 50% inpatient market share, and 19% outpatient market compared to hospitals/clinics in Western and Central Maine. The DTE tiered structure will create immediate steerage, with additional steerage over time from patient bonus benefits and the patient card (see slide 33 for estimates of target steerage). </a:t>
            </a:r>
            <a:endParaRPr lang="en-US" sz="1050" dirty="0"/>
          </a:p>
        </p:txBody>
      </p:sp>
      <p:sp>
        <p:nvSpPr>
          <p:cNvPr id="9" name="Rectangle 20">
            <a:extLst>
              <a:ext uri="{FF2B5EF4-FFF2-40B4-BE49-F238E27FC236}">
                <a16:creationId xmlns:a16="http://schemas.microsoft.com/office/drawing/2014/main" id="{620CA171-241C-9006-DA4D-7174E70B2EF3}"/>
              </a:ext>
            </a:extLst>
          </p:cNvPr>
          <p:cNvSpPr/>
          <p:nvPr/>
        </p:nvSpPr>
        <p:spPr>
          <a:xfrm>
            <a:off x="7597806" y="5609417"/>
            <a:ext cx="4456590" cy="529667"/>
          </a:xfrm>
          <a:prstGeom prst="rect">
            <a:avLst/>
          </a:prstGeom>
          <a:gradFill flip="none" rotWithShape="1">
            <a:gsLst>
              <a:gs pos="0">
                <a:srgbClr val="5682CA"/>
              </a:gs>
              <a:gs pos="50000">
                <a:schemeClr val="accent1">
                  <a:tint val="44500"/>
                  <a:satMod val="160000"/>
                </a:schemeClr>
              </a:gs>
              <a:gs pos="100000">
                <a:schemeClr val="accent1">
                  <a:lumMod val="20000"/>
                  <a:lumOff val="80000"/>
                </a:schemeClr>
              </a:gs>
            </a:gsLst>
            <a:lin ang="108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21">
            <a:extLst>
              <a:ext uri="{FF2B5EF4-FFF2-40B4-BE49-F238E27FC236}">
                <a16:creationId xmlns:a16="http://schemas.microsoft.com/office/drawing/2014/main" id="{BD8E1912-BAE3-A76F-55A7-754D206BC471}"/>
              </a:ext>
            </a:extLst>
          </p:cNvPr>
          <p:cNvSpPr/>
          <p:nvPr/>
        </p:nvSpPr>
        <p:spPr>
          <a:xfrm>
            <a:off x="7509029" y="4095424"/>
            <a:ext cx="4682971" cy="585927"/>
          </a:xfrm>
          <a:prstGeom prst="rect">
            <a:avLst/>
          </a:prstGeom>
          <a:solidFill>
            <a:srgbClr val="30589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Oval 22">
            <a:extLst>
              <a:ext uri="{FF2B5EF4-FFF2-40B4-BE49-F238E27FC236}">
                <a16:creationId xmlns:a16="http://schemas.microsoft.com/office/drawing/2014/main" id="{D2B9ED21-8D89-315C-4C9C-403AA9B2666A}"/>
              </a:ext>
            </a:extLst>
          </p:cNvPr>
          <p:cNvSpPr/>
          <p:nvPr/>
        </p:nvSpPr>
        <p:spPr>
          <a:xfrm>
            <a:off x="7211627" y="4095424"/>
            <a:ext cx="594804" cy="585927"/>
          </a:xfrm>
          <a:prstGeom prst="ellipse">
            <a:avLst/>
          </a:prstGeom>
          <a:solidFill>
            <a:srgbClr val="30589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TextBox 23">
            <a:extLst>
              <a:ext uri="{FF2B5EF4-FFF2-40B4-BE49-F238E27FC236}">
                <a16:creationId xmlns:a16="http://schemas.microsoft.com/office/drawing/2014/main" id="{950E697A-C380-A6EE-50AE-8B3DED34929F}"/>
              </a:ext>
            </a:extLst>
          </p:cNvPr>
          <p:cNvSpPr txBox="1"/>
          <p:nvPr/>
        </p:nvSpPr>
        <p:spPr>
          <a:xfrm>
            <a:off x="7911966" y="4107945"/>
            <a:ext cx="4204997" cy="461665"/>
          </a:xfrm>
          <a:prstGeom prst="rect">
            <a:avLst/>
          </a:prstGeom>
          <a:noFill/>
        </p:spPr>
        <p:txBody>
          <a:bodyPr wrap="none" rtlCol="0">
            <a:spAutoFit/>
          </a:bodyPr>
          <a:lstStyle/>
          <a:p>
            <a:r>
              <a:rPr lang="en-US" sz="2400" dirty="0">
                <a:solidFill>
                  <a:schemeClr val="bg1"/>
                </a:solidFill>
                <a:latin typeface="Garamond" panose="02020404030301010803" pitchFamily="18" charset="0"/>
                <a:cs typeface="Arial" panose="020B0604020202020204" pitchFamily="34" charset="0"/>
              </a:rPr>
              <a:t>Commercial Margin Assumptions</a:t>
            </a:r>
          </a:p>
        </p:txBody>
      </p:sp>
      <p:sp>
        <p:nvSpPr>
          <p:cNvPr id="13" name="TextBox 24">
            <a:extLst>
              <a:ext uri="{FF2B5EF4-FFF2-40B4-BE49-F238E27FC236}">
                <a16:creationId xmlns:a16="http://schemas.microsoft.com/office/drawing/2014/main" id="{32C9D62D-25B0-6CD9-8AD7-E6855B1B1B26}"/>
              </a:ext>
            </a:extLst>
          </p:cNvPr>
          <p:cNvSpPr txBox="1"/>
          <p:nvPr/>
        </p:nvSpPr>
        <p:spPr>
          <a:xfrm>
            <a:off x="7509029" y="4771081"/>
            <a:ext cx="4616389" cy="738664"/>
          </a:xfrm>
          <a:prstGeom prst="rect">
            <a:avLst/>
          </a:prstGeom>
          <a:noFill/>
        </p:spPr>
        <p:txBody>
          <a:bodyPr wrap="square" rtlCol="0">
            <a:spAutoFit/>
          </a:bodyPr>
          <a:lstStyle/>
          <a:p>
            <a:r>
              <a:rPr lang="en-US" sz="1050" dirty="0">
                <a:solidFill/>
              </a:rPr>
              <a:t>KBA observes a MaineHealth 15% commercial margin. We model at a </a:t>
            </a:r>
            <a:r>
              <a:rPr lang="en-US" sz="1050" i="1" dirty="0">
                <a:solidFill/>
              </a:rPr>
              <a:t>received</a:t>
            </a:r>
            <a:r>
              <a:rPr lang="en-US" sz="1050" dirty="0">
                <a:solidFill/>
              </a:rPr>
              <a:t> margin in line with current commercial margins with prices 10 percentage-points below current commercial rates but with a 10 percentage-point increase through friendlier billing practices and improved patient collections with the patient card.</a:t>
            </a:r>
          </a:p>
        </p:txBody>
      </p:sp>
      <p:sp>
        <p:nvSpPr>
          <p:cNvPr id="14" name="TextBox 25">
            <a:extLst>
              <a:ext uri="{FF2B5EF4-FFF2-40B4-BE49-F238E27FC236}">
                <a16:creationId xmlns:a16="http://schemas.microsoft.com/office/drawing/2014/main" id="{A76920ED-352E-9285-CC83-BDA6AB18978D}"/>
              </a:ext>
            </a:extLst>
          </p:cNvPr>
          <p:cNvSpPr txBox="1"/>
          <p:nvPr/>
        </p:nvSpPr>
        <p:spPr>
          <a:xfrm>
            <a:off x="7707395" y="5562003"/>
            <a:ext cx="488916" cy="307777"/>
          </a:xfrm>
          <a:prstGeom prst="rect">
            <a:avLst/>
          </a:prstGeom>
          <a:noFill/>
        </p:spPr>
        <p:txBody>
          <a:bodyPr wrap="none" rtlCol="0">
            <a:spAutoFit/>
          </a:bodyPr>
          <a:lstStyle/>
          <a:p>
            <a:r>
              <a:rPr lang="en-US" sz="1400" b="1" dirty="0"/>
              <a:t>Low</a:t>
            </a:r>
          </a:p>
        </p:txBody>
      </p:sp>
      <p:sp>
        <p:nvSpPr>
          <p:cNvPr id="15" name="TextBox 26">
            <a:extLst>
              <a:ext uri="{FF2B5EF4-FFF2-40B4-BE49-F238E27FC236}">
                <a16:creationId xmlns:a16="http://schemas.microsoft.com/office/drawing/2014/main" id="{2559AB8C-6F23-81D3-4546-DE75EBD91879}"/>
              </a:ext>
            </a:extLst>
          </p:cNvPr>
          <p:cNvSpPr txBox="1"/>
          <p:nvPr/>
        </p:nvSpPr>
        <p:spPr>
          <a:xfrm>
            <a:off x="9572765" y="5562003"/>
            <a:ext cx="643509" cy="307777"/>
          </a:xfrm>
          <a:prstGeom prst="rect">
            <a:avLst/>
          </a:prstGeom>
          <a:noFill/>
        </p:spPr>
        <p:txBody>
          <a:bodyPr wrap="none" rtlCol="0">
            <a:spAutoFit/>
          </a:bodyPr>
          <a:lstStyle/>
          <a:p>
            <a:r>
              <a:rPr lang="en-US" sz="1400" b="1" dirty="0"/>
              <a:t>Target</a:t>
            </a:r>
          </a:p>
        </p:txBody>
      </p:sp>
      <p:sp>
        <p:nvSpPr>
          <p:cNvPr id="16" name="TextBox 27">
            <a:extLst>
              <a:ext uri="{FF2B5EF4-FFF2-40B4-BE49-F238E27FC236}">
                <a16:creationId xmlns:a16="http://schemas.microsoft.com/office/drawing/2014/main" id="{314AFF5C-ABDA-A82B-40C8-14E2DB160036}"/>
              </a:ext>
            </a:extLst>
          </p:cNvPr>
          <p:cNvSpPr txBox="1"/>
          <p:nvPr/>
        </p:nvSpPr>
        <p:spPr>
          <a:xfrm>
            <a:off x="11436788" y="5562003"/>
            <a:ext cx="524503" cy="307777"/>
          </a:xfrm>
          <a:prstGeom prst="rect">
            <a:avLst/>
          </a:prstGeom>
          <a:noFill/>
        </p:spPr>
        <p:txBody>
          <a:bodyPr wrap="none" rtlCol="0">
            <a:spAutoFit/>
          </a:bodyPr>
          <a:lstStyle/>
          <a:p>
            <a:r>
              <a:rPr lang="en-US" sz="1400" b="1" dirty="0"/>
              <a:t>High</a:t>
            </a:r>
          </a:p>
        </p:txBody>
      </p:sp>
      <p:sp>
        <p:nvSpPr>
          <p:cNvPr id="17" name="TextBox 28">
            <a:extLst>
              <a:ext uri="{FF2B5EF4-FFF2-40B4-BE49-F238E27FC236}">
                <a16:creationId xmlns:a16="http://schemas.microsoft.com/office/drawing/2014/main" id="{2C03026B-6D1E-F7B1-9995-7D9DC1019C60}"/>
              </a:ext>
            </a:extLst>
          </p:cNvPr>
          <p:cNvSpPr txBox="1"/>
          <p:nvPr/>
        </p:nvSpPr>
        <p:spPr>
          <a:xfrm>
            <a:off x="7659946" y="5820856"/>
            <a:ext cx="785793" cy="369332"/>
          </a:xfrm>
          <a:prstGeom prst="rect">
            <a:avLst/>
          </a:prstGeom>
          <a:noFill/>
        </p:spPr>
        <p:txBody>
          <a:bodyPr wrap="none" rtlCol="0">
            <a:spAutoFit/>
          </a:bodyPr>
          <a:lstStyle/>
          <a:p>
            <a:r>
              <a:rPr lang="en-US" dirty="0">
                <a:solidFill/>
              </a:rPr>
              <a:t>12%</a:t>
            </a:r>
          </a:p>
        </p:txBody>
      </p:sp>
      <p:sp>
        <p:nvSpPr>
          <p:cNvPr id="18" name="TextBox 29">
            <a:extLst>
              <a:ext uri="{FF2B5EF4-FFF2-40B4-BE49-F238E27FC236}">
                <a16:creationId xmlns:a16="http://schemas.microsoft.com/office/drawing/2014/main" id="{9C64CEEB-E16A-926D-5DF0-DC8275443A40}"/>
              </a:ext>
            </a:extLst>
          </p:cNvPr>
          <p:cNvSpPr txBox="1"/>
          <p:nvPr/>
        </p:nvSpPr>
        <p:spPr>
          <a:xfrm>
            <a:off x="9580061" y="5832828"/>
            <a:ext cx="885179" cy="369332"/>
          </a:xfrm>
          <a:prstGeom prst="rect">
            <a:avLst/>
          </a:prstGeom>
          <a:noFill/>
        </p:spPr>
        <p:txBody>
          <a:bodyPr wrap="none" rtlCol="0">
            <a:spAutoFit/>
          </a:bodyPr>
          <a:lstStyle/>
          <a:p>
            <a:r>
              <a:rPr lang="en-US" dirty="0">
                <a:solidFill/>
              </a:rPr>
              <a:t>17%</a:t>
            </a:r>
          </a:p>
        </p:txBody>
      </p:sp>
      <p:sp>
        <p:nvSpPr>
          <p:cNvPr id="19" name="TextBox 30">
            <a:extLst>
              <a:ext uri="{FF2B5EF4-FFF2-40B4-BE49-F238E27FC236}">
                <a16:creationId xmlns:a16="http://schemas.microsoft.com/office/drawing/2014/main" id="{716000A2-AFB1-117D-BFF0-2BDA3EA8A77D}"/>
              </a:ext>
            </a:extLst>
          </p:cNvPr>
          <p:cNvSpPr txBox="1"/>
          <p:nvPr/>
        </p:nvSpPr>
        <p:spPr>
          <a:xfrm>
            <a:off x="11389339" y="5832828"/>
            <a:ext cx="832279" cy="369332"/>
          </a:xfrm>
          <a:prstGeom prst="rect">
            <a:avLst/>
          </a:prstGeom>
          <a:noFill/>
        </p:spPr>
        <p:txBody>
          <a:bodyPr wrap="none" rtlCol="0">
            <a:spAutoFit/>
          </a:bodyPr>
          <a:lstStyle/>
          <a:p>
            <a:r>
              <a:rPr lang="en-US" dirty="0">
                <a:solidFill/>
              </a:rPr>
              <a:t>22%</a:t>
            </a:r>
          </a:p>
        </p:txBody>
      </p:sp>
      <p:sp>
        <p:nvSpPr>
          <p:cNvPr id="20" name="Rectangle 2">
            <a:extLst>
              <a:ext uri="{FF2B5EF4-FFF2-40B4-BE49-F238E27FC236}">
                <a16:creationId xmlns:a16="http://schemas.microsoft.com/office/drawing/2014/main" id="{E854312B-28D3-E83C-2C75-6E860911BB50}"/>
              </a:ext>
            </a:extLst>
          </p:cNvPr>
          <p:cNvSpPr/>
          <p:nvPr/>
        </p:nvSpPr>
        <p:spPr>
          <a:xfrm>
            <a:off x="0" y="-7770"/>
            <a:ext cx="978408" cy="6858000"/>
          </a:xfrm>
          <a:prstGeom prst="rect">
            <a:avLst/>
          </a:prstGeom>
          <a:solidFill>
            <a:srgbClr val="254F96">
              <a:alpha val="86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Arial" panose="020B0604020202020204" pitchFamily="34" charset="0"/>
              <a:cs typeface="Arial" panose="020B0604020202020204" pitchFamily="34" charset="0"/>
            </a:endParaRPr>
          </a:p>
        </p:txBody>
      </p:sp>
      <p:sp>
        <p:nvSpPr>
          <p:cNvPr id="21" name="Title 1">
            <a:extLst>
              <a:ext uri="{FF2B5EF4-FFF2-40B4-BE49-F238E27FC236}">
                <a16:creationId xmlns:a16="http://schemas.microsoft.com/office/drawing/2014/main" id="{2DAB5DAF-375F-8C08-74DE-3B9B1A009F39}"/>
              </a:ext>
            </a:extLst>
          </p:cNvPr>
          <p:cNvSpPr txBox="1">
            <a:spLocks/>
          </p:cNvSpPr>
          <p:nvPr/>
        </p:nvSpPr>
        <p:spPr>
          <a:xfrm rot="16200000">
            <a:off x="-2966820" y="3045208"/>
            <a:ext cx="6858000" cy="752041"/>
          </a:xfrm>
          <a:prstGeom prst="rect">
            <a:avLst/>
          </a:prstGeom>
        </p:spPr>
        <p:txBody>
          <a:bodyPr vert="horz" lIns="91440" tIns="45720" rIns="91440" bIns="45720" rtlCol="0" anchor="ctr">
            <a:noAutofit/>
          </a:bodyPr>
          <a:lstStyle>
            <a:lvl1pPr algn="l" defTabSz="914411" rtl="0" eaLnBrk="1" latinLnBrk="0" hangingPunct="1">
              <a:lnSpc>
                <a:spcPct val="90000"/>
              </a:lnSpc>
              <a:spcBef>
                <a:spcPct val="0"/>
              </a:spcBef>
              <a:buNone/>
              <a:defRPr sz="4400" kern="1200">
                <a:solidFill>
                  <a:schemeClr val="tx1"/>
                </a:solidFill>
                <a:latin typeface="+mj-lt"/>
                <a:ea typeface="+mj-ea"/>
                <a:cs typeface="+mj-cs"/>
              </a:defRPr>
            </a:lvl1pPr>
          </a:lstStyle>
          <a:p>
            <a:pPr>
              <a:lnSpc>
                <a:spcPct val="100000"/>
              </a:lnSpc>
              <a:spcBef>
                <a:spcPts val="600"/>
              </a:spcBef>
            </a:pPr>
            <a:r>
              <a:rPr lang="en-US" sz="4000" dirty="0">
                <a:solidFill>
                  <a:schemeClr val="bg1"/>
                </a:solidFill>
                <a:latin typeface="Garamond" panose="02020404030301010803" pitchFamily="18" charset="0"/>
                <a:cs typeface="Arial" panose="020B0604020202020204" pitchFamily="34" charset="0"/>
              </a:rPr>
              <a:t>SINGLE-YEAR PROJECTION</a:t>
            </a:r>
          </a:p>
        </p:txBody>
      </p:sp>
      <p:sp>
        <p:nvSpPr>
          <p:cNvPr id="22" name="Rectangle 19">
            <a:extLst>
              <a:ext uri="{FF2B5EF4-FFF2-40B4-BE49-F238E27FC236}">
                <a16:creationId xmlns:a16="http://schemas.microsoft.com/office/drawing/2014/main" id="{F6627BBC-E6C5-1195-07E5-6C53EE01CC8B}"/>
              </a:ext>
            </a:extLst>
          </p:cNvPr>
          <p:cNvSpPr/>
          <p:nvPr/>
        </p:nvSpPr>
        <p:spPr>
          <a:xfrm>
            <a:off x="7597806" y="3203415"/>
            <a:ext cx="4456590" cy="529667"/>
          </a:xfrm>
          <a:prstGeom prst="rect">
            <a:avLst/>
          </a:prstGeom>
          <a:gradFill flip="none" rotWithShape="1">
            <a:gsLst>
              <a:gs pos="0">
                <a:srgbClr val="5682CA"/>
              </a:gs>
              <a:gs pos="50000">
                <a:schemeClr val="accent1">
                  <a:tint val="44500"/>
                  <a:satMod val="160000"/>
                </a:schemeClr>
              </a:gs>
              <a:gs pos="100000">
                <a:schemeClr val="accent1">
                  <a:lumMod val="20000"/>
                  <a:lumOff val="80000"/>
                </a:schemeClr>
              </a:gs>
            </a:gsLst>
            <a:lin ang="108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TextBox 25">
            <a:extLst>
              <a:ext uri="{FF2B5EF4-FFF2-40B4-BE49-F238E27FC236}">
                <a16:creationId xmlns:a16="http://schemas.microsoft.com/office/drawing/2014/main" id="{C22B0D02-4198-9ACE-8A8D-89E646CD21E5}"/>
              </a:ext>
            </a:extLst>
          </p:cNvPr>
          <p:cNvSpPr txBox="1"/>
          <p:nvPr/>
        </p:nvSpPr>
        <p:spPr>
          <a:xfrm>
            <a:off x="8366143" y="3171997"/>
            <a:ext cx="488916" cy="307777"/>
          </a:xfrm>
          <a:prstGeom prst="rect">
            <a:avLst/>
          </a:prstGeom>
          <a:noFill/>
        </p:spPr>
        <p:txBody>
          <a:bodyPr wrap="none" rtlCol="0">
            <a:spAutoFit/>
          </a:bodyPr>
          <a:lstStyle/>
          <a:p>
            <a:r>
              <a:rPr lang="en-US" sz="1400" b="1" dirty="0"/>
              <a:t>Low</a:t>
            </a:r>
          </a:p>
        </p:txBody>
      </p:sp>
      <p:sp>
        <p:nvSpPr>
          <p:cNvPr id="24" name="TextBox 27">
            <a:extLst>
              <a:ext uri="{FF2B5EF4-FFF2-40B4-BE49-F238E27FC236}">
                <a16:creationId xmlns:a16="http://schemas.microsoft.com/office/drawing/2014/main" id="{E8084D42-778C-82F6-630D-9D8469AFEE15}"/>
              </a:ext>
            </a:extLst>
          </p:cNvPr>
          <p:cNvSpPr txBox="1"/>
          <p:nvPr/>
        </p:nvSpPr>
        <p:spPr>
          <a:xfrm>
            <a:off x="10950749" y="3163290"/>
            <a:ext cx="524503" cy="307777"/>
          </a:xfrm>
          <a:prstGeom prst="rect">
            <a:avLst/>
          </a:prstGeom>
          <a:noFill/>
        </p:spPr>
        <p:txBody>
          <a:bodyPr wrap="none" rtlCol="0">
            <a:spAutoFit/>
          </a:bodyPr>
          <a:lstStyle/>
          <a:p>
            <a:r>
              <a:rPr lang="en-US" sz="1400" b="1" dirty="0"/>
              <a:t>High</a:t>
            </a:r>
          </a:p>
        </p:txBody>
      </p:sp>
      <p:sp>
        <p:nvSpPr>
          <p:cNvPr id="25" name="TextBox 28">
            <a:extLst>
              <a:ext uri="{FF2B5EF4-FFF2-40B4-BE49-F238E27FC236}">
                <a16:creationId xmlns:a16="http://schemas.microsoft.com/office/drawing/2014/main" id="{F168AC10-2BD6-A49E-428D-30E6B39D197A}"/>
              </a:ext>
            </a:extLst>
          </p:cNvPr>
          <p:cNvSpPr txBox="1"/>
          <p:nvPr/>
        </p:nvSpPr>
        <p:spPr>
          <a:xfrm>
            <a:off x="7647303" y="3407458"/>
            <a:ext cx="1825756" cy="369332"/>
          </a:xfrm>
          <a:prstGeom prst="rect">
            <a:avLst/>
          </a:prstGeom>
          <a:noFill/>
        </p:spPr>
        <p:txBody>
          <a:bodyPr wrap="none" rtlCol="0">
            <a:spAutoFit/>
          </a:bodyPr>
          <a:lstStyle/>
          <a:p>
            <a:r>
              <a:rPr lang="en-US" dirty="0">
                <a:solidFill/>
              </a:rPr>
              <a:t>10% below target</a:t>
            </a:r>
          </a:p>
        </p:txBody>
      </p:sp>
      <p:sp>
        <p:nvSpPr>
          <p:cNvPr id="26" name="TextBox 30">
            <a:extLst>
              <a:ext uri="{FF2B5EF4-FFF2-40B4-BE49-F238E27FC236}">
                <a16:creationId xmlns:a16="http://schemas.microsoft.com/office/drawing/2014/main" id="{85A3284B-C2CB-7693-6750-302A3F66B386}"/>
              </a:ext>
            </a:extLst>
          </p:cNvPr>
          <p:cNvSpPr txBox="1"/>
          <p:nvPr/>
        </p:nvSpPr>
        <p:spPr>
          <a:xfrm>
            <a:off x="10299672" y="3405178"/>
            <a:ext cx="1820178" cy="369332"/>
          </a:xfrm>
          <a:prstGeom prst="rect">
            <a:avLst/>
          </a:prstGeom>
          <a:noFill/>
        </p:spPr>
        <p:txBody>
          <a:bodyPr wrap="none" rtlCol="0">
            <a:spAutoFit/>
          </a:bodyPr>
          <a:lstStyle/>
          <a:p>
            <a:r>
              <a:rPr lang="en-US" dirty="0">
                <a:solidFill/>
              </a:rPr>
              <a:t>10% above target</a:t>
            </a:r>
          </a:p>
        </p:txBody>
      </p:sp>
      <p:pic>
        <p:nvPicPr>
          <p:cNvPr id="27" name="Content Placeholder 26"/>
          <p:cNvPicPr>
            <a:picLocks noGrp="1"/>
          </p:cNvPicPr>
          <p:nvPr>
            <p:ph/>
          </p:nvPr>
        </p:nvPicPr>
        <p:blipFill>
          <a:blip r:embed="rId2" cstate="print"/>
          <a:stretch>
            <a:fillRect/>
          </a:stretch>
        </p:blipFill>
        <p:spPr>
          <a:xfrm>
            <a:off x="1024128" y="1618488"/>
            <a:ext cx="6382512" cy="4553712"/>
          </a:xfrm>
          <a:prstGeom prst="rect">
            <a:avLst/>
          </a:prstGeom>
        </p:spPr>
      </p:pic>
    </p:spTree>
    <p:extLst>
      <p:ext uri="{BB962C8B-B14F-4D97-AF65-F5344CB8AC3E}">
        <p14:creationId xmlns:p14="http://schemas.microsoft.com/office/powerpoint/2010/main" val="347090521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6">
            <a:extLst>
              <a:ext uri="{FF2B5EF4-FFF2-40B4-BE49-F238E27FC236}">
                <a16:creationId xmlns:a16="http://schemas.microsoft.com/office/drawing/2014/main" id="{DEBD79AC-6896-6E13-B0EE-8405AC1D8926}"/>
              </a:ext>
            </a:extLst>
          </p:cNvPr>
          <p:cNvSpPr/>
          <p:nvPr/>
        </p:nvSpPr>
        <p:spPr>
          <a:xfrm>
            <a:off x="0" y="-7770"/>
            <a:ext cx="978408" cy="6858000"/>
          </a:xfrm>
          <a:prstGeom prst="rect">
            <a:avLst/>
          </a:prstGeom>
          <a:solidFill>
            <a:srgbClr val="254F96">
              <a:alpha val="86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 name="Title 1">
            <a:extLst>
              <a:ext uri="{FF2B5EF4-FFF2-40B4-BE49-F238E27FC236}">
                <a16:creationId xmlns:a16="http://schemas.microsoft.com/office/drawing/2014/main" id="{C0B88E4A-751F-FB75-BED6-F09D9D7F21CD}"/>
              </a:ext>
            </a:extLst>
          </p:cNvPr>
          <p:cNvSpPr>
            <a:spLocks noGrp="1"/>
          </p:cNvSpPr>
          <p:nvPr>
            <p:ph type="title"/>
          </p:nvPr>
        </p:nvSpPr>
        <p:spPr>
          <a:xfrm rot="16200000">
            <a:off x="-2911931" y="3052978"/>
            <a:ext cx="6802269" cy="752041"/>
          </a:xfrm>
        </p:spPr>
        <p:txBody>
          <a:bodyPr>
            <a:noAutofit/>
          </a:bodyPr>
          <a:lstStyle/>
          <a:p>
            <a:pPr algn="ctr">
              <a:lnSpc>
                <a:spcPct val="100000"/>
              </a:lnSpc>
              <a:spcBef>
                <a:spcPts val="600"/>
              </a:spcBef>
            </a:pPr>
            <a:r>
              <a:rPr lang="en-US" sz="3600" b="0" dirty="0">
                <a:solidFill>
                  <a:schemeClr val="bg1"/>
                </a:solidFill>
                <a:latin typeface="Garamond" panose="02020404030301010803" pitchFamily="18" charset="0"/>
              </a:rPr>
              <a:t>FOUR-YEAR PROJECTIONS</a:t>
            </a:r>
          </a:p>
        </p:txBody>
      </p:sp>
      <p:graphicFrame>
        <p:nvGraphicFramePr>
          <p:cNvPr id="4" name="Table 3"/>
          <p:cNvGraphicFramePr>
            <a:graphicFrameLocks noGrp="1"/>
          </p:cNvGraphicFramePr>
          <p:nvPr/>
        </p:nvGraphicFramePr>
        <p:xfrm>
          <a:off x="6135624" y="0"/>
          <a:ext cx="5943600" cy="2265680"/>
        </p:xfrm>
        <a:graphic>
          <a:graphicData uri="http://schemas.openxmlformats.org/drawingml/2006/table">
            <a:tbl>
              <a:tblPr/>
              <a:tblGrid>
                <a:gridCol w="2286000">
                  <a:extLst>
                    <a:ext uri="{9D8B030D-6E8A-4147-A177-3AD203B41FA5}">
                      <a16:colId xmlns:a16="http://schemas.microsoft.com/office/drawing/2014/main" val="20000"/>
                    </a:ext>
                  </a:extLst>
                </a:gridCol>
                <a:gridCol w="914400">
                  <a:extLst>
                    <a:ext uri="{9D8B030D-6E8A-4147-A177-3AD203B41FA5}">
                      <a16:colId xmlns:a16="http://schemas.microsoft.com/office/drawing/2014/main" val="20001"/>
                    </a:ext>
                  </a:extLst>
                </a:gridCol>
                <a:gridCol w="914400">
                  <a:extLst>
                    <a:ext uri="{9D8B030D-6E8A-4147-A177-3AD203B41FA5}">
                      <a16:colId xmlns:a16="http://schemas.microsoft.com/office/drawing/2014/main" val="20002"/>
                    </a:ext>
                  </a:extLst>
                </a:gridCol>
                <a:gridCol w="914400">
                  <a:extLst>
                    <a:ext uri="{9D8B030D-6E8A-4147-A177-3AD203B41FA5}">
                      <a16:colId xmlns:a16="http://schemas.microsoft.com/office/drawing/2014/main" val="20003"/>
                    </a:ext>
                  </a:extLst>
                </a:gridCol>
                <a:gridCol w="914400">
                  <a:extLst>
                    <a:ext uri="{9D8B030D-6E8A-4147-A177-3AD203B41FA5}">
                      <a16:colId xmlns:a16="http://schemas.microsoft.com/office/drawing/2014/main" val="20004"/>
                    </a:ext>
                  </a:extLst>
                </a:gridCol>
              </a:tblGrid>
              <a:tr h="228600">
                <a:tc gridSpan="5">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Arial"/>
                          <a:cs typeface="Arial"/>
                          <a:sym typeface="Arial"/>
                        </a:rPr>
                        <a:t>Target Member Growth</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25400" cap="flat" cmpd="sng" algn="ctr">
                      <a:solidFill>
                        <a:srgbClr val="000000">
                          <a:alpha val="100000"/>
                        </a:srgbClr>
                      </a:solidFill>
                      <a:prstDash val="solid"/>
                    </a:lnT>
                    <a:lnB w="9525"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Arial"/>
                          <a:cs typeface="Arial"/>
                          <a:sym typeface="Arial"/>
                        </a:rPr>
                        <a:t>Target Member Growth</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25400" cap="flat" cmpd="sng" algn="ctr">
                      <a:solidFill>
                        <a:srgbClr val="000000">
                          <a:alpha val="100000"/>
                        </a:srgbClr>
                      </a:solidFill>
                      <a:prstDash val="solid"/>
                    </a:lnT>
                    <a:lnB w="9525"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Arial"/>
                          <a:cs typeface="Arial"/>
                          <a:sym typeface="Arial"/>
                        </a:rPr>
                        <a:t>Target Member Growth</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25400" cap="flat" cmpd="sng" algn="ctr">
                      <a:solidFill>
                        <a:srgbClr val="000000">
                          <a:alpha val="100000"/>
                        </a:srgbClr>
                      </a:solidFill>
                      <a:prstDash val="solid"/>
                    </a:lnT>
                    <a:lnB w="9525"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Arial"/>
                          <a:cs typeface="Arial"/>
                          <a:sym typeface="Arial"/>
                        </a:rPr>
                        <a:t>Target Member Growth</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25400" cap="flat" cmpd="sng" algn="ctr">
                      <a:solidFill>
                        <a:srgbClr val="000000">
                          <a:alpha val="100000"/>
                        </a:srgbClr>
                      </a:solidFill>
                      <a:prstDash val="solid"/>
                    </a:lnT>
                    <a:lnB w="9525"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Arial"/>
                          <a:cs typeface="Arial"/>
                          <a:sym typeface="Arial"/>
                        </a:rPr>
                        <a:t>Target Member Growth</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25400" cap="flat" cmpd="sng" algn="ctr">
                      <a:solidFill>
                        <a:srgbClr val="000000">
                          <a:alpha val="100000"/>
                        </a:srgbClr>
                      </a:solidFill>
                      <a:prstDash val="solid"/>
                    </a:lnT>
                    <a:lnB w="9525"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00"/>
                  </a:ext>
                </a:extLst>
              </a:tr>
              <a:tr h="228600">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Arial"/>
                          <a:cs typeface="Arial"/>
                          <a:sym typeface="Arial"/>
                        </a:rPr>
                        <a:t>Metric</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9525" cap="flat" cmpd="sng" algn="ctr">
                      <a:solidFill>
                        <a:srgbClr val="666666">
                          <a:alpha val="100000"/>
                        </a:srgbClr>
                      </a:solidFill>
                      <a:prstDash val="solid"/>
                    </a:lnT>
                    <a:lnB w="254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Arial"/>
                          <a:cs typeface="Arial"/>
                          <a:sym typeface="Arial"/>
                        </a:rPr>
                        <a:t>Year 1</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9525" cap="flat" cmpd="sng" algn="ctr">
                      <a:solidFill>
                        <a:srgbClr val="666666">
                          <a:alpha val="100000"/>
                        </a:srgbClr>
                      </a:solidFill>
                      <a:prstDash val="solid"/>
                    </a:lnT>
                    <a:lnB w="254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Arial"/>
                          <a:cs typeface="Arial"/>
                          <a:sym typeface="Arial"/>
                        </a:rPr>
                        <a:t>Year 2</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9525" cap="flat" cmpd="sng" algn="ctr">
                      <a:solidFill>
                        <a:srgbClr val="666666">
                          <a:alpha val="100000"/>
                        </a:srgbClr>
                      </a:solidFill>
                      <a:prstDash val="solid"/>
                    </a:lnT>
                    <a:lnB w="254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Arial"/>
                          <a:cs typeface="Arial"/>
                          <a:sym typeface="Arial"/>
                        </a:rPr>
                        <a:t>Year 3</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9525" cap="flat" cmpd="sng" algn="ctr">
                      <a:solidFill>
                        <a:srgbClr val="666666">
                          <a:alpha val="100000"/>
                        </a:srgbClr>
                      </a:solidFill>
                      <a:prstDash val="solid"/>
                    </a:lnT>
                    <a:lnB w="254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Arial"/>
                          <a:cs typeface="Arial"/>
                          <a:sym typeface="Arial"/>
                        </a:rPr>
                        <a:t>Year 4</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9525" cap="flat" cmpd="sng" algn="ctr">
                      <a:solidFill>
                        <a:srgbClr val="666666">
                          <a:alpha val="100000"/>
                        </a:srgbClr>
                      </a:solidFill>
                      <a:prstDash val="solid"/>
                    </a:lnT>
                    <a:lnB w="25400" cap="flat" cmpd="sng" algn="ctr">
                      <a:solidFill>
                        <a:srgbClr val="000000">
                          <a:alpha val="100000"/>
                        </a:srgbClr>
                      </a:solidFill>
                      <a:prstDash val="solid"/>
                    </a:lnB>
                    <a:solidFill>
                      <a:srgbClr val="FFFFFF">
                        <a:alpha val="0"/>
                      </a:srgbClr>
                    </a:solidFill>
                  </a:tcPr>
                </a:tc>
                <a:extLst>
                  <a:ext uri="{0D108BD9-81ED-4DB2-BD59-A6C34878D82A}">
                    <a16:rowId xmlns:a16="http://schemas.microsoft.com/office/drawing/2014/main" val="10001"/>
                  </a:ext>
                </a:extLst>
              </a:tr>
              <a:tr h="228600">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Number of Members</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1,000</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2,000</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3,300</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dirty="0">
                          <a:solidFill>
                            <a:srgbClr val="000000">
                              <a:alpha val="100000"/>
                            </a:srgbClr>
                          </a:solidFill>
                          <a:latin typeface="Arial"/>
                          <a:cs typeface="Arial"/>
                          <a:sym typeface="Arial"/>
                        </a:rPr>
                        <a:t>5,000</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2"/>
                  </a:ext>
                </a:extLst>
              </a:tr>
              <a:tr h="228600">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Incremental Margin</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912.1K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dirty="0">
                          <a:solidFill>
                            <a:srgbClr val="000000">
                              <a:alpha val="100000"/>
                            </a:srgbClr>
                          </a:solidFill>
                          <a:latin typeface="Arial"/>
                          <a:cs typeface="Arial"/>
                          <a:sym typeface="Arial"/>
                        </a:rPr>
                        <a:t>1,824.3K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3,148.4K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4,789.4K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3"/>
                  </a:ext>
                </a:extLst>
              </a:tr>
              <a:tr h="228600">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Network Access Fee</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12.0K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24.0K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39.6K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60.0K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4"/>
                  </a:ext>
                </a:extLst>
              </a:tr>
              <a:tr h="228600">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Implementation Fee (One-Time)</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-150.0K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5"/>
                  </a:ext>
                </a:extLst>
              </a:tr>
              <a:tr h="228600">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Sales and Marketing Costs</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-180.0K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-180.0K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-180.0K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-180.0K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6"/>
                  </a:ext>
                </a:extLst>
              </a:tr>
              <a:tr h="228600">
                <a:tc>
                  <a:txBody>
                    <a:bodyPr/>
                    <a:lstStyle/>
                    <a:p>
                      <a:pPr marL="63500" marR="63500" algn="l">
                        <a:lnSpc>
                          <a:spcPct val="100000"/>
                        </a:lnSpc>
                        <a:spcBef>
                          <a:spcPts val="500"/>
                        </a:spcBef>
                        <a:spcAft>
                          <a:spcPts val="500"/>
                        </a:spcAft>
                        <a:buNone/>
                      </a:pPr>
                      <a:r>
                        <a:rPr sz="1000" b="1" i="0" u="none" cap="none">
                          <a:solidFill>
                            <a:srgbClr val="000000">
                              <a:alpha val="100000"/>
                            </a:srgbClr>
                          </a:solidFill>
                          <a:latin typeface="Arial"/>
                          <a:cs typeface="Arial"/>
                          <a:sym typeface="Arial"/>
                        </a:rPr>
                        <a:t>Net Margin Change</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1" i="0" u="none" cap="none">
                          <a:solidFill>
                            <a:srgbClr val="000000">
                              <a:alpha val="100000"/>
                            </a:srgbClr>
                          </a:solidFill>
                          <a:latin typeface="Arial"/>
                          <a:cs typeface="Arial"/>
                          <a:sym typeface="Arial"/>
                        </a:rPr>
                        <a:t>594.1K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1" i="0" u="none" cap="none">
                          <a:solidFill>
                            <a:srgbClr val="000000">
                              <a:alpha val="100000"/>
                            </a:srgbClr>
                          </a:solidFill>
                          <a:latin typeface="Arial"/>
                          <a:cs typeface="Arial"/>
                          <a:sym typeface="Arial"/>
                        </a:rPr>
                        <a:t>1,668.3K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1" i="0" u="none" cap="none">
                          <a:solidFill>
                            <a:srgbClr val="000000">
                              <a:alpha val="100000"/>
                            </a:srgbClr>
                          </a:solidFill>
                          <a:latin typeface="Arial"/>
                          <a:cs typeface="Arial"/>
                          <a:sym typeface="Arial"/>
                        </a:rPr>
                        <a:t>3,008.0K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1" i="0" u="none" cap="none" dirty="0">
                          <a:solidFill>
                            <a:srgbClr val="000000">
                              <a:alpha val="100000"/>
                            </a:srgbClr>
                          </a:solidFill>
                          <a:latin typeface="Arial"/>
                          <a:cs typeface="Arial"/>
                          <a:sym typeface="Arial"/>
                        </a:rPr>
                        <a:t>4,669.4K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7"/>
                  </a:ext>
                </a:extLst>
              </a:tr>
            </a:tbl>
          </a:graphicData>
        </a:graphic>
      </p:graphicFrame>
      <p:graphicFrame>
        <p:nvGraphicFramePr>
          <p:cNvPr id="5" name="Table 4"/>
          <p:cNvGraphicFramePr>
            <a:graphicFrameLocks noGrp="1"/>
          </p:cNvGraphicFramePr>
          <p:nvPr/>
        </p:nvGraphicFramePr>
        <p:xfrm>
          <a:off x="6135624" y="2286000"/>
          <a:ext cx="5943600" cy="2265680"/>
        </p:xfrm>
        <a:graphic>
          <a:graphicData uri="http://schemas.openxmlformats.org/drawingml/2006/table">
            <a:tbl>
              <a:tblPr/>
              <a:tblGrid>
                <a:gridCol w="2286000">
                  <a:extLst>
                    <a:ext uri="{9D8B030D-6E8A-4147-A177-3AD203B41FA5}">
                      <a16:colId xmlns:a16="http://schemas.microsoft.com/office/drawing/2014/main" val="20000"/>
                    </a:ext>
                  </a:extLst>
                </a:gridCol>
                <a:gridCol w="914400">
                  <a:extLst>
                    <a:ext uri="{9D8B030D-6E8A-4147-A177-3AD203B41FA5}">
                      <a16:colId xmlns:a16="http://schemas.microsoft.com/office/drawing/2014/main" val="20001"/>
                    </a:ext>
                  </a:extLst>
                </a:gridCol>
                <a:gridCol w="914400">
                  <a:extLst>
                    <a:ext uri="{9D8B030D-6E8A-4147-A177-3AD203B41FA5}">
                      <a16:colId xmlns:a16="http://schemas.microsoft.com/office/drawing/2014/main" val="20002"/>
                    </a:ext>
                  </a:extLst>
                </a:gridCol>
                <a:gridCol w="914400">
                  <a:extLst>
                    <a:ext uri="{9D8B030D-6E8A-4147-A177-3AD203B41FA5}">
                      <a16:colId xmlns:a16="http://schemas.microsoft.com/office/drawing/2014/main" val="20003"/>
                    </a:ext>
                  </a:extLst>
                </a:gridCol>
                <a:gridCol w="914400">
                  <a:extLst>
                    <a:ext uri="{9D8B030D-6E8A-4147-A177-3AD203B41FA5}">
                      <a16:colId xmlns:a16="http://schemas.microsoft.com/office/drawing/2014/main" val="20004"/>
                    </a:ext>
                  </a:extLst>
                </a:gridCol>
              </a:tblGrid>
              <a:tr h="228600">
                <a:tc gridSpan="5">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Arial"/>
                          <a:cs typeface="Arial"/>
                          <a:sym typeface="Arial"/>
                        </a:rPr>
                        <a:t>High Member Growth</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25400" cap="flat" cmpd="sng" algn="ctr">
                      <a:solidFill>
                        <a:srgbClr val="000000">
                          <a:alpha val="100000"/>
                        </a:srgbClr>
                      </a:solidFill>
                      <a:prstDash val="solid"/>
                    </a:lnT>
                    <a:lnB w="9525"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Arial"/>
                          <a:cs typeface="Arial"/>
                          <a:sym typeface="Arial"/>
                        </a:rPr>
                        <a:t>High Member Growth</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25400" cap="flat" cmpd="sng" algn="ctr">
                      <a:solidFill>
                        <a:srgbClr val="000000">
                          <a:alpha val="100000"/>
                        </a:srgbClr>
                      </a:solidFill>
                      <a:prstDash val="solid"/>
                    </a:lnT>
                    <a:lnB w="9525"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Arial"/>
                          <a:cs typeface="Arial"/>
                          <a:sym typeface="Arial"/>
                        </a:rPr>
                        <a:t>High Member Growth</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25400" cap="flat" cmpd="sng" algn="ctr">
                      <a:solidFill>
                        <a:srgbClr val="000000">
                          <a:alpha val="100000"/>
                        </a:srgbClr>
                      </a:solidFill>
                      <a:prstDash val="solid"/>
                    </a:lnT>
                    <a:lnB w="9525"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Arial"/>
                          <a:cs typeface="Arial"/>
                          <a:sym typeface="Arial"/>
                        </a:rPr>
                        <a:t>High Member Growth</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25400" cap="flat" cmpd="sng" algn="ctr">
                      <a:solidFill>
                        <a:srgbClr val="000000">
                          <a:alpha val="100000"/>
                        </a:srgbClr>
                      </a:solidFill>
                      <a:prstDash val="solid"/>
                    </a:lnT>
                    <a:lnB w="9525"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Arial"/>
                          <a:cs typeface="Arial"/>
                          <a:sym typeface="Arial"/>
                        </a:rPr>
                        <a:t>High Member Growth</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25400" cap="flat" cmpd="sng" algn="ctr">
                      <a:solidFill>
                        <a:srgbClr val="000000">
                          <a:alpha val="100000"/>
                        </a:srgbClr>
                      </a:solidFill>
                      <a:prstDash val="solid"/>
                    </a:lnT>
                    <a:lnB w="9525"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00"/>
                  </a:ext>
                </a:extLst>
              </a:tr>
              <a:tr h="228600">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Arial"/>
                          <a:cs typeface="Arial"/>
                          <a:sym typeface="Arial"/>
                        </a:rPr>
                        <a:t>Metric</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9525" cap="flat" cmpd="sng" algn="ctr">
                      <a:solidFill>
                        <a:srgbClr val="666666">
                          <a:alpha val="100000"/>
                        </a:srgbClr>
                      </a:solidFill>
                      <a:prstDash val="solid"/>
                    </a:lnT>
                    <a:lnB w="254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Arial"/>
                          <a:cs typeface="Arial"/>
                          <a:sym typeface="Arial"/>
                        </a:rPr>
                        <a:t>Year 1</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9525" cap="flat" cmpd="sng" algn="ctr">
                      <a:solidFill>
                        <a:srgbClr val="666666">
                          <a:alpha val="100000"/>
                        </a:srgbClr>
                      </a:solidFill>
                      <a:prstDash val="solid"/>
                    </a:lnT>
                    <a:lnB w="254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Arial"/>
                          <a:cs typeface="Arial"/>
                          <a:sym typeface="Arial"/>
                        </a:rPr>
                        <a:t>Year 2</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9525" cap="flat" cmpd="sng" algn="ctr">
                      <a:solidFill>
                        <a:srgbClr val="666666">
                          <a:alpha val="100000"/>
                        </a:srgbClr>
                      </a:solidFill>
                      <a:prstDash val="solid"/>
                    </a:lnT>
                    <a:lnB w="254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Arial"/>
                          <a:cs typeface="Arial"/>
                          <a:sym typeface="Arial"/>
                        </a:rPr>
                        <a:t>Year 3</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9525" cap="flat" cmpd="sng" algn="ctr">
                      <a:solidFill>
                        <a:srgbClr val="666666">
                          <a:alpha val="100000"/>
                        </a:srgbClr>
                      </a:solidFill>
                      <a:prstDash val="solid"/>
                    </a:lnT>
                    <a:lnB w="254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Arial"/>
                          <a:cs typeface="Arial"/>
                          <a:sym typeface="Arial"/>
                        </a:rPr>
                        <a:t>Year 4</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9525" cap="flat" cmpd="sng" algn="ctr">
                      <a:solidFill>
                        <a:srgbClr val="666666">
                          <a:alpha val="100000"/>
                        </a:srgbClr>
                      </a:solidFill>
                      <a:prstDash val="solid"/>
                    </a:lnT>
                    <a:lnB w="25400" cap="flat" cmpd="sng" algn="ctr">
                      <a:solidFill>
                        <a:srgbClr val="000000">
                          <a:alpha val="100000"/>
                        </a:srgbClr>
                      </a:solidFill>
                      <a:prstDash val="solid"/>
                    </a:lnB>
                    <a:solidFill>
                      <a:srgbClr val="FFFFFF">
                        <a:alpha val="0"/>
                      </a:srgbClr>
                    </a:solidFill>
                  </a:tcPr>
                </a:tc>
                <a:extLst>
                  <a:ext uri="{0D108BD9-81ED-4DB2-BD59-A6C34878D82A}">
                    <a16:rowId xmlns:a16="http://schemas.microsoft.com/office/drawing/2014/main" val="10001"/>
                  </a:ext>
                </a:extLst>
              </a:tr>
              <a:tr h="228600">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Number of Members</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1,300</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2,600</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4,400</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6,700</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2"/>
                  </a:ext>
                </a:extLst>
              </a:tr>
              <a:tr h="228600">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Incremental Margin</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1,185.8K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2,371.6K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4,197.9K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6,417.9K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3"/>
                  </a:ext>
                </a:extLst>
              </a:tr>
              <a:tr h="228600">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Network Access Fee</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15.6K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31.2K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52.8K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80.4K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4"/>
                  </a:ext>
                </a:extLst>
              </a:tr>
              <a:tr h="228600">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Implementation Fee (One-Time)</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-150.0K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5"/>
                  </a:ext>
                </a:extLst>
              </a:tr>
              <a:tr h="228600">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Sales and Marketing Costs</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-180.0K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-180.0K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-180.0K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-180.0K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6"/>
                  </a:ext>
                </a:extLst>
              </a:tr>
              <a:tr h="228600">
                <a:tc>
                  <a:txBody>
                    <a:bodyPr/>
                    <a:lstStyle/>
                    <a:p>
                      <a:pPr marL="63500" marR="63500" algn="l">
                        <a:lnSpc>
                          <a:spcPct val="100000"/>
                        </a:lnSpc>
                        <a:spcBef>
                          <a:spcPts val="500"/>
                        </a:spcBef>
                        <a:spcAft>
                          <a:spcPts val="500"/>
                        </a:spcAft>
                        <a:buNone/>
                      </a:pPr>
                      <a:r>
                        <a:rPr sz="1000" b="1" i="0" u="none" cap="none">
                          <a:solidFill>
                            <a:srgbClr val="000000">
                              <a:alpha val="100000"/>
                            </a:srgbClr>
                          </a:solidFill>
                          <a:latin typeface="Arial"/>
                          <a:cs typeface="Arial"/>
                          <a:sym typeface="Arial"/>
                        </a:rPr>
                        <a:t>Net Margin Change</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1" i="0" u="none" cap="none">
                          <a:solidFill>
                            <a:srgbClr val="000000">
                              <a:alpha val="100000"/>
                            </a:srgbClr>
                          </a:solidFill>
                          <a:latin typeface="Arial"/>
                          <a:cs typeface="Arial"/>
                          <a:sym typeface="Arial"/>
                        </a:rPr>
                        <a:t>871.4K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1" i="0" u="none" cap="none">
                          <a:solidFill>
                            <a:srgbClr val="000000">
                              <a:alpha val="100000"/>
                            </a:srgbClr>
                          </a:solidFill>
                          <a:latin typeface="Arial"/>
                          <a:cs typeface="Arial"/>
                          <a:sym typeface="Arial"/>
                        </a:rPr>
                        <a:t>2,222.8K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1" i="0" u="none" cap="none">
                          <a:solidFill>
                            <a:srgbClr val="000000">
                              <a:alpha val="100000"/>
                            </a:srgbClr>
                          </a:solidFill>
                          <a:latin typeface="Arial"/>
                          <a:cs typeface="Arial"/>
                          <a:sym typeface="Arial"/>
                        </a:rPr>
                        <a:t>4,070.7K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1" i="0" u="none" cap="none">
                          <a:solidFill>
                            <a:srgbClr val="000000">
                              <a:alpha val="100000"/>
                            </a:srgbClr>
                          </a:solidFill>
                          <a:latin typeface="Arial"/>
                          <a:cs typeface="Arial"/>
                          <a:sym typeface="Arial"/>
                        </a:rPr>
                        <a:t>6,318.3K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7"/>
                  </a:ext>
                </a:extLst>
              </a:tr>
            </a:tbl>
          </a:graphicData>
        </a:graphic>
      </p:graphicFrame>
      <p:graphicFrame>
        <p:nvGraphicFramePr>
          <p:cNvPr id="6" name="Table 5"/>
          <p:cNvGraphicFramePr>
            <a:graphicFrameLocks noGrp="1"/>
          </p:cNvGraphicFramePr>
          <p:nvPr/>
        </p:nvGraphicFramePr>
        <p:xfrm>
          <a:off x="6135624" y="4572000"/>
          <a:ext cx="5943600" cy="2265680"/>
        </p:xfrm>
        <a:graphic>
          <a:graphicData uri="http://schemas.openxmlformats.org/drawingml/2006/table">
            <a:tbl>
              <a:tblPr/>
              <a:tblGrid>
                <a:gridCol w="2286000">
                  <a:extLst>
                    <a:ext uri="{9D8B030D-6E8A-4147-A177-3AD203B41FA5}">
                      <a16:colId xmlns:a16="http://schemas.microsoft.com/office/drawing/2014/main" val="20000"/>
                    </a:ext>
                  </a:extLst>
                </a:gridCol>
                <a:gridCol w="914400">
                  <a:extLst>
                    <a:ext uri="{9D8B030D-6E8A-4147-A177-3AD203B41FA5}">
                      <a16:colId xmlns:a16="http://schemas.microsoft.com/office/drawing/2014/main" val="20001"/>
                    </a:ext>
                  </a:extLst>
                </a:gridCol>
                <a:gridCol w="914400">
                  <a:extLst>
                    <a:ext uri="{9D8B030D-6E8A-4147-A177-3AD203B41FA5}">
                      <a16:colId xmlns:a16="http://schemas.microsoft.com/office/drawing/2014/main" val="20002"/>
                    </a:ext>
                  </a:extLst>
                </a:gridCol>
                <a:gridCol w="914400">
                  <a:extLst>
                    <a:ext uri="{9D8B030D-6E8A-4147-A177-3AD203B41FA5}">
                      <a16:colId xmlns:a16="http://schemas.microsoft.com/office/drawing/2014/main" val="20003"/>
                    </a:ext>
                  </a:extLst>
                </a:gridCol>
                <a:gridCol w="914400">
                  <a:extLst>
                    <a:ext uri="{9D8B030D-6E8A-4147-A177-3AD203B41FA5}">
                      <a16:colId xmlns:a16="http://schemas.microsoft.com/office/drawing/2014/main" val="20004"/>
                    </a:ext>
                  </a:extLst>
                </a:gridCol>
              </a:tblGrid>
              <a:tr h="228600">
                <a:tc gridSpan="5">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Arial"/>
                          <a:cs typeface="Arial"/>
                          <a:sym typeface="Arial"/>
                        </a:rPr>
                        <a:t>Low Member Growth</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25400" cap="flat" cmpd="sng" algn="ctr">
                      <a:solidFill>
                        <a:srgbClr val="000000">
                          <a:alpha val="100000"/>
                        </a:srgbClr>
                      </a:solidFill>
                      <a:prstDash val="solid"/>
                    </a:lnT>
                    <a:lnB w="9525"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Arial"/>
                          <a:cs typeface="Arial"/>
                          <a:sym typeface="Arial"/>
                        </a:rPr>
                        <a:t>Low Member Growth</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25400" cap="flat" cmpd="sng" algn="ctr">
                      <a:solidFill>
                        <a:srgbClr val="000000">
                          <a:alpha val="100000"/>
                        </a:srgbClr>
                      </a:solidFill>
                      <a:prstDash val="solid"/>
                    </a:lnT>
                    <a:lnB w="9525"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Arial"/>
                          <a:cs typeface="Arial"/>
                          <a:sym typeface="Arial"/>
                        </a:rPr>
                        <a:t>Low Member Growth</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25400" cap="flat" cmpd="sng" algn="ctr">
                      <a:solidFill>
                        <a:srgbClr val="000000">
                          <a:alpha val="100000"/>
                        </a:srgbClr>
                      </a:solidFill>
                      <a:prstDash val="solid"/>
                    </a:lnT>
                    <a:lnB w="9525"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Arial"/>
                          <a:cs typeface="Arial"/>
                          <a:sym typeface="Arial"/>
                        </a:rPr>
                        <a:t>Low Member Growth</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25400" cap="flat" cmpd="sng" algn="ctr">
                      <a:solidFill>
                        <a:srgbClr val="000000">
                          <a:alpha val="100000"/>
                        </a:srgbClr>
                      </a:solidFill>
                      <a:prstDash val="solid"/>
                    </a:lnT>
                    <a:lnB w="9525"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Arial"/>
                          <a:cs typeface="Arial"/>
                          <a:sym typeface="Arial"/>
                        </a:rPr>
                        <a:t>Low Member Growth</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25400" cap="flat" cmpd="sng" algn="ctr">
                      <a:solidFill>
                        <a:srgbClr val="000000">
                          <a:alpha val="100000"/>
                        </a:srgbClr>
                      </a:solidFill>
                      <a:prstDash val="solid"/>
                    </a:lnT>
                    <a:lnB w="9525"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00"/>
                  </a:ext>
                </a:extLst>
              </a:tr>
              <a:tr h="228600">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Arial"/>
                          <a:cs typeface="Arial"/>
                          <a:sym typeface="Arial"/>
                        </a:rPr>
                        <a:t>Metric</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9525" cap="flat" cmpd="sng" algn="ctr">
                      <a:solidFill>
                        <a:srgbClr val="666666">
                          <a:alpha val="100000"/>
                        </a:srgbClr>
                      </a:solidFill>
                      <a:prstDash val="solid"/>
                    </a:lnT>
                    <a:lnB w="254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Arial"/>
                          <a:cs typeface="Arial"/>
                          <a:sym typeface="Arial"/>
                        </a:rPr>
                        <a:t>Year 1</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9525" cap="flat" cmpd="sng" algn="ctr">
                      <a:solidFill>
                        <a:srgbClr val="666666">
                          <a:alpha val="100000"/>
                        </a:srgbClr>
                      </a:solidFill>
                      <a:prstDash val="solid"/>
                    </a:lnT>
                    <a:lnB w="254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Arial"/>
                          <a:cs typeface="Arial"/>
                          <a:sym typeface="Arial"/>
                        </a:rPr>
                        <a:t>Year 2</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9525" cap="flat" cmpd="sng" algn="ctr">
                      <a:solidFill>
                        <a:srgbClr val="666666">
                          <a:alpha val="100000"/>
                        </a:srgbClr>
                      </a:solidFill>
                      <a:prstDash val="solid"/>
                    </a:lnT>
                    <a:lnB w="254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Arial"/>
                          <a:cs typeface="Arial"/>
                          <a:sym typeface="Arial"/>
                        </a:rPr>
                        <a:t>Year 3</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9525" cap="flat" cmpd="sng" algn="ctr">
                      <a:solidFill>
                        <a:srgbClr val="666666">
                          <a:alpha val="100000"/>
                        </a:srgbClr>
                      </a:solidFill>
                      <a:prstDash val="solid"/>
                    </a:lnT>
                    <a:lnB w="254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Arial"/>
                          <a:cs typeface="Arial"/>
                          <a:sym typeface="Arial"/>
                        </a:rPr>
                        <a:t>Year 4</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9525" cap="flat" cmpd="sng" algn="ctr">
                      <a:solidFill>
                        <a:srgbClr val="666666">
                          <a:alpha val="100000"/>
                        </a:srgbClr>
                      </a:solidFill>
                      <a:prstDash val="solid"/>
                    </a:lnT>
                    <a:lnB w="25400" cap="flat" cmpd="sng" algn="ctr">
                      <a:solidFill>
                        <a:srgbClr val="000000">
                          <a:alpha val="100000"/>
                        </a:srgbClr>
                      </a:solidFill>
                      <a:prstDash val="solid"/>
                    </a:lnB>
                    <a:solidFill>
                      <a:srgbClr val="FFFFFF">
                        <a:alpha val="0"/>
                      </a:srgbClr>
                    </a:solidFill>
                  </a:tcPr>
                </a:tc>
                <a:extLst>
                  <a:ext uri="{0D108BD9-81ED-4DB2-BD59-A6C34878D82A}">
                    <a16:rowId xmlns:a16="http://schemas.microsoft.com/office/drawing/2014/main" val="10001"/>
                  </a:ext>
                </a:extLst>
              </a:tr>
              <a:tr h="228600">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Number of Members</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700</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1,300</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2,200</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3,300</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2"/>
                  </a:ext>
                </a:extLst>
              </a:tr>
              <a:tr h="228600">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Incremental Margin</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638.5K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1,185.8K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2,099.0K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3,161.0K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3"/>
                  </a:ext>
                </a:extLst>
              </a:tr>
              <a:tr h="228600">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Network Access Fee</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8.4K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15.6K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26.4K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39.6K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4"/>
                  </a:ext>
                </a:extLst>
              </a:tr>
              <a:tr h="228600">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Implementation Fee (One-Time)</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-150.0K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5"/>
                  </a:ext>
                </a:extLst>
              </a:tr>
              <a:tr h="228600">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Sales and Marketing Costs</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-180.0K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-180.0K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-180.0K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-180.0K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6"/>
                  </a:ext>
                </a:extLst>
              </a:tr>
              <a:tr h="228600">
                <a:tc>
                  <a:txBody>
                    <a:bodyPr/>
                    <a:lstStyle/>
                    <a:p>
                      <a:pPr marL="63500" marR="63500" algn="l">
                        <a:lnSpc>
                          <a:spcPct val="100000"/>
                        </a:lnSpc>
                        <a:spcBef>
                          <a:spcPts val="500"/>
                        </a:spcBef>
                        <a:spcAft>
                          <a:spcPts val="500"/>
                        </a:spcAft>
                        <a:buNone/>
                      </a:pPr>
                      <a:r>
                        <a:rPr sz="1000" b="1" i="0" u="none" cap="none">
                          <a:solidFill>
                            <a:srgbClr val="000000">
                              <a:alpha val="100000"/>
                            </a:srgbClr>
                          </a:solidFill>
                          <a:latin typeface="Arial"/>
                          <a:cs typeface="Arial"/>
                          <a:sym typeface="Arial"/>
                        </a:rPr>
                        <a:t>Net Margin Change</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1" i="0" u="none" cap="none">
                          <a:solidFill>
                            <a:srgbClr val="000000">
                              <a:alpha val="100000"/>
                            </a:srgbClr>
                          </a:solidFill>
                          <a:latin typeface="Arial"/>
                          <a:cs typeface="Arial"/>
                          <a:sym typeface="Arial"/>
                        </a:rPr>
                        <a:t>316.9K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1" i="0" u="none" cap="none">
                          <a:solidFill>
                            <a:srgbClr val="000000">
                              <a:alpha val="100000"/>
                            </a:srgbClr>
                          </a:solidFill>
                          <a:latin typeface="Arial"/>
                          <a:cs typeface="Arial"/>
                          <a:sym typeface="Arial"/>
                        </a:rPr>
                        <a:t>1,021.4K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1" i="0" u="none" cap="none">
                          <a:solidFill>
                            <a:srgbClr val="000000">
                              <a:alpha val="100000"/>
                            </a:srgbClr>
                          </a:solidFill>
                          <a:latin typeface="Arial"/>
                          <a:cs typeface="Arial"/>
                          <a:sym typeface="Arial"/>
                        </a:rPr>
                        <a:t>1,945.4K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1" i="0" u="none" cap="none">
                          <a:solidFill>
                            <a:srgbClr val="000000">
                              <a:alpha val="100000"/>
                            </a:srgbClr>
                          </a:solidFill>
                          <a:latin typeface="Arial"/>
                          <a:cs typeface="Arial"/>
                          <a:sym typeface="Arial"/>
                        </a:rPr>
                        <a:t>3,020.6K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7"/>
                  </a:ext>
                </a:extLst>
              </a:tr>
            </a:tbl>
          </a:graphicData>
        </a:graphic>
      </p:graphicFrame>
      <p:pic>
        <p:nvPicPr>
          <p:cNvPr id="7" name="Content Placeholder 6"/>
          <p:cNvPicPr>
            <a:picLocks noGrp="1"/>
          </p:cNvPicPr>
          <p:nvPr>
            <p:ph/>
          </p:nvPr>
        </p:nvPicPr>
        <p:blipFill>
          <a:blip r:embed="rId2" cstate="print"/>
          <a:stretch>
            <a:fillRect/>
          </a:stretch>
        </p:blipFill>
        <p:spPr>
          <a:xfrm>
            <a:off x="1179576" y="0"/>
            <a:ext cx="4572000" cy="6858000"/>
          </a:xfrm>
          <a:prstGeom prst="rect">
            <a:avLst/>
          </a:prstGeom>
        </p:spPr>
      </p:pic>
    </p:spTree>
    <p:extLst>
      <p:ext uri="{BB962C8B-B14F-4D97-AF65-F5344CB8AC3E}">
        <p14:creationId xmlns:p14="http://schemas.microsoft.com/office/powerpoint/2010/main" val="31579458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4">
            <a:extLst>
              <a:ext uri="{FF2B5EF4-FFF2-40B4-BE49-F238E27FC236}">
                <a16:creationId xmlns:a16="http://schemas.microsoft.com/office/drawing/2014/main" id="{B1584104-3166-4FA8-92FB-C6ABEB17DCED}"/>
              </a:ext>
            </a:extLst>
          </p:cNvPr>
          <p:cNvSpPr/>
          <p:nvPr/>
        </p:nvSpPr>
        <p:spPr>
          <a:xfrm>
            <a:off x="0" y="0"/>
            <a:ext cx="978408" cy="685800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 name="Footer Placeholder 2">
            <a:extLst>
              <a:ext uri="{FF2B5EF4-FFF2-40B4-BE49-F238E27FC236}">
                <a16:creationId xmlns:a16="http://schemas.microsoft.com/office/drawing/2014/main" id="{7BDF93BA-77DA-4714-87BA-6C1545215CCF}"/>
              </a:ext>
            </a:extLst>
          </p:cNvPr>
          <p:cNvSpPr>
            <a:spLocks noGrp="1"/>
          </p:cNvSpPr>
          <p:nvPr>
            <p:ph type="ftr" sz="quarter" idx="11"/>
          </p:nvPr>
        </p:nvSpPr>
        <p:spPr>
          <a:xfrm>
            <a:off x="5902199" y="6465009"/>
            <a:ext cx="4114800" cy="365125"/>
          </a:xfrm>
        </p:spPr>
        <p:txBody>
          <a:bodyPr/>
          <a:lstStyle/>
          <a:p>
            <a:r>
              <a:rPr lang="en-US" dirty="0"/>
              <a:t>Key Benefit Administrators</a:t>
            </a:r>
          </a:p>
        </p:txBody>
      </p:sp>
      <p:sp>
        <p:nvSpPr>
          <p:cNvPr id="4" name="Slide Number Placeholder 3">
            <a:extLst>
              <a:ext uri="{FF2B5EF4-FFF2-40B4-BE49-F238E27FC236}">
                <a16:creationId xmlns:a16="http://schemas.microsoft.com/office/drawing/2014/main" id="{E912CE32-70CB-45CC-841F-9F408BFEE51E}"/>
              </a:ext>
            </a:extLst>
          </p:cNvPr>
          <p:cNvSpPr>
            <a:spLocks noGrp="1"/>
          </p:cNvSpPr>
          <p:nvPr>
            <p:ph type="sldNum" sz="quarter" idx="12"/>
          </p:nvPr>
        </p:nvSpPr>
        <p:spPr/>
        <p:txBody>
          <a:bodyPr/>
          <a:lstStyle/>
          <a:p>
            <a:fld id="{3AFC719D-C4A7-4544-876E-D411D11AF6C9}" type="slidenum">
              <a:rPr lang="en-US" smtClean="0"/>
              <a:t>15</a:t>
            </a:fld>
            <a:endParaRPr lang="en-US" dirty="0"/>
          </a:p>
        </p:txBody>
      </p:sp>
      <p:sp>
        <p:nvSpPr>
          <p:cNvPr id="5" name="Rectangle 6">
            <a:extLst>
              <a:ext uri="{FF2B5EF4-FFF2-40B4-BE49-F238E27FC236}">
                <a16:creationId xmlns:a16="http://schemas.microsoft.com/office/drawing/2014/main" id="{16B699B2-0ED4-420C-8D6A-E40BF532CD0F}"/>
              </a:ext>
            </a:extLst>
          </p:cNvPr>
          <p:cNvSpPr/>
          <p:nvPr/>
        </p:nvSpPr>
        <p:spPr>
          <a:xfrm>
            <a:off x="0" y="-27866"/>
            <a:ext cx="978408" cy="6858000"/>
          </a:xfrm>
          <a:prstGeom prst="rect">
            <a:avLst/>
          </a:prstGeom>
          <a:solidFill>
            <a:srgbClr val="254F96">
              <a:alpha val="86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Title 1">
            <a:extLst>
              <a:ext uri="{FF2B5EF4-FFF2-40B4-BE49-F238E27FC236}">
                <a16:creationId xmlns:a16="http://schemas.microsoft.com/office/drawing/2014/main" id="{11A9C655-FF92-49E3-BB7D-E5BBC008C671}"/>
              </a:ext>
            </a:extLst>
          </p:cNvPr>
          <p:cNvSpPr>
            <a:spLocks noGrp="1"/>
          </p:cNvSpPr>
          <p:nvPr>
            <p:ph type="title"/>
          </p:nvPr>
        </p:nvSpPr>
        <p:spPr>
          <a:xfrm rot="16200000">
            <a:off x="-2925863" y="3039046"/>
            <a:ext cx="6830137" cy="752041"/>
          </a:xfrm>
        </p:spPr>
        <p:txBody>
          <a:bodyPr>
            <a:noAutofit/>
          </a:bodyPr>
          <a:lstStyle/>
          <a:p>
            <a:pPr algn="ctr">
              <a:lnSpc>
                <a:spcPct val="100000"/>
              </a:lnSpc>
              <a:spcBef>
                <a:spcPts val="600"/>
              </a:spcBef>
            </a:pPr>
            <a:r>
              <a:rPr lang="en-US" b="0" dirty="0">
                <a:solidFill>
                  <a:schemeClr val="bg1"/>
                </a:solidFill>
                <a:latin typeface="Garamond" panose="02020404030301010803" pitchFamily="18" charset="0"/>
              </a:rPr>
              <a:t>SINGLE YEAR SUMMARY</a:t>
            </a:r>
          </a:p>
        </p:txBody>
      </p:sp>
      <p:graphicFrame>
        <p:nvGraphicFramePr>
          <p:cNvPr id="8" name="Table 7"/>
          <p:cNvGraphicFramePr>
            <a:graphicFrameLocks noGrp="1"/>
          </p:cNvGraphicFramePr>
          <p:nvPr>
            <p:extLst>
              <p:ext uri="{D42A27DB-BD31-4B8C-83A1-F6EECF244321}">
                <p14:modId xmlns:p14="http://schemas.microsoft.com/office/powerpoint/2010/main" val="2007901847"/>
              </p:ext>
            </p:extLst>
          </p:nvPr>
        </p:nvGraphicFramePr>
        <p:xfrm>
          <a:off x="2176272" y="1146214"/>
          <a:ext cx="9052560" cy="4511040"/>
        </p:xfrm>
        <a:graphic>
          <a:graphicData uri="http://schemas.openxmlformats.org/drawingml/2006/table">
            <a:tbl>
              <a:tblPr/>
              <a:tblGrid>
                <a:gridCol w="1371600">
                  <a:extLst>
                    <a:ext uri="{9D8B030D-6E8A-4147-A177-3AD203B41FA5}">
                      <a16:colId xmlns:a16="http://schemas.microsoft.com/office/drawing/2014/main" val="20000"/>
                    </a:ext>
                  </a:extLst>
                </a:gridCol>
                <a:gridCol w="1097280">
                  <a:extLst>
                    <a:ext uri="{9D8B030D-6E8A-4147-A177-3AD203B41FA5}">
                      <a16:colId xmlns:a16="http://schemas.microsoft.com/office/drawing/2014/main" val="20001"/>
                    </a:ext>
                  </a:extLst>
                </a:gridCol>
                <a:gridCol w="1097280">
                  <a:extLst>
                    <a:ext uri="{9D8B030D-6E8A-4147-A177-3AD203B41FA5}">
                      <a16:colId xmlns:a16="http://schemas.microsoft.com/office/drawing/2014/main" val="20002"/>
                    </a:ext>
                  </a:extLst>
                </a:gridCol>
                <a:gridCol w="1097280">
                  <a:extLst>
                    <a:ext uri="{9D8B030D-6E8A-4147-A177-3AD203B41FA5}">
                      <a16:colId xmlns:a16="http://schemas.microsoft.com/office/drawing/2014/main" val="20003"/>
                    </a:ext>
                  </a:extLst>
                </a:gridCol>
                <a:gridCol w="1097280">
                  <a:extLst>
                    <a:ext uri="{9D8B030D-6E8A-4147-A177-3AD203B41FA5}">
                      <a16:colId xmlns:a16="http://schemas.microsoft.com/office/drawing/2014/main" val="20004"/>
                    </a:ext>
                  </a:extLst>
                </a:gridCol>
                <a:gridCol w="1097280">
                  <a:extLst>
                    <a:ext uri="{9D8B030D-6E8A-4147-A177-3AD203B41FA5}">
                      <a16:colId xmlns:a16="http://schemas.microsoft.com/office/drawing/2014/main" val="20005"/>
                    </a:ext>
                  </a:extLst>
                </a:gridCol>
                <a:gridCol w="1097280">
                  <a:extLst>
                    <a:ext uri="{9D8B030D-6E8A-4147-A177-3AD203B41FA5}">
                      <a16:colId xmlns:a16="http://schemas.microsoft.com/office/drawing/2014/main" val="20006"/>
                    </a:ext>
                  </a:extLst>
                </a:gridCol>
                <a:gridCol w="1097280">
                  <a:extLst>
                    <a:ext uri="{9D8B030D-6E8A-4147-A177-3AD203B41FA5}">
                      <a16:colId xmlns:a16="http://schemas.microsoft.com/office/drawing/2014/main" val="20007"/>
                    </a:ext>
                  </a:extLst>
                </a:gridCol>
              </a:tblGrid>
              <a:tr h="0">
                <a:tc gridSpan="8">
                  <a:txBody>
                    <a:bodyPr/>
                    <a:lstStyle/>
                    <a:p>
                      <a:pPr marL="127000" marR="127000" algn="l">
                        <a:lnSpc>
                          <a:spcPct val="100000"/>
                        </a:lnSpc>
                        <a:spcBef>
                          <a:spcPts val="1000"/>
                        </a:spcBef>
                        <a:spcAft>
                          <a:spcPts val="1000"/>
                        </a:spcAft>
                        <a:buNone/>
                      </a:pPr>
                      <a:r>
                        <a:rPr sz="2800" b="1" i="0" u="none" cap="none" dirty="0">
                          <a:solidFill>
                            <a:srgbClr val="FFFFFF">
                              <a:alpha val="100000"/>
                            </a:srgbClr>
                          </a:solidFill>
                          <a:latin typeface="Garamond" panose="02020404030301010803" pitchFamily="18" charset="0"/>
                          <a:cs typeface="Arial"/>
                          <a:sym typeface="Arial"/>
                        </a:rPr>
                        <a:t>DTE Covered Members Financial Analysis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tc hMerge="1">
                  <a:txBody>
                    <a:bodyPr/>
                    <a:lstStyle/>
                    <a:p>
                      <a:pPr marL="127000" marR="127000" algn="l">
                        <a:lnSpc>
                          <a:spcPct val="100000"/>
                        </a:lnSpc>
                        <a:spcBef>
                          <a:spcPts val="1000"/>
                        </a:spcBef>
                        <a:spcAft>
                          <a:spcPts val="1000"/>
                        </a:spcAft>
                        <a:buNone/>
                      </a:pPr>
                      <a:r>
                        <a:rPr sz="2000" b="1" i="0" u="none" cap="none">
                          <a:solidFill>
                            <a:srgbClr val="FFFFFF">
                              <a:alpha val="100000"/>
                            </a:srgbClr>
                          </a:solidFill>
                          <a:latin typeface="Arial"/>
                          <a:cs typeface="Arial"/>
                          <a:sym typeface="Arial"/>
                        </a:rPr>
                        <a:t>DTE Covered Members Financial Analysis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tc hMerge="1">
                  <a:txBody>
                    <a:bodyPr/>
                    <a:lstStyle/>
                    <a:p>
                      <a:pPr marL="127000" marR="127000" algn="l">
                        <a:lnSpc>
                          <a:spcPct val="100000"/>
                        </a:lnSpc>
                        <a:spcBef>
                          <a:spcPts val="1000"/>
                        </a:spcBef>
                        <a:spcAft>
                          <a:spcPts val="1000"/>
                        </a:spcAft>
                        <a:buNone/>
                      </a:pPr>
                      <a:r>
                        <a:rPr sz="2000" b="1" i="0" u="none" cap="none">
                          <a:solidFill>
                            <a:srgbClr val="FFFFFF">
                              <a:alpha val="100000"/>
                            </a:srgbClr>
                          </a:solidFill>
                          <a:latin typeface="Arial"/>
                          <a:cs typeface="Arial"/>
                          <a:sym typeface="Arial"/>
                        </a:rPr>
                        <a:t>DTE Covered Members Financial Analysis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tc hMerge="1">
                  <a:txBody>
                    <a:bodyPr/>
                    <a:lstStyle/>
                    <a:p>
                      <a:pPr marL="127000" marR="127000" algn="l">
                        <a:lnSpc>
                          <a:spcPct val="100000"/>
                        </a:lnSpc>
                        <a:spcBef>
                          <a:spcPts val="1000"/>
                        </a:spcBef>
                        <a:spcAft>
                          <a:spcPts val="1000"/>
                        </a:spcAft>
                        <a:buNone/>
                      </a:pPr>
                      <a:r>
                        <a:rPr sz="2000" b="1" i="0" u="none" cap="none">
                          <a:solidFill>
                            <a:srgbClr val="FFFFFF">
                              <a:alpha val="100000"/>
                            </a:srgbClr>
                          </a:solidFill>
                          <a:latin typeface="Arial"/>
                          <a:cs typeface="Arial"/>
                          <a:sym typeface="Arial"/>
                        </a:rPr>
                        <a:t>DTE Covered Members Financial Analysis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tc hMerge="1">
                  <a:txBody>
                    <a:bodyPr/>
                    <a:lstStyle/>
                    <a:p>
                      <a:pPr marL="127000" marR="127000" algn="l">
                        <a:lnSpc>
                          <a:spcPct val="100000"/>
                        </a:lnSpc>
                        <a:spcBef>
                          <a:spcPts val="1000"/>
                        </a:spcBef>
                        <a:spcAft>
                          <a:spcPts val="1000"/>
                        </a:spcAft>
                        <a:buNone/>
                      </a:pPr>
                      <a:r>
                        <a:rPr sz="2000" b="1" i="0" u="none" cap="none">
                          <a:solidFill>
                            <a:srgbClr val="FFFFFF">
                              <a:alpha val="100000"/>
                            </a:srgbClr>
                          </a:solidFill>
                          <a:latin typeface="Arial"/>
                          <a:cs typeface="Arial"/>
                          <a:sym typeface="Arial"/>
                        </a:rPr>
                        <a:t>DTE Covered Members Financial Analysis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tc hMerge="1">
                  <a:txBody>
                    <a:bodyPr/>
                    <a:lstStyle/>
                    <a:p>
                      <a:pPr marL="127000" marR="127000" algn="l">
                        <a:lnSpc>
                          <a:spcPct val="100000"/>
                        </a:lnSpc>
                        <a:spcBef>
                          <a:spcPts val="1000"/>
                        </a:spcBef>
                        <a:spcAft>
                          <a:spcPts val="1000"/>
                        </a:spcAft>
                        <a:buNone/>
                      </a:pPr>
                      <a:r>
                        <a:rPr sz="2000" b="1" i="0" u="none" cap="none">
                          <a:solidFill>
                            <a:srgbClr val="FFFFFF">
                              <a:alpha val="100000"/>
                            </a:srgbClr>
                          </a:solidFill>
                          <a:latin typeface="Arial"/>
                          <a:cs typeface="Arial"/>
                          <a:sym typeface="Arial"/>
                        </a:rPr>
                        <a:t>DTE Covered Members Financial Analysis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tc hMerge="1">
                  <a:txBody>
                    <a:bodyPr/>
                    <a:lstStyle/>
                    <a:p>
                      <a:pPr marL="127000" marR="127000" algn="l">
                        <a:lnSpc>
                          <a:spcPct val="100000"/>
                        </a:lnSpc>
                        <a:spcBef>
                          <a:spcPts val="1000"/>
                        </a:spcBef>
                        <a:spcAft>
                          <a:spcPts val="1000"/>
                        </a:spcAft>
                        <a:buNone/>
                      </a:pPr>
                      <a:r>
                        <a:rPr sz="2000" b="1" i="0" u="none" cap="none">
                          <a:solidFill>
                            <a:srgbClr val="FFFFFF">
                              <a:alpha val="100000"/>
                            </a:srgbClr>
                          </a:solidFill>
                          <a:latin typeface="Arial"/>
                          <a:cs typeface="Arial"/>
                          <a:sym typeface="Arial"/>
                        </a:rPr>
                        <a:t>DTE Covered Members Financial Analysis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tc hMerge="1">
                  <a:txBody>
                    <a:bodyPr/>
                    <a:lstStyle/>
                    <a:p>
                      <a:pPr marL="127000" marR="127000" algn="l">
                        <a:lnSpc>
                          <a:spcPct val="100000"/>
                        </a:lnSpc>
                        <a:spcBef>
                          <a:spcPts val="1000"/>
                        </a:spcBef>
                        <a:spcAft>
                          <a:spcPts val="1000"/>
                        </a:spcAft>
                        <a:buNone/>
                      </a:pPr>
                      <a:r>
                        <a:rPr sz="2000" b="1" i="0" u="none" cap="none">
                          <a:solidFill>
                            <a:srgbClr val="FFFFFF">
                              <a:alpha val="100000"/>
                            </a:srgbClr>
                          </a:solidFill>
                          <a:latin typeface="Arial"/>
                          <a:cs typeface="Arial"/>
                          <a:sym typeface="Arial"/>
                        </a:rPr>
                        <a:t>DTE Covered Members Financial Analysis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extLst>
                  <a:ext uri="{0D108BD9-81ED-4DB2-BD59-A6C34878D82A}">
                    <a16:rowId xmlns:a16="http://schemas.microsoft.com/office/drawing/2014/main" val="10000"/>
                  </a:ext>
                </a:extLst>
              </a:tr>
              <a:tr h="0">
                <a:tc gridSpan="8">
                  <a:txBody>
                    <a:bodyPr/>
                    <a:lstStyle/>
                    <a:p>
                      <a:pPr marL="127000" marR="127000" algn="l">
                        <a:lnSpc>
                          <a:spcPct val="100000"/>
                        </a:lnSpc>
                        <a:spcBef>
                          <a:spcPts val="1000"/>
                        </a:spcBef>
                        <a:spcAft>
                          <a:spcPts val="1000"/>
                        </a:spcAft>
                        <a:buNone/>
                      </a:pPr>
                      <a:r>
                        <a:rPr sz="1600" b="1" i="0" u="none" cap="none" dirty="0">
                          <a:solidFill>
                            <a:srgbClr val="FFFFFF">
                              <a:alpha val="100000"/>
                            </a:srgbClr>
                          </a:solidFill>
                          <a:latin typeface="Garamond" panose="02020404030301010803" pitchFamily="18" charset="0"/>
                          <a:cs typeface="Arial"/>
                          <a:sym typeface="Arial"/>
                        </a:rPr>
                        <a:t>Target Estimate Assuming 85%+ Within-Plan Steerage and a Commercial Margin of 12%.</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tc hMerge="1">
                  <a:txBody>
                    <a:bodyPr/>
                    <a:lstStyle/>
                    <a:p>
                      <a:pPr marL="127000" marR="127000" algn="l">
                        <a:lnSpc>
                          <a:spcPct val="100000"/>
                        </a:lnSpc>
                        <a:spcBef>
                          <a:spcPts val="1000"/>
                        </a:spcBef>
                        <a:spcAft>
                          <a:spcPts val="1000"/>
                        </a:spcAft>
                        <a:buNone/>
                      </a:pPr>
                      <a:r>
                        <a:rPr sz="1400" b="1" i="0" u="none" cap="none">
                          <a:solidFill>
                            <a:srgbClr val="FFFFFF">
                              <a:alpha val="100000"/>
                            </a:srgbClr>
                          </a:solidFill>
                          <a:latin typeface="Arial"/>
                          <a:cs typeface="Arial"/>
                          <a:sym typeface="Arial"/>
                        </a:rPr>
                        <a:t>Target Estimate Assuming 85%+ Within-Plan Steerage and a Commercial Margin of 12%.</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tc hMerge="1">
                  <a:txBody>
                    <a:bodyPr/>
                    <a:lstStyle/>
                    <a:p>
                      <a:pPr marL="127000" marR="127000" algn="l">
                        <a:lnSpc>
                          <a:spcPct val="100000"/>
                        </a:lnSpc>
                        <a:spcBef>
                          <a:spcPts val="1000"/>
                        </a:spcBef>
                        <a:spcAft>
                          <a:spcPts val="1000"/>
                        </a:spcAft>
                        <a:buNone/>
                      </a:pPr>
                      <a:r>
                        <a:rPr sz="1400" b="1" i="0" u="none" cap="none">
                          <a:solidFill>
                            <a:srgbClr val="FFFFFF">
                              <a:alpha val="100000"/>
                            </a:srgbClr>
                          </a:solidFill>
                          <a:latin typeface="Arial"/>
                          <a:cs typeface="Arial"/>
                          <a:sym typeface="Arial"/>
                        </a:rPr>
                        <a:t>Target Estimate Assuming 85%+ Within-Plan Steerage and a Commercial Margin of 12%.</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tc hMerge="1">
                  <a:txBody>
                    <a:bodyPr/>
                    <a:lstStyle/>
                    <a:p>
                      <a:pPr marL="127000" marR="127000" algn="l">
                        <a:lnSpc>
                          <a:spcPct val="100000"/>
                        </a:lnSpc>
                        <a:spcBef>
                          <a:spcPts val="1000"/>
                        </a:spcBef>
                        <a:spcAft>
                          <a:spcPts val="1000"/>
                        </a:spcAft>
                        <a:buNone/>
                      </a:pPr>
                      <a:r>
                        <a:rPr sz="1400" b="1" i="0" u="none" cap="none">
                          <a:solidFill>
                            <a:srgbClr val="FFFFFF">
                              <a:alpha val="100000"/>
                            </a:srgbClr>
                          </a:solidFill>
                          <a:latin typeface="Arial"/>
                          <a:cs typeface="Arial"/>
                          <a:sym typeface="Arial"/>
                        </a:rPr>
                        <a:t>Target Estimate Assuming 85%+ Within-Plan Steerage and a Commercial Margin of 12%.</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tc hMerge="1">
                  <a:txBody>
                    <a:bodyPr/>
                    <a:lstStyle/>
                    <a:p>
                      <a:pPr marL="127000" marR="127000" algn="l">
                        <a:lnSpc>
                          <a:spcPct val="100000"/>
                        </a:lnSpc>
                        <a:spcBef>
                          <a:spcPts val="1000"/>
                        </a:spcBef>
                        <a:spcAft>
                          <a:spcPts val="1000"/>
                        </a:spcAft>
                        <a:buNone/>
                      </a:pPr>
                      <a:r>
                        <a:rPr sz="1400" b="1" i="0" u="none" cap="none">
                          <a:solidFill>
                            <a:srgbClr val="FFFFFF">
                              <a:alpha val="100000"/>
                            </a:srgbClr>
                          </a:solidFill>
                          <a:latin typeface="Arial"/>
                          <a:cs typeface="Arial"/>
                          <a:sym typeface="Arial"/>
                        </a:rPr>
                        <a:t>Target Estimate Assuming 85%+ Within-Plan Steerage and a Commercial Margin of 12%.</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tc hMerge="1">
                  <a:txBody>
                    <a:bodyPr/>
                    <a:lstStyle/>
                    <a:p>
                      <a:pPr marL="127000" marR="127000" algn="l">
                        <a:lnSpc>
                          <a:spcPct val="100000"/>
                        </a:lnSpc>
                        <a:spcBef>
                          <a:spcPts val="1000"/>
                        </a:spcBef>
                        <a:spcAft>
                          <a:spcPts val="1000"/>
                        </a:spcAft>
                        <a:buNone/>
                      </a:pPr>
                      <a:r>
                        <a:rPr sz="1400" b="1" i="0" u="none" cap="none">
                          <a:solidFill>
                            <a:srgbClr val="FFFFFF">
                              <a:alpha val="100000"/>
                            </a:srgbClr>
                          </a:solidFill>
                          <a:latin typeface="Arial"/>
                          <a:cs typeface="Arial"/>
                          <a:sym typeface="Arial"/>
                        </a:rPr>
                        <a:t>Target Estimate Assuming 85%+ Within-Plan Steerage and a Commercial Margin of 12%.</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tc hMerge="1">
                  <a:txBody>
                    <a:bodyPr/>
                    <a:lstStyle/>
                    <a:p>
                      <a:pPr marL="127000" marR="127000" algn="l">
                        <a:lnSpc>
                          <a:spcPct val="100000"/>
                        </a:lnSpc>
                        <a:spcBef>
                          <a:spcPts val="1000"/>
                        </a:spcBef>
                        <a:spcAft>
                          <a:spcPts val="1000"/>
                        </a:spcAft>
                        <a:buNone/>
                      </a:pPr>
                      <a:r>
                        <a:rPr sz="1400" b="1" i="0" u="none" cap="none">
                          <a:solidFill>
                            <a:srgbClr val="FFFFFF">
                              <a:alpha val="100000"/>
                            </a:srgbClr>
                          </a:solidFill>
                          <a:latin typeface="Arial"/>
                          <a:cs typeface="Arial"/>
                          <a:sym typeface="Arial"/>
                        </a:rPr>
                        <a:t>Target Estimate Assuming 85%+ Within-Plan Steerage and a Commercial Margin of 12%.</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tc hMerge="1">
                  <a:txBody>
                    <a:bodyPr/>
                    <a:lstStyle/>
                    <a:p>
                      <a:pPr marL="127000" marR="127000" algn="l">
                        <a:lnSpc>
                          <a:spcPct val="100000"/>
                        </a:lnSpc>
                        <a:spcBef>
                          <a:spcPts val="1000"/>
                        </a:spcBef>
                        <a:spcAft>
                          <a:spcPts val="1000"/>
                        </a:spcAft>
                        <a:buNone/>
                      </a:pPr>
                      <a:r>
                        <a:rPr sz="1400" b="1" i="0" u="none" cap="none">
                          <a:solidFill>
                            <a:srgbClr val="FFFFFF">
                              <a:alpha val="100000"/>
                            </a:srgbClr>
                          </a:solidFill>
                          <a:latin typeface="Arial"/>
                          <a:cs typeface="Arial"/>
                          <a:sym typeface="Arial"/>
                        </a:rPr>
                        <a:t>Target Estimate Assuming 85%+ Within-Plan Steerage and a Commercial Margin of 12%.</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extLst>
                  <a:ext uri="{0D108BD9-81ED-4DB2-BD59-A6C34878D82A}">
                    <a16:rowId xmlns:a16="http://schemas.microsoft.com/office/drawing/2014/main" val="10001"/>
                  </a:ext>
                </a:extLst>
              </a:tr>
              <a:tr h="0">
                <a:tc>
                  <a:txBody>
                    <a:bodyPr/>
                    <a:lstStyle/>
                    <a:p>
                      <a:pPr marL="127000" marR="127000" algn="ctr">
                        <a:lnSpc>
                          <a:spcPct val="100000"/>
                        </a:lnSpc>
                        <a:spcBef>
                          <a:spcPts val="1000"/>
                        </a:spcBef>
                        <a:spcAft>
                          <a:spcPts val="1000"/>
                        </a:spcAft>
                        <a:buNone/>
                      </a:pPr>
                      <a:r>
                        <a:rPr sz="1200" b="1" i="0" u="none" cap="none">
                          <a:solidFill>
                            <a:srgbClr val="000000">
                              <a:alpha val="100000"/>
                            </a:srgbClr>
                          </a:solidFill>
                          <a:latin typeface="Arial"/>
                          <a:cs typeface="Arial"/>
                          <a:sym typeface="Arial"/>
                        </a:rPr>
                        <a:t>DTE Members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127000" marR="127000" algn="ctr">
                        <a:lnSpc>
                          <a:spcPct val="100000"/>
                        </a:lnSpc>
                        <a:spcBef>
                          <a:spcPts val="1000"/>
                        </a:spcBef>
                        <a:spcAft>
                          <a:spcPts val="1000"/>
                        </a:spcAft>
                        <a:buNone/>
                      </a:pPr>
                      <a:r>
                        <a:rPr sz="1200" b="1" i="0" u="none" cap="none">
                          <a:solidFill>
                            <a:srgbClr val="000000">
                              <a:alpha val="100000"/>
                            </a:srgbClr>
                          </a:solidFill>
                          <a:latin typeface="Arial"/>
                          <a:cs typeface="Arial"/>
                          <a:sym typeface="Arial"/>
                        </a:rPr>
                        <a:t>Pre-DTE Revenue</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127000" marR="127000" algn="ctr">
                        <a:lnSpc>
                          <a:spcPct val="100000"/>
                        </a:lnSpc>
                        <a:spcBef>
                          <a:spcPts val="1000"/>
                        </a:spcBef>
                        <a:spcAft>
                          <a:spcPts val="1000"/>
                        </a:spcAft>
                        <a:buNone/>
                      </a:pPr>
                      <a:r>
                        <a:rPr sz="1200" b="1" i="0" u="none" cap="none">
                          <a:solidFill>
                            <a:srgbClr val="000000">
                              <a:alpha val="100000"/>
                            </a:srgbClr>
                          </a:solidFill>
                          <a:latin typeface="Arial"/>
                          <a:cs typeface="Arial"/>
                          <a:sym typeface="Arial"/>
                        </a:rPr>
                        <a:t>Pre-DTE Margin</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127000" marR="127000" algn="ctr">
                        <a:lnSpc>
                          <a:spcPct val="100000"/>
                        </a:lnSpc>
                        <a:spcBef>
                          <a:spcPts val="1000"/>
                        </a:spcBef>
                        <a:spcAft>
                          <a:spcPts val="1000"/>
                        </a:spcAft>
                        <a:buNone/>
                      </a:pPr>
                      <a:r>
                        <a:rPr sz="1200" b="1" i="0" u="none" cap="none">
                          <a:solidFill>
                            <a:srgbClr val="000000">
                              <a:alpha val="100000"/>
                            </a:srgbClr>
                          </a:solidFill>
                          <a:latin typeface="Arial"/>
                          <a:cs typeface="Arial"/>
                          <a:sym typeface="Arial"/>
                        </a:rPr>
                        <a:t>DTE Revenue</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127000" marR="127000" algn="ctr">
                        <a:lnSpc>
                          <a:spcPct val="100000"/>
                        </a:lnSpc>
                        <a:spcBef>
                          <a:spcPts val="1000"/>
                        </a:spcBef>
                        <a:spcAft>
                          <a:spcPts val="1000"/>
                        </a:spcAft>
                        <a:buNone/>
                      </a:pPr>
                      <a:r>
                        <a:rPr sz="1200" b="1" i="0" u="none" cap="none">
                          <a:solidFill>
                            <a:srgbClr val="000000">
                              <a:alpha val="100000"/>
                            </a:srgbClr>
                          </a:solidFill>
                          <a:latin typeface="Arial"/>
                          <a:cs typeface="Arial"/>
                          <a:sym typeface="Arial"/>
                        </a:rPr>
                        <a:t>DTE Incr. Revenue</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127000" marR="127000" algn="ctr">
                        <a:lnSpc>
                          <a:spcPct val="100000"/>
                        </a:lnSpc>
                        <a:spcBef>
                          <a:spcPts val="1000"/>
                        </a:spcBef>
                        <a:spcAft>
                          <a:spcPts val="1000"/>
                        </a:spcAft>
                        <a:buNone/>
                      </a:pPr>
                      <a:r>
                        <a:rPr sz="1200" b="1" i="0" u="none" cap="none">
                          <a:solidFill>
                            <a:srgbClr val="000000">
                              <a:alpha val="100000"/>
                            </a:srgbClr>
                          </a:solidFill>
                          <a:latin typeface="Arial"/>
                          <a:cs typeface="Arial"/>
                          <a:sym typeface="Arial"/>
                        </a:rPr>
                        <a:t>DTE Total Margin</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127000" marR="127000" algn="ctr">
                        <a:lnSpc>
                          <a:spcPct val="100000"/>
                        </a:lnSpc>
                        <a:spcBef>
                          <a:spcPts val="1000"/>
                        </a:spcBef>
                        <a:spcAft>
                          <a:spcPts val="1000"/>
                        </a:spcAft>
                        <a:buNone/>
                      </a:pPr>
                      <a:r>
                        <a:rPr sz="1200" b="1" i="0" u="none" cap="none">
                          <a:solidFill>
                            <a:srgbClr val="000000">
                              <a:alpha val="100000"/>
                            </a:srgbClr>
                          </a:solidFill>
                          <a:latin typeface="Arial"/>
                          <a:cs typeface="Arial"/>
                          <a:sym typeface="Arial"/>
                        </a:rPr>
                        <a:t>DTE Incr. Margin</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127000" marR="127000" algn="ctr">
                        <a:lnSpc>
                          <a:spcPct val="100000"/>
                        </a:lnSpc>
                        <a:spcBef>
                          <a:spcPts val="1000"/>
                        </a:spcBef>
                        <a:spcAft>
                          <a:spcPts val="1000"/>
                        </a:spcAft>
                        <a:buNone/>
                      </a:pPr>
                      <a:r>
                        <a:rPr sz="1200" b="1" i="0" u="none" cap="none">
                          <a:solidFill>
                            <a:srgbClr val="000000">
                              <a:alpha val="100000"/>
                            </a:srgbClr>
                          </a:solidFill>
                          <a:latin typeface="Arial"/>
                          <a:cs typeface="Arial"/>
                          <a:sym typeface="Arial"/>
                        </a:rPr>
                        <a:t>Net Margin Less DTE Fees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extLst>
                  <a:ext uri="{0D108BD9-81ED-4DB2-BD59-A6C34878D82A}">
                    <a16:rowId xmlns:a16="http://schemas.microsoft.com/office/drawing/2014/main" val="10002"/>
                  </a:ext>
                </a:extLst>
              </a:tr>
              <a:tr h="0">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100</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   279K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8F4F9">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   33K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8F4F9">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    726K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   447K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   123K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    90K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1" i="0" u="none" cap="none">
                          <a:solidFill>
                            <a:srgbClr val="FFFFFF">
                              <a:alpha val="100000"/>
                            </a:srgbClr>
                          </a:solidFill>
                          <a:latin typeface="Arial"/>
                          <a:cs typeface="Arial"/>
                          <a:sym typeface="Arial"/>
                        </a:rPr>
                        <a:t>$  -239K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0047AB">
                        <a:alpha val="100000"/>
                      </a:srgbClr>
                    </a:solidFill>
                  </a:tcPr>
                </a:tc>
                <a:extLst>
                  <a:ext uri="{0D108BD9-81ED-4DB2-BD59-A6C34878D82A}">
                    <a16:rowId xmlns:a16="http://schemas.microsoft.com/office/drawing/2014/main" val="10003"/>
                  </a:ext>
                </a:extLst>
              </a:tr>
              <a:tr h="0">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500</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$ 1,395K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8F4F9">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  167K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8F4F9">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  3,632K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$ 2,237K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   617K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   450K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1" i="0" u="none" cap="none">
                          <a:solidFill>
                            <a:srgbClr val="FFFFFF">
                              <a:alpha val="100000"/>
                            </a:srgbClr>
                          </a:solidFill>
                          <a:latin typeface="Arial"/>
                          <a:cs typeface="Arial"/>
                          <a:sym typeface="Arial"/>
                        </a:rPr>
                        <a:t>$   126K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0047AB">
                        <a:alpha val="100000"/>
                      </a:srgbClr>
                    </a:solidFill>
                  </a:tcPr>
                </a:tc>
                <a:extLst>
                  <a:ext uri="{0D108BD9-81ED-4DB2-BD59-A6C34878D82A}">
                    <a16:rowId xmlns:a16="http://schemas.microsoft.com/office/drawing/2014/main" val="10004"/>
                  </a:ext>
                </a:extLst>
              </a:tr>
              <a:tr h="0">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1,000</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$ 2,790K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8F4F9">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  335K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8F4F9">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  7,264K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$ 4,474K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$ 1,235K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   900K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1" i="0" u="none" cap="none">
                          <a:solidFill>
                            <a:srgbClr val="FFFFFF">
                              <a:alpha val="100000"/>
                            </a:srgbClr>
                          </a:solidFill>
                          <a:latin typeface="Arial"/>
                          <a:cs typeface="Arial"/>
                          <a:sym typeface="Arial"/>
                        </a:rPr>
                        <a:t>$   582K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0047AB">
                        <a:alpha val="100000"/>
                      </a:srgbClr>
                    </a:solidFill>
                  </a:tcPr>
                </a:tc>
                <a:extLst>
                  <a:ext uri="{0D108BD9-81ED-4DB2-BD59-A6C34878D82A}">
                    <a16:rowId xmlns:a16="http://schemas.microsoft.com/office/drawing/2014/main" val="10005"/>
                  </a:ext>
                </a:extLst>
              </a:tr>
              <a:tr h="0">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2,500</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$ 6,974K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8F4F9">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  837K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8F4F9">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$ 18,160K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$11,186K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$ 3,087K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$ 2,250K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1" i="0" u="none" cap="none">
                          <a:solidFill>
                            <a:srgbClr val="FFFFFF">
                              <a:alpha val="100000"/>
                            </a:srgbClr>
                          </a:solidFill>
                          <a:latin typeface="Arial"/>
                          <a:cs typeface="Arial"/>
                          <a:sym typeface="Arial"/>
                        </a:rPr>
                        <a:t>$ 1,950K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0047AB">
                        <a:alpha val="100000"/>
                      </a:srgbClr>
                    </a:solidFill>
                  </a:tcPr>
                </a:tc>
                <a:extLst>
                  <a:ext uri="{0D108BD9-81ED-4DB2-BD59-A6C34878D82A}">
                    <a16:rowId xmlns:a16="http://schemas.microsoft.com/office/drawing/2014/main" val="10006"/>
                  </a:ext>
                </a:extLst>
              </a:tr>
              <a:tr h="0">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10,000</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$27,897K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8F4F9">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$3,348K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8F4F9">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$ 72,642K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$44,744K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$12,349K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$ 9,001K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1" i="0" u="none" cap="none">
                          <a:solidFill>
                            <a:srgbClr val="FFFFFF">
                              <a:alpha val="100000"/>
                            </a:srgbClr>
                          </a:solidFill>
                          <a:latin typeface="Arial"/>
                          <a:cs typeface="Arial"/>
                          <a:sym typeface="Arial"/>
                        </a:rPr>
                        <a:t>$ 8,791K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0047AB">
                        <a:alpha val="100000"/>
                      </a:srgbClr>
                    </a:solidFill>
                  </a:tcPr>
                </a:tc>
                <a:extLst>
                  <a:ext uri="{0D108BD9-81ED-4DB2-BD59-A6C34878D82A}">
                    <a16:rowId xmlns:a16="http://schemas.microsoft.com/office/drawing/2014/main" val="10007"/>
                  </a:ext>
                </a:extLst>
              </a:tr>
              <a:tr h="0">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20,000</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$55,794K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8F4F9">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$6,695K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8F4F9">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$145,283K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$89,489K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$24,698K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$18,003K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1" i="0" u="none" cap="none" dirty="0">
                          <a:solidFill>
                            <a:srgbClr val="FFFFFF">
                              <a:alpha val="100000"/>
                            </a:srgbClr>
                          </a:solidFill>
                          <a:latin typeface="Arial"/>
                          <a:cs typeface="Arial"/>
                          <a:sym typeface="Arial"/>
                        </a:rPr>
                        <a:t>$17,913K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0047AB">
                        <a:alpha val="100000"/>
                      </a:srgbClr>
                    </a:solidFill>
                  </a:tcPr>
                </a:tc>
                <a:extLst>
                  <a:ext uri="{0D108BD9-81ED-4DB2-BD59-A6C34878D82A}">
                    <a16:rowId xmlns:a16="http://schemas.microsoft.com/office/drawing/2014/main" val="10008"/>
                  </a:ext>
                </a:extLst>
              </a:tr>
            </a:tbl>
          </a:graphicData>
        </a:graphic>
      </p:graphicFrame>
    </p:spTree>
    <p:extLst>
      <p:ext uri="{BB962C8B-B14F-4D97-AF65-F5344CB8AC3E}">
        <p14:creationId xmlns:p14="http://schemas.microsoft.com/office/powerpoint/2010/main" val="220354090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3">
            <a:extLst>
              <a:ext uri="{FF2B5EF4-FFF2-40B4-BE49-F238E27FC236}">
                <a16:creationId xmlns:a16="http://schemas.microsoft.com/office/drawing/2014/main" id="{3E4D1330-6559-4480-ECC7-66909D09D0BD}"/>
              </a:ext>
            </a:extLst>
          </p:cNvPr>
          <p:cNvSpPr>
            <a:spLocks noGrp="1"/>
          </p:cNvSpPr>
          <p:nvPr>
            <p:ph type="ftr" sz="quarter" idx="11"/>
          </p:nvPr>
        </p:nvSpPr>
        <p:spPr/>
        <p:txBody>
          <a:bodyPr/>
          <a:lstStyle/>
          <a:p>
            <a:r>
              <a:rPr lang="en-US">
                <a:latin typeface="Arial" panose="020B0604020202020204" pitchFamily="34" charset="0"/>
                <a:cs typeface="Arial" panose="020B0604020202020204" pitchFamily="34" charset="0"/>
              </a:rPr>
              <a:t>Key Benefit Administrators</a:t>
            </a:r>
            <a:endParaRPr lang="en-US" dirty="0">
              <a:latin typeface="Arial" panose="020B0604020202020204" pitchFamily="34" charset="0"/>
              <a:cs typeface="Arial" panose="020B0604020202020204" pitchFamily="34" charset="0"/>
            </a:endParaRPr>
          </a:p>
        </p:txBody>
      </p:sp>
      <p:sp>
        <p:nvSpPr>
          <p:cNvPr id="3" name="Slide Number Placeholder 4">
            <a:extLst>
              <a:ext uri="{FF2B5EF4-FFF2-40B4-BE49-F238E27FC236}">
                <a16:creationId xmlns:a16="http://schemas.microsoft.com/office/drawing/2014/main" id="{FAD03FEC-C905-CEF4-1EA9-88A1334154D0}"/>
              </a:ext>
            </a:extLst>
          </p:cNvPr>
          <p:cNvSpPr>
            <a:spLocks noGrp="1"/>
          </p:cNvSpPr>
          <p:nvPr>
            <p:ph type="sldNum" sz="quarter" idx="12"/>
          </p:nvPr>
        </p:nvSpPr>
        <p:spPr/>
        <p:txBody>
          <a:bodyPr/>
          <a:lstStyle/>
          <a:p>
            <a:fld id="{3AFC719D-C4A7-4544-876E-D411D11AF6C9}" type="slidenum">
              <a:rPr lang="en-US" smtClean="0">
                <a:latin typeface="Arial" panose="020B0604020202020204" pitchFamily="34" charset="0"/>
                <a:cs typeface="Arial" panose="020B0604020202020204" pitchFamily="34" charset="0"/>
              </a:rPr>
              <a:t>16</a:t>
            </a:fld>
            <a:endParaRPr lang="en-US" dirty="0">
              <a:latin typeface="Arial" panose="020B0604020202020204" pitchFamily="34" charset="0"/>
              <a:cs typeface="Arial" panose="020B0604020202020204" pitchFamily="34" charset="0"/>
            </a:endParaRPr>
          </a:p>
        </p:txBody>
      </p:sp>
      <p:graphicFrame>
        <p:nvGraphicFramePr>
          <p:cNvPr id="4" name="Table 5">
            <a:extLst>
              <a:ext uri="{FF2B5EF4-FFF2-40B4-BE49-F238E27FC236}">
                <a16:creationId xmlns:a16="http://schemas.microsoft.com/office/drawing/2014/main" id="{176BAF2A-5136-E457-9AAC-D0878752F10C}"/>
              </a:ext>
            </a:extLst>
          </p:cNvPr>
          <p:cNvGraphicFramePr>
            <a:graphicFrameLocks noGrp="1"/>
          </p:cNvGraphicFramePr>
          <p:nvPr>
            <p:extLst>
              <p:ext uri="{D42A27DB-BD31-4B8C-83A1-F6EECF244321}">
                <p14:modId xmlns:p14="http://schemas.microsoft.com/office/powerpoint/2010/main" val="3541068339"/>
              </p:ext>
            </p:extLst>
          </p:nvPr>
        </p:nvGraphicFramePr>
        <p:xfrm>
          <a:off x="418056" y="764777"/>
          <a:ext cx="6972297" cy="1320800"/>
        </p:xfrm>
        <a:graphic>
          <a:graphicData uri="http://schemas.openxmlformats.org/drawingml/2006/table">
            <a:tbl>
              <a:tblPr firstRow="1" bandRow="1">
                <a:tableStyleId>{5940675A-B579-460E-94D1-54222C63F5DA}</a:tableStyleId>
              </a:tblPr>
              <a:tblGrid>
                <a:gridCol w="1900880">
                  <a:extLst>
                    <a:ext uri="{9D8B030D-6E8A-4147-A177-3AD203B41FA5}">
                      <a16:colId xmlns:a16="http://schemas.microsoft.com/office/drawing/2014/main" val="4044469742"/>
                    </a:ext>
                  </a:extLst>
                </a:gridCol>
                <a:gridCol w="1190742">
                  <a:extLst>
                    <a:ext uri="{9D8B030D-6E8A-4147-A177-3AD203B41FA5}">
                      <a16:colId xmlns:a16="http://schemas.microsoft.com/office/drawing/2014/main" val="3491933230"/>
                    </a:ext>
                  </a:extLst>
                </a:gridCol>
                <a:gridCol w="1319859">
                  <a:extLst>
                    <a:ext uri="{9D8B030D-6E8A-4147-A177-3AD203B41FA5}">
                      <a16:colId xmlns:a16="http://schemas.microsoft.com/office/drawing/2014/main" val="2859159155"/>
                    </a:ext>
                  </a:extLst>
                </a:gridCol>
                <a:gridCol w="1269647">
                  <a:extLst>
                    <a:ext uri="{9D8B030D-6E8A-4147-A177-3AD203B41FA5}">
                      <a16:colId xmlns:a16="http://schemas.microsoft.com/office/drawing/2014/main" val="3987862389"/>
                    </a:ext>
                  </a:extLst>
                </a:gridCol>
                <a:gridCol w="1291169">
                  <a:extLst>
                    <a:ext uri="{9D8B030D-6E8A-4147-A177-3AD203B41FA5}">
                      <a16:colId xmlns:a16="http://schemas.microsoft.com/office/drawing/2014/main" val="2775330707"/>
                    </a:ext>
                  </a:extLst>
                </a:gridCol>
              </a:tblGrid>
              <a:tr h="370840">
                <a:tc>
                  <a:txBody>
                    <a:bodyPr/>
                    <a:lstStyle/>
                    <a:p>
                      <a:r>
                        <a:rPr lang="en-US" sz="1600" b="1" dirty="0">
                          <a:solidFill>
                            <a:schemeClr val="bg1"/>
                          </a:solidFill>
                        </a:rPr>
                        <a:t>Pre-DTE Cohort of 5,000 Employees</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accent1">
                        <a:lumMod val="75000"/>
                      </a:schemeClr>
                    </a:solidFill>
                  </a:tcPr>
                </a:tc>
                <a:tc>
                  <a:txBody>
                    <a:bodyPr/>
                    <a:lstStyle/>
                    <a:p>
                      <a:r>
                        <a:rPr lang="en-US" sz="1600" b="1" dirty="0">
                          <a:solidFill>
                            <a:schemeClr val="bg1"/>
                          </a:solidFill>
                        </a:rPr>
                        <a:t>Inpatient</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accent1">
                        <a:lumMod val="75000"/>
                      </a:schemeClr>
                    </a:solidFill>
                  </a:tcPr>
                </a:tc>
                <a:tc>
                  <a:txBody>
                    <a:bodyPr/>
                    <a:lstStyle/>
                    <a:p>
                      <a:r>
                        <a:rPr lang="en-US" sz="1600" b="1" dirty="0">
                          <a:solidFill>
                            <a:schemeClr val="bg1"/>
                          </a:solidFill>
                        </a:rPr>
                        <a:t>Outpatient</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accent1">
                        <a:lumMod val="75000"/>
                      </a:schemeClr>
                    </a:solidFill>
                  </a:tcPr>
                </a:tc>
                <a:tc>
                  <a:txBody>
                    <a:bodyPr/>
                    <a:lstStyle/>
                    <a:p>
                      <a:r>
                        <a:rPr lang="en-US" sz="1600" b="1" dirty="0">
                          <a:solidFill>
                            <a:schemeClr val="bg1"/>
                          </a:solidFill>
                        </a:rPr>
                        <a:t>Professional</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accent1">
                        <a:lumMod val="75000"/>
                      </a:schemeClr>
                    </a:solidFill>
                  </a:tcPr>
                </a:tc>
                <a:tc>
                  <a:txBody>
                    <a:bodyPr/>
                    <a:lstStyle/>
                    <a:p>
                      <a:r>
                        <a:rPr lang="en-US" sz="1600" b="1" dirty="0">
                          <a:solidFill>
                            <a:schemeClr val="bg1"/>
                          </a:solidFill>
                        </a:rPr>
                        <a:t>Total</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accent1">
                        <a:lumMod val="75000"/>
                      </a:schemeClr>
                    </a:solidFill>
                  </a:tcPr>
                </a:tc>
                <a:extLst>
                  <a:ext uri="{0D108BD9-81ED-4DB2-BD59-A6C34878D82A}">
                    <a16:rowId xmlns:a16="http://schemas.microsoft.com/office/drawing/2014/main" val="2532424019"/>
                  </a:ext>
                </a:extLst>
              </a:tr>
              <a:tr h="370840">
                <a:tc>
                  <a:txBody>
                    <a:bodyPr/>
                    <a:lstStyle/>
                    <a:p>
                      <a:r>
                        <a:rPr lang="en-US" sz="1600" dirty="0"/>
                        <a:t>Revenue†</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600" b="0" i="0" u="none" strike="noStrike" dirty="0">
                          <a:solidFill>
                            <a:srgbClr val="000000"/>
                          </a:solidFill>
                          <a:effectLst/>
                          <a:latin typeface="Aptos Narrow" panose="020B0004020202020204" pitchFamily="34" charset="0"/>
                        </a:rPr>
                        <a:t> $ 6,844,470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600" b="0" i="0" u="none" strike="noStrike" dirty="0">
                          <a:solidFill>
                            <a:srgbClr val="000000"/>
                          </a:solidFill>
                          <a:effectLst/>
                          <a:latin typeface="Aptos Narrow" panose="020B0004020202020204" pitchFamily="34" charset="0"/>
                        </a:rPr>
                        <a:t> $ 4,842,660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600" b="0" i="0" u="none" strike="noStrike" dirty="0">
                          <a:solidFill>
                            <a:srgbClr val="000000"/>
                          </a:solidFill>
                          <a:effectLst/>
                          <a:latin typeface="Aptos Narrow" panose="020B0004020202020204" pitchFamily="34" charset="0"/>
                        </a:rPr>
                        <a:t> $ 2,261,481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600" b="0" i="0" u="none" strike="noStrike" dirty="0">
                          <a:solidFill>
                            <a:srgbClr val="000000"/>
                          </a:solidFill>
                          <a:effectLst/>
                          <a:latin typeface="Aptos Narrow" panose="020B0004020202020204" pitchFamily="34" charset="0"/>
                        </a:rPr>
                        <a:t> $ 13,948,611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970978243"/>
                  </a:ext>
                </a:extLst>
              </a:tr>
              <a:tr h="370840">
                <a:tc>
                  <a:txBody>
                    <a:bodyPr/>
                    <a:lstStyle/>
                    <a:p>
                      <a:r>
                        <a:rPr lang="en-US" sz="1600" dirty="0"/>
                        <a:t>Net Income‡</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600" b="0" i="0" u="none" strike="noStrike" dirty="0">
                          <a:solidFill>
                            <a:srgbClr val="000000"/>
                          </a:solidFill>
                          <a:effectLst/>
                          <a:latin typeface="Aptos Narrow" panose="020B0004020202020204" pitchFamily="34" charset="0"/>
                        </a:rPr>
                        <a:t> $ 821,336.4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600" b="0" i="0" u="none" strike="noStrike" dirty="0">
                          <a:solidFill>
                            <a:srgbClr val="000000"/>
                          </a:solidFill>
                          <a:effectLst/>
                          <a:latin typeface="Aptos Narrow" panose="020B0004020202020204" pitchFamily="34" charset="0"/>
                        </a:rPr>
                        <a:t> $ 581,119.2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600" b="0" i="0" u="none" strike="noStrike" dirty="0">
                          <a:solidFill>
                            <a:srgbClr val="000000"/>
                          </a:solidFill>
                          <a:effectLst/>
                          <a:latin typeface="Aptos Narrow" panose="020B0004020202020204" pitchFamily="34" charset="0"/>
                        </a:rPr>
                        <a:t> $ 271,377.7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600" b="0" i="0" u="none" strike="noStrike" dirty="0">
                          <a:solidFill>
                            <a:srgbClr val="000000"/>
                          </a:solidFill>
                          <a:effectLst/>
                          <a:latin typeface="Aptos Narrow" panose="020B0004020202020204" pitchFamily="34" charset="0"/>
                        </a:rPr>
                        <a:t> $ 1,673,833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3614477993"/>
                  </a:ext>
                </a:extLst>
              </a:tr>
            </a:tbl>
          </a:graphicData>
        </a:graphic>
      </p:graphicFrame>
      <p:cxnSp>
        <p:nvCxnSpPr>
          <p:cNvPr id="5" name="Straight Connector 13">
            <a:extLst>
              <a:ext uri="{FF2B5EF4-FFF2-40B4-BE49-F238E27FC236}">
                <a16:creationId xmlns:a16="http://schemas.microsoft.com/office/drawing/2014/main" id="{8EA958C5-E105-8A94-794A-7A8EB2DFEBDC}"/>
              </a:ext>
            </a:extLst>
          </p:cNvPr>
          <p:cNvCxnSpPr/>
          <p:nvPr/>
        </p:nvCxnSpPr>
        <p:spPr>
          <a:xfrm>
            <a:off x="316454" y="3716618"/>
            <a:ext cx="6464300" cy="0"/>
          </a:xfrm>
          <a:prstGeom prst="line">
            <a:avLst/>
          </a:prstGeom>
          <a:ln w="57150">
            <a:solidFill>
              <a:schemeClr val="bg2">
                <a:lumMod val="50000"/>
              </a:schemeClr>
            </a:solidFill>
          </a:ln>
        </p:spPr>
        <p:style>
          <a:lnRef idx="1">
            <a:schemeClr val="accent1"/>
          </a:lnRef>
          <a:fillRef idx="0">
            <a:schemeClr val="accent1"/>
          </a:fillRef>
          <a:effectRef idx="0">
            <a:schemeClr val="accent1"/>
          </a:effectRef>
          <a:fontRef idx="minor">
            <a:schemeClr val="tx1"/>
          </a:fontRef>
        </p:style>
      </p:cxnSp>
      <p:graphicFrame>
        <p:nvGraphicFramePr>
          <p:cNvPr id="6" name="Table 14">
            <a:extLst>
              <a:ext uri="{FF2B5EF4-FFF2-40B4-BE49-F238E27FC236}">
                <a16:creationId xmlns:a16="http://schemas.microsoft.com/office/drawing/2014/main" id="{FF3ACACB-7F38-7EAA-4BDF-1A816CA00AAE}"/>
              </a:ext>
            </a:extLst>
          </p:cNvPr>
          <p:cNvGraphicFramePr>
            <a:graphicFrameLocks noGrp="1"/>
          </p:cNvGraphicFramePr>
          <p:nvPr/>
        </p:nvGraphicFramePr>
        <p:xfrm>
          <a:off x="462503" y="4085951"/>
          <a:ext cx="6927847" cy="2225040"/>
        </p:xfrm>
        <a:graphic>
          <a:graphicData uri="http://schemas.openxmlformats.org/drawingml/2006/table">
            <a:tbl>
              <a:tblPr firstRow="1" bandRow="1">
                <a:tableStyleId>{5940675A-B579-460E-94D1-54222C63F5DA}</a:tableStyleId>
              </a:tblPr>
              <a:tblGrid>
                <a:gridCol w="5622925">
                  <a:extLst>
                    <a:ext uri="{9D8B030D-6E8A-4147-A177-3AD203B41FA5}">
                      <a16:colId xmlns:a16="http://schemas.microsoft.com/office/drawing/2014/main" val="1938271373"/>
                    </a:ext>
                  </a:extLst>
                </a:gridCol>
                <a:gridCol w="1304922">
                  <a:extLst>
                    <a:ext uri="{9D8B030D-6E8A-4147-A177-3AD203B41FA5}">
                      <a16:colId xmlns:a16="http://schemas.microsoft.com/office/drawing/2014/main" val="232002059"/>
                    </a:ext>
                  </a:extLst>
                </a:gridCol>
              </a:tblGrid>
              <a:tr h="370840">
                <a:tc>
                  <a:txBody>
                    <a:bodyPr/>
                    <a:lstStyle/>
                    <a:p>
                      <a:r>
                        <a:rPr lang="en-US" dirty="0"/>
                        <a:t>Total Increase in Net Income</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ctr"/>
                      <a:r>
                        <a:rPr lang="en-US" dirty="0">
                          <a:solidFill>
                            <a:schemeClr val="accent6">
                              <a:lumMod val="75000"/>
                            </a:schemeClr>
                          </a:solidFill>
                        </a:rPr>
                        <a:t>$ 4,729,441</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1102265742"/>
                  </a:ext>
                </a:extLst>
              </a:tr>
              <a:tr h="370840">
                <a:tc>
                  <a:txBody>
                    <a:bodyPr/>
                    <a:lstStyle/>
                    <a:p>
                      <a:r>
                        <a:rPr lang="en-US" dirty="0"/>
                        <a:t>Network Access Fee (Revenue) of $1 PMPM</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ctr"/>
                      <a:r>
                        <a:rPr lang="en-US" dirty="0">
                          <a:solidFill>
                            <a:schemeClr val="accent6">
                              <a:lumMod val="75000"/>
                            </a:schemeClr>
                          </a:solidFill>
                        </a:rPr>
                        <a:t>$ 60,000</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1504911518"/>
                  </a:ext>
                </a:extLst>
              </a:tr>
              <a:tr h="370840">
                <a:tc>
                  <a:txBody>
                    <a:bodyPr/>
                    <a:lstStyle/>
                    <a:p>
                      <a:r>
                        <a:rPr lang="en-US" dirty="0"/>
                        <a:t>Total Profit Growth</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ctr"/>
                      <a:r>
                        <a:rPr lang="en-US" dirty="0">
                          <a:solidFill>
                            <a:schemeClr val="accent6">
                              <a:lumMod val="75000"/>
                            </a:schemeClr>
                          </a:solidFill>
                        </a:rPr>
                        <a:t>$ 4,734,241</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1634671075"/>
                  </a:ext>
                </a:extLst>
              </a:tr>
              <a:tr h="370840">
                <a:tc>
                  <a:txBody>
                    <a:bodyPr/>
                    <a:lstStyle/>
                    <a:p>
                      <a:r>
                        <a:rPr lang="en-US" dirty="0">
                          <a:solidFill/>
                        </a:rPr>
                        <a:t>Minus Implementation Fee (One-Time)</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ctr"/>
                      <a:r>
                        <a:rPr lang="en-US" dirty="0">
                          <a:solidFill>
                            <a:schemeClr val="accent2"/>
                          </a:solidFill>
                        </a:rPr>
                        <a:t>-$ 0</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1156359922"/>
                  </a:ext>
                </a:extLst>
              </a:tr>
              <a:tr h="370840">
                <a:tc>
                  <a:txBody>
                    <a:bodyPr/>
                    <a:lstStyle/>
                    <a:p>
                      <a:r>
                        <a:rPr lang="en-US" dirty="0"/>
                        <a:t>Minus Sales and Marketing (Annual – Ongoing)</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ctr"/>
                      <a:r>
                        <a:rPr lang="en-US" dirty="0">
                          <a:solidFill>
                            <a:schemeClr val="accent2"/>
                          </a:solidFill>
                        </a:rPr>
                        <a:t>-$ 180,000</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3792837724"/>
                  </a:ext>
                </a:extLst>
              </a:tr>
              <a:tr h="370840">
                <a:tc>
                  <a:txBody>
                    <a:bodyPr/>
                    <a:lstStyle/>
                    <a:p>
                      <a:r>
                        <a:rPr lang="en-US" b="1" dirty="0"/>
                        <a:t>Total</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ctr"/>
                      <a:r>
                        <a:rPr lang="en-US" b="1" dirty="0">
                          <a:solidFill>
                            <a:schemeClr val="accent6">
                              <a:lumMod val="75000"/>
                            </a:schemeClr>
                          </a:solidFill>
                        </a:rPr>
                        <a:t>$ 4,609,441</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2159790193"/>
                  </a:ext>
                </a:extLst>
              </a:tr>
            </a:tbl>
          </a:graphicData>
        </a:graphic>
      </p:graphicFrame>
      <p:graphicFrame>
        <p:nvGraphicFramePr>
          <p:cNvPr id="7" name="Table 15">
            <a:extLst>
              <a:ext uri="{FF2B5EF4-FFF2-40B4-BE49-F238E27FC236}">
                <a16:creationId xmlns:a16="http://schemas.microsoft.com/office/drawing/2014/main" id="{32A51F3A-032C-30E2-F635-DD59B5A29A34}"/>
              </a:ext>
            </a:extLst>
          </p:cNvPr>
          <p:cNvGraphicFramePr>
            <a:graphicFrameLocks noGrp="1"/>
          </p:cNvGraphicFramePr>
          <p:nvPr>
            <p:extLst>
              <p:ext uri="{D42A27DB-BD31-4B8C-83A1-F6EECF244321}">
                <p14:modId xmlns:p14="http://schemas.microsoft.com/office/powerpoint/2010/main" val="3778409314"/>
              </p:ext>
            </p:extLst>
          </p:nvPr>
        </p:nvGraphicFramePr>
        <p:xfrm>
          <a:off x="418055" y="2234768"/>
          <a:ext cx="6972296" cy="1005840"/>
        </p:xfrm>
        <a:graphic>
          <a:graphicData uri="http://schemas.openxmlformats.org/drawingml/2006/table">
            <a:tbl>
              <a:tblPr firstRow="1" bandRow="1">
                <a:tableStyleId>{5940675A-B579-460E-94D1-54222C63F5DA}</a:tableStyleId>
              </a:tblPr>
              <a:tblGrid>
                <a:gridCol w="1900880">
                  <a:extLst>
                    <a:ext uri="{9D8B030D-6E8A-4147-A177-3AD203B41FA5}">
                      <a16:colId xmlns:a16="http://schemas.microsoft.com/office/drawing/2014/main" val="4044469742"/>
                    </a:ext>
                  </a:extLst>
                </a:gridCol>
                <a:gridCol w="1190742">
                  <a:extLst>
                    <a:ext uri="{9D8B030D-6E8A-4147-A177-3AD203B41FA5}">
                      <a16:colId xmlns:a16="http://schemas.microsoft.com/office/drawing/2014/main" val="3491933230"/>
                    </a:ext>
                  </a:extLst>
                </a:gridCol>
                <a:gridCol w="1319859">
                  <a:extLst>
                    <a:ext uri="{9D8B030D-6E8A-4147-A177-3AD203B41FA5}">
                      <a16:colId xmlns:a16="http://schemas.microsoft.com/office/drawing/2014/main" val="2859159155"/>
                    </a:ext>
                  </a:extLst>
                </a:gridCol>
                <a:gridCol w="1258888">
                  <a:extLst>
                    <a:ext uri="{9D8B030D-6E8A-4147-A177-3AD203B41FA5}">
                      <a16:colId xmlns:a16="http://schemas.microsoft.com/office/drawing/2014/main" val="3987862389"/>
                    </a:ext>
                  </a:extLst>
                </a:gridCol>
                <a:gridCol w="1301927">
                  <a:extLst>
                    <a:ext uri="{9D8B030D-6E8A-4147-A177-3AD203B41FA5}">
                      <a16:colId xmlns:a16="http://schemas.microsoft.com/office/drawing/2014/main" val="2775330707"/>
                    </a:ext>
                  </a:extLst>
                </a:gridCol>
              </a:tblGrid>
              <a:tr h="272069">
                <a:tc>
                  <a:txBody>
                    <a:bodyPr/>
                    <a:lstStyle/>
                    <a:p>
                      <a:r>
                        <a:rPr lang="en-US" sz="1600" b="1" dirty="0">
                          <a:solidFill>
                            <a:schemeClr val="bg1"/>
                          </a:solidFill>
                        </a:rPr>
                        <a:t>With DTE</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accent1">
                        <a:lumMod val="50000"/>
                      </a:schemeClr>
                    </a:solidFill>
                  </a:tcPr>
                </a:tc>
                <a:tc>
                  <a:txBody>
                    <a:bodyPr/>
                    <a:lstStyle/>
                    <a:p>
                      <a:r>
                        <a:rPr lang="en-US" sz="1600" b="1" dirty="0">
                          <a:solidFill>
                            <a:schemeClr val="bg1"/>
                          </a:solidFill>
                        </a:rPr>
                        <a:t>Inpatient</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accent1">
                        <a:lumMod val="50000"/>
                      </a:schemeClr>
                    </a:solidFill>
                  </a:tcPr>
                </a:tc>
                <a:tc>
                  <a:txBody>
                    <a:bodyPr/>
                    <a:lstStyle/>
                    <a:p>
                      <a:r>
                        <a:rPr lang="en-US" sz="1600" b="1" dirty="0">
                          <a:solidFill>
                            <a:schemeClr val="bg1"/>
                          </a:solidFill>
                        </a:rPr>
                        <a:t>Outpatient</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accent1">
                        <a:lumMod val="50000"/>
                      </a:schemeClr>
                    </a:solidFill>
                  </a:tcPr>
                </a:tc>
                <a:tc>
                  <a:txBody>
                    <a:bodyPr/>
                    <a:lstStyle/>
                    <a:p>
                      <a:r>
                        <a:rPr lang="en-US" sz="1600" b="1" dirty="0">
                          <a:solidFill>
                            <a:schemeClr val="bg1"/>
                          </a:solidFill>
                        </a:rPr>
                        <a:t>Professional</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accent1">
                        <a:lumMod val="50000"/>
                      </a:schemeClr>
                    </a:solidFill>
                  </a:tcPr>
                </a:tc>
                <a:tc>
                  <a:txBody>
                    <a:bodyPr/>
                    <a:lstStyle/>
                    <a:p>
                      <a:r>
                        <a:rPr lang="en-US" sz="1600" b="1" dirty="0">
                          <a:solidFill>
                            <a:schemeClr val="bg1"/>
                          </a:solidFill>
                        </a:rPr>
                        <a:t>Total</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accent1">
                        <a:lumMod val="50000"/>
                      </a:schemeClr>
                    </a:solidFill>
                  </a:tcPr>
                </a:tc>
                <a:extLst>
                  <a:ext uri="{0D108BD9-81ED-4DB2-BD59-A6C34878D82A}">
                    <a16:rowId xmlns:a16="http://schemas.microsoft.com/office/drawing/2014/main" val="2532424019"/>
                  </a:ext>
                </a:extLst>
              </a:tr>
              <a:tr h="299554">
                <a:tc>
                  <a:txBody>
                    <a:bodyPr/>
                    <a:lstStyle/>
                    <a:p>
                      <a:r>
                        <a:rPr lang="en-US" sz="1600" dirty="0"/>
                        <a:t>Revenue⁰</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600" b="0" i="0" u="none" strike="noStrike" dirty="0">
                          <a:solidFill>
                            <a:srgbClr val="000000"/>
                          </a:solidFill>
                          <a:effectLst/>
                          <a:latin typeface="Aptos Narrow" panose="020B0004020202020204" pitchFamily="34" charset="0"/>
                        </a:rPr>
                        <a:t> $ 10,605,598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600" b="0" i="0" u="none" strike="noStrike" dirty="0">
                          <a:solidFill>
                            <a:srgbClr val="000000"/>
                          </a:solidFill>
                          <a:effectLst/>
                          <a:latin typeface="Aptos Narrow" panose="020B0004020202020204" pitchFamily="34" charset="0"/>
                        </a:rPr>
                        <a:t> $ 18,446,406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600" b="0" i="0" u="none" strike="noStrike" dirty="0">
                          <a:solidFill>
                            <a:srgbClr val="000000"/>
                          </a:solidFill>
                          <a:effectLst/>
                          <a:latin typeface="Aptos Narrow" panose="020B0004020202020204" pitchFamily="34" charset="0"/>
                        </a:rPr>
                        <a:t> $ 8,614,315</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600" b="0" i="0" u="none" strike="noStrike" dirty="0">
                          <a:solidFill>
                            <a:srgbClr val="000000"/>
                          </a:solidFill>
                          <a:effectLst/>
                          <a:latin typeface="Aptos Narrow" panose="020B0004020202020204" pitchFamily="34" charset="0"/>
                        </a:rPr>
                        <a:t> $ 37,666,318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970978243"/>
                  </a:ext>
                </a:extLst>
              </a:tr>
              <a:tr h="272069">
                <a:tc>
                  <a:txBody>
                    <a:bodyPr/>
                    <a:lstStyle/>
                    <a:p>
                      <a:r>
                        <a:rPr lang="en-US" sz="1600" dirty="0"/>
                        <a:t>Net Income*</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600" b="0" i="0" u="none" strike="noStrike" dirty="0">
                          <a:solidFill>
                            <a:srgbClr val="000000"/>
                          </a:solidFill>
                          <a:effectLst/>
                          <a:latin typeface="Aptos Narrow" panose="020B0004020202020204" pitchFamily="34" charset="0"/>
                        </a:rPr>
                        <a:t> $ 1,802,952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600" b="0" i="0" u="none" strike="noStrike" dirty="0">
                          <a:solidFill>
                            <a:srgbClr val="000000"/>
                          </a:solidFill>
                          <a:effectLst/>
                          <a:latin typeface="Aptos Narrow" panose="020B0004020202020204" pitchFamily="34" charset="0"/>
                        </a:rPr>
                        <a:t> $ 3,135,889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600" b="0" i="0" u="none" strike="noStrike" dirty="0">
                          <a:solidFill>
                            <a:srgbClr val="000000"/>
                          </a:solidFill>
                          <a:effectLst/>
                          <a:latin typeface="Aptos Narrow" panose="020B0004020202020204" pitchFamily="34" charset="0"/>
                        </a:rPr>
                        <a:t> $ 1,464,434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600" b="0" i="0" u="none" strike="noStrike" dirty="0">
                          <a:solidFill>
                            <a:srgbClr val="000000"/>
                          </a:solidFill>
                          <a:effectLst/>
                          <a:latin typeface="Aptos Narrow" panose="020B0004020202020204" pitchFamily="34" charset="0"/>
                        </a:rPr>
                        <a:t> $ 6,403,274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3614477993"/>
                  </a:ext>
                </a:extLst>
              </a:tr>
            </a:tbl>
          </a:graphicData>
        </a:graphic>
      </p:graphicFrame>
      <p:sp>
        <p:nvSpPr>
          <p:cNvPr id="8" name="TextBox 1">
            <a:extLst>
              <a:ext uri="{FF2B5EF4-FFF2-40B4-BE49-F238E27FC236}">
                <a16:creationId xmlns:a16="http://schemas.microsoft.com/office/drawing/2014/main" id="{60820A86-1B9D-21A4-BBB6-DDFB73605882}"/>
              </a:ext>
            </a:extLst>
          </p:cNvPr>
          <p:cNvSpPr txBox="1"/>
          <p:nvPr/>
        </p:nvSpPr>
        <p:spPr>
          <a:xfrm>
            <a:off x="7752549" y="953947"/>
            <a:ext cx="4318001" cy="738664"/>
          </a:xfrm>
          <a:prstGeom prst="rect">
            <a:avLst/>
          </a:prstGeom>
          <a:noFill/>
        </p:spPr>
        <p:txBody>
          <a:bodyPr wrap="square">
            <a:spAutoFit/>
          </a:bodyPr>
          <a:lstStyle/>
          <a:p>
            <a:r>
              <a:rPr lang="en-US" sz="1400" dirty="0">
                <a:solidFill/>
                <a:latin typeface="Arial" panose="020B0604020202020204" pitchFamily="34" charset="0"/>
                <a:cs typeface="Arial" panose="020B0604020202020204" pitchFamily="34" charset="0"/>
              </a:rPr>
              <a:t>† Assuming proportional revenues from market shares of 50% (inpatient) and 19% (outpatient)</a:t>
            </a:r>
          </a:p>
        </p:txBody>
      </p:sp>
      <p:sp>
        <p:nvSpPr>
          <p:cNvPr id="9" name="TextBox 2">
            <a:extLst>
              <a:ext uri="{FF2B5EF4-FFF2-40B4-BE49-F238E27FC236}">
                <a16:creationId xmlns:a16="http://schemas.microsoft.com/office/drawing/2014/main" id="{6CDBA057-BBD2-8F54-E977-26B782E37F88}"/>
              </a:ext>
            </a:extLst>
          </p:cNvPr>
          <p:cNvSpPr txBox="1"/>
          <p:nvPr/>
        </p:nvSpPr>
        <p:spPr>
          <a:xfrm>
            <a:off x="7752549" y="1801103"/>
            <a:ext cx="4318001" cy="523220"/>
          </a:xfrm>
          <a:prstGeom prst="rect">
            <a:avLst/>
          </a:prstGeom>
          <a:noFill/>
        </p:spPr>
        <p:txBody>
          <a:bodyPr wrap="square">
            <a:spAutoFit/>
          </a:bodyPr>
          <a:lstStyle/>
          <a:p>
            <a:r>
              <a:rPr lang="en-US" sz="1400" dirty="0">
                <a:solidFill/>
                <a:latin typeface="Arial" panose="020B0604020202020204" pitchFamily="34" charset="0"/>
                <a:cs typeface="Arial" panose="020B0604020202020204" pitchFamily="34" charset="0"/>
              </a:rPr>
              <a:t>‡ Conservatively assuming a commercial margin of 17% (80% of the estimated commercial margin)</a:t>
            </a:r>
          </a:p>
        </p:txBody>
      </p:sp>
      <p:sp>
        <p:nvSpPr>
          <p:cNvPr id="10" name="TextBox 6">
            <a:extLst>
              <a:ext uri="{FF2B5EF4-FFF2-40B4-BE49-F238E27FC236}">
                <a16:creationId xmlns:a16="http://schemas.microsoft.com/office/drawing/2014/main" id="{C690F22E-C9CA-61DC-5584-149573110610}"/>
              </a:ext>
            </a:extLst>
          </p:cNvPr>
          <p:cNvSpPr txBox="1"/>
          <p:nvPr/>
        </p:nvSpPr>
        <p:spPr>
          <a:xfrm>
            <a:off x="7752549" y="2535638"/>
            <a:ext cx="4318001" cy="738664"/>
          </a:xfrm>
          <a:prstGeom prst="rect">
            <a:avLst/>
          </a:prstGeom>
          <a:noFill/>
        </p:spPr>
        <p:txBody>
          <a:bodyPr wrap="square">
            <a:spAutoFit/>
          </a:bodyPr>
          <a:lstStyle/>
          <a:p>
            <a:r>
              <a:rPr lang="en-US" sz="1400" dirty="0">
                <a:latin typeface="Arial" panose="020B0604020202020204" pitchFamily="34" charset="0"/>
                <a:cs typeface="Arial" panose="020B0604020202020204" pitchFamily="34" charset="0"/>
              </a:rPr>
              <a:t>⁰ Assuming </a:t>
            </a:r>
            <a:r>
              <a:rPr lang="en-US" sz="1400" dirty="0">
                <a:solidFill/>
                <a:latin typeface="Arial" panose="020B0604020202020204" pitchFamily="34" charset="0"/>
                <a:cs typeface="Arial" panose="020B0604020202020204" pitchFamily="34" charset="0"/>
              </a:rPr>
              <a:t>77% inpatient and 74%  </a:t>
            </a:r>
            <a:r>
              <a:rPr lang="en-US" sz="1400" dirty="0">
                <a:latin typeface="Arial" panose="020B0604020202020204" pitchFamily="34" charset="0"/>
                <a:cs typeface="Arial" panose="020B0604020202020204" pitchFamily="34" charset="0"/>
              </a:rPr>
              <a:t>market steerage based on KBA narrow network DTE experience </a:t>
            </a:r>
            <a:r>
              <a:rPr lang="en-US" sz="1400" dirty="0">
                <a:solidFill/>
                <a:latin typeface="Arial" panose="020B0604020202020204" pitchFamily="34" charset="0"/>
                <a:cs typeface="Arial" panose="020B0604020202020204" pitchFamily="34" charset="0"/>
              </a:rPr>
              <a:t>(see previous slide)</a:t>
            </a:r>
            <a:endParaRPr lang="en-US" sz="1400" dirty="0">
              <a:latin typeface="Arial" panose="020B0604020202020204" pitchFamily="34" charset="0"/>
              <a:cs typeface="Arial" panose="020B0604020202020204" pitchFamily="34" charset="0"/>
            </a:endParaRPr>
          </a:p>
        </p:txBody>
      </p:sp>
      <p:sp>
        <p:nvSpPr>
          <p:cNvPr id="11" name="TextBox 7">
            <a:extLst>
              <a:ext uri="{FF2B5EF4-FFF2-40B4-BE49-F238E27FC236}">
                <a16:creationId xmlns:a16="http://schemas.microsoft.com/office/drawing/2014/main" id="{A897897D-C568-B204-6568-514AD4B71A5C}"/>
              </a:ext>
            </a:extLst>
          </p:cNvPr>
          <p:cNvSpPr txBox="1"/>
          <p:nvPr/>
        </p:nvSpPr>
        <p:spPr>
          <a:xfrm>
            <a:off x="7752548" y="3324229"/>
            <a:ext cx="4318001" cy="1384995"/>
          </a:xfrm>
          <a:prstGeom prst="rect">
            <a:avLst/>
          </a:prstGeom>
          <a:noFill/>
        </p:spPr>
        <p:txBody>
          <a:bodyPr wrap="square">
            <a:spAutoFit/>
          </a:bodyPr>
          <a:lstStyle/>
          <a:p>
            <a:r>
              <a:rPr lang="en-US" sz="1400" dirty="0">
                <a:latin typeface="Arial" panose="020B0604020202020204" pitchFamily="34" charset="0"/>
                <a:cs typeface="Arial" panose="020B0604020202020204" pitchFamily="34" charset="0"/>
              </a:rPr>
              <a:t>* Conservatively assuming a commercial margin of [MM</a:t>
            </a:r>
            <a:r>
              <a:rPr lang="en-US" sz="1400">
                <a:latin typeface="Arial" panose="020B0604020202020204" pitchFamily="34" charset="0"/>
                <a:cs typeface="Arial" panose="020B0604020202020204" pitchFamily="34" charset="0"/>
              </a:rPr>
              <a:t>]%, </a:t>
            </a:r>
            <a:r>
              <a:rPr lang="en-US" sz="1400">
                <a:solidFill/>
                <a:latin typeface="Arial" panose="020B0604020202020204" pitchFamily="34" charset="0"/>
                <a:cs typeface="Arial" panose="020B0604020202020204" pitchFamily="34" charset="0"/>
              </a:rPr>
              <a:t>with a 10 percentage-point reduction to reflect competitive-edge rates and a 10 percentage-point increase due to lower billing costs and higher patient responsibility collections because of the member credit card. </a:t>
            </a:r>
            <a:endParaRPr lang="en-US" sz="1400" dirty="0">
              <a:latin typeface="Arial" panose="020B0604020202020204" pitchFamily="34" charset="0"/>
              <a:cs typeface="Arial" panose="020B0604020202020204" pitchFamily="34" charset="0"/>
            </a:endParaRPr>
          </a:p>
        </p:txBody>
      </p:sp>
      <p:sp>
        <p:nvSpPr>
          <p:cNvPr id="12" name="TextBox 8">
            <a:extLst>
              <a:ext uri="{FF2B5EF4-FFF2-40B4-BE49-F238E27FC236}">
                <a16:creationId xmlns:a16="http://schemas.microsoft.com/office/drawing/2014/main" id="{1BBEE831-0583-9B2A-D9B8-C57C918E4C3C}"/>
              </a:ext>
            </a:extLst>
          </p:cNvPr>
          <p:cNvSpPr txBox="1"/>
          <p:nvPr/>
        </p:nvSpPr>
        <p:spPr>
          <a:xfrm>
            <a:off x="316454" y="34749"/>
            <a:ext cx="7986417" cy="707886"/>
          </a:xfrm>
          <a:prstGeom prst="rect">
            <a:avLst/>
          </a:prstGeom>
          <a:noFill/>
        </p:spPr>
        <p:txBody>
          <a:bodyPr wrap="none" rtlCol="0">
            <a:spAutoFit/>
          </a:bodyPr>
          <a:lstStyle/>
          <a:p>
            <a:r>
              <a:rPr lang="en-US" sz="4000" b="1" dirty="0">
                <a:latin typeface="Garamond" panose="02020404030301010803" pitchFamily="18" charset="0"/>
                <a:cs typeface="Calibri" panose="020F0502020204030204" pitchFamily="34" charset="0"/>
              </a:rPr>
              <a:t>Year 4 Projected Revenue and Profit</a:t>
            </a:r>
          </a:p>
        </p:txBody>
      </p:sp>
    </p:spTree>
    <p:extLst>
      <p:ext uri="{BB962C8B-B14F-4D97-AF65-F5344CB8AC3E}">
        <p14:creationId xmlns:p14="http://schemas.microsoft.com/office/powerpoint/2010/main" val="141981655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9B593B5-638B-49BE-26DE-C8602BBC0E72}"/>
            </a:ext>
          </a:extLst>
        </p:cNvPr>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9FAEFD8D-BF18-1FEE-115A-E66758DA0258}"/>
              </a:ext>
            </a:extLst>
          </p:cNvPr>
          <p:cNvSpPr>
            <a:spLocks noGrp="1"/>
          </p:cNvSpPr>
          <p:nvPr>
            <p:ph type="sldNum" sz="quarter" idx="12"/>
          </p:nvPr>
        </p:nvSpPr>
        <p:spPr>
          <a:xfrm>
            <a:off x="9223551" y="6277663"/>
            <a:ext cx="2743200" cy="250380"/>
          </a:xfrm>
        </p:spPr>
        <p:txBody>
          <a:bodyPr/>
          <a:lstStyle/>
          <a:p>
            <a:fld id="{3AFC719D-C4A7-4544-876E-D411D11AF6C9}" type="slidenum">
              <a:rPr lang="en-US" smtClean="0"/>
              <a:t>17</a:t>
            </a:fld>
            <a:endParaRPr lang="en-US" dirty="0"/>
          </a:p>
        </p:txBody>
      </p:sp>
      <p:sp>
        <p:nvSpPr>
          <p:cNvPr id="27" name="Title 1">
            <a:extLst>
              <a:ext uri="{FF2B5EF4-FFF2-40B4-BE49-F238E27FC236}">
                <a16:creationId xmlns:a16="http://schemas.microsoft.com/office/drawing/2014/main" id="{A363FE8B-56C4-6B32-3042-FA1039A4CDF7}"/>
              </a:ext>
            </a:extLst>
          </p:cNvPr>
          <p:cNvSpPr txBox="1">
            <a:spLocks/>
          </p:cNvSpPr>
          <p:nvPr/>
        </p:nvSpPr>
        <p:spPr>
          <a:xfrm>
            <a:off x="319041" y="64776"/>
            <a:ext cx="11647709" cy="1325563"/>
          </a:xfrm>
          <a:prstGeom prst="rect">
            <a:avLst/>
          </a:prstGeom>
        </p:spPr>
        <p:txBody>
          <a:bodyPr vert="horz" lIns="91440" tIns="45720" rIns="91440" bIns="45720" rtlCol="0" anchor="ctr">
            <a:normAutofit/>
          </a:bodyPr>
          <a:lstStyle>
            <a:lvl1pPr algn="l" defTabSz="914411"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b="1" dirty="0">
                <a:latin typeface="Garamond" panose="02020404030301010803" pitchFamily="18" charset="0"/>
              </a:rPr>
              <a:t>The Win/Win of Cutting Out the Middle Man</a:t>
            </a:r>
          </a:p>
        </p:txBody>
      </p:sp>
      <p:pic>
        <p:nvPicPr>
          <p:cNvPr id="2" name="Picture 2" descr="Key Benefit Administrators Partners with Tennova Healthcare and UT Medical  Center to Provide Direct-to-Employer Health Plans for East Tennessee  Employers | Business Wire">
            <a:extLst>
              <a:ext uri="{FF2B5EF4-FFF2-40B4-BE49-F238E27FC236}">
                <a16:creationId xmlns:a16="http://schemas.microsoft.com/office/drawing/2014/main" id="{10994955-CED5-3E1B-7F3C-835E48DC7E7A}"/>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8001" t="37311" r="2234" b="36582"/>
          <a:stretch/>
        </p:blipFill>
        <p:spPr bwMode="auto">
          <a:xfrm>
            <a:off x="581967" y="6528043"/>
            <a:ext cx="1678913" cy="255133"/>
          </a:xfrm>
          <a:prstGeom prst="rect">
            <a:avLst/>
          </a:prstGeom>
          <a:noFill/>
          <a:extLst>
            <a:ext uri="{909E8E84-426E-40DD-AFC4-6F175D3DCCD1}">
              <a14:hiddenFill xmlns:a14="http://schemas.microsoft.com/office/drawing/2010/main">
                <a:solidFill>
                  <a:srgbClr val="FFFFFF"/>
                </a:solidFill>
              </a14:hiddenFill>
            </a:ext>
          </a:extLst>
        </p:spPr>
      </p:pic>
      <p:sp>
        <p:nvSpPr>
          <p:cNvPr id="3" name="Rectangle 6">
            <a:extLst>
              <a:ext uri="{FF2B5EF4-FFF2-40B4-BE49-F238E27FC236}">
                <a16:creationId xmlns:a16="http://schemas.microsoft.com/office/drawing/2014/main" id="{B0412580-A7E8-3551-02A1-C9D9D633B815}"/>
              </a:ext>
            </a:extLst>
          </p:cNvPr>
          <p:cNvSpPr/>
          <p:nvPr/>
        </p:nvSpPr>
        <p:spPr>
          <a:xfrm>
            <a:off x="2732818" y="6622035"/>
            <a:ext cx="9459182" cy="255133"/>
          </a:xfrm>
          <a:prstGeom prst="rect">
            <a:avLst/>
          </a:prstGeom>
          <a:solidFill>
            <a:srgbClr val="254F96">
              <a:alpha val="9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aphicFrame>
        <p:nvGraphicFramePr>
          <p:cNvPr id="13" name="Chart 12">
            <a:extLst>
              <a:ext uri="{FF2B5EF4-FFF2-40B4-BE49-F238E27FC236}">
                <a16:creationId xmlns:a16="http://schemas.microsoft.com/office/drawing/2014/main" id="{2FDC37FB-F9CB-CB51-3444-07C987959459}"/>
              </a:ext>
            </a:extLst>
          </p:cNvPr>
          <p:cNvGraphicFramePr/>
          <p:nvPr>
            <p:extLst>
              <p:ext uri="{D42A27DB-BD31-4B8C-83A1-F6EECF244321}">
                <p14:modId xmlns:p14="http://schemas.microsoft.com/office/powerpoint/2010/main" val="370357582"/>
              </p:ext>
            </p:extLst>
          </p:nvPr>
        </p:nvGraphicFramePr>
        <p:xfrm>
          <a:off x="816149" y="1793654"/>
          <a:ext cx="8128000" cy="4440162"/>
        </p:xfrm>
        <a:graphic>
          <a:graphicData uri="http://schemas.openxmlformats.org/drawingml/2006/chart">
            <c:chart xmlns:c="http://schemas.openxmlformats.org/drawingml/2006/chart" xmlns:r="http://schemas.openxmlformats.org/officeDocument/2006/relationships" r:id="rId3"/>
          </a:graphicData>
        </a:graphic>
      </p:graphicFrame>
      <p:cxnSp>
        <p:nvCxnSpPr>
          <p:cNvPr id="15" name="Straight Connector 14">
            <a:extLst>
              <a:ext uri="{FF2B5EF4-FFF2-40B4-BE49-F238E27FC236}">
                <a16:creationId xmlns:a16="http://schemas.microsoft.com/office/drawing/2014/main" id="{4F7F9C2D-FC89-FE2F-3E35-0FD7EF539AB6}"/>
              </a:ext>
            </a:extLst>
          </p:cNvPr>
          <p:cNvCxnSpPr>
            <a:cxnSpLocks/>
          </p:cNvCxnSpPr>
          <p:nvPr/>
        </p:nvCxnSpPr>
        <p:spPr>
          <a:xfrm>
            <a:off x="5235191" y="2311121"/>
            <a:ext cx="4114292" cy="677715"/>
          </a:xfrm>
          <a:prstGeom prst="line">
            <a:avLst/>
          </a:prstGeom>
          <a:ln w="38100">
            <a:solidFill>
              <a:schemeClr val="bg2">
                <a:lumMod val="50000"/>
              </a:schemeClr>
            </a:solidFill>
            <a:prstDash val="lgDash"/>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47344484-8402-A263-F466-E2DCFDA5D226}"/>
              </a:ext>
            </a:extLst>
          </p:cNvPr>
          <p:cNvCxnSpPr>
            <a:cxnSpLocks/>
          </p:cNvCxnSpPr>
          <p:nvPr/>
        </p:nvCxnSpPr>
        <p:spPr>
          <a:xfrm flipV="1">
            <a:off x="1980502" y="2853732"/>
            <a:ext cx="7243048" cy="790152"/>
          </a:xfrm>
          <a:prstGeom prst="line">
            <a:avLst/>
          </a:prstGeom>
          <a:ln w="38100">
            <a:solidFill>
              <a:schemeClr val="accent6"/>
            </a:solidFill>
            <a:prstDash val="lgDash"/>
          </a:ln>
        </p:spPr>
        <p:style>
          <a:lnRef idx="1">
            <a:schemeClr val="accent1"/>
          </a:lnRef>
          <a:fillRef idx="0">
            <a:schemeClr val="accent1"/>
          </a:fillRef>
          <a:effectRef idx="0">
            <a:schemeClr val="accent1"/>
          </a:effectRef>
          <a:fontRef idx="minor">
            <a:schemeClr val="tx1"/>
          </a:fontRef>
        </p:style>
      </p:cxnSp>
      <p:sp>
        <p:nvSpPr>
          <p:cNvPr id="19" name="TextBox 18">
            <a:extLst>
              <a:ext uri="{FF2B5EF4-FFF2-40B4-BE49-F238E27FC236}">
                <a16:creationId xmlns:a16="http://schemas.microsoft.com/office/drawing/2014/main" id="{93D759F0-ABBE-F1D2-1FE5-BBA5813AC202}"/>
              </a:ext>
            </a:extLst>
          </p:cNvPr>
          <p:cNvSpPr txBox="1"/>
          <p:nvPr/>
        </p:nvSpPr>
        <p:spPr>
          <a:xfrm>
            <a:off x="9223550" y="2945835"/>
            <a:ext cx="2540359" cy="923330"/>
          </a:xfrm>
          <a:prstGeom prst="rect">
            <a:avLst/>
          </a:prstGeom>
          <a:noFill/>
        </p:spPr>
        <p:txBody>
          <a:bodyPr wrap="square" rtlCol="0">
            <a:spAutoFit/>
          </a:bodyPr>
          <a:lstStyle/>
          <a:p>
            <a:pPr algn="ctr"/>
            <a:r>
              <a:rPr lang="en-US" b="1" dirty="0"/>
              <a:t>Employers See Dramatically Lower Overall Healthcare Costs</a:t>
            </a:r>
          </a:p>
        </p:txBody>
      </p:sp>
      <p:sp>
        <p:nvSpPr>
          <p:cNvPr id="20" name="TextBox 19">
            <a:extLst>
              <a:ext uri="{FF2B5EF4-FFF2-40B4-BE49-F238E27FC236}">
                <a16:creationId xmlns:a16="http://schemas.microsoft.com/office/drawing/2014/main" id="{90E960F9-80CD-9B92-C447-18EE3C1476C8}"/>
              </a:ext>
            </a:extLst>
          </p:cNvPr>
          <p:cNvSpPr txBox="1"/>
          <p:nvPr/>
        </p:nvSpPr>
        <p:spPr>
          <a:xfrm>
            <a:off x="9223551" y="2065506"/>
            <a:ext cx="2540359" cy="923330"/>
          </a:xfrm>
          <a:prstGeom prst="rect">
            <a:avLst/>
          </a:prstGeom>
          <a:noFill/>
        </p:spPr>
        <p:txBody>
          <a:bodyPr wrap="square" rtlCol="0">
            <a:spAutoFit/>
          </a:bodyPr>
          <a:lstStyle/>
          <a:p>
            <a:pPr algn="ctr"/>
            <a:r>
              <a:rPr lang="en-US" b="1" dirty="0">
                <a:solidFill>
                  <a:schemeClr val="accent6">
                    <a:lumMod val="75000"/>
                  </a:schemeClr>
                </a:solidFill>
              </a:rPr>
              <a:t>Healthcare </a:t>
            </a:r>
            <a:r>
              <a:rPr lang="en-US" b="1" i="1" dirty="0">
                <a:solidFill>
                  <a:schemeClr val="accent6">
                    <a:lumMod val="75000"/>
                  </a:schemeClr>
                </a:solidFill>
              </a:rPr>
              <a:t>Delivery</a:t>
            </a:r>
            <a:r>
              <a:rPr lang="en-US" b="1" dirty="0">
                <a:solidFill>
                  <a:schemeClr val="accent6">
                    <a:lumMod val="75000"/>
                  </a:schemeClr>
                </a:solidFill>
              </a:rPr>
              <a:t> Costs Are Able to Continue to Grow</a:t>
            </a:r>
          </a:p>
        </p:txBody>
      </p:sp>
    </p:spTree>
    <p:extLst>
      <p:ext uri="{BB962C8B-B14F-4D97-AF65-F5344CB8AC3E}">
        <p14:creationId xmlns:p14="http://schemas.microsoft.com/office/powerpoint/2010/main" val="424649336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87B89F-DAD6-6909-B929-104898F647DC}"/>
            </a:ext>
          </a:extLst>
        </p:cNvPr>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69ACB7BA-9C15-20F8-F38F-B14116D8AB2C}"/>
              </a:ext>
            </a:extLst>
          </p:cNvPr>
          <p:cNvSpPr>
            <a:spLocks noGrp="1"/>
          </p:cNvSpPr>
          <p:nvPr>
            <p:ph type="sldNum" sz="quarter" idx="12"/>
          </p:nvPr>
        </p:nvSpPr>
        <p:spPr>
          <a:xfrm>
            <a:off x="9223551" y="6277663"/>
            <a:ext cx="2743200" cy="250380"/>
          </a:xfrm>
        </p:spPr>
        <p:txBody>
          <a:bodyPr/>
          <a:lstStyle/>
          <a:p>
            <a:fld id="{3AFC719D-C4A7-4544-876E-D411D11AF6C9}" type="slidenum">
              <a:rPr lang="en-US" smtClean="0"/>
              <a:t>18</a:t>
            </a:fld>
            <a:endParaRPr lang="en-US" dirty="0"/>
          </a:p>
        </p:txBody>
      </p:sp>
      <p:sp>
        <p:nvSpPr>
          <p:cNvPr id="27" name="Title 1">
            <a:extLst>
              <a:ext uri="{FF2B5EF4-FFF2-40B4-BE49-F238E27FC236}">
                <a16:creationId xmlns:a16="http://schemas.microsoft.com/office/drawing/2014/main" id="{20AA7C80-C75C-F656-2A18-BEED017FA9BB}"/>
              </a:ext>
            </a:extLst>
          </p:cNvPr>
          <p:cNvSpPr txBox="1">
            <a:spLocks/>
          </p:cNvSpPr>
          <p:nvPr/>
        </p:nvSpPr>
        <p:spPr>
          <a:xfrm>
            <a:off x="319042" y="64776"/>
            <a:ext cx="10515600" cy="1325563"/>
          </a:xfrm>
          <a:prstGeom prst="rect">
            <a:avLst/>
          </a:prstGeom>
        </p:spPr>
        <p:txBody>
          <a:bodyPr vert="horz" lIns="91440" tIns="45720" rIns="91440" bIns="45720" rtlCol="0" anchor="ctr">
            <a:normAutofit/>
          </a:bodyPr>
          <a:lstStyle>
            <a:lvl1pPr algn="l" defTabSz="914411" rtl="0" eaLnBrk="1" latinLnBrk="0" hangingPunct="1">
              <a:lnSpc>
                <a:spcPct val="90000"/>
              </a:lnSpc>
              <a:spcBef>
                <a:spcPct val="0"/>
              </a:spcBef>
              <a:buNone/>
              <a:defRPr sz="4400" kern="1200">
                <a:solidFill>
                  <a:schemeClr val="tx1"/>
                </a:solidFill>
                <a:latin typeface="+mj-lt"/>
                <a:ea typeface="+mj-ea"/>
                <a:cs typeface="+mj-cs"/>
              </a:defRPr>
            </a:lvl1pPr>
          </a:lstStyle>
          <a:p>
            <a:r>
              <a:rPr lang="en-US" b="1" dirty="0">
                <a:latin typeface="Garamond" panose="02020404030301010803" pitchFamily="18" charset="0"/>
              </a:rPr>
              <a:t>Traditional Value-Based Care is Backwards</a:t>
            </a:r>
          </a:p>
        </p:txBody>
      </p:sp>
      <p:pic>
        <p:nvPicPr>
          <p:cNvPr id="2" name="Picture 2" descr="Key Benefit Administrators Partners with Tennova Healthcare and UT Medical  Center to Provide Direct-to-Employer Health Plans for East Tennessee  Employers | Business Wire">
            <a:extLst>
              <a:ext uri="{FF2B5EF4-FFF2-40B4-BE49-F238E27FC236}">
                <a16:creationId xmlns:a16="http://schemas.microsoft.com/office/drawing/2014/main" id="{90211593-E930-5924-3C4A-FB53F8B5D460}"/>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8001" t="37311" r="2234" b="36582"/>
          <a:stretch/>
        </p:blipFill>
        <p:spPr bwMode="auto">
          <a:xfrm>
            <a:off x="581967" y="6528043"/>
            <a:ext cx="1678913" cy="255133"/>
          </a:xfrm>
          <a:prstGeom prst="rect">
            <a:avLst/>
          </a:prstGeom>
          <a:noFill/>
          <a:extLst>
            <a:ext uri="{909E8E84-426E-40DD-AFC4-6F175D3DCCD1}">
              <a14:hiddenFill xmlns:a14="http://schemas.microsoft.com/office/drawing/2010/main">
                <a:solidFill>
                  <a:srgbClr val="FFFFFF"/>
                </a:solidFill>
              </a14:hiddenFill>
            </a:ext>
          </a:extLst>
        </p:spPr>
      </p:pic>
      <p:sp>
        <p:nvSpPr>
          <p:cNvPr id="3" name="Rectangle 6">
            <a:extLst>
              <a:ext uri="{FF2B5EF4-FFF2-40B4-BE49-F238E27FC236}">
                <a16:creationId xmlns:a16="http://schemas.microsoft.com/office/drawing/2014/main" id="{B0D660ED-B4CA-3032-3E97-052ADEC6E232}"/>
              </a:ext>
            </a:extLst>
          </p:cNvPr>
          <p:cNvSpPr/>
          <p:nvPr/>
        </p:nvSpPr>
        <p:spPr>
          <a:xfrm>
            <a:off x="2732818" y="6622035"/>
            <a:ext cx="9459182" cy="255133"/>
          </a:xfrm>
          <a:prstGeom prst="rect">
            <a:avLst/>
          </a:prstGeom>
          <a:solidFill>
            <a:srgbClr val="254F96">
              <a:alpha val="9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Content Placeholder 2">
            <a:extLst>
              <a:ext uri="{FF2B5EF4-FFF2-40B4-BE49-F238E27FC236}">
                <a16:creationId xmlns:a16="http://schemas.microsoft.com/office/drawing/2014/main" id="{7F8FCB88-EDD7-4D7E-5A9B-AC06F9343283}"/>
              </a:ext>
            </a:extLst>
          </p:cNvPr>
          <p:cNvSpPr>
            <a:spLocks noGrp="1"/>
          </p:cNvSpPr>
          <p:nvPr>
            <p:ph idx="1"/>
          </p:nvPr>
        </p:nvSpPr>
        <p:spPr>
          <a:xfrm>
            <a:off x="838202" y="1390339"/>
            <a:ext cx="10515600" cy="4786624"/>
          </a:xfrm>
        </p:spPr>
        <p:txBody>
          <a:bodyPr>
            <a:normAutofit fontScale="92500" lnSpcReduction="10000"/>
          </a:bodyPr>
          <a:lstStyle/>
          <a:p>
            <a:pPr>
              <a:spcAft>
                <a:spcPts val="2400"/>
              </a:spcAft>
              <a:buSzPct val="180000"/>
              <a:buBlip>
                <a:blip r:embed="rId3"/>
              </a:buBlip>
            </a:pPr>
            <a:r>
              <a:rPr lang="en-US" dirty="0"/>
              <a:t>Employers/payer and ACO provider organization spend millions forecasting and contracting for value-based care, negotiating about capitation, metrics, reporting periods and quality measurements. </a:t>
            </a:r>
          </a:p>
          <a:p>
            <a:pPr>
              <a:spcAft>
                <a:spcPts val="2400"/>
              </a:spcAft>
              <a:buSzPct val="180000"/>
              <a:buBlip>
                <a:blip r:embed="rId3"/>
              </a:buBlip>
            </a:pPr>
            <a:r>
              <a:rPr lang="en-US" dirty="0"/>
              <a:t>ACO provider organizations deliver care constantly encumbered by new metrics. Team cost millions watching and optimizing on the metrics. </a:t>
            </a:r>
          </a:p>
          <a:p>
            <a:pPr>
              <a:spcAft>
                <a:spcPts val="2400"/>
              </a:spcAft>
              <a:buSzPct val="180000"/>
              <a:buBlip>
                <a:blip r:embed="rId3"/>
              </a:buBlip>
            </a:pPr>
            <a:r>
              <a:rPr lang="en-US" dirty="0"/>
              <a:t>ACO provider organizations are solely responsible for patient engagement.   </a:t>
            </a:r>
          </a:p>
          <a:p>
            <a:pPr>
              <a:spcAft>
                <a:spcPts val="2400"/>
              </a:spcAft>
              <a:buSzPct val="180000"/>
              <a:buBlip>
                <a:blip r:embed="rId3"/>
              </a:buBlip>
            </a:pPr>
            <a:r>
              <a:rPr lang="en-US" dirty="0"/>
              <a:t>Messy assessments of metrics determine financial outcomes. </a:t>
            </a:r>
          </a:p>
          <a:p>
            <a:pPr>
              <a:spcAft>
                <a:spcPts val="2400"/>
              </a:spcAft>
              <a:buSzPct val="180000"/>
              <a:buBlip>
                <a:blip r:embed="rId3"/>
              </a:buBlip>
            </a:pPr>
            <a:r>
              <a:rPr lang="en-US" dirty="0"/>
              <a:t>Both the ACO provider organizations and the employers/payer find very little value and discontinue this effort. </a:t>
            </a:r>
          </a:p>
        </p:txBody>
      </p:sp>
    </p:spTree>
    <p:extLst>
      <p:ext uri="{BB962C8B-B14F-4D97-AF65-F5344CB8AC3E}">
        <p14:creationId xmlns:p14="http://schemas.microsoft.com/office/powerpoint/2010/main" val="136186827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0CFCE5-9F1B-F436-4835-80E5123429F6}"/>
            </a:ext>
          </a:extLst>
        </p:cNvPr>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D62D2931-75BD-BCA2-BB69-CCACAFB2AF27}"/>
              </a:ext>
            </a:extLst>
          </p:cNvPr>
          <p:cNvSpPr>
            <a:spLocks noGrp="1"/>
          </p:cNvSpPr>
          <p:nvPr>
            <p:ph type="sldNum" sz="quarter" idx="12"/>
          </p:nvPr>
        </p:nvSpPr>
        <p:spPr>
          <a:xfrm>
            <a:off x="9223551" y="6277663"/>
            <a:ext cx="2743200" cy="250380"/>
          </a:xfrm>
        </p:spPr>
        <p:txBody>
          <a:bodyPr/>
          <a:lstStyle/>
          <a:p>
            <a:fld id="{3AFC719D-C4A7-4544-876E-D411D11AF6C9}" type="slidenum">
              <a:rPr lang="en-US" smtClean="0"/>
              <a:t>19</a:t>
            </a:fld>
            <a:endParaRPr lang="en-US" dirty="0"/>
          </a:p>
        </p:txBody>
      </p:sp>
      <p:sp>
        <p:nvSpPr>
          <p:cNvPr id="27" name="Title 1">
            <a:extLst>
              <a:ext uri="{FF2B5EF4-FFF2-40B4-BE49-F238E27FC236}">
                <a16:creationId xmlns:a16="http://schemas.microsoft.com/office/drawing/2014/main" id="{0468DCD4-62FF-8537-00B9-EEF51653A3CF}"/>
              </a:ext>
            </a:extLst>
          </p:cNvPr>
          <p:cNvSpPr txBox="1">
            <a:spLocks/>
          </p:cNvSpPr>
          <p:nvPr/>
        </p:nvSpPr>
        <p:spPr>
          <a:xfrm>
            <a:off x="319042" y="64776"/>
            <a:ext cx="10515600" cy="1325563"/>
          </a:xfrm>
          <a:prstGeom prst="rect">
            <a:avLst/>
          </a:prstGeom>
        </p:spPr>
        <p:txBody>
          <a:bodyPr vert="horz" lIns="91440" tIns="45720" rIns="91440" bIns="45720" rtlCol="0" anchor="ctr">
            <a:normAutofit/>
          </a:bodyPr>
          <a:lstStyle>
            <a:lvl1pPr algn="l" defTabSz="914411" rtl="0" eaLnBrk="1" latinLnBrk="0" hangingPunct="1">
              <a:lnSpc>
                <a:spcPct val="90000"/>
              </a:lnSpc>
              <a:spcBef>
                <a:spcPct val="0"/>
              </a:spcBef>
              <a:buNone/>
              <a:defRPr sz="4400" kern="1200">
                <a:solidFill>
                  <a:schemeClr val="tx1"/>
                </a:solidFill>
                <a:latin typeface="+mj-lt"/>
                <a:ea typeface="+mj-ea"/>
                <a:cs typeface="+mj-cs"/>
              </a:defRPr>
            </a:lvl1pPr>
          </a:lstStyle>
          <a:p>
            <a:r>
              <a:rPr lang="en-US" b="1" dirty="0">
                <a:latin typeface="Garamond" panose="02020404030301010803" pitchFamily="18" charset="0"/>
              </a:rPr>
              <a:t>DTE’s Enable True Value-Based Care</a:t>
            </a:r>
          </a:p>
        </p:txBody>
      </p:sp>
      <p:pic>
        <p:nvPicPr>
          <p:cNvPr id="2" name="Picture 2" descr="Key Benefit Administrators Partners with Tennova Healthcare and UT Medical  Center to Provide Direct-to-Employer Health Plans for East Tennessee  Employers | Business Wire">
            <a:extLst>
              <a:ext uri="{FF2B5EF4-FFF2-40B4-BE49-F238E27FC236}">
                <a16:creationId xmlns:a16="http://schemas.microsoft.com/office/drawing/2014/main" id="{E6F9ECA2-A749-DF23-BBBC-26AC3E514508}"/>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8001" t="37311" r="2234" b="36582"/>
          <a:stretch/>
        </p:blipFill>
        <p:spPr bwMode="auto">
          <a:xfrm>
            <a:off x="581967" y="6528043"/>
            <a:ext cx="1678913" cy="255133"/>
          </a:xfrm>
          <a:prstGeom prst="rect">
            <a:avLst/>
          </a:prstGeom>
          <a:noFill/>
          <a:extLst>
            <a:ext uri="{909E8E84-426E-40DD-AFC4-6F175D3DCCD1}">
              <a14:hiddenFill xmlns:a14="http://schemas.microsoft.com/office/drawing/2010/main">
                <a:solidFill>
                  <a:srgbClr val="FFFFFF"/>
                </a:solidFill>
              </a14:hiddenFill>
            </a:ext>
          </a:extLst>
        </p:spPr>
      </p:pic>
      <p:sp>
        <p:nvSpPr>
          <p:cNvPr id="3" name="Rectangle 6">
            <a:extLst>
              <a:ext uri="{FF2B5EF4-FFF2-40B4-BE49-F238E27FC236}">
                <a16:creationId xmlns:a16="http://schemas.microsoft.com/office/drawing/2014/main" id="{18E71FFC-1509-4723-A7C8-5593BB4CF41A}"/>
              </a:ext>
            </a:extLst>
          </p:cNvPr>
          <p:cNvSpPr/>
          <p:nvPr/>
        </p:nvSpPr>
        <p:spPr>
          <a:xfrm>
            <a:off x="2732818" y="6622035"/>
            <a:ext cx="9459182" cy="255133"/>
          </a:xfrm>
          <a:prstGeom prst="rect">
            <a:avLst/>
          </a:prstGeom>
          <a:solidFill>
            <a:srgbClr val="254F96">
              <a:alpha val="9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Content Placeholder 2">
            <a:extLst>
              <a:ext uri="{FF2B5EF4-FFF2-40B4-BE49-F238E27FC236}">
                <a16:creationId xmlns:a16="http://schemas.microsoft.com/office/drawing/2014/main" id="{389B951D-D08A-15C7-84CC-4C257CECE26B}"/>
              </a:ext>
            </a:extLst>
          </p:cNvPr>
          <p:cNvSpPr>
            <a:spLocks noGrp="1"/>
          </p:cNvSpPr>
          <p:nvPr>
            <p:ph idx="1"/>
          </p:nvPr>
        </p:nvSpPr>
        <p:spPr>
          <a:xfrm>
            <a:off x="838202" y="1390339"/>
            <a:ext cx="10515600" cy="4786624"/>
          </a:xfrm>
        </p:spPr>
        <p:txBody>
          <a:bodyPr>
            <a:normAutofit/>
          </a:bodyPr>
          <a:lstStyle/>
          <a:p>
            <a:pPr>
              <a:spcAft>
                <a:spcPts val="2400"/>
              </a:spcAft>
              <a:buSzPct val="180000"/>
              <a:buBlip>
                <a:blip r:embed="rId3"/>
              </a:buBlip>
            </a:pPr>
            <a:r>
              <a:rPr lang="en-US" dirty="0"/>
              <a:t>Employers Choose Maine Street Health because they trust the provider organizations.</a:t>
            </a:r>
          </a:p>
          <a:p>
            <a:pPr>
              <a:spcAft>
                <a:spcPts val="2400"/>
              </a:spcAft>
              <a:buSzPct val="180000"/>
              <a:buBlip>
                <a:blip r:embed="rId3"/>
              </a:buBlip>
            </a:pPr>
            <a:r>
              <a:rPr lang="en-US" dirty="0"/>
              <a:t>Providers in Maine Street Health have the flexibility to deliver exemplary care at a value price.</a:t>
            </a:r>
          </a:p>
          <a:p>
            <a:pPr>
              <a:spcAft>
                <a:spcPts val="2400"/>
              </a:spcAft>
              <a:buSzPct val="180000"/>
              <a:buBlip>
                <a:blip r:embed="rId3"/>
              </a:buBlip>
            </a:pPr>
            <a:r>
              <a:rPr lang="en-US" dirty="0"/>
              <a:t>Employers and provider organizations work </a:t>
            </a:r>
            <a:r>
              <a:rPr lang="en-US" i="1" dirty="0"/>
              <a:t>together</a:t>
            </a:r>
            <a:r>
              <a:rPr lang="en-US" dirty="0"/>
              <a:t> to engage employee members. </a:t>
            </a:r>
          </a:p>
          <a:p>
            <a:pPr>
              <a:spcAft>
                <a:spcPts val="2400"/>
              </a:spcAft>
              <a:buSzPct val="180000"/>
              <a:buBlip>
                <a:blip r:embed="rId3"/>
              </a:buBlip>
            </a:pPr>
            <a:r>
              <a:rPr lang="en-US" dirty="0"/>
              <a:t>Employer loyalty deepens. Employee health improves. Providers see financial gains. </a:t>
            </a:r>
          </a:p>
        </p:txBody>
      </p:sp>
    </p:spTree>
    <p:extLst>
      <p:ext uri="{BB962C8B-B14F-4D97-AF65-F5344CB8AC3E}">
        <p14:creationId xmlns:p14="http://schemas.microsoft.com/office/powerpoint/2010/main" val="3625059093"/>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ARTICULATE_SLIDE_COUNT" val="29"/>
  <p:tag name="ARTICULATE_PROJECT_OPEN" val="0"/>
</p:tagLst>
</file>

<file path=ppt/tags/tag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70643EB6F1B5124D9F8A552D994B00B3" ma:contentTypeVersion="15" ma:contentTypeDescription="Create a new document." ma:contentTypeScope="" ma:versionID="07f1af8f4acde182c1b3188558a15fee">
  <xsd:schema xmlns:xsd="http://www.w3.org/2001/XMLSchema" xmlns:xs="http://www.w3.org/2001/XMLSchema" xmlns:p="http://schemas.microsoft.com/office/2006/metadata/properties" xmlns:ns1="http://schemas.microsoft.com/sharepoint/v3" xmlns:ns3="73b4665c-884a-4375-a2af-95b1b9fefebd" xmlns:ns4="f00513cd-d03f-4a36-8031-96ec2b1a2332" targetNamespace="http://schemas.microsoft.com/office/2006/metadata/properties" ma:root="true" ma:fieldsID="b940c9d8acf570648efc7a679d034003" ns1:_="" ns3:_="" ns4:_="">
    <xsd:import namespace="http://schemas.microsoft.com/sharepoint/v3"/>
    <xsd:import namespace="73b4665c-884a-4375-a2af-95b1b9fefebd"/>
    <xsd:import namespace="f00513cd-d03f-4a36-8031-96ec2b1a2332"/>
    <xsd:element name="properties">
      <xsd:complexType>
        <xsd:sequence>
          <xsd:element name="documentManagement">
            <xsd:complexType>
              <xsd:all>
                <xsd:element ref="ns3:MediaServiceMetadata" minOccurs="0"/>
                <xsd:element ref="ns3:MediaServiceFastMetadata" minOccurs="0"/>
                <xsd:element ref="ns3:MediaServiceAutoTags" minOccurs="0"/>
                <xsd:element ref="ns3:MediaServiceDateTaken" minOccurs="0"/>
                <xsd:element ref="ns3:MediaServiceOCR" minOccurs="0"/>
                <xsd:element ref="ns3:MediaServiceEventHashCode" minOccurs="0"/>
                <xsd:element ref="ns3:MediaServiceGenerationTime" minOccurs="0"/>
                <xsd:element ref="ns3:MediaServiceLocation" minOccurs="0"/>
                <xsd:element ref="ns1:_ip_UnifiedCompliancePolicyProperties" minOccurs="0"/>
                <xsd:element ref="ns1:_ip_UnifiedCompliancePolicyUIAction" minOccurs="0"/>
                <xsd:element ref="ns4:SharedWithUsers" minOccurs="0"/>
                <xsd:element ref="ns4:SharedWithDetails" minOccurs="0"/>
                <xsd:element ref="ns4:SharingHintHash" minOccurs="0"/>
                <xsd:element ref="ns3:MediaServiceAutoKeyPoints" minOccurs="0"/>
                <xsd:element ref="ns3:MediaServiceKeyPoint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16" nillable="true" ma:displayName="Unified Compliance Policy Properties" ma:hidden="true" ma:internalName="_ip_UnifiedCompliancePolicyProperties">
      <xsd:simpleType>
        <xsd:restriction base="dms:Note"/>
      </xsd:simpleType>
    </xsd:element>
    <xsd:element name="_ip_UnifiedCompliancePolicyUIAction" ma:index="17" nillable="true" ma:displayName="Unified Compliance Policy UI Action" ma:hidden="true" ma:internalName="_ip_UnifiedCompliancePolicyUIAction">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3b4665c-884a-4375-a2af-95b1b9fefebd"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Tags" ma:index="10" nillable="true" ma:displayName="MediaServiceAutoTags" ma:internalName="MediaServiceAutoTags" ma:readOnly="true">
      <xsd:simpleType>
        <xsd:restriction base="dms:Text"/>
      </xsd:simpleType>
    </xsd:element>
    <xsd:element name="MediaServiceDateTaken" ma:index="11" nillable="true" ma:displayName="MediaServiceDateTaken" ma:hidden="true" ma:internalName="MediaServiceDateTaken" ma:readOnly="true">
      <xsd:simpleType>
        <xsd:restriction base="dms:Text"/>
      </xsd:simpleType>
    </xsd:element>
    <xsd:element name="MediaServiceOCR" ma:index="12" nillable="true" ma:displayName="MediaServiceOCR" ma:internalName="MediaServiceOCR" ma:readOnly="true">
      <xsd:simpleType>
        <xsd:restriction base="dms:Note">
          <xsd:maxLength value="255"/>
        </xsd:restriction>
      </xsd:simpleType>
    </xsd:element>
    <xsd:element name="MediaServiceEventHashCode" ma:index="13" nillable="true" ma:displayName="MediaServiceEventHashCode" ma:hidden="true" ma:internalName="MediaServiceEventHashCode" ma:readOnly="true">
      <xsd:simpleType>
        <xsd:restriction base="dms:Text"/>
      </xsd:simpleType>
    </xsd:element>
    <xsd:element name="MediaServiceGenerationTime" ma:index="14" nillable="true" ma:displayName="MediaServiceGenerationTime" ma:hidden="true" ma:internalName="MediaServiceGenerationTime" ma:readOnly="true">
      <xsd:simpleType>
        <xsd:restriction base="dms:Text"/>
      </xsd:simpleType>
    </xsd:element>
    <xsd:element name="MediaServiceLocation" ma:index="15" nillable="true" ma:displayName="Location" ma:internalName="MediaServiceLocation" ma:readOnly="true">
      <xsd:simpleType>
        <xsd:restriction base="dms:Text"/>
      </xsd:simpleType>
    </xsd:element>
    <xsd:element name="MediaServiceAutoKeyPoints" ma:index="21" nillable="true" ma:displayName="MediaServiceAutoKeyPoints" ma:hidden="true" ma:internalName="MediaServiceAutoKeyPoints" ma:readOnly="true">
      <xsd:simpleType>
        <xsd:restriction base="dms:Note"/>
      </xsd:simpleType>
    </xsd:element>
    <xsd:element name="MediaServiceKeyPoints" ma:index="22" nillable="true" ma:displayName="KeyPoints" ma:internalName="MediaServiceKeyPoints"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f00513cd-d03f-4a36-8031-96ec2b1a2332" elementFormDefault="qualified">
    <xsd:import namespace="http://schemas.microsoft.com/office/2006/documentManagement/types"/>
    <xsd:import namespace="http://schemas.microsoft.com/office/infopath/2007/PartnerControls"/>
    <xsd:element name="SharedWithUsers" ma:index="18"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9" nillable="true" ma:displayName="Shared With Details" ma:internalName="SharedWithDetails" ma:readOnly="true">
      <xsd:simpleType>
        <xsd:restriction base="dms:Note">
          <xsd:maxLength value="255"/>
        </xsd:restriction>
      </xsd:simpleType>
    </xsd:element>
    <xsd:element name="SharingHintHash" ma:index="20" nillable="true" ma:displayName="Sharing Hint Hash" ma:hidden="true" ma:internalName="SharingHintHash"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_ip_UnifiedCompliancePolicyProperties xmlns="http://schemas.microsoft.com/sharepoint/v3" xsi:nil="true"/>
  </documentManagement>
</p:properties>
</file>

<file path=customXml/itemProps1.xml><?xml version="1.0" encoding="utf-8"?>
<ds:datastoreItem xmlns:ds="http://schemas.openxmlformats.org/officeDocument/2006/customXml" ds:itemID="{56F5604B-F201-4300-A086-2482203EA6BC}">
  <ds:schemaRefs>
    <ds:schemaRef ds:uri="http://schemas.microsoft.com/sharepoint/v3/contenttype/forms"/>
  </ds:schemaRefs>
</ds:datastoreItem>
</file>

<file path=customXml/itemProps2.xml><?xml version="1.0" encoding="utf-8"?>
<ds:datastoreItem xmlns:ds="http://schemas.openxmlformats.org/officeDocument/2006/customXml" ds:itemID="{BF208B6D-7736-4F94-9580-EE469D7406F7}">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3b4665c-884a-4375-a2af-95b1b9fefebd"/>
    <ds:schemaRef ds:uri="f00513cd-d03f-4a36-8031-96ec2b1a2332"/>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F2DF0AA1-9465-45DA-A905-9501DB639AB6}">
  <ds:schemaRefs>
    <ds:schemaRef ds:uri="http://schemas.openxmlformats.org/package/2006/metadata/core-properties"/>
    <ds:schemaRef ds:uri="http://schemas.microsoft.com/sharepoint/v3"/>
    <ds:schemaRef ds:uri="http://schemas.microsoft.com/office/2006/metadata/properties"/>
    <ds:schemaRef ds:uri="http://schemas.microsoft.com/office/2006/documentManagement/types"/>
    <ds:schemaRef ds:uri="http://purl.org/dc/dcmitype/"/>
    <ds:schemaRef ds:uri="http://purl.org/dc/terms/"/>
    <ds:schemaRef ds:uri="http://purl.org/dc/elements/1.1/"/>
    <ds:schemaRef ds:uri="73b4665c-884a-4375-a2af-95b1b9fefebd"/>
    <ds:schemaRef ds:uri="http://www.w3.org/XML/1998/namespace"/>
    <ds:schemaRef ds:uri="http://schemas.microsoft.com/office/infopath/2007/PartnerControls"/>
    <ds:schemaRef ds:uri="f00513cd-d03f-4a36-8031-96ec2b1a2332"/>
  </ds:schemaRefs>
</ds:datastoreItem>
</file>

<file path=docProps/app.xml><?xml version="1.0" encoding="utf-8"?>
<Properties xmlns="http://schemas.openxmlformats.org/officeDocument/2006/extended-properties" xmlns:vt="http://schemas.openxmlformats.org/officeDocument/2006/docPropsVTypes">
  <TotalTime>46514</TotalTime>
  <Words>1910</Words>
  <Application>Microsoft Office PowerPoint</Application>
  <PresentationFormat>Widescreen</PresentationFormat>
  <Paragraphs>694</Paragraphs>
  <Slides>19</Slides>
  <Notes>1</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19</vt:i4>
      </vt:variant>
    </vt:vector>
  </HeadingPairs>
  <TitlesOfParts>
    <vt:vector size="28" baseType="lpstr">
      <vt:lpstr>Aileron Light</vt:lpstr>
      <vt:lpstr>Aptos Narrow</vt:lpstr>
      <vt:lpstr>Arial</vt:lpstr>
      <vt:lpstr>Arial Black</vt:lpstr>
      <vt:lpstr>Calibri</vt:lpstr>
      <vt:lpstr>Calibri Light</vt:lpstr>
      <vt:lpstr>Century Gothic</vt:lpstr>
      <vt:lpstr>Garamond</vt:lpstr>
      <vt:lpstr>Office Theme</vt:lpstr>
      <vt:lpstr>PowerPoint Presentation</vt:lpstr>
      <vt:lpstr>Direct-to-Employer Strategy: Only Available to Premier Health Systems</vt:lpstr>
      <vt:lpstr>SLUHN Advantage: Strong Brand Quality</vt:lpstr>
      <vt:lpstr>SLUHN Advantage: Best-in-Area Patient Access</vt:lpstr>
      <vt:lpstr>SLUHN Advantage: Leading Care Quality</vt:lpstr>
      <vt:lpstr>SLUHN Advantage: Care at Value Pricing</vt:lpstr>
      <vt:lpstr>PowerPoint Presentation</vt:lpstr>
      <vt:lpstr>PowerPoint Presentation</vt:lpstr>
      <vt:lpstr>PowerPoint Presentation</vt:lpstr>
      <vt:lpstr>PowerPoint Presentation</vt:lpstr>
      <vt:lpstr>Per-Member Medical Spend in Maine</vt:lpstr>
      <vt:lpstr>The Impact of Just 1% Price or Net Collections Improvement</vt:lpstr>
      <vt:lpstr>Estimated Financial Returns and Assumptions</vt:lpstr>
      <vt:lpstr>FOUR-YEAR PROJECTIONS</vt:lpstr>
      <vt:lpstr>SINGLE YEAR SUMMARY</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Hill, Jack</dc:creator>
  <cp:lastModifiedBy>Taylor Davis</cp:lastModifiedBy>
  <cp:revision>114</cp:revision>
  <cp:lastPrinted>2023-07-13T10:24:43Z</cp:lastPrinted>
  <dcterms:created xsi:type="dcterms:W3CDTF">2021-01-20T14:12:11Z</dcterms:created>
  <dcterms:modified xsi:type="dcterms:W3CDTF">2024-12-03T02:33:11Z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0x01010070643EB6F1B5124D9F8A552D994B00B3</vt:lpwstr>
  </property>
</Properties>
</file>