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53"/>
  </p:notesMasterIdLst>
  <p:sldIdLst>
    <p:sldId id="577" r:id="rId5"/>
    <p:sldId id="597" r:id="rId6"/>
    <p:sldId id="598" r:id="rId7"/>
    <p:sldId id="599" r:id="rId8"/>
    <p:sldId id="454" r:id="rId9"/>
    <p:sldId id="549" r:id="rId10"/>
    <p:sldId id="487" r:id="rId11"/>
    <p:sldId id="452" r:id="rId12"/>
    <p:sldId id="518" r:id="rId13"/>
    <p:sldId id="520" r:id="rId14"/>
    <p:sldId id="466" r:id="rId15"/>
    <p:sldId id="559" r:id="rId16"/>
    <p:sldId id="580" r:id="rId17"/>
    <p:sldId id="582" r:id="rId18"/>
    <p:sldId id="558" r:id="rId19"/>
    <p:sldId id="548" r:id="rId20"/>
    <p:sldId id="521" r:id="rId21"/>
    <p:sldId id="564" r:id="rId22"/>
    <p:sldId id="587" r:id="rId23"/>
    <p:sldId id="456" r:id="rId24"/>
    <p:sldId id="489" r:id="rId25"/>
    <p:sldId id="499" r:id="rId26"/>
    <p:sldId id="458" r:id="rId27"/>
    <p:sldId id="446" r:id="rId28"/>
    <p:sldId id="461" r:id="rId29"/>
    <p:sldId id="462" r:id="rId30"/>
    <p:sldId id="469" r:id="rId31"/>
    <p:sldId id="336" r:id="rId32"/>
    <p:sldId id="337" r:id="rId33"/>
    <p:sldId id="578" r:id="rId34"/>
    <p:sldId id="583" r:id="rId35"/>
    <p:sldId id="525" r:id="rId36"/>
    <p:sldId id="584" r:id="rId37"/>
    <p:sldId id="527" r:id="rId38"/>
    <p:sldId id="571" r:id="rId39"/>
    <p:sldId id="546" r:id="rId40"/>
    <p:sldId id="547"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EC4976-40EF-4348-83D6-2F64420739FF}" v="9" dt="2024-12-03T00:33:53.60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1110" y="9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22EC4976-40EF-4348-83D6-2F64420739FF}"/>
    <pc:docChg chg="custSel addSld modSld">
      <pc:chgData name="Taylor Davis" userId="5c9e72a0-c39f-4aa1-9d7d-64125e78cbe6" providerId="ADAL" clId="{22EC4976-40EF-4348-83D6-2F64420739FF}" dt="2024-12-03T00:33:53.606" v="479" actId="1076"/>
      <pc:docMkLst>
        <pc:docMk/>
      </pc:docMkLst>
      <pc:sldChg chg="modSp mod">
        <pc:chgData name="Taylor Davis" userId="5c9e72a0-c39f-4aa1-9d7d-64125e78cbe6" providerId="ADAL" clId="{22EC4976-40EF-4348-83D6-2F64420739FF}" dt="2024-12-03T00:18:39.610" v="51" actId="20577"/>
        <pc:sldMkLst>
          <pc:docMk/>
          <pc:sldMk cId="636727059" sldId="577"/>
        </pc:sldMkLst>
        <pc:spChg chg="mod">
          <ac:chgData name="Taylor Davis" userId="5c9e72a0-c39f-4aa1-9d7d-64125e78cbe6" providerId="ADAL" clId="{22EC4976-40EF-4348-83D6-2F64420739FF}" dt="2024-12-03T00:18:39.610" v="51" actId="20577"/>
          <ac:spMkLst>
            <pc:docMk/>
            <pc:sldMk cId="636727059" sldId="577"/>
            <ac:spMk id="5" creationId="{B981BBA2-A3ED-6F7B-693B-880E5B031B26}"/>
          </ac:spMkLst>
        </pc:spChg>
      </pc:sldChg>
      <pc:sldChg chg="delSp modSp add mod">
        <pc:chgData name="Taylor Davis" userId="5c9e72a0-c39f-4aa1-9d7d-64125e78cbe6" providerId="ADAL" clId="{22EC4976-40EF-4348-83D6-2F64420739FF}" dt="2024-12-03T00:23:20.543" v="137" actId="20577"/>
        <pc:sldMkLst>
          <pc:docMk/>
          <pc:sldMk cId="4166728828" sldId="597"/>
        </pc:sldMkLst>
        <pc:spChg chg="del">
          <ac:chgData name="Taylor Davis" userId="5c9e72a0-c39f-4aa1-9d7d-64125e78cbe6" providerId="ADAL" clId="{22EC4976-40EF-4348-83D6-2F64420739FF}" dt="2024-12-03T00:22:51.990" v="65" actId="478"/>
          <ac:spMkLst>
            <pc:docMk/>
            <pc:sldMk cId="4166728828" sldId="597"/>
            <ac:spMk id="9" creationId="{3AA1946D-2370-3937-43B6-7AAAA0156EA5}"/>
          </ac:spMkLst>
        </pc:spChg>
        <pc:spChg chg="del">
          <ac:chgData name="Taylor Davis" userId="5c9e72a0-c39f-4aa1-9d7d-64125e78cbe6" providerId="ADAL" clId="{22EC4976-40EF-4348-83D6-2F64420739FF}" dt="2024-12-03T00:22:51.990" v="65" actId="478"/>
          <ac:spMkLst>
            <pc:docMk/>
            <pc:sldMk cId="4166728828" sldId="597"/>
            <ac:spMk id="10" creationId="{C1427FCD-60BD-44A4-7EC8-0DA3A8B8AAB4}"/>
          </ac:spMkLst>
        </pc:spChg>
        <pc:spChg chg="del">
          <ac:chgData name="Taylor Davis" userId="5c9e72a0-c39f-4aa1-9d7d-64125e78cbe6" providerId="ADAL" clId="{22EC4976-40EF-4348-83D6-2F64420739FF}" dt="2024-12-03T00:22:51.990" v="65" actId="478"/>
          <ac:spMkLst>
            <pc:docMk/>
            <pc:sldMk cId="4166728828" sldId="597"/>
            <ac:spMk id="11" creationId="{8AD15935-ECCD-D33E-6374-87A76F55473C}"/>
          </ac:spMkLst>
        </pc:spChg>
        <pc:spChg chg="del">
          <ac:chgData name="Taylor Davis" userId="5c9e72a0-c39f-4aa1-9d7d-64125e78cbe6" providerId="ADAL" clId="{22EC4976-40EF-4348-83D6-2F64420739FF}" dt="2024-12-03T00:22:51.990" v="65" actId="478"/>
          <ac:spMkLst>
            <pc:docMk/>
            <pc:sldMk cId="4166728828" sldId="597"/>
            <ac:spMk id="12" creationId="{5F94E5B5-90A3-01DA-6460-61E0FBE73982}"/>
          </ac:spMkLst>
        </pc:spChg>
        <pc:spChg chg="del">
          <ac:chgData name="Taylor Davis" userId="5c9e72a0-c39f-4aa1-9d7d-64125e78cbe6" providerId="ADAL" clId="{22EC4976-40EF-4348-83D6-2F64420739FF}" dt="2024-12-03T00:22:51.990" v="65" actId="478"/>
          <ac:spMkLst>
            <pc:docMk/>
            <pc:sldMk cId="4166728828" sldId="597"/>
            <ac:spMk id="13" creationId="{81ED2F41-E94D-4EB7-140C-733A91ADF312}"/>
          </ac:spMkLst>
        </pc:spChg>
        <pc:spChg chg="del">
          <ac:chgData name="Taylor Davis" userId="5c9e72a0-c39f-4aa1-9d7d-64125e78cbe6" providerId="ADAL" clId="{22EC4976-40EF-4348-83D6-2F64420739FF}" dt="2024-12-03T00:22:51.990" v="65" actId="478"/>
          <ac:spMkLst>
            <pc:docMk/>
            <pc:sldMk cId="4166728828" sldId="597"/>
            <ac:spMk id="14" creationId="{2A316622-4106-CE16-17A4-8DC79524A1B9}"/>
          </ac:spMkLst>
        </pc:spChg>
        <pc:spChg chg="del">
          <ac:chgData name="Taylor Davis" userId="5c9e72a0-c39f-4aa1-9d7d-64125e78cbe6" providerId="ADAL" clId="{22EC4976-40EF-4348-83D6-2F64420739FF}" dt="2024-12-03T00:22:51.990" v="65" actId="478"/>
          <ac:spMkLst>
            <pc:docMk/>
            <pc:sldMk cId="4166728828" sldId="597"/>
            <ac:spMk id="15" creationId="{CB5443F6-CBCE-0B5E-95A0-4546ACCCA0A2}"/>
          </ac:spMkLst>
        </pc:spChg>
        <pc:spChg chg="del">
          <ac:chgData name="Taylor Davis" userId="5c9e72a0-c39f-4aa1-9d7d-64125e78cbe6" providerId="ADAL" clId="{22EC4976-40EF-4348-83D6-2F64420739FF}" dt="2024-12-03T00:22:51.990" v="65" actId="478"/>
          <ac:spMkLst>
            <pc:docMk/>
            <pc:sldMk cId="4166728828" sldId="597"/>
            <ac:spMk id="16" creationId="{51CA331C-EDBB-6424-3011-8BAA8071699E}"/>
          </ac:spMkLst>
        </pc:spChg>
        <pc:spChg chg="del">
          <ac:chgData name="Taylor Davis" userId="5c9e72a0-c39f-4aa1-9d7d-64125e78cbe6" providerId="ADAL" clId="{22EC4976-40EF-4348-83D6-2F64420739FF}" dt="2024-12-03T00:22:51.990" v="65" actId="478"/>
          <ac:spMkLst>
            <pc:docMk/>
            <pc:sldMk cId="4166728828" sldId="597"/>
            <ac:spMk id="17" creationId="{31855B83-A62D-B4EB-698B-7A3D235EB37F}"/>
          </ac:spMkLst>
        </pc:spChg>
        <pc:spChg chg="del">
          <ac:chgData name="Taylor Davis" userId="5c9e72a0-c39f-4aa1-9d7d-64125e78cbe6" providerId="ADAL" clId="{22EC4976-40EF-4348-83D6-2F64420739FF}" dt="2024-12-03T00:22:51.990" v="65" actId="478"/>
          <ac:spMkLst>
            <pc:docMk/>
            <pc:sldMk cId="4166728828" sldId="597"/>
            <ac:spMk id="18" creationId="{EE789833-C289-5294-8F2D-4D767E61DB81}"/>
          </ac:spMkLst>
        </pc:spChg>
        <pc:spChg chg="del">
          <ac:chgData name="Taylor Davis" userId="5c9e72a0-c39f-4aa1-9d7d-64125e78cbe6" providerId="ADAL" clId="{22EC4976-40EF-4348-83D6-2F64420739FF}" dt="2024-12-03T00:22:51.990" v="65" actId="478"/>
          <ac:spMkLst>
            <pc:docMk/>
            <pc:sldMk cId="4166728828" sldId="597"/>
            <ac:spMk id="19" creationId="{C134E2B3-DCEE-CE93-C822-3E071F419FE3}"/>
          </ac:spMkLst>
        </pc:spChg>
        <pc:spChg chg="del">
          <ac:chgData name="Taylor Davis" userId="5c9e72a0-c39f-4aa1-9d7d-64125e78cbe6" providerId="ADAL" clId="{22EC4976-40EF-4348-83D6-2F64420739FF}" dt="2024-12-03T00:22:51.990" v="65" actId="478"/>
          <ac:spMkLst>
            <pc:docMk/>
            <pc:sldMk cId="4166728828" sldId="597"/>
            <ac:spMk id="20" creationId="{3F4F68E6-2801-B9F2-EAD1-E82286699AA8}"/>
          </ac:spMkLst>
        </pc:spChg>
        <pc:spChg chg="del">
          <ac:chgData name="Taylor Davis" userId="5c9e72a0-c39f-4aa1-9d7d-64125e78cbe6" providerId="ADAL" clId="{22EC4976-40EF-4348-83D6-2F64420739FF}" dt="2024-12-03T00:22:51.990" v="65" actId="478"/>
          <ac:spMkLst>
            <pc:docMk/>
            <pc:sldMk cId="4166728828" sldId="597"/>
            <ac:spMk id="21" creationId="{BC106FB7-5807-5278-7987-C1D6F675EFB8}"/>
          </ac:spMkLst>
        </pc:spChg>
        <pc:spChg chg="del">
          <ac:chgData name="Taylor Davis" userId="5c9e72a0-c39f-4aa1-9d7d-64125e78cbe6" providerId="ADAL" clId="{22EC4976-40EF-4348-83D6-2F64420739FF}" dt="2024-12-03T00:22:51.990" v="65" actId="478"/>
          <ac:spMkLst>
            <pc:docMk/>
            <pc:sldMk cId="4166728828" sldId="597"/>
            <ac:spMk id="22" creationId="{9EBA24F1-3A8C-6150-D927-082474F79D22}"/>
          </ac:spMkLst>
        </pc:spChg>
        <pc:spChg chg="del">
          <ac:chgData name="Taylor Davis" userId="5c9e72a0-c39f-4aa1-9d7d-64125e78cbe6" providerId="ADAL" clId="{22EC4976-40EF-4348-83D6-2F64420739FF}" dt="2024-12-03T00:22:51.990" v="65" actId="478"/>
          <ac:spMkLst>
            <pc:docMk/>
            <pc:sldMk cId="4166728828" sldId="597"/>
            <ac:spMk id="23" creationId="{681ACBDE-3D92-84E0-860E-5CE53753C151}"/>
          </ac:spMkLst>
        </pc:spChg>
        <pc:spChg chg="mod">
          <ac:chgData name="Taylor Davis" userId="5c9e72a0-c39f-4aa1-9d7d-64125e78cbe6" providerId="ADAL" clId="{22EC4976-40EF-4348-83D6-2F64420739FF}" dt="2024-12-03T00:23:20.543" v="137" actId="20577"/>
          <ac:spMkLst>
            <pc:docMk/>
            <pc:sldMk cId="4166728828" sldId="597"/>
            <ac:spMk id="27" creationId="{5CB06021-EBF8-C602-9396-8BD2590988EA}"/>
          </ac:spMkLst>
        </pc:spChg>
        <pc:graphicFrameChg chg="del">
          <ac:chgData name="Taylor Davis" userId="5c9e72a0-c39f-4aa1-9d7d-64125e78cbe6" providerId="ADAL" clId="{22EC4976-40EF-4348-83D6-2F64420739FF}" dt="2024-12-03T00:22:51.990" v="65" actId="478"/>
          <ac:graphicFrameMkLst>
            <pc:docMk/>
            <pc:sldMk cId="4166728828" sldId="597"/>
            <ac:graphicFrameMk id="8" creationId="{0074741D-2B9A-0122-543B-08154EC422A8}"/>
          </ac:graphicFrameMkLst>
        </pc:graphicFrameChg>
      </pc:sldChg>
      <pc:sldChg chg="addSp delSp modSp add mod">
        <pc:chgData name="Taylor Davis" userId="5c9e72a0-c39f-4aa1-9d7d-64125e78cbe6" providerId="ADAL" clId="{22EC4976-40EF-4348-83D6-2F64420739FF}" dt="2024-12-03T00:33:53.606" v="479" actId="1076"/>
        <pc:sldMkLst>
          <pc:docMk/>
          <pc:sldMk cId="2253713199" sldId="598"/>
        </pc:sldMkLst>
        <pc:spChg chg="add del mod">
          <ac:chgData name="Taylor Davis" userId="5c9e72a0-c39f-4aa1-9d7d-64125e78cbe6" providerId="ADAL" clId="{22EC4976-40EF-4348-83D6-2F64420739FF}" dt="2024-12-03T00:28:06.944" v="428" actId="478"/>
          <ac:spMkLst>
            <pc:docMk/>
            <pc:sldMk cId="2253713199" sldId="598"/>
            <ac:spMk id="3" creationId="{52473D1B-2C0B-A74A-2A19-3B1F4049C646}"/>
          </ac:spMkLst>
        </pc:spChg>
        <pc:spChg chg="add del mod">
          <ac:chgData name="Taylor Davis" userId="5c9e72a0-c39f-4aa1-9d7d-64125e78cbe6" providerId="ADAL" clId="{22EC4976-40EF-4348-83D6-2F64420739FF}" dt="2024-12-03T00:28:06.944" v="428" actId="478"/>
          <ac:spMkLst>
            <pc:docMk/>
            <pc:sldMk cId="2253713199" sldId="598"/>
            <ac:spMk id="4" creationId="{E80391BF-713C-FF90-24DE-4908B3B087BE}"/>
          </ac:spMkLst>
        </pc:spChg>
        <pc:spChg chg="add del mod">
          <ac:chgData name="Taylor Davis" userId="5c9e72a0-c39f-4aa1-9d7d-64125e78cbe6" providerId="ADAL" clId="{22EC4976-40EF-4348-83D6-2F64420739FF}" dt="2024-12-03T00:28:06.944" v="428" actId="478"/>
          <ac:spMkLst>
            <pc:docMk/>
            <pc:sldMk cId="2253713199" sldId="598"/>
            <ac:spMk id="6" creationId="{BD77CF81-2B24-8A28-E2C1-4D5AC508A5BD}"/>
          </ac:spMkLst>
        </pc:spChg>
        <pc:spChg chg="add del mod">
          <ac:chgData name="Taylor Davis" userId="5c9e72a0-c39f-4aa1-9d7d-64125e78cbe6" providerId="ADAL" clId="{22EC4976-40EF-4348-83D6-2F64420739FF}" dt="2024-12-03T00:28:06.944" v="428" actId="478"/>
          <ac:spMkLst>
            <pc:docMk/>
            <pc:sldMk cId="2253713199" sldId="598"/>
            <ac:spMk id="7" creationId="{2E0AE5CD-03B8-D716-DA95-DE658203BFF7}"/>
          </ac:spMkLst>
        </pc:spChg>
        <pc:spChg chg="mod">
          <ac:chgData name="Taylor Davis" userId="5c9e72a0-c39f-4aa1-9d7d-64125e78cbe6" providerId="ADAL" clId="{22EC4976-40EF-4348-83D6-2F64420739FF}" dt="2024-12-03T00:29:24.655" v="476" actId="20577"/>
          <ac:spMkLst>
            <pc:docMk/>
            <pc:sldMk cId="2253713199" sldId="598"/>
            <ac:spMk id="27" creationId="{A40EC0E2-6D7F-E871-A173-7A2A8229E8F7}"/>
          </ac:spMkLst>
        </pc:spChg>
        <pc:picChg chg="add mod">
          <ac:chgData name="Taylor Davis" userId="5c9e72a0-c39f-4aa1-9d7d-64125e78cbe6" providerId="ADAL" clId="{22EC4976-40EF-4348-83D6-2F64420739FF}" dt="2024-12-03T00:33:53.606" v="479" actId="1076"/>
          <ac:picMkLst>
            <pc:docMk/>
            <pc:sldMk cId="2253713199" sldId="598"/>
            <ac:picMk id="8" creationId="{869A32D7-3E7D-35A2-DEB4-23DC7940C5CA}"/>
          </ac:picMkLst>
        </pc:picChg>
      </pc:sldChg>
      <pc:sldChg chg="modSp add mod">
        <pc:chgData name="Taylor Davis" userId="5c9e72a0-c39f-4aa1-9d7d-64125e78cbe6" providerId="ADAL" clId="{22EC4976-40EF-4348-83D6-2F64420739FF}" dt="2024-12-03T00:25:06.622" v="405" actId="20577"/>
        <pc:sldMkLst>
          <pc:docMk/>
          <pc:sldMk cId="2723178806" sldId="599"/>
        </pc:sldMkLst>
        <pc:spChg chg="mod">
          <ac:chgData name="Taylor Davis" userId="5c9e72a0-c39f-4aa1-9d7d-64125e78cbe6" providerId="ADAL" clId="{22EC4976-40EF-4348-83D6-2F64420739FF}" dt="2024-12-03T00:25:06.622" v="405" actId="20577"/>
          <ac:spMkLst>
            <pc:docMk/>
            <pc:sldMk cId="2723178806" sldId="599"/>
            <ac:spMk id="27" creationId="{8405D43F-4623-908A-A49C-D3F41E7522F2}"/>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image" Target="../media/image28.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image" Target="../media/image28.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12/2/2024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14</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12/2/2024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12/2/2024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12/2/2024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12/2/2024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12/2/2024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12/2/2024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12/2/2024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12/2/2024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12/2/2024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12/2/2024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12/2/2024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12/2/2024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7.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jpeg"/><Relationship Id="rId7" Type="http://schemas.openxmlformats.org/officeDocument/2006/relationships/image" Target="../media/image36.jpeg"/><Relationship Id="rId2"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jpeg"/><Relationship Id="rId4" Type="http://schemas.openxmlformats.org/officeDocument/2006/relationships/image" Target="../media/image33.png"/><Relationship Id="rId9"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microsoft.com/office/2007/relationships/hdphoto" Target="../media/hdphoto2.wdp"/></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8.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jpeg"/><Relationship Id="rId1" Type="http://schemas.openxmlformats.org/officeDocument/2006/relationships/slideLayout" Target="../slideLayouts/slideLayout6.xml"/><Relationship Id="rId6" Type="http://schemas.openxmlformats.org/officeDocument/2006/relationships/image" Target="../media/image51.svg"/><Relationship Id="rId11" Type="http://schemas.openxmlformats.org/officeDocument/2006/relationships/image" Target="../media/image8.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SLUHN DIRECT-TO-EMPLOYER OPPORTUNITY</a:t>
            </a:r>
          </a:p>
          <a:p>
            <a:r>
              <a:rPr lang="en-US" sz="2000" b="1" dirty="0">
                <a:solidFill>
                  <a:schemeClr val="bg1"/>
                </a:solidFill>
              </a:rPr>
              <a:t>DECEMBER 12,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p:cNvPicPr>
          <p:nvPr>
            <p:ph/>
          </p:nvPr>
        </p:nvPicPr>
        <p:blipFill>
          <a:blip r:embed="rId4" cstate="print"/>
          <a:stretch>
            <a:fillRect/>
          </a:stretch>
        </p:blipFill>
        <p:spPr>
          <a:xfrm>
            <a:off x="10232136" y="795528"/>
            <a:ext cx="1741494" cy="704088"/>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B3B7911-4429-5620-651D-8CF02A22EE52}"/>
              </a:ext>
            </a:extLst>
          </p:cNvPr>
          <p:cNvSpPr>
            <a:spLocks noGrp="1"/>
          </p:cNvSpPr>
          <p:nvPr>
            <p:ph type="sldNum" sz="quarter" idx="12"/>
          </p:nvPr>
        </p:nvSpPr>
        <p:spPr>
          <a:xfrm>
            <a:off x="8610601" y="6258922"/>
            <a:ext cx="2743200" cy="250380"/>
          </a:xfrm>
        </p:spPr>
        <p:txBody>
          <a:bodyPr/>
          <a:lstStyle/>
          <a:p>
            <a:fld id="{3AFC719D-C4A7-4544-876E-D411D11AF6C9}" type="slidenum">
              <a:rPr lang="en-US" smtClean="0"/>
              <a:t>2</a:t>
            </a:fld>
            <a:endParaRPr lang="en-US" dirty="0"/>
          </a:p>
        </p:txBody>
      </p:sp>
      <p:sp>
        <p:nvSpPr>
          <p:cNvPr id="27" name="Title 1">
            <a:extLst>
              <a:ext uri="{FF2B5EF4-FFF2-40B4-BE49-F238E27FC236}">
                <a16:creationId xmlns:a16="http://schemas.microsoft.com/office/drawing/2014/main" id="{5CB06021-EBF8-C602-9396-8BD2590988EA}"/>
              </a:ext>
            </a:extLst>
          </p:cNvPr>
          <p:cNvSpPr txBox="1">
            <a:spLocks/>
          </p:cNvSpPr>
          <p:nvPr/>
        </p:nvSpPr>
        <p:spPr>
          <a:xfrm>
            <a:off x="327270" y="74824"/>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The Traditional Health System </a:t>
            </a:r>
          </a:p>
          <a:p>
            <a:r>
              <a:rPr lang="en-US" b="1" dirty="0">
                <a:latin typeface="Garamond" panose="02020404030301010803" pitchFamily="18" charset="0"/>
              </a:rPr>
              <a:t>Go-To-Market Strategy (1950-2020)</a:t>
            </a:r>
          </a:p>
        </p:txBody>
      </p:sp>
      <p:pic>
        <p:nvPicPr>
          <p:cNvPr id="1026"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E784EB8F-FE7C-3931-B3B9-745064A058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3242B65F-F983-BAE9-112C-59B9EA0096AD}"/>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6728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43DF2-5045-6EC4-61A5-BC5F0B5856A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2AD3C9-94D2-3387-F141-3A7CBFDBAAEB}"/>
              </a:ext>
            </a:extLst>
          </p:cNvPr>
          <p:cNvSpPr>
            <a:spLocks noGrp="1"/>
          </p:cNvSpPr>
          <p:nvPr>
            <p:ph type="sldNum" sz="quarter" idx="12"/>
          </p:nvPr>
        </p:nvSpPr>
        <p:spPr>
          <a:xfrm>
            <a:off x="8610601" y="6258922"/>
            <a:ext cx="2743200" cy="250380"/>
          </a:xfrm>
        </p:spPr>
        <p:txBody>
          <a:bodyPr/>
          <a:lstStyle/>
          <a:p>
            <a:fld id="{3AFC719D-C4A7-4544-876E-D411D11AF6C9}" type="slidenum">
              <a:rPr lang="en-US" smtClean="0"/>
              <a:t>3</a:t>
            </a:fld>
            <a:endParaRPr lang="en-US" dirty="0"/>
          </a:p>
        </p:txBody>
      </p:sp>
      <p:sp>
        <p:nvSpPr>
          <p:cNvPr id="27" name="Title 1">
            <a:extLst>
              <a:ext uri="{FF2B5EF4-FFF2-40B4-BE49-F238E27FC236}">
                <a16:creationId xmlns:a16="http://schemas.microsoft.com/office/drawing/2014/main" id="{A40EC0E2-6D7F-E871-A173-7A2A8229E8F7}"/>
              </a:ext>
            </a:extLst>
          </p:cNvPr>
          <p:cNvSpPr txBox="1">
            <a:spLocks/>
          </p:cNvSpPr>
          <p:nvPr/>
        </p:nvSpPr>
        <p:spPr>
          <a:xfrm>
            <a:off x="230624" y="74824"/>
            <a:ext cx="11730752"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Fighting Channel Dependency Risk</a:t>
            </a:r>
          </a:p>
        </p:txBody>
      </p:sp>
      <p:pic>
        <p:nvPicPr>
          <p:cNvPr id="1026"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BC70BAE2-FB6C-A5A4-44B7-617068D57C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A3388DC8-37E5-3A0D-AD88-ABD89E1135AC}"/>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Porter's 5 Forces Framework and How to Use? - CRUD">
            <a:extLst>
              <a:ext uri="{FF2B5EF4-FFF2-40B4-BE49-F238E27FC236}">
                <a16:creationId xmlns:a16="http://schemas.microsoft.com/office/drawing/2014/main" id="{869A32D7-3E7D-35A2-DEB4-23DC7940C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000" y="1201422"/>
            <a:ext cx="7730846" cy="5182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713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3D70B-FA73-F2D6-AA04-667CC67779B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B2513CE-57AB-3514-CDB0-C6277064440B}"/>
              </a:ext>
            </a:extLst>
          </p:cNvPr>
          <p:cNvSpPr>
            <a:spLocks noGrp="1"/>
          </p:cNvSpPr>
          <p:nvPr>
            <p:ph type="sldNum" sz="quarter" idx="12"/>
          </p:nvPr>
        </p:nvSpPr>
        <p:spPr>
          <a:xfrm>
            <a:off x="8610601" y="6258922"/>
            <a:ext cx="2743200" cy="250380"/>
          </a:xfrm>
        </p:spPr>
        <p:txBody>
          <a:bodyPr/>
          <a:lstStyle/>
          <a:p>
            <a:fld id="{3AFC719D-C4A7-4544-876E-D411D11AF6C9}" type="slidenum">
              <a:rPr lang="en-US" smtClean="0"/>
              <a:t>4</a:t>
            </a:fld>
            <a:endParaRPr lang="en-US" dirty="0"/>
          </a:p>
        </p:txBody>
      </p:sp>
      <p:sp>
        <p:nvSpPr>
          <p:cNvPr id="27" name="Title 1">
            <a:extLst>
              <a:ext uri="{FF2B5EF4-FFF2-40B4-BE49-F238E27FC236}">
                <a16:creationId xmlns:a16="http://schemas.microsoft.com/office/drawing/2014/main" id="{8405D43F-4623-908A-A49C-D3F41E7522F2}"/>
              </a:ext>
            </a:extLst>
          </p:cNvPr>
          <p:cNvSpPr txBox="1">
            <a:spLocks/>
          </p:cNvSpPr>
          <p:nvPr/>
        </p:nvSpPr>
        <p:spPr>
          <a:xfrm>
            <a:off x="327270" y="74824"/>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July-December DTE Strategy Analysis </a:t>
            </a:r>
            <a:r>
              <a:rPr lang="en-US" b="1" dirty="0" err="1">
                <a:latin typeface="Garamond" panose="02020404030301010803" pitchFamily="18" charset="0"/>
              </a:rPr>
              <a:t>Enagagements</a:t>
            </a:r>
            <a:endParaRPr lang="en-US" b="1" dirty="0">
              <a:latin typeface="Garamond" panose="02020404030301010803" pitchFamily="18" charset="0"/>
            </a:endParaRPr>
          </a:p>
        </p:txBody>
      </p:sp>
      <p:pic>
        <p:nvPicPr>
          <p:cNvPr id="1026"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6A3C6BAE-3902-F8E6-94AD-D65BBCDE96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2F069159-8534-45C3-9C4E-D729D0EE4108}"/>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178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3" name="Content Placeholder 12"/>
          <p:cNvPicPr>
            <a:picLocks noGrp="1"/>
          </p:cNvPicPr>
          <p:nvPr>
            <p:ph/>
          </p:nvPr>
        </p:nvPicPr>
        <p:blipFill>
          <a:blip r:embed="rId3" cstate="print"/>
          <a:stretch>
            <a:fillRect/>
          </a:stretch>
        </p:blipFill>
        <p:spPr>
          <a:xfrm>
            <a:off x="9646920" y="347472"/>
            <a:ext cx="1922429" cy="777240"/>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Saint Luke's University Health Network</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8</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646605"/>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Saint Luke's University Health Network is the quality and access leader </a:t>
            </a:r>
            <a:r>
              <a:rPr lang="en-US"/>
              <a:t>in </a:t>
            </a:r>
            <a:r>
              <a:rPr lang="en-US" sz="1800">
                <a:solidFill>
                  <a:srgbClr val="000B2E"/>
                </a:solidFill>
              </a:rPr>
              <a:t>Luzerne, Carbon, Schuylkill, Lehigh, Northampton, Warren, Hunterdon, and Bucks</a:t>
            </a:r>
            <a:r>
              <a:rPr lang="en-US"/>
              <a:t>. </a:t>
            </a:r>
            <a:r>
              <a:rPr lang="en-US" dirty="0">
                <a:solidFill/>
              </a:rPr>
              <a:t>KBA expects the plan will sell very well.</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Saint Luke's University Health Network.</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~$0.47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~$0.37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14" name="Content Placeholder 13"/>
          <p:cNvPicPr>
            <a:picLocks noGrp="1"/>
          </p:cNvPicPr>
          <p:nvPr>
            <p:ph/>
          </p:nvPr>
        </p:nvPicPr>
        <p:blipFill>
          <a:blip r:embed="rId2" cstate="print"/>
          <a:stretch>
            <a:fillRect/>
          </a:stretch>
        </p:blipFill>
        <p:spPr>
          <a:xfrm>
            <a:off x="9646920" y="347472"/>
            <a:ext cx="1922429" cy="777240"/>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7"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1A050"/>
                </a:solidFill>
              </a:rPr>
              <a:t>SLUHN Health Plan</a:t>
            </a:r>
          </a:p>
        </p:txBody>
      </p:sp>
      <p:sp>
        <p:nvSpPr>
          <p:cNvPr id="9"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Carrier #2</a:t>
            </a:r>
          </a:p>
        </p:txBody>
      </p:sp>
      <p:sp>
        <p:nvSpPr>
          <p:cNvPr id="10"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Carrier #3</a:t>
            </a:r>
          </a:p>
        </p:txBody>
      </p:sp>
      <p:sp>
        <p:nvSpPr>
          <p:cNvPr id="1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Carrier #1</a:t>
            </a:r>
          </a:p>
        </p:txBody>
      </p:sp>
      <p:sp>
        <p:nvSpPr>
          <p:cNvPr id="13"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30">
            <a:extLst>
              <a:ext uri="{FF2B5EF4-FFF2-40B4-BE49-F238E27FC236}">
                <a16:creationId xmlns:a16="http://schemas.microsoft.com/office/drawing/2014/main" id="{CDDEEC9E-0778-EDDC-EEB1-1D8F9A97B0BD}"/>
              </a:ext>
            </a:extLst>
          </p:cNvPr>
          <p:cNvSpPr/>
          <p:nvPr/>
        </p:nvSpPr>
        <p:spPr>
          <a:xfrm>
            <a:off x="461590" y="1625600"/>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a:t>
            </a:r>
            <a:r>
              <a:rPr lang="en-US" sz="3600" b="1" i="1" dirty="0">
                <a:solidFill>
                  <a:schemeClr val="accent1">
                    <a:lumMod val="75000"/>
                  </a:schemeClr>
                </a:solidFill>
                <a:latin typeface="Arial" panose="020B0604020202020204" pitchFamily="34" charset="0"/>
                <a:cs typeface="Arial" panose="020B0604020202020204" pitchFamily="34" charset="0"/>
              </a:rPr>
              <a:t>Commercial</a:t>
            </a:r>
            <a:r>
              <a:rPr lang="en-US" sz="3600" b="1" dirty="0">
                <a:solidFill>
                  <a:srgbClr val="000B2E"/>
                </a:solidFill>
                <a:latin typeface="Arial" panose="020B0604020202020204" pitchFamily="34" charset="0"/>
                <a:cs typeface="Arial" panose="020B0604020202020204" pitchFamily="34" charset="0"/>
              </a:rPr>
              <a:t>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20" name="Picture 1">
            <a:extLst>
              <a:ext uri="{FF2B5EF4-FFF2-40B4-BE49-F238E27FC236}">
                <a16:creationId xmlns:a16="http://schemas.microsoft.com/office/drawing/2014/main" id="{699D6920-274F-8605-7F29-1864A85D1351}"/>
              </a:ext>
            </a:extLst>
          </p:cNvPr>
          <p:cNvPicPr>
            <a:picLocks noChangeAspect="1"/>
          </p:cNvPicPr>
          <p:nvPr/>
        </p:nvPicPr>
        <p:blipFill>
          <a:blip r:embed="rId2"/>
          <a:stretch>
            <a:fillRect/>
          </a:stretch>
        </p:blipFill>
        <p:spPr>
          <a:xfrm>
            <a:off x="740229" y="1447995"/>
            <a:ext cx="2479076" cy="1668102"/>
          </a:xfrm>
          <a:prstGeom prst="rect">
            <a:avLst/>
          </a:prstGeom>
        </p:spPr>
      </p:pic>
      <p:pic>
        <p:nvPicPr>
          <p:cNvPr id="21" name="Picture 2">
            <a:extLst>
              <a:ext uri="{FF2B5EF4-FFF2-40B4-BE49-F238E27FC236}">
                <a16:creationId xmlns:a16="http://schemas.microsoft.com/office/drawing/2014/main" id="{03EB7ABF-D155-3497-21A3-3E3B690D2256}"/>
              </a:ext>
            </a:extLst>
          </p:cNvPr>
          <p:cNvPicPr>
            <a:picLocks noChangeAspect="1"/>
          </p:cNvPicPr>
          <p:nvPr/>
        </p:nvPicPr>
        <p:blipFill>
          <a:blip r:embed="rId2"/>
          <a:stretch>
            <a:fillRect/>
          </a:stretch>
        </p:blipFill>
        <p:spPr>
          <a:xfrm>
            <a:off x="4615543" y="1427785"/>
            <a:ext cx="2479076" cy="1668102"/>
          </a:xfrm>
          <a:prstGeom prst="rect">
            <a:avLst/>
          </a:prstGeom>
        </p:spPr>
      </p:pic>
      <p:pic>
        <p:nvPicPr>
          <p:cNvPr id="22" name="Picture 8">
            <a:extLst>
              <a:ext uri="{FF2B5EF4-FFF2-40B4-BE49-F238E27FC236}">
                <a16:creationId xmlns:a16="http://schemas.microsoft.com/office/drawing/2014/main" id="{35A8C77B-B4CD-F701-DD0C-BF92714FB49D}"/>
              </a:ext>
            </a:extLst>
          </p:cNvPr>
          <p:cNvPicPr>
            <a:picLocks noChangeAspect="1"/>
          </p:cNvPicPr>
          <p:nvPr/>
        </p:nvPicPr>
        <p:blipFill>
          <a:blip r:embed="rId2"/>
          <a:stretch>
            <a:fillRect/>
          </a:stretch>
        </p:blipFill>
        <p:spPr>
          <a:xfrm>
            <a:off x="8715753" y="1453417"/>
            <a:ext cx="2479076" cy="1668102"/>
          </a:xfrm>
          <a:prstGeom prst="rect">
            <a:avLst/>
          </a:prstGeom>
        </p:spPr>
      </p:pic>
    </p:spTree>
    <p:extLst>
      <p:ext uri="{BB962C8B-B14F-4D97-AF65-F5344CB8AC3E}">
        <p14:creationId xmlns:p14="http://schemas.microsoft.com/office/powerpoint/2010/main" val="210326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11</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Saint Luke's University Health Network</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12</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Luzerne, Carbon, Schuylkill, Lehigh, Northampton, Warren, Hunterdon, and Bucks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207805204"/>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911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29</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endParaRPr lang="en-US" sz="1100" b="0" i="0" u="none" strike="noStrike" dirty="0">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dirty="0">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dirty="0">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dirty="0">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dirty="0">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endParaRPr lang="en-US" sz="1100" b="0" i="0" u="none" strike="noStrike" dirty="0">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dirty="0">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a:solidFill>
                          <a:srgbClr val="000000"/>
                        </a:solidFill>
                        <a:effectLst/>
                        <a:highlight>
                          <a:srgbClr val="FBE5D6"/>
                        </a:highlight>
                        <a:latin typeface="Aptos Narrow" panose="020B0004020202020204" pitchFamily="34" charset="0"/>
                      </a:endParaRP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775332" y="1512140"/>
            <a:ext cx="6553134" cy="5378277"/>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Hunterdon, Warren, Berks, Bucks, Carbon, Lehigh, Luzerne, Monroe, Montgomery, Northampton, and Schuylkill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1,512K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886K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660K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382K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$20.08M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$5.1M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$147.87M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$38.78M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$307.69M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$80.81M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15</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Saint Luke's University Health Network has 39% inpatient market share, and 24% outpatient market compared to hospitals/clinics in the Luzerne, Carbon, Schuylkill, Lehigh, Northampton, Warren, Hunterdon, and Bucks.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415498"/>
          </a:xfrm>
          <a:prstGeom prst="rect">
            <a:avLst/>
          </a:prstGeom>
          <a:noFill/>
        </p:spPr>
        <p:txBody>
          <a:bodyPr wrap="square" rtlCol="0">
            <a:spAutoFit/>
          </a:bodyPr>
          <a:lstStyle/>
          <a:p>
            <a:r>
              <a:rPr lang="en-US" sz="1050" dirty="0">
                <a:solidFill/>
              </a:rPr>
              <a:t>KBA observes a SLUHN 37% commercial margin. Conservatively, we model the DTE to be 0% below commercial XXXX:</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559601"/>
            <a:ext cx="785793" cy="369332"/>
          </a:xfrm>
          <a:prstGeom prst="rect">
            <a:avLst/>
          </a:prstGeom>
          <a:noFill/>
        </p:spPr>
        <p:txBody>
          <a:bodyPr wrap="none" rtlCol="0">
            <a:spAutoFit/>
          </a:bodyPr>
          <a:lstStyle/>
          <a:p>
            <a:r>
              <a:rPr lang="en-US" dirty="0">
                <a:solidFill/>
              </a:rPr>
              <a:t>20.9%</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571573"/>
            <a:ext cx="885179" cy="369332"/>
          </a:xfrm>
          <a:prstGeom prst="rect">
            <a:avLst/>
          </a:prstGeom>
          <a:noFill/>
        </p:spPr>
        <p:txBody>
          <a:bodyPr wrap="none" rtlCol="0">
            <a:spAutoFit/>
          </a:bodyPr>
          <a:lstStyle/>
          <a:p>
            <a:r>
              <a:rPr lang="en-US" dirty="0">
                <a:solidFill/>
              </a:rPr>
              <a:t>25.9%</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571573"/>
            <a:ext cx="832279" cy="369332"/>
          </a:xfrm>
          <a:prstGeom prst="rect">
            <a:avLst/>
          </a:prstGeom>
          <a:noFill/>
        </p:spPr>
        <p:txBody>
          <a:bodyPr wrap="none" rtlCol="0">
            <a:spAutoFit/>
          </a:bodyPr>
          <a:lstStyle/>
          <a:p>
            <a:r>
              <a:rPr lang="en-US" dirty="0">
                <a:solidFill/>
              </a:rPr>
              <a:t>30.9%</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6,037.4K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615.5K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1,707.6K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3,581.2K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5,913.8K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1,246.3K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4,925.3K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8,092.7K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930.7K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2,441.6K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4,794.5K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7,988.3K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1,244.0K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2,522.7K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3,982.1K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300.4K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1,078.4K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2,367.9K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3,839.3K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508760" y="2834640"/>
            <a:ext cx="3154680" cy="1275441"/>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SLUHN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SLUHN has the strongest brand quality in Hunterdon, Warren, Berks, Bucks, Carbon, Lehigh, Luzerne, Monroe, Montgomery, Northampton, and Schuylkill Counties.</a:t>
            </a:r>
          </a:p>
        </p:txBody>
      </p:sp>
      <p:graphicFrame>
        <p:nvGraphicFramePr>
          <p:cNvPr id="7" name="Table 6"/>
          <p:cNvGraphicFramePr>
            <a:graphicFrameLocks noGrp="1"/>
          </p:cNvGraphicFramePr>
          <p:nvPr/>
        </p:nvGraphicFramePr>
        <p:xfrm>
          <a:off x="1581912" y="1645920"/>
          <a:ext cx="7315200" cy="4389120"/>
        </p:xfrm>
        <a:graphic>
          <a:graphicData uri="http://schemas.openxmlformats.org/drawingml/2006/table">
            <a:tbl>
              <a:tblPr/>
              <a:tblGrid>
                <a:gridCol w="2450202">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Readmission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0173">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Doylestown Hospital</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extLst>
                  <a:ext uri="{0D108BD9-81ED-4DB2-BD59-A6C34878D82A}">
                    <a16:rowId xmlns:a16="http://schemas.microsoft.com/office/drawing/2014/main" val="10001"/>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St Lukes University Health Network</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2"/>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3"/>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Penn State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B7BB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4"/>
                  </a:ext>
                </a:extLst>
              </a:tr>
              <a:tr h="390173">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Lehigh Valley Health Network</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979A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5"/>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Geisinger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6"/>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Jefferson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FD8E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7"/>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Tower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8F9F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08"/>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Community Health Systems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4F6F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3B5D3">
                        <a:alpha val="100000"/>
                      </a:srgbClr>
                    </a:solidFill>
                  </a:tcPr>
                </a:tc>
                <a:extLst>
                  <a:ext uri="{0D108BD9-81ED-4DB2-BD59-A6C34878D82A}">
                    <a16:rowId xmlns:a16="http://schemas.microsoft.com/office/drawing/2014/main" val="10009"/>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4F6F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3B5D3">
                        <a:alpha val="10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19</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Patients Pass Other Hospitals to Come to SLUHN</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7013749" y="1989573"/>
            <a:ext cx="4923693"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KBA models Medicare patient encounter data to identify strong health system brands where patients will travel past other hospitals or long distances to frequent a specific hospital.  </a:t>
            </a:r>
          </a:p>
          <a:p>
            <a:pPr algn="ctr"/>
            <a:endParaRPr lang="en-US" dirty="0">
              <a:solidFill>
                <a:schemeClr val="tx1"/>
              </a:solidFill>
            </a:endParaRPr>
          </a:p>
          <a:p>
            <a:pPr algn="ctr"/>
            <a:r>
              <a:rPr lang="en-US" dirty="0">
                <a:solidFill>
                  <a:schemeClr val="tx1"/>
                </a:solidFill>
              </a:rPr>
              <a:t>The center of the donut are zip codes within which patients have a higher probability of frequenting . These zip codes are ignored for this analysis. </a:t>
            </a:r>
          </a:p>
          <a:p>
            <a:pPr algn="ctr"/>
            <a:endParaRPr lang="en-US" dirty="0">
              <a:solidFill>
                <a:schemeClr val="tx1"/>
              </a:solidFill>
            </a:endParaRPr>
          </a:p>
          <a:p>
            <a:pPr algn="ctr"/>
            <a:r>
              <a:rPr lang="en-US" dirty="0">
                <a:solidFill>
                  <a:schemeClr val="tx1"/>
                </a:solidFill>
              </a:rPr>
              <a:t>Significant patient encounters outside of this center, as seen here, indicate that patients are willing to travel significant distances, passing other hospitals to go to .</a:t>
            </a:r>
          </a:p>
        </p:txBody>
      </p:sp>
    </p:spTree>
    <p:extLst>
      <p:ext uri="{BB962C8B-B14F-4D97-AF65-F5344CB8AC3E}">
        <p14:creationId xmlns:p14="http://schemas.microsoft.com/office/powerpoint/2010/main" val="4222550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SLUHN’s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Saint Luke's University Health Network’s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Saint Luke's University Health Network</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7"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SLUHN N</a:t>
            </a:r>
            <a:r>
              <a:rPr lang="en-US" sz="2400" spc="-150" dirty="0">
                <a:solidFill>
                  <a:schemeClr val="bg1"/>
                </a:solidFill>
              </a:rPr>
              <a:t>ETWORK</a:t>
            </a:r>
            <a:r>
              <a:rPr lang="en-US" sz="2400" cap="all" spc="-150" dirty="0">
                <a:solidFill>
                  <a:schemeClr val="bg1"/>
                </a:solidFill>
              </a:rPr>
              <a:t> </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38360" y="4059936"/>
            <a:ext cx="1042416" cy="421450"/>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21</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SLUHN</a:t>
            </a:r>
          </a:p>
        </p:txBody>
      </p:sp>
      <p:pic>
        <p:nvPicPr>
          <p:cNvPr id="9" name="Content Placeholder 8"/>
          <p:cNvPicPr>
            <a:picLocks noGrp="1"/>
          </p:cNvPicPr>
          <p:nvPr>
            <p:ph/>
          </p:nvPr>
        </p:nvPicPr>
        <p:blipFill>
          <a:blip r:embed="rId3" cstate="print"/>
          <a:stretch>
            <a:fillRect/>
          </a:stretch>
        </p:blipFill>
        <p:spPr>
          <a:xfrm>
            <a:off x="9089136" y="5239512"/>
            <a:ext cx="2261681"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22</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23.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SLUHN’s approved site(s) with network integration, and development of SLUHN’s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61688"/>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55%+ Within-Plan Steerage and a Commercial Margin of 25.9%.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55%+ Within-Plan Steerage and a Commercial Margin of 25.9%.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55%+ Within-Plan Steerage and a Commercial Margin of 25.9%.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55%+ Within-Plan Steerage and a Commercial Margin of 25.9%.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55%+ Within-Plan Steerage and a Commercial Margin of 25.9%.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55%+ Within-Plan Steerage and a Commercial Margin of 25.9%.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55%+ Within-Plan Steerage and a Commercial Margin of 25.9%.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55%+ Within-Plan Steerage and a Commercial Margin of 25.9%.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709K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$ 9,371K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$ 19,280K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$ 9,909K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$ 4,994K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$ 2,266K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$37,484K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$ 77,121K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$39,637K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$19,974K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$10,056K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$74,968K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$154,242K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$79,274K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$20,442K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23</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SLUHN’s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Saint Luke's University Health Network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Saint Luke's University Health Network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SLUHN’s managed care processes to KBA’s patented care management programs will turbocharge results – Positioning SLUHN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Saint Luke's University Health Network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24</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25</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SLUHN’s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SLUHN’s 340B drug pricing program</a:t>
            </a:r>
          </a:p>
          <a:p>
            <a:pPr marL="285753" indent="-285753">
              <a:spcBef>
                <a:spcPts val="600"/>
              </a:spcBef>
              <a:buFont typeface="Wingdings" panose="05000000000000000000" pitchFamily="2" charset="2"/>
              <a:buChar char="§"/>
            </a:pPr>
            <a:r>
              <a:rPr lang="en-US" sz="2000" dirty="0">
                <a:solidFill>
                  <a:schemeClr val="bg1"/>
                </a:solidFill>
              </a:rPr>
              <a:t>Allows SLUHN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26</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27</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28</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9412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52588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SLUHN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525884"/>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29</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30</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SLUHN</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653538269"/>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350,075</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$2,615,858K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115,486</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$517,444K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33%</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21,252</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$246,769K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15,017</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-$117,349K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198,320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$1,852,556K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6941300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1,852,556K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233%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1,777,560K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3,630,116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2,300,043</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$1,330,073K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39838490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796,456K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764,213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1,560,669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2,300,043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-739,374</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a:t>
            </a:r>
            <a:br>
              <a:rPr lang="en-US" b="1" dirty="0">
                <a:latin typeface="+mn-lt"/>
                <a:cs typeface="Arial" panose="020B0604020202020204" pitchFamily="34" charset="0"/>
              </a:rPr>
            </a:br>
            <a:r>
              <a:rPr lang="en-US" b="1" dirty="0">
                <a:latin typeface="+mn-lt"/>
                <a:cs typeface="Arial" panose="020B0604020202020204" pitchFamily="34" charset="0"/>
              </a:rPr>
              <a:t>Commercial vs. Government Pay</a:t>
            </a:r>
          </a:p>
        </p:txBody>
      </p:sp>
      <p:sp>
        <p:nvSpPr>
          <p:cNvPr id="3"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7">
            <a:extLst>
              <a:ext uri="{FF2B5EF4-FFF2-40B4-BE49-F238E27FC236}">
                <a16:creationId xmlns:a16="http://schemas.microsoft.com/office/drawing/2014/main" id="{85163DF1-EB5C-1C3C-A93D-5F16CEEC2B92}"/>
              </a:ext>
            </a:extLst>
          </p:cNvPr>
          <p:cNvSpPr txBox="1"/>
          <p:nvPr/>
        </p:nvSpPr>
        <p:spPr>
          <a:xfrm>
            <a:off x="838199" y="1933595"/>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7" name="TextBox 8">
            <a:extLst>
              <a:ext uri="{FF2B5EF4-FFF2-40B4-BE49-F238E27FC236}">
                <a16:creationId xmlns:a16="http://schemas.microsoft.com/office/drawing/2014/main" id="{020B90EA-11B9-6E81-60B7-F3AFEA7FC5A7}"/>
              </a:ext>
            </a:extLst>
          </p:cNvPr>
          <p:cNvSpPr txBox="1"/>
          <p:nvPr/>
        </p:nvSpPr>
        <p:spPr>
          <a:xfrm>
            <a:off x="6827522" y="1933595"/>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8"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084429148"/>
              </p:ext>
            </p:extLst>
          </p:nvPr>
        </p:nvGraphicFramePr>
        <p:xfrm>
          <a:off x="964071" y="3022094"/>
          <a:ext cx="4478017" cy="2021840"/>
        </p:xfrm>
        <a:graphic>
          <a:graphicData uri="http://schemas.openxmlformats.org/drawingml/2006/table">
            <a:tbl>
              <a:tblPr bandRow="1">
                <a:tableStyleId>{2D5ABB26-0587-4C30-8999-92F81FD0307C}</a:tableStyleId>
              </a:tblPr>
              <a:tblGrid>
                <a:gridCol w="2785247">
                  <a:extLst>
                    <a:ext uri="{9D8B030D-6E8A-4147-A177-3AD203B41FA5}">
                      <a16:colId xmlns:a16="http://schemas.microsoft.com/office/drawing/2014/main" val="1477699201"/>
                    </a:ext>
                  </a:extLst>
                </a:gridCol>
                <a:gridCol w="1692770">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3,630,116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2,300,043</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$1,330,073K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9"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837596021"/>
              </p:ext>
            </p:extLst>
          </p:nvPr>
        </p:nvGraphicFramePr>
        <p:xfrm>
          <a:off x="6827522" y="3017014"/>
          <a:ext cx="4358640" cy="2026920"/>
        </p:xfrm>
        <a:graphic>
          <a:graphicData uri="http://schemas.openxmlformats.org/drawingml/2006/table">
            <a:tbl>
              <a:tblPr bandRow="1">
                <a:tableStyleId>{2D5ABB26-0587-4C30-8999-92F81FD0307C}</a:tableStyleId>
              </a:tblPr>
              <a:tblGrid>
                <a:gridCol w="2710997">
                  <a:extLst>
                    <a:ext uri="{9D8B030D-6E8A-4147-A177-3AD203B41FA5}">
                      <a16:colId xmlns:a16="http://schemas.microsoft.com/office/drawing/2014/main" val="1477699201"/>
                    </a:ext>
                  </a:extLst>
                </a:gridCol>
                <a:gridCol w="1647643">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1,560,669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2,300,043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-739,374</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0" name="TextBox 12">
            <a:extLst>
              <a:ext uri="{FF2B5EF4-FFF2-40B4-BE49-F238E27FC236}">
                <a16:creationId xmlns:a16="http://schemas.microsoft.com/office/drawing/2014/main" id="{879CF531-03B5-98C7-7BF8-469C9D55F9E4}"/>
              </a:ext>
            </a:extLst>
          </p:cNvPr>
          <p:cNvSpPr txBox="1"/>
          <p:nvPr/>
        </p:nvSpPr>
        <p:spPr>
          <a:xfrm>
            <a:off x="1043940" y="5314948"/>
            <a:ext cx="4398148" cy="523220"/>
          </a:xfrm>
          <a:prstGeom prst="rect">
            <a:avLst/>
          </a:prstGeom>
          <a:noFill/>
        </p:spPr>
        <p:txBody>
          <a:bodyPr wrap="square" rtlCol="0">
            <a:spAutoFit/>
          </a:bodyPr>
          <a:lstStyle/>
          <a:p>
            <a:r>
              <a:rPr lang="en-US" sz="1400" dirty="0"/>
              <a:t>Calculated by dividing the current commercial revenue by the current commercial inpatient day payer mix.  </a:t>
            </a:r>
          </a:p>
        </p:txBody>
      </p:sp>
      <p:sp>
        <p:nvSpPr>
          <p:cNvPr id="11" name="TextBox 13">
            <a:extLst>
              <a:ext uri="{FF2B5EF4-FFF2-40B4-BE49-F238E27FC236}">
                <a16:creationId xmlns:a16="http://schemas.microsoft.com/office/drawing/2014/main" id="{5FAEC66D-2C5F-1BA4-6070-07C2BC7D18E6}"/>
              </a:ext>
            </a:extLst>
          </p:cNvPr>
          <p:cNvSpPr txBox="1"/>
          <p:nvPr/>
        </p:nvSpPr>
        <p:spPr>
          <a:xfrm>
            <a:off x="6827522" y="5314558"/>
            <a:ext cx="4114800" cy="523220"/>
          </a:xfrm>
          <a:prstGeom prst="rect">
            <a:avLst/>
          </a:prstGeom>
          <a:noFill/>
        </p:spPr>
        <p:txBody>
          <a:bodyPr wrap="square" rtlCol="0">
            <a:spAutoFit/>
          </a:bodyPr>
          <a:lstStyle/>
          <a:p>
            <a:r>
              <a:rPr lang="en-US" sz="1400" dirty="0"/>
              <a:t>Calculated by dividing the current gov-pay revenue by the current gov-pay inpatient day payer mix.  </a:t>
            </a:r>
          </a:p>
        </p:txBody>
      </p:sp>
    </p:spTree>
    <p:extLst>
      <p:ext uri="{BB962C8B-B14F-4D97-AF65-F5344CB8AC3E}">
        <p14:creationId xmlns:p14="http://schemas.microsoft.com/office/powerpoint/2010/main" val="3618341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34</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nvGraphicFramePr>
        <p:xfrm>
          <a:off x="914400" y="914400"/>
          <a:ext cx="9829800" cy="736600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Luke's Warren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92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464,369.1K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$1,008,837.0K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Luke's Upper Bucks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86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522,787.0K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748,428.8K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Luke's Hospital Bethlehem</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$4,431,459.5K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$4,512,769.9K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Grand View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180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313,554.5K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459,480.3K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Luke's Hospital - Easton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113,367.3K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317,923.5K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Luke's Miners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149,719.5K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428,768.3K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St Lukes Lehighton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68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193,471.3K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288,155.6K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Luke's Hospital - Anderson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193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$1,295,917.8K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$1,620,203.3K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Lukes Monroe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98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691,835.9K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$1,089,592.4K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Lukes Carbon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52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307,695.2K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371,559.4K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Hackettstown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95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419,072.8K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451,745.3K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Jefferson Lansdale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185,783.7K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213,465.6K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Lehigh Valley Hospital - Schuylkill S Jackson Street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244,006.4K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346,134.4K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Lehigh Valley Hospital - Schuylkill E Norwegian Street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117,895.3K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181,742.1K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Penn State Health St Joseph Medical Center - Main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455,796.5K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906,743.0K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Suburban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142,533.5K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95,946.3K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Pottstown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185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464,846.7K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474,286.2K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Lehigh Valley Hospital - Cedar Crest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1,190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$6,447,851.8K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$8,433,644.8K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Wilkes-Barre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764,343.4K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$1,091,258.7K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Lehigh Valley Hospital - Hazleton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263,046.6K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605,706.7K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Lehigh Valley Hospital - Pocono</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514,875.8K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$1,017,924.8K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Doylestown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593,232.7K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853,288.6K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Geisinger Wyoming Valley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583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$2,190,243.6K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$4,045,390.9K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Valley Forge Medical Center and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100,485.9K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Physicians Care Surgical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46,282.1K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109,933.0K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Jefferson Einstein Montgomery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175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597,036.2K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596,088.8K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Geisinger St Lukes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184,744.4K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275,367.2K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B84BFE-A66C-EE28-0B82-3FC2737525CB}"/>
              </a:ext>
            </a:extLst>
          </p:cNvPr>
          <p:cNvSpPr txBox="1"/>
          <p:nvPr/>
        </p:nvSpPr>
        <p:spPr>
          <a:xfrm>
            <a:off x="5507537" y="6310364"/>
            <a:ext cx="1176925" cy="369332"/>
          </a:xfrm>
          <a:prstGeom prst="rect">
            <a:avLst/>
          </a:prstGeom>
          <a:noFill/>
        </p:spPr>
        <p:txBody>
          <a:bodyPr wrap="none" rtlCol="0">
            <a:spAutoFit/>
          </a:bodyPr>
          <a:lstStyle/>
          <a:p>
            <a:r>
              <a:rPr lang="en-US" b="1" dirty="0">
                <a:solidFill/>
              </a:rPr>
              <a:t>Hospitals droped due to insufficient data:St Lukes Lehighton Campus,St Lukes Carbon Campus</a:t>
            </a:r>
          </a:p>
        </p:txBody>
      </p:sp>
      <p:graphicFrame>
        <p:nvGraphicFramePr>
          <p:cNvPr id="3" name="Table 2"/>
          <p:cNvGraphicFramePr>
            <a:graphicFrameLocks noGrp="1"/>
          </p:cNvGraphicFramePr>
          <p:nvPr/>
        </p:nvGraphicFramePr>
        <p:xfrm>
          <a:off x="0" y="0"/>
          <a:ext cx="23273434" cy="7858772"/>
        </p:xfrm>
        <a:graphic>
          <a:graphicData uri="http://schemas.openxmlformats.org/drawingml/2006/table">
            <a:tbl>
              <a:tblPr/>
              <a:tblGrid>
                <a:gridCol w="3507955">
                  <a:extLst>
                    <a:ext uri="{9D8B030D-6E8A-4147-A177-3AD203B41FA5}">
                      <a16:colId xmlns:a16="http://schemas.microsoft.com/office/drawing/2014/main" val="20000"/>
                    </a:ext>
                  </a:extLst>
                </a:gridCol>
                <a:gridCol w="2143151">
                  <a:extLst>
                    <a:ext uri="{9D8B030D-6E8A-4147-A177-3AD203B41FA5}">
                      <a16:colId xmlns:a16="http://schemas.microsoft.com/office/drawing/2014/main" val="20001"/>
                    </a:ext>
                  </a:extLst>
                </a:gridCol>
                <a:gridCol w="2600575">
                  <a:extLst>
                    <a:ext uri="{9D8B030D-6E8A-4147-A177-3AD203B41FA5}">
                      <a16:colId xmlns:a16="http://schemas.microsoft.com/office/drawing/2014/main" val="20002"/>
                    </a:ext>
                  </a:extLst>
                </a:gridCol>
                <a:gridCol w="2397201">
                  <a:extLst>
                    <a:ext uri="{9D8B030D-6E8A-4147-A177-3AD203B41FA5}">
                      <a16:colId xmlns:a16="http://schemas.microsoft.com/office/drawing/2014/main" val="20003"/>
                    </a:ext>
                  </a:extLst>
                </a:gridCol>
                <a:gridCol w="1742729">
                  <a:extLst>
                    <a:ext uri="{9D8B030D-6E8A-4147-A177-3AD203B41FA5}">
                      <a16:colId xmlns:a16="http://schemas.microsoft.com/office/drawing/2014/main" val="20004"/>
                    </a:ext>
                  </a:extLst>
                </a:gridCol>
                <a:gridCol w="2862884">
                  <a:extLst>
                    <a:ext uri="{9D8B030D-6E8A-4147-A177-3AD203B41FA5}">
                      <a16:colId xmlns:a16="http://schemas.microsoft.com/office/drawing/2014/main" val="20005"/>
                    </a:ext>
                  </a:extLst>
                </a:gridCol>
                <a:gridCol w="2820691">
                  <a:extLst>
                    <a:ext uri="{9D8B030D-6E8A-4147-A177-3AD203B41FA5}">
                      <a16:colId xmlns:a16="http://schemas.microsoft.com/office/drawing/2014/main" val="20006"/>
                    </a:ext>
                  </a:extLst>
                </a:gridCol>
                <a:gridCol w="3066035">
                  <a:extLst>
                    <a:ext uri="{9D8B030D-6E8A-4147-A177-3AD203B41FA5}">
                      <a16:colId xmlns:a16="http://schemas.microsoft.com/office/drawing/2014/main" val="20007"/>
                    </a:ext>
                  </a:extLst>
                </a:gridCol>
                <a:gridCol w="2132213">
                  <a:extLst>
                    <a:ext uri="{9D8B030D-6E8A-4147-A177-3AD203B41FA5}">
                      <a16:colId xmlns:a16="http://schemas.microsoft.com/office/drawing/2014/main" val="20008"/>
                    </a:ext>
                  </a:extLst>
                </a:gridCol>
              </a:tblGrid>
              <a:tr h="399928">
                <a:tc gridSpan="9">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01788">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Grand View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Monroe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780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$63,154K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$60,121K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$602,108K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$95,948K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$14,624K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$27,848K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$191,796K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$86,479K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7853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$137,202K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$613,156K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$140,601K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$79,751K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$239,790K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$136,199K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780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$40,371K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$34,117K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$239,590K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$94,532K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$41,858K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800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$33,310K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$20,814K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780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$141,070K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$101,702K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$839,057K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$185,406K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$42,705K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$78,292K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$305,160K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$159,163K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784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$48,987K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$12,862K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$6,693K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$6,752K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$14,933K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$15,325K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784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$57,209K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$507,803K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$120,788K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$24,434K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$152,854K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$79,434K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7853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$98,835K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$517,121K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$177,002K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$37,584K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$69,974K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$191,104K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$125,103K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800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$144,328K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$139,111K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$1,024,924K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$297,790K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$94,408K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$343,959K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$204,537K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780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$56,446K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$7,345K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$190,340K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$17,299K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784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784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800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784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7996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7996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28600">
                <a:tc gridSpan="9">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28600">
                <a:tc gridSpan="9">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28600">
                <a:tc gridSpan="9">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28600">
                <a:tc gridSpan="9">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839870718"/>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a:solidFill/>
                          <a:effectLst/>
                        </a:rPr>
                        <a:t>to Luzerne, Carbon, Schuylkill, Lehigh, Northampton, Warren, Hunterdon, and Bucks </a:t>
                      </a:r>
                      <a:r>
                        <a:rPr lang="en-US" sz="1400" b="1" u="none" strike="noStrike" dirty="0">
                          <a:effectLst/>
                        </a:rPr>
                        <a:t>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$ 3,639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$ 3,089</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36</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37</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XXXX:</a:t>
            </a:r>
          </a:p>
        </p:txBody>
      </p:sp>
    </p:spTree>
    <p:extLst>
      <p:ext uri="{BB962C8B-B14F-4D97-AF65-F5344CB8AC3E}">
        <p14:creationId xmlns:p14="http://schemas.microsoft.com/office/powerpoint/2010/main" val="3616502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38</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Saint Luke's University Health Network has 39% inpatient market share, and 24% outpatient market compared to hospitals/clinics in the Luzerne, Carbon, Schuylkill, Lehigh, Northampton, Warren, Hunterdon, and Bucks.</a:t>
            </a:r>
          </a:p>
          <a:p>
            <a:endParaRPr lang="en-US" sz="1400" dirty="0">
              <a:solidFill/>
            </a:endParaRPr>
          </a:p>
          <a:p>
            <a:r>
              <a:rPr lang="en-US" sz="1400" dirty="0">
                <a:solidFill/>
              </a:rPr>
              <a:t>Based on previous DTE experience, KBA expects a significant bump in patient steerage to Saint Luke's University Health Network.</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633015436"/>
              </p:ext>
            </p:extLst>
          </p:nvPr>
        </p:nvGraphicFramePr>
        <p:xfrm>
          <a:off x="1316736" y="384048"/>
          <a:ext cx="6858000" cy="5506595"/>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4032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SLUHN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SLUHN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2001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39</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4,700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$ 6,670,287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$ 7,462,848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$ 3,484,392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$ 17,617,527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$ 1,727,604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$ 1,932,878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$ 902,457.5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$ 4,562,939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095924731"/>
              </p:ext>
            </p:extLst>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$ 5,981,000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$ 56,400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$ 5,985,800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$ 5,857,400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$ 12,097,456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$ 19,505,602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$ 9,107,135</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$ 40,710,193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$ 3,133,241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$ 5,051,951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$ 2,358,748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$ 10,543,940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39% (inpatient) and 24%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(70%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71% inpatient and 63%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[MM</a:t>
            </a:r>
            <a:r>
              <a:rPr lang="en-US" sz="1400">
                <a:latin typeface="Arial" panose="020B0604020202020204" pitchFamily="34" charset="0"/>
                <a:cs typeface="Arial" panose="020B0604020202020204" pitchFamily="34" charset="0"/>
              </a:rPr>
              <a:t>]%, </a:t>
            </a:r>
            <a:r>
              <a:rPr lang="en-US" sz="1400">
                <a:solidFill/>
                <a:latin typeface="Arial" panose="020B0604020202020204" pitchFamily="34" charset="0"/>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2000"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$1,874.2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$3,748.4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$18,742.0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$93,710.2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$24,271.0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$7,712.1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$38,560.5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$192,802.6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$1,981.8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$3,963.7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$19,818.5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$99,092.3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$1,997.4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$9,987.2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$49,935.9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$25,664.9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$708.6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$4,863.0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$25,634.9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2000"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55%+ Within-Plan Steerage and a Commercial Margin of 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$7,096.1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$35,480.2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$1,837.9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$9,189.4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$1,183.4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$2,366.8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$11,833.9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$59,169.3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$3,065.0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$15,324.8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$947.6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$23,689.0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$245.4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$1,227.1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$6,135.5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$793.9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$1,587.8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$7,939.2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$39,696.0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$2,056.3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$10,281.3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$1,822.0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$3,644.0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$18,219.8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$91,099.2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$4,718.9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$23,594.7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$10,280.6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$51,403.2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$2,662.7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$13,313.4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$370.7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$741.4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$3,706.8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$18,534.0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$960.1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$4,800.3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$850.7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$1,701.4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$8,506.8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$42,534.1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$4,800.0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$24,000.1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$1,243.2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$6,216.0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$189.3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$708.6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$4,863.0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$25,634.9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2000"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21226">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65%+ Within-Plan Steerage and a Commercial Margin of 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65%+ Within-Plan Steerage and a Commercial Margin of 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65%+ Within-Plan Steerage and a Commercial Margin of 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65%+ Within-Plan Steerage and a Commercial Margin of 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65%+ Within-Plan Steerage and a Commercial Margin of 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21226">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221226">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$1,874.2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$3,748.4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$18,742.0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$93,710.2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$24,271.0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$9,026.3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$45,131.6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$225,658.2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$5,277.9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$26,389.6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$131,947.9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$13,945.7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$69,728.4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$9,091.5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$45,457.4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221226">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$585.1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$1,500.3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$8,821.5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$45,427.4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2000"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21226">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45%+ Within-Plan Steerage and a Commercial Margin of 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45%+ Within-Plan Steerage and a Commercial Margin of 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45%+ Within-Plan Steerage and a Commercial Margin of 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45%+ Within-Plan Steerage and a Commercial Margin of 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45%+ Within-Plan Steerage and a Commercial Margin of 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21226">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221226">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$1,874.2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$3,748.4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$18,742.0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$93,710.2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$4,854.2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$24,271.0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$3,178.1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$6,356.3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$31,781.4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$158,907.1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$1,303.9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$2,607.9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$13,039.4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$65,196.9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$1,328.5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$6,642.3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$33,211.6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$1,788.1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122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221226">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$-145.2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$39.6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$1,518.1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$8,910.6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44</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SLUHN’s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Saint Luke's University Health Network</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Saint Luke's University Health Network</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SLUHN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45</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46</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SLUHN</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SLUHN’s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47</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48</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46133</TotalTime>
  <Words>6105</Words>
  <Application>Microsoft Office PowerPoint</Application>
  <PresentationFormat>Widescreen</PresentationFormat>
  <Paragraphs>1749</Paragraphs>
  <Slides>48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Aptos Narrow</vt:lpstr>
      <vt:lpstr>Arial</vt:lpstr>
      <vt:lpstr>Arial Black</vt:lpstr>
      <vt:lpstr>Calibri</vt:lpstr>
      <vt:lpstr>Calibri Light</vt:lpstr>
      <vt:lpstr>Century Gothic</vt:lpstr>
      <vt:lpstr>Garamond</vt:lpstr>
      <vt:lpstr>Wingdings</vt:lpstr>
      <vt:lpstr>Office Theme</vt:lpstr>
      <vt:lpstr>PowerPoint Presentation</vt:lpstr>
      <vt:lpstr>PowerPoint Presentation</vt:lpstr>
      <vt:lpstr>PowerPoint Presentation</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Saint Luke's University Health Network</vt:lpstr>
      <vt:lpstr>Every $1 of Care</vt:lpstr>
      <vt:lpstr>Direct-to-Employer Strategy: Increased Capture of Commercial Market Share</vt:lpstr>
      <vt:lpstr>Direct-to-Employer Strategy: Powerful Employer Value</vt:lpstr>
      <vt:lpstr>Significant Opportunity for Plan Growth Researched for Luzerne, Carbon, Schuylkill, Lehigh, Northampton, Warren, Hunterdon, and Bucks</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SLUHN is Patient Recommended</vt:lpstr>
      <vt:lpstr>Patients Pass Other Hospitals to Come to SLUHN</vt:lpstr>
      <vt:lpstr>SLUHN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SLUHN’s 2022 Payer Mix</vt:lpstr>
      <vt:lpstr>Estimation of Margin for Commercial vs. Government Pay</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2024-12-03T00:33:54Z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