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37"/>
  </p:notesMasterIdLst>
  <p:sldIdLst>
    <p:sldId id="577" r:id="rId5"/>
    <p:sldId id="549" r:id="rId6"/>
    <p:sldId id="579" r:id="rId7"/>
    <p:sldId id="558" r:id="rId8"/>
    <p:sldId id="499" r:id="rId9"/>
    <p:sldId id="548" r:id="rId10"/>
    <p:sldId id="559" r:id="rId11"/>
    <p:sldId id="458" r:id="rId12"/>
    <p:sldId id="446" r:id="rId13"/>
    <p:sldId id="461" r:id="rId14"/>
    <p:sldId id="462" r:id="rId15"/>
    <p:sldId id="469" r:id="rId16"/>
    <p:sldId id="336" r:id="rId17"/>
    <p:sldId id="337" r:id="rId18"/>
    <p:sldId id="578" r:id="rId19"/>
    <p:sldId id="524" r:id="rId20"/>
    <p:sldId id="525" r:id="rId21"/>
    <p:sldId id="527" r:id="rId22"/>
    <p:sldId id="571" r:id="rId23"/>
    <p:sldId id="580" r:id="rId24"/>
    <p:sldId id="546" r:id="rId25"/>
    <p:sldId id="581" r:id="rId26"/>
    <p:sldId id="582" r:id="rId27"/>
    <p:sldId id="584" r:id="rId28"/>
    <p:sldId id="256" r:id="rId29"/>
    <p:sldId id="585" r:id="rId30"/>
    <p:sldId id="583" r:id="rId31"/>
    <p:sldId id="586" r:id="rId32"/>
    <p:sldId id="326" r:id="rId33"/>
    <p:sldId id="491" r:id="rId34"/>
    <p:sldId id="454" r:id="rId35"/>
    <p:sldId id="472" r:id="rId36"/>
  </p:sldIdLst>
  <p:sldSz cx="12192000" cy="6858000"/>
  <p:notesSz cx="7315200" cy="9601200"/>
  <p:custDataLst>
    <p:tags r:id="rId3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5A11"/>
    <a:srgbClr val="F424AA"/>
    <a:srgbClr val="E23440"/>
    <a:srgbClr val="027587"/>
    <a:srgbClr val="7F7F7F"/>
    <a:srgbClr val="00467F"/>
    <a:srgbClr val="58A5DA"/>
    <a:srgbClr val="30589B"/>
    <a:srgbClr val="4468A5"/>
    <a:srgbClr val="59CA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2E46FD-1F8B-4B15-A42C-15178761ED32}" v="55" dt="2024-08-13T05:24:43.010"/>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4" autoAdjust="0"/>
    <p:restoredTop sz="88609" autoAdjust="0"/>
  </p:normalViewPr>
  <p:slideViewPr>
    <p:cSldViewPr snapToGrid="0">
      <p:cViewPr>
        <p:scale>
          <a:sx n="75" d="100"/>
          <a:sy n="75" d="100"/>
        </p:scale>
        <p:origin x="936" y="51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3C2E46FD-1F8B-4B15-A42C-15178761ED32}"/>
    <pc:docChg chg="undo redo custSel addSld delSld modSld sldOrd">
      <pc:chgData name="Taylor Davis" userId="5c9e72a0-c39f-4aa1-9d7d-64125e78cbe6" providerId="ADAL" clId="{3C2E46FD-1F8B-4B15-A42C-15178761ED32}" dt="2024-08-13T05:32:46.894" v="849" actId="1076"/>
      <pc:docMkLst>
        <pc:docMk/>
      </pc:docMkLst>
      <pc:sldChg chg="modSp add del mod">
        <pc:chgData name="Taylor Davis" userId="5c9e72a0-c39f-4aa1-9d7d-64125e78cbe6" providerId="ADAL" clId="{3C2E46FD-1F8B-4B15-A42C-15178761ED32}" dt="2024-08-13T05:24:43.010" v="843"/>
        <pc:sldMkLst>
          <pc:docMk/>
          <pc:sldMk cId="0" sldId="256"/>
        </pc:sldMkLst>
        <pc:graphicFrameChg chg="mod modGraphic">
          <ac:chgData name="Taylor Davis" userId="5c9e72a0-c39f-4aa1-9d7d-64125e78cbe6" providerId="ADAL" clId="{3C2E46FD-1F8B-4B15-A42C-15178761ED32}" dt="2024-08-13T05:24:43.010" v="843"/>
          <ac:graphicFrameMkLst>
            <pc:docMk/>
            <pc:sldMk cId="0" sldId="256"/>
            <ac:graphicFrameMk id="2" creationId="{00000000-0000-0000-0000-000000000000}"/>
          </ac:graphicFrameMkLst>
        </pc:graphicFrameChg>
      </pc:sldChg>
      <pc:sldChg chg="del">
        <pc:chgData name="Taylor Davis" userId="5c9e72a0-c39f-4aa1-9d7d-64125e78cbe6" providerId="ADAL" clId="{3C2E46FD-1F8B-4B15-A42C-15178761ED32}" dt="2024-08-13T04:26:43.373" v="142" actId="47"/>
        <pc:sldMkLst>
          <pc:docMk/>
          <pc:sldMk cId="211951504" sldId="325"/>
        </pc:sldMkLst>
      </pc:sldChg>
      <pc:sldChg chg="modSp">
        <pc:chgData name="Taylor Davis" userId="5c9e72a0-c39f-4aa1-9d7d-64125e78cbe6" providerId="ADAL" clId="{3C2E46FD-1F8B-4B15-A42C-15178761ED32}" dt="2024-08-13T04:27:32.447" v="148" actId="313"/>
        <pc:sldMkLst>
          <pc:docMk/>
          <pc:sldMk cId="225422285" sldId="326"/>
        </pc:sldMkLst>
        <pc:graphicFrameChg chg="mod">
          <ac:chgData name="Taylor Davis" userId="5c9e72a0-c39f-4aa1-9d7d-64125e78cbe6" providerId="ADAL" clId="{3C2E46FD-1F8B-4B15-A42C-15178761ED32}" dt="2024-08-13T04:27:32.447" v="148" actId="313"/>
          <ac:graphicFrameMkLst>
            <pc:docMk/>
            <pc:sldMk cId="225422285" sldId="326"/>
            <ac:graphicFrameMk id="4" creationId="{84E03A31-9E21-4107-85E9-ECD8397925B4}"/>
          </ac:graphicFrameMkLst>
        </pc:graphicFrameChg>
      </pc:sldChg>
      <pc:sldChg chg="modSp">
        <pc:chgData name="Taylor Davis" userId="5c9e72a0-c39f-4aa1-9d7d-64125e78cbe6" providerId="ADAL" clId="{3C2E46FD-1F8B-4B15-A42C-15178761ED32}" dt="2024-08-13T04:27:30.619" v="146" actId="313"/>
        <pc:sldMkLst>
          <pc:docMk/>
          <pc:sldMk cId="619324413" sldId="336"/>
        </pc:sldMkLst>
        <pc:graphicFrameChg chg="mod">
          <ac:chgData name="Taylor Davis" userId="5c9e72a0-c39f-4aa1-9d7d-64125e78cbe6" providerId="ADAL" clId="{3C2E46FD-1F8B-4B15-A42C-15178761ED32}" dt="2024-08-13T04:27:30.619" v="146" actId="313"/>
          <ac:graphicFrameMkLst>
            <pc:docMk/>
            <pc:sldMk cId="619324413" sldId="336"/>
            <ac:graphicFrameMk id="7" creationId="{9538C73A-9FA7-458F-A114-0449E816E242}"/>
          </ac:graphicFrameMkLst>
        </pc:graphicFrameChg>
      </pc:sldChg>
      <pc:sldChg chg="ord">
        <pc:chgData name="Taylor Davis" userId="5c9e72a0-c39f-4aa1-9d7d-64125e78cbe6" providerId="ADAL" clId="{3C2E46FD-1F8B-4B15-A42C-15178761ED32}" dt="2024-08-13T04:24:07.940" v="53"/>
        <pc:sldMkLst>
          <pc:docMk/>
          <pc:sldMk cId="2984433661" sldId="446"/>
        </pc:sldMkLst>
      </pc:sldChg>
      <pc:sldChg chg="del">
        <pc:chgData name="Taylor Davis" userId="5c9e72a0-c39f-4aa1-9d7d-64125e78cbe6" providerId="ADAL" clId="{3C2E46FD-1F8B-4B15-A42C-15178761ED32}" dt="2024-08-13T04:24:32.865" v="54" actId="47"/>
        <pc:sldMkLst>
          <pc:docMk/>
          <pc:sldMk cId="1700621358" sldId="456"/>
        </pc:sldMkLst>
      </pc:sldChg>
      <pc:sldChg chg="modSp ord">
        <pc:chgData name="Taylor Davis" userId="5c9e72a0-c39f-4aa1-9d7d-64125e78cbe6" providerId="ADAL" clId="{3C2E46FD-1F8B-4B15-A42C-15178761ED32}" dt="2024-08-13T04:30:51.584" v="171"/>
        <pc:sldMkLst>
          <pc:docMk/>
          <pc:sldMk cId="3958060990" sldId="458"/>
        </pc:sldMkLst>
        <pc:spChg chg="mod">
          <ac:chgData name="Taylor Davis" userId="5c9e72a0-c39f-4aa1-9d7d-64125e78cbe6" providerId="ADAL" clId="{3C2E46FD-1F8B-4B15-A42C-15178761ED32}" dt="2024-08-13T04:30:51.584" v="171"/>
          <ac:spMkLst>
            <pc:docMk/>
            <pc:sldMk cId="3958060990" sldId="458"/>
            <ac:spMk id="5" creationId="{F78CFBEA-CEF2-471A-842D-8314716A34E9}"/>
          </ac:spMkLst>
        </pc:spChg>
      </pc:sldChg>
      <pc:sldChg chg="modSp">
        <pc:chgData name="Taylor Davis" userId="5c9e72a0-c39f-4aa1-9d7d-64125e78cbe6" providerId="ADAL" clId="{3C2E46FD-1F8B-4B15-A42C-15178761ED32}" dt="2024-08-13T04:30:51.584" v="171"/>
        <pc:sldMkLst>
          <pc:docMk/>
          <pc:sldMk cId="902706633" sldId="461"/>
        </pc:sldMkLst>
        <pc:spChg chg="mod">
          <ac:chgData name="Taylor Davis" userId="5c9e72a0-c39f-4aa1-9d7d-64125e78cbe6" providerId="ADAL" clId="{3C2E46FD-1F8B-4B15-A42C-15178761ED32}" dt="2024-08-13T04:30:51.584" v="171"/>
          <ac:spMkLst>
            <pc:docMk/>
            <pc:sldMk cId="902706633" sldId="461"/>
            <ac:spMk id="9" creationId="{CA0477AD-A883-49D0-84C0-1846E555302E}"/>
          </ac:spMkLst>
        </pc:spChg>
        <pc:spChg chg="mod">
          <ac:chgData name="Taylor Davis" userId="5c9e72a0-c39f-4aa1-9d7d-64125e78cbe6" providerId="ADAL" clId="{3C2E46FD-1F8B-4B15-A42C-15178761ED32}" dt="2024-08-13T04:30:51.584" v="171"/>
          <ac:spMkLst>
            <pc:docMk/>
            <pc:sldMk cId="902706633" sldId="461"/>
            <ac:spMk id="10" creationId="{97E1BE5C-BB73-4F75-AB8A-06D533303EDE}"/>
          </ac:spMkLst>
        </pc:spChg>
      </pc:sldChg>
      <pc:sldChg chg="modSp">
        <pc:chgData name="Taylor Davis" userId="5c9e72a0-c39f-4aa1-9d7d-64125e78cbe6" providerId="ADAL" clId="{3C2E46FD-1F8B-4B15-A42C-15178761ED32}" dt="2024-08-13T04:30:51.584" v="171"/>
        <pc:sldMkLst>
          <pc:docMk/>
          <pc:sldMk cId="3804806607" sldId="462"/>
        </pc:sldMkLst>
        <pc:spChg chg="mod">
          <ac:chgData name="Taylor Davis" userId="5c9e72a0-c39f-4aa1-9d7d-64125e78cbe6" providerId="ADAL" clId="{3C2E46FD-1F8B-4B15-A42C-15178761ED32}" dt="2024-08-13T04:30:51.584" v="171"/>
          <ac:spMkLst>
            <pc:docMk/>
            <pc:sldMk cId="3804806607" sldId="462"/>
            <ac:spMk id="5" creationId="{2FF25A3A-C156-4EF4-AAF0-4C022A00A18A}"/>
          </ac:spMkLst>
        </pc:spChg>
      </pc:sldChg>
      <pc:sldChg chg="del">
        <pc:chgData name="Taylor Davis" userId="5c9e72a0-c39f-4aa1-9d7d-64125e78cbe6" providerId="ADAL" clId="{3C2E46FD-1F8B-4B15-A42C-15178761ED32}" dt="2024-08-13T04:24:32.865" v="54" actId="47"/>
        <pc:sldMkLst>
          <pc:docMk/>
          <pc:sldMk cId="1714126014" sldId="466"/>
        </pc:sldMkLst>
      </pc:sldChg>
      <pc:sldChg chg="modSp">
        <pc:chgData name="Taylor Davis" userId="5c9e72a0-c39f-4aa1-9d7d-64125e78cbe6" providerId="ADAL" clId="{3C2E46FD-1F8B-4B15-A42C-15178761ED32}" dt="2024-08-13T04:30:51.584" v="171"/>
        <pc:sldMkLst>
          <pc:docMk/>
          <pc:sldMk cId="2680122054" sldId="469"/>
        </pc:sldMkLst>
        <pc:spChg chg="mod">
          <ac:chgData name="Taylor Davis" userId="5c9e72a0-c39f-4aa1-9d7d-64125e78cbe6" providerId="ADAL" clId="{3C2E46FD-1F8B-4B15-A42C-15178761ED32}" dt="2024-08-13T04:30:51.584" v="171"/>
          <ac:spMkLst>
            <pc:docMk/>
            <pc:sldMk cId="2680122054" sldId="469"/>
            <ac:spMk id="2" creationId="{EE4CC181-8C0A-4FE1-B12F-4C934443F672}"/>
          </ac:spMkLst>
        </pc:spChg>
      </pc:sldChg>
      <pc:sldChg chg="addSp delSp modSp del mod">
        <pc:chgData name="Taylor Davis" userId="5c9e72a0-c39f-4aa1-9d7d-64125e78cbe6" providerId="ADAL" clId="{3C2E46FD-1F8B-4B15-A42C-15178761ED32}" dt="2024-08-13T04:28:39.023" v="156" actId="47"/>
        <pc:sldMkLst>
          <pc:docMk/>
          <pc:sldMk cId="1552833548" sldId="487"/>
        </pc:sldMkLst>
        <pc:picChg chg="del">
          <ac:chgData name="Taylor Davis" userId="5c9e72a0-c39f-4aa1-9d7d-64125e78cbe6" providerId="ADAL" clId="{3C2E46FD-1F8B-4B15-A42C-15178761ED32}" dt="2024-08-13T04:28:25.468" v="153" actId="478"/>
          <ac:picMkLst>
            <pc:docMk/>
            <pc:sldMk cId="1552833548" sldId="487"/>
            <ac:picMk id="6" creationId="{4A60D270-B217-C9E2-35B2-4BB4D1D6A28B}"/>
          </ac:picMkLst>
        </pc:picChg>
        <pc:picChg chg="add mod">
          <ac:chgData name="Taylor Davis" userId="5c9e72a0-c39f-4aa1-9d7d-64125e78cbe6" providerId="ADAL" clId="{3C2E46FD-1F8B-4B15-A42C-15178761ED32}" dt="2024-08-13T04:28:28.860" v="155" actId="1076"/>
          <ac:picMkLst>
            <pc:docMk/>
            <pc:sldMk cId="1552833548" sldId="487"/>
            <ac:picMk id="7" creationId="{8526C3FE-F703-B690-C1F7-BCE5D729AA88}"/>
          </ac:picMkLst>
        </pc:picChg>
      </pc:sldChg>
      <pc:sldChg chg="del">
        <pc:chgData name="Taylor Davis" userId="5c9e72a0-c39f-4aa1-9d7d-64125e78cbe6" providerId="ADAL" clId="{3C2E46FD-1F8B-4B15-A42C-15178761ED32}" dt="2024-08-13T04:24:32.865" v="54" actId="47"/>
        <pc:sldMkLst>
          <pc:docMk/>
          <pc:sldMk cId="3325436177" sldId="489"/>
        </pc:sldMkLst>
      </pc:sldChg>
      <pc:sldChg chg="modSp del mod">
        <pc:chgData name="Taylor Davis" userId="5c9e72a0-c39f-4aa1-9d7d-64125e78cbe6" providerId="ADAL" clId="{3C2E46FD-1F8B-4B15-A42C-15178761ED32}" dt="2024-08-13T04:26:43.373" v="142" actId="47"/>
        <pc:sldMkLst>
          <pc:docMk/>
          <pc:sldMk cId="3144192130" sldId="498"/>
        </pc:sldMkLst>
        <pc:spChg chg="mod">
          <ac:chgData name="Taylor Davis" userId="5c9e72a0-c39f-4aa1-9d7d-64125e78cbe6" providerId="ADAL" clId="{3C2E46FD-1F8B-4B15-A42C-15178761ED32}" dt="2024-08-13T04:26:31.692" v="141" actId="108"/>
          <ac:spMkLst>
            <pc:docMk/>
            <pc:sldMk cId="3144192130" sldId="498"/>
            <ac:spMk id="19" creationId="{E603E0FD-1B79-43C3-ABAE-5EA24846155A}"/>
          </ac:spMkLst>
        </pc:spChg>
      </pc:sldChg>
      <pc:sldChg chg="addSp delSp modSp mod ord">
        <pc:chgData name="Taylor Davis" userId="5c9e72a0-c39f-4aa1-9d7d-64125e78cbe6" providerId="ADAL" clId="{3C2E46FD-1F8B-4B15-A42C-15178761ED32}" dt="2024-08-13T04:50:07.295" v="304" actId="20577"/>
        <pc:sldMkLst>
          <pc:docMk/>
          <pc:sldMk cId="2203540903" sldId="499"/>
        </pc:sldMkLst>
        <pc:spChg chg="mod">
          <ac:chgData name="Taylor Davis" userId="5c9e72a0-c39f-4aa1-9d7d-64125e78cbe6" providerId="ADAL" clId="{3C2E46FD-1F8B-4B15-A42C-15178761ED32}" dt="2024-08-13T04:33:48.249" v="262" actId="20577"/>
          <ac:spMkLst>
            <pc:docMk/>
            <pc:sldMk cId="2203540903" sldId="499"/>
            <ac:spMk id="9" creationId="{AB8821D0-DEDE-002D-E87D-13E033D5D75F}"/>
          </ac:spMkLst>
        </pc:spChg>
        <pc:graphicFrameChg chg="add mod modGraphic">
          <ac:chgData name="Taylor Davis" userId="5c9e72a0-c39f-4aa1-9d7d-64125e78cbe6" providerId="ADAL" clId="{3C2E46FD-1F8B-4B15-A42C-15178761ED32}" dt="2024-08-13T04:50:07.295" v="304" actId="20577"/>
          <ac:graphicFrameMkLst>
            <pc:docMk/>
            <pc:sldMk cId="2203540903" sldId="499"/>
            <ac:graphicFrameMk id="6" creationId="{E45BC2E3-E3EE-FA47-7853-7B92624C864E}"/>
          </ac:graphicFrameMkLst>
        </pc:graphicFrameChg>
        <pc:picChg chg="del">
          <ac:chgData name="Taylor Davis" userId="5c9e72a0-c39f-4aa1-9d7d-64125e78cbe6" providerId="ADAL" clId="{3C2E46FD-1F8B-4B15-A42C-15178761ED32}" dt="2024-08-13T04:49:08.100" v="268" actId="478"/>
          <ac:picMkLst>
            <pc:docMk/>
            <pc:sldMk cId="2203540903" sldId="499"/>
            <ac:picMk id="2" creationId="{F156B909-05C2-E261-19DB-5B7A9C2F758B}"/>
          </ac:picMkLst>
        </pc:picChg>
      </pc:sldChg>
      <pc:sldChg chg="del">
        <pc:chgData name="Taylor Davis" userId="5c9e72a0-c39f-4aa1-9d7d-64125e78cbe6" providerId="ADAL" clId="{3C2E46FD-1F8B-4B15-A42C-15178761ED32}" dt="2024-08-13T04:24:32.865" v="54" actId="47"/>
        <pc:sldMkLst>
          <pc:docMk/>
          <pc:sldMk cId="3348736581" sldId="518"/>
        </pc:sldMkLst>
      </pc:sldChg>
      <pc:sldChg chg="del">
        <pc:chgData name="Taylor Davis" userId="5c9e72a0-c39f-4aa1-9d7d-64125e78cbe6" providerId="ADAL" clId="{3C2E46FD-1F8B-4B15-A42C-15178761ED32}" dt="2024-08-13T04:24:32.865" v="54" actId="47"/>
        <pc:sldMkLst>
          <pc:docMk/>
          <pc:sldMk cId="2103269747" sldId="520"/>
        </pc:sldMkLst>
      </pc:sldChg>
      <pc:sldChg chg="del">
        <pc:chgData name="Taylor Davis" userId="5c9e72a0-c39f-4aa1-9d7d-64125e78cbe6" providerId="ADAL" clId="{3C2E46FD-1F8B-4B15-A42C-15178761ED32}" dt="2024-08-13T04:24:32.865" v="54" actId="47"/>
        <pc:sldMkLst>
          <pc:docMk/>
          <pc:sldMk cId="500461553" sldId="521"/>
        </pc:sldMkLst>
      </pc:sldChg>
      <pc:sldChg chg="modSp mod">
        <pc:chgData name="Taylor Davis" userId="5c9e72a0-c39f-4aa1-9d7d-64125e78cbe6" providerId="ADAL" clId="{3C2E46FD-1F8B-4B15-A42C-15178761ED32}" dt="2024-08-13T04:34:36.266" v="263" actId="6549"/>
        <pc:sldMkLst>
          <pc:docMk/>
          <pc:sldMk cId="1147401429" sldId="524"/>
        </pc:sldMkLst>
        <pc:graphicFrameChg chg="modGraphic">
          <ac:chgData name="Taylor Davis" userId="5c9e72a0-c39f-4aa1-9d7d-64125e78cbe6" providerId="ADAL" clId="{3C2E46FD-1F8B-4B15-A42C-15178761ED32}" dt="2024-08-13T04:34:36.266" v="263" actId="6549"/>
          <ac:graphicFrameMkLst>
            <pc:docMk/>
            <pc:sldMk cId="1147401429" sldId="524"/>
            <ac:graphicFrameMk id="5" creationId="{713AD275-CC86-F2BC-8594-AECC0B66117F}"/>
          </ac:graphicFrameMkLst>
        </pc:graphicFrameChg>
      </pc:sldChg>
      <pc:sldChg chg="addSp modSp mod">
        <pc:chgData name="Taylor Davis" userId="5c9e72a0-c39f-4aa1-9d7d-64125e78cbe6" providerId="ADAL" clId="{3C2E46FD-1F8B-4B15-A42C-15178761ED32}" dt="2024-08-13T05:15:53.509" v="771" actId="14100"/>
        <pc:sldMkLst>
          <pc:docMk/>
          <pc:sldMk cId="3034923006" sldId="527"/>
        </pc:sldMkLst>
        <pc:spChg chg="mod">
          <ac:chgData name="Taylor Davis" userId="5c9e72a0-c39f-4aa1-9d7d-64125e78cbe6" providerId="ADAL" clId="{3C2E46FD-1F8B-4B15-A42C-15178761ED32}" dt="2024-08-13T05:15:50.656" v="770" actId="1076"/>
          <ac:spMkLst>
            <pc:docMk/>
            <pc:sldMk cId="3034923006" sldId="527"/>
            <ac:spMk id="10" creationId="{DD333F58-1E5B-D213-65EE-BB627B8B12A8}"/>
          </ac:spMkLst>
        </pc:spChg>
        <pc:graphicFrameChg chg="add mod modGraphic">
          <ac:chgData name="Taylor Davis" userId="5c9e72a0-c39f-4aa1-9d7d-64125e78cbe6" providerId="ADAL" clId="{3C2E46FD-1F8B-4B15-A42C-15178761ED32}" dt="2024-08-13T05:15:53.509" v="771" actId="14100"/>
          <ac:graphicFrameMkLst>
            <pc:docMk/>
            <pc:sldMk cId="3034923006" sldId="527"/>
            <ac:graphicFrameMk id="3" creationId="{8DE0229A-E7A5-B958-209A-C590990F5982}"/>
          </ac:graphicFrameMkLst>
        </pc:graphicFrameChg>
      </pc:sldChg>
      <pc:sldChg chg="modSp del mod">
        <pc:chgData name="Taylor Davis" userId="5c9e72a0-c39f-4aa1-9d7d-64125e78cbe6" providerId="ADAL" clId="{3C2E46FD-1F8B-4B15-A42C-15178761ED32}" dt="2024-08-13T05:10:31.162" v="729" actId="47"/>
        <pc:sldMkLst>
          <pc:docMk/>
          <pc:sldMk cId="1419816550" sldId="536"/>
        </pc:sldMkLst>
        <pc:spChg chg="mod">
          <ac:chgData name="Taylor Davis" userId="5c9e72a0-c39f-4aa1-9d7d-64125e78cbe6" providerId="ADAL" clId="{3C2E46FD-1F8B-4B15-A42C-15178761ED32}" dt="2024-08-13T04:30:51.584" v="171"/>
          <ac:spMkLst>
            <pc:docMk/>
            <pc:sldMk cId="1419816550" sldId="536"/>
            <ac:spMk id="7" creationId="{C690F22E-C9CA-61DC-5584-149573110610}"/>
          </ac:spMkLst>
        </pc:spChg>
        <pc:graphicFrameChg chg="mod">
          <ac:chgData name="Taylor Davis" userId="5c9e72a0-c39f-4aa1-9d7d-64125e78cbe6" providerId="ADAL" clId="{3C2E46FD-1F8B-4B15-A42C-15178761ED32}" dt="2024-08-13T04:30:51.584" v="171"/>
          <ac:graphicFrameMkLst>
            <pc:docMk/>
            <pc:sldMk cId="1419816550" sldId="536"/>
            <ac:graphicFrameMk id="6" creationId="{176BAF2A-5136-E457-9AAC-D0878752F10C}"/>
          </ac:graphicFrameMkLst>
        </pc:graphicFrameChg>
        <pc:graphicFrameChg chg="modGraphic">
          <ac:chgData name="Taylor Davis" userId="5c9e72a0-c39f-4aa1-9d7d-64125e78cbe6" providerId="ADAL" clId="{3C2E46FD-1F8B-4B15-A42C-15178761ED32}" dt="2024-08-13T04:26:20.351" v="140" actId="20577"/>
          <ac:graphicFrameMkLst>
            <pc:docMk/>
            <pc:sldMk cId="1419816550" sldId="536"/>
            <ac:graphicFrameMk id="15" creationId="{FF3ACACB-7F38-7EAA-4BDF-1A816CA00AAE}"/>
          </ac:graphicFrameMkLst>
        </pc:graphicFrameChg>
        <pc:graphicFrameChg chg="mod">
          <ac:chgData name="Taylor Davis" userId="5c9e72a0-c39f-4aa1-9d7d-64125e78cbe6" providerId="ADAL" clId="{3C2E46FD-1F8B-4B15-A42C-15178761ED32}" dt="2024-08-13T04:30:51.584" v="171"/>
          <ac:graphicFrameMkLst>
            <pc:docMk/>
            <pc:sldMk cId="1419816550" sldId="536"/>
            <ac:graphicFrameMk id="16" creationId="{32A51F3A-032C-30E2-F635-DD59B5A29A34}"/>
          </ac:graphicFrameMkLst>
        </pc:graphicFrameChg>
      </pc:sldChg>
      <pc:sldChg chg="modSp mod">
        <pc:chgData name="Taylor Davis" userId="5c9e72a0-c39f-4aa1-9d7d-64125e78cbe6" providerId="ADAL" clId="{3C2E46FD-1F8B-4B15-A42C-15178761ED32}" dt="2024-08-13T04:35:42.287" v="267" actId="20577"/>
        <pc:sldMkLst>
          <pc:docMk/>
          <pc:sldMk cId="94944115" sldId="546"/>
        </pc:sldMkLst>
        <pc:graphicFrameChg chg="modGraphic">
          <ac:chgData name="Taylor Davis" userId="5c9e72a0-c39f-4aa1-9d7d-64125e78cbe6" providerId="ADAL" clId="{3C2E46FD-1F8B-4B15-A42C-15178761ED32}" dt="2024-08-13T04:35:42.287" v="267" actId="20577"/>
          <ac:graphicFrameMkLst>
            <pc:docMk/>
            <pc:sldMk cId="94944115" sldId="546"/>
            <ac:graphicFrameMk id="6" creationId="{3C07E302-CC45-B04C-2C2D-C436C7863084}"/>
          </ac:graphicFrameMkLst>
        </pc:graphicFrameChg>
      </pc:sldChg>
      <pc:sldChg chg="del">
        <pc:chgData name="Taylor Davis" userId="5c9e72a0-c39f-4aa1-9d7d-64125e78cbe6" providerId="ADAL" clId="{3C2E46FD-1F8B-4B15-A42C-15178761ED32}" dt="2024-08-13T04:26:11.788" v="133" actId="47"/>
        <pc:sldMkLst>
          <pc:docMk/>
          <pc:sldMk cId="3616502281" sldId="547"/>
        </pc:sldMkLst>
      </pc:sldChg>
      <pc:sldChg chg="addSp delSp modSp mod ord">
        <pc:chgData name="Taylor Davis" userId="5c9e72a0-c39f-4aa1-9d7d-64125e78cbe6" providerId="ADAL" clId="{3C2E46FD-1F8B-4B15-A42C-15178761ED32}" dt="2024-08-13T05:11:36.194" v="735" actId="1036"/>
        <pc:sldMkLst>
          <pc:docMk/>
          <pc:sldMk cId="315794589" sldId="548"/>
        </pc:sldMkLst>
        <pc:picChg chg="add del">
          <ac:chgData name="Taylor Davis" userId="5c9e72a0-c39f-4aa1-9d7d-64125e78cbe6" providerId="ADAL" clId="{3C2E46FD-1F8B-4B15-A42C-15178761ED32}" dt="2024-08-13T05:11:29.110" v="730" actId="478"/>
          <ac:picMkLst>
            <pc:docMk/>
            <pc:sldMk cId="315794589" sldId="548"/>
            <ac:picMk id="2" creationId="{34260373-93DD-C051-5A2C-4C5642C9EE93}"/>
          </ac:picMkLst>
        </pc:picChg>
        <pc:picChg chg="add del mod">
          <ac:chgData name="Taylor Davis" userId="5c9e72a0-c39f-4aa1-9d7d-64125e78cbe6" providerId="ADAL" clId="{3C2E46FD-1F8B-4B15-A42C-15178761ED32}" dt="2024-08-13T04:53:03.265" v="427"/>
          <ac:picMkLst>
            <pc:docMk/>
            <pc:sldMk cId="315794589" sldId="548"/>
            <ac:picMk id="6" creationId="{AD87F2AB-2BD5-FD87-DFE4-D26E1A9E829F}"/>
          </ac:picMkLst>
        </pc:picChg>
        <pc:picChg chg="add del mod">
          <ac:chgData name="Taylor Davis" userId="5c9e72a0-c39f-4aa1-9d7d-64125e78cbe6" providerId="ADAL" clId="{3C2E46FD-1F8B-4B15-A42C-15178761ED32}" dt="2024-08-13T04:53:02.410" v="424"/>
          <ac:picMkLst>
            <pc:docMk/>
            <pc:sldMk cId="315794589" sldId="548"/>
            <ac:picMk id="10" creationId="{3CCD132D-C059-9801-EBFD-2EE8D2BF70EE}"/>
          </ac:picMkLst>
        </pc:picChg>
        <pc:picChg chg="add del mod">
          <ac:chgData name="Taylor Davis" userId="5c9e72a0-c39f-4aa1-9d7d-64125e78cbe6" providerId="ADAL" clId="{3C2E46FD-1F8B-4B15-A42C-15178761ED32}" dt="2024-08-13T04:53:01.567" v="421"/>
          <ac:picMkLst>
            <pc:docMk/>
            <pc:sldMk cId="315794589" sldId="548"/>
            <ac:picMk id="12" creationId="{64BCC0A2-8DB3-C545-24D4-0CC825F0BBB1}"/>
          </ac:picMkLst>
        </pc:picChg>
        <pc:picChg chg="add mod">
          <ac:chgData name="Taylor Davis" userId="5c9e72a0-c39f-4aa1-9d7d-64125e78cbe6" providerId="ADAL" clId="{3C2E46FD-1F8B-4B15-A42C-15178761ED32}" dt="2024-08-13T05:11:36.194" v="735" actId="1036"/>
          <ac:picMkLst>
            <pc:docMk/>
            <pc:sldMk cId="315794589" sldId="548"/>
            <ac:picMk id="14" creationId="{4D17DB8C-C31A-89BC-810F-E1FB39B1F92E}"/>
          </ac:picMkLst>
        </pc:picChg>
      </pc:sldChg>
      <pc:sldChg chg="modSp mod">
        <pc:chgData name="Taylor Davis" userId="5c9e72a0-c39f-4aa1-9d7d-64125e78cbe6" providerId="ADAL" clId="{3C2E46FD-1F8B-4B15-A42C-15178761ED32}" dt="2024-08-13T04:32:07.302" v="192" actId="20577"/>
        <pc:sldMkLst>
          <pc:docMk/>
          <pc:sldMk cId="263972108" sldId="549"/>
        </pc:sldMkLst>
        <pc:spChg chg="mod">
          <ac:chgData name="Taylor Davis" userId="5c9e72a0-c39f-4aa1-9d7d-64125e78cbe6" providerId="ADAL" clId="{3C2E46FD-1F8B-4B15-A42C-15178761ED32}" dt="2024-08-13T04:32:07.302" v="192" actId="20577"/>
          <ac:spMkLst>
            <pc:docMk/>
            <pc:sldMk cId="263972108" sldId="549"/>
            <ac:spMk id="9" creationId="{553571B1-9896-47E3-8ADF-78C38648412E}"/>
          </ac:spMkLst>
        </pc:spChg>
      </pc:sldChg>
      <pc:sldChg chg="addSp delSp modSp mod ord">
        <pc:chgData name="Taylor Davis" userId="5c9e72a0-c39f-4aa1-9d7d-64125e78cbe6" providerId="ADAL" clId="{3C2E46FD-1F8B-4B15-A42C-15178761ED32}" dt="2024-08-13T04:52:06.029" v="405" actId="1076"/>
        <pc:sldMkLst>
          <pc:docMk/>
          <pc:sldMk cId="3470905217" sldId="558"/>
        </pc:sldMkLst>
        <pc:spChg chg="mod">
          <ac:chgData name="Taylor Davis" userId="5c9e72a0-c39f-4aa1-9d7d-64125e78cbe6" providerId="ADAL" clId="{3C2E46FD-1F8B-4B15-A42C-15178761ED32}" dt="2024-08-13T04:33:04.604" v="233" actId="20577"/>
          <ac:spMkLst>
            <pc:docMk/>
            <pc:sldMk cId="3470905217" sldId="558"/>
            <ac:spMk id="13" creationId="{025AE6BF-C458-13D4-626E-DAD4C1439055}"/>
          </ac:spMkLst>
        </pc:spChg>
        <pc:spChg chg="mod">
          <ac:chgData name="Taylor Davis" userId="5c9e72a0-c39f-4aa1-9d7d-64125e78cbe6" providerId="ADAL" clId="{3C2E46FD-1F8B-4B15-A42C-15178761ED32}" dt="2024-08-13T04:33:33.691" v="260" actId="20577"/>
          <ac:spMkLst>
            <pc:docMk/>
            <pc:sldMk cId="3470905217" sldId="558"/>
            <ac:spMk id="25" creationId="{32C9D62D-25B0-6CD9-8AD7-E6855B1B1B26}"/>
          </ac:spMkLst>
        </pc:spChg>
        <pc:spChg chg="mod">
          <ac:chgData name="Taylor Davis" userId="5c9e72a0-c39f-4aa1-9d7d-64125e78cbe6" providerId="ADAL" clId="{3C2E46FD-1F8B-4B15-A42C-15178761ED32}" dt="2024-08-13T04:22:06.951" v="38" actId="1038"/>
          <ac:spMkLst>
            <pc:docMk/>
            <pc:sldMk cId="3470905217" sldId="558"/>
            <ac:spMk id="27" creationId="{2559AB8C-6F23-81D3-4546-DE75EBD91879}"/>
          </ac:spMkLst>
        </pc:spChg>
        <pc:spChg chg="mod">
          <ac:chgData name="Taylor Davis" userId="5c9e72a0-c39f-4aa1-9d7d-64125e78cbe6" providerId="ADAL" clId="{3C2E46FD-1F8B-4B15-A42C-15178761ED32}" dt="2024-08-13T04:21:59.547" v="26" actId="1037"/>
          <ac:spMkLst>
            <pc:docMk/>
            <pc:sldMk cId="3470905217" sldId="558"/>
            <ac:spMk id="28" creationId="{314AFF5C-ABDA-A82B-40C8-14E2DB160036}"/>
          </ac:spMkLst>
        </pc:spChg>
        <pc:spChg chg="mod">
          <ac:chgData name="Taylor Davis" userId="5c9e72a0-c39f-4aa1-9d7d-64125e78cbe6" providerId="ADAL" clId="{3C2E46FD-1F8B-4B15-A42C-15178761ED32}" dt="2024-08-13T04:21:41.051" v="10" actId="20577"/>
          <ac:spMkLst>
            <pc:docMk/>
            <pc:sldMk cId="3470905217" sldId="558"/>
            <ac:spMk id="29" creationId="{2C03026B-6D1E-F7B1-9995-7D9DC1019C60}"/>
          </ac:spMkLst>
        </pc:spChg>
        <pc:spChg chg="mod">
          <ac:chgData name="Taylor Davis" userId="5c9e72a0-c39f-4aa1-9d7d-64125e78cbe6" providerId="ADAL" clId="{3C2E46FD-1F8B-4B15-A42C-15178761ED32}" dt="2024-08-13T04:22:06.951" v="38" actId="1038"/>
          <ac:spMkLst>
            <pc:docMk/>
            <pc:sldMk cId="3470905217" sldId="558"/>
            <ac:spMk id="30" creationId="{9C64CEEB-E16A-926D-5DF0-DC8275443A40}"/>
          </ac:spMkLst>
        </pc:spChg>
        <pc:spChg chg="mod">
          <ac:chgData name="Taylor Davis" userId="5c9e72a0-c39f-4aa1-9d7d-64125e78cbe6" providerId="ADAL" clId="{3C2E46FD-1F8B-4B15-A42C-15178761ED32}" dt="2024-08-13T04:21:59.547" v="26" actId="1037"/>
          <ac:spMkLst>
            <pc:docMk/>
            <pc:sldMk cId="3470905217" sldId="558"/>
            <ac:spMk id="31" creationId="{716000A2-AFB1-117D-BFF0-2BDA3EA8A77D}"/>
          </ac:spMkLst>
        </pc:spChg>
        <pc:spChg chg="add mod">
          <ac:chgData name="Taylor Davis" userId="5c9e72a0-c39f-4aa1-9d7d-64125e78cbe6" providerId="ADAL" clId="{3C2E46FD-1F8B-4B15-A42C-15178761ED32}" dt="2024-08-13T04:51:47.244" v="372" actId="1076"/>
          <ac:spMkLst>
            <pc:docMk/>
            <pc:sldMk cId="3470905217" sldId="558"/>
            <ac:spMk id="33" creationId="{376A62E0-771C-54FE-B757-DC2BCD4ECC0D}"/>
          </ac:spMkLst>
        </pc:spChg>
        <pc:spChg chg="add mod">
          <ac:chgData name="Taylor Davis" userId="5c9e72a0-c39f-4aa1-9d7d-64125e78cbe6" providerId="ADAL" clId="{3C2E46FD-1F8B-4B15-A42C-15178761ED32}" dt="2024-08-13T04:52:06.029" v="405" actId="1076"/>
          <ac:spMkLst>
            <pc:docMk/>
            <pc:sldMk cId="3470905217" sldId="558"/>
            <ac:spMk id="34" creationId="{E8334A4D-A904-88CB-EA92-AD56511A56D6}"/>
          </ac:spMkLst>
        </pc:spChg>
        <pc:graphicFrameChg chg="add del mod">
          <ac:chgData name="Taylor Davis" userId="5c9e72a0-c39f-4aa1-9d7d-64125e78cbe6" providerId="ADAL" clId="{3C2E46FD-1F8B-4B15-A42C-15178761ED32}" dt="2024-08-13T04:50:57.233" v="307" actId="478"/>
          <ac:graphicFrameMkLst>
            <pc:docMk/>
            <pc:sldMk cId="3470905217" sldId="558"/>
            <ac:graphicFrameMk id="7" creationId="{A85FB5F5-CF25-98D8-3DD5-88A2C0B28139}"/>
          </ac:graphicFrameMkLst>
        </pc:graphicFrameChg>
        <pc:picChg chg="del">
          <ac:chgData name="Taylor Davis" userId="5c9e72a0-c39f-4aa1-9d7d-64125e78cbe6" providerId="ADAL" clId="{3C2E46FD-1F8B-4B15-A42C-15178761ED32}" dt="2024-08-13T04:50:50.476" v="305" actId="478"/>
          <ac:picMkLst>
            <pc:docMk/>
            <pc:sldMk cId="3470905217" sldId="558"/>
            <ac:picMk id="11" creationId="{B115A8F6-B616-967D-03E4-77F38A9C1DDE}"/>
          </ac:picMkLst>
        </pc:picChg>
        <pc:picChg chg="add mod">
          <ac:chgData name="Taylor Davis" userId="5c9e72a0-c39f-4aa1-9d7d-64125e78cbe6" providerId="ADAL" clId="{3C2E46FD-1F8B-4B15-A42C-15178761ED32}" dt="2024-08-13T04:51:12.238" v="312" actId="1076"/>
          <ac:picMkLst>
            <pc:docMk/>
            <pc:sldMk cId="3470905217" sldId="558"/>
            <ac:picMk id="32" creationId="{F07725A7-B26C-B47A-3D7F-D1A086418E83}"/>
          </ac:picMkLst>
        </pc:picChg>
      </pc:sldChg>
      <pc:sldChg chg="addSp delSp modSp mod ord">
        <pc:chgData name="Taylor Davis" userId="5c9e72a0-c39f-4aa1-9d7d-64125e78cbe6" providerId="ADAL" clId="{3C2E46FD-1F8B-4B15-A42C-15178761ED32}" dt="2024-08-13T05:32:46.894" v="849" actId="1076"/>
        <pc:sldMkLst>
          <pc:docMk/>
          <pc:sldMk cId="1660060508" sldId="559"/>
        </pc:sldMkLst>
        <pc:spChg chg="mod">
          <ac:chgData name="Taylor Davis" userId="5c9e72a0-c39f-4aa1-9d7d-64125e78cbe6" providerId="ADAL" clId="{3C2E46FD-1F8B-4B15-A42C-15178761ED32}" dt="2024-08-13T05:09:16.668" v="727" actId="20577"/>
          <ac:spMkLst>
            <pc:docMk/>
            <pc:sldMk cId="1660060508" sldId="559"/>
            <ac:spMk id="6" creationId="{C9963971-9E27-D1D8-44A6-33EAA3782592}"/>
          </ac:spMkLst>
        </pc:spChg>
        <pc:graphicFrameChg chg="mod modGraphic">
          <ac:chgData name="Taylor Davis" userId="5c9e72a0-c39f-4aa1-9d7d-64125e78cbe6" providerId="ADAL" clId="{3C2E46FD-1F8B-4B15-A42C-15178761ED32}" dt="2024-08-13T05:08:28.180" v="710" actId="20577"/>
          <ac:graphicFrameMkLst>
            <pc:docMk/>
            <pc:sldMk cId="1660060508" sldId="559"/>
            <ac:graphicFrameMk id="13" creationId="{C5BE1B27-9F04-9265-C933-6FD598A73DFA}"/>
          </ac:graphicFrameMkLst>
        </pc:graphicFrameChg>
        <pc:picChg chg="add mod">
          <ac:chgData name="Taylor Davis" userId="5c9e72a0-c39f-4aa1-9d7d-64125e78cbe6" providerId="ADAL" clId="{3C2E46FD-1F8B-4B15-A42C-15178761ED32}" dt="2024-08-13T05:32:46.894" v="849" actId="1076"/>
          <ac:picMkLst>
            <pc:docMk/>
            <pc:sldMk cId="1660060508" sldId="559"/>
            <ac:picMk id="5" creationId="{4D9A8BB4-8EB2-782A-EDD5-8538A2A8CF98}"/>
          </ac:picMkLst>
        </pc:picChg>
        <pc:picChg chg="del">
          <ac:chgData name="Taylor Davis" userId="5c9e72a0-c39f-4aa1-9d7d-64125e78cbe6" providerId="ADAL" clId="{3C2E46FD-1F8B-4B15-A42C-15178761ED32}" dt="2024-08-13T05:32:38.727" v="844" actId="478"/>
          <ac:picMkLst>
            <pc:docMk/>
            <pc:sldMk cId="1660060508" sldId="559"/>
            <ac:picMk id="15" creationId="{B67D8122-E632-624C-47D3-F972D235C406}"/>
          </ac:picMkLst>
        </pc:picChg>
      </pc:sldChg>
      <pc:sldChg chg="del">
        <pc:chgData name="Taylor Davis" userId="5c9e72a0-c39f-4aa1-9d7d-64125e78cbe6" providerId="ADAL" clId="{3C2E46FD-1F8B-4B15-A42C-15178761ED32}" dt="2024-08-13T04:24:32.865" v="54" actId="47"/>
        <pc:sldMkLst>
          <pc:docMk/>
          <pc:sldMk cId="4064752386" sldId="564"/>
        </pc:sldMkLst>
      </pc:sldChg>
      <pc:sldChg chg="addSp modSp mod">
        <pc:chgData name="Taylor Davis" userId="5c9e72a0-c39f-4aa1-9d7d-64125e78cbe6" providerId="ADAL" clId="{3C2E46FD-1F8B-4B15-A42C-15178761ED32}" dt="2024-08-13T05:14:08.510" v="749" actId="2165"/>
        <pc:sldMkLst>
          <pc:docMk/>
          <pc:sldMk cId="0" sldId="571"/>
        </pc:sldMkLst>
        <pc:graphicFrameChg chg="add mod modGraphic">
          <ac:chgData name="Taylor Davis" userId="5c9e72a0-c39f-4aa1-9d7d-64125e78cbe6" providerId="ADAL" clId="{3C2E46FD-1F8B-4B15-A42C-15178761ED32}" dt="2024-08-13T05:14:08.510" v="749" actId="2165"/>
          <ac:graphicFrameMkLst>
            <pc:docMk/>
            <pc:sldMk cId="0" sldId="571"/>
            <ac:graphicFrameMk id="2" creationId="{135979F5-AF3C-DC9B-ECF8-4392D57E3737}"/>
          </ac:graphicFrameMkLst>
        </pc:graphicFrameChg>
      </pc:sldChg>
      <pc:sldChg chg="del">
        <pc:chgData name="Taylor Davis" userId="5c9e72a0-c39f-4aa1-9d7d-64125e78cbe6" providerId="ADAL" clId="{3C2E46FD-1F8B-4B15-A42C-15178761ED32}" dt="2024-08-13T05:16:15.477" v="772" actId="47"/>
        <pc:sldMkLst>
          <pc:docMk/>
          <pc:sldMk cId="0" sldId="572"/>
        </pc:sldMkLst>
      </pc:sldChg>
      <pc:sldChg chg="del">
        <pc:chgData name="Taylor Davis" userId="5c9e72a0-c39f-4aa1-9d7d-64125e78cbe6" providerId="ADAL" clId="{3C2E46FD-1F8B-4B15-A42C-15178761ED32}" dt="2024-08-13T05:16:15.477" v="772" actId="47"/>
        <pc:sldMkLst>
          <pc:docMk/>
          <pc:sldMk cId="0" sldId="573"/>
        </pc:sldMkLst>
      </pc:sldChg>
      <pc:sldChg chg="del">
        <pc:chgData name="Taylor Davis" userId="5c9e72a0-c39f-4aa1-9d7d-64125e78cbe6" providerId="ADAL" clId="{3C2E46FD-1F8B-4B15-A42C-15178761ED32}" dt="2024-08-13T05:16:15.477" v="772" actId="47"/>
        <pc:sldMkLst>
          <pc:docMk/>
          <pc:sldMk cId="1064222983" sldId="574"/>
        </pc:sldMkLst>
      </pc:sldChg>
      <pc:sldChg chg="del">
        <pc:chgData name="Taylor Davis" userId="5c9e72a0-c39f-4aa1-9d7d-64125e78cbe6" providerId="ADAL" clId="{3C2E46FD-1F8B-4B15-A42C-15178761ED32}" dt="2024-08-13T05:16:15.477" v="772" actId="47"/>
        <pc:sldMkLst>
          <pc:docMk/>
          <pc:sldMk cId="3790917938" sldId="575"/>
        </pc:sldMkLst>
      </pc:sldChg>
      <pc:sldChg chg="del">
        <pc:chgData name="Taylor Davis" userId="5c9e72a0-c39f-4aa1-9d7d-64125e78cbe6" providerId="ADAL" clId="{3C2E46FD-1F8B-4B15-A42C-15178761ED32}" dt="2024-08-13T05:16:15.477" v="772" actId="47"/>
        <pc:sldMkLst>
          <pc:docMk/>
          <pc:sldMk cId="250010407" sldId="576"/>
        </pc:sldMkLst>
      </pc:sldChg>
      <pc:sldChg chg="addSp delSp modSp mod">
        <pc:chgData name="Taylor Davis" userId="5c9e72a0-c39f-4aa1-9d7d-64125e78cbe6" providerId="ADAL" clId="{3C2E46FD-1F8B-4B15-A42C-15178761ED32}" dt="2024-08-13T04:31:58.262" v="190" actId="20577"/>
        <pc:sldMkLst>
          <pc:docMk/>
          <pc:sldMk cId="636727059" sldId="577"/>
        </pc:sldMkLst>
        <pc:spChg chg="mod">
          <ac:chgData name="Taylor Davis" userId="5c9e72a0-c39f-4aa1-9d7d-64125e78cbe6" providerId="ADAL" clId="{3C2E46FD-1F8B-4B15-A42C-15178761ED32}" dt="2024-08-13T04:31:58.262" v="190" actId="20577"/>
          <ac:spMkLst>
            <pc:docMk/>
            <pc:sldMk cId="636727059" sldId="577"/>
            <ac:spMk id="10" creationId="{B981BBA2-A3ED-6F7B-693B-880E5B031B26}"/>
          </ac:spMkLst>
        </pc:spChg>
        <pc:picChg chg="del">
          <ac:chgData name="Taylor Davis" userId="5c9e72a0-c39f-4aa1-9d7d-64125e78cbe6" providerId="ADAL" clId="{3C2E46FD-1F8B-4B15-A42C-15178761ED32}" dt="2024-08-13T04:28:14.063" v="149" actId="478"/>
          <ac:picMkLst>
            <pc:docMk/>
            <pc:sldMk cId="636727059" sldId="577"/>
            <ac:picMk id="2" creationId="{FACC4F14-E7C8-C653-F0D5-F757D6C2C7DE}"/>
          </ac:picMkLst>
        </pc:picChg>
        <pc:picChg chg="del">
          <ac:chgData name="Taylor Davis" userId="5c9e72a0-c39f-4aa1-9d7d-64125e78cbe6" providerId="ADAL" clId="{3C2E46FD-1F8B-4B15-A42C-15178761ED32}" dt="2024-08-13T04:29:19.242" v="157" actId="478"/>
          <ac:picMkLst>
            <pc:docMk/>
            <pc:sldMk cId="636727059" sldId="577"/>
            <ac:picMk id="7" creationId="{D53C2B74-390E-5BEC-5003-F3AD48404D63}"/>
          </ac:picMkLst>
        </pc:picChg>
        <pc:picChg chg="add mod">
          <ac:chgData name="Taylor Davis" userId="5c9e72a0-c39f-4aa1-9d7d-64125e78cbe6" providerId="ADAL" clId="{3C2E46FD-1F8B-4B15-A42C-15178761ED32}" dt="2024-08-13T04:28:21.569" v="152" actId="14100"/>
          <ac:picMkLst>
            <pc:docMk/>
            <pc:sldMk cId="636727059" sldId="577"/>
            <ac:picMk id="1026" creationId="{8762E958-F10F-2AE1-3C9C-1E0B8FF6BFB9}"/>
          </ac:picMkLst>
        </pc:picChg>
        <pc:picChg chg="add del mod">
          <ac:chgData name="Taylor Davis" userId="5c9e72a0-c39f-4aa1-9d7d-64125e78cbe6" providerId="ADAL" clId="{3C2E46FD-1F8B-4B15-A42C-15178761ED32}" dt="2024-08-13T04:29:27.472" v="161" actId="478"/>
          <ac:picMkLst>
            <pc:docMk/>
            <pc:sldMk cId="636727059" sldId="577"/>
            <ac:picMk id="1028" creationId="{00106B8B-9370-4197-34DC-1CA2B8B0520B}"/>
          </ac:picMkLst>
        </pc:picChg>
        <pc:picChg chg="add mod">
          <ac:chgData name="Taylor Davis" userId="5c9e72a0-c39f-4aa1-9d7d-64125e78cbe6" providerId="ADAL" clId="{3C2E46FD-1F8B-4B15-A42C-15178761ED32}" dt="2024-08-13T04:30:25.345" v="169" actId="1037"/>
          <ac:picMkLst>
            <pc:docMk/>
            <pc:sldMk cId="636727059" sldId="577"/>
            <ac:picMk id="1030" creationId="{C70A1360-A489-5559-12DD-6BA9DAA585A1}"/>
          </ac:picMkLst>
        </pc:picChg>
      </pc:sldChg>
      <pc:sldChg chg="modSp mod">
        <pc:chgData name="Taylor Davis" userId="5c9e72a0-c39f-4aa1-9d7d-64125e78cbe6" providerId="ADAL" clId="{3C2E46FD-1F8B-4B15-A42C-15178761ED32}" dt="2024-08-13T04:25:56.420" v="132" actId="6549"/>
        <pc:sldMkLst>
          <pc:docMk/>
          <pc:sldMk cId="3277395919" sldId="578"/>
        </pc:sldMkLst>
        <pc:spChg chg="mod">
          <ac:chgData name="Taylor Davis" userId="5c9e72a0-c39f-4aa1-9d7d-64125e78cbe6" providerId="ADAL" clId="{3C2E46FD-1F8B-4B15-A42C-15178761ED32}" dt="2024-08-13T04:25:56.420" v="132" actId="6549"/>
          <ac:spMkLst>
            <pc:docMk/>
            <pc:sldMk cId="3277395919" sldId="578"/>
            <ac:spMk id="2" creationId="{949BBB1F-796B-4271-AAA8-C6BA52CFC027}"/>
          </ac:spMkLst>
        </pc:spChg>
      </pc:sldChg>
      <pc:sldChg chg="add">
        <pc:chgData name="Taylor Davis" userId="5c9e72a0-c39f-4aa1-9d7d-64125e78cbe6" providerId="ADAL" clId="{3C2E46FD-1F8B-4B15-A42C-15178761ED32}" dt="2024-08-13T04:25:14.560" v="55"/>
        <pc:sldMkLst>
          <pc:docMk/>
          <pc:sldMk cId="2318743501" sldId="580"/>
        </pc:sldMkLst>
      </pc:sldChg>
      <pc:sldChg chg="add del">
        <pc:chgData name="Taylor Davis" userId="5c9e72a0-c39f-4aa1-9d7d-64125e78cbe6" providerId="ADAL" clId="{3C2E46FD-1F8B-4B15-A42C-15178761ED32}" dt="2024-08-13T04:22:45.867" v="43" actId="47"/>
        <pc:sldMkLst>
          <pc:docMk/>
          <pc:sldMk cId="3594431482" sldId="580"/>
        </pc:sldMkLst>
      </pc:sldChg>
      <pc:sldChg chg="addSp modSp add mod">
        <pc:chgData name="Taylor Davis" userId="5c9e72a0-c39f-4aa1-9d7d-64125e78cbe6" providerId="ADAL" clId="{3C2E46FD-1F8B-4B15-A42C-15178761ED32}" dt="2024-08-13T05:22:19.759" v="842" actId="20577"/>
        <pc:sldMkLst>
          <pc:docMk/>
          <pc:sldMk cId="686453161" sldId="581"/>
        </pc:sldMkLst>
        <pc:spChg chg="mod">
          <ac:chgData name="Taylor Davis" userId="5c9e72a0-c39f-4aa1-9d7d-64125e78cbe6" providerId="ADAL" clId="{3C2E46FD-1F8B-4B15-A42C-15178761ED32}" dt="2024-08-13T05:22:19.759" v="842" actId="20577"/>
          <ac:spMkLst>
            <pc:docMk/>
            <pc:sldMk cId="686453161" sldId="581"/>
            <ac:spMk id="7" creationId="{C690F22E-C9CA-61DC-5584-149573110610}"/>
          </ac:spMkLst>
        </pc:spChg>
        <pc:spChg chg="mod">
          <ac:chgData name="Taylor Davis" userId="5c9e72a0-c39f-4aa1-9d7d-64125e78cbe6" providerId="ADAL" clId="{3C2E46FD-1F8B-4B15-A42C-15178761ED32}" dt="2024-08-13T05:22:07.570" v="828"/>
          <ac:spMkLst>
            <pc:docMk/>
            <pc:sldMk cId="686453161" sldId="581"/>
            <ac:spMk id="8" creationId="{A897897D-C568-B204-6568-514AD4B71A5C}"/>
          </ac:spMkLst>
        </pc:spChg>
        <pc:graphicFrameChg chg="mod">
          <ac:chgData name="Taylor Davis" userId="5c9e72a0-c39f-4aa1-9d7d-64125e78cbe6" providerId="ADAL" clId="{3C2E46FD-1F8B-4B15-A42C-15178761ED32}" dt="2024-08-13T05:21:24.879" v="821"/>
          <ac:graphicFrameMkLst>
            <pc:docMk/>
            <pc:sldMk cId="686453161" sldId="581"/>
            <ac:graphicFrameMk id="6" creationId="{176BAF2A-5136-E457-9AAC-D0878752F10C}"/>
          </ac:graphicFrameMkLst>
        </pc:graphicFrameChg>
        <pc:graphicFrameChg chg="add mod">
          <ac:chgData name="Taylor Davis" userId="5c9e72a0-c39f-4aa1-9d7d-64125e78cbe6" providerId="ADAL" clId="{3C2E46FD-1F8B-4B15-A42C-15178761ED32}" dt="2024-08-13T05:16:57.613" v="773"/>
          <ac:graphicFrameMkLst>
            <pc:docMk/>
            <pc:sldMk cId="686453161" sldId="581"/>
            <ac:graphicFrameMk id="9" creationId="{9CEBCAD3-5C74-728E-7CA2-3D06FDC2B555}"/>
          </ac:graphicFrameMkLst>
        </pc:graphicFrameChg>
        <pc:graphicFrameChg chg="mod">
          <ac:chgData name="Taylor Davis" userId="5c9e72a0-c39f-4aa1-9d7d-64125e78cbe6" providerId="ADAL" clId="{3C2E46FD-1F8B-4B15-A42C-15178761ED32}" dt="2024-08-13T05:21:24.879" v="821"/>
          <ac:graphicFrameMkLst>
            <pc:docMk/>
            <pc:sldMk cId="686453161" sldId="581"/>
            <ac:graphicFrameMk id="16" creationId="{32A51F3A-032C-30E2-F635-DD59B5A29A34}"/>
          </ac:graphicFrameMkLst>
        </pc:graphicFrameChg>
      </pc:sldChg>
      <pc:sldChg chg="modSp add mod">
        <pc:chgData name="Taylor Davis" userId="5c9e72a0-c39f-4aa1-9d7d-64125e78cbe6" providerId="ADAL" clId="{3C2E46FD-1F8B-4B15-A42C-15178761ED32}" dt="2024-08-13T05:24:43.010" v="843"/>
        <pc:sldMkLst>
          <pc:docMk/>
          <pc:sldMk cId="0" sldId="582"/>
        </pc:sldMkLst>
        <pc:graphicFrameChg chg="mod modGraphic">
          <ac:chgData name="Taylor Davis" userId="5c9e72a0-c39f-4aa1-9d7d-64125e78cbe6" providerId="ADAL" clId="{3C2E46FD-1F8B-4B15-A42C-15178761ED32}" dt="2024-08-13T05:24:43.010" v="843"/>
          <ac:graphicFrameMkLst>
            <pc:docMk/>
            <pc:sldMk cId="0" sldId="582"/>
            <ac:graphicFrameMk id="2" creationId="{00000000-0000-0000-0000-000000000000}"/>
          </ac:graphicFrameMkLst>
        </pc:graphicFrameChg>
      </pc:sldChg>
      <pc:sldChg chg="modSp add mod ord">
        <pc:chgData name="Taylor Davis" userId="5c9e72a0-c39f-4aa1-9d7d-64125e78cbe6" providerId="ADAL" clId="{3C2E46FD-1F8B-4B15-A42C-15178761ED32}" dt="2024-08-13T05:24:43.010" v="843"/>
        <pc:sldMkLst>
          <pc:docMk/>
          <pc:sldMk cId="0" sldId="583"/>
        </pc:sldMkLst>
        <pc:graphicFrameChg chg="mod modGraphic">
          <ac:chgData name="Taylor Davis" userId="5c9e72a0-c39f-4aa1-9d7d-64125e78cbe6" providerId="ADAL" clId="{3C2E46FD-1F8B-4B15-A42C-15178761ED32}" dt="2024-08-13T05:24:43.010" v="843"/>
          <ac:graphicFrameMkLst>
            <pc:docMk/>
            <pc:sldMk cId="0" sldId="583"/>
            <ac:graphicFrameMk id="2" creationId="{00000000-0000-0000-0000-000000000000}"/>
          </ac:graphicFrameMkLst>
        </pc:graphicFrameChg>
      </pc:sldChg>
      <pc:sldChg chg="modSp add mod">
        <pc:chgData name="Taylor Davis" userId="5c9e72a0-c39f-4aa1-9d7d-64125e78cbe6" providerId="ADAL" clId="{3C2E46FD-1F8B-4B15-A42C-15178761ED32}" dt="2024-08-13T05:24:43.010" v="843"/>
        <pc:sldMkLst>
          <pc:docMk/>
          <pc:sldMk cId="626851536" sldId="584"/>
        </pc:sldMkLst>
        <pc:graphicFrameChg chg="mod modGraphic">
          <ac:chgData name="Taylor Davis" userId="5c9e72a0-c39f-4aa1-9d7d-64125e78cbe6" providerId="ADAL" clId="{3C2E46FD-1F8B-4B15-A42C-15178761ED32}" dt="2024-08-13T05:24:43.010" v="843"/>
          <ac:graphicFrameMkLst>
            <pc:docMk/>
            <pc:sldMk cId="626851536" sldId="584"/>
            <ac:graphicFrameMk id="2" creationId="{00000000-0000-0000-0000-000000000000}"/>
          </ac:graphicFrameMkLst>
        </pc:graphicFrameChg>
      </pc:sldChg>
      <pc:sldChg chg="modSp add mod">
        <pc:chgData name="Taylor Davis" userId="5c9e72a0-c39f-4aa1-9d7d-64125e78cbe6" providerId="ADAL" clId="{3C2E46FD-1F8B-4B15-A42C-15178761ED32}" dt="2024-08-13T05:24:43.010" v="843"/>
        <pc:sldMkLst>
          <pc:docMk/>
          <pc:sldMk cId="333815211" sldId="585"/>
        </pc:sldMkLst>
        <pc:graphicFrameChg chg="mod modGraphic">
          <ac:chgData name="Taylor Davis" userId="5c9e72a0-c39f-4aa1-9d7d-64125e78cbe6" providerId="ADAL" clId="{3C2E46FD-1F8B-4B15-A42C-15178761ED32}" dt="2024-08-13T05:24:43.010" v="843"/>
          <ac:graphicFrameMkLst>
            <pc:docMk/>
            <pc:sldMk cId="333815211" sldId="585"/>
            <ac:graphicFrameMk id="2" creationId="{00000000-0000-0000-0000-000000000000}"/>
          </ac:graphicFrameMkLst>
        </pc:graphicFrameChg>
      </pc:sldChg>
      <pc:sldChg chg="modSp add mod">
        <pc:chgData name="Taylor Davis" userId="5c9e72a0-c39f-4aa1-9d7d-64125e78cbe6" providerId="ADAL" clId="{3C2E46FD-1F8B-4B15-A42C-15178761ED32}" dt="2024-08-13T05:24:43.010" v="843"/>
        <pc:sldMkLst>
          <pc:docMk/>
          <pc:sldMk cId="747327460" sldId="586"/>
        </pc:sldMkLst>
        <pc:graphicFrameChg chg="mod modGraphic">
          <ac:chgData name="Taylor Davis" userId="5c9e72a0-c39f-4aa1-9d7d-64125e78cbe6" providerId="ADAL" clId="{3C2E46FD-1F8B-4B15-A42C-15178761ED32}" dt="2024-08-13T05:24:43.010" v="843"/>
          <ac:graphicFrameMkLst>
            <pc:docMk/>
            <pc:sldMk cId="747327460" sldId="586"/>
            <ac:graphicFrameMk id="2" creationId="{00000000-0000-0000-0000-000000000000}"/>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image" Target="../media/image16.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image" Target="../media/image16.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a:t>
          </a:r>
          <a:r>
            <a:rPr lang="en-US" sz="1800" b="0" dirty="0" err="1"/>
            <a:t>CarePoint</a:t>
          </a:r>
          <a:r>
            <a:rPr lang="en-US" sz="1800" b="0" dirty="0"/>
            <a:t>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a:t>
          </a:r>
          <a:r>
            <a:rPr lang="en-US" sz="2000" dirty="0" err="1"/>
            <a:t>CarePoint’s</a:t>
          </a:r>
          <a:r>
            <a:rPr lang="en-US" sz="2000" dirty="0"/>
            <a:t>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a:t>
          </a:r>
          <a:r>
            <a:rPr lang="en-US" sz="2000" dirty="0" err="1"/>
            <a:t>CarePoint</a:t>
          </a:r>
          <a:endParaRPr lang="en-US" sz="2000" dirty="0"/>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a:t>
          </a:r>
          <a:r>
            <a:rPr lang="en-US" sz="1800" b="0" kern="1200" dirty="0" err="1"/>
            <a:t>CarePoint</a:t>
          </a:r>
          <a:r>
            <a:rPr lang="en-US" sz="1800" b="0" kern="1200" dirty="0"/>
            <a:t>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a:t>
          </a:r>
          <a:r>
            <a:rPr lang="en-US" sz="2000" kern="1200" dirty="0" err="1"/>
            <a:t>CarePoint</a:t>
          </a:r>
          <a:endParaRPr lang="en-US" sz="2000" kern="1200" dirty="0"/>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a:t>
          </a:r>
          <a:r>
            <a:rPr lang="en-US" sz="2000" kern="1200" dirty="0" err="1"/>
            <a:t>CarePoint’s</a:t>
          </a:r>
          <a:r>
            <a:rPr lang="en-US" sz="2000" kern="1200" dirty="0"/>
            <a:t>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8/12/2024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8/12/2024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8/12/2024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8/12/2024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8/12/2024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8/12/2024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8/12/2024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8/12/2024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8/12/2024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8/12/2024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8/12/2024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8/12/2024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8/12/2024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5.jpeg"/><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image" Target="../media/image19.png"/><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jpeg"/><Relationship Id="rId4" Type="http://schemas.openxmlformats.org/officeDocument/2006/relationships/image" Target="../media/image21.png"/><Relationship Id="rId9"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0.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0.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jpeg"/><Relationship Id="rId1" Type="http://schemas.openxmlformats.org/officeDocument/2006/relationships/slideLayout" Target="../slideLayouts/slideLayout6.xml"/><Relationship Id="rId6" Type="http://schemas.openxmlformats.org/officeDocument/2006/relationships/image" Target="../media/image38.svg"/><Relationship Id="rId11" Type="http://schemas.openxmlformats.org/officeDocument/2006/relationships/image" Target="../media/image33.pn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KEY INCENTIVE PLAN</a:t>
            </a:r>
          </a:p>
          <a:p>
            <a:r>
              <a:rPr lang="en-US" sz="2000" b="1" dirty="0">
                <a:solidFill>
                  <a:schemeClr val="bg1"/>
                </a:solidFill>
              </a:rPr>
              <a:t>August 13,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1026" name="Picture 2" descr="Home - CarePoint Health">
            <a:extLst>
              <a:ext uri="{FF2B5EF4-FFF2-40B4-BE49-F238E27FC236}">
                <a16:creationId xmlns:a16="http://schemas.microsoft.com/office/drawing/2014/main" id="{8762E958-F10F-2AE1-3C9C-1E0B8FF6BF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1" y="842755"/>
            <a:ext cx="3443287" cy="79156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ewsweek: CarePoint among 'America's Greatest Workplaces for Diversity in  2024' - CarePoint Health">
            <a:extLst>
              <a:ext uri="{FF2B5EF4-FFF2-40B4-BE49-F238E27FC236}">
                <a16:creationId xmlns:a16="http://schemas.microsoft.com/office/drawing/2014/main" id="{C70A1360-A489-5559-12DD-6BA9DAA585A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4" t="13472" r="174" b="3468"/>
          <a:stretch/>
        </p:blipFill>
        <p:spPr bwMode="auto">
          <a:xfrm>
            <a:off x="977726" y="1682227"/>
            <a:ext cx="11214274" cy="5175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Private-Labeled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5594" y="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B4D036B-CF91-40EF-88B5-63D0260D0147}"/>
              </a:ext>
            </a:extLst>
          </p:cNvPr>
          <p:cNvSpPr>
            <a:spLocks noGrp="1"/>
          </p:cNvSpPr>
          <p:nvPr>
            <p:ph type="title"/>
          </p:nvPr>
        </p:nvSpPr>
        <p:spPr>
          <a:xfrm>
            <a:off x="561975" y="320684"/>
            <a:ext cx="10515600" cy="1325563"/>
          </a:xfrm>
        </p:spPr>
        <p:txBody>
          <a:bodyPr>
            <a:normAutofit/>
          </a:bodyPr>
          <a:lstStyle/>
          <a:p>
            <a:r>
              <a:rPr lang="en-US" sz="3600" dirty="0">
                <a:solidFill>
                  <a:schemeClr val="tx1">
                    <a:lumMod val="75000"/>
                    <a:lumOff val="25000"/>
                  </a:schemeClr>
                </a:solidFill>
              </a:rPr>
              <a:t>Key Incentive Plan (KIP) Profit Generation Opportunities for </a:t>
            </a:r>
            <a:r>
              <a:rPr lang="en-US" sz="3600" dirty="0" err="1">
                <a:solidFill>
                  <a:schemeClr val="tx1">
                    <a:lumMod val="75000"/>
                    <a:lumOff val="25000"/>
                  </a:schemeClr>
                </a:solidFill>
              </a:rPr>
              <a:t>CarePoint</a:t>
            </a:r>
            <a:r>
              <a:rPr lang="en-US" sz="3600" dirty="0">
                <a:solidFill>
                  <a:schemeClr val="tx1">
                    <a:lumMod val="75000"/>
                    <a:lumOff val="25000"/>
                  </a:schemeClr>
                </a:solidFill>
              </a:rPr>
              <a:t> Health</a:t>
            </a:r>
          </a:p>
        </p:txBody>
      </p:sp>
      <p:sp>
        <p:nvSpPr>
          <p:cNvPr id="25"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3</a:t>
            </a:fld>
            <a:endParaRPr lang="en-US" dirty="0"/>
          </a:p>
        </p:txBody>
      </p:sp>
      <p:sp>
        <p:nvSpPr>
          <p:cNvPr id="5"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grpSp>
        <p:nvGrpSpPr>
          <p:cNvPr id="12" name="Group 11">
            <a:extLst>
              <a:ext uri="{FF2B5EF4-FFF2-40B4-BE49-F238E27FC236}">
                <a16:creationId xmlns:a16="http://schemas.microsoft.com/office/drawing/2014/main" id="{757FA25C-8EB6-4C31-9C3C-8A0215C1E657}"/>
              </a:ext>
            </a:extLst>
          </p:cNvPr>
          <p:cNvGrpSpPr/>
          <p:nvPr/>
        </p:nvGrpSpPr>
        <p:grpSpPr>
          <a:xfrm>
            <a:off x="740621" y="3205513"/>
            <a:ext cx="10705161" cy="2394502"/>
            <a:chOff x="539823" y="2622568"/>
            <a:chExt cx="3840480" cy="2394502"/>
          </a:xfrm>
        </p:grpSpPr>
        <p:sp>
          <p:nvSpPr>
            <p:cNvPr id="6" name="Rectangle 5">
              <a:extLst>
                <a:ext uri="{FF2B5EF4-FFF2-40B4-BE49-F238E27FC236}">
                  <a16:creationId xmlns:a16="http://schemas.microsoft.com/office/drawing/2014/main" id="{869C0219-52DA-48A1-B7B2-E6F8C4FBD3C3}"/>
                </a:ext>
              </a:extLst>
            </p:cNvPr>
            <p:cNvSpPr/>
            <p:nvPr/>
          </p:nvSpPr>
          <p:spPr>
            <a:xfrm>
              <a:off x="539823" y="2622568"/>
              <a:ext cx="1920240" cy="2145203"/>
            </a:xfrm>
            <a:prstGeom prst="rect">
              <a:avLst/>
            </a:prstGeom>
          </p:spPr>
          <p:txBody>
            <a:bodyPr wrap="square">
              <a:spAutoFit/>
            </a:bodyPr>
            <a:lstStyle/>
            <a:p>
              <a:pPr algn="ctr" defTabSz="914411">
                <a:lnSpc>
                  <a:spcPct val="90000"/>
                </a:lnSpc>
                <a:spcAft>
                  <a:spcPts val="1200"/>
                </a:spcAft>
                <a:buClr>
                  <a:schemeClr val="tx1"/>
                </a:buClr>
              </a:pPr>
              <a:r>
                <a:rPr lang="en-US" b="1" dirty="0"/>
                <a:t>Patient Steerage</a:t>
              </a:r>
            </a:p>
            <a:p>
              <a:pPr algn="ctr" defTabSz="914411">
                <a:lnSpc>
                  <a:spcPct val="90000"/>
                </a:lnSpc>
                <a:spcAft>
                  <a:spcPts val="1200"/>
                </a:spcAft>
                <a:buClr>
                  <a:schemeClr val="tx1"/>
                </a:buClr>
              </a:pPr>
              <a:r>
                <a:rPr lang="en-US" dirty="0"/>
                <a:t>Covered members of the Key Incentive Plan are more likely to seek services with </a:t>
              </a:r>
              <a:r>
                <a:rPr lang="en-US" dirty="0" err="1"/>
                <a:t>CarePoint</a:t>
              </a:r>
              <a:r>
                <a:rPr lang="en-US" dirty="0"/>
                <a:t> Health than they would be on another PPO plan because they receive indemnity benefits and the financing credit card. </a:t>
              </a:r>
            </a:p>
            <a:p>
              <a:pPr algn="ctr" defTabSz="914411">
                <a:lnSpc>
                  <a:spcPct val="90000"/>
                </a:lnSpc>
                <a:spcAft>
                  <a:spcPts val="1200"/>
                </a:spcAft>
                <a:buClr>
                  <a:schemeClr val="tx1"/>
                </a:buClr>
              </a:pPr>
              <a:r>
                <a:rPr lang="en-US" dirty="0"/>
                <a:t>These incentives increase </a:t>
              </a:r>
              <a:r>
                <a:rPr lang="en-US" dirty="0" err="1"/>
                <a:t>CarePoint’s</a:t>
              </a:r>
              <a:r>
                <a:rPr lang="en-US" dirty="0"/>
                <a:t> commercial market share and commercial profit within this plan.</a:t>
              </a:r>
            </a:p>
          </p:txBody>
        </p:sp>
        <p:sp>
          <p:nvSpPr>
            <p:cNvPr id="7" name="Rectangle 6">
              <a:extLst>
                <a:ext uri="{FF2B5EF4-FFF2-40B4-BE49-F238E27FC236}">
                  <a16:creationId xmlns:a16="http://schemas.microsoft.com/office/drawing/2014/main" id="{8FCD729A-32AD-4303-8BA6-9EBD13F93D1C}"/>
                </a:ext>
              </a:extLst>
            </p:cNvPr>
            <p:cNvSpPr/>
            <p:nvPr/>
          </p:nvSpPr>
          <p:spPr>
            <a:xfrm>
              <a:off x="2460063" y="2622568"/>
              <a:ext cx="1920240" cy="2394502"/>
            </a:xfrm>
            <a:prstGeom prst="rect">
              <a:avLst/>
            </a:prstGeom>
          </p:spPr>
          <p:txBody>
            <a:bodyPr wrap="square">
              <a:spAutoFit/>
            </a:bodyPr>
            <a:lstStyle/>
            <a:p>
              <a:pPr algn="ctr" defTabSz="914411">
                <a:lnSpc>
                  <a:spcPct val="90000"/>
                </a:lnSpc>
                <a:spcAft>
                  <a:spcPts val="1200"/>
                </a:spcAft>
                <a:buClr>
                  <a:schemeClr val="tx1"/>
                </a:buClr>
              </a:pPr>
              <a:r>
                <a:rPr lang="en-US" b="1" dirty="0"/>
                <a:t>Increased Margin</a:t>
              </a:r>
            </a:p>
            <a:p>
              <a:pPr algn="ctr" defTabSz="914411">
                <a:lnSpc>
                  <a:spcPct val="90000"/>
                </a:lnSpc>
                <a:spcAft>
                  <a:spcPts val="1200"/>
                </a:spcAft>
                <a:buClr>
                  <a:schemeClr val="tx1"/>
                </a:buClr>
              </a:pPr>
              <a:r>
                <a:rPr lang="en-US" dirty="0"/>
                <a:t>Because of the partnership between Key Benefits, and because patients have a financing path for medical costs, </a:t>
              </a:r>
              <a:r>
                <a:rPr lang="en-US" dirty="0" err="1"/>
                <a:t>CarePoint</a:t>
              </a:r>
              <a:r>
                <a:rPr lang="en-US" dirty="0"/>
                <a:t> Health can expect higher realized revenue per patient from members of the Key Incentive Plan. </a:t>
              </a:r>
            </a:p>
            <a:p>
              <a:pPr algn="ctr" defTabSz="914411">
                <a:lnSpc>
                  <a:spcPct val="90000"/>
                </a:lnSpc>
                <a:spcAft>
                  <a:spcPts val="1200"/>
                </a:spcAft>
                <a:buClr>
                  <a:schemeClr val="tx1"/>
                </a:buClr>
              </a:pPr>
              <a:r>
                <a:rPr lang="en-US" dirty="0"/>
                <a:t>This partnership increases </a:t>
              </a:r>
              <a:r>
                <a:rPr lang="en-US" dirty="0" err="1"/>
                <a:t>CarePoint</a:t>
              </a:r>
              <a:r>
                <a:rPr lang="en-US" dirty="0"/>
                <a:t> Health’s realized revenue per patient and lowers collection costs. </a:t>
              </a:r>
            </a:p>
          </p:txBody>
        </p:sp>
      </p:grpSp>
      <p:cxnSp>
        <p:nvCxnSpPr>
          <p:cNvPr id="14"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20"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1234179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4</a:t>
            </a:fld>
            <a:endParaRPr lang="en-US" dirty="0"/>
          </a:p>
        </p:txBody>
      </p:sp>
      <p:sp>
        <p:nvSpPr>
          <p:cNvPr id="8"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13" name="TextBox 12">
            <a:extLst>
              <a:ext uri="{FF2B5EF4-FFF2-40B4-BE49-F238E27FC236}">
                <a16:creationId xmlns:a16="http://schemas.microsoft.com/office/drawing/2014/main" id="{025AE6BF-C458-13D4-626E-DAD4C1439055}"/>
              </a:ext>
            </a:extLst>
          </p:cNvPr>
          <p:cNvSpPr txBox="1"/>
          <p:nvPr/>
        </p:nvSpPr>
        <p:spPr>
          <a:xfrm>
            <a:off x="7466120" y="2250333"/>
            <a:ext cx="4616389" cy="738664"/>
          </a:xfrm>
          <a:prstGeom prst="rect">
            <a:avLst/>
          </a:prstGeom>
          <a:noFill/>
        </p:spPr>
        <p:txBody>
          <a:bodyPr wrap="square" rtlCol="0">
            <a:spAutoFit/>
          </a:bodyPr>
          <a:lstStyle/>
          <a:p>
            <a:r>
              <a:rPr lang="en-US" sz="1050" dirty="0">
                <a:solidFill/>
              </a:rPr>
              <a:t>KBA currently estimates that CarePoint Health has 21% inpatient market share, and 13% outpatient market compared to hospitals/clinics in Union, Essex and Hudson Counties. We expect with-KIP steerage to increase to (inpatient/outpatient):</a:t>
            </a:r>
          </a:p>
        </p:txBody>
      </p:sp>
      <p:sp>
        <p:nvSpPr>
          <p:cNvPr id="14"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5"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6"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7" name="TextBox 16">
            <a:extLst>
              <a:ext uri="{FF2B5EF4-FFF2-40B4-BE49-F238E27FC236}">
                <a16:creationId xmlns:a16="http://schemas.microsoft.com/office/drawing/2014/main" id="{19FEE2C1-9161-C3CD-EE7F-6727C796DF0D}"/>
              </a:ext>
            </a:extLst>
          </p:cNvPr>
          <p:cNvSpPr txBox="1"/>
          <p:nvPr/>
        </p:nvSpPr>
        <p:spPr>
          <a:xfrm>
            <a:off x="7531093" y="3237256"/>
            <a:ext cx="1383712" cy="369332"/>
          </a:xfrm>
          <a:prstGeom prst="rect">
            <a:avLst/>
          </a:prstGeom>
          <a:noFill/>
        </p:spPr>
        <p:txBody>
          <a:bodyPr wrap="none" rtlCol="0">
            <a:spAutoFit/>
          </a:bodyPr>
          <a:lstStyle/>
          <a:p>
            <a:r>
              <a:rPr lang="en-US" dirty="0">
                <a:solidFill/>
              </a:rPr>
              <a:t>25%/15%</a:t>
            </a:r>
          </a:p>
        </p:txBody>
      </p:sp>
      <p:sp>
        <p:nvSpPr>
          <p:cNvPr id="18" name="TextBox 17">
            <a:extLst>
              <a:ext uri="{FF2B5EF4-FFF2-40B4-BE49-F238E27FC236}">
                <a16:creationId xmlns:a16="http://schemas.microsoft.com/office/drawing/2014/main" id="{1CC51BEE-0560-3D56-4AE8-86D704578774}"/>
              </a:ext>
            </a:extLst>
          </p:cNvPr>
          <p:cNvSpPr txBox="1"/>
          <p:nvPr/>
        </p:nvSpPr>
        <p:spPr>
          <a:xfrm>
            <a:off x="9358154" y="3237256"/>
            <a:ext cx="1383712" cy="369332"/>
          </a:xfrm>
          <a:prstGeom prst="rect">
            <a:avLst/>
          </a:prstGeom>
          <a:noFill/>
        </p:spPr>
        <p:txBody>
          <a:bodyPr wrap="none" rtlCol="0">
            <a:spAutoFit/>
          </a:bodyPr>
          <a:lstStyle/>
          <a:p>
            <a:r>
              <a:rPr lang="en-US" dirty="0">
                <a:solidFill/>
              </a:rPr>
              <a:t>27.5%/17.5%</a:t>
            </a:r>
          </a:p>
        </p:txBody>
      </p:sp>
      <p:sp>
        <p:nvSpPr>
          <p:cNvPr id="19" name="TextBox 18">
            <a:extLst>
              <a:ext uri="{FF2B5EF4-FFF2-40B4-BE49-F238E27FC236}">
                <a16:creationId xmlns:a16="http://schemas.microsoft.com/office/drawing/2014/main" id="{A17D3C89-20DF-71B2-E5D8-1DA9D1F926E7}"/>
              </a:ext>
            </a:extLst>
          </p:cNvPr>
          <p:cNvSpPr txBox="1"/>
          <p:nvPr/>
        </p:nvSpPr>
        <p:spPr>
          <a:xfrm>
            <a:off x="10996093" y="3237256"/>
            <a:ext cx="1383712" cy="369332"/>
          </a:xfrm>
          <a:prstGeom prst="rect">
            <a:avLst/>
          </a:prstGeom>
          <a:noFill/>
        </p:spPr>
        <p:txBody>
          <a:bodyPr wrap="none" rtlCol="0">
            <a:spAutoFit/>
          </a:bodyPr>
          <a:lstStyle/>
          <a:p>
            <a:r>
              <a:rPr lang="en-US" dirty="0">
                <a:solidFill/>
              </a:rPr>
              <a:t>30%/22%</a:t>
            </a:r>
          </a:p>
        </p:txBody>
      </p:sp>
      <p:sp>
        <p:nvSpPr>
          <p:cNvPr id="21"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25" name="TextBox 24">
            <a:extLst>
              <a:ext uri="{FF2B5EF4-FFF2-40B4-BE49-F238E27FC236}">
                <a16:creationId xmlns:a16="http://schemas.microsoft.com/office/drawing/2014/main" id="{32C9D62D-25B0-6CD9-8AD7-E6855B1B1B26}"/>
              </a:ext>
            </a:extLst>
          </p:cNvPr>
          <p:cNvSpPr txBox="1"/>
          <p:nvPr/>
        </p:nvSpPr>
        <p:spPr>
          <a:xfrm>
            <a:off x="7509029" y="4771081"/>
            <a:ext cx="4616389" cy="577081"/>
          </a:xfrm>
          <a:prstGeom prst="rect">
            <a:avLst/>
          </a:prstGeom>
          <a:noFill/>
        </p:spPr>
        <p:txBody>
          <a:bodyPr wrap="square" rtlCol="0">
            <a:spAutoFit/>
          </a:bodyPr>
          <a:lstStyle/>
          <a:p>
            <a:r>
              <a:rPr lang="en-US" sz="1050" dirty="0">
                <a:solidFill/>
              </a:rPr>
              <a:t>KBA observes a CarePoint 26.7% commercial margin</a:t>
            </a:r>
            <a:r>
              <a:rPr lang="en-US" sz="1050" dirty="0"/>
              <a:t>. We estimate that this margin will improve for patients covered by the KIP plan through higher collections as follows:</a:t>
            </a:r>
            <a:endParaRPr lang="en-US" sz="1050" dirty="0">
              <a:solidFill/>
            </a:endParaRPr>
          </a:p>
        </p:txBody>
      </p:sp>
      <p:sp>
        <p:nvSpPr>
          <p:cNvPr id="26"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27" name="TextBox 26">
            <a:extLst>
              <a:ext uri="{FF2B5EF4-FFF2-40B4-BE49-F238E27FC236}">
                <a16:creationId xmlns:a16="http://schemas.microsoft.com/office/drawing/2014/main" id="{2559AB8C-6F23-81D3-4546-DE75EBD91879}"/>
              </a:ext>
            </a:extLst>
          </p:cNvPr>
          <p:cNvSpPr txBox="1"/>
          <p:nvPr/>
        </p:nvSpPr>
        <p:spPr>
          <a:xfrm>
            <a:off x="9532571" y="5300748"/>
            <a:ext cx="643509" cy="307777"/>
          </a:xfrm>
          <a:prstGeom prst="rect">
            <a:avLst/>
          </a:prstGeom>
          <a:noFill/>
        </p:spPr>
        <p:txBody>
          <a:bodyPr wrap="none" rtlCol="0">
            <a:spAutoFit/>
          </a:bodyPr>
          <a:lstStyle/>
          <a:p>
            <a:r>
              <a:rPr lang="en-US" sz="1400" b="1" dirty="0"/>
              <a:t>Target</a:t>
            </a:r>
          </a:p>
        </p:txBody>
      </p:sp>
      <p:sp>
        <p:nvSpPr>
          <p:cNvPr id="28" name="TextBox 27">
            <a:extLst>
              <a:ext uri="{FF2B5EF4-FFF2-40B4-BE49-F238E27FC236}">
                <a16:creationId xmlns:a16="http://schemas.microsoft.com/office/drawing/2014/main" id="{314AFF5C-ABDA-A82B-40C8-14E2DB160036}"/>
              </a:ext>
            </a:extLst>
          </p:cNvPr>
          <p:cNvSpPr txBox="1"/>
          <p:nvPr/>
        </p:nvSpPr>
        <p:spPr>
          <a:xfrm>
            <a:off x="11336305" y="5300748"/>
            <a:ext cx="524503" cy="307777"/>
          </a:xfrm>
          <a:prstGeom prst="rect">
            <a:avLst/>
          </a:prstGeom>
          <a:noFill/>
        </p:spPr>
        <p:txBody>
          <a:bodyPr wrap="none" rtlCol="0">
            <a:spAutoFit/>
          </a:bodyPr>
          <a:lstStyle/>
          <a:p>
            <a:r>
              <a:rPr lang="en-US" sz="1400" b="1" dirty="0"/>
              <a:t>High</a:t>
            </a:r>
          </a:p>
        </p:txBody>
      </p:sp>
      <p:sp>
        <p:nvSpPr>
          <p:cNvPr id="29" name="TextBox 28">
            <a:extLst>
              <a:ext uri="{FF2B5EF4-FFF2-40B4-BE49-F238E27FC236}">
                <a16:creationId xmlns:a16="http://schemas.microsoft.com/office/drawing/2014/main" id="{2C03026B-6D1E-F7B1-9995-7D9DC1019C60}"/>
              </a:ext>
            </a:extLst>
          </p:cNvPr>
          <p:cNvSpPr txBox="1"/>
          <p:nvPr/>
        </p:nvSpPr>
        <p:spPr>
          <a:xfrm>
            <a:off x="7659946" y="5559601"/>
            <a:ext cx="758541" cy="369332"/>
          </a:xfrm>
          <a:prstGeom prst="rect">
            <a:avLst/>
          </a:prstGeom>
          <a:noFill/>
        </p:spPr>
        <p:txBody>
          <a:bodyPr wrap="none" rtlCol="0">
            <a:spAutoFit/>
          </a:bodyPr>
          <a:lstStyle/>
          <a:p>
            <a:r>
              <a:rPr lang="en-US" dirty="0">
                <a:solidFill/>
              </a:rPr>
              <a:t>31.7%</a:t>
            </a:r>
          </a:p>
        </p:txBody>
      </p:sp>
      <p:sp>
        <p:nvSpPr>
          <p:cNvPr id="30" name="TextBox 29">
            <a:extLst>
              <a:ext uri="{FF2B5EF4-FFF2-40B4-BE49-F238E27FC236}">
                <a16:creationId xmlns:a16="http://schemas.microsoft.com/office/drawing/2014/main" id="{9C64CEEB-E16A-926D-5DF0-DC8275443A40}"/>
              </a:ext>
            </a:extLst>
          </p:cNvPr>
          <p:cNvSpPr txBox="1"/>
          <p:nvPr/>
        </p:nvSpPr>
        <p:spPr>
          <a:xfrm>
            <a:off x="9539867" y="5571573"/>
            <a:ext cx="758541" cy="369332"/>
          </a:xfrm>
          <a:prstGeom prst="rect">
            <a:avLst/>
          </a:prstGeom>
          <a:noFill/>
        </p:spPr>
        <p:txBody>
          <a:bodyPr wrap="none" rtlCol="0">
            <a:spAutoFit/>
          </a:bodyPr>
          <a:lstStyle/>
          <a:p>
            <a:r>
              <a:rPr lang="en-US" dirty="0">
                <a:solidFill/>
              </a:rPr>
              <a:t>36.7%</a:t>
            </a:r>
          </a:p>
        </p:txBody>
      </p:sp>
      <p:sp>
        <p:nvSpPr>
          <p:cNvPr id="31" name="TextBox 30">
            <a:extLst>
              <a:ext uri="{FF2B5EF4-FFF2-40B4-BE49-F238E27FC236}">
                <a16:creationId xmlns:a16="http://schemas.microsoft.com/office/drawing/2014/main" id="{716000A2-AFB1-117D-BFF0-2BDA3EA8A77D}"/>
              </a:ext>
            </a:extLst>
          </p:cNvPr>
          <p:cNvSpPr txBox="1"/>
          <p:nvPr/>
        </p:nvSpPr>
        <p:spPr>
          <a:xfrm>
            <a:off x="11288856" y="5571573"/>
            <a:ext cx="758541" cy="369332"/>
          </a:xfrm>
          <a:prstGeom prst="rect">
            <a:avLst/>
          </a:prstGeom>
          <a:noFill/>
        </p:spPr>
        <p:txBody>
          <a:bodyPr wrap="none" rtlCol="0">
            <a:spAutoFit/>
          </a:bodyPr>
          <a:lstStyle/>
          <a:p>
            <a:r>
              <a:rPr lang="en-US" dirty="0">
                <a:solidFill/>
              </a:rPr>
              <a:t>41.7%</a:t>
            </a:r>
          </a:p>
        </p:txBody>
      </p:sp>
      <p:sp>
        <p:nvSpPr>
          <p:cNvPr id="3" name="Rectangle 2">
            <a:extLst>
              <a:ext uri="{FF2B5EF4-FFF2-40B4-BE49-F238E27FC236}">
                <a16:creationId xmlns:a16="http://schemas.microsoft.com/office/drawing/2014/main" id="{E854312B-28D3-E83C-2C75-6E860911BB50}"/>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32" name="Picture 31" descr="A screen shot of a graph&#10;&#10;Description automatically generated">
            <a:extLst>
              <a:ext uri="{FF2B5EF4-FFF2-40B4-BE49-F238E27FC236}">
                <a16:creationId xmlns:a16="http://schemas.microsoft.com/office/drawing/2014/main" id="{F07725A7-B26C-B47A-3D7F-D1A086418E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339" y="1669627"/>
            <a:ext cx="6516732" cy="4561712"/>
          </a:xfrm>
          <a:prstGeom prst="rect">
            <a:avLst/>
          </a:prstGeom>
        </p:spPr>
      </p:pic>
      <p:sp>
        <p:nvSpPr>
          <p:cNvPr id="33" name="TextBox 32">
            <a:extLst>
              <a:ext uri="{FF2B5EF4-FFF2-40B4-BE49-F238E27FC236}">
                <a16:creationId xmlns:a16="http://schemas.microsoft.com/office/drawing/2014/main" id="{376A62E0-771C-54FE-B757-DC2BCD4ECC0D}"/>
              </a:ext>
            </a:extLst>
          </p:cNvPr>
          <p:cNvSpPr txBox="1"/>
          <p:nvPr/>
        </p:nvSpPr>
        <p:spPr>
          <a:xfrm>
            <a:off x="1736775" y="1836197"/>
            <a:ext cx="4034181" cy="307777"/>
          </a:xfrm>
          <a:prstGeom prst="rect">
            <a:avLst/>
          </a:prstGeom>
          <a:solidFill>
            <a:schemeClr val="bg1"/>
          </a:solidFill>
        </p:spPr>
        <p:txBody>
          <a:bodyPr wrap="none" rtlCol="0">
            <a:spAutoFit/>
          </a:bodyPr>
          <a:lstStyle/>
          <a:p>
            <a:r>
              <a:rPr lang="en-US" sz="1400" b="1" dirty="0"/>
              <a:t>Net Margin Growth by Number of KIP Covered Lives</a:t>
            </a:r>
          </a:p>
        </p:txBody>
      </p:sp>
      <p:sp>
        <p:nvSpPr>
          <p:cNvPr id="34" name="TextBox 33">
            <a:extLst>
              <a:ext uri="{FF2B5EF4-FFF2-40B4-BE49-F238E27FC236}">
                <a16:creationId xmlns:a16="http://schemas.microsoft.com/office/drawing/2014/main" id="{E8334A4D-A904-88CB-EA92-AD56511A56D6}"/>
              </a:ext>
            </a:extLst>
          </p:cNvPr>
          <p:cNvSpPr txBox="1"/>
          <p:nvPr/>
        </p:nvSpPr>
        <p:spPr>
          <a:xfrm>
            <a:off x="3544281" y="5494629"/>
            <a:ext cx="1814920" cy="261610"/>
          </a:xfrm>
          <a:prstGeom prst="rect">
            <a:avLst/>
          </a:prstGeom>
          <a:solidFill>
            <a:schemeClr val="bg1"/>
          </a:solidFill>
        </p:spPr>
        <p:txBody>
          <a:bodyPr wrap="none" rtlCol="0">
            <a:spAutoFit/>
          </a:bodyPr>
          <a:lstStyle/>
          <a:p>
            <a:r>
              <a:rPr lang="en-US" sz="1100" b="1" dirty="0"/>
              <a:t>Total KIP Covered Members</a:t>
            </a:r>
          </a:p>
        </p:txBody>
      </p:sp>
    </p:spTree>
    <p:extLst>
      <p:ext uri="{BB962C8B-B14F-4D97-AF65-F5344CB8AC3E}">
        <p14:creationId xmlns:p14="http://schemas.microsoft.com/office/powerpoint/2010/main" val="3470905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1" y="5433068"/>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15.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CarePoint’s approved site(s) with network integration, and development of CarePoint’s proprietary PBM program.</a:t>
            </a:r>
            <a:r>
              <a:rPr lang="en-US" sz="1600" dirty="0">
                <a:highlight>
                  <a:srgbClr val="FFFF00"/>
                </a:highlight>
              </a:rPr>
              <a:t>   </a:t>
            </a:r>
          </a:p>
        </p:txBody>
      </p:sp>
      <p:graphicFrame>
        <p:nvGraphicFramePr>
          <p:cNvPr id="6" name="Content Placeholder 2">
            <a:extLst>
              <a:ext uri="{FF2B5EF4-FFF2-40B4-BE49-F238E27FC236}">
                <a16:creationId xmlns:a16="http://schemas.microsoft.com/office/drawing/2014/main" id="{E45BC2E3-E3EE-FA47-7853-7B92624C864E}"/>
              </a:ext>
            </a:extLst>
          </p:cNvPr>
          <p:cNvGraphicFramePr>
            <a:graphicFrameLocks noGrp="1"/>
          </p:cNvGraphicFramePr>
          <p:nvPr>
            <p:extLst>
              <p:ext uri="{D42A27DB-BD31-4B8C-83A1-F6EECF244321}">
                <p14:modId xmlns:p14="http://schemas.microsoft.com/office/powerpoint/2010/main" val="364925471"/>
              </p:ext>
            </p:extLst>
          </p:nvPr>
        </p:nvGraphicFramePr>
        <p:xfrm>
          <a:off x="2105129" y="525699"/>
          <a:ext cx="9052560" cy="457200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KIP</a:t>
                      </a:r>
                      <a:r>
                        <a:rPr sz="2000" b="1" i="0" u="none" cap="none" dirty="0">
                          <a:solidFill>
                            <a:srgbClr val="FFFFFF">
                              <a:alpha val="100000"/>
                            </a:srgbClr>
                          </a:solidFill>
                          <a:latin typeface="Arial"/>
                          <a:cs typeface="Arial"/>
                          <a:sym typeface="Arial"/>
                        </a:rPr>
                        <a:t>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dirty="0">
                          <a:solidFill>
                            <a:srgbClr val="FFFFFF">
                              <a:alpha val="100000"/>
                            </a:srgbClr>
                          </a:solidFill>
                          <a:latin typeface="Arial"/>
                          <a:cs typeface="Arial"/>
                          <a:sym typeface="Arial"/>
                        </a:rPr>
                        <a:t>Target Estimate With 6.5% Steerage to </a:t>
                      </a:r>
                      <a:r>
                        <a:rPr sz="1400" b="1" i="0" u="none" cap="none" dirty="0" err="1">
                          <a:solidFill>
                            <a:srgbClr val="FFFFFF">
                              <a:alpha val="100000"/>
                            </a:srgbClr>
                          </a:solidFill>
                          <a:latin typeface="Arial"/>
                          <a:cs typeface="Arial"/>
                          <a:sym typeface="Arial"/>
                        </a:rPr>
                        <a:t>CarePoint</a:t>
                      </a:r>
                      <a:r>
                        <a:rPr sz="1400" b="1" i="0" u="none" cap="none" dirty="0">
                          <a:solidFill>
                            <a:srgbClr val="FFFFFF">
                              <a:alpha val="100000"/>
                            </a:srgbClr>
                          </a:solidFill>
                          <a:latin typeface="Arial"/>
                          <a:cs typeface="Arial"/>
                          <a:sym typeface="Arial"/>
                        </a:rPr>
                        <a:t>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CarePoint and a 10 Percentage-Point Improved Margin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CarePoint and a 10 Percentage-Point Improved Margin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CarePoint and a 10 Percentage-Point Improved Margin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CarePoint and a 10 Percentage-Point Improved Margin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CarePoint and a 10 Percentage-Point Improved Margin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CarePoint and a 10 Percentage-Point Improved Margin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CarePoint and a 10 Percentage-Point Improved Margin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dirty="0">
                          <a:solidFill>
                            <a:srgbClr val="000000">
                              <a:alpha val="100000"/>
                            </a:srgbClr>
                          </a:solidFill>
                          <a:latin typeface="Arial"/>
                          <a:cs typeface="Arial"/>
                          <a:sym typeface="Arial"/>
                        </a:rPr>
                        <a:t>Pre-</a:t>
                      </a: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dirty="0">
                          <a:solidFill>
                            <a:srgbClr val="000000">
                              <a:alpha val="100000"/>
                            </a:srgbClr>
                          </a:solidFill>
                          <a:latin typeface="Arial"/>
                          <a:cs typeface="Arial"/>
                          <a:sym typeface="Arial"/>
                        </a:rPr>
                        <a:t>Pre-</a:t>
                      </a: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dirty="0">
                          <a:solidFill>
                            <a:srgbClr val="000000">
                              <a:alpha val="100000"/>
                            </a:srgbClr>
                          </a:solidFill>
                          <a:latin typeface="Arial"/>
                          <a:cs typeface="Arial"/>
                          <a:sym typeface="Arial"/>
                        </a:rPr>
                        <a:t>Net Margin Less </a:t>
                      </a:r>
                      <a:r>
                        <a:rPr lang="en-US" sz="1200" b="1" i="0" u="none" cap="none" dirty="0">
                          <a:solidFill>
                            <a:srgbClr val="000000">
                              <a:alpha val="100000"/>
                            </a:srgbClr>
                          </a:solidFill>
                          <a:latin typeface="Arial"/>
                          <a:cs typeface="Arial"/>
                          <a:sym typeface="Arial"/>
                        </a:rPr>
                        <a:t>KIP </a:t>
                      </a:r>
                      <a:r>
                        <a:rPr sz="1200" b="1" i="0" u="none" cap="none" dirty="0">
                          <a:solidFill>
                            <a:srgbClr val="000000">
                              <a:alpha val="100000"/>
                            </a:srgbClr>
                          </a:solidFill>
                          <a:latin typeface="Arial"/>
                          <a:cs typeface="Arial"/>
                          <a:sym typeface="Arial"/>
                        </a:rPr>
                        <a:t>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$ 1,174K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$ 2,349K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$ 3,193K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$ 5,872K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$ 7,983K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$ 2,610K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977K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$ 5,331K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$31,930K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$10,440K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$ 4,899K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$46,978K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$10,662K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$63,861K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$16,883K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$20,880K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$10,128K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136DF45-D5B0-585C-20C8-45741BA6198C}"/>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3F05FC98-89A0-63E0-1CBF-EF829E318F6F}"/>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7" name="Rectangle 6">
            <a:extLst>
              <a:ext uri="{FF2B5EF4-FFF2-40B4-BE49-F238E27FC236}">
                <a16:creationId xmlns:a16="http://schemas.microsoft.com/office/drawing/2014/main" id="{DEBD79AC-6896-6E13-B0EE-8405AC1D8926}"/>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pic>
        <p:nvPicPr>
          <p:cNvPr id="14" name="Picture 13" descr="A graph and a chart&#10;&#10;Description automatically generated">
            <a:extLst>
              <a:ext uri="{FF2B5EF4-FFF2-40B4-BE49-F238E27FC236}">
                <a16:creationId xmlns:a16="http://schemas.microsoft.com/office/drawing/2014/main" id="{4D17DB8C-C31A-89BC-810F-E1FB39B1F9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7433" y="-2297"/>
            <a:ext cx="9144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2,500</a:t>
            </a:r>
            <a:r>
              <a:rPr lang="en-US" spc="200" dirty="0">
                <a:latin typeface="+mj-lt"/>
                <a:cs typeface="+mj-cs"/>
              </a:rPr>
              <a:t>+</a:t>
            </a:r>
            <a:r>
              <a:rPr lang="en-US" sz="1800" spc="200" dirty="0">
                <a:latin typeface="+mj-lt"/>
                <a:cs typeface="+mj-cs"/>
              </a:rPr>
              <a:t> Employers       410,000</a:t>
            </a:r>
            <a:r>
              <a:rPr lang="en-US" sz="1800" spc="200" dirty="0">
                <a:latin typeface="+mj-lt"/>
                <a:cs typeface="+mj-cs"/>
                <a:sym typeface="Wingdings" panose="05000000000000000000" pitchFamily="2" charset="2"/>
              </a:rPr>
              <a:t>+ Employees       630,000+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extLst>
              <p:ext uri="{D42A27DB-BD31-4B8C-83A1-F6EECF244321}">
                <p14:modId xmlns:p14="http://schemas.microsoft.com/office/powerpoint/2010/main" val="2698283272"/>
              </p:ext>
            </p:extLst>
          </p:nvPr>
        </p:nvGraphicFramePr>
        <p:xfrm>
          <a:off x="4889297" y="2140949"/>
          <a:ext cx="6949427" cy="2913283"/>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endParaRPr lang="en-US" sz="1100" b="1"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Commercial Employers Headquartered in Union, Essex or Hudson Counties</a:t>
                      </a:r>
                    </a:p>
                  </a:txBody>
                  <a:tcPr marL="9525" marR="9525" marT="9525" marB="0" anchor="b">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1,468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597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417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230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64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54</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endParaRPr lang="en-US" sz="1100" b="1"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Estimated Employees of Above Employers</a:t>
                      </a:r>
                    </a:p>
                  </a:txBody>
                  <a:tcPr marL="9525" marR="9525" marT="9525" marB="0" anchor="b">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110,100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89,550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125,100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161,000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128,000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486,000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endParaRPr lang="en-US" sz="1100" b="1"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Estimated Members of Above Employers</a:t>
                      </a:r>
                    </a:p>
                  </a:txBody>
                  <a:tcPr marL="9525" marR="9525" marT="9525" marB="0" anchor="b">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154,140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125,370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175,140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225,400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179,200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680,400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sp>
        <p:nvSpPr>
          <p:cNvPr id="16"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r>
              <a:rPr lang="en-US" sz="2400" dirty="0">
                <a:solidFill>
                  <a:srgbClr val="000B2E"/>
                </a:solidFill>
              </a:rPr>
              <a:t>Researched for Union, Essex and Hudson Counties*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A943FBC-F646-4D8D-7012-9A24D6FF5E84}"/>
              </a:ext>
            </a:extLst>
          </p:cNvPr>
          <p:cNvSpPr txBox="1"/>
          <p:nvPr/>
        </p:nvSpPr>
        <p:spPr>
          <a:xfrm>
            <a:off x="1907782" y="5902378"/>
            <a:ext cx="9165501" cy="769441"/>
          </a:xfrm>
          <a:prstGeom prst="rect">
            <a:avLst/>
          </a:prstGeom>
          <a:noFill/>
        </p:spPr>
        <p:txBody>
          <a:bodyPr wrap="square">
            <a:spAutoFit/>
          </a:bodyPr>
          <a:lstStyle/>
          <a:p>
            <a:endParaRPr lang="en-US" sz="1100" dirty="0"/>
          </a:p>
          <a:p>
            <a:r>
              <a:rPr lang="en-US" sz="1100" dirty="0"/>
              <a:t>*Hospital Referral Regions (HRRs) are geographic regions in the U.S. that define healthcare markets based on patient referral patterns for major cardiovascular and neurosurgery procedures, created by the Dartmouth Atlas of Health Care.</a:t>
            </a:r>
          </a:p>
          <a:p>
            <a:endParaRPr lang="en-US" sz="1100" dirty="0"/>
          </a:p>
        </p:txBody>
      </p:sp>
      <p:pic>
        <p:nvPicPr>
          <p:cNvPr id="5" name="Picture 4">
            <a:extLst>
              <a:ext uri="{FF2B5EF4-FFF2-40B4-BE49-F238E27FC236}">
                <a16:creationId xmlns:a16="http://schemas.microsoft.com/office/drawing/2014/main" id="{4D9A8BB4-8EB2-782A-EDD5-8538A2A8CF98}"/>
              </a:ext>
            </a:extLst>
          </p:cNvPr>
          <p:cNvPicPr>
            <a:picLocks noChangeAspect="1"/>
          </p:cNvPicPr>
          <p:nvPr/>
        </p:nvPicPr>
        <p:blipFill>
          <a:blip r:embed="rId2"/>
          <a:stretch>
            <a:fillRect/>
          </a:stretch>
        </p:blipFill>
        <p:spPr>
          <a:xfrm>
            <a:off x="12700" y="2175421"/>
            <a:ext cx="4556861" cy="3406884"/>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8</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CarePoint’s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KIP strategy positions CarePoint Health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CarePoint Health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CarePoint’s managed care processes to KBA’s patented care management programs will turbocharge results – Positioning CarePoint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2170444" y="5369550"/>
            <a:ext cx="9490980"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CarePoint Health </a:t>
            </a:r>
            <a:r>
              <a:rPr lang="en-US" sz="2400" b="1" cap="small" dirty="0">
                <a:solidFill>
                  <a:srgbClr val="000B2E"/>
                </a:solidFill>
              </a:rPr>
              <a:t>CAN PROMOTE THESE RESULTS FROM DAY ONE!!</a:t>
            </a:r>
          </a:p>
        </p:txBody>
      </p:sp>
      <p:pic>
        <p:nvPicPr>
          <p:cNvPr id="10"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9</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2050"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CarePoint’s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CarePoint’s 340B drug pricing program</a:t>
            </a:r>
          </a:p>
          <a:p>
            <a:pPr marL="285753" indent="-285753">
              <a:spcBef>
                <a:spcPts val="600"/>
              </a:spcBef>
              <a:buFont typeface="Wingdings" panose="05000000000000000000" pitchFamily="2" charset="2"/>
              <a:buChar char="§"/>
            </a:pPr>
            <a:r>
              <a:rPr lang="en-US" sz="2000" dirty="0">
                <a:solidFill>
                  <a:schemeClr val="bg1"/>
                </a:solidFill>
              </a:rPr>
              <a:t>Allows CarePoint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KIP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KIP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11</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KIP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KIP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KIP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12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1643458969"/>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13</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14</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r>
              <a:rPr lang="en-US" sz="4800" dirty="0">
                <a:latin typeface="+mj-lt"/>
                <a:cs typeface="+mj-cs"/>
              </a:rPr>
              <a:t>:</a:t>
            </a:r>
            <a:br>
              <a:rPr lang="en-US" sz="4800" dirty="0">
                <a:latin typeface="+mj-lt"/>
                <a:cs typeface="+mj-cs"/>
              </a:rPr>
            </a:br>
            <a:br>
              <a:rPr lang="en-US" sz="4800" dirty="0">
                <a:latin typeface="+mj-lt"/>
                <a:cs typeface="+mj-cs"/>
              </a:rPr>
            </a:br>
            <a:r>
              <a:rPr lang="en-US" sz="4800" dirty="0">
                <a:latin typeface="+mj-lt"/>
                <a:cs typeface="+mj-cs"/>
              </a:rPr>
              <a:t>ESTIMATING CAREPOINT MARKET SHARE AND MARGIN</a:t>
            </a:r>
            <a:endParaRPr lang="en-US" sz="4800" kern="1200" dirty="0">
              <a:solidFill>
                <a:schemeClr val="tx1"/>
              </a:solidFill>
              <a:latin typeface="+mj-lt"/>
              <a:ea typeface="+mj-ea"/>
              <a:cs typeface="+mj-cs"/>
            </a:endParaRPr>
          </a:p>
        </p:txBody>
      </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15</a:t>
            </a:fld>
            <a:endParaRPr lang="en-US"/>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3277395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CarePoint’s 2021 Inpatient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2845613004"/>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CarePoint</a:t>
                      </a:r>
                    </a:p>
                  </a:txBody>
                  <a:tcPr>
                    <a:solidFill>
                      <a:schemeClr val="accent3">
                        <a:lumMod val="20000"/>
                        <a:lumOff val="80000"/>
                      </a:schemeClr>
                    </a:solidFill>
                  </a:tcPr>
                </a:tc>
                <a:tc>
                  <a:txBody>
                    <a:bodyPr/>
                    <a:lstStyle/>
                    <a:p>
                      <a:pPr algn="ctr"/>
                      <a:r>
                        <a:rPr lang="en-US" sz="1400" dirty="0">
                          <a:solidFill>
                            <a:schemeClr val="accent1">
                              <a:lumMod val="75000"/>
                            </a:schemeClr>
                          </a:solidFill>
                        </a:rPr>
                        <a:t>79,292</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$3,974,908K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18,543</a:t>
                      </a:r>
                    </a:p>
                  </a:txBody>
                  <a:tcPr anchor="ctr">
                    <a:solidFill>
                      <a:schemeClr val="accent3">
                        <a:lumMod val="20000"/>
                        <a:lumOff val="80000"/>
                      </a:schemeClr>
                    </a:solidFill>
                  </a:tcPr>
                </a:tc>
                <a:tc>
                  <a:txBody>
                    <a:bodyPr/>
                    <a:lstStyle/>
                    <a:p>
                      <a:pPr algn="ctr"/>
                      <a:r>
                        <a:rPr lang="en-US" sz="1400" dirty="0">
                          <a:solidFill>
                            <a:schemeClr val="accent6">
                              <a:lumMod val="75000"/>
                            </a:schemeClr>
                          </a:solidFill>
                        </a:rPr>
                        <a:t>$971,743K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24%</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1,436</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$103,276K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2%</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490</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$49,491K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58,823</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$2,899,888K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73%</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9">
            <a:extLst>
              <a:ext uri="{FF2B5EF4-FFF2-40B4-BE49-F238E27FC236}">
                <a16:creationId xmlns:a16="http://schemas.microsoft.com/office/drawing/2014/main" id="{ED0A6F50-C6BE-E59F-38A2-EFFA0AEF9616}"/>
              </a:ext>
            </a:extLst>
          </p:cNvPr>
          <p:cNvSpPr txBox="1"/>
          <p:nvPr/>
        </p:nvSpPr>
        <p:spPr>
          <a:xfrm>
            <a:off x="6431282" y="3552478"/>
            <a:ext cx="5648960" cy="160043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Revenue by Group</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Medicaid and Other Government Pay are estimated to be paying the same rate per inpatient day as Medicare (a conservative assumption).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all revenue not known to be paid by Medicare and not assumed to be paid by Medicaid or other government pay. </a:t>
            </a:r>
          </a:p>
        </p:txBody>
      </p:sp>
      <p:sp>
        <p:nvSpPr>
          <p:cNvPr id="8" name="TextBox 10">
            <a:extLst>
              <a:ext uri="{FF2B5EF4-FFF2-40B4-BE49-F238E27FC236}">
                <a16:creationId xmlns:a16="http://schemas.microsoft.com/office/drawing/2014/main" id="{E107289D-24BF-1E88-2683-BA2979EC32B6}"/>
              </a:ext>
            </a:extLst>
          </p:cNvPr>
          <p:cNvSpPr txBox="1"/>
          <p:nvPr/>
        </p:nvSpPr>
        <p:spPr>
          <a:xfrm>
            <a:off x="6431282" y="5123627"/>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9" name="TextBox 11">
            <a:extLst>
              <a:ext uri="{FF2B5EF4-FFF2-40B4-BE49-F238E27FC236}">
                <a16:creationId xmlns:a16="http://schemas.microsoft.com/office/drawing/2014/main" id="{B06F8AA7-185E-8401-4C51-579C44EE0B64}"/>
              </a:ext>
            </a:extLst>
          </p:cNvPr>
          <p:cNvSpPr txBox="1"/>
          <p:nvPr/>
        </p:nvSpPr>
        <p:spPr>
          <a:xfrm>
            <a:off x="416560" y="4435821"/>
            <a:ext cx="5161280"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(https://data.cms.gov/provider-compliance/cost-report/hospital-provider-cost-report/data)</a:t>
            </a:r>
          </a:p>
        </p:txBody>
      </p:sp>
      <p:sp>
        <p:nvSpPr>
          <p:cNvPr id="10" name="TextBox 12">
            <a:extLst>
              <a:ext uri="{FF2B5EF4-FFF2-40B4-BE49-F238E27FC236}">
                <a16:creationId xmlns:a16="http://schemas.microsoft.com/office/drawing/2014/main" id="{CF495B2A-50EF-4B94-1C1C-99E3DB78B211}"/>
              </a:ext>
            </a:extLst>
          </p:cNvPr>
          <p:cNvSpPr txBox="1"/>
          <p:nvPr/>
        </p:nvSpPr>
        <p:spPr>
          <a:xfrm>
            <a:off x="416560" y="5085955"/>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1" name="Rectangle 16">
            <a:extLst>
              <a:ext uri="{FF2B5EF4-FFF2-40B4-BE49-F238E27FC236}">
                <a16:creationId xmlns:a16="http://schemas.microsoft.com/office/drawing/2014/main" id="{802290A3-B694-4505-9BF2-D6CD7AF07C8B}"/>
              </a:ext>
            </a:extLst>
          </p:cNvPr>
          <p:cNvSpPr/>
          <p:nvPr/>
        </p:nvSpPr>
        <p:spPr>
          <a:xfrm>
            <a:off x="1315720" y="5784630"/>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Tree>
    <p:extLst>
      <p:ext uri="{BB962C8B-B14F-4D97-AF65-F5344CB8AC3E}">
        <p14:creationId xmlns:p14="http://schemas.microsoft.com/office/powerpoint/2010/main" val="1147401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solidFill/>
                <a:latin typeface="Arial" panose="020B0604020202020204" pitchFamily="34" charset="0"/>
                <a:cs typeface="Arial" panose="020B0604020202020204" pitchFamily="34" charset="0"/>
              </a:rPr>
              <a:t>The RAND data for CarePoint estimates commercial insurance reimbursements at 247%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69413001"/>
              </p:ext>
            </p:extLst>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2,899,888K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sz="1800" kern="1200" dirty="0">
                          <a:solidFill>
                            <a:schemeClr val="tx1"/>
                          </a:solidFill>
                          <a:latin typeface="+mn-lt"/>
                          <a:ea typeface="+mn-ea"/>
                          <a:cs typeface="+mn-cs"/>
                        </a:rPr>
                        <a:t>247%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2,655,298K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5,555,186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4,058,966</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$1,496,221K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27%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2398384907"/>
              </p:ext>
            </p:extLst>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a:t>
                      </a:r>
                      <a:r>
                        <a:rPr lang="en-US" sz="1800" kern="1200" dirty="0">
                          <a:solidFill>
                            <a:schemeClr val="tx1"/>
                          </a:solidFill>
                          <a:latin typeface="+mn-lt"/>
                          <a:ea typeface="+mn-ea"/>
                          <a:cs typeface="+mn-cs"/>
                        </a:rPr>
                        <a:t>Divided by 247%</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1,174,044K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1,075,019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2,249,063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4,058,966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-1,809,903</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-80%</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4"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10" name="TextBox 9">
            <a:extLst>
              <a:ext uri="{FF2B5EF4-FFF2-40B4-BE49-F238E27FC236}">
                <a16:creationId xmlns:a16="http://schemas.microsoft.com/office/drawing/2014/main" id="{DD333F58-1E5B-D213-65EE-BB627B8B12A8}"/>
              </a:ext>
            </a:extLst>
          </p:cNvPr>
          <p:cNvSpPr txBox="1"/>
          <p:nvPr/>
        </p:nvSpPr>
        <p:spPr>
          <a:xfrm>
            <a:off x="726173" y="5861686"/>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56.1%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3" name="Content Placeholder 2">
            <a:extLst>
              <a:ext uri="{FF2B5EF4-FFF2-40B4-BE49-F238E27FC236}">
                <a16:creationId xmlns:a16="http://schemas.microsoft.com/office/drawing/2014/main" id="{8DE0229A-E7A5-B958-209A-C590990F5982}"/>
              </a:ext>
            </a:extLst>
          </p:cNvPr>
          <p:cNvGraphicFramePr>
            <a:graphicFrameLocks noGrp="1"/>
          </p:cNvGraphicFramePr>
          <p:nvPr>
            <p:extLst>
              <p:ext uri="{D42A27DB-BD31-4B8C-83A1-F6EECF244321}">
                <p14:modId xmlns:p14="http://schemas.microsoft.com/office/powerpoint/2010/main" val="2380487101"/>
              </p:ext>
            </p:extLst>
          </p:nvPr>
        </p:nvGraphicFramePr>
        <p:xfrm>
          <a:off x="241300" y="996314"/>
          <a:ext cx="11371006" cy="4642481"/>
        </p:xfrm>
        <a:graphic>
          <a:graphicData uri="http://schemas.openxmlformats.org/drawingml/2006/table">
            <a:tbl>
              <a:tblPr/>
              <a:tblGrid>
                <a:gridCol w="33528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854200">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gridCol w="1206500">
                  <a:extLst>
                    <a:ext uri="{9D8B030D-6E8A-4147-A177-3AD203B41FA5}">
                      <a16:colId xmlns:a16="http://schemas.microsoft.com/office/drawing/2014/main" val="20004"/>
                    </a:ext>
                  </a:extLst>
                </a:gridCol>
                <a:gridCol w="2252406">
                  <a:extLst>
                    <a:ext uri="{9D8B030D-6E8A-4147-A177-3AD203B41FA5}">
                      <a16:colId xmlns:a16="http://schemas.microsoft.com/office/drawing/2014/main" val="20005"/>
                    </a:ext>
                  </a:extLst>
                </a:gridCol>
              </a:tblGrid>
              <a:tr h="833265">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Hospital Name</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56.1% of Physicians Employed by Hospitals)</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38076">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Bayonne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131</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  959,388.1K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  656,339.4K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6%</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38076">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Hoboken University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117</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$1,016,197.5K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  834,022.0K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6%</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38076">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Christ Hospital</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178</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$1,376,371.1K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$1,033,594.9K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8%</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5%</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Carewell Health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159</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359,576.8K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145,263.6K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Cooperman Barnabas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557</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$2,212,144.8K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$1,176,346.7K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Hackensack Meridian Health, Mountainside Medical</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185</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652,366.6K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655,269.5K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Palisades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186</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491,093.8K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366,514.0K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Robert Wood Johnson University Hospital At Rahway</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527,462.1K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318,400.3K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Hudson Regional Hospital</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353,205.1K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418,896.0K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Saint Michael's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147</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443,958.1K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470,001.9K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The University Hospital</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351</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$1,785,402.9K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868,377.5K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Clara Maass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280</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884,145.6K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506,465.8K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Newark Beth Israel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$1,881,348.4K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803,991.3K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Trinitas Regional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220</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716,322.7K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764,446.5K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Jersey City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296</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$1,166,831.2K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755,410.2K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Overlook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$1,449,425.7K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$1,541,202.4K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8%</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3034923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a:extLst>
              <a:ext uri="{FF2B5EF4-FFF2-40B4-BE49-F238E27FC236}">
                <a16:creationId xmlns:a16="http://schemas.microsoft.com/office/drawing/2014/main" id="{135979F5-AF3C-DC9B-ECF8-4392D57E3737}"/>
              </a:ext>
            </a:extLst>
          </p:cNvPr>
          <p:cNvGraphicFramePr>
            <a:graphicFrameLocks noGrp="1"/>
          </p:cNvGraphicFramePr>
          <p:nvPr>
            <p:extLst>
              <p:ext uri="{D42A27DB-BD31-4B8C-83A1-F6EECF244321}">
                <p14:modId xmlns:p14="http://schemas.microsoft.com/office/powerpoint/2010/main" val="7919441"/>
              </p:ext>
            </p:extLst>
          </p:nvPr>
        </p:nvGraphicFramePr>
        <p:xfrm>
          <a:off x="0" y="0"/>
          <a:ext cx="12192000" cy="6501170"/>
        </p:xfrm>
        <a:graphic>
          <a:graphicData uri="http://schemas.openxmlformats.org/drawingml/2006/table">
            <a:tbl>
              <a:tblPr/>
              <a:tblGrid>
                <a:gridCol w="4408383">
                  <a:extLst>
                    <a:ext uri="{9D8B030D-6E8A-4147-A177-3AD203B41FA5}">
                      <a16:colId xmlns:a16="http://schemas.microsoft.com/office/drawing/2014/main" val="20000"/>
                    </a:ext>
                  </a:extLst>
                </a:gridCol>
                <a:gridCol w="2805217">
                  <a:extLst>
                    <a:ext uri="{9D8B030D-6E8A-4147-A177-3AD203B41FA5}">
                      <a16:colId xmlns:a16="http://schemas.microsoft.com/office/drawing/2014/main" val="20001"/>
                    </a:ext>
                  </a:extLst>
                </a:gridCol>
                <a:gridCol w="2426348">
                  <a:extLst>
                    <a:ext uri="{9D8B030D-6E8A-4147-A177-3AD203B41FA5}">
                      <a16:colId xmlns:a16="http://schemas.microsoft.com/office/drawing/2014/main" val="20002"/>
                    </a:ext>
                  </a:extLst>
                </a:gridCol>
                <a:gridCol w="2552052">
                  <a:extLst>
                    <a:ext uri="{9D8B030D-6E8A-4147-A177-3AD203B41FA5}">
                      <a16:colId xmlns:a16="http://schemas.microsoft.com/office/drawing/2014/main" val="20003"/>
                    </a:ext>
                  </a:extLst>
                </a:gridCol>
              </a:tblGrid>
              <a:tr h="335906">
                <a:tc gridSpan="4">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455952">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Metric</a:t>
                      </a:r>
                    </a:p>
                  </a:txBody>
                  <a:tcPr marL="0" marR="0" marT="27432" marB="27432"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Christ Hospital</a:t>
                      </a:r>
                    </a:p>
                  </a:txBody>
                  <a:tcPr marL="0" marR="0" marT="27432" marB="27432"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Hoboken University Medical Center</a:t>
                      </a:r>
                    </a:p>
                  </a:txBody>
                  <a:tcPr marL="0" marR="0" marT="27432" marB="27432"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Bayonne Medical Center</a:t>
                      </a:r>
                    </a:p>
                  </a:txBody>
                  <a:tcPr marL="0" marR="0" marT="27432" marB="27432"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4672">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Hospital Days</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38,324</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19,516</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21,452</a:t>
                      </a:r>
                    </a:p>
                  </a:txBody>
                  <a:tcPr marL="0" marR="0" marT="27432"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Days</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6,362</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3,970</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8,211</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Medicaid Days</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309</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826</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301</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224672">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Other Government Payer Days</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$1,612,274K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$1,168,373K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$1,194,261K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$1,476,876K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$1,304,860K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$1,146,504K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$354,013K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$217,823.7K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$399,906.6K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$29,491.31K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$51,650.85K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$22,133.98K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$1,228,770K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$898,898.3K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$772,220.2K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$17,916.55K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$14,708.3K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$16,865.81K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$1,649,666K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$1,191,943K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$1,217,358K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$1,511,127K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$1,331,183K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$1,168,678K</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Total Costs</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$3,160,793K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$2,523,126K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$2,386,035K</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$-53,726K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$-35,185K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$-28,404.22K</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16.6%</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20.3%</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38.3%</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0.8%</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4.2%</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1.4%</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0.6%</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0.6%</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0.7%</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Commerical</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82.0%</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74.8%</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59.6%</a:t>
                      </a:r>
                    </a:p>
                  </a:txBody>
                  <a:tcPr marL="0" marR="0" marT="27432"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Commercial Profit Margin</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24.2%</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23.8%</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32.9%</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21"/>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Market Share</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8.5%</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6.2%</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5.9%</a:t>
                      </a:r>
                    </a:p>
                  </a:txBody>
                  <a:tcPr marL="0" marR="0" marT="27432"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2"/>
                  </a:ext>
                </a:extLst>
              </a:tr>
              <a:tr h="22467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Market Share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5.1%</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4.1%</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3.3%</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191632">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27432" marB="27432"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191632">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2. Medicare costs are taken from the Medicare Provider Analysis and Review (</a:t>
                      </a:r>
                      <a:r>
                        <a:rPr sz="800" b="0" i="0" u="none" cap="none" dirty="0" err="1">
                          <a:solidFill>
                            <a:srgbClr val="666666">
                              <a:alpha val="100000"/>
                            </a:srgbClr>
                          </a:solidFill>
                          <a:latin typeface="Arial"/>
                          <a:cs typeface="Arial"/>
                          <a:sym typeface="Arial"/>
                        </a:rPr>
                        <a:t>MedPAR</a:t>
                      </a:r>
                      <a:r>
                        <a:rPr sz="800" b="0" i="0" u="none" cap="none" dirty="0">
                          <a:solidFill>
                            <a:srgbClr val="666666">
                              <a:alpha val="100000"/>
                            </a:srgbClr>
                          </a:solidFill>
                          <a:latin typeface="Arial"/>
                          <a:cs typeface="Arial"/>
                          <a:sym typeface="Arial"/>
                        </a:rPr>
                        <a:t>)</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191632">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191632">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27432"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36549" y="3312285"/>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br>
              <a:rPr lang="en-US" sz="4800" kern="1200" dirty="0">
                <a:solidFill>
                  <a:schemeClr val="tx1"/>
                </a:solidFill>
                <a:latin typeface="+mj-lt"/>
                <a:ea typeface="+mj-ea"/>
                <a:cs typeface="+mj-cs"/>
              </a:rPr>
            </a:br>
            <a:r>
              <a:rPr lang="en-US" sz="4800" kern="1200" dirty="0">
                <a:solidFill>
                  <a:schemeClr val="tx1"/>
                </a:solidFill>
                <a:latin typeface="+mj-lt"/>
                <a:ea typeface="+mj-ea"/>
                <a:cs typeface="+mj-cs"/>
              </a:rPr>
              <a:t>ESTIMATING KIP RETURNS</a:t>
            </a:r>
          </a:p>
        </p:txBody>
      </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20</a:t>
            </a:fld>
            <a:endParaRPr lang="en-US"/>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2899" y="2355650"/>
            <a:ext cx="3756276" cy="3756276"/>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23187435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447346206"/>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solidFill/>
                          <a:effectLst/>
                        </a:rPr>
                        <a:t>Adjusted to Union, Essex and Hudson County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$ 7049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$ 3877</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$ 3292</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21</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22</a:t>
            </a:fld>
            <a:endParaRPr lang="en-US" dirty="0">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3077203452"/>
              </p:ext>
            </p:extLst>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Pre-KIP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$ 7,258,861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$ 2,425,903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$ 2,059,859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$ 11,744,624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$ 1,647,424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$ 550,567.2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$ 467,492.2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$ 2,665,483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14"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$ 2,554,411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$ 2,614,411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$ 2,284,411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16"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KIP</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$ 9,692,375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$ 3,392,375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$ 2,880,500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$ 15,965,250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$ 3,168,956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$ 1,109,149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$ 941,789.5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$ 5,219,894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2" name="TextBox 1">
            <a:extLst>
              <a:ext uri="{FF2B5EF4-FFF2-40B4-BE49-F238E27FC236}">
                <a16:creationId xmlns:a16="http://schemas.microsoft.com/office/drawing/2014/main" id="{60820A86-1B9D-21A4-BBB6-DDFB73605882}"/>
              </a:ext>
            </a:extLst>
          </p:cNvPr>
          <p:cNvSpPr txBox="1"/>
          <p:nvPr/>
        </p:nvSpPr>
        <p:spPr>
          <a:xfrm>
            <a:off x="7772647" y="875949"/>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21% (inpatient) and 13% (outpatient)</a:t>
            </a:r>
          </a:p>
        </p:txBody>
      </p:sp>
      <p:sp>
        <p:nvSpPr>
          <p:cNvPr id="3"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22.7% (0.8% of the estimated commercial margin)</a:t>
            </a:r>
          </a:p>
        </p:txBody>
      </p:sp>
      <p:sp>
        <p:nvSpPr>
          <p:cNvPr id="7" name="TextBox 6">
            <a:extLst>
              <a:ext uri="{FF2B5EF4-FFF2-40B4-BE49-F238E27FC236}">
                <a16:creationId xmlns:a16="http://schemas.microsoft.com/office/drawing/2014/main" id="{C690F22E-C9CA-61DC-5584-149573110610}"/>
              </a:ext>
            </a:extLst>
          </p:cNvPr>
          <p:cNvSpPr txBox="1"/>
          <p:nvPr/>
        </p:nvSpPr>
        <p:spPr>
          <a:xfrm>
            <a:off x="7772646" y="2133704"/>
            <a:ext cx="4318001" cy="307777"/>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⁰ Assuming 27.5% market steerage</a:t>
            </a:r>
          </a:p>
        </p:txBody>
      </p:sp>
      <p:sp>
        <p:nvSpPr>
          <p:cNvPr id="8" name="TextBox 7">
            <a:extLst>
              <a:ext uri="{FF2B5EF4-FFF2-40B4-BE49-F238E27FC236}">
                <a16:creationId xmlns:a16="http://schemas.microsoft.com/office/drawing/2014/main" id="{A897897D-C568-B204-6568-514AD4B71A5C}"/>
              </a:ext>
            </a:extLst>
          </p:cNvPr>
          <p:cNvSpPr txBox="1"/>
          <p:nvPr/>
        </p:nvSpPr>
        <p:spPr>
          <a:xfrm>
            <a:off x="7772646" y="2690336"/>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37%, with a 10 percentage-point increase to reflect lower billing costs and higher patient payments. </a:t>
            </a:r>
          </a:p>
        </p:txBody>
      </p:sp>
    </p:spTree>
    <p:extLst>
      <p:ext uri="{BB962C8B-B14F-4D97-AF65-F5344CB8AC3E}">
        <p14:creationId xmlns:p14="http://schemas.microsoft.com/office/powerpoint/2010/main" val="686453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2249376039"/>
              </p:ext>
            </p:extLst>
          </p:nvPr>
        </p:nvGraphicFramePr>
        <p:xfrm>
          <a:off x="0" y="-1"/>
          <a:ext cx="12192002" cy="6577779"/>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925681">
                <a:tc gridSpan="6">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Target Estimate With 6.5% Steerage to </a:t>
                      </a:r>
                      <a:r>
                        <a:rPr sz="2000" b="1" i="0" u="none" cap="none" dirty="0" err="1">
                          <a:solidFill>
                            <a:srgbClr val="FFFFFF">
                              <a:alpha val="100000"/>
                            </a:srgbClr>
                          </a:solidFill>
                          <a:latin typeface="Arial"/>
                          <a:cs typeface="Arial"/>
                          <a:sym typeface="Arial"/>
                        </a:rPr>
                        <a:t>CarePoint</a:t>
                      </a:r>
                      <a:r>
                        <a:rPr sz="2000" b="1" i="0" u="none" cap="none" dirty="0">
                          <a:solidFill>
                            <a:srgbClr val="FFFFFF">
                              <a:alpha val="100000"/>
                            </a:srgbClr>
                          </a:solidFill>
                          <a:latin typeface="Arial"/>
                          <a:cs typeface="Arial"/>
                          <a:sym typeface="Arial"/>
                        </a:rPr>
                        <a:t>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CarePoint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CarePoint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CarePoint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CarePoint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CarePoint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500957">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631641">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5195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$1,174.5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$2,348.9</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$11,744.6</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$23,489.2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$46,978.5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45195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$533.1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$2,665.5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$5,331.0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$10,661.9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45195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$3,193.1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$15,965.2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$31,930.5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$63,861.0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45195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$422.1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$844.1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$4,220.6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$8,441.3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$16,882.5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45195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$522.0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$1,044.0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$5,219.9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$10,439.8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$20,879.6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45195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$255.4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$510.9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$2,554.4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$5,108.8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45195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45195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45195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45195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Net Margin Less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$-68.6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$192.9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$2,284.4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$4,898.8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$10,127.6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1074738762"/>
              </p:ext>
            </p:extLst>
          </p:nvPr>
        </p:nvGraphicFramePr>
        <p:xfrm>
          <a:off x="0" y="0"/>
          <a:ext cx="12192002" cy="6859073"/>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606609">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Target Estimate With 6.5% Steerage to </a:t>
                      </a:r>
                      <a:r>
                        <a:rPr sz="1800" b="1" i="0" u="none" cap="none" dirty="0" err="1">
                          <a:solidFill>
                            <a:srgbClr val="FFFFFF">
                              <a:alpha val="100000"/>
                            </a:srgbClr>
                          </a:solidFill>
                          <a:latin typeface="Arial"/>
                          <a:cs typeface="Arial"/>
                          <a:sym typeface="Arial"/>
                        </a:rPr>
                        <a:t>CarePoint</a:t>
                      </a:r>
                      <a:r>
                        <a:rPr sz="1800" b="1" i="0" u="none" cap="none" dirty="0">
                          <a:solidFill>
                            <a:srgbClr val="FFFFFF">
                              <a:alpha val="100000"/>
                            </a:srgbClr>
                          </a:solidFill>
                          <a:latin typeface="Arial"/>
                          <a:cs typeface="Arial"/>
                          <a:sym typeface="Arial"/>
                        </a:rPr>
                        <a:t>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CarePoint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CarePoint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CarePoint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CarePoint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CarePoint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373575">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70326">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36327">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$29,035.4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36327">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$164.7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$329.5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$1,647.4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$3,294.8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$6,589.7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36327">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$969.2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$1,938.5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$9,692.4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$19,384.8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$38,769.5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36327">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$633.8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$3,169.0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$6,337.9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$12,675.8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36327">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$243.4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$486.7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$2,433.5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$4,867.0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$9,734.1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36327">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$152.2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$304.3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$1,521.5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$3,043.1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$6,086.1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36327">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$242.6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$485.2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$2,425.9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$4,851.8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$9,703.6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36327">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$2,202.3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36327">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$339.2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$678.5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$3,392.4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$6,784.8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$13,569.5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36327">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$2,218.3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$4,436.6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236327">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$96.6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$193.3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$966.5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$1,932.9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$3,865.9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236327">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$111.7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$558.6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$1,117.2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$2,234.3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36327">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$206.0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$412.0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$2,059.9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$4,119.7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$8,239.4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36327">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$467.5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$935.0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$1,870.0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36327">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$288.1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$576.1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$2,880.5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$5,761.0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$11,522.0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36327">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$188.4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$1,883.6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$3,767.2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36327">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$1,641.3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$3,282.6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36327">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$474.3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$948.6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$1,897.2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6268515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859573069"/>
              </p:ext>
            </p:extLst>
          </p:nvPr>
        </p:nvGraphicFramePr>
        <p:xfrm>
          <a:off x="0" y="0"/>
          <a:ext cx="12192002" cy="685800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965116">
                <a:tc gridSpan="6">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Low Estimate With 4% Steerage to </a:t>
                      </a:r>
                      <a:r>
                        <a:rPr sz="2000" b="1" i="0" u="none" cap="none" dirty="0" err="1">
                          <a:solidFill>
                            <a:srgbClr val="FFFFFF">
                              <a:alpha val="100000"/>
                            </a:srgbClr>
                          </a:solidFill>
                          <a:latin typeface="Arial"/>
                          <a:cs typeface="Arial"/>
                          <a:sym typeface="Arial"/>
                        </a:rPr>
                        <a:t>CarePoint</a:t>
                      </a:r>
                      <a:r>
                        <a:rPr sz="2000" b="1" i="0" u="none" cap="none" dirty="0">
                          <a:solidFill>
                            <a:srgbClr val="FFFFFF">
                              <a:alpha val="100000"/>
                            </a:srgbClr>
                          </a:solidFill>
                          <a:latin typeface="Arial"/>
                          <a:cs typeface="Arial"/>
                          <a:sym typeface="Arial"/>
                        </a:rPr>
                        <a:t>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CarePoint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CarePoint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CarePoint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CarePoint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CarePoint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22298">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65855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204">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$1,331.1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$2,662.2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$13,311.1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$26,622.3</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$53,244.6</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471204">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$302.1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$604.2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$3,021.0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$6,042.0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$12,084.0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47120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$14,188.0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$28,376.0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$56,752.0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47120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$87.7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$175.4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$876.9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$1,753.7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$3,507.4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47120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$392.9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$785.9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$3,929.4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$7,858.8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$15,717.7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47120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$1,816.8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471204">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471204">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471204">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471204">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Net Margin Less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$-233.2</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$-136.3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$638.4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$1,606.8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$3,543.6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430287756"/>
              </p:ext>
            </p:extLst>
          </p:nvPr>
        </p:nvGraphicFramePr>
        <p:xfrm>
          <a:off x="0" y="0"/>
          <a:ext cx="12192002" cy="678078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436662">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Low Estimate With 4% Steerage to </a:t>
                      </a:r>
                      <a:r>
                        <a:rPr sz="1800" b="1" i="0" u="none" cap="none" dirty="0" err="1">
                          <a:solidFill>
                            <a:srgbClr val="FFFFFF">
                              <a:alpha val="100000"/>
                            </a:srgbClr>
                          </a:solidFill>
                          <a:latin typeface="Arial"/>
                          <a:cs typeface="Arial"/>
                          <a:sym typeface="Arial"/>
                        </a:rPr>
                        <a:t>CarePoint</a:t>
                      </a:r>
                      <a:r>
                        <a:rPr sz="1800" b="1" i="0" u="none" cap="none" dirty="0">
                          <a:solidFill>
                            <a:srgbClr val="FFFFFF">
                              <a:alpha val="100000"/>
                            </a:srgbClr>
                          </a:solidFill>
                          <a:latin typeface="Arial"/>
                          <a:cs typeface="Arial"/>
                          <a:sym typeface="Arial"/>
                        </a:rPr>
                        <a:t>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CarePoint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CarePoint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CarePoint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CarePoint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CarePoint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386278">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382919">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44363">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$29,035.4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44363">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$164.7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$329.5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$1,647.4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$3,294.8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$6,589.7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44363">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$1,762.2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$8,811.2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$17,622.5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$35,245.0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44363">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$244.0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$488.1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$2,440.3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$4,880.6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$9,761.2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44363">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$155.2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$1,552.4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$3,104.8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$6,209.6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44363">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$79.3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$158.6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$792.9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$1,585.8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$3,171.5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44363">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$399.2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$798.5</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$3,992.4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$7,984.9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$15,969.7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44363">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$181.2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$906.1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$1,812.2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$3,624.4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44363">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$290.8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$2,907.8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$5,815.5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$11,631.0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44363">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$805.3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$1,610.6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$3,221.2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244363">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$-1,084.7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$-2,169.4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$-4,338.7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244363">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$-201.6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$-403.1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44363">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$206.0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$412.0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$2,059.9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$4,119.7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$8,239.4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44363">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$467.5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$935.0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$1,870.0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44363">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$493.8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$2,469.0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$4,938.0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$9,876.0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44363">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$683.8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$1,367.6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$2,735.2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44363">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$818.3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$1,636.6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44363">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$216.3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$432.6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$865.2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333815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1664969967"/>
              </p:ext>
            </p:extLst>
          </p:nvPr>
        </p:nvGraphicFramePr>
        <p:xfrm>
          <a:off x="0" y="0"/>
          <a:ext cx="12192002" cy="685800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965116">
                <a:tc gridSpan="6">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High Estimate With 9% Steerage to </a:t>
                      </a:r>
                      <a:r>
                        <a:rPr sz="2000" b="1" i="0" u="none" cap="none" dirty="0" err="1">
                          <a:solidFill>
                            <a:srgbClr val="FFFFFF">
                              <a:alpha val="100000"/>
                            </a:srgbClr>
                          </a:solidFill>
                          <a:latin typeface="Arial"/>
                          <a:cs typeface="Arial"/>
                          <a:sym typeface="Arial"/>
                        </a:rPr>
                        <a:t>CarePoint</a:t>
                      </a:r>
                      <a:r>
                        <a:rPr sz="2000" b="1" i="0" u="none" cap="none" dirty="0">
                          <a:solidFill>
                            <a:srgbClr val="FFFFFF">
                              <a:alpha val="100000"/>
                            </a:srgbClr>
                          </a:solidFill>
                          <a:latin typeface="Arial"/>
                          <a:cs typeface="Arial"/>
                          <a:sym typeface="Arial"/>
                        </a:rPr>
                        <a:t>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CarePoint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CarePoint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CarePoint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CarePoint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CarePoint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22298">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65855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204">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$1,331.1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$2,662.2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$13,311.1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$26,622.3</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$53,244.6</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471204">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$302.1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$604.2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$3,021.0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$6,042.0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$12,084.0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47120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$1,845.9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$3,691.9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$18,459.4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$36,918.8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$73,837.6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47120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$514.8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$1,029.7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$5,148.3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$10,296.5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$20,593.0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47120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$695.8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$1,391.7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$6,958.3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$13,916.7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$27,833.3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47120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$787.5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$3,937.3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$7,874.6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$15,749.3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471204">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471204">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471204">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471204">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Net Margin Less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$69.7</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$469.5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$3,667.3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$7,664.6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$15,659.3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2905522738"/>
              </p:ext>
            </p:extLst>
          </p:nvPr>
        </p:nvGraphicFramePr>
        <p:xfrm>
          <a:off x="0" y="0"/>
          <a:ext cx="12192002" cy="678078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356262">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High Estimate With 9% Steerage to </a:t>
                      </a:r>
                      <a:r>
                        <a:rPr sz="1800" b="1" i="0" u="none" cap="none" dirty="0" err="1">
                          <a:solidFill>
                            <a:srgbClr val="FFFFFF">
                              <a:alpha val="100000"/>
                            </a:srgbClr>
                          </a:solidFill>
                          <a:latin typeface="Arial"/>
                          <a:cs typeface="Arial"/>
                          <a:sym typeface="Arial"/>
                        </a:rPr>
                        <a:t>CarePoint</a:t>
                      </a:r>
                      <a:r>
                        <a:rPr sz="1800" b="1" i="0" u="none" cap="none" dirty="0">
                          <a:solidFill>
                            <a:srgbClr val="FFFFFF">
                              <a:alpha val="100000"/>
                            </a:srgbClr>
                          </a:solidFill>
                          <a:latin typeface="Arial"/>
                          <a:cs typeface="Arial"/>
                          <a:sym typeface="Arial"/>
                        </a:rPr>
                        <a:t>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CarePoint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CarePoint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CarePoint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CarePoint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CarePoint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$725.9</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$1,451.8</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$7,258.9</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$14,517.7</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$29,035.4</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$164.7</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$329.5</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$1,647.4</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$3,294.8</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$6,589.7</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$1,057.3</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$2,114.7</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$10,573.5</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$21,147.0</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$42,294.0</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Inpatient Margin</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$398.6</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$797.1</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$3,985.7</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$7,971.4</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$15,942.9</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Revenue</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$331.5</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$662.9</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$3,314.6</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$6,629.3</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$13,258.6</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Margin</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$233.8</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$467.7</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$2,338.3</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$4,676.6</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$9,353.2</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64008" marR="64008"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$399.2</a:t>
                      </a:r>
                    </a:p>
                  </a:txBody>
                  <a:tcPr marL="64008" marR="64008"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$798.5</a:t>
                      </a:r>
                    </a:p>
                  </a:txBody>
                  <a:tcPr marL="64008" marR="64008"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$3,992.4</a:t>
                      </a:r>
                    </a:p>
                  </a:txBody>
                  <a:tcPr marL="64008" marR="64008"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$7,984.9</a:t>
                      </a:r>
                    </a:p>
                  </a:txBody>
                  <a:tcPr marL="64008" marR="64008"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$15,969.7</a:t>
                      </a:r>
                    </a:p>
                  </a:txBody>
                  <a:tcPr marL="64008" marR="64008"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$90.6</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$181.2</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$906.1</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$1,812.2</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$3,624.4</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$426.5</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$852.9</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$4,264.7</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$8,529.4</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$17,058.8</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Outpatient Margin</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$160.8</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$321.5</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$1,607.6</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$3,215.2</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$6,430.4</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Revenue</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$27.2</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$54.5</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$272.3</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$544.5</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$1,089.1</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Margin</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$70.1</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$140.3</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$701.5</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$1,403.0</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$2,806.0</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64008" marR="64008"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$206.0</a:t>
                      </a:r>
                    </a:p>
                  </a:txBody>
                  <a:tcPr marL="64008" marR="64008"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$412.0</a:t>
                      </a:r>
                    </a:p>
                  </a:txBody>
                  <a:tcPr marL="64008" marR="64008"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$2,059.9</a:t>
                      </a:r>
                    </a:p>
                  </a:txBody>
                  <a:tcPr marL="64008" marR="64008"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$4,119.7</a:t>
                      </a:r>
                    </a:p>
                  </a:txBody>
                  <a:tcPr marL="64008" marR="64008"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$8,239.4</a:t>
                      </a:r>
                    </a:p>
                  </a:txBody>
                  <a:tcPr marL="64008" marR="64008"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$46.7</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$93.5</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$467.5</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$935.0</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$1,870.0</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$362.1</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$724.2</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$3,621.2</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$7,242.4</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$14,484.8</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Professional Margin</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$136.5</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$273.0</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$1,365.0</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$2,730.0</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$5,460.1</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Revenue</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$156.1</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$312.3</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$1,561.3</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$3,122.7</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$6,245.4</a:t>
                      </a:r>
                    </a:p>
                  </a:txBody>
                  <a:tcPr marL="64008" marR="64008"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Margin</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$89.8</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$179.5</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$897.5</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$1,795.1</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$3,590.1</a:t>
                      </a:r>
                    </a:p>
                  </a:txBody>
                  <a:tcPr marL="64008" marR="64008"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747327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29</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4195427576"/>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30</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31</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351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32</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45771</TotalTime>
  <Words>4663</Words>
  <Application>Microsoft Office PowerPoint</Application>
  <PresentationFormat>Widescreen</PresentationFormat>
  <Paragraphs>1327</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 Narrow</vt:lpstr>
      <vt:lpstr>Arial</vt:lpstr>
      <vt:lpstr>Calibri</vt:lpstr>
      <vt:lpstr>Calibri Light</vt:lpstr>
      <vt:lpstr>Century Gothic</vt:lpstr>
      <vt:lpstr>Wingdings</vt:lpstr>
      <vt:lpstr>Office Theme</vt:lpstr>
      <vt:lpstr>PowerPoint Presentation</vt:lpstr>
      <vt:lpstr>Market Leader in Private-Labeled Plans</vt:lpstr>
      <vt:lpstr>Key Incentive Plan (KIP) Profit Generation Opportunities for CarePoint Health</vt:lpstr>
      <vt:lpstr>Estimated Financial Returns and Assumptions</vt:lpstr>
      <vt:lpstr>SINGLE YEAR SUMMARY</vt:lpstr>
      <vt:lpstr>FOUR-YEAR PROJECTIONS</vt:lpstr>
      <vt:lpstr>Significant Opportunity for Plan Growth Researched for Union, Essex and Hudson Counties*</vt:lpstr>
      <vt:lpstr>the missing piece to population health success</vt:lpstr>
      <vt:lpstr>PowerPoint Presentation</vt:lpstr>
      <vt:lpstr>Transparent PBM Integration </vt:lpstr>
      <vt:lpstr>STOP-LOSS INSURANCE</vt:lpstr>
      <vt:lpstr>KIP  PROGRAM MARKETING  &amp; SALES</vt:lpstr>
      <vt:lpstr>Complete Sales Distribution System</vt:lpstr>
      <vt:lpstr>Complete Marketing System</vt:lpstr>
      <vt:lpstr>FINANCIAL PROJECTIONS &amp; ASSUMPTIONS:  ESTIMATING CAREPOINT MARKET SHARE AND MARGIN</vt:lpstr>
      <vt:lpstr>Estimation of CarePoint’s 2021 Inpatient Payer Mix</vt:lpstr>
      <vt:lpstr>Estimation of Margin for Commercial vs. Government Pay</vt:lpstr>
      <vt:lpstr>Estimating Market Share</vt:lpstr>
      <vt:lpstr>PowerPoint Presentation</vt:lpstr>
      <vt:lpstr>FINANCIAL PROJECTIONS &amp; ASSUMPTIONS:  ESTIMATING KIP RETURNS</vt:lpstr>
      <vt:lpstr>Estimating PMPY Spend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PRE-IMPLEMENTATION</vt:lpstr>
      <vt:lpstr>IMPLEMENTATION</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109</cp:revision>
  <cp:lastPrinted>2023-07-13T10:24:43Z</cp:lastPrinted>
  <dcterms:created xsi:type="dcterms:W3CDTF">2021-01-20T14:12:11Z</dcterms:created>
  <dcterms:modified xsi:type="dcterms:W3CDTF">2024-08-13T05:32:48Z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