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3"/>
  </p:notesMasterIdLst>
  <p:sldIdLst>
    <p:sldId id="488" r:id="rId5"/>
    <p:sldId id="549" r:id="rId6"/>
    <p:sldId id="487" r:id="rId7"/>
    <p:sldId id="518" r:id="rId8"/>
    <p:sldId id="520" r:id="rId9"/>
    <p:sldId id="550" r:id="rId10"/>
    <p:sldId id="551" r:id="rId11"/>
    <p:sldId id="519" r:id="rId12"/>
    <p:sldId id="548" r:id="rId13"/>
    <p:sldId id="521" r:id="rId14"/>
    <p:sldId id="456" r:id="rId15"/>
    <p:sldId id="489" r:id="rId16"/>
    <p:sldId id="499" r:id="rId17"/>
    <p:sldId id="552" r:id="rId18"/>
    <p:sldId id="553" r:id="rId19"/>
    <p:sldId id="461" r:id="rId20"/>
    <p:sldId id="462" r:id="rId21"/>
    <p:sldId id="469" r:id="rId22"/>
    <p:sldId id="336" r:id="rId23"/>
    <p:sldId id="337" r:id="rId24"/>
    <p:sldId id="501" r:id="rId25"/>
    <p:sldId id="524" r:id="rId26"/>
    <p:sldId id="525" r:id="rId27"/>
    <p:sldId id="527" r:id="rId28"/>
    <p:sldId id="531" r:id="rId29"/>
    <p:sldId id="546" r:id="rId30"/>
    <p:sldId id="547" r:id="rId31"/>
    <p:sldId id="526" r:id="rId32"/>
    <p:sldId id="544" r:id="rId33"/>
    <p:sldId id="545" r:id="rId34"/>
    <p:sldId id="543" r:id="rId35"/>
    <p:sldId id="256" r:id="rId36"/>
    <p:sldId id="498" r:id="rId37"/>
    <p:sldId id="325" r:id="rId38"/>
    <p:sldId id="326" r:id="rId39"/>
    <p:sldId id="491" r:id="rId40"/>
    <p:sldId id="454" r:id="rId41"/>
    <p:sldId id="472" r:id="rId42"/>
  </p:sldIdLst>
  <p:sldSz cx="12192000" cy="6858000"/>
  <p:notesSz cx="7315200" cy="9601200"/>
  <p:custDataLst>
    <p:tags r:id="rId4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CE5"/>
    <a:srgbClr val="01A050"/>
    <a:srgbClr val="30589B"/>
    <a:srgbClr val="6A8C98"/>
    <a:srgbClr val="59CAE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2C9DCC-A796-4DA2-8F35-E9E27F94BB36}" v="22" dt="2024-07-23T19:48:59.00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852"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E62C9DCC-A796-4DA2-8F35-E9E27F94BB36}"/>
    <pc:docChg chg="undo custSel addSld delSld modSld sldOrd delMainMaster">
      <pc:chgData name="Taylor Davis" userId="5c9e72a0-c39f-4aa1-9d7d-64125e78cbe6" providerId="ADAL" clId="{E62C9DCC-A796-4DA2-8F35-E9E27F94BB36}" dt="2024-07-23T19:52:56.249" v="1044" actId="20577"/>
      <pc:docMkLst>
        <pc:docMk/>
      </pc:docMkLst>
      <pc:sldChg chg="ord">
        <pc:chgData name="Taylor Davis" userId="5c9e72a0-c39f-4aa1-9d7d-64125e78cbe6" providerId="ADAL" clId="{E62C9DCC-A796-4DA2-8F35-E9E27F94BB36}" dt="2024-07-23T19:52:02.727" v="1041"/>
        <pc:sldMkLst>
          <pc:docMk/>
          <pc:sldMk cId="211951504" sldId="325"/>
        </pc:sldMkLst>
      </pc:sldChg>
      <pc:sldChg chg="ord">
        <pc:chgData name="Taylor Davis" userId="5c9e72a0-c39f-4aa1-9d7d-64125e78cbe6" providerId="ADAL" clId="{E62C9DCC-A796-4DA2-8F35-E9E27F94BB36}" dt="2024-07-23T19:51:20.508" v="1033"/>
        <pc:sldMkLst>
          <pc:docMk/>
          <pc:sldMk cId="619324413" sldId="336"/>
        </pc:sldMkLst>
      </pc:sldChg>
      <pc:sldChg chg="ord">
        <pc:chgData name="Taylor Davis" userId="5c9e72a0-c39f-4aa1-9d7d-64125e78cbe6" providerId="ADAL" clId="{E62C9DCC-A796-4DA2-8F35-E9E27F94BB36}" dt="2024-07-23T19:51:26.595" v="1035"/>
        <pc:sldMkLst>
          <pc:docMk/>
          <pc:sldMk cId="420959824" sldId="337"/>
        </pc:sldMkLst>
      </pc:sldChg>
      <pc:sldChg chg="del">
        <pc:chgData name="Taylor Davis" userId="5c9e72a0-c39f-4aa1-9d7d-64125e78cbe6" providerId="ADAL" clId="{E62C9DCC-A796-4DA2-8F35-E9E27F94BB36}" dt="2024-07-23T19:52:24.465" v="1042" actId="47"/>
        <pc:sldMkLst>
          <pc:docMk/>
          <pc:sldMk cId="3174320140" sldId="445"/>
        </pc:sldMkLst>
      </pc:sldChg>
      <pc:sldChg chg="del">
        <pc:chgData name="Taylor Davis" userId="5c9e72a0-c39f-4aa1-9d7d-64125e78cbe6" providerId="ADAL" clId="{E62C9DCC-A796-4DA2-8F35-E9E27F94BB36}" dt="2024-07-23T19:52:24.465" v="1042" actId="47"/>
        <pc:sldMkLst>
          <pc:docMk/>
          <pc:sldMk cId="2984433661" sldId="446"/>
        </pc:sldMkLst>
      </pc:sldChg>
      <pc:sldChg chg="del">
        <pc:chgData name="Taylor Davis" userId="5c9e72a0-c39f-4aa1-9d7d-64125e78cbe6" providerId="ADAL" clId="{E62C9DCC-A796-4DA2-8F35-E9E27F94BB36}" dt="2024-07-23T19:48:08.444" v="888" actId="47"/>
        <pc:sldMkLst>
          <pc:docMk/>
          <pc:sldMk cId="1944836368" sldId="450"/>
        </pc:sldMkLst>
      </pc:sldChg>
      <pc:sldChg chg="del">
        <pc:chgData name="Taylor Davis" userId="5c9e72a0-c39f-4aa1-9d7d-64125e78cbe6" providerId="ADAL" clId="{E62C9DCC-A796-4DA2-8F35-E9E27F94BB36}" dt="2024-07-23T19:48:14.089" v="889" actId="47"/>
        <pc:sldMkLst>
          <pc:docMk/>
          <pc:sldMk cId="3736780529" sldId="451"/>
        </pc:sldMkLst>
      </pc:sldChg>
      <pc:sldChg chg="del">
        <pc:chgData name="Taylor Davis" userId="5c9e72a0-c39f-4aa1-9d7d-64125e78cbe6" providerId="ADAL" clId="{E62C9DCC-A796-4DA2-8F35-E9E27F94BB36}" dt="2024-07-23T19:48:15.166" v="890" actId="47"/>
        <pc:sldMkLst>
          <pc:docMk/>
          <pc:sldMk cId="4059548579" sldId="452"/>
        </pc:sldMkLst>
      </pc:sldChg>
      <pc:sldChg chg="ord">
        <pc:chgData name="Taylor Davis" userId="5c9e72a0-c39f-4aa1-9d7d-64125e78cbe6" providerId="ADAL" clId="{E62C9DCC-A796-4DA2-8F35-E9E27F94BB36}" dt="2024-07-23T19:51:51.972" v="1039"/>
        <pc:sldMkLst>
          <pc:docMk/>
          <pc:sldMk cId="1919135106" sldId="454"/>
        </pc:sldMkLst>
      </pc:sldChg>
      <pc:sldChg chg="del">
        <pc:chgData name="Taylor Davis" userId="5c9e72a0-c39f-4aa1-9d7d-64125e78cbe6" providerId="ADAL" clId="{E62C9DCC-A796-4DA2-8F35-E9E27F94BB36}" dt="2024-07-23T19:48:47.303" v="896" actId="47"/>
        <pc:sldMkLst>
          <pc:docMk/>
          <pc:sldMk cId="3613880021" sldId="455"/>
        </pc:sldMkLst>
      </pc:sldChg>
      <pc:sldChg chg="ord">
        <pc:chgData name="Taylor Davis" userId="5c9e72a0-c39f-4aa1-9d7d-64125e78cbe6" providerId="ADAL" clId="{E62C9DCC-A796-4DA2-8F35-E9E27F94BB36}" dt="2024-07-23T19:47:54.470" v="887"/>
        <pc:sldMkLst>
          <pc:docMk/>
          <pc:sldMk cId="1700621358" sldId="456"/>
        </pc:sldMkLst>
      </pc:sldChg>
      <pc:sldChg chg="del">
        <pc:chgData name="Taylor Davis" userId="5c9e72a0-c39f-4aa1-9d7d-64125e78cbe6" providerId="ADAL" clId="{E62C9DCC-A796-4DA2-8F35-E9E27F94BB36}" dt="2024-07-23T19:52:24.465" v="1042" actId="47"/>
        <pc:sldMkLst>
          <pc:docMk/>
          <pc:sldMk cId="3958060990" sldId="458"/>
        </pc:sldMkLst>
      </pc:sldChg>
      <pc:sldChg chg="ord">
        <pc:chgData name="Taylor Davis" userId="5c9e72a0-c39f-4aa1-9d7d-64125e78cbe6" providerId="ADAL" clId="{E62C9DCC-A796-4DA2-8F35-E9E27F94BB36}" dt="2024-07-23T19:50:46.028" v="1027"/>
        <pc:sldMkLst>
          <pc:docMk/>
          <pc:sldMk cId="902706633" sldId="461"/>
        </pc:sldMkLst>
      </pc:sldChg>
      <pc:sldChg chg="ord">
        <pc:chgData name="Taylor Davis" userId="5c9e72a0-c39f-4aa1-9d7d-64125e78cbe6" providerId="ADAL" clId="{E62C9DCC-A796-4DA2-8F35-E9E27F94BB36}" dt="2024-07-23T19:50:52.101" v="1029"/>
        <pc:sldMkLst>
          <pc:docMk/>
          <pc:sldMk cId="3804806607" sldId="462"/>
        </pc:sldMkLst>
      </pc:sldChg>
      <pc:sldChg chg="del">
        <pc:chgData name="Taylor Davis" userId="5c9e72a0-c39f-4aa1-9d7d-64125e78cbe6" providerId="ADAL" clId="{E62C9DCC-A796-4DA2-8F35-E9E27F94BB36}" dt="2024-07-23T19:52:24.465" v="1042" actId="47"/>
        <pc:sldMkLst>
          <pc:docMk/>
          <pc:sldMk cId="1714126014" sldId="466"/>
        </pc:sldMkLst>
      </pc:sldChg>
      <pc:sldChg chg="ord">
        <pc:chgData name="Taylor Davis" userId="5c9e72a0-c39f-4aa1-9d7d-64125e78cbe6" providerId="ADAL" clId="{E62C9DCC-A796-4DA2-8F35-E9E27F94BB36}" dt="2024-07-23T19:51:13.600" v="1031"/>
        <pc:sldMkLst>
          <pc:docMk/>
          <pc:sldMk cId="2680122054" sldId="469"/>
        </pc:sldMkLst>
      </pc:sldChg>
      <pc:sldChg chg="del">
        <pc:chgData name="Taylor Davis" userId="5c9e72a0-c39f-4aa1-9d7d-64125e78cbe6" providerId="ADAL" clId="{E62C9DCC-A796-4DA2-8F35-E9E27F94BB36}" dt="2024-07-23T19:52:24.465" v="1042" actId="47"/>
        <pc:sldMkLst>
          <pc:docMk/>
          <pc:sldMk cId="1932818507" sldId="470"/>
        </pc:sldMkLst>
      </pc:sldChg>
      <pc:sldChg chg="modSp mod">
        <pc:chgData name="Taylor Davis" userId="5c9e72a0-c39f-4aa1-9d7d-64125e78cbe6" providerId="ADAL" clId="{E62C9DCC-A796-4DA2-8F35-E9E27F94BB36}" dt="2024-07-23T19:52:56.249" v="1044" actId="20577"/>
        <pc:sldMkLst>
          <pc:docMk/>
          <pc:sldMk cId="3100464503" sldId="488"/>
        </pc:sldMkLst>
        <pc:spChg chg="mod">
          <ac:chgData name="Taylor Davis" userId="5c9e72a0-c39f-4aa1-9d7d-64125e78cbe6" providerId="ADAL" clId="{E62C9DCC-A796-4DA2-8F35-E9E27F94BB36}" dt="2024-07-23T19:52:56.249" v="1044" actId="20577"/>
          <ac:spMkLst>
            <pc:docMk/>
            <pc:sldMk cId="3100464503" sldId="488"/>
            <ac:spMk id="10" creationId="{B981BBA2-A3ED-6F7B-693B-880E5B031B26}"/>
          </ac:spMkLst>
        </pc:spChg>
      </pc:sldChg>
      <pc:sldChg chg="ord">
        <pc:chgData name="Taylor Davis" userId="5c9e72a0-c39f-4aa1-9d7d-64125e78cbe6" providerId="ADAL" clId="{E62C9DCC-A796-4DA2-8F35-E9E27F94BB36}" dt="2024-07-23T19:48:37.904" v="895"/>
        <pc:sldMkLst>
          <pc:docMk/>
          <pc:sldMk cId="3325436177" sldId="489"/>
        </pc:sldMkLst>
      </pc:sldChg>
      <pc:sldChg chg="del">
        <pc:chgData name="Taylor Davis" userId="5c9e72a0-c39f-4aa1-9d7d-64125e78cbe6" providerId="ADAL" clId="{E62C9DCC-A796-4DA2-8F35-E9E27F94BB36}" dt="2024-07-23T19:48:48.889" v="897" actId="47"/>
        <pc:sldMkLst>
          <pc:docMk/>
          <pc:sldMk cId="1297738255" sldId="492"/>
        </pc:sldMkLst>
      </pc:sldChg>
      <pc:sldChg chg="del">
        <pc:chgData name="Taylor Davis" userId="5c9e72a0-c39f-4aa1-9d7d-64125e78cbe6" providerId="ADAL" clId="{E62C9DCC-A796-4DA2-8F35-E9E27F94BB36}" dt="2024-07-23T19:45:27.522" v="851" actId="47"/>
        <pc:sldMkLst>
          <pc:docMk/>
          <pc:sldMk cId="1259040252" sldId="495"/>
        </pc:sldMkLst>
      </pc:sldChg>
      <pc:sldChg chg="del">
        <pc:chgData name="Taylor Davis" userId="5c9e72a0-c39f-4aa1-9d7d-64125e78cbe6" providerId="ADAL" clId="{E62C9DCC-A796-4DA2-8F35-E9E27F94BB36}" dt="2024-07-23T19:48:17.361" v="891" actId="47"/>
        <pc:sldMkLst>
          <pc:docMk/>
          <pc:sldMk cId="785295751" sldId="497"/>
        </pc:sldMkLst>
      </pc:sldChg>
      <pc:sldChg chg="ord">
        <pc:chgData name="Taylor Davis" userId="5c9e72a0-c39f-4aa1-9d7d-64125e78cbe6" providerId="ADAL" clId="{E62C9DCC-A796-4DA2-8F35-E9E27F94BB36}" dt="2024-07-23T19:51:50.047" v="1037"/>
        <pc:sldMkLst>
          <pc:docMk/>
          <pc:sldMk cId="3144192130" sldId="498"/>
        </pc:sldMkLst>
      </pc:sldChg>
      <pc:sldChg chg="modSp del mod ord">
        <pc:chgData name="Taylor Davis" userId="5c9e72a0-c39f-4aa1-9d7d-64125e78cbe6" providerId="ADAL" clId="{E62C9DCC-A796-4DA2-8F35-E9E27F94BB36}" dt="2024-07-19T15:09:16.510" v="76" actId="47"/>
        <pc:sldMkLst>
          <pc:docMk/>
          <pc:sldMk cId="2283730992" sldId="513"/>
        </pc:sldMkLst>
        <pc:spChg chg="mod">
          <ac:chgData name="Taylor Davis" userId="5c9e72a0-c39f-4aa1-9d7d-64125e78cbe6" providerId="ADAL" clId="{E62C9DCC-A796-4DA2-8F35-E9E27F94BB36}" dt="2024-07-19T15:08:27.799" v="41" actId="20577"/>
          <ac:spMkLst>
            <pc:docMk/>
            <pc:sldMk cId="2283730992" sldId="513"/>
            <ac:spMk id="2" creationId="{949BBB1F-796B-4271-AAA8-C6BA52CFC027}"/>
          </ac:spMkLst>
        </pc:spChg>
      </pc:sldChg>
      <pc:sldChg chg="del">
        <pc:chgData name="Taylor Davis" userId="5c9e72a0-c39f-4aa1-9d7d-64125e78cbe6" providerId="ADAL" clId="{E62C9DCC-A796-4DA2-8F35-E9E27F94BB36}" dt="2024-07-23T19:52:24.465" v="1042" actId="47"/>
        <pc:sldMkLst>
          <pc:docMk/>
          <pc:sldMk cId="3680080401" sldId="517"/>
        </pc:sldMkLst>
      </pc:sldChg>
      <pc:sldChg chg="addSp delSp modSp mod ord">
        <pc:chgData name="Taylor Davis" userId="5c9e72a0-c39f-4aa1-9d7d-64125e78cbe6" providerId="ADAL" clId="{E62C9DCC-A796-4DA2-8F35-E9E27F94BB36}" dt="2024-07-23T19:47:04.034" v="879"/>
        <pc:sldMkLst>
          <pc:docMk/>
          <pc:sldMk cId="1206251189" sldId="519"/>
        </pc:sldMkLst>
        <pc:spChg chg="add mod">
          <ac:chgData name="Taylor Davis" userId="5c9e72a0-c39f-4aa1-9d7d-64125e78cbe6" providerId="ADAL" clId="{E62C9DCC-A796-4DA2-8F35-E9E27F94BB36}" dt="2024-07-23T19:47:04.034" v="879"/>
          <ac:spMkLst>
            <pc:docMk/>
            <pc:sldMk cId="1206251189" sldId="519"/>
            <ac:spMk id="2" creationId="{547B8696-A390-28E0-122D-E37FA8E0D3A9}"/>
          </ac:spMkLst>
        </pc:spChg>
        <pc:spChg chg="add del">
          <ac:chgData name="Taylor Davis" userId="5c9e72a0-c39f-4aa1-9d7d-64125e78cbe6" providerId="ADAL" clId="{E62C9DCC-A796-4DA2-8F35-E9E27F94BB36}" dt="2024-07-23T19:46:57.554" v="877" actId="478"/>
          <ac:spMkLst>
            <pc:docMk/>
            <pc:sldMk cId="1206251189" sldId="519"/>
            <ac:spMk id="6" creationId="{3F864769-7530-1C3E-AA58-26FAB6C19A22}"/>
          </ac:spMkLst>
        </pc:spChg>
        <pc:spChg chg="del">
          <ac:chgData name="Taylor Davis" userId="5c9e72a0-c39f-4aa1-9d7d-64125e78cbe6" providerId="ADAL" clId="{E62C9DCC-A796-4DA2-8F35-E9E27F94BB36}" dt="2024-07-23T19:47:01.747" v="878" actId="478"/>
          <ac:spMkLst>
            <pc:docMk/>
            <pc:sldMk cId="1206251189" sldId="519"/>
            <ac:spMk id="7" creationId="{704ED7B9-92F8-AFD1-B5A1-41759F44ED98}"/>
          </ac:spMkLst>
        </pc:spChg>
      </pc:sldChg>
      <pc:sldChg chg="addSp delSp modSp mod">
        <pc:chgData name="Taylor Davis" userId="5c9e72a0-c39f-4aa1-9d7d-64125e78cbe6" providerId="ADAL" clId="{E62C9DCC-A796-4DA2-8F35-E9E27F94BB36}" dt="2024-07-23T19:45:52.350" v="854"/>
        <pc:sldMkLst>
          <pc:docMk/>
          <pc:sldMk cId="2103269747" sldId="520"/>
        </pc:sldMkLst>
        <pc:spChg chg="add mod">
          <ac:chgData name="Taylor Davis" userId="5c9e72a0-c39f-4aa1-9d7d-64125e78cbe6" providerId="ADAL" clId="{E62C9DCC-A796-4DA2-8F35-E9E27F94BB36}" dt="2024-07-23T19:45:52.350" v="854"/>
          <ac:spMkLst>
            <pc:docMk/>
            <pc:sldMk cId="2103269747" sldId="520"/>
            <ac:spMk id="2" creationId="{C836188A-EFBC-8764-E841-9B9BD8AA4AA1}"/>
          </ac:spMkLst>
        </pc:spChg>
        <pc:spChg chg="mod">
          <ac:chgData name="Taylor Davis" userId="5c9e72a0-c39f-4aa1-9d7d-64125e78cbe6" providerId="ADAL" clId="{E62C9DCC-A796-4DA2-8F35-E9E27F94BB36}" dt="2024-07-23T19:45:48.226" v="853" actId="1076"/>
          <ac:spMkLst>
            <pc:docMk/>
            <pc:sldMk cId="2103269747" sldId="520"/>
            <ac:spMk id="8" creationId="{8D335AB1-AB15-7067-B3BD-167BDAD9B16A}"/>
          </ac:spMkLst>
        </pc:spChg>
        <pc:spChg chg="del">
          <ac:chgData name="Taylor Davis" userId="5c9e72a0-c39f-4aa1-9d7d-64125e78cbe6" providerId="ADAL" clId="{E62C9DCC-A796-4DA2-8F35-E9E27F94BB36}" dt="2024-07-23T19:45:40.753" v="852" actId="478"/>
          <ac:spMkLst>
            <pc:docMk/>
            <pc:sldMk cId="2103269747" sldId="520"/>
            <ac:spMk id="9" creationId="{BB2B5697-E648-40EC-88C5-97A77999C18D}"/>
          </ac:spMkLst>
        </pc:spChg>
        <pc:spChg chg="mod">
          <ac:chgData name="Taylor Davis" userId="5c9e72a0-c39f-4aa1-9d7d-64125e78cbe6" providerId="ADAL" clId="{E62C9DCC-A796-4DA2-8F35-E9E27F94BB36}" dt="2024-07-23T19:45:48.226" v="853" actId="1076"/>
          <ac:spMkLst>
            <pc:docMk/>
            <pc:sldMk cId="2103269747" sldId="520"/>
            <ac:spMk id="10" creationId="{75CE525B-6A36-CBFD-DAEC-08C2DCCA890E}"/>
          </ac:spMkLst>
        </pc:spChg>
        <pc:spChg chg="mod">
          <ac:chgData name="Taylor Davis" userId="5c9e72a0-c39f-4aa1-9d7d-64125e78cbe6" providerId="ADAL" clId="{E62C9DCC-A796-4DA2-8F35-E9E27F94BB36}" dt="2024-07-23T19:45:48.226" v="853" actId="1076"/>
          <ac:spMkLst>
            <pc:docMk/>
            <pc:sldMk cId="2103269747" sldId="520"/>
            <ac:spMk id="18" creationId="{5F2996B7-8D0A-1EEE-8045-797310EFC387}"/>
          </ac:spMkLst>
        </pc:spChg>
        <pc:spChg chg="mod">
          <ac:chgData name="Taylor Davis" userId="5c9e72a0-c39f-4aa1-9d7d-64125e78cbe6" providerId="ADAL" clId="{E62C9DCC-A796-4DA2-8F35-E9E27F94BB36}" dt="2024-07-23T19:45:48.226" v="853" actId="1076"/>
          <ac:spMkLst>
            <pc:docMk/>
            <pc:sldMk cId="2103269747" sldId="520"/>
            <ac:spMk id="19" creationId="{420D1CFD-2433-B308-F247-7CAA7C100A3E}"/>
          </ac:spMkLst>
        </pc:spChg>
        <pc:spChg chg="mod">
          <ac:chgData name="Taylor Davis" userId="5c9e72a0-c39f-4aa1-9d7d-64125e78cbe6" providerId="ADAL" clId="{E62C9DCC-A796-4DA2-8F35-E9E27F94BB36}" dt="2024-07-23T19:45:48.226" v="853" actId="1076"/>
          <ac:spMkLst>
            <pc:docMk/>
            <pc:sldMk cId="2103269747" sldId="520"/>
            <ac:spMk id="20" creationId="{93FC6F23-9DB4-CE0C-FCDC-AE4293BB605A}"/>
          </ac:spMkLst>
        </pc:spChg>
        <pc:spChg chg="mod">
          <ac:chgData name="Taylor Davis" userId="5c9e72a0-c39f-4aa1-9d7d-64125e78cbe6" providerId="ADAL" clId="{E62C9DCC-A796-4DA2-8F35-E9E27F94BB36}" dt="2024-07-23T19:45:48.226" v="853" actId="1076"/>
          <ac:spMkLst>
            <pc:docMk/>
            <pc:sldMk cId="2103269747" sldId="520"/>
            <ac:spMk id="21" creationId="{BA085909-3DBA-1031-1C78-985B4CD8D4FC}"/>
          </ac:spMkLst>
        </pc:spChg>
        <pc:spChg chg="mod">
          <ac:chgData name="Taylor Davis" userId="5c9e72a0-c39f-4aa1-9d7d-64125e78cbe6" providerId="ADAL" clId="{E62C9DCC-A796-4DA2-8F35-E9E27F94BB36}" dt="2024-07-23T19:45:48.226" v="853" actId="1076"/>
          <ac:spMkLst>
            <pc:docMk/>
            <pc:sldMk cId="2103269747" sldId="520"/>
            <ac:spMk id="24" creationId="{25DD61BC-D896-8689-4F94-1C5E1AD8A77C}"/>
          </ac:spMkLst>
        </pc:spChg>
        <pc:spChg chg="mod">
          <ac:chgData name="Taylor Davis" userId="5c9e72a0-c39f-4aa1-9d7d-64125e78cbe6" providerId="ADAL" clId="{E62C9DCC-A796-4DA2-8F35-E9E27F94BB36}" dt="2024-07-23T19:45:48.226" v="853" actId="1076"/>
          <ac:spMkLst>
            <pc:docMk/>
            <pc:sldMk cId="2103269747" sldId="520"/>
            <ac:spMk id="25" creationId="{46AC806E-BA4D-AF7F-5FBB-58FA9ECC5E79}"/>
          </ac:spMkLst>
        </pc:spChg>
        <pc:spChg chg="mod">
          <ac:chgData name="Taylor Davis" userId="5c9e72a0-c39f-4aa1-9d7d-64125e78cbe6" providerId="ADAL" clId="{E62C9DCC-A796-4DA2-8F35-E9E27F94BB36}" dt="2024-07-23T19:45:48.226" v="853" actId="1076"/>
          <ac:spMkLst>
            <pc:docMk/>
            <pc:sldMk cId="2103269747" sldId="520"/>
            <ac:spMk id="26" creationId="{F58DA010-867A-9491-969D-99ECC30A6783}"/>
          </ac:spMkLst>
        </pc:spChg>
        <pc:spChg chg="mod">
          <ac:chgData name="Taylor Davis" userId="5c9e72a0-c39f-4aa1-9d7d-64125e78cbe6" providerId="ADAL" clId="{E62C9DCC-A796-4DA2-8F35-E9E27F94BB36}" dt="2024-07-23T19:45:48.226" v="853" actId="1076"/>
          <ac:spMkLst>
            <pc:docMk/>
            <pc:sldMk cId="2103269747" sldId="520"/>
            <ac:spMk id="27" creationId="{78277868-FEA1-C248-ED39-1002FE8ADFE4}"/>
          </ac:spMkLst>
        </pc:spChg>
        <pc:spChg chg="mod">
          <ac:chgData name="Taylor Davis" userId="5c9e72a0-c39f-4aa1-9d7d-64125e78cbe6" providerId="ADAL" clId="{E62C9DCC-A796-4DA2-8F35-E9E27F94BB36}" dt="2024-07-23T19:45:48.226" v="853" actId="1076"/>
          <ac:spMkLst>
            <pc:docMk/>
            <pc:sldMk cId="2103269747" sldId="520"/>
            <ac:spMk id="28" creationId="{8D2E8DAF-1D68-E498-59FF-722789499308}"/>
          </ac:spMkLst>
        </pc:spChg>
        <pc:spChg chg="mod">
          <ac:chgData name="Taylor Davis" userId="5c9e72a0-c39f-4aa1-9d7d-64125e78cbe6" providerId="ADAL" clId="{E62C9DCC-A796-4DA2-8F35-E9E27F94BB36}" dt="2024-07-23T19:45:48.226" v="853" actId="1076"/>
          <ac:spMkLst>
            <pc:docMk/>
            <pc:sldMk cId="2103269747" sldId="520"/>
            <ac:spMk id="29" creationId="{8544170D-73AC-E85A-8695-7AC58167EAA4}"/>
          </ac:spMkLst>
        </pc:spChg>
        <pc:spChg chg="mod">
          <ac:chgData name="Taylor Davis" userId="5c9e72a0-c39f-4aa1-9d7d-64125e78cbe6" providerId="ADAL" clId="{E62C9DCC-A796-4DA2-8F35-E9E27F94BB36}" dt="2024-07-23T19:45:48.226" v="853" actId="1076"/>
          <ac:spMkLst>
            <pc:docMk/>
            <pc:sldMk cId="2103269747" sldId="520"/>
            <ac:spMk id="30" creationId="{6929D0B6-560E-A26C-A57F-320C6F7E2095}"/>
          </ac:spMkLst>
        </pc:spChg>
        <pc:spChg chg="mod">
          <ac:chgData name="Taylor Davis" userId="5c9e72a0-c39f-4aa1-9d7d-64125e78cbe6" providerId="ADAL" clId="{E62C9DCC-A796-4DA2-8F35-E9E27F94BB36}" dt="2024-07-23T19:45:48.226" v="853" actId="1076"/>
          <ac:spMkLst>
            <pc:docMk/>
            <pc:sldMk cId="2103269747" sldId="520"/>
            <ac:spMk id="31" creationId="{CDDEEC9E-0778-EDDC-EEB1-1D8F9A97B0BD}"/>
          </ac:spMkLst>
        </pc:spChg>
        <pc:spChg chg="mod">
          <ac:chgData name="Taylor Davis" userId="5c9e72a0-c39f-4aa1-9d7d-64125e78cbe6" providerId="ADAL" clId="{E62C9DCC-A796-4DA2-8F35-E9E27F94BB36}" dt="2024-07-23T19:45:48.226" v="853" actId="1076"/>
          <ac:spMkLst>
            <pc:docMk/>
            <pc:sldMk cId="2103269747" sldId="520"/>
            <ac:spMk id="33" creationId="{5553759E-194C-3BE9-0812-4BDD6E106166}"/>
          </ac:spMkLst>
        </pc:spChg>
        <pc:picChg chg="mod">
          <ac:chgData name="Taylor Davis" userId="5c9e72a0-c39f-4aa1-9d7d-64125e78cbe6" providerId="ADAL" clId="{E62C9DCC-A796-4DA2-8F35-E9E27F94BB36}" dt="2024-07-23T19:45:48.226" v="853" actId="1076"/>
          <ac:picMkLst>
            <pc:docMk/>
            <pc:sldMk cId="2103269747" sldId="520"/>
            <ac:picMk id="6" creationId="{CCDBD195-A044-D3B6-D537-EA062F6F6005}"/>
          </ac:picMkLst>
        </pc:picChg>
        <pc:picChg chg="mod">
          <ac:chgData name="Taylor Davis" userId="5c9e72a0-c39f-4aa1-9d7d-64125e78cbe6" providerId="ADAL" clId="{E62C9DCC-A796-4DA2-8F35-E9E27F94BB36}" dt="2024-07-23T19:45:48.226" v="853" actId="1076"/>
          <ac:picMkLst>
            <pc:docMk/>
            <pc:sldMk cId="2103269747" sldId="520"/>
            <ac:picMk id="1026" creationId="{FF7B095B-1D77-BE07-C43A-585663A996FB}"/>
          </ac:picMkLst>
        </pc:picChg>
        <pc:picChg chg="mod">
          <ac:chgData name="Taylor Davis" userId="5c9e72a0-c39f-4aa1-9d7d-64125e78cbe6" providerId="ADAL" clId="{E62C9DCC-A796-4DA2-8F35-E9E27F94BB36}" dt="2024-07-23T19:45:48.226" v="853" actId="1076"/>
          <ac:picMkLst>
            <pc:docMk/>
            <pc:sldMk cId="2103269747" sldId="520"/>
            <ac:picMk id="2050" creationId="{117577AE-8F82-2A0F-1540-500008EECC4E}"/>
          </ac:picMkLst>
        </pc:picChg>
      </pc:sldChg>
      <pc:sldChg chg="add del">
        <pc:chgData name="Taylor Davis" userId="5c9e72a0-c39f-4aa1-9d7d-64125e78cbe6" providerId="ADAL" clId="{E62C9DCC-A796-4DA2-8F35-E9E27F94BB36}" dt="2024-07-23T19:47:23.125" v="884" actId="47"/>
        <pc:sldMkLst>
          <pc:docMk/>
          <pc:sldMk cId="500461553" sldId="521"/>
        </pc:sldMkLst>
      </pc:sldChg>
      <pc:sldChg chg="modSp mod">
        <pc:chgData name="Taylor Davis" userId="5c9e72a0-c39f-4aa1-9d7d-64125e78cbe6" providerId="ADAL" clId="{E62C9DCC-A796-4DA2-8F35-E9E27F94BB36}" dt="2024-07-19T15:20:56.620" v="849" actId="207"/>
        <pc:sldMkLst>
          <pc:docMk/>
          <pc:sldMk cId="1147401429" sldId="524"/>
        </pc:sldMkLst>
        <pc:graphicFrameChg chg="modGraphic">
          <ac:chgData name="Taylor Davis" userId="5c9e72a0-c39f-4aa1-9d7d-64125e78cbe6" providerId="ADAL" clId="{E62C9DCC-A796-4DA2-8F35-E9E27F94BB36}" dt="2024-07-19T15:20:56.620" v="849" actId="207"/>
          <ac:graphicFrameMkLst>
            <pc:docMk/>
            <pc:sldMk cId="1147401429" sldId="524"/>
            <ac:graphicFrameMk id="8" creationId="{713AD275-CC86-F2BC-8594-AECC0B66117F}"/>
          </ac:graphicFrameMkLst>
        </pc:graphicFrameChg>
      </pc:sldChg>
      <pc:sldChg chg="modSp mod">
        <pc:chgData name="Taylor Davis" userId="5c9e72a0-c39f-4aa1-9d7d-64125e78cbe6" providerId="ADAL" clId="{E62C9DCC-A796-4DA2-8F35-E9E27F94BB36}" dt="2024-07-19T00:51:08.968" v="12" actId="20577"/>
        <pc:sldMkLst>
          <pc:docMk/>
          <pc:sldMk cId="2977719417" sldId="526"/>
        </pc:sldMkLst>
        <pc:graphicFrameChg chg="mod modGraphic">
          <ac:chgData name="Taylor Davis" userId="5c9e72a0-c39f-4aa1-9d7d-64125e78cbe6" providerId="ADAL" clId="{E62C9DCC-A796-4DA2-8F35-E9E27F94BB36}" dt="2024-07-19T00:51:08.968" v="12" actId="20577"/>
          <ac:graphicFrameMkLst>
            <pc:docMk/>
            <pc:sldMk cId="2977719417" sldId="526"/>
            <ac:graphicFrameMk id="15" creationId="{FF3ACACB-7F38-7EAA-4BDF-1A816CA00AAE}"/>
          </ac:graphicFrameMkLst>
        </pc:graphicFrameChg>
        <pc:graphicFrameChg chg="modGraphic">
          <ac:chgData name="Taylor Davis" userId="5c9e72a0-c39f-4aa1-9d7d-64125e78cbe6" providerId="ADAL" clId="{E62C9DCC-A796-4DA2-8F35-E9E27F94BB36}" dt="2024-07-19T00:50:30.127" v="8" actId="20577"/>
          <ac:graphicFrameMkLst>
            <pc:docMk/>
            <pc:sldMk cId="2977719417" sldId="526"/>
            <ac:graphicFrameMk id="16" creationId="{32A51F3A-032C-30E2-F635-DD59B5A29A34}"/>
          </ac:graphicFrameMkLst>
        </pc:graphicFrameChg>
      </pc:sldChg>
      <pc:sldChg chg="addSp delSp modSp new mod">
        <pc:chgData name="Taylor Davis" userId="5c9e72a0-c39f-4aa1-9d7d-64125e78cbe6" providerId="ADAL" clId="{E62C9DCC-A796-4DA2-8F35-E9E27F94BB36}" dt="2024-07-19T15:20:26.178" v="832" actId="20577"/>
        <pc:sldMkLst>
          <pc:docMk/>
          <pc:sldMk cId="94944115" sldId="546"/>
        </pc:sldMkLst>
        <pc:spChg chg="mod">
          <ac:chgData name="Taylor Davis" userId="5c9e72a0-c39f-4aa1-9d7d-64125e78cbe6" providerId="ADAL" clId="{E62C9DCC-A796-4DA2-8F35-E9E27F94BB36}" dt="2024-07-19T15:20:26.178" v="832" actId="20577"/>
          <ac:spMkLst>
            <pc:docMk/>
            <pc:sldMk cId="94944115" sldId="546"/>
            <ac:spMk id="2" creationId="{7C883DE4-3AC3-AC60-06C5-41C0EE69E332}"/>
          </ac:spMkLst>
        </pc:spChg>
        <pc:spChg chg="del">
          <ac:chgData name="Taylor Davis" userId="5c9e72a0-c39f-4aa1-9d7d-64125e78cbe6" providerId="ADAL" clId="{E62C9DCC-A796-4DA2-8F35-E9E27F94BB36}" dt="2024-07-19T15:10:04.017" v="77"/>
          <ac:spMkLst>
            <pc:docMk/>
            <pc:sldMk cId="94944115" sldId="546"/>
            <ac:spMk id="3" creationId="{CB373251-9854-C76A-92B1-7767FCDF766D}"/>
          </ac:spMkLst>
        </pc:spChg>
        <pc:spChg chg="add mod">
          <ac:chgData name="Taylor Davis" userId="5c9e72a0-c39f-4aa1-9d7d-64125e78cbe6" providerId="ADAL" clId="{E62C9DCC-A796-4DA2-8F35-E9E27F94BB36}" dt="2024-07-19T15:15:53.186" v="664" actId="1076"/>
          <ac:spMkLst>
            <pc:docMk/>
            <pc:sldMk cId="94944115" sldId="546"/>
            <ac:spMk id="7" creationId="{CD602C75-9647-2A81-5720-669FD6EEB5F4}"/>
          </ac:spMkLst>
        </pc:spChg>
        <pc:spChg chg="add mod ord">
          <ac:chgData name="Taylor Davis" userId="5c9e72a0-c39f-4aa1-9d7d-64125e78cbe6" providerId="ADAL" clId="{E62C9DCC-A796-4DA2-8F35-E9E27F94BB36}" dt="2024-07-19T15:20:09.410" v="816" actId="207"/>
          <ac:spMkLst>
            <pc:docMk/>
            <pc:sldMk cId="94944115" sldId="546"/>
            <ac:spMk id="8" creationId="{E54E0CA3-8729-0C22-A99D-64AA84C3DC78}"/>
          </ac:spMkLst>
        </pc:spChg>
        <pc:graphicFrameChg chg="add mod modGraphic">
          <ac:chgData name="Taylor Davis" userId="5c9e72a0-c39f-4aa1-9d7d-64125e78cbe6" providerId="ADAL" clId="{E62C9DCC-A796-4DA2-8F35-E9E27F94BB36}" dt="2024-07-19T15:17:57.817" v="773" actId="207"/>
          <ac:graphicFrameMkLst>
            <pc:docMk/>
            <pc:sldMk cId="94944115" sldId="546"/>
            <ac:graphicFrameMk id="6" creationId="{3C07E302-CC45-B04C-2C2D-C436C7863084}"/>
          </ac:graphicFrameMkLst>
        </pc:graphicFrameChg>
      </pc:sldChg>
      <pc:sldChg chg="addSp delSp modSp new mod">
        <pc:chgData name="Taylor Davis" userId="5c9e72a0-c39f-4aa1-9d7d-64125e78cbe6" providerId="ADAL" clId="{E62C9DCC-A796-4DA2-8F35-E9E27F94BB36}" dt="2024-07-19T15:20:33.308" v="848" actId="20577"/>
        <pc:sldMkLst>
          <pc:docMk/>
          <pc:sldMk cId="3616502281" sldId="547"/>
        </pc:sldMkLst>
        <pc:spChg chg="mod">
          <ac:chgData name="Taylor Davis" userId="5c9e72a0-c39f-4aa1-9d7d-64125e78cbe6" providerId="ADAL" clId="{E62C9DCC-A796-4DA2-8F35-E9E27F94BB36}" dt="2024-07-19T15:20:33.308" v="848" actId="20577"/>
          <ac:spMkLst>
            <pc:docMk/>
            <pc:sldMk cId="3616502281" sldId="547"/>
            <ac:spMk id="2" creationId="{4953670C-7BD0-B908-CA73-21D945CCB08B}"/>
          </ac:spMkLst>
        </pc:spChg>
        <pc:spChg chg="del">
          <ac:chgData name="Taylor Davis" userId="5c9e72a0-c39f-4aa1-9d7d-64125e78cbe6" providerId="ADAL" clId="{E62C9DCC-A796-4DA2-8F35-E9E27F94BB36}" dt="2024-07-19T15:09:07.813" v="73" actId="478"/>
          <ac:spMkLst>
            <pc:docMk/>
            <pc:sldMk cId="3616502281" sldId="547"/>
            <ac:spMk id="3" creationId="{AB61B150-1882-D1EE-1862-08AB0F800168}"/>
          </ac:spMkLst>
        </pc:spChg>
        <pc:spChg chg="add mod">
          <ac:chgData name="Taylor Davis" userId="5c9e72a0-c39f-4aa1-9d7d-64125e78cbe6" providerId="ADAL" clId="{E62C9DCC-A796-4DA2-8F35-E9E27F94BB36}" dt="2024-07-19T15:09:13.849" v="75" actId="1076"/>
          <ac:spMkLst>
            <pc:docMk/>
            <pc:sldMk cId="3616502281" sldId="547"/>
            <ac:spMk id="7" creationId="{C6C12282-6958-DC81-53E7-8B55DA976476}"/>
          </ac:spMkLst>
        </pc:spChg>
        <pc:spChg chg="add mod">
          <ac:chgData name="Taylor Davis" userId="5c9e72a0-c39f-4aa1-9d7d-64125e78cbe6" providerId="ADAL" clId="{E62C9DCC-A796-4DA2-8F35-E9E27F94BB36}" dt="2024-07-19T15:09:13.849" v="75" actId="1076"/>
          <ac:spMkLst>
            <pc:docMk/>
            <pc:sldMk cId="3616502281" sldId="547"/>
            <ac:spMk id="8" creationId="{C48E1780-AC25-9BD2-86FC-FF9298ADEAFD}"/>
          </ac:spMkLst>
        </pc:spChg>
        <pc:spChg chg="add mod ord">
          <ac:chgData name="Taylor Davis" userId="5c9e72a0-c39f-4aa1-9d7d-64125e78cbe6" providerId="ADAL" clId="{E62C9DCC-A796-4DA2-8F35-E9E27F94BB36}" dt="2024-07-19T15:20:15.301" v="818" actId="167"/>
          <ac:spMkLst>
            <pc:docMk/>
            <pc:sldMk cId="3616502281" sldId="547"/>
            <ac:spMk id="9" creationId="{475B7D0B-6778-5BAB-C7D4-9C15D73239FD}"/>
          </ac:spMkLst>
        </pc:spChg>
        <pc:graphicFrameChg chg="add mod modGraphic">
          <ac:chgData name="Taylor Davis" userId="5c9e72a0-c39f-4aa1-9d7d-64125e78cbe6" providerId="ADAL" clId="{E62C9DCC-A796-4DA2-8F35-E9E27F94BB36}" dt="2024-07-19T15:18:40.650" v="811" actId="20577"/>
          <ac:graphicFrameMkLst>
            <pc:docMk/>
            <pc:sldMk cId="3616502281" sldId="547"/>
            <ac:graphicFrameMk id="6" creationId="{A3BBF012-AA0D-5710-B532-CE355455856C}"/>
          </ac:graphicFrameMkLst>
        </pc:graphicFrameChg>
      </pc:sldChg>
      <pc:sldChg chg="modSp add mod">
        <pc:chgData name="Taylor Davis" userId="5c9e72a0-c39f-4aa1-9d7d-64125e78cbe6" providerId="ADAL" clId="{E62C9DCC-A796-4DA2-8F35-E9E27F94BB36}" dt="2024-07-23T19:47:11.535" v="881" actId="1036"/>
        <pc:sldMkLst>
          <pc:docMk/>
          <pc:sldMk cId="315794589" sldId="548"/>
        </pc:sldMkLst>
        <pc:spChg chg="mod">
          <ac:chgData name="Taylor Davis" userId="5c9e72a0-c39f-4aa1-9d7d-64125e78cbe6" providerId="ADAL" clId="{E62C9DCC-A796-4DA2-8F35-E9E27F94BB36}" dt="2024-07-23T19:47:11.535" v="881" actId="1036"/>
          <ac:spMkLst>
            <pc:docMk/>
            <pc:sldMk cId="315794589" sldId="548"/>
            <ac:spMk id="7" creationId="{DEBD79AC-6896-6E13-B0EE-8405AC1D8926}"/>
          </ac:spMkLst>
        </pc:spChg>
      </pc:sldChg>
      <pc:sldChg chg="add">
        <pc:chgData name="Taylor Davis" userId="5c9e72a0-c39f-4aa1-9d7d-64125e78cbe6" providerId="ADAL" clId="{E62C9DCC-A796-4DA2-8F35-E9E27F94BB36}" dt="2024-07-23T19:45:14.724" v="850"/>
        <pc:sldMkLst>
          <pc:docMk/>
          <pc:sldMk cId="263972108" sldId="549"/>
        </pc:sldMkLst>
      </pc:sldChg>
      <pc:sldChg chg="add del">
        <pc:chgData name="Taylor Davis" userId="5c9e72a0-c39f-4aa1-9d7d-64125e78cbe6" providerId="ADAL" clId="{E62C9DCC-A796-4DA2-8F35-E9E27F94BB36}" dt="2024-07-23T19:45:27.522" v="851" actId="47"/>
        <pc:sldMkLst>
          <pc:docMk/>
          <pc:sldMk cId="3483306340" sldId="550"/>
        </pc:sldMkLst>
      </pc:sldChg>
      <pc:sldChg chg="add">
        <pc:chgData name="Taylor Davis" userId="5c9e72a0-c39f-4aa1-9d7d-64125e78cbe6" providerId="ADAL" clId="{E62C9DCC-A796-4DA2-8F35-E9E27F94BB36}" dt="2024-07-23T19:46:04.457" v="855"/>
        <pc:sldMkLst>
          <pc:docMk/>
          <pc:sldMk cId="3634830496" sldId="550"/>
        </pc:sldMkLst>
      </pc:sldChg>
      <pc:sldChg chg="modSp add mod">
        <pc:chgData name="Taylor Davis" userId="5c9e72a0-c39f-4aa1-9d7d-64125e78cbe6" providerId="ADAL" clId="{E62C9DCC-A796-4DA2-8F35-E9E27F94BB36}" dt="2024-07-23T19:46:23.931" v="872" actId="20577"/>
        <pc:sldMkLst>
          <pc:docMk/>
          <pc:sldMk cId="2173439670" sldId="551"/>
        </pc:sldMkLst>
        <pc:spChg chg="mod">
          <ac:chgData name="Taylor Davis" userId="5c9e72a0-c39f-4aa1-9d7d-64125e78cbe6" providerId="ADAL" clId="{E62C9DCC-A796-4DA2-8F35-E9E27F94BB36}" dt="2024-07-23T19:46:23.931" v="872" actId="20577"/>
          <ac:spMkLst>
            <pc:docMk/>
            <pc:sldMk cId="2173439670" sldId="551"/>
            <ac:spMk id="16" creationId="{012C7A76-8C4C-0C17-C582-24A807F19DA5}"/>
          </ac:spMkLst>
        </pc:spChg>
      </pc:sldChg>
      <pc:sldChg chg="add del">
        <pc:chgData name="Taylor Davis" userId="5c9e72a0-c39f-4aa1-9d7d-64125e78cbe6" providerId="ADAL" clId="{E62C9DCC-A796-4DA2-8F35-E9E27F94BB36}" dt="2024-07-23T19:47:24.732" v="885" actId="47"/>
        <pc:sldMkLst>
          <pc:docMk/>
          <pc:sldMk cId="3394989685" sldId="552"/>
        </pc:sldMkLst>
      </pc:sldChg>
      <pc:sldChg chg="modSp add mod">
        <pc:chgData name="Taylor Davis" userId="5c9e72a0-c39f-4aa1-9d7d-64125e78cbe6" providerId="ADAL" clId="{E62C9DCC-A796-4DA2-8F35-E9E27F94BB36}" dt="2024-07-23T19:49:44.118" v="1000" actId="20577"/>
        <pc:sldMkLst>
          <pc:docMk/>
          <pc:sldMk cId="4086215144" sldId="552"/>
        </pc:sldMkLst>
        <pc:spChg chg="mod">
          <ac:chgData name="Taylor Davis" userId="5c9e72a0-c39f-4aa1-9d7d-64125e78cbe6" providerId="ADAL" clId="{E62C9DCC-A796-4DA2-8F35-E9E27F94BB36}" dt="2024-07-23T19:49:34.786" v="980" actId="20577"/>
          <ac:spMkLst>
            <pc:docMk/>
            <pc:sldMk cId="4086215144" sldId="552"/>
            <ac:spMk id="5" creationId="{F78CFBEA-CEF2-471A-842D-8314716A34E9}"/>
          </ac:spMkLst>
        </pc:spChg>
        <pc:spChg chg="mod">
          <ac:chgData name="Taylor Davis" userId="5c9e72a0-c39f-4aa1-9d7d-64125e78cbe6" providerId="ADAL" clId="{E62C9DCC-A796-4DA2-8F35-E9E27F94BB36}" dt="2024-07-23T19:49:44.118" v="1000" actId="20577"/>
          <ac:spMkLst>
            <pc:docMk/>
            <pc:sldMk cId="4086215144" sldId="552"/>
            <ac:spMk id="7" creationId="{F35A72B5-FEF9-458B-B242-8157703AFF9D}"/>
          </ac:spMkLst>
        </pc:spChg>
      </pc:sldChg>
      <pc:sldChg chg="modSp add mod">
        <pc:chgData name="Taylor Davis" userId="5c9e72a0-c39f-4aa1-9d7d-64125e78cbe6" providerId="ADAL" clId="{E62C9DCC-A796-4DA2-8F35-E9E27F94BB36}" dt="2024-07-23T19:50:00.113" v="1025" actId="1076"/>
        <pc:sldMkLst>
          <pc:docMk/>
          <pc:sldMk cId="3267291185" sldId="553"/>
        </pc:sldMkLst>
        <pc:spChg chg="mod">
          <ac:chgData name="Taylor Davis" userId="5c9e72a0-c39f-4aa1-9d7d-64125e78cbe6" providerId="ADAL" clId="{E62C9DCC-A796-4DA2-8F35-E9E27F94BB36}" dt="2024-07-23T19:50:00.113" v="1025" actId="1076"/>
          <ac:spMkLst>
            <pc:docMk/>
            <pc:sldMk cId="3267291185" sldId="553"/>
            <ac:spMk id="2" creationId="{0255DED4-CAB2-4C40-8464-BA04A291D04E}"/>
          </ac:spMkLst>
        </pc:spChg>
      </pc:sldChg>
      <pc:sldMasterChg chg="del delSldLayout">
        <pc:chgData name="Taylor Davis" userId="5c9e72a0-c39f-4aa1-9d7d-64125e78cbe6" providerId="ADAL" clId="{E62C9DCC-A796-4DA2-8F35-E9E27F94BB36}" dt="2024-07-23T19:52:24.465" v="1042" actId="47"/>
        <pc:sldMasterMkLst>
          <pc:docMk/>
          <pc:sldMasterMk cId="2506348806" sldId="2147483756"/>
        </pc:sldMasterMkLst>
        <pc:sldLayoutChg chg="del">
          <pc:chgData name="Taylor Davis" userId="5c9e72a0-c39f-4aa1-9d7d-64125e78cbe6" providerId="ADAL" clId="{E62C9DCC-A796-4DA2-8F35-E9E27F94BB36}" dt="2024-07-23T19:52:24.465" v="1042" actId="47"/>
          <pc:sldLayoutMkLst>
            <pc:docMk/>
            <pc:sldMasterMk cId="2506348806" sldId="2147483756"/>
            <pc:sldLayoutMk cId="2269992194" sldId="2147483757"/>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471974404" sldId="2147483758"/>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3291774408" sldId="2147483759"/>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748183839" sldId="2147483760"/>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2297577024" sldId="2147483761"/>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2732479600" sldId="2147483762"/>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2289525608" sldId="2147483763"/>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3014149539" sldId="2147483764"/>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4284616919" sldId="2147483765"/>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857225080" sldId="2147483766"/>
          </pc:sldLayoutMkLst>
        </pc:sldLayoutChg>
        <pc:sldLayoutChg chg="del">
          <pc:chgData name="Taylor Davis" userId="5c9e72a0-c39f-4aa1-9d7d-64125e78cbe6" providerId="ADAL" clId="{E62C9DCC-A796-4DA2-8F35-E9E27F94BB36}" dt="2024-07-23T19:52:24.465" v="1042" actId="47"/>
          <pc:sldLayoutMkLst>
            <pc:docMk/>
            <pc:sldMasterMk cId="2506348806" sldId="2147483756"/>
            <pc:sldLayoutMk cId="2881563428" sldId="2147483767"/>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image" Target="../media/image2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image" Target="../media/image23.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Baptist Health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print">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print">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print">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Baptist Health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Baptist Health</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Baptist Health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Baptist Health</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Baptist Health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7/23/2024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7/23/2024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7/23/2024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7/23/2024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7/23/2024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7/23/2024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7/23/2024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7/23/2024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7/23/2024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7/23/2024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7/23/2024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7/23/2024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7/23/2024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5.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6.xml"/><Relationship Id="rId4" Type="http://schemas.openxmlformats.org/officeDocument/2006/relationships/image" Target="../media/image37.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microsoft.com/office/2007/relationships/hdphoto" Target="../media/hdphoto2.wdp"/></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2.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hyperlink" Target="mailto:jack.hill@keybenefit.com" TargetMode="External"/><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image" Target="../media/image50.svg"/><Relationship Id="rId11" Type="http://schemas.openxmlformats.org/officeDocument/2006/relationships/image" Target="../media/image45.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23,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descr="Health Matters: Baptist Health Hospital reaches huge milestone with 300th  heart transplant | KARK">
            <a:extLst>
              <a:ext uri="{FF2B5EF4-FFF2-40B4-BE49-F238E27FC236}">
                <a16:creationId xmlns:a16="http://schemas.microsoft.com/office/drawing/2014/main" id="{C610B09C-55C6-5EBE-6389-01FC6A2E5329}"/>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136711" y="397719"/>
            <a:ext cx="2661713" cy="14974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388EB57-683A-D0AC-CB85-5350D636F337}"/>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981075" y="1651247"/>
            <a:ext cx="11201399" cy="5206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153922" y="-160244"/>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177381" y="-71645"/>
            <a:ext cx="1814286" cy="102066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Creates</a:t>
            </a:r>
          </a:p>
          <a:p>
            <a:pPr algn="ctr"/>
            <a:r>
              <a:rPr lang="en-US" sz="4000" dirty="0">
                <a:solidFill>
                  <a:schemeClr val="accent2"/>
                </a:solidFill>
              </a:rPr>
              <a:t>~$.25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~$.53 of profit</a:t>
            </a:r>
          </a:p>
        </p:txBody>
      </p:sp>
    </p:spTree>
    <p:extLst>
      <p:ext uri="{BB962C8B-B14F-4D97-AF65-F5344CB8AC3E}">
        <p14:creationId xmlns:p14="http://schemas.microsoft.com/office/powerpoint/2010/main" val="334873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3067446"/>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81961"/>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3067446"/>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343218"/>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BH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849732"/>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204675"/>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762646"/>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849732"/>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748132"/>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849732"/>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777161"/>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732122"/>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09598" y="1645973"/>
            <a:ext cx="2887933" cy="162467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117577AE-8F82-2A0F-1540-500008EECC4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835030" y="1682722"/>
            <a:ext cx="3703405" cy="16246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University of Arkansas Medical School">
            <a:extLst>
              <a:ext uri="{FF2B5EF4-FFF2-40B4-BE49-F238E27FC236}">
                <a16:creationId xmlns:a16="http://schemas.microsoft.com/office/drawing/2014/main" id="{FF7B095B-1D77-BE07-C43A-585663A996F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74333" y="1816320"/>
            <a:ext cx="2474685" cy="12373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836188A-EFBC-8764-E841-9B9BD8AA4AA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4830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2140949"/>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Baptist Health</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343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EBC102-0292-B21D-323C-61E512F17964}"/>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847DC0F-0600-2929-C50B-65887D04AC6C}"/>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Rectangle 5">
            <a:extLst>
              <a:ext uri="{FF2B5EF4-FFF2-40B4-BE49-F238E27FC236}">
                <a16:creationId xmlns:a16="http://schemas.microsoft.com/office/drawing/2014/main" id="{3F864769-7530-1C3E-AA58-26FAB6C19A22}"/>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utoShape 4">
            <a:extLst>
              <a:ext uri="{FF2B5EF4-FFF2-40B4-BE49-F238E27FC236}">
                <a16:creationId xmlns:a16="http://schemas.microsoft.com/office/drawing/2014/main" id="{106C6F00-FF77-9938-4004-A9A20659EF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C492FF3-DF1B-F12B-D5ED-5B279CB47C24}"/>
              </a:ext>
            </a:extLst>
          </p:cNvPr>
          <p:cNvSpPr txBox="1"/>
          <p:nvPr/>
        </p:nvSpPr>
        <p:spPr>
          <a:xfrm>
            <a:off x="8853714" y="1756228"/>
            <a:ext cx="3390800" cy="461665"/>
          </a:xfrm>
          <a:prstGeom prst="rect">
            <a:avLst/>
          </a:prstGeom>
          <a:noFill/>
        </p:spPr>
        <p:txBody>
          <a:bodyPr wrap="none" rtlCol="0">
            <a:spAutoFit/>
          </a:bodyPr>
          <a:lstStyle/>
          <a:p>
            <a:r>
              <a:rPr lang="en-US" sz="2400" b="1" dirty="0"/>
              <a:t>Core Model Assumptions</a:t>
            </a:r>
          </a:p>
        </p:txBody>
      </p:sp>
      <p:sp>
        <p:nvSpPr>
          <p:cNvPr id="16" name="TextBox 15">
            <a:extLst>
              <a:ext uri="{FF2B5EF4-FFF2-40B4-BE49-F238E27FC236}">
                <a16:creationId xmlns:a16="http://schemas.microsoft.com/office/drawing/2014/main" id="{5CD262C4-7EB6-BACC-2D76-818773A77342}"/>
              </a:ext>
            </a:extLst>
          </p:cNvPr>
          <p:cNvSpPr txBox="1"/>
          <p:nvPr/>
        </p:nvSpPr>
        <p:spPr>
          <a:xfrm>
            <a:off x="8853714" y="2288738"/>
            <a:ext cx="322510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Commercial care margin modeled at both 17% (low estimate) and 35% (high estimate)</a:t>
            </a:r>
          </a:p>
          <a:p>
            <a:pPr marL="285750" indent="-285750">
              <a:buFont typeface="Arial" panose="020B0604020202020204" pitchFamily="34" charset="0"/>
              <a:buChar char="•"/>
            </a:pPr>
            <a:r>
              <a:rPr lang="en-US" dirty="0"/>
              <a:t>DTE pricing is 5% below current commercial levels (employers pay ~10% less but BH saves with easier billing)</a:t>
            </a:r>
          </a:p>
          <a:p>
            <a:pPr marL="285750" indent="-285750">
              <a:buFont typeface="Arial" panose="020B0604020202020204" pitchFamily="34" charset="0"/>
              <a:buChar char="•"/>
            </a:pPr>
            <a:r>
              <a:rPr lang="en-US" dirty="0"/>
              <a:t> Current 37% inpatient market share</a:t>
            </a:r>
          </a:p>
          <a:p>
            <a:pPr marL="285750" indent="-285750">
              <a:buFont typeface="Arial" panose="020B0604020202020204" pitchFamily="34" charset="0"/>
              <a:buChar char="•"/>
            </a:pPr>
            <a:r>
              <a:rPr lang="en-US" dirty="0"/>
              <a:t>Current 14% outpatient market share</a:t>
            </a:r>
          </a:p>
        </p:txBody>
      </p:sp>
      <p:pic>
        <p:nvPicPr>
          <p:cNvPr id="12" name="Picture 11">
            <a:extLst>
              <a:ext uri="{FF2B5EF4-FFF2-40B4-BE49-F238E27FC236}">
                <a16:creationId xmlns:a16="http://schemas.microsoft.com/office/drawing/2014/main" id="{785F1725-003F-9CC3-1263-0760AD02B9CD}"/>
              </a:ext>
            </a:extLst>
          </p:cNvPr>
          <p:cNvPicPr>
            <a:picLocks noChangeAspect="1"/>
          </p:cNvPicPr>
          <p:nvPr/>
        </p:nvPicPr>
        <p:blipFill>
          <a:blip r:embed="rId2"/>
          <a:stretch>
            <a:fillRect/>
          </a:stretch>
        </p:blipFill>
        <p:spPr>
          <a:xfrm>
            <a:off x="1350955" y="535604"/>
            <a:ext cx="7502759" cy="5731060"/>
          </a:xfrm>
          <a:prstGeom prst="rect">
            <a:avLst/>
          </a:prstGeom>
        </p:spPr>
      </p:pic>
      <p:sp>
        <p:nvSpPr>
          <p:cNvPr id="2" name="Title 1">
            <a:extLst>
              <a:ext uri="{FF2B5EF4-FFF2-40B4-BE49-F238E27FC236}">
                <a16:creationId xmlns:a16="http://schemas.microsoft.com/office/drawing/2014/main" id="{547B8696-A390-28E0-122D-E37FA8E0D3A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Tree>
    <p:extLst>
      <p:ext uri="{BB962C8B-B14F-4D97-AF65-F5344CB8AC3E}">
        <p14:creationId xmlns:p14="http://schemas.microsoft.com/office/powerpoint/2010/main" val="120625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881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12" name="Picture 11" descr="A graph and a chart&#10;&#10;Description automatically generated">
            <a:extLst>
              <a:ext uri="{FF2B5EF4-FFF2-40B4-BE49-F238E27FC236}">
                <a16:creationId xmlns:a16="http://schemas.microsoft.com/office/drawing/2014/main" id="{40C900D7-A250-46F4-3B0C-782C223B13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4286" y="-27866"/>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708094" y="2621720"/>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201424"/>
          </a:xfrm>
          <a:prstGeom prst="rect">
            <a:avLst/>
          </a:prstGeom>
        </p:spPr>
        <p:txBody>
          <a:bodyPr wrap="square">
            <a:spAutoFit/>
          </a:bodyPr>
          <a:lstStyle/>
          <a:p>
            <a:pPr>
              <a:spcAft>
                <a:spcPts val="1200"/>
              </a:spcAft>
            </a:pPr>
            <a:r>
              <a:rPr lang="en-US" b="1" cap="all" dirty="0">
                <a:solidFill>
                  <a:srgbClr val="000B2E"/>
                </a:solidFill>
              </a:rPr>
              <a:t>Baptist health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are part of your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a:t>
            </a:r>
            <a:r>
              <a:rPr lang="en-US" dirty="0">
                <a:solidFill>
                  <a:schemeClr val="tx1">
                    <a:lumMod val="75000"/>
                    <a:lumOff val="25000"/>
                  </a:schemeClr>
                </a:solidFill>
                <a:highlight>
                  <a:srgbClr val="FFFF00"/>
                </a:highlight>
              </a:rPr>
              <a:t>gain</a:t>
            </a:r>
            <a:r>
              <a:rPr lang="en-US" dirty="0">
                <a:solidFill>
                  <a:schemeClr val="tx1">
                    <a:lumMod val="75000"/>
                    <a:lumOff val="25000"/>
                  </a:schemeClr>
                </a:solidFill>
              </a:rPr>
              <a:t> share distribution! </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direction of Baptist 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 OF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BHS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695881639"/>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DCA04CCA-0A73-323F-55DE-89B35F1809AE}"/>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p:blipFill>
        <p:spPr bwMode="auto">
          <a:xfrm>
            <a:off x="9598392" y="4227968"/>
            <a:ext cx="1201334" cy="283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12</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PLAN DESIGNS THAT OPTIMIZE PLAN STEERAGE TO BAPTIST HEALTH</a:t>
            </a:r>
          </a:p>
        </p:txBody>
      </p:sp>
      <p:pic>
        <p:nvPicPr>
          <p:cNvPr id="2" name="Picture 2" descr="Health Matters: Baptist Health Hospital reaches huge milestone with 300th  heart transplant | KARK">
            <a:extLst>
              <a:ext uri="{FF2B5EF4-FFF2-40B4-BE49-F238E27FC236}">
                <a16:creationId xmlns:a16="http://schemas.microsoft.com/office/drawing/2014/main" id="{D7123FBC-4D1F-6964-5090-98A6FC416938}"/>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013817" y="5014361"/>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466318" y="2975599"/>
            <a:ext cx="5911043" cy="752041"/>
          </a:xfrm>
        </p:spPr>
        <p:txBody>
          <a:bodyPr>
            <a:noAutofit/>
          </a:bodyPr>
          <a:lstStyle/>
          <a:p>
            <a:pPr>
              <a:lnSpc>
                <a:spcPct val="100000"/>
              </a:lnSpc>
              <a:spcBef>
                <a:spcPts val="600"/>
              </a:spcBef>
            </a:pPr>
            <a:r>
              <a:rPr lang="en-US" sz="3600" dirty="0">
                <a:solidFill>
                  <a:schemeClr val="bg1"/>
                </a:solidFill>
              </a:rPr>
              <a:t>FINANCIAL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197483" y="5568477"/>
            <a:ext cx="10881335"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highlight>
                  <a:srgbClr val="FFFF00"/>
                </a:highlight>
              </a:rPr>
              <a:t>NOTE:  Please see detailed financial analysis and assumptions used starting on page 31.  </a:t>
            </a:r>
          </a:p>
          <a:p>
            <a:pPr marL="285750" indent="-285750">
              <a:buFont typeface="Arial" panose="020B0604020202020204" pitchFamily="34" charset="0"/>
              <a:buChar char="•"/>
            </a:pPr>
            <a:r>
              <a:rPr lang="en-US" sz="1400" dirty="0">
                <a:highlight>
                  <a:srgbClr val="FFFF00"/>
                </a:highlight>
              </a:rPr>
              <a:t>Financial projections do not include 340B contribution margin, which could represent $136 pmpm based upon optimizing 340B through plan design, Baptist Health approved site(s) with network integration, and development of Baptist Health’s proprietary PBM program.    </a:t>
            </a:r>
          </a:p>
        </p:txBody>
      </p:sp>
      <p:graphicFrame>
        <p:nvGraphicFramePr>
          <p:cNvPr id="11" name="Content Placeholder 2">
            <a:extLst>
              <a:ext uri="{FF2B5EF4-FFF2-40B4-BE49-F238E27FC236}">
                <a16:creationId xmlns:a16="http://schemas.microsoft.com/office/drawing/2014/main" id="{91FBDBA5-8D65-81B2-670C-ED329496AF09}"/>
              </a:ext>
            </a:extLst>
          </p:cNvPr>
          <p:cNvGraphicFramePr>
            <a:graphicFrameLocks noGrp="1"/>
          </p:cNvGraphicFramePr>
          <p:nvPr>
            <p:extLst>
              <p:ext uri="{D42A27DB-BD31-4B8C-83A1-F6EECF244321}">
                <p14:modId xmlns:p14="http://schemas.microsoft.com/office/powerpoint/2010/main" val="1072881896"/>
              </p:ext>
            </p:extLst>
          </p:nvPr>
        </p:nvGraphicFramePr>
        <p:xfrm>
          <a:off x="2111870" y="645569"/>
          <a:ext cx="9052560" cy="4765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$ 8,031K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$ 21,000K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$ 12,969K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$ 5,573K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$ 51,876K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$4,799K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$4,589K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$64,249K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$103,753K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$9,598K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$9,508K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r>
                        <a:rPr sz="1000" b="0" i="0" u="none" cap="none" dirty="0">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14</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Baptist Health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Baptist Health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Baptist Health’s managed care processes will only turbocharge the overall results – Positioning Baptist Health as the transformational Arkansas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Baptist health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4086215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15</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2" y="322025"/>
            <a:ext cx="4275989" cy="1200329"/>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BAPTIST HEALTH’S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3267291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Baptist 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Baptist 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Baptist Health to create their own PBM program</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Gerber Life Insurance</a:t>
            </a:r>
          </a:p>
          <a:p>
            <a:pPr algn="ctr">
              <a:lnSpc>
                <a:spcPct val="200000"/>
              </a:lnSpc>
            </a:pPr>
            <a:r>
              <a:rPr lang="en-US" dirty="0"/>
              <a:t>Nationwide</a:t>
            </a:r>
          </a:p>
          <a:p>
            <a:pPr algn="ctr">
              <a:lnSpc>
                <a:spcPct val="200000"/>
              </a:lnSpc>
            </a:pPr>
            <a:r>
              <a:rPr lang="en-US" dirty="0"/>
              <a:t>Sirius Group</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17</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909036"/>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a:t>
            </a:r>
          </a:p>
          <a:p>
            <a:pPr marL="285753" indent="-285753">
              <a:spcAft>
                <a:spcPts val="600"/>
              </a:spcAft>
              <a:buFont typeface="Wingdings" panose="05000000000000000000" pitchFamily="2" charset="2"/>
              <a:buChar char="§"/>
            </a:pPr>
            <a:r>
              <a:rPr lang="en-US" dirty="0"/>
              <a:t>KBA performs a comprehensive analysis of each stop-loss partner in order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to ensure proper pricing;</a:t>
            </a:r>
          </a:p>
          <a:p>
            <a:pPr marL="285753" indent="-285753">
              <a:spcAft>
                <a:spcPts val="600"/>
              </a:spcAft>
              <a:buFont typeface="Wingdings" panose="05000000000000000000" pitchFamily="2" charset="2"/>
              <a:buChar char="§"/>
            </a:pPr>
            <a:r>
              <a:rPr lang="en-US" dirty="0"/>
              <a:t>KBA is also evaluated by the stop-loss markets in order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print">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a:t>
            </a:r>
            <a:r>
              <a:rPr lang="en-US" sz="2000" dirty="0">
                <a:solidFill>
                  <a:schemeClr val="bg1"/>
                </a:solidFill>
                <a:highlight>
                  <a:srgbClr val="FFFF00"/>
                </a:highlight>
              </a:rPr>
              <a:t>2</a:t>
            </a:r>
            <a:r>
              <a:rPr lang="en-US" sz="2000" dirty="0">
                <a:solidFill>
                  <a:schemeClr val="bg1"/>
                </a:solidFill>
              </a:rPr>
              <a:t>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18</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print">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594102366"/>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19</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20</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21</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8BE3BD-F9EE-3EE4-860C-3826F1F8465B}"/>
              </a:ext>
            </a:extLst>
          </p:cNvPr>
          <p:cNvSpPr>
            <a:spLocks noGrp="1"/>
          </p:cNvSpPr>
          <p:nvPr>
            <p:ph type="title"/>
          </p:nvPr>
        </p:nvSpPr>
        <p:spPr/>
        <p:txBody>
          <a:bodyPr/>
          <a:lstStyle/>
          <a:p>
            <a:r>
              <a:rPr lang="en-US" dirty="0"/>
              <a:t>Estimation of BH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fld id="{3AFC719D-C4A7-4544-876E-D411D11AF6C9}" type="slidenum">
              <a:rPr lang="en-US" smtClean="0"/>
              <a:t>22</a:t>
            </a:fld>
            <a:endParaRPr lang="en-US" dirty="0"/>
          </a:p>
        </p:txBody>
      </p:sp>
      <p:graphicFrame>
        <p:nvGraphicFramePr>
          <p:cNvPr id="8"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179421297"/>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Little-Rock Area BH</a:t>
                      </a:r>
                    </a:p>
                  </a:txBody>
                  <a:tcPr>
                    <a:solidFill>
                      <a:schemeClr val="bg2"/>
                    </a:solidFill>
                  </a:tcPr>
                </a:tc>
                <a:tc>
                  <a:txBody>
                    <a:bodyPr/>
                    <a:lstStyle/>
                    <a:p>
                      <a:r>
                        <a:rPr lang="en-US" sz="1400" dirty="0">
                          <a:solidFill>
                            <a:schemeClr val="accent1">
                              <a:lumMod val="75000"/>
                            </a:schemeClr>
                          </a:solidFill>
                        </a:rPr>
                        <a:t>253,841</a:t>
                      </a:r>
                    </a:p>
                  </a:txBody>
                  <a:tcPr>
                    <a:solidFill>
                      <a:schemeClr val="bg2"/>
                    </a:solidFill>
                  </a:tcPr>
                </a:tc>
                <a:tc>
                  <a:txBody>
                    <a:bodyPr/>
                    <a:lstStyle/>
                    <a:p>
                      <a:r>
                        <a:rPr lang="en-US" sz="1400" dirty="0">
                          <a:solidFill>
                            <a:schemeClr val="accent1">
                              <a:lumMod val="75000"/>
                            </a:schemeClr>
                          </a:solidFill>
                        </a:rPr>
                        <a:t>$2,486,361K</a:t>
                      </a:r>
                    </a:p>
                  </a:txBody>
                  <a:tcPr>
                    <a:solidFill>
                      <a:schemeClr val="bg2"/>
                    </a:solidFill>
                  </a:tcPr>
                </a:tc>
                <a:tc>
                  <a:txBody>
                    <a:bodyPr/>
                    <a:lstStyle/>
                    <a:p>
                      <a:r>
                        <a:rPr lang="en-US" sz="1400" dirty="0">
                          <a:solidFill>
                            <a:schemeClr val="accent2">
                              <a:lumMod val="75000"/>
                            </a:schemeClr>
                          </a:solidFill>
                        </a:rPr>
                        <a:t>100%</a:t>
                      </a:r>
                    </a:p>
                  </a:txBody>
                  <a:tcPr>
                    <a:solidFill>
                      <a:schemeClr val="bg2"/>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bg2"/>
                    </a:solidFill>
                  </a:tcPr>
                </a:tc>
                <a:tc>
                  <a:txBody>
                    <a:bodyPr/>
                    <a:lstStyle/>
                    <a:p>
                      <a:r>
                        <a:rPr lang="en-US" sz="1400" dirty="0">
                          <a:solidFill>
                            <a:schemeClr val="accent1">
                              <a:lumMod val="75000"/>
                            </a:schemeClr>
                          </a:solidFill>
                        </a:rPr>
                        <a:t>79,569</a:t>
                      </a:r>
                    </a:p>
                  </a:txBody>
                  <a:tcPr>
                    <a:solidFill>
                      <a:schemeClr val="bg2"/>
                    </a:solidFill>
                  </a:tcPr>
                </a:tc>
                <a:tc>
                  <a:txBody>
                    <a:bodyPr/>
                    <a:lstStyle/>
                    <a:p>
                      <a:r>
                        <a:rPr lang="en-US" sz="1400" dirty="0">
                          <a:solidFill>
                            <a:schemeClr val="accent6">
                              <a:lumMod val="75000"/>
                            </a:schemeClr>
                          </a:solidFill>
                        </a:rPr>
                        <a:t>$880,756K</a:t>
                      </a:r>
                    </a:p>
                  </a:txBody>
                  <a:tcPr>
                    <a:solidFill>
                      <a:schemeClr val="bg2"/>
                    </a:solidFill>
                  </a:tcPr>
                </a:tc>
                <a:tc>
                  <a:txBody>
                    <a:bodyPr/>
                    <a:lstStyle/>
                    <a:p>
                      <a:r>
                        <a:rPr lang="en-US" sz="1400" dirty="0">
                          <a:solidFill>
                            <a:schemeClr val="accent2">
                              <a:lumMod val="75000"/>
                            </a:schemeClr>
                          </a:solidFill>
                        </a:rPr>
                        <a:t>31%</a:t>
                      </a:r>
                    </a:p>
                  </a:txBody>
                  <a:tcPr>
                    <a:solidFill>
                      <a:schemeClr val="bg2"/>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bg2"/>
                    </a:solidFill>
                  </a:tcPr>
                </a:tc>
                <a:tc>
                  <a:txBody>
                    <a:bodyPr/>
                    <a:lstStyle/>
                    <a:p>
                      <a:r>
                        <a:rPr lang="en-US" sz="1400" dirty="0">
                          <a:solidFill>
                            <a:schemeClr val="accent1">
                              <a:lumMod val="75000"/>
                            </a:schemeClr>
                          </a:solidFill>
                        </a:rPr>
                        <a:t>25811</a:t>
                      </a:r>
                    </a:p>
                  </a:txBody>
                  <a:tcPr>
                    <a:solidFill>
                      <a:schemeClr val="bg2"/>
                    </a:solidFill>
                  </a:tcPr>
                </a:tc>
                <a:tc rowSpan="2">
                  <a:txBody>
                    <a:bodyPr/>
                    <a:lstStyle/>
                    <a:p>
                      <a:r>
                        <a:rPr lang="en-US" sz="1400" dirty="0">
                          <a:solidFill>
                            <a:schemeClr val="accent2">
                              <a:lumMod val="75000"/>
                            </a:schemeClr>
                          </a:solidFill>
                        </a:rPr>
                        <a:t>$500,175K</a:t>
                      </a:r>
                    </a:p>
                  </a:txBody>
                  <a:tcPr>
                    <a:solidFill>
                      <a:schemeClr val="bg2"/>
                    </a:solidFill>
                  </a:tcPr>
                </a:tc>
                <a:tc>
                  <a:txBody>
                    <a:bodyPr/>
                    <a:lstStyle/>
                    <a:p>
                      <a:r>
                        <a:rPr lang="en-US" sz="1400" dirty="0">
                          <a:solidFill>
                            <a:schemeClr val="accent2">
                              <a:lumMod val="75000"/>
                            </a:schemeClr>
                          </a:solidFill>
                        </a:rPr>
                        <a:t>10%</a:t>
                      </a:r>
                    </a:p>
                  </a:txBody>
                  <a:tcPr>
                    <a:solidFill>
                      <a:schemeClr val="bg2"/>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bg2"/>
                    </a:solidFill>
                  </a:tcPr>
                </a:tc>
                <a:tc>
                  <a:txBody>
                    <a:bodyPr/>
                    <a:lstStyle/>
                    <a:p>
                      <a:r>
                        <a:rPr lang="en-US" sz="1400" dirty="0">
                          <a:solidFill>
                            <a:schemeClr val="accent1">
                              <a:lumMod val="75000"/>
                            </a:schemeClr>
                          </a:solidFill>
                        </a:rPr>
                        <a:t>16948</a:t>
                      </a:r>
                    </a:p>
                  </a:txBody>
                  <a:tcPr>
                    <a:solidFill>
                      <a:schemeClr val="bg2"/>
                    </a:solidFill>
                  </a:tcPr>
                </a:tc>
                <a:tc vMerge="1">
                  <a:txBody>
                    <a:bodyPr/>
                    <a:lstStyle/>
                    <a:p>
                      <a:endParaRPr lang="en-US" sz="1400" dirty="0">
                        <a:solidFill>
                          <a:schemeClr val="accent2">
                            <a:lumMod val="75000"/>
                          </a:schemeClr>
                        </a:solidFill>
                      </a:endParaRPr>
                    </a:p>
                  </a:txBody>
                  <a:tcPr/>
                </a:tc>
                <a:tc>
                  <a:txBody>
                    <a:bodyPr/>
                    <a:lstStyle/>
                    <a:p>
                      <a:r>
                        <a:rPr lang="en-US" sz="1400" dirty="0">
                          <a:solidFill>
                            <a:schemeClr val="accent2">
                              <a:lumMod val="75000"/>
                            </a:schemeClr>
                          </a:solidFill>
                        </a:rPr>
                        <a:t>7%</a:t>
                      </a:r>
                    </a:p>
                  </a:txBody>
                  <a:tcPr>
                    <a:solidFill>
                      <a:schemeClr val="bg2"/>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bg2"/>
                    </a:solidFill>
                  </a:tcPr>
                </a:tc>
                <a:tc>
                  <a:txBody>
                    <a:bodyPr/>
                    <a:lstStyle/>
                    <a:p>
                      <a:r>
                        <a:rPr lang="en-US" sz="1400" dirty="0">
                          <a:solidFill>
                            <a:schemeClr val="accent2">
                              <a:lumMod val="75000"/>
                            </a:schemeClr>
                          </a:solidFill>
                        </a:rPr>
                        <a:t>3,037</a:t>
                      </a:r>
                    </a:p>
                  </a:txBody>
                  <a:tcPr>
                    <a:solidFill>
                      <a:schemeClr val="bg2"/>
                    </a:solidFill>
                  </a:tcPr>
                </a:tc>
                <a:tc>
                  <a:txBody>
                    <a:bodyPr/>
                    <a:lstStyle/>
                    <a:p>
                      <a:r>
                        <a:rPr lang="en-US" sz="1400" dirty="0">
                          <a:solidFill>
                            <a:schemeClr val="accent1">
                              <a:lumMod val="75000"/>
                            </a:schemeClr>
                          </a:solidFill>
                        </a:rPr>
                        <a:t>$48,872K</a:t>
                      </a:r>
                    </a:p>
                  </a:txBody>
                  <a:tcPr>
                    <a:solidFill>
                      <a:schemeClr val="bg2"/>
                    </a:solidFill>
                  </a:tcPr>
                </a:tc>
                <a:tc>
                  <a:txBody>
                    <a:bodyPr/>
                    <a:lstStyle/>
                    <a:p>
                      <a:r>
                        <a:rPr lang="en-US" sz="1400" dirty="0">
                          <a:solidFill>
                            <a:schemeClr val="accent2">
                              <a:lumMod val="75000"/>
                            </a:schemeClr>
                          </a:solidFill>
                        </a:rPr>
                        <a:t>1%</a:t>
                      </a:r>
                    </a:p>
                  </a:txBody>
                  <a:tcPr>
                    <a:solidFill>
                      <a:schemeClr val="bg2"/>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bg2"/>
                    </a:solidFill>
                  </a:tcPr>
                </a:tc>
                <a:tc>
                  <a:txBody>
                    <a:bodyPr/>
                    <a:lstStyle/>
                    <a:p>
                      <a:r>
                        <a:rPr lang="en-US" sz="1400" dirty="0">
                          <a:solidFill>
                            <a:schemeClr val="accent2">
                              <a:lumMod val="75000"/>
                            </a:schemeClr>
                          </a:solidFill>
                        </a:rPr>
                        <a:t>128,475</a:t>
                      </a:r>
                    </a:p>
                  </a:txBody>
                  <a:tcPr>
                    <a:solidFill>
                      <a:schemeClr val="bg2"/>
                    </a:solid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$1,105,426K</a:t>
                      </a:r>
                    </a:p>
                  </a:txBody>
                  <a:tcPr>
                    <a:solidFill>
                      <a:schemeClr val="bg2"/>
                    </a:solidFill>
                  </a:tcPr>
                </a:tc>
                <a:tc>
                  <a:txBody>
                    <a:bodyPr/>
                    <a:lstStyle/>
                    <a:p>
                      <a:r>
                        <a:rPr lang="en-US" sz="1400" dirty="0">
                          <a:solidFill>
                            <a:schemeClr val="accent2">
                              <a:lumMod val="75000"/>
                            </a:schemeClr>
                          </a:solidFill>
                        </a:rPr>
                        <a:t>51%</a:t>
                      </a:r>
                    </a:p>
                  </a:txBody>
                  <a:tcPr>
                    <a:solidFill>
                      <a:schemeClr val="bg2"/>
                    </a:solidFill>
                  </a:tcPr>
                </a:tc>
                <a:extLst>
                  <a:ext uri="{0D108BD9-81ED-4DB2-BD59-A6C34878D82A}">
                    <a16:rowId xmlns:a16="http://schemas.microsoft.com/office/drawing/2014/main" val="1058780832"/>
                  </a:ext>
                </a:extLst>
              </a:tr>
            </a:tbl>
          </a:graphicData>
        </a:graphic>
      </p:graphicFrame>
      <p:sp>
        <p:nvSpPr>
          <p:cNvPr id="9"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r>
              <a:rPr lang="en-US" sz="1400" b="1" dirty="0">
                <a:solidFill>
                  <a:schemeClr val="accent2">
                    <a:lumMod val="75000"/>
                  </a:schemeClr>
                </a:solidFill>
              </a:rPr>
              <a:t>Estimating Payer Mix</a:t>
            </a:r>
          </a:p>
          <a:p>
            <a:pPr marL="285750" indent="-285750">
              <a:buFont typeface="Arial" panose="020B0604020202020204" pitchFamily="34" charset="0"/>
              <a:buChar char="•"/>
            </a:pPr>
            <a:r>
              <a:rPr lang="en-US" sz="1400" dirty="0">
                <a:solidFill>
                  <a:schemeClr val="accent2">
                    <a:lumMod val="75000"/>
                  </a:schemeClr>
                </a:solidFill>
              </a:rPr>
              <a:t>Medicare, Medicaid, and other government payer mixes are estimated as the percentage of inpatient days for each group divided by total inpatient days. </a:t>
            </a:r>
          </a:p>
          <a:p>
            <a:pPr marL="285750" indent="-285750">
              <a:buFont typeface="Arial" panose="020B0604020202020204" pitchFamily="34" charset="0"/>
              <a:buChar char="•"/>
            </a:pPr>
            <a:r>
              <a:rPr lang="en-US" sz="1400" dirty="0">
                <a:solidFill>
                  <a:schemeClr val="accent2">
                    <a:lumMod val="75000"/>
                  </a:schemeClr>
                </a:solidFill>
              </a:rPr>
              <a:t>No-pay and charity care is estimated as the percentage of no-pay/charity care compared to total overall revenue. </a:t>
            </a:r>
          </a:p>
          <a:p>
            <a:pPr marL="285750" indent="-285750">
              <a:buFont typeface="Arial" panose="020B0604020202020204" pitchFamily="34" charset="0"/>
              <a:buChar char="•"/>
            </a:pPr>
            <a:r>
              <a:rPr lang="en-US" sz="1400" dirty="0">
                <a:solidFill>
                  <a:schemeClr val="accent2">
                    <a:lumMod val="75000"/>
                  </a:schemeClr>
                </a:solidFill>
              </a:rPr>
              <a:t>Commercial/self pay is assumed to be the rest of the total payer mix share. </a:t>
            </a:r>
          </a:p>
        </p:txBody>
      </p:sp>
      <p:sp>
        <p:nvSpPr>
          <p:cNvPr id="10" name="TextBox 9">
            <a:extLst>
              <a:ext uri="{FF2B5EF4-FFF2-40B4-BE49-F238E27FC236}">
                <a16:creationId xmlns:a16="http://schemas.microsoft.com/office/drawing/2014/main" id="{ED0A6F50-C6BE-E59F-38A2-EFFA0AEF9616}"/>
              </a:ext>
            </a:extLst>
          </p:cNvPr>
          <p:cNvSpPr txBox="1"/>
          <p:nvPr/>
        </p:nvSpPr>
        <p:spPr>
          <a:xfrm>
            <a:off x="6431282" y="3552478"/>
            <a:ext cx="5648960" cy="1384995"/>
          </a:xfrm>
          <a:prstGeom prst="rect">
            <a:avLst/>
          </a:prstGeom>
          <a:noFill/>
        </p:spPr>
        <p:txBody>
          <a:bodyPr wrap="square" rtlCol="0">
            <a:spAutoFit/>
          </a:bodyPr>
          <a:lstStyle/>
          <a:p>
            <a:r>
              <a:rPr lang="en-US" sz="1400" b="1" dirty="0">
                <a:solidFill>
                  <a:schemeClr val="accent2">
                    <a:lumMod val="75000"/>
                  </a:schemeClr>
                </a:solidFill>
              </a:rPr>
              <a:t>Estimating Revenue by Group</a:t>
            </a:r>
          </a:p>
          <a:p>
            <a:pPr marL="285750" indent="-285750">
              <a:buFont typeface="Arial" panose="020B0604020202020204" pitchFamily="34" charset="0"/>
              <a:buChar char="•"/>
            </a:pPr>
            <a:r>
              <a:rPr lang="en-US" sz="1400" dirty="0">
                <a:solidFill>
                  <a:schemeClr val="accent2">
                    <a:lumMod val="75000"/>
                  </a:schemeClr>
                </a:solidFill>
              </a:rPr>
              <a:t>Medicaid and Other Government Pay are estimated to be paying the same rate per inpatient day as Medicare (a conservative assumption). </a:t>
            </a:r>
          </a:p>
          <a:p>
            <a:pPr marL="285750" indent="-285750">
              <a:buFont typeface="Arial" panose="020B0604020202020204" pitchFamily="34" charset="0"/>
              <a:buChar char="•"/>
            </a:pPr>
            <a:r>
              <a:rPr lang="en-US" sz="1400" dirty="0">
                <a:solidFill>
                  <a:schemeClr val="accent2">
                    <a:lumMod val="75000"/>
                  </a:schemeClr>
                </a:solidFill>
              </a:rPr>
              <a:t>Commercial/Self Pay is assumed to be all revenue not known to be paid by Medicare and not assumed to be paid by Medicaid or other government pay. </a:t>
            </a:r>
          </a:p>
        </p:txBody>
      </p:sp>
      <p:sp>
        <p:nvSpPr>
          <p:cNvPr id="11" name="TextBox 10">
            <a:extLst>
              <a:ext uri="{FF2B5EF4-FFF2-40B4-BE49-F238E27FC236}">
                <a16:creationId xmlns:a16="http://schemas.microsoft.com/office/drawing/2014/main" id="{E107289D-24BF-1E88-2683-BA2979EC32B6}"/>
              </a:ext>
            </a:extLst>
          </p:cNvPr>
          <p:cNvSpPr txBox="1"/>
          <p:nvPr/>
        </p:nvSpPr>
        <p:spPr>
          <a:xfrm>
            <a:off x="6431282" y="4971227"/>
            <a:ext cx="5648960" cy="1169551"/>
          </a:xfrm>
          <a:prstGeom prst="rect">
            <a:avLst/>
          </a:prstGeom>
          <a:noFill/>
        </p:spPr>
        <p:txBody>
          <a:bodyPr wrap="square" rtlCol="0">
            <a:spAutoFit/>
          </a:bodyPr>
          <a:lstStyle/>
          <a:p>
            <a:r>
              <a:rPr lang="en-US" sz="1400" b="1" dirty="0">
                <a:solidFill>
                  <a:schemeClr val="accent2">
                    <a:lumMod val="75000"/>
                  </a:schemeClr>
                </a:solidFill>
              </a:rPr>
              <a:t>Estimating Total Inpatient Days</a:t>
            </a:r>
          </a:p>
          <a:p>
            <a:pPr marL="285750" indent="-285750">
              <a:buFont typeface="Arial" panose="020B0604020202020204" pitchFamily="34" charset="0"/>
              <a:buChar char="•"/>
            </a:pPr>
            <a:r>
              <a:rPr lang="en-US" sz="1400" dirty="0">
                <a:solidFill>
                  <a:schemeClr val="accent2">
                    <a:lumMod val="75000"/>
                  </a:schemeClr>
                </a:solidFill>
              </a:rPr>
              <a:t>Total inpatient days for ‘No Pay’ and ‘Commercial’ are estimated to be the payer mix estimates for “No Pay, Charity Care” and “Commercial/Self Pay” multiplied by the total number of inpatient days. </a:t>
            </a:r>
          </a:p>
        </p:txBody>
      </p:sp>
      <p:sp>
        <p:nvSpPr>
          <p:cNvPr id="12"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r>
              <a:rPr lang="en-US" sz="1100" dirty="0">
                <a:solidFill>
                  <a:schemeClr val="accent1">
                    <a:lumMod val="75000"/>
                  </a:schemeClr>
                </a:solidFill>
              </a:rPr>
              <a:t>Values in blue are taken from the 2021 Medicare Provider Cost Report (https://data.cms.gov/provider-compliance/cost-report/hospital-provider-cost-report/data)</a:t>
            </a:r>
          </a:p>
        </p:txBody>
      </p:sp>
      <p:sp>
        <p:nvSpPr>
          <p:cNvPr id="13"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r>
              <a:rPr lang="en-US" sz="1100" dirty="0">
                <a:solidFill>
                  <a:schemeClr val="accent6">
                    <a:lumMod val="75000"/>
                  </a:schemeClr>
                </a:solidFill>
              </a:rPr>
              <a:t>Total Medicare patient revenue is reported by CMS in the Medicare Provider Analysis and Review Report (</a:t>
            </a:r>
            <a:r>
              <a:rPr lang="en-US" sz="1100" dirty="0" err="1">
                <a:solidFill>
                  <a:schemeClr val="accent6">
                    <a:lumMod val="75000"/>
                  </a:schemeClr>
                </a:solidFill>
              </a:rPr>
              <a:t>MedPAR</a:t>
            </a:r>
            <a:r>
              <a:rPr lang="en-US" sz="1100" dirty="0">
                <a:solidFill>
                  <a:schemeClr val="accent6">
                    <a:lumMod val="75000"/>
                  </a:schemeClr>
                </a:solidFill>
              </a:rPr>
              <a:t>) </a:t>
            </a:r>
          </a:p>
        </p:txBody>
      </p:sp>
      <p:sp>
        <p:nvSpPr>
          <p:cNvPr id="17"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dirty="0"/>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t>The RAND estimate for Baptist Health that commercial insurance is paying at 203%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fld id="{3AFC719D-C4A7-4544-876E-D411D11AF6C9}" type="slidenum">
              <a:rPr lang="en-US" smtClean="0"/>
              <a:t>23</a:t>
            </a:fld>
            <a:endParaRPr lang="en-US" dirty="0"/>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8" name="TextBox 7">
            <a:extLst>
              <a:ext uri="{FF2B5EF4-FFF2-40B4-BE49-F238E27FC236}">
                <a16:creationId xmlns:a16="http://schemas.microsoft.com/office/drawing/2014/main" id="{85163DF1-EB5C-1C3C-A93D-5F16CEEC2B92}"/>
              </a:ext>
            </a:extLst>
          </p:cNvPr>
          <p:cNvSpPr txBox="1"/>
          <p:nvPr/>
        </p:nvSpPr>
        <p:spPr>
          <a:xfrm>
            <a:off x="838200" y="2878137"/>
            <a:ext cx="4358640" cy="892552"/>
          </a:xfrm>
          <a:prstGeom prst="rect">
            <a:avLst/>
          </a:prstGeom>
          <a:noFill/>
        </p:spPr>
        <p:txBody>
          <a:bodyPr wrap="square">
            <a:spAutoFit/>
          </a:bodyPr>
          <a:lstStyle/>
          <a:p>
            <a:pPr marL="0" indent="0">
              <a:buFont typeface="Arial" panose="020B0604020202020204" pitchFamily="34" charset="0"/>
              <a:buNone/>
            </a:pPr>
            <a:r>
              <a:rPr lang="en-US" sz="2400" b="1" dirty="0"/>
              <a:t>Estimating Commercial Margin</a:t>
            </a:r>
          </a:p>
          <a:p>
            <a:pPr marL="0" indent="0">
              <a:buFont typeface="Arial" panose="020B0604020202020204" pitchFamily="34" charset="0"/>
              <a:buNone/>
            </a:pPr>
            <a:r>
              <a:rPr lang="en-US" sz="1400" dirty="0"/>
              <a:t>(Calculated through counterfactual of assuming all CMS/Government pay was paying at commercial rates)</a:t>
            </a:r>
          </a:p>
        </p:txBody>
      </p:sp>
      <p:sp>
        <p:nvSpPr>
          <p:cNvPr id="9"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indent="0">
              <a:buFont typeface="Arial" panose="020B0604020202020204" pitchFamily="34" charset="0"/>
              <a:buNone/>
            </a:pPr>
            <a:r>
              <a:rPr lang="en-US" sz="2400" b="1" dirty="0"/>
              <a:t>Estimating Gov-Pay Margin</a:t>
            </a:r>
          </a:p>
          <a:p>
            <a:pPr marL="0" indent="0">
              <a:buFont typeface="Arial" panose="020B0604020202020204" pitchFamily="34" charset="0"/>
              <a:buNone/>
            </a:pPr>
            <a:r>
              <a:rPr lang="en-US" sz="1400" dirty="0"/>
              <a:t>(Calculated through counterfactual of assuming all commercial pay was paying at Medicare rate)</a:t>
            </a:r>
          </a:p>
        </p:txBody>
      </p:sp>
      <p:graphicFrame>
        <p:nvGraphicFramePr>
          <p:cNvPr id="11"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829119848"/>
              </p:ext>
            </p:extLst>
          </p:nvPr>
        </p:nvGraphicFramePr>
        <p:xfrm>
          <a:off x="1018541" y="4114799"/>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$1,105,426K</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203%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$2,803,296K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3,908,723K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2,551,315K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1,356,408K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2"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417412509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203%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$544,545K</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$1,380,931K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1,925,476K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2,551,315K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-625,836K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--33%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p:txBody>
          <a:bodyPr/>
          <a:lstStyle/>
          <a:p>
            <a:r>
              <a:rPr lang="en-US" dirty="0"/>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24</a:t>
            </a:fld>
            <a:endParaRPr lang="en-US" dirty="0"/>
          </a:p>
        </p:txBody>
      </p:sp>
      <p:graphicFrame>
        <p:nvGraphicFramePr>
          <p:cNvPr id="9" name="Content Placeholder 8">
            <a:extLst>
              <a:ext uri="{FF2B5EF4-FFF2-40B4-BE49-F238E27FC236}">
                <a16:creationId xmlns:a16="http://schemas.microsoft.com/office/drawing/2014/main" id="{E2DA6A74-0986-09CC-BCDF-BC2303BED876}"/>
              </a:ext>
            </a:extLst>
          </p:cNvPr>
          <p:cNvGraphicFramePr>
            <a:graphicFrameLocks noGrp="1"/>
          </p:cNvGraphicFramePr>
          <p:nvPr>
            <p:ph idx="1"/>
            <p:extLst>
              <p:ext uri="{D42A27DB-BD31-4B8C-83A1-F6EECF244321}">
                <p14:modId xmlns:p14="http://schemas.microsoft.com/office/powerpoint/2010/main" val="1264385017"/>
              </p:ext>
            </p:extLst>
          </p:nvPr>
        </p:nvGraphicFramePr>
        <p:xfrm>
          <a:off x="720090" y="1690688"/>
          <a:ext cx="8191500" cy="3166110"/>
        </p:xfrm>
        <a:graphic>
          <a:graphicData uri="http://schemas.openxmlformats.org/drawingml/2006/table">
            <a:tbl>
              <a:tblPr>
                <a:tableStyleId>{9D7B26C5-4107-4FEC-AEDC-1716B250A1EF}</a:tableStyleId>
              </a:tblPr>
              <a:tblGrid>
                <a:gridCol w="1611027">
                  <a:extLst>
                    <a:ext uri="{9D8B030D-6E8A-4147-A177-3AD203B41FA5}">
                      <a16:colId xmlns:a16="http://schemas.microsoft.com/office/drawing/2014/main" val="3828351660"/>
                    </a:ext>
                  </a:extLst>
                </a:gridCol>
                <a:gridCol w="608892">
                  <a:extLst>
                    <a:ext uri="{9D8B030D-6E8A-4147-A177-3AD203B41FA5}">
                      <a16:colId xmlns:a16="http://schemas.microsoft.com/office/drawing/2014/main" val="3346174393"/>
                    </a:ext>
                  </a:extLst>
                </a:gridCol>
                <a:gridCol w="1433433">
                  <a:extLst>
                    <a:ext uri="{9D8B030D-6E8A-4147-A177-3AD203B41FA5}">
                      <a16:colId xmlns:a16="http://schemas.microsoft.com/office/drawing/2014/main" val="3917393893"/>
                    </a:ext>
                  </a:extLst>
                </a:gridCol>
                <a:gridCol w="1512716">
                  <a:extLst>
                    <a:ext uri="{9D8B030D-6E8A-4147-A177-3AD203B41FA5}">
                      <a16:colId xmlns:a16="http://schemas.microsoft.com/office/drawing/2014/main" val="1108682610"/>
                    </a:ext>
                  </a:extLst>
                </a:gridCol>
                <a:gridCol w="1512716">
                  <a:extLst>
                    <a:ext uri="{9D8B030D-6E8A-4147-A177-3AD203B41FA5}">
                      <a16:colId xmlns:a16="http://schemas.microsoft.com/office/drawing/2014/main" val="1038837042"/>
                    </a:ext>
                  </a:extLst>
                </a:gridCol>
                <a:gridCol w="1512716">
                  <a:extLst>
                    <a:ext uri="{9D8B030D-6E8A-4147-A177-3AD203B41FA5}">
                      <a16:colId xmlns:a16="http://schemas.microsoft.com/office/drawing/2014/main" val="1070367464"/>
                    </a:ext>
                  </a:extLst>
                </a:gridCol>
              </a:tblGrid>
              <a:tr h="190500">
                <a:tc>
                  <a:txBody>
                    <a:bodyPr/>
                    <a:lstStyle/>
                    <a:p>
                      <a:pPr algn="l" fontAlgn="b"/>
                      <a:r>
                        <a:rPr lang="en-US" sz="1100" b="0" u="none" strike="noStrike">
                          <a:solidFill>
                            <a:srgbClr val="000000"/>
                          </a:solidFill>
                          <a:effectLst/>
                        </a:rPr>
                        <a:t>Hospital Name</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Number of Beds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Inpatient Total Charges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Outpatient Total Charges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Inpatient Percent of Market Total</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Outpatient Percent of Market Total (Assuming 49% of Physicians Employed by Hospitals)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94491299"/>
                  </a:ext>
                </a:extLst>
              </a:tr>
              <a:tr h="190500">
                <a:tc>
                  <a:txBody>
                    <a:bodyPr/>
                    <a:lstStyle/>
                    <a:p>
                      <a:pPr algn="l" fontAlgn="b"/>
                      <a:r>
                        <a:rPr lang="en-US" sz="1100" b="0" u="none" strike="noStrike" dirty="0">
                          <a:solidFill>
                            <a:schemeClr val="accent1">
                              <a:lumMod val="75000"/>
                            </a:schemeClr>
                          </a:solidFill>
                          <a:effectLst/>
                        </a:rPr>
                        <a:t>Baptist Health Medical Center- Conway</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111</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$ 119,807,408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$ 177,044,562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3%</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2%</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89748083"/>
                  </a:ext>
                </a:extLst>
              </a:tr>
              <a:tr h="190500">
                <a:tc>
                  <a:txBody>
                    <a:bodyPr/>
                    <a:lstStyle/>
                    <a:p>
                      <a:pPr algn="l" fontAlgn="b"/>
                      <a:r>
                        <a:rPr lang="en-US" sz="1100" b="0" u="none" strike="noStrike">
                          <a:solidFill>
                            <a:schemeClr val="accent1">
                              <a:lumMod val="75000"/>
                            </a:schemeClr>
                          </a:solidFill>
                          <a:effectLst/>
                        </a:rPr>
                        <a:t>Baptist Health Medical Center North Little Rock</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182</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 $ 427,204,306 </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$ 384,097,066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9%</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5%</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18232"/>
                  </a:ext>
                </a:extLst>
              </a:tr>
              <a:tr h="190500">
                <a:tc>
                  <a:txBody>
                    <a:bodyPr/>
                    <a:lstStyle/>
                    <a:p>
                      <a:pPr algn="l" fontAlgn="b"/>
                      <a:r>
                        <a:rPr lang="en-US" sz="1100" b="0" u="none" strike="noStrike">
                          <a:solidFill>
                            <a:schemeClr val="accent1">
                              <a:lumMod val="75000"/>
                            </a:schemeClr>
                          </a:solidFill>
                          <a:effectLst/>
                        </a:rPr>
                        <a:t>Baptist Health Medical Center-Little Rock</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764</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 $ 1,411,378,066 </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$ 710,425,757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30%</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8%</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8018229"/>
                  </a:ext>
                </a:extLst>
              </a:tr>
              <a:tr h="190500">
                <a:tc>
                  <a:txBody>
                    <a:bodyPr/>
                    <a:lstStyle/>
                    <a:p>
                      <a:pPr algn="l" fontAlgn="b"/>
                      <a:r>
                        <a:rPr lang="en-US" sz="1100" b="0" u="none" strike="noStrike">
                          <a:solidFill>
                            <a:srgbClr val="000000"/>
                          </a:solidFill>
                          <a:effectLst/>
                        </a:rPr>
                        <a:t>Arkansas Heart Hospital, LLC</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112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$ 278,808,993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$ 384,732,489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41864630"/>
                  </a:ext>
                </a:extLst>
              </a:tr>
              <a:tr h="190500">
                <a:tc>
                  <a:txBody>
                    <a:bodyPr/>
                    <a:lstStyle/>
                    <a:p>
                      <a:pPr algn="l" fontAlgn="b"/>
                      <a:r>
                        <a:rPr lang="en-US" sz="1100" b="0" u="none" strike="noStrike">
                          <a:solidFill>
                            <a:srgbClr val="000000"/>
                          </a:solidFill>
                          <a:effectLst/>
                        </a:rPr>
                        <a:t>Arkansas Surgical Hospital</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49</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$ 129,464,179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$ 90,219,641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95878505"/>
                  </a:ext>
                </a:extLst>
              </a:tr>
              <a:tr h="190500">
                <a:tc>
                  <a:txBody>
                    <a:bodyPr/>
                    <a:lstStyle/>
                    <a:p>
                      <a:pPr algn="l" fontAlgn="b"/>
                      <a:r>
                        <a:rPr lang="en-US" sz="1100" b="0" u="none" strike="noStrike">
                          <a:solidFill>
                            <a:srgbClr val="000000"/>
                          </a:solidFill>
                          <a:effectLst/>
                        </a:rPr>
                        <a:t>CHI-St Vincent Infirmary</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371</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$ 881,413,385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$ 708,442,661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19%</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89177799"/>
                  </a:ext>
                </a:extLst>
              </a:tr>
              <a:tr h="190500">
                <a:tc>
                  <a:txBody>
                    <a:bodyPr/>
                    <a:lstStyle/>
                    <a:p>
                      <a:pPr algn="l" fontAlgn="b"/>
                      <a:r>
                        <a:rPr lang="en-US" sz="1100" b="0" u="none" strike="noStrike">
                          <a:solidFill>
                            <a:srgbClr val="000000"/>
                          </a:solidFill>
                          <a:effectLst/>
                        </a:rPr>
                        <a:t>Saline Memorial Hospital</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130</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$ 137,430,165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$ 173,419,236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44221091"/>
                  </a:ext>
                </a:extLst>
              </a:tr>
              <a:tr h="190500">
                <a:tc>
                  <a:txBody>
                    <a:bodyPr/>
                    <a:lstStyle/>
                    <a:p>
                      <a:pPr algn="l" fontAlgn="b"/>
                      <a:r>
                        <a:rPr lang="en-US" sz="1100" b="0" u="none" strike="noStrike">
                          <a:solidFill>
                            <a:srgbClr val="000000"/>
                          </a:solidFill>
                          <a:effectLst/>
                        </a:rPr>
                        <a:t>St Vincent Medical Center/North</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68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$ 180,325,244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$ 187,623,728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08637484"/>
                  </a:ext>
                </a:extLst>
              </a:tr>
              <a:tr h="190500">
                <a:tc>
                  <a:txBody>
                    <a:bodyPr/>
                    <a:lstStyle/>
                    <a:p>
                      <a:pPr algn="l" fontAlgn="b"/>
                      <a:r>
                        <a:rPr lang="en-US" sz="1100" b="0" u="none" strike="noStrike">
                          <a:solidFill>
                            <a:srgbClr val="000000"/>
                          </a:solidFill>
                          <a:effectLst/>
                        </a:rPr>
                        <a:t>UAMS Medical Center</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508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 $ 1,101,512,565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dirty="0">
                          <a:solidFill>
                            <a:srgbClr val="000000"/>
                          </a:solidFill>
                          <a:effectLst/>
                        </a:rPr>
                        <a:t> $ 1,317,322,011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24%</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dirty="0">
                          <a:solidFill>
                            <a:srgbClr val="000000"/>
                          </a:solidFill>
                          <a:effectLst/>
                        </a:rPr>
                        <a:t>16%</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754956085"/>
                  </a:ext>
                </a:extLst>
              </a:tr>
            </a:tbl>
          </a:graphicData>
        </a:graphic>
      </p:graphicFrame>
      <p:sp>
        <p:nvSpPr>
          <p:cNvPr id="10" name="TextBox 9">
            <a:extLst>
              <a:ext uri="{FF2B5EF4-FFF2-40B4-BE49-F238E27FC236}">
                <a16:creationId xmlns:a16="http://schemas.microsoft.com/office/drawing/2014/main" id="{DD333F58-1E5B-D213-65EE-BB627B8B12A8}"/>
              </a:ext>
            </a:extLst>
          </p:cNvPr>
          <p:cNvSpPr txBox="1"/>
          <p:nvPr/>
        </p:nvSpPr>
        <p:spPr>
          <a:xfrm>
            <a:off x="838202" y="5443697"/>
            <a:ext cx="10515600" cy="738664"/>
          </a:xfrm>
          <a:prstGeom prst="rect">
            <a:avLst/>
          </a:prstGeom>
          <a:noFill/>
        </p:spPr>
        <p:txBody>
          <a:bodyPr wrap="square" rtlCol="0">
            <a:spAutoFit/>
          </a:bodyPr>
          <a:lstStyle/>
          <a:p>
            <a:r>
              <a:rPr lang="en-US" sz="1400" dirty="0"/>
              <a:t>For outpatient market share, it is estimated that only 49% of local physicians are employed by area hospitals (Research from the Physician Advocacy Institute:  https://www.physiciansadvocacyinstitute.org/Portals/0/assets/docs/PAI-Research/PAI-Avalere%20Physician%20Employment%20Trends%20Study%202019-2023%20Final.pdf?ver=uGHF46u1GSeZgYXMKFyYvw%3d%3d)</a:t>
            </a:r>
          </a:p>
        </p:txBody>
      </p:sp>
      <p:sp>
        <p:nvSpPr>
          <p:cNvPr id="11" name="Right Bracket 10">
            <a:extLst>
              <a:ext uri="{FF2B5EF4-FFF2-40B4-BE49-F238E27FC236}">
                <a16:creationId xmlns:a16="http://schemas.microsoft.com/office/drawing/2014/main" id="{1A5E466B-3F38-C144-2C72-79C6737E6DAA}"/>
              </a:ext>
            </a:extLst>
          </p:cNvPr>
          <p:cNvSpPr/>
          <p:nvPr/>
        </p:nvSpPr>
        <p:spPr>
          <a:xfrm>
            <a:off x="9097645" y="2438400"/>
            <a:ext cx="372110" cy="92710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B6CBB0CA-FA56-A058-9ADE-3BA3CB5A0B37}"/>
              </a:ext>
            </a:extLst>
          </p:cNvPr>
          <p:cNvSpPr txBox="1"/>
          <p:nvPr/>
        </p:nvSpPr>
        <p:spPr>
          <a:xfrm>
            <a:off x="9583420" y="2640340"/>
            <a:ext cx="2357120" cy="523220"/>
          </a:xfrm>
          <a:prstGeom prst="rect">
            <a:avLst/>
          </a:prstGeom>
          <a:noFill/>
        </p:spPr>
        <p:txBody>
          <a:bodyPr wrap="none" rtlCol="0">
            <a:spAutoFit/>
          </a:bodyPr>
          <a:lstStyle/>
          <a:p>
            <a:r>
              <a:rPr lang="en-US" sz="1400" dirty="0">
                <a:solidFill>
                  <a:schemeClr val="accent1">
                    <a:lumMod val="75000"/>
                  </a:schemeClr>
                </a:solidFill>
              </a:rPr>
              <a:t>42% Inpatient Market Share</a:t>
            </a:r>
          </a:p>
          <a:p>
            <a:r>
              <a:rPr lang="en-US" sz="1400" dirty="0">
                <a:solidFill>
                  <a:schemeClr val="accent1">
                    <a:lumMod val="75000"/>
                  </a:schemeClr>
                </a:solidFill>
              </a:rPr>
              <a:t>15% Outpatient Market Share</a:t>
            </a:r>
          </a:p>
        </p:txBody>
      </p:sp>
    </p:spTree>
    <p:extLst>
      <p:ext uri="{BB962C8B-B14F-4D97-AF65-F5344CB8AC3E}">
        <p14:creationId xmlns:p14="http://schemas.microsoft.com/office/powerpoint/2010/main" val="3034923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938371359"/>
              </p:ext>
            </p:extLst>
          </p:nvPr>
        </p:nvGraphicFramePr>
        <p:xfrm>
          <a:off x="0" y="145140"/>
          <a:ext cx="12191999" cy="6551168"/>
        </p:xfrm>
        <a:graphic>
          <a:graphicData uri="http://schemas.openxmlformats.org/drawingml/2006/table">
            <a:tbl>
              <a:tblPr/>
              <a:tblGrid>
                <a:gridCol w="3177166">
                  <a:extLst>
                    <a:ext uri="{9D8B030D-6E8A-4147-A177-3AD203B41FA5}">
                      <a16:colId xmlns:a16="http://schemas.microsoft.com/office/drawing/2014/main" val="20000"/>
                    </a:ext>
                  </a:extLst>
                </a:gridCol>
                <a:gridCol w="2928292">
                  <a:extLst>
                    <a:ext uri="{9D8B030D-6E8A-4147-A177-3AD203B41FA5}">
                      <a16:colId xmlns:a16="http://schemas.microsoft.com/office/drawing/2014/main" val="20001"/>
                    </a:ext>
                  </a:extLst>
                </a:gridCol>
                <a:gridCol w="2751913">
                  <a:extLst>
                    <a:ext uri="{9D8B030D-6E8A-4147-A177-3AD203B41FA5}">
                      <a16:colId xmlns:a16="http://schemas.microsoft.com/office/drawing/2014/main" val="20002"/>
                    </a:ext>
                  </a:extLst>
                </a:gridCol>
                <a:gridCol w="3334628">
                  <a:extLst>
                    <a:ext uri="{9D8B030D-6E8A-4147-A177-3AD203B41FA5}">
                      <a16:colId xmlns:a16="http://schemas.microsoft.com/office/drawing/2014/main" val="20003"/>
                    </a:ext>
                  </a:extLst>
                </a:gridCol>
              </a:tblGrid>
              <a:tr h="0">
                <a:tc gridSpan="4">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177017">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Little Rock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Conway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North Little Rock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179,370</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16,591</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57,880</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51,933</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5,868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21,768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18,496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1,744</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5,571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15,285</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1,183</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$1,741,427K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$162,000.7K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$582,933.4K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$857,439.3K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$217,981.2K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$456,535.7K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$552,876.6K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$77,244.95K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$250,637.7K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1551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$382,321.4K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$32,274.6K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$85,579.13K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$806,229.1K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$52,481.14K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$246,716.6K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$31,252.17K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$5,289.367K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$12,331.34K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$1,792,813K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$169,407.2K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$589,095.5K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$882,740.6K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$227,947.1K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$461,361.7K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$2,675,554K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$397,354.2K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$1,050,457K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$-45,434.97K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$-12,082.97K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$1,343.286K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29.0%</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35.4%</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9.6%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49.9%</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49.5%</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33.7%</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36.6%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0">
                <a:tc>
                  <a:txBody>
                    <a:bodyPr/>
                    <a:lstStyle/>
                    <a:p>
                      <a:pPr marL="63500" marR="63500" algn="l">
                        <a:lnSpc>
                          <a:spcPct val="100000"/>
                        </a:lnSpc>
                        <a:spcBef>
                          <a:spcPts val="500"/>
                        </a:spcBef>
                        <a:spcAft>
                          <a:spcPts val="500"/>
                        </a:spcAft>
                        <a:buNone/>
                      </a:pPr>
                      <a:endParaRP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extLst>
                  <a:ext uri="{0D108BD9-81ED-4DB2-BD59-A6C34878D82A}">
                    <a16:rowId xmlns:a16="http://schemas.microsoft.com/office/drawing/2014/main" val="10024"/>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p:txBody>
          <a:bodyPr/>
          <a:lstStyle/>
          <a:p>
            <a:r>
              <a:rPr lang="en-US" dirty="0"/>
              <a:t>Estimating PMPY Spend With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387185150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$ 3,639 </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$ 6,617 </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$ 3,090 </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26</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t>KBA utilizes its data warehouse with greater than $3B in yearly adjudicated charges to estimate PMPY spend by inpatient, outpatient and professional charges. Pharmacy and non-health-system charges are excluded. </a:t>
            </a:r>
          </a:p>
          <a:p>
            <a:endParaRPr lang="en-US" sz="1400" dirty="0"/>
          </a:p>
          <a:p>
            <a:r>
              <a:rPr lang="en-US" sz="1400" dirty="0"/>
              <a:t>Using the Milliman area adjustment factors by zip code, charges are standardized to local estimates. </a:t>
            </a:r>
          </a:p>
          <a:p>
            <a:endParaRPr lang="en-US" sz="1400" dirty="0"/>
          </a:p>
          <a:p>
            <a:r>
              <a:rPr lang="en-US" sz="1400" dirty="0"/>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lstStyle/>
          <a:p>
            <a:r>
              <a:rPr lang="en-US" dirty="0"/>
              <a:t>Estimating Expected Steerage With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27</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26943445"/>
              </p:ext>
            </p:extLst>
          </p:nvPr>
        </p:nvGraphicFramePr>
        <p:xfrm>
          <a:off x="629020" y="1690688"/>
          <a:ext cx="9282575" cy="4378622"/>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p>
                  </a:txBody>
                  <a:tcPr marL="80580" marR="80580" marT="40290" marB="40290" anchor="ctr">
                    <a:lnL>
                      <a:noFill/>
                    </a:lnL>
                    <a:lnR>
                      <a:noFill/>
                    </a:lnR>
                    <a:lnT>
                      <a:noFill/>
                    </a:lnT>
                    <a:lnB>
                      <a:noFill/>
                    </a:lnB>
                  </a:tcPr>
                </a:tc>
                <a:tc gridSpan="4">
                  <a:txBody>
                    <a:bodyPr/>
                    <a:lstStyle/>
                    <a:p>
                      <a:r>
                        <a:rPr lang="en-US" sz="1600" b="1" u="sng"/>
                        <a:t>DTE Health Plan Utilization by Tier - DTE 2022-2023 YTD</a:t>
                      </a:r>
                      <a:endParaRPr lang="en-US" sz="1600"/>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pPr algn="ctr"/>
                      <a:r>
                        <a:rPr lang="en-US" sz="1600" b="1" u="sng" dirty="0"/>
                        <a:t>Charges</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u="sng" dirty="0"/>
                        <a:t>Paid</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dirty="0"/>
                        <a:t>Discount Equivalent</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a:t>Charge to Paid</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t>Tier 1</a:t>
                      </a:r>
                      <a:endParaRPr lang="en-US" sz="1600"/>
                    </a:p>
                  </a:txBody>
                  <a:tcPr marL="80580" marR="80580" marT="40290" marB="40290" anchor="ctr">
                    <a:lnL>
                      <a:noFill/>
                    </a:lnL>
                    <a:lnR>
                      <a:noFill/>
                    </a:lnR>
                    <a:lnT>
                      <a:noFill/>
                    </a:lnT>
                    <a:lnB>
                      <a:noFill/>
                    </a:lnB>
                  </a:tcPr>
                </a:tc>
                <a:tc>
                  <a:txBody>
                    <a:bodyPr/>
                    <a:lstStyle/>
                    <a:p>
                      <a:pPr algn="ctr"/>
                      <a:r>
                        <a:rPr lang="en-US" sz="1600" dirty="0"/>
                        <a:t> </a:t>
                      </a:r>
                    </a:p>
                  </a:txBody>
                  <a:tcPr marL="80580" marR="80580" marT="40290" marB="40290" anchor="ctr">
                    <a:lnL>
                      <a:noFill/>
                    </a:lnL>
                    <a:lnR>
                      <a:noFill/>
                    </a:lnR>
                    <a:lnT>
                      <a:noFill/>
                    </a:lnT>
                    <a:lnB>
                      <a:noFill/>
                    </a:lnB>
                  </a:tcPr>
                </a:tc>
                <a:tc>
                  <a:txBody>
                    <a:bodyPr/>
                    <a:lstStyle/>
                    <a:p>
                      <a:pPr algn="ctr"/>
                      <a:r>
                        <a:rPr lang="en-US" sz="1600" b="1"/>
                        <a:t>81.26%</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tc>
                  <a:txBody>
                    <a:bodyPr/>
                    <a:lstStyle/>
                    <a:p>
                      <a:pPr algn="ctr"/>
                      <a:r>
                        <a:rPr lang="en-US" sz="1600" b="1"/>
                        <a:t>77.42%</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t>Current DTE Network #1</a:t>
                      </a:r>
                    </a:p>
                  </a:txBody>
                  <a:tcPr marL="80580" marR="80580" marT="40290" marB="40290" anchor="ctr">
                    <a:lnL>
                      <a:noFill/>
                    </a:lnL>
                    <a:lnR>
                      <a:noFill/>
                    </a:lnR>
                    <a:lnT>
                      <a:noFill/>
                    </a:lnT>
                    <a:lnB>
                      <a:noFill/>
                    </a:lnB>
                  </a:tcPr>
                </a:tc>
                <a:tc>
                  <a:txBody>
                    <a:bodyPr/>
                    <a:lstStyle/>
                    <a:p>
                      <a:pPr algn="ctr"/>
                      <a:r>
                        <a:rPr lang="en-US" sz="1600" dirty="0"/>
                        <a:t>$     17,913,805.69</a:t>
                      </a:r>
                    </a:p>
                  </a:txBody>
                  <a:tcPr marL="80580" marR="80580" marT="40290" marB="40290" anchor="ctr">
                    <a:lnL>
                      <a:noFill/>
                    </a:lnL>
                    <a:lnR>
                      <a:noFill/>
                    </a:lnR>
                    <a:lnT>
                      <a:noFill/>
                    </a:lnT>
                    <a:lnB>
                      <a:noFill/>
                    </a:lnB>
                  </a:tcPr>
                </a:tc>
                <a:tc>
                  <a:txBody>
                    <a:bodyPr/>
                    <a:lstStyle/>
                    <a:p>
                      <a:pPr algn="ctr"/>
                      <a:r>
                        <a:rPr lang="en-US" sz="1600"/>
                        <a:t>54.82%</a:t>
                      </a:r>
                    </a:p>
                  </a:txBody>
                  <a:tcPr marL="80580" marR="80580" marT="40290" marB="40290" anchor="ctr">
                    <a:lnL>
                      <a:noFill/>
                    </a:lnL>
                    <a:lnR>
                      <a:noFill/>
                    </a:lnR>
                    <a:lnT>
                      <a:noFill/>
                    </a:lnT>
                    <a:lnB>
                      <a:noFill/>
                    </a:lnB>
                  </a:tcPr>
                </a:tc>
                <a:tc>
                  <a:txBody>
                    <a:bodyPr/>
                    <a:lstStyle/>
                    <a:p>
                      <a:pPr algn="ctr"/>
                      <a:r>
                        <a:rPr lang="en-US" sz="1600"/>
                        <a:t>$        6,907,327.88</a:t>
                      </a:r>
                    </a:p>
                  </a:txBody>
                  <a:tcPr marL="80580" marR="80580" marT="40290" marB="40290" anchor="ctr">
                    <a:lnL>
                      <a:noFill/>
                    </a:lnL>
                    <a:lnR>
                      <a:noFill/>
                    </a:lnR>
                    <a:lnT>
                      <a:noFill/>
                    </a:lnT>
                    <a:lnB>
                      <a:noFill/>
                    </a:lnB>
                  </a:tcPr>
                </a:tc>
                <a:tc>
                  <a:txBody>
                    <a:bodyPr/>
                    <a:lstStyle/>
                    <a:p>
                      <a:pPr algn="ctr"/>
                      <a:r>
                        <a:rPr lang="en-US" sz="1600"/>
                        <a:t>58.63%</a:t>
                      </a:r>
                    </a:p>
                  </a:txBody>
                  <a:tcPr marL="80580" marR="80580" marT="40290" marB="40290" anchor="ctr">
                    <a:lnL>
                      <a:noFill/>
                    </a:lnL>
                    <a:lnR>
                      <a:noFill/>
                    </a:lnR>
                    <a:lnT>
                      <a:noFill/>
                    </a:lnT>
                    <a:lnB>
                      <a:noFill/>
                    </a:lnB>
                  </a:tcPr>
                </a:tc>
                <a:tc>
                  <a:txBody>
                    <a:bodyPr/>
                    <a:lstStyle/>
                    <a:p>
                      <a:pPr algn="ctr"/>
                      <a:r>
                        <a:rPr lang="en-US" sz="1600" b="1"/>
                        <a:t>-61.44%</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t>Current DTE Network #2</a:t>
                      </a:r>
                    </a:p>
                  </a:txBody>
                  <a:tcPr marL="80580" marR="80580" marT="40290" marB="40290" anchor="ctr">
                    <a:lnL>
                      <a:noFill/>
                    </a:lnL>
                    <a:lnR>
                      <a:noFill/>
                    </a:lnR>
                    <a:lnT>
                      <a:noFill/>
                    </a:lnT>
                    <a:lnB>
                      <a:noFill/>
                    </a:lnB>
                  </a:tcPr>
                </a:tc>
                <a:tc>
                  <a:txBody>
                    <a:bodyPr/>
                    <a:lstStyle/>
                    <a:p>
                      <a:pPr algn="ctr"/>
                      <a:r>
                        <a:rPr lang="en-US" sz="1600" dirty="0"/>
                        <a:t>$         8,460,570.40</a:t>
                      </a:r>
                    </a:p>
                  </a:txBody>
                  <a:tcPr marL="80580" marR="80580" marT="40290" marB="40290" anchor="ctr">
                    <a:lnL>
                      <a:noFill/>
                    </a:lnL>
                    <a:lnR>
                      <a:noFill/>
                    </a:lnR>
                    <a:lnT>
                      <a:noFill/>
                    </a:lnT>
                    <a:lnB>
                      <a:noFill/>
                    </a:lnB>
                  </a:tcPr>
                </a:tc>
                <a:tc>
                  <a:txBody>
                    <a:bodyPr/>
                    <a:lstStyle/>
                    <a:p>
                      <a:pPr algn="ctr"/>
                      <a:r>
                        <a:rPr lang="en-US" sz="1600"/>
                        <a:t>78.37%</a:t>
                      </a:r>
                    </a:p>
                  </a:txBody>
                  <a:tcPr marL="80580" marR="80580" marT="40290" marB="40290" anchor="ctr">
                    <a:lnL>
                      <a:noFill/>
                    </a:lnL>
                    <a:lnR>
                      <a:noFill/>
                    </a:lnR>
                    <a:lnT>
                      <a:noFill/>
                    </a:lnT>
                    <a:lnB>
                      <a:noFill/>
                    </a:lnB>
                  </a:tcPr>
                </a:tc>
                <a:tc>
                  <a:txBody>
                    <a:bodyPr/>
                    <a:lstStyle/>
                    <a:p>
                      <a:pPr algn="ctr"/>
                      <a:r>
                        <a:rPr lang="en-US" sz="1600"/>
                        <a:t>$         3,280,571.45</a:t>
                      </a:r>
                    </a:p>
                  </a:txBody>
                  <a:tcPr marL="80580" marR="80580" marT="40290" marB="40290" anchor="ctr">
                    <a:lnL>
                      <a:noFill/>
                    </a:lnL>
                    <a:lnR>
                      <a:noFill/>
                    </a:lnR>
                    <a:lnT>
                      <a:noFill/>
                    </a:lnT>
                    <a:lnB>
                      <a:noFill/>
                    </a:lnB>
                  </a:tcPr>
                </a:tc>
                <a:tc>
                  <a:txBody>
                    <a:bodyPr/>
                    <a:lstStyle/>
                    <a:p>
                      <a:pPr algn="ctr"/>
                      <a:r>
                        <a:rPr lang="en-US" sz="1600"/>
                        <a:t>77.62%</a:t>
                      </a:r>
                    </a:p>
                  </a:txBody>
                  <a:tcPr marL="80580" marR="80580" marT="40290" marB="40290" anchor="ctr">
                    <a:lnL>
                      <a:noFill/>
                    </a:lnL>
                    <a:lnR>
                      <a:noFill/>
                    </a:lnR>
                    <a:lnT>
                      <a:noFill/>
                    </a:lnT>
                    <a:lnB>
                      <a:noFill/>
                    </a:lnB>
                  </a:tcPr>
                </a:tc>
                <a:tc>
                  <a:txBody>
                    <a:bodyPr/>
                    <a:lstStyle/>
                    <a:p>
                      <a:pPr algn="ctr"/>
                      <a:r>
                        <a:rPr lang="en-US" sz="1600" b="1"/>
                        <a:t>-61.23%</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t>Current DTE Network #3</a:t>
                      </a:r>
                    </a:p>
                  </a:txBody>
                  <a:tcPr marL="80580" marR="80580" marT="40290" marB="40290" anchor="ctr">
                    <a:lnL>
                      <a:noFill/>
                    </a:lnL>
                    <a:lnR>
                      <a:noFill/>
                    </a:lnR>
                    <a:lnT>
                      <a:noFill/>
                    </a:lnT>
                    <a:lnB>
                      <a:noFill/>
                    </a:lnB>
                  </a:tcPr>
                </a:tc>
                <a:tc>
                  <a:txBody>
                    <a:bodyPr/>
                    <a:lstStyle/>
                    <a:p>
                      <a:pPr algn="ctr"/>
                      <a:r>
                        <a:rPr lang="en-US" sz="1600" dirty="0"/>
                        <a:t>$            629,748.27</a:t>
                      </a:r>
                    </a:p>
                  </a:txBody>
                  <a:tcPr marL="80580" marR="80580" marT="40290" marB="40290" anchor="ctr">
                    <a:lnL>
                      <a:noFill/>
                    </a:lnL>
                    <a:lnR>
                      <a:noFill/>
                    </a:lnR>
                    <a:lnT>
                      <a:noFill/>
                    </a:lnT>
                    <a:lnB>
                      <a:noFill/>
                    </a:lnB>
                  </a:tcPr>
                </a:tc>
                <a:tc>
                  <a:txBody>
                    <a:bodyPr/>
                    <a:lstStyle/>
                    <a:p>
                      <a:pPr algn="ctr"/>
                      <a:r>
                        <a:rPr lang="en-US" sz="1600"/>
                        <a:t>72.98%</a:t>
                      </a:r>
                    </a:p>
                  </a:txBody>
                  <a:tcPr marL="80580" marR="80580" marT="40290" marB="40290" anchor="ctr">
                    <a:lnL>
                      <a:noFill/>
                    </a:lnL>
                    <a:lnR>
                      <a:noFill/>
                    </a:lnR>
                    <a:lnT>
                      <a:noFill/>
                    </a:lnT>
                    <a:lnB>
                      <a:noFill/>
                    </a:lnB>
                  </a:tcPr>
                </a:tc>
                <a:tc>
                  <a:txBody>
                    <a:bodyPr/>
                    <a:lstStyle/>
                    <a:p>
                      <a:pPr algn="ctr"/>
                      <a:r>
                        <a:rPr lang="en-US" sz="1600"/>
                        <a:t>$            198,216.95</a:t>
                      </a:r>
                    </a:p>
                  </a:txBody>
                  <a:tcPr marL="80580" marR="80580" marT="40290" marB="40290" anchor="ctr">
                    <a:lnL>
                      <a:noFill/>
                    </a:lnL>
                    <a:lnR>
                      <a:noFill/>
                    </a:lnR>
                    <a:lnT>
                      <a:noFill/>
                    </a:lnT>
                    <a:lnB>
                      <a:noFill/>
                    </a:lnB>
                  </a:tcPr>
                </a:tc>
                <a:tc>
                  <a:txBody>
                    <a:bodyPr/>
                    <a:lstStyle/>
                    <a:p>
                      <a:pPr algn="ctr"/>
                      <a:r>
                        <a:rPr lang="en-US" sz="1600"/>
                        <a:t>80.64%</a:t>
                      </a:r>
                    </a:p>
                  </a:txBody>
                  <a:tcPr marL="80580" marR="80580" marT="40290" marB="40290" anchor="ctr">
                    <a:lnL>
                      <a:noFill/>
                    </a:lnL>
                    <a:lnR>
                      <a:noFill/>
                    </a:lnR>
                    <a:lnT>
                      <a:noFill/>
                    </a:lnT>
                    <a:lnB>
                      <a:noFill/>
                    </a:lnB>
                  </a:tcPr>
                </a:tc>
                <a:tc>
                  <a:txBody>
                    <a:bodyPr/>
                    <a:lstStyle/>
                    <a:p>
                      <a:pPr algn="ctr"/>
                      <a:r>
                        <a:rPr lang="en-US" sz="1600" b="1"/>
                        <a:t>-68.52%</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t>Current DTE Network #4</a:t>
                      </a:r>
                    </a:p>
                  </a:txBody>
                  <a:tcPr marL="80580" marR="80580" marT="40290" marB="40290" anchor="ctr">
                    <a:lnL>
                      <a:noFill/>
                    </a:lnL>
                    <a:lnR>
                      <a:noFill/>
                    </a:lnR>
                    <a:lnT>
                      <a:noFill/>
                    </a:lnT>
                    <a:lnB>
                      <a:noFill/>
                    </a:lnB>
                  </a:tcPr>
                </a:tc>
                <a:tc>
                  <a:txBody>
                    <a:bodyPr/>
                    <a:lstStyle/>
                    <a:p>
                      <a:pPr algn="ctr"/>
                      <a:r>
                        <a:rPr lang="en-US" sz="1600" u="sng" dirty="0"/>
                        <a:t>$      58,261,069.02</a:t>
                      </a:r>
                      <a:endParaRPr lang="en-US" sz="1600" dirty="0"/>
                    </a:p>
                  </a:txBody>
                  <a:tcPr marL="80580" marR="80580" marT="40290" marB="40290" anchor="ctr">
                    <a:lnL>
                      <a:noFill/>
                    </a:lnL>
                    <a:lnR>
                      <a:noFill/>
                    </a:lnR>
                    <a:lnT>
                      <a:noFill/>
                    </a:lnT>
                    <a:lnB>
                      <a:noFill/>
                    </a:lnB>
                  </a:tcPr>
                </a:tc>
                <a:tc>
                  <a:txBody>
                    <a:bodyPr/>
                    <a:lstStyle/>
                    <a:p>
                      <a:pPr algn="ctr"/>
                      <a:r>
                        <a:rPr lang="en-US" sz="1600" dirty="0"/>
                        <a:t>96.15%</a:t>
                      </a:r>
                    </a:p>
                  </a:txBody>
                  <a:tcPr marL="80580" marR="80580" marT="40290" marB="40290" anchor="ctr">
                    <a:lnL>
                      <a:noFill/>
                    </a:lnL>
                    <a:lnR>
                      <a:noFill/>
                    </a:lnR>
                    <a:lnT>
                      <a:noFill/>
                    </a:lnT>
                    <a:lnB>
                      <a:noFill/>
                    </a:lnB>
                  </a:tcPr>
                </a:tc>
                <a:tc>
                  <a:txBody>
                    <a:bodyPr/>
                    <a:lstStyle/>
                    <a:p>
                      <a:pPr algn="ctr"/>
                      <a:r>
                        <a:rPr lang="en-US" sz="1600" u="sng"/>
                        <a:t>$      12,968,046.77</a:t>
                      </a:r>
                      <a:endParaRPr lang="en-US" sz="1600"/>
                    </a:p>
                  </a:txBody>
                  <a:tcPr marL="80580" marR="80580" marT="40290" marB="40290" anchor="ctr">
                    <a:lnL>
                      <a:noFill/>
                    </a:lnL>
                    <a:lnR>
                      <a:noFill/>
                    </a:lnR>
                    <a:lnT>
                      <a:noFill/>
                    </a:lnT>
                    <a:lnB>
                      <a:noFill/>
                    </a:lnB>
                  </a:tcPr>
                </a:tc>
                <a:tc>
                  <a:txBody>
                    <a:bodyPr/>
                    <a:lstStyle/>
                    <a:p>
                      <a:pPr algn="ctr"/>
                      <a:r>
                        <a:rPr lang="en-US" sz="1600" dirty="0"/>
                        <a:t>93.20%</a:t>
                      </a:r>
                    </a:p>
                  </a:txBody>
                  <a:tcPr marL="80580" marR="80580" marT="40290" marB="40290" anchor="ctr">
                    <a:lnL>
                      <a:noFill/>
                    </a:lnL>
                    <a:lnR>
                      <a:noFill/>
                    </a:lnR>
                    <a:lnT>
                      <a:noFill/>
                    </a:lnT>
                    <a:lnB>
                      <a:noFill/>
                    </a:lnB>
                  </a:tcPr>
                </a:tc>
                <a:tc>
                  <a:txBody>
                    <a:bodyPr/>
                    <a:lstStyle/>
                    <a:p>
                      <a:pPr algn="ctr"/>
                      <a:r>
                        <a:rPr lang="en-US" sz="1600" b="1" dirty="0"/>
                        <a:t>-77.74%</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r>
                        <a:rPr lang="en-US" sz="1600" b="1"/>
                        <a:t>$     85,265,193.38 </a:t>
                      </a:r>
                      <a:endParaRPr lang="en-US" sz="160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dirty="0"/>
                        <a:t>$     23,354,163.05</a:t>
                      </a:r>
                      <a:endParaRPr lang="en-US" sz="1600" dirty="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dirty="0"/>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291814" y="2851933"/>
            <a:ext cx="814428" cy="3905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2105"/>
              <a:gd name="adj4" fmla="val -98255"/>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t>28</a:t>
            </a:fld>
            <a:endParaRPr lang="en-US" dirty="0"/>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563590433"/>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Patients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$ 5,136,946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$ 9,338,166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$ 1,587,090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$ 16,062,202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$ 891,113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$ 1,619,904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$ 275,315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$ 2,786,332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9" name="TextBox 8">
            <a:extLst>
              <a:ext uri="{FF2B5EF4-FFF2-40B4-BE49-F238E27FC236}">
                <a16:creationId xmlns:a16="http://schemas.microsoft.com/office/drawing/2014/main" id="{60820A86-1B9D-21A4-BBB6-DDFB73605882}"/>
              </a:ext>
            </a:extLst>
          </p:cNvPr>
          <p:cNvSpPr txBox="1"/>
          <p:nvPr/>
        </p:nvSpPr>
        <p:spPr>
          <a:xfrm>
            <a:off x="7683498" y="744927"/>
            <a:ext cx="4318001" cy="523220"/>
          </a:xfrm>
          <a:prstGeom prst="rect">
            <a:avLst/>
          </a:prstGeom>
          <a:noFill/>
        </p:spPr>
        <p:txBody>
          <a:bodyPr wrap="square">
            <a:spAutoFit/>
          </a:bodyPr>
          <a:lstStyle/>
          <a:p>
            <a:r>
              <a:rPr lang="en-US" sz="1400" dirty="0"/>
              <a:t>† Assuming proportional revenues from market shares of 42% (inpatient) and 15% (outpatient)</a:t>
            </a:r>
          </a:p>
        </p:txBody>
      </p:sp>
      <p:sp>
        <p:nvSpPr>
          <p:cNvPr id="10" name="TextBox 9">
            <a:extLst>
              <a:ext uri="{FF2B5EF4-FFF2-40B4-BE49-F238E27FC236}">
                <a16:creationId xmlns:a16="http://schemas.microsoft.com/office/drawing/2014/main" id="{6CDBA057-BBD2-8F54-E977-26B782E37F88}"/>
              </a:ext>
            </a:extLst>
          </p:cNvPr>
          <p:cNvSpPr txBox="1"/>
          <p:nvPr/>
        </p:nvSpPr>
        <p:spPr>
          <a:xfrm>
            <a:off x="7683497" y="1306965"/>
            <a:ext cx="4318001" cy="523220"/>
          </a:xfrm>
          <a:prstGeom prst="rect">
            <a:avLst/>
          </a:prstGeom>
          <a:noFill/>
        </p:spPr>
        <p:txBody>
          <a:bodyPr wrap="square">
            <a:spAutoFit/>
          </a:bodyPr>
          <a:lstStyle/>
          <a:p>
            <a:r>
              <a:rPr lang="en-US" sz="1400" dirty="0"/>
              <a:t>‡ Conservatively assuming a commercial margin of 17% (half of the estimated commercial margin)</a:t>
            </a:r>
          </a:p>
        </p:txBody>
      </p:sp>
      <p:sp>
        <p:nvSpPr>
          <p:cNvPr id="11" name="TextBox 10">
            <a:extLst>
              <a:ext uri="{FF2B5EF4-FFF2-40B4-BE49-F238E27FC236}">
                <a16:creationId xmlns:a16="http://schemas.microsoft.com/office/drawing/2014/main" id="{C690F22E-C9CA-61DC-5584-149573110610}"/>
              </a:ext>
            </a:extLst>
          </p:cNvPr>
          <p:cNvSpPr txBox="1"/>
          <p:nvPr/>
        </p:nvSpPr>
        <p:spPr>
          <a:xfrm>
            <a:off x="7683497" y="2013982"/>
            <a:ext cx="4318001" cy="523220"/>
          </a:xfrm>
          <a:prstGeom prst="rect">
            <a:avLst/>
          </a:prstGeom>
          <a:noFill/>
        </p:spPr>
        <p:txBody>
          <a:bodyPr wrap="square">
            <a:spAutoFit/>
          </a:bodyPr>
          <a:lstStyle/>
          <a:p>
            <a:r>
              <a:rPr lang="en-US" sz="1400" dirty="0"/>
              <a:t>⁰ Assuming 77.42% market share based on KBA narrow network DTE experience</a:t>
            </a:r>
          </a:p>
        </p:txBody>
      </p:sp>
      <p:sp>
        <p:nvSpPr>
          <p:cNvPr id="12" name="TextBox 11">
            <a:extLst>
              <a:ext uri="{FF2B5EF4-FFF2-40B4-BE49-F238E27FC236}">
                <a16:creationId xmlns:a16="http://schemas.microsoft.com/office/drawing/2014/main" id="{A897897D-C568-B204-6568-514AD4B71A5C}"/>
              </a:ext>
            </a:extLst>
          </p:cNvPr>
          <p:cNvSpPr txBox="1"/>
          <p:nvPr/>
        </p:nvSpPr>
        <p:spPr>
          <a:xfrm>
            <a:off x="7683497" y="2576020"/>
            <a:ext cx="4318002" cy="954107"/>
          </a:xfrm>
          <a:prstGeom prst="rect">
            <a:avLst/>
          </a:prstGeom>
          <a:noFill/>
        </p:spPr>
        <p:txBody>
          <a:bodyPr wrap="square">
            <a:spAutoFit/>
          </a:bodyPr>
          <a:lstStyle/>
          <a:p>
            <a:r>
              <a:rPr lang="en-US" sz="1400" dirty="0"/>
              <a:t>* Conservatively assuming a commercial margin of 21.6%, with a 10 percentage-point reduction to reflect competitive-edge rates and a 5 percentage-point increase to reflect lower billing costs.  </a:t>
            </a:r>
          </a:p>
        </p:txBody>
      </p:sp>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412044985"/>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$ 2,399,509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$ 2,459,509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$ 2,129,509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2245928210"/>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$ 11,454,289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$ 20,822,109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$ 9,723,952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$ 42,000,350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$ 1,414,277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$ 2,570,935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$ 1,200,630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$ 5,185,841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Tree>
    <p:extLst>
      <p:ext uri="{BB962C8B-B14F-4D97-AF65-F5344CB8AC3E}">
        <p14:creationId xmlns:p14="http://schemas.microsoft.com/office/powerpoint/2010/main" val="2977719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490969708"/>
              </p:ext>
            </p:extLst>
          </p:nvPr>
        </p:nvGraphicFramePr>
        <p:xfrm>
          <a:off x="0" y="0"/>
          <a:ext cx="12192002" cy="62788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$20,547.8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$45,817.2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$1,414.3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$2,828.6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$5,657.1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$12,634.7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$25,269.4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$523.2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$1,046.3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$2,092.7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$37,352.7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$6,479.6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$83,288.4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$514.2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$5,141.9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$10,283.7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$45,935.8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$951.0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$1,902.1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$3,804.1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$1,587.1</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$6,348.4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$275.3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$9,724.0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$38,895.8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$32,547.4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$92.5</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$185.1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$925.3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$1,850.6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$3,701.3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294279851"/>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$64,248.8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$2,786.3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$168,001.4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$103,752.6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$20,743.4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$2,399.5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$4,799.0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$9,598.0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$-84.0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$161.9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$2,129.5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$4,589.0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$9,508.0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1004199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445495145"/>
              </p:ext>
            </p:extLst>
          </p:nvPr>
        </p:nvGraphicFramePr>
        <p:xfrm>
          <a:off x="0" y="0"/>
          <a:ext cx="12192002" cy="62788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$20,547.8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$7,128.9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$45,817.2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$13,605.1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$631.7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$12,634.7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$25,269.4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$3,238.1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$6,476.2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$37,352.7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$648.0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$6,479.6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$12,959.2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$83,288.4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$6,183.0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$12,365.9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$24,731.9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$11,483.9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$45,935.8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$588.6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$2,943.2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$5,886.3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$11,772.7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$1,587.1</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$6,348.4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$38,895.8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$5,774.9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$11,549.8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$32,547.4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$2,336.8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$4,673.7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$9,347.3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094723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695471698"/>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Overall </a:t>
                      </a:r>
                      <a:r>
                        <a:rPr sz="2000" b="1" i="0" u="none" cap="none" dirty="0">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$64,248.8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$557.3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$22,290.7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$8,400.1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$168,001.4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$103,752.6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$1,247.2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$2,494.3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$12,471.7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$24,943.4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$49,886.8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$689.9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$1,379.8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$6,899.0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$13,798.1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$27,596.1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$365.9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$1,061.8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$6,629.0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$13,588.1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$27,506.1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Baptist Health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print">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print">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Baptist Health</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print">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33</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612068607"/>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rPr>
                        <a:t>Baptist Health</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Gain Sharing Determination</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Physician Formulas – With KBA Assistance</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Hospital Formulas – With KBA Assistance</a:t>
                      </a:r>
                    </a:p>
                    <a:p>
                      <a:pPr marL="0" marR="0">
                        <a:spcBef>
                          <a:spcPts val="0"/>
                        </a:spcBef>
                        <a:spcAft>
                          <a:spcPts val="0"/>
                        </a:spcAft>
                        <a:tabLst>
                          <a:tab pos="4465955" algn="l"/>
                        </a:tabLs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Baptist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34</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35</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4283055071"/>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36</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37</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462486"/>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38</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Jack Hill, Executive Vice President – KBA</a:t>
            </a:r>
          </a:p>
          <a:p>
            <a:pPr algn="ctr"/>
            <a:r>
              <a:rPr lang="en-US" dirty="0">
                <a:solidFill>
                  <a:schemeClr val="bg1"/>
                </a:solidFill>
                <a:latin typeface="Arial" panose="020B0604020202020204" pitchFamily="34" charset="0"/>
                <a:cs typeface="Arial" panose="020B0604020202020204" pitchFamily="34" charset="0"/>
              </a:rPr>
              <a:t>630-878-7539 * </a:t>
            </a:r>
            <a:r>
              <a:rPr lang="en-US" dirty="0">
                <a:solidFill>
                  <a:schemeClr val="bg1"/>
                </a:solidFill>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val="tx"/>
                    </a:ext>
                  </a:extLst>
                </a:hlinkClick>
              </a:rPr>
              <a:t>jack.hill@keybenefit.com</a:t>
            </a: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38328</TotalTime>
  <Words>4742</Words>
  <Application>Microsoft Office PowerPoint</Application>
  <PresentationFormat>Widescreen</PresentationFormat>
  <Paragraphs>1324</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Aptos Narrow</vt:lpstr>
      <vt:lpstr>Arial</vt:lpstr>
      <vt:lpstr>Arial Black</vt:lpstr>
      <vt:lpstr>Calibri</vt:lpstr>
      <vt:lpstr>Calibri Light</vt:lpstr>
      <vt:lpstr>Century Gothic</vt:lpstr>
      <vt:lpstr>Wingdings</vt:lpstr>
      <vt:lpstr>Office Theme</vt:lpstr>
      <vt:lpstr>PowerPoint Presentation</vt:lpstr>
      <vt:lpstr>Healthcare Leader in Private Labeled DTE Plans</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Baptist Health</vt:lpstr>
      <vt:lpstr>PowerPoint Presentation</vt:lpstr>
      <vt:lpstr>FOUR-YEAR PROJECTIONS</vt:lpstr>
      <vt:lpstr>Direct-to-Employer Strategy: Only Available to Premier Health Systems</vt:lpstr>
      <vt:lpstr>BHS NETWORK </vt:lpstr>
      <vt:lpstr>PowerPoint Presentation</vt:lpstr>
      <vt:lpstr>FINANCIAL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vt:lpstr>
      <vt:lpstr>Estimation of BH 2021 Inpatient Payer Mix</vt:lpstr>
      <vt:lpstr>Estimation of Margin for Commercial vs. Government Pay</vt:lpstr>
      <vt:lpstr>Estimating Market Share</vt:lpstr>
      <vt:lpstr>PowerPoint Presentation</vt:lpstr>
      <vt:lpstr>Estimating PMPY Spend With KBA Data</vt:lpstr>
      <vt:lpstr>Estimating Expected Steerage With KBA Data</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97</cp:revision>
  <cp:lastPrinted>2023-07-13T10:24:43Z</cp:lastPrinted>
  <dcterms:created xsi:type="dcterms:W3CDTF">2021-01-20T14:12:11Z</dcterms:created>
  <dcterms:modified xsi:type="dcterms:W3CDTF">2024-07-23T19:53:05Z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