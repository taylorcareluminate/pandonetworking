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68" r:id="rId6"/>
  </p:sldMasterIdLst>
  <p:notesMasterIdLst>
    <p:notesMasterId r:id="rId57"/>
  </p:notesMasterIdLst>
  <p:sldIdLst>
    <p:sldId id="488" r:id="rId7"/>
    <p:sldId id="495" r:id="rId8"/>
    <p:sldId id="450" r:id="rId9"/>
    <p:sldId id="487" r:id="rId10"/>
    <p:sldId id="518" r:id="rId11"/>
    <p:sldId id="520" r:id="rId12"/>
    <p:sldId id="521" r:id="rId13"/>
    <p:sldId id="267" r:id="rId14"/>
    <p:sldId id="259" r:id="rId15"/>
    <p:sldId id="260" r:id="rId16"/>
    <p:sldId id="263" r:id="rId17"/>
    <p:sldId id="265" r:id="rId18"/>
    <p:sldId id="499" r:id="rId19"/>
    <p:sldId id="519" r:id="rId20"/>
    <p:sldId id="451" r:id="rId21"/>
    <p:sldId id="452" r:id="rId22"/>
    <p:sldId id="497" r:id="rId23"/>
    <p:sldId id="454" r:id="rId24"/>
    <p:sldId id="455" r:id="rId25"/>
    <p:sldId id="492" r:id="rId26"/>
    <p:sldId id="498" r:id="rId27"/>
    <p:sldId id="456" r:id="rId28"/>
    <p:sldId id="458" r:id="rId29"/>
    <p:sldId id="445" r:id="rId30"/>
    <p:sldId id="446" r:id="rId31"/>
    <p:sldId id="461" r:id="rId32"/>
    <p:sldId id="462" r:id="rId33"/>
    <p:sldId id="466" r:id="rId34"/>
    <p:sldId id="517" r:id="rId35"/>
    <p:sldId id="489" r:id="rId36"/>
    <p:sldId id="469" r:id="rId37"/>
    <p:sldId id="336" r:id="rId38"/>
    <p:sldId id="337" r:id="rId39"/>
    <p:sldId id="470" r:id="rId40"/>
    <p:sldId id="325" r:id="rId41"/>
    <p:sldId id="501" r:id="rId42"/>
    <p:sldId id="524" r:id="rId43"/>
    <p:sldId id="525" r:id="rId44"/>
    <p:sldId id="527" r:id="rId45"/>
    <p:sldId id="535" r:id="rId46"/>
    <p:sldId id="546" r:id="rId47"/>
    <p:sldId id="547" r:id="rId48"/>
    <p:sldId id="536" r:id="rId49"/>
    <p:sldId id="537" r:id="rId50"/>
    <p:sldId id="256" r:id="rId51"/>
    <p:sldId id="539" r:id="rId52"/>
    <p:sldId id="538" r:id="rId53"/>
    <p:sldId id="326" r:id="rId54"/>
    <p:sldId id="491" r:id="rId55"/>
    <p:sldId id="472" r:id="rId56"/>
  </p:sldIdLst>
  <p:sldSz cx="12192000" cy="6858000"/>
  <p:notesSz cx="7315200" cy="9601200"/>
  <p:custDataLst>
    <p:tags r:id="rId5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3C0C"/>
    <a:srgbClr val="01A050"/>
    <a:srgbClr val="30589B"/>
    <a:srgbClr val="6A8C98"/>
    <a:srgbClr val="59CAE8"/>
    <a:srgbClr val="244F9A"/>
    <a:srgbClr val="254F96"/>
    <a:srgbClr val="61A606"/>
    <a:srgbClr val="019CA5"/>
    <a:srgbClr val="7D3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B89867-6E9F-4FC0-8785-17CB5B6F109A}" v="18" dt="2024-07-19T15:21:16.835"/>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5" d="100"/>
          <a:sy n="75" d="100"/>
        </p:scale>
        <p:origin x="1098" y="80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tags" Target="tags/tag1.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microsoft.com/office/2016/11/relationships/changesInfo" Target="changesInfos/changesInfo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commentAuthors" Target="commentAuthor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notesMaster" Target="notesMasters/notesMaster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57B89867-6E9F-4FC0-8785-17CB5B6F109A}"/>
    <pc:docChg chg="undo custSel addSld delSld modSld sldOrd">
      <pc:chgData name="Taylor Davis" userId="5c9e72a0-c39f-4aa1-9d7d-64125e78cbe6" providerId="ADAL" clId="{57B89867-6E9F-4FC0-8785-17CB5B6F109A}" dt="2024-07-19T15:22:59.788" v="191" actId="207"/>
      <pc:docMkLst>
        <pc:docMk/>
      </pc:docMkLst>
      <pc:sldChg chg="modSp add del mod">
        <pc:chgData name="Taylor Davis" userId="5c9e72a0-c39f-4aa1-9d7d-64125e78cbe6" providerId="ADAL" clId="{57B89867-6E9F-4FC0-8785-17CB5B6F109A}" dt="2024-07-19T15:05:03.869" v="121" actId="20577"/>
        <pc:sldMkLst>
          <pc:docMk/>
          <pc:sldMk cId="0" sldId="256"/>
        </pc:sldMkLst>
        <pc:graphicFrameChg chg="mod modGraphic">
          <ac:chgData name="Taylor Davis" userId="5c9e72a0-c39f-4aa1-9d7d-64125e78cbe6" providerId="ADAL" clId="{57B89867-6E9F-4FC0-8785-17CB5B6F109A}" dt="2024-07-19T15:05:03.869" v="121" actId="20577"/>
          <ac:graphicFrameMkLst>
            <pc:docMk/>
            <pc:sldMk cId="0" sldId="256"/>
            <ac:graphicFrameMk id="2" creationId="{00000000-0000-0000-0000-000000000000}"/>
          </ac:graphicFrameMkLst>
        </pc:graphicFrameChg>
      </pc:sldChg>
      <pc:sldChg chg="modSp mod">
        <pc:chgData name="Taylor Davis" userId="5c9e72a0-c39f-4aa1-9d7d-64125e78cbe6" providerId="ADAL" clId="{57B89867-6E9F-4FC0-8785-17CB5B6F109A}" dt="2024-07-19T15:07:30.812" v="155" actId="20577"/>
        <pc:sldMkLst>
          <pc:docMk/>
          <pc:sldMk cId="3100464503" sldId="488"/>
        </pc:sldMkLst>
        <pc:spChg chg="mod">
          <ac:chgData name="Taylor Davis" userId="5c9e72a0-c39f-4aa1-9d7d-64125e78cbe6" providerId="ADAL" clId="{57B89867-6E9F-4FC0-8785-17CB5B6F109A}" dt="2024-07-19T15:07:30.812" v="155" actId="20577"/>
          <ac:spMkLst>
            <pc:docMk/>
            <pc:sldMk cId="3100464503" sldId="488"/>
            <ac:spMk id="10" creationId="{B981BBA2-A3ED-6F7B-693B-880E5B031B26}"/>
          </ac:spMkLst>
        </pc:spChg>
      </pc:sldChg>
      <pc:sldChg chg="addSp delSp modSp mod">
        <pc:chgData name="Taylor Davis" userId="5c9e72a0-c39f-4aa1-9d7d-64125e78cbe6" providerId="ADAL" clId="{57B89867-6E9F-4FC0-8785-17CB5B6F109A}" dt="2024-07-19T15:06:19.036" v="129" actId="20577"/>
        <pc:sldMkLst>
          <pc:docMk/>
          <pc:sldMk cId="2203540903" sldId="499"/>
        </pc:sldMkLst>
        <pc:spChg chg="mod">
          <ac:chgData name="Taylor Davis" userId="5c9e72a0-c39f-4aa1-9d7d-64125e78cbe6" providerId="ADAL" clId="{57B89867-6E9F-4FC0-8785-17CB5B6F109A}" dt="2024-07-19T15:06:19.036" v="129" actId="20577"/>
          <ac:spMkLst>
            <pc:docMk/>
            <pc:sldMk cId="2203540903" sldId="499"/>
            <ac:spMk id="9" creationId="{AB8821D0-DEDE-002D-E87D-13E033D5D75F}"/>
          </ac:spMkLst>
        </pc:spChg>
        <pc:graphicFrameChg chg="add mod">
          <ac:chgData name="Taylor Davis" userId="5c9e72a0-c39f-4aa1-9d7d-64125e78cbe6" providerId="ADAL" clId="{57B89867-6E9F-4FC0-8785-17CB5B6F109A}" dt="2024-07-19T15:05:54.300" v="124" actId="1076"/>
          <ac:graphicFrameMkLst>
            <pc:docMk/>
            <pc:sldMk cId="2203540903" sldId="499"/>
            <ac:graphicFrameMk id="2" creationId="{078061F7-7E32-674A-73E9-5C3CACEDD9A1}"/>
          </ac:graphicFrameMkLst>
        </pc:graphicFrameChg>
        <pc:graphicFrameChg chg="del">
          <ac:chgData name="Taylor Davis" userId="5c9e72a0-c39f-4aa1-9d7d-64125e78cbe6" providerId="ADAL" clId="{57B89867-6E9F-4FC0-8785-17CB5B6F109A}" dt="2024-07-19T15:05:29.719" v="122" actId="478"/>
          <ac:graphicFrameMkLst>
            <pc:docMk/>
            <pc:sldMk cId="2203540903" sldId="499"/>
            <ac:graphicFrameMk id="6" creationId="{BD451909-13E0-8745-55BD-358100CC8C49}"/>
          </ac:graphicFrameMkLst>
        </pc:graphicFrameChg>
      </pc:sldChg>
      <pc:sldChg chg="del">
        <pc:chgData name="Taylor Davis" userId="5c9e72a0-c39f-4aa1-9d7d-64125e78cbe6" providerId="ADAL" clId="{57B89867-6E9F-4FC0-8785-17CB5B6F109A}" dt="2024-07-19T15:21:14.823" v="156" actId="47"/>
        <pc:sldMkLst>
          <pc:docMk/>
          <pc:sldMk cId="2283730992" sldId="513"/>
        </pc:sldMkLst>
      </pc:sldChg>
      <pc:sldChg chg="addSp delSp modSp mod">
        <pc:chgData name="Taylor Davis" userId="5c9e72a0-c39f-4aa1-9d7d-64125e78cbe6" providerId="ADAL" clId="{57B89867-6E9F-4FC0-8785-17CB5B6F109A}" dt="2024-07-19T15:07:12.959" v="154" actId="20577"/>
        <pc:sldMkLst>
          <pc:docMk/>
          <pc:sldMk cId="1206251189" sldId="519"/>
        </pc:sldMkLst>
        <pc:spChg chg="add del mod">
          <ac:chgData name="Taylor Davis" userId="5c9e72a0-c39f-4aa1-9d7d-64125e78cbe6" providerId="ADAL" clId="{57B89867-6E9F-4FC0-8785-17CB5B6F109A}" dt="2024-07-19T00:45:45.659" v="1" actId="478"/>
          <ac:spMkLst>
            <pc:docMk/>
            <pc:sldMk cId="1206251189" sldId="519"/>
            <ac:spMk id="3" creationId="{969F5460-02D0-75C3-AB72-B3A8292AD8EC}"/>
          </ac:spMkLst>
        </pc:spChg>
        <pc:spChg chg="mod">
          <ac:chgData name="Taylor Davis" userId="5c9e72a0-c39f-4aa1-9d7d-64125e78cbe6" providerId="ADAL" clId="{57B89867-6E9F-4FC0-8785-17CB5B6F109A}" dt="2024-07-19T15:07:12.959" v="154" actId="20577"/>
          <ac:spMkLst>
            <pc:docMk/>
            <pc:sldMk cId="1206251189" sldId="519"/>
            <ac:spMk id="16" creationId="{5CD262C4-7EB6-BACC-2D76-818773A77342}"/>
          </ac:spMkLst>
        </pc:spChg>
        <pc:picChg chg="add mod ord">
          <ac:chgData name="Taylor Davis" userId="5c9e72a0-c39f-4aa1-9d7d-64125e78cbe6" providerId="ADAL" clId="{57B89867-6E9F-4FC0-8785-17CB5B6F109A}" dt="2024-07-19T00:45:54.748" v="5" actId="167"/>
          <ac:picMkLst>
            <pc:docMk/>
            <pc:sldMk cId="1206251189" sldId="519"/>
            <ac:picMk id="10" creationId="{A0FB99D7-ACFC-2A9C-A898-256404198AD1}"/>
          </ac:picMkLst>
        </pc:picChg>
        <pc:picChg chg="del">
          <ac:chgData name="Taylor Davis" userId="5c9e72a0-c39f-4aa1-9d7d-64125e78cbe6" providerId="ADAL" clId="{57B89867-6E9F-4FC0-8785-17CB5B6F109A}" dt="2024-07-19T00:45:43.033" v="0" actId="478"/>
          <ac:picMkLst>
            <pc:docMk/>
            <pc:sldMk cId="1206251189" sldId="519"/>
            <ac:picMk id="28" creationId="{4A6CD500-2D42-9ECC-4AB5-132F90F47544}"/>
          </ac:picMkLst>
        </pc:picChg>
      </pc:sldChg>
      <pc:sldChg chg="modSp mod">
        <pc:chgData name="Taylor Davis" userId="5c9e72a0-c39f-4aa1-9d7d-64125e78cbe6" providerId="ADAL" clId="{57B89867-6E9F-4FC0-8785-17CB5B6F109A}" dt="2024-07-19T15:22:59.788" v="191" actId="207"/>
        <pc:sldMkLst>
          <pc:docMk/>
          <pc:sldMk cId="1147401429" sldId="524"/>
        </pc:sldMkLst>
        <pc:graphicFrameChg chg="modGraphic">
          <ac:chgData name="Taylor Davis" userId="5c9e72a0-c39f-4aa1-9d7d-64125e78cbe6" providerId="ADAL" clId="{57B89867-6E9F-4FC0-8785-17CB5B6F109A}" dt="2024-07-19T15:22:59.788" v="191" actId="207"/>
          <ac:graphicFrameMkLst>
            <pc:docMk/>
            <pc:sldMk cId="1147401429" sldId="524"/>
            <ac:graphicFrameMk id="5" creationId="{713AD275-CC86-F2BC-8594-AECC0B66117F}"/>
          </ac:graphicFrameMkLst>
        </pc:graphicFrameChg>
      </pc:sldChg>
      <pc:sldChg chg="delSp del mod">
        <pc:chgData name="Taylor Davis" userId="5c9e72a0-c39f-4aa1-9d7d-64125e78cbe6" providerId="ADAL" clId="{57B89867-6E9F-4FC0-8785-17CB5B6F109A}" dt="2024-07-19T00:47:43.698" v="12" actId="47"/>
        <pc:sldMkLst>
          <pc:docMk/>
          <pc:sldMk cId="2977719417" sldId="526"/>
        </pc:sldMkLst>
        <pc:spChg chg="del">
          <ac:chgData name="Taylor Davis" userId="5c9e72a0-c39f-4aa1-9d7d-64125e78cbe6" providerId="ADAL" clId="{57B89867-6E9F-4FC0-8785-17CB5B6F109A}" dt="2024-07-19T00:47:29.678" v="8" actId="21"/>
          <ac:spMkLst>
            <pc:docMk/>
            <pc:sldMk cId="2977719417" sldId="526"/>
            <ac:spMk id="9" creationId="{60820A86-1B9D-21A4-BBB6-DDFB73605882}"/>
          </ac:spMkLst>
        </pc:spChg>
        <pc:spChg chg="del">
          <ac:chgData name="Taylor Davis" userId="5c9e72a0-c39f-4aa1-9d7d-64125e78cbe6" providerId="ADAL" clId="{57B89867-6E9F-4FC0-8785-17CB5B6F109A}" dt="2024-07-19T00:47:29.678" v="8" actId="21"/>
          <ac:spMkLst>
            <pc:docMk/>
            <pc:sldMk cId="2977719417" sldId="526"/>
            <ac:spMk id="10" creationId="{6CDBA057-BBD2-8F54-E977-26B782E37F88}"/>
          </ac:spMkLst>
        </pc:spChg>
        <pc:spChg chg="del">
          <ac:chgData name="Taylor Davis" userId="5c9e72a0-c39f-4aa1-9d7d-64125e78cbe6" providerId="ADAL" clId="{57B89867-6E9F-4FC0-8785-17CB5B6F109A}" dt="2024-07-19T00:47:29.678" v="8" actId="21"/>
          <ac:spMkLst>
            <pc:docMk/>
            <pc:sldMk cId="2977719417" sldId="526"/>
            <ac:spMk id="11" creationId="{C690F22E-C9CA-61DC-5584-149573110610}"/>
          </ac:spMkLst>
        </pc:spChg>
        <pc:spChg chg="del">
          <ac:chgData name="Taylor Davis" userId="5c9e72a0-c39f-4aa1-9d7d-64125e78cbe6" providerId="ADAL" clId="{57B89867-6E9F-4FC0-8785-17CB5B6F109A}" dt="2024-07-19T00:47:29.678" v="8" actId="21"/>
          <ac:spMkLst>
            <pc:docMk/>
            <pc:sldMk cId="2977719417" sldId="526"/>
            <ac:spMk id="12" creationId="{A897897D-C568-B204-6568-514AD4B71A5C}"/>
          </ac:spMkLst>
        </pc:spChg>
      </pc:sldChg>
      <pc:sldChg chg="del">
        <pc:chgData name="Taylor Davis" userId="5c9e72a0-c39f-4aa1-9d7d-64125e78cbe6" providerId="ADAL" clId="{57B89867-6E9F-4FC0-8785-17CB5B6F109A}" dt="2024-07-19T15:02:03.485" v="42" actId="47"/>
        <pc:sldMkLst>
          <pc:docMk/>
          <pc:sldMk cId="0" sldId="532"/>
        </pc:sldMkLst>
      </pc:sldChg>
      <pc:sldChg chg="del">
        <pc:chgData name="Taylor Davis" userId="5c9e72a0-c39f-4aa1-9d7d-64125e78cbe6" providerId="ADAL" clId="{57B89867-6E9F-4FC0-8785-17CB5B6F109A}" dt="2024-07-19T15:02:03.485" v="42" actId="47"/>
        <pc:sldMkLst>
          <pc:docMk/>
          <pc:sldMk cId="1090118929" sldId="533"/>
        </pc:sldMkLst>
      </pc:sldChg>
      <pc:sldChg chg="del">
        <pc:chgData name="Taylor Davis" userId="5c9e72a0-c39f-4aa1-9d7d-64125e78cbe6" providerId="ADAL" clId="{57B89867-6E9F-4FC0-8785-17CB5B6F109A}" dt="2024-07-19T15:02:03.485" v="42" actId="47"/>
        <pc:sldMkLst>
          <pc:docMk/>
          <pc:sldMk cId="2402303805" sldId="534"/>
        </pc:sldMkLst>
      </pc:sldChg>
      <pc:sldChg chg="addSp delSp modSp add mod">
        <pc:chgData name="Taylor Davis" userId="5c9e72a0-c39f-4aa1-9d7d-64125e78cbe6" providerId="ADAL" clId="{57B89867-6E9F-4FC0-8785-17CB5B6F109A}" dt="2024-07-19T00:51:24.379" v="41" actId="20577"/>
        <pc:sldMkLst>
          <pc:docMk/>
          <pc:sldMk cId="1419816550" sldId="536"/>
        </pc:sldMkLst>
        <pc:spChg chg="add mod">
          <ac:chgData name="Taylor Davis" userId="5c9e72a0-c39f-4aa1-9d7d-64125e78cbe6" providerId="ADAL" clId="{57B89867-6E9F-4FC0-8785-17CB5B6F109A}" dt="2024-07-19T00:47:34.969" v="10" actId="1076"/>
          <ac:spMkLst>
            <pc:docMk/>
            <pc:sldMk cId="1419816550" sldId="536"/>
            <ac:spMk id="2" creationId="{60820A86-1B9D-21A4-BBB6-DDFB73605882}"/>
          </ac:spMkLst>
        </pc:spChg>
        <pc:spChg chg="add mod">
          <ac:chgData name="Taylor Davis" userId="5c9e72a0-c39f-4aa1-9d7d-64125e78cbe6" providerId="ADAL" clId="{57B89867-6E9F-4FC0-8785-17CB5B6F109A}" dt="2024-07-19T00:47:34.969" v="10" actId="1076"/>
          <ac:spMkLst>
            <pc:docMk/>
            <pc:sldMk cId="1419816550" sldId="536"/>
            <ac:spMk id="3" creationId="{6CDBA057-BBD2-8F54-E977-26B782E37F88}"/>
          </ac:spMkLst>
        </pc:spChg>
        <pc:spChg chg="add mod">
          <ac:chgData name="Taylor Davis" userId="5c9e72a0-c39f-4aa1-9d7d-64125e78cbe6" providerId="ADAL" clId="{57B89867-6E9F-4FC0-8785-17CB5B6F109A}" dt="2024-07-19T00:47:34.969" v="10" actId="1076"/>
          <ac:spMkLst>
            <pc:docMk/>
            <pc:sldMk cId="1419816550" sldId="536"/>
            <ac:spMk id="7" creationId="{C690F22E-C9CA-61DC-5584-149573110610}"/>
          </ac:spMkLst>
        </pc:spChg>
        <pc:spChg chg="add mod">
          <ac:chgData name="Taylor Davis" userId="5c9e72a0-c39f-4aa1-9d7d-64125e78cbe6" providerId="ADAL" clId="{57B89867-6E9F-4FC0-8785-17CB5B6F109A}" dt="2024-07-19T00:47:38.921" v="11" actId="14100"/>
          <ac:spMkLst>
            <pc:docMk/>
            <pc:sldMk cId="1419816550" sldId="536"/>
            <ac:spMk id="8" creationId="{A897897D-C568-B204-6568-514AD4B71A5C}"/>
          </ac:spMkLst>
        </pc:spChg>
        <pc:spChg chg="del">
          <ac:chgData name="Taylor Davis" userId="5c9e72a0-c39f-4aa1-9d7d-64125e78cbe6" providerId="ADAL" clId="{57B89867-6E9F-4FC0-8785-17CB5B6F109A}" dt="2024-07-19T00:47:25.122" v="7" actId="478"/>
          <ac:spMkLst>
            <pc:docMk/>
            <pc:sldMk cId="1419816550" sldId="536"/>
            <ac:spMk id="9" creationId="{60820A86-1B9D-21A4-BBB6-DDFB73605882}"/>
          </ac:spMkLst>
        </pc:spChg>
        <pc:spChg chg="del">
          <ac:chgData name="Taylor Davis" userId="5c9e72a0-c39f-4aa1-9d7d-64125e78cbe6" providerId="ADAL" clId="{57B89867-6E9F-4FC0-8785-17CB5B6F109A}" dt="2024-07-19T00:47:25.122" v="7" actId="478"/>
          <ac:spMkLst>
            <pc:docMk/>
            <pc:sldMk cId="1419816550" sldId="536"/>
            <ac:spMk id="10" creationId="{6CDBA057-BBD2-8F54-E977-26B782E37F88}"/>
          </ac:spMkLst>
        </pc:spChg>
        <pc:spChg chg="del">
          <ac:chgData name="Taylor Davis" userId="5c9e72a0-c39f-4aa1-9d7d-64125e78cbe6" providerId="ADAL" clId="{57B89867-6E9F-4FC0-8785-17CB5B6F109A}" dt="2024-07-19T00:47:25.122" v="7" actId="478"/>
          <ac:spMkLst>
            <pc:docMk/>
            <pc:sldMk cId="1419816550" sldId="536"/>
            <ac:spMk id="11" creationId="{C690F22E-C9CA-61DC-5584-149573110610}"/>
          </ac:spMkLst>
        </pc:spChg>
        <pc:spChg chg="del">
          <ac:chgData name="Taylor Davis" userId="5c9e72a0-c39f-4aa1-9d7d-64125e78cbe6" providerId="ADAL" clId="{57B89867-6E9F-4FC0-8785-17CB5B6F109A}" dt="2024-07-19T00:47:25.122" v="7" actId="478"/>
          <ac:spMkLst>
            <pc:docMk/>
            <pc:sldMk cId="1419816550" sldId="536"/>
            <ac:spMk id="12" creationId="{A897897D-C568-B204-6568-514AD4B71A5C}"/>
          </ac:spMkLst>
        </pc:spChg>
        <pc:graphicFrameChg chg="mod">
          <ac:chgData name="Taylor Davis" userId="5c9e72a0-c39f-4aa1-9d7d-64125e78cbe6" providerId="ADAL" clId="{57B89867-6E9F-4FC0-8785-17CB5B6F109A}" dt="2024-07-19T00:48:17.293" v="16"/>
          <ac:graphicFrameMkLst>
            <pc:docMk/>
            <pc:sldMk cId="1419816550" sldId="536"/>
            <ac:graphicFrameMk id="6" creationId="{176BAF2A-5136-E457-9AAC-D0878752F10C}"/>
          </ac:graphicFrameMkLst>
        </pc:graphicFrameChg>
        <pc:graphicFrameChg chg="mod modGraphic">
          <ac:chgData name="Taylor Davis" userId="5c9e72a0-c39f-4aa1-9d7d-64125e78cbe6" providerId="ADAL" clId="{57B89867-6E9F-4FC0-8785-17CB5B6F109A}" dt="2024-07-19T00:51:24.379" v="41" actId="20577"/>
          <ac:graphicFrameMkLst>
            <pc:docMk/>
            <pc:sldMk cId="1419816550" sldId="536"/>
            <ac:graphicFrameMk id="15" creationId="{FF3ACACB-7F38-7EAA-4BDF-1A816CA00AAE}"/>
          </ac:graphicFrameMkLst>
        </pc:graphicFrameChg>
        <pc:graphicFrameChg chg="mod">
          <ac:chgData name="Taylor Davis" userId="5c9e72a0-c39f-4aa1-9d7d-64125e78cbe6" providerId="ADAL" clId="{57B89867-6E9F-4FC0-8785-17CB5B6F109A}" dt="2024-07-19T00:49:34.543" v="30"/>
          <ac:graphicFrameMkLst>
            <pc:docMk/>
            <pc:sldMk cId="1419816550" sldId="536"/>
            <ac:graphicFrameMk id="16" creationId="{32A51F3A-032C-30E2-F635-DD59B5A29A34}"/>
          </ac:graphicFrameMkLst>
        </pc:graphicFrameChg>
      </pc:sldChg>
      <pc:sldChg chg="modSp add mod ord">
        <pc:chgData name="Taylor Davis" userId="5c9e72a0-c39f-4aa1-9d7d-64125e78cbe6" providerId="ADAL" clId="{57B89867-6E9F-4FC0-8785-17CB5B6F109A}" dt="2024-07-19T15:04:33.263" v="84" actId="20577"/>
        <pc:sldMkLst>
          <pc:docMk/>
          <pc:sldMk cId="2876319705" sldId="537"/>
        </pc:sldMkLst>
        <pc:graphicFrameChg chg="modGraphic">
          <ac:chgData name="Taylor Davis" userId="5c9e72a0-c39f-4aa1-9d7d-64125e78cbe6" providerId="ADAL" clId="{57B89867-6E9F-4FC0-8785-17CB5B6F109A}" dt="2024-07-19T15:04:33.263" v="84" actId="20577"/>
          <ac:graphicFrameMkLst>
            <pc:docMk/>
            <pc:sldMk cId="2876319705" sldId="537"/>
            <ac:graphicFrameMk id="2" creationId="{00000000-0000-0000-0000-000000000000}"/>
          </ac:graphicFrameMkLst>
        </pc:graphicFrameChg>
      </pc:sldChg>
      <pc:sldChg chg="modSp add mod">
        <pc:chgData name="Taylor Davis" userId="5c9e72a0-c39f-4aa1-9d7d-64125e78cbe6" providerId="ADAL" clId="{57B89867-6E9F-4FC0-8785-17CB5B6F109A}" dt="2024-07-19T15:04:56.199" v="108" actId="20577"/>
        <pc:sldMkLst>
          <pc:docMk/>
          <pc:sldMk cId="0" sldId="538"/>
        </pc:sldMkLst>
        <pc:graphicFrameChg chg="mod modGraphic">
          <ac:chgData name="Taylor Davis" userId="5c9e72a0-c39f-4aa1-9d7d-64125e78cbe6" providerId="ADAL" clId="{57B89867-6E9F-4FC0-8785-17CB5B6F109A}" dt="2024-07-19T15:04:56.199" v="108" actId="20577"/>
          <ac:graphicFrameMkLst>
            <pc:docMk/>
            <pc:sldMk cId="0" sldId="538"/>
            <ac:graphicFrameMk id="2" creationId="{00000000-0000-0000-0000-000000000000}"/>
          </ac:graphicFrameMkLst>
        </pc:graphicFrameChg>
      </pc:sldChg>
      <pc:sldChg chg="modSp add mod ord">
        <pc:chgData name="Taylor Davis" userId="5c9e72a0-c39f-4aa1-9d7d-64125e78cbe6" providerId="ADAL" clId="{57B89867-6E9F-4FC0-8785-17CB5B6F109A}" dt="2024-07-19T15:04:47.586" v="95" actId="20577"/>
        <pc:sldMkLst>
          <pc:docMk/>
          <pc:sldMk cId="48855742" sldId="539"/>
        </pc:sldMkLst>
        <pc:graphicFrameChg chg="modGraphic">
          <ac:chgData name="Taylor Davis" userId="5c9e72a0-c39f-4aa1-9d7d-64125e78cbe6" providerId="ADAL" clId="{57B89867-6E9F-4FC0-8785-17CB5B6F109A}" dt="2024-07-19T15:04:47.586" v="95" actId="20577"/>
          <ac:graphicFrameMkLst>
            <pc:docMk/>
            <pc:sldMk cId="48855742" sldId="539"/>
            <ac:graphicFrameMk id="2" creationId="{00000000-0000-0000-0000-000000000000}"/>
          </ac:graphicFrameMkLst>
        </pc:graphicFrameChg>
      </pc:sldChg>
      <pc:sldChg chg="modSp add mod">
        <pc:chgData name="Taylor Davis" userId="5c9e72a0-c39f-4aa1-9d7d-64125e78cbe6" providerId="ADAL" clId="{57B89867-6E9F-4FC0-8785-17CB5B6F109A}" dt="2024-07-19T15:22:00.713" v="187" actId="20577"/>
        <pc:sldMkLst>
          <pc:docMk/>
          <pc:sldMk cId="94944115" sldId="546"/>
        </pc:sldMkLst>
        <pc:graphicFrameChg chg="modGraphic">
          <ac:chgData name="Taylor Davis" userId="5c9e72a0-c39f-4aa1-9d7d-64125e78cbe6" providerId="ADAL" clId="{57B89867-6E9F-4FC0-8785-17CB5B6F109A}" dt="2024-07-19T15:22:00.713" v="187" actId="20577"/>
          <ac:graphicFrameMkLst>
            <pc:docMk/>
            <pc:sldMk cId="94944115" sldId="546"/>
            <ac:graphicFrameMk id="6" creationId="{3C07E302-CC45-B04C-2C2D-C436C7863084}"/>
          </ac:graphicFrameMkLst>
        </pc:graphicFrameChg>
      </pc:sldChg>
      <pc:sldChg chg="modSp add mod">
        <pc:chgData name="Taylor Davis" userId="5c9e72a0-c39f-4aa1-9d7d-64125e78cbe6" providerId="ADAL" clId="{57B89867-6E9F-4FC0-8785-17CB5B6F109A}" dt="2024-07-19T15:22:34.569" v="190" actId="208"/>
        <pc:sldMkLst>
          <pc:docMk/>
          <pc:sldMk cId="3616502281" sldId="547"/>
        </pc:sldMkLst>
        <pc:spChg chg="mod">
          <ac:chgData name="Taylor Davis" userId="5c9e72a0-c39f-4aa1-9d7d-64125e78cbe6" providerId="ADAL" clId="{57B89867-6E9F-4FC0-8785-17CB5B6F109A}" dt="2024-07-19T15:22:34.569" v="190" actId="208"/>
          <ac:spMkLst>
            <pc:docMk/>
            <pc:sldMk cId="3616502281" sldId="547"/>
            <ac:spMk id="7" creationId="{C6C12282-6958-DC81-53E7-8B55DA976476}"/>
          </ac:spMkLst>
        </pc:spChg>
        <pc:spChg chg="mod">
          <ac:chgData name="Taylor Davis" userId="5c9e72a0-c39f-4aa1-9d7d-64125e78cbe6" providerId="ADAL" clId="{57B89867-6E9F-4FC0-8785-17CB5B6F109A}" dt="2024-07-19T15:22:21.321" v="189" actId="2085"/>
          <ac:spMkLst>
            <pc:docMk/>
            <pc:sldMk cId="3616502281" sldId="547"/>
            <ac:spMk id="8" creationId="{C48E1780-AC25-9BD2-86FC-FF9298ADEAFD}"/>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image" Target="../media/image4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image" Target="../media/image47.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St Luke's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St Luke's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St Luke's</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St Luke's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St Luke's</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St Luke's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7/18/2024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288C0-024E-429E-B9F9-88F45D0B6B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1023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7/18/2024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7/18/2024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7/18/2024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7/18/2024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7/18/2024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7/18/2024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7/18/2024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7/18/2024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7/18/2024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7/18/2024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7/18/2024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A04A-7E5A-41ED-8CEB-7462680D14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3ABCD4-5472-4449-A56D-204BDE9BF389}"/>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20AB7F-EBF2-41EA-90FE-98F29B82E637}"/>
              </a:ext>
            </a:extLst>
          </p:cNvPr>
          <p:cNvSpPr>
            <a:spLocks noGrp="1"/>
          </p:cNvSpPr>
          <p:nvPr>
            <p:ph type="dt" sz="half" idx="10"/>
          </p:nvPr>
        </p:nvSpPr>
        <p:spPr/>
        <p:txBody>
          <a:bodyPr/>
          <a:lstStyle/>
          <a:p>
            <a:fld id="{9E671881-058E-49DE-BDC6-E3A67E2F1B35}" type="datetime1">
              <a:rPr lang="en-US" smtClean="0"/>
              <a:t>7/18/2024</a:t>
            </a:fld>
            <a:endParaRPr lang="en-US" dirty="0"/>
          </a:p>
        </p:txBody>
      </p:sp>
      <p:sp>
        <p:nvSpPr>
          <p:cNvPr id="5" name="Footer Placeholder 4">
            <a:extLst>
              <a:ext uri="{FF2B5EF4-FFF2-40B4-BE49-F238E27FC236}">
                <a16:creationId xmlns:a16="http://schemas.microsoft.com/office/drawing/2014/main" id="{D74D1392-959B-429E-BB3A-2B6E7AFD5EEF}"/>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4BA0DCC8-454C-4C7F-8DA1-69EA0C1CA567}"/>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2699921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A5C7-781A-4B3D-9E00-F6A240429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8E319B-34AD-4F4A-93BA-78F3D6F6051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D4865D-4AB7-4439-BD10-42B34B7403D0}"/>
              </a:ext>
            </a:extLst>
          </p:cNvPr>
          <p:cNvSpPr>
            <a:spLocks noGrp="1"/>
          </p:cNvSpPr>
          <p:nvPr>
            <p:ph type="dt" sz="half" idx="10"/>
          </p:nvPr>
        </p:nvSpPr>
        <p:spPr/>
        <p:txBody>
          <a:bodyPr/>
          <a:lstStyle/>
          <a:p>
            <a:fld id="{00A02F79-73F7-4737-80FA-07E8434DB957}" type="datetime1">
              <a:rPr lang="en-US" smtClean="0"/>
              <a:t>7/18/2024</a:t>
            </a:fld>
            <a:endParaRPr lang="en-US" dirty="0"/>
          </a:p>
        </p:txBody>
      </p:sp>
      <p:sp>
        <p:nvSpPr>
          <p:cNvPr id="5" name="Footer Placeholder 4">
            <a:extLst>
              <a:ext uri="{FF2B5EF4-FFF2-40B4-BE49-F238E27FC236}">
                <a16:creationId xmlns:a16="http://schemas.microsoft.com/office/drawing/2014/main" id="{C231FFAA-E0AD-4E37-A14A-6A9A057F7877}"/>
              </a:ext>
            </a:extLst>
          </p:cNvPr>
          <p:cNvSpPr>
            <a:spLocks noGrp="1"/>
          </p:cNvSpPr>
          <p:nvPr>
            <p:ph type="ftr" sz="quarter" idx="11"/>
          </p:nvPr>
        </p:nvSpPr>
        <p:spPr>
          <a:xfrm>
            <a:off x="7841478" y="6363176"/>
            <a:ext cx="4114800" cy="365125"/>
          </a:xfrm>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CAA66C55-3850-4211-8CFC-B6032B919DB7}"/>
              </a:ext>
            </a:extLst>
          </p:cNvPr>
          <p:cNvSpPr>
            <a:spLocks noGrp="1"/>
          </p:cNvSpPr>
          <p:nvPr>
            <p:ph type="sldNum" sz="quarter" idx="12"/>
          </p:nvPr>
        </p:nvSpPr>
        <p:spPr>
          <a:xfrm>
            <a:off x="4350523" y="6363176"/>
            <a:ext cx="2743200" cy="365125"/>
          </a:xfrm>
        </p:spPr>
        <p:txBody>
          <a:bodyPr/>
          <a:lstStyle>
            <a:lvl1pPr algn="ctr">
              <a:defRPr/>
            </a:lvl1pPr>
          </a:lstStyle>
          <a:p>
            <a:fld id="{C41B7D62-7D4B-4EC0-9445-56A6951E1D90}" type="slidenum">
              <a:rPr lang="en-US" smtClean="0"/>
              <a:pPr/>
              <a:t>‹#›</a:t>
            </a:fld>
            <a:endParaRPr lang="en-US" dirty="0"/>
          </a:p>
        </p:txBody>
      </p:sp>
    </p:spTree>
    <p:extLst>
      <p:ext uri="{BB962C8B-B14F-4D97-AF65-F5344CB8AC3E}">
        <p14:creationId xmlns:p14="http://schemas.microsoft.com/office/powerpoint/2010/main" val="471974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77B5-3B5E-4912-9B94-07967374B75B}"/>
              </a:ext>
            </a:extLst>
          </p:cNvPr>
          <p:cNvSpPr>
            <a:spLocks noGrp="1"/>
          </p:cNvSpPr>
          <p:nvPr>
            <p:ph type="title"/>
          </p:nvPr>
        </p:nvSpPr>
        <p:spPr>
          <a:xfrm>
            <a:off x="831852"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277039-3B6E-46AC-B4C8-75E04685D26C}"/>
              </a:ext>
            </a:extLst>
          </p:cNvPr>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0C6CA0-9C58-4CD6-85FF-8D0170A86118}"/>
              </a:ext>
            </a:extLst>
          </p:cNvPr>
          <p:cNvSpPr>
            <a:spLocks noGrp="1"/>
          </p:cNvSpPr>
          <p:nvPr>
            <p:ph type="dt" sz="half" idx="10"/>
          </p:nvPr>
        </p:nvSpPr>
        <p:spPr/>
        <p:txBody>
          <a:bodyPr/>
          <a:lstStyle/>
          <a:p>
            <a:fld id="{C1E30093-D3F0-48D0-812E-614D267F0112}" type="datetime1">
              <a:rPr lang="en-US" smtClean="0"/>
              <a:t>7/18/2024</a:t>
            </a:fld>
            <a:endParaRPr lang="en-US" dirty="0"/>
          </a:p>
        </p:txBody>
      </p:sp>
      <p:sp>
        <p:nvSpPr>
          <p:cNvPr id="5" name="Footer Placeholder 4">
            <a:extLst>
              <a:ext uri="{FF2B5EF4-FFF2-40B4-BE49-F238E27FC236}">
                <a16:creationId xmlns:a16="http://schemas.microsoft.com/office/drawing/2014/main" id="{9C5663E7-8698-48C3-8B4A-48AB5CB8649C}"/>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146E4DCD-84D2-436A-B9E3-EDDBB8E934F5}"/>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3291774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A0247-24EA-43BE-A1E4-E6120DE2C5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7C7678-CB91-439B-BB84-C43FBBE95F68}"/>
              </a:ext>
            </a:extLst>
          </p:cNvPr>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605A33-9A42-4A71-9255-B88EF29B5A94}"/>
              </a:ext>
            </a:extLst>
          </p:cNvPr>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A8EB5C-F88F-4BFB-B423-57DD3F7DF6F1}"/>
              </a:ext>
            </a:extLst>
          </p:cNvPr>
          <p:cNvSpPr>
            <a:spLocks noGrp="1"/>
          </p:cNvSpPr>
          <p:nvPr>
            <p:ph type="dt" sz="half" idx="10"/>
          </p:nvPr>
        </p:nvSpPr>
        <p:spPr/>
        <p:txBody>
          <a:bodyPr/>
          <a:lstStyle/>
          <a:p>
            <a:fld id="{FA577E92-631E-4F71-80EC-71EDC97513D1}" type="datetime1">
              <a:rPr lang="en-US" smtClean="0"/>
              <a:t>7/18/2024</a:t>
            </a:fld>
            <a:endParaRPr lang="en-US" dirty="0"/>
          </a:p>
        </p:txBody>
      </p:sp>
      <p:sp>
        <p:nvSpPr>
          <p:cNvPr id="6" name="Footer Placeholder 5">
            <a:extLst>
              <a:ext uri="{FF2B5EF4-FFF2-40B4-BE49-F238E27FC236}">
                <a16:creationId xmlns:a16="http://schemas.microsoft.com/office/drawing/2014/main" id="{944887F0-DC4B-4F74-9EF8-0DA8B602ABDC}"/>
              </a:ext>
            </a:extLst>
          </p:cNvPr>
          <p:cNvSpPr>
            <a:spLocks noGrp="1"/>
          </p:cNvSpPr>
          <p:nvPr>
            <p:ph type="ftr" sz="quarter" idx="11"/>
          </p:nvPr>
        </p:nvSpPr>
        <p:spPr/>
        <p:txBody>
          <a:bodyPr/>
          <a:lstStyle/>
          <a:p>
            <a:r>
              <a:rPr lang="en-US" dirty="0"/>
              <a:t>Key Benefit Administrators</a:t>
            </a:r>
          </a:p>
        </p:txBody>
      </p:sp>
      <p:sp>
        <p:nvSpPr>
          <p:cNvPr id="7" name="Slide Number Placeholder 6">
            <a:extLst>
              <a:ext uri="{FF2B5EF4-FFF2-40B4-BE49-F238E27FC236}">
                <a16:creationId xmlns:a16="http://schemas.microsoft.com/office/drawing/2014/main" id="{4EDDB6C9-5C8F-4D9E-A02D-52729812C280}"/>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748183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A084-EF04-408E-ADA9-21EDFF386B50}"/>
              </a:ext>
            </a:extLst>
          </p:cNvPr>
          <p:cNvSpPr>
            <a:spLocks noGrp="1"/>
          </p:cNvSpPr>
          <p:nvPr>
            <p:ph type="title"/>
          </p:nvPr>
        </p:nvSpPr>
        <p:spPr>
          <a:xfrm>
            <a:off x="839789"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8AE67C-D248-4250-96BB-ABE14F91E939}"/>
              </a:ext>
            </a:extLst>
          </p:cNvPr>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E9270C4-7DBF-450B-8A8B-A13AE328ADA0}"/>
              </a:ext>
            </a:extLst>
          </p:cNvPr>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C5CAD4-29EE-4F14-9F13-97FDE42DEB33}"/>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85ABDE0-1505-4A5F-BFBA-41E8CD716319}"/>
              </a:ext>
            </a:extLst>
          </p:cNvPr>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97D3FB-4F84-4004-88ED-847B6DDC294D}"/>
              </a:ext>
            </a:extLst>
          </p:cNvPr>
          <p:cNvSpPr>
            <a:spLocks noGrp="1"/>
          </p:cNvSpPr>
          <p:nvPr>
            <p:ph type="dt" sz="half" idx="10"/>
          </p:nvPr>
        </p:nvSpPr>
        <p:spPr/>
        <p:txBody>
          <a:bodyPr/>
          <a:lstStyle/>
          <a:p>
            <a:fld id="{4924474F-F4C8-4FFA-91EC-B7FB5E6D8D17}" type="datetime1">
              <a:rPr lang="en-US" smtClean="0"/>
              <a:t>7/18/2024</a:t>
            </a:fld>
            <a:endParaRPr lang="en-US" dirty="0"/>
          </a:p>
        </p:txBody>
      </p:sp>
      <p:sp>
        <p:nvSpPr>
          <p:cNvPr id="8" name="Footer Placeholder 7">
            <a:extLst>
              <a:ext uri="{FF2B5EF4-FFF2-40B4-BE49-F238E27FC236}">
                <a16:creationId xmlns:a16="http://schemas.microsoft.com/office/drawing/2014/main" id="{5FDA0231-DB90-40D1-B4F8-9F43A5B777AD}"/>
              </a:ext>
            </a:extLst>
          </p:cNvPr>
          <p:cNvSpPr>
            <a:spLocks noGrp="1"/>
          </p:cNvSpPr>
          <p:nvPr>
            <p:ph type="ftr" sz="quarter" idx="11"/>
          </p:nvPr>
        </p:nvSpPr>
        <p:spPr/>
        <p:txBody>
          <a:bodyPr/>
          <a:lstStyle/>
          <a:p>
            <a:r>
              <a:rPr lang="en-US" dirty="0"/>
              <a:t>Key Benefit Administrators</a:t>
            </a:r>
          </a:p>
        </p:txBody>
      </p:sp>
      <p:sp>
        <p:nvSpPr>
          <p:cNvPr id="9" name="Slide Number Placeholder 8">
            <a:extLst>
              <a:ext uri="{FF2B5EF4-FFF2-40B4-BE49-F238E27FC236}">
                <a16:creationId xmlns:a16="http://schemas.microsoft.com/office/drawing/2014/main" id="{FC2E6C55-61C4-4613-8CCD-F135ED907066}"/>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2975770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420F5-4606-497A-8F46-E3269BFAF4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328507-CB3E-49F4-B5F9-E63BE18AD815}"/>
              </a:ext>
            </a:extLst>
          </p:cNvPr>
          <p:cNvSpPr>
            <a:spLocks noGrp="1"/>
          </p:cNvSpPr>
          <p:nvPr>
            <p:ph type="dt" sz="half" idx="10"/>
          </p:nvPr>
        </p:nvSpPr>
        <p:spPr/>
        <p:txBody>
          <a:bodyPr/>
          <a:lstStyle/>
          <a:p>
            <a:fld id="{7DD000B1-05D1-4C31-8A89-104D96CAD3FD}" type="datetime1">
              <a:rPr lang="en-US" smtClean="0"/>
              <a:t>7/18/2024</a:t>
            </a:fld>
            <a:endParaRPr lang="en-US" dirty="0"/>
          </a:p>
        </p:txBody>
      </p:sp>
      <p:sp>
        <p:nvSpPr>
          <p:cNvPr id="4" name="Footer Placeholder 3">
            <a:extLst>
              <a:ext uri="{FF2B5EF4-FFF2-40B4-BE49-F238E27FC236}">
                <a16:creationId xmlns:a16="http://schemas.microsoft.com/office/drawing/2014/main" id="{28A47880-01F8-4D16-A2D4-183A494DF17F}"/>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00D2B4E5-7F45-4473-806D-31091CC5032D}"/>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7324796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FE5346-0FD0-446A-8F0D-F46A629FD6BB}"/>
              </a:ext>
            </a:extLst>
          </p:cNvPr>
          <p:cNvSpPr>
            <a:spLocks noGrp="1"/>
          </p:cNvSpPr>
          <p:nvPr>
            <p:ph type="dt" sz="half" idx="10"/>
          </p:nvPr>
        </p:nvSpPr>
        <p:spPr/>
        <p:txBody>
          <a:bodyPr/>
          <a:lstStyle/>
          <a:p>
            <a:fld id="{423DC078-35E0-4CA7-87FC-DCD9C6DD34CF}" type="datetime1">
              <a:rPr lang="en-US" smtClean="0"/>
              <a:t>7/18/2024</a:t>
            </a:fld>
            <a:endParaRPr lang="en-US" dirty="0"/>
          </a:p>
        </p:txBody>
      </p:sp>
      <p:sp>
        <p:nvSpPr>
          <p:cNvPr id="3" name="Footer Placeholder 2">
            <a:extLst>
              <a:ext uri="{FF2B5EF4-FFF2-40B4-BE49-F238E27FC236}">
                <a16:creationId xmlns:a16="http://schemas.microsoft.com/office/drawing/2014/main" id="{72CB3FEF-0968-4681-8E63-5D7539CA05E9}"/>
              </a:ext>
            </a:extLst>
          </p:cNvPr>
          <p:cNvSpPr>
            <a:spLocks noGrp="1"/>
          </p:cNvSpPr>
          <p:nvPr>
            <p:ph type="ftr" sz="quarter" idx="11"/>
          </p:nvPr>
        </p:nvSpPr>
        <p:spPr>
          <a:xfrm>
            <a:off x="7841480" y="635462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D43C2B3-7D2B-4F8C-90D7-36C643EAC587}"/>
              </a:ext>
            </a:extLst>
          </p:cNvPr>
          <p:cNvSpPr>
            <a:spLocks noGrp="1"/>
          </p:cNvSpPr>
          <p:nvPr>
            <p:ph type="sldNum" sz="quarter" idx="12"/>
          </p:nvPr>
        </p:nvSpPr>
        <p:spPr>
          <a:xfrm>
            <a:off x="4724400" y="6354629"/>
            <a:ext cx="2743200" cy="365125"/>
          </a:xfrm>
        </p:spPr>
        <p:txBody>
          <a:bodyPr/>
          <a:lstStyle>
            <a:lvl1pPr algn="ctr">
              <a:defRPr/>
            </a:lvl1pPr>
          </a:lstStyle>
          <a:p>
            <a:fld id="{C41B7D62-7D4B-4EC0-9445-56A6951E1D90}" type="slidenum">
              <a:rPr lang="en-US" smtClean="0"/>
              <a:pPr/>
              <a:t>‹#›</a:t>
            </a:fld>
            <a:endParaRPr lang="en-US" dirty="0"/>
          </a:p>
        </p:txBody>
      </p:sp>
    </p:spTree>
    <p:extLst>
      <p:ext uri="{BB962C8B-B14F-4D97-AF65-F5344CB8AC3E}">
        <p14:creationId xmlns:p14="http://schemas.microsoft.com/office/powerpoint/2010/main" val="22895256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D1C5-59CB-4797-823C-49381B1A2993}"/>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4FC69-F32D-4F89-A1CF-9B3F7CFC4909}"/>
              </a:ext>
            </a:extLst>
          </p:cNvPr>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3574A2-0E50-43F9-8F03-3DB2DCEBE775}"/>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46F1214-8CA4-4A0F-918B-8F2D841E5C25}"/>
              </a:ext>
            </a:extLst>
          </p:cNvPr>
          <p:cNvSpPr>
            <a:spLocks noGrp="1"/>
          </p:cNvSpPr>
          <p:nvPr>
            <p:ph type="dt" sz="half" idx="10"/>
          </p:nvPr>
        </p:nvSpPr>
        <p:spPr/>
        <p:txBody>
          <a:bodyPr/>
          <a:lstStyle/>
          <a:p>
            <a:fld id="{77F72B20-C1C4-4B5D-A204-C4007526A65E}" type="datetime1">
              <a:rPr lang="en-US" smtClean="0"/>
              <a:t>7/18/2024</a:t>
            </a:fld>
            <a:endParaRPr lang="en-US" dirty="0"/>
          </a:p>
        </p:txBody>
      </p:sp>
      <p:sp>
        <p:nvSpPr>
          <p:cNvPr id="6" name="Footer Placeholder 5">
            <a:extLst>
              <a:ext uri="{FF2B5EF4-FFF2-40B4-BE49-F238E27FC236}">
                <a16:creationId xmlns:a16="http://schemas.microsoft.com/office/drawing/2014/main" id="{C39821E8-B08F-45C5-9407-17BF3AE98DF9}"/>
              </a:ext>
            </a:extLst>
          </p:cNvPr>
          <p:cNvSpPr>
            <a:spLocks noGrp="1"/>
          </p:cNvSpPr>
          <p:nvPr>
            <p:ph type="ftr" sz="quarter" idx="11"/>
          </p:nvPr>
        </p:nvSpPr>
        <p:spPr/>
        <p:txBody>
          <a:bodyPr/>
          <a:lstStyle/>
          <a:p>
            <a:r>
              <a:rPr lang="en-US" dirty="0"/>
              <a:t>Key Benefit Administrators</a:t>
            </a:r>
          </a:p>
        </p:txBody>
      </p:sp>
      <p:sp>
        <p:nvSpPr>
          <p:cNvPr id="7" name="Slide Number Placeholder 6">
            <a:extLst>
              <a:ext uri="{FF2B5EF4-FFF2-40B4-BE49-F238E27FC236}">
                <a16:creationId xmlns:a16="http://schemas.microsoft.com/office/drawing/2014/main" id="{FD1DD895-5EF8-475A-B708-1F9482C2DDE4}"/>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30141495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0F575-20D6-438A-8EC0-8A6F86000306}"/>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846FCB-C632-4AE8-B7CC-88099A895DC8}"/>
              </a:ext>
            </a:extLst>
          </p:cNvPr>
          <p:cNvSpPr>
            <a:spLocks noGrp="1"/>
          </p:cNvSpPr>
          <p:nvPr>
            <p:ph type="pic" idx="1"/>
          </p:nvPr>
        </p:nvSpPr>
        <p:spPr>
          <a:xfrm>
            <a:off x="5183188"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en-US" dirty="0"/>
          </a:p>
        </p:txBody>
      </p:sp>
      <p:sp>
        <p:nvSpPr>
          <p:cNvPr id="4" name="Text Placeholder 3">
            <a:extLst>
              <a:ext uri="{FF2B5EF4-FFF2-40B4-BE49-F238E27FC236}">
                <a16:creationId xmlns:a16="http://schemas.microsoft.com/office/drawing/2014/main" id="{CB96D8A1-7E6F-4B48-9966-4AEE8E6B63CA}"/>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567910-A198-46DA-906A-A00F3E86FD84}"/>
              </a:ext>
            </a:extLst>
          </p:cNvPr>
          <p:cNvSpPr>
            <a:spLocks noGrp="1"/>
          </p:cNvSpPr>
          <p:nvPr>
            <p:ph type="dt" sz="half" idx="10"/>
          </p:nvPr>
        </p:nvSpPr>
        <p:spPr/>
        <p:txBody>
          <a:bodyPr/>
          <a:lstStyle/>
          <a:p>
            <a:fld id="{49595E64-EDA6-4124-8163-ABE10497D1B7}" type="datetime1">
              <a:rPr lang="en-US" smtClean="0"/>
              <a:t>7/18/2024</a:t>
            </a:fld>
            <a:endParaRPr lang="en-US" dirty="0"/>
          </a:p>
        </p:txBody>
      </p:sp>
      <p:sp>
        <p:nvSpPr>
          <p:cNvPr id="6" name="Footer Placeholder 5">
            <a:extLst>
              <a:ext uri="{FF2B5EF4-FFF2-40B4-BE49-F238E27FC236}">
                <a16:creationId xmlns:a16="http://schemas.microsoft.com/office/drawing/2014/main" id="{6DF0BD25-1257-400A-A846-0788A97AB21C}"/>
              </a:ext>
            </a:extLst>
          </p:cNvPr>
          <p:cNvSpPr>
            <a:spLocks noGrp="1"/>
          </p:cNvSpPr>
          <p:nvPr>
            <p:ph type="ftr" sz="quarter" idx="11"/>
          </p:nvPr>
        </p:nvSpPr>
        <p:spPr/>
        <p:txBody>
          <a:bodyPr/>
          <a:lstStyle/>
          <a:p>
            <a:r>
              <a:rPr lang="en-US" dirty="0"/>
              <a:t>Key Benefit Administrators</a:t>
            </a:r>
          </a:p>
        </p:txBody>
      </p:sp>
      <p:sp>
        <p:nvSpPr>
          <p:cNvPr id="7" name="Slide Number Placeholder 6">
            <a:extLst>
              <a:ext uri="{FF2B5EF4-FFF2-40B4-BE49-F238E27FC236}">
                <a16:creationId xmlns:a16="http://schemas.microsoft.com/office/drawing/2014/main" id="{735117CA-857E-4F7B-AE46-1E2051279118}"/>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42846169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902E3-238A-49EF-BD30-2CC9B1C7A0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C651A6-BBF7-493E-B41B-6B2CF49C7A5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4028B8-20B1-453B-856B-E232DC757F5F}"/>
              </a:ext>
            </a:extLst>
          </p:cNvPr>
          <p:cNvSpPr>
            <a:spLocks noGrp="1"/>
          </p:cNvSpPr>
          <p:nvPr>
            <p:ph type="dt" sz="half" idx="10"/>
          </p:nvPr>
        </p:nvSpPr>
        <p:spPr/>
        <p:txBody>
          <a:bodyPr/>
          <a:lstStyle/>
          <a:p>
            <a:fld id="{97F60CF3-1E2F-4ECA-BB24-C501103BAC8D}" type="datetime1">
              <a:rPr lang="en-US" smtClean="0"/>
              <a:t>7/18/2024</a:t>
            </a:fld>
            <a:endParaRPr lang="en-US" dirty="0"/>
          </a:p>
        </p:txBody>
      </p:sp>
      <p:sp>
        <p:nvSpPr>
          <p:cNvPr id="5" name="Footer Placeholder 4">
            <a:extLst>
              <a:ext uri="{FF2B5EF4-FFF2-40B4-BE49-F238E27FC236}">
                <a16:creationId xmlns:a16="http://schemas.microsoft.com/office/drawing/2014/main" id="{4329732D-10F3-4373-8618-B8F78586DDBC}"/>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D8DCE766-6C7E-4E88-BCC0-23F0CEC12FB3}"/>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8572250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E500D5-F5BC-499B-8592-F26732F84C01}"/>
              </a:ext>
            </a:extLst>
          </p:cNvPr>
          <p:cNvSpPr>
            <a:spLocks noGrp="1"/>
          </p:cNvSpPr>
          <p:nvPr>
            <p:ph type="title" orient="vert"/>
          </p:nvPr>
        </p:nvSpPr>
        <p:spPr>
          <a:xfrm>
            <a:off x="8724899"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076694-E3BC-4EDB-9386-741C07D102FC}"/>
              </a:ext>
            </a:extLst>
          </p:cNvPr>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55E5F-5910-4B6C-9240-BBD067429806}"/>
              </a:ext>
            </a:extLst>
          </p:cNvPr>
          <p:cNvSpPr>
            <a:spLocks noGrp="1"/>
          </p:cNvSpPr>
          <p:nvPr>
            <p:ph type="dt" sz="half" idx="10"/>
          </p:nvPr>
        </p:nvSpPr>
        <p:spPr/>
        <p:txBody>
          <a:bodyPr/>
          <a:lstStyle/>
          <a:p>
            <a:fld id="{A859E21A-F666-4B00-93A3-A32F7AC50575}" type="datetime1">
              <a:rPr lang="en-US" smtClean="0"/>
              <a:t>7/18/2024</a:t>
            </a:fld>
            <a:endParaRPr lang="en-US" dirty="0"/>
          </a:p>
        </p:txBody>
      </p:sp>
      <p:sp>
        <p:nvSpPr>
          <p:cNvPr id="5" name="Footer Placeholder 4">
            <a:extLst>
              <a:ext uri="{FF2B5EF4-FFF2-40B4-BE49-F238E27FC236}">
                <a16:creationId xmlns:a16="http://schemas.microsoft.com/office/drawing/2014/main" id="{5325C43F-1442-47BB-B1A9-060E9F035EBE}"/>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2F3904EC-62F1-4608-B751-533533F6661D}"/>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8815634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F80E-CA35-C63B-47F4-CC11DF60B7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9C5256-98EC-A333-1F96-35A29C940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BD36D9-E54A-02C1-9D01-07CEC057512E}"/>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5" name="Footer Placeholder 4">
            <a:extLst>
              <a:ext uri="{FF2B5EF4-FFF2-40B4-BE49-F238E27FC236}">
                <a16:creationId xmlns:a16="http://schemas.microsoft.com/office/drawing/2014/main" id="{57C5BD99-A0E5-C8E6-0293-C8F4E7ADB4F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29629F-1D20-FF76-5EB6-240309CFAA9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576444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2AC4-349D-A897-6171-03399A1D79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75E28-04F2-0BB8-CAA3-EAA16C700BB4}"/>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5" name="Footer Placeholder 4">
            <a:extLst>
              <a:ext uri="{FF2B5EF4-FFF2-40B4-BE49-F238E27FC236}">
                <a16:creationId xmlns:a16="http://schemas.microsoft.com/office/drawing/2014/main" id="{EBE8921E-7A76-6CA3-63C8-C8BEF6D7FCF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B3FBE9D-47C9-B56A-3EC3-6120B283D13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4370303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Outp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a:xfrm>
            <a:off x="838200" y="723207"/>
            <a:ext cx="10515600" cy="5203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0580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522A-5659-8E58-0C7C-8DF74D11B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92466-9973-B746-9C73-FB335C44BB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605841-E333-8EF3-13A4-B887A17F5BB2}"/>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5" name="Footer Placeholder 4">
            <a:extLst>
              <a:ext uri="{FF2B5EF4-FFF2-40B4-BE49-F238E27FC236}">
                <a16:creationId xmlns:a16="http://schemas.microsoft.com/office/drawing/2014/main" id="{C0D55581-7211-C530-1B0A-5B6FABC5D4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3750AD-5B48-0726-4977-83576D9A2851}"/>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27393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F885-B892-AF4E-14F6-5BF965E9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7E1770-FA2D-DFFD-19D7-51C803C2A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1ABB0-2FF2-50E1-1D39-1209FC2FE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9C5AA1-7869-F7B1-1AAA-9AB491751C2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6" name="Footer Placeholder 5">
            <a:extLst>
              <a:ext uri="{FF2B5EF4-FFF2-40B4-BE49-F238E27FC236}">
                <a16:creationId xmlns:a16="http://schemas.microsoft.com/office/drawing/2014/main" id="{30C631CC-0ED4-0DBA-3B11-951955097C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EA0F43-4FF6-41EA-54B8-4C2B9B6AAD16}"/>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7450932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208-B29A-5C1B-0F83-0D22E83022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3FC125-6ED1-2C82-D3ED-F51C43D5F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CF8AA-AEDB-5574-67D8-C4CF4BAE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0A1351-7B1F-3D2B-8CC3-AD63799BB8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B1D59-8D71-169B-800D-1B6369565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17602-A406-BF7F-1159-4B4C378EF6D0}"/>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8" name="Footer Placeholder 7">
            <a:extLst>
              <a:ext uri="{FF2B5EF4-FFF2-40B4-BE49-F238E27FC236}">
                <a16:creationId xmlns:a16="http://schemas.microsoft.com/office/drawing/2014/main" id="{5FE251BD-2045-1E2C-E87C-4EFC8120926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23B3598-579D-3653-EDD8-A878B177B824}"/>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4311040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5C9-55E7-611E-0F37-4EE6F2A3A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637D8-C95D-4CFA-CBF5-2ADEF685D61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4" name="Footer Placeholder 3">
            <a:extLst>
              <a:ext uri="{FF2B5EF4-FFF2-40B4-BE49-F238E27FC236}">
                <a16:creationId xmlns:a16="http://schemas.microsoft.com/office/drawing/2014/main" id="{42AB4C0A-D1FD-786C-5A2E-8A4B2720872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A6D1C3-0C4C-016B-EC68-78B7509E3715}"/>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2452499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3E7AE-170E-91FA-7315-36E3FEE36516}"/>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3" name="Footer Placeholder 2">
            <a:extLst>
              <a:ext uri="{FF2B5EF4-FFF2-40B4-BE49-F238E27FC236}">
                <a16:creationId xmlns:a16="http://schemas.microsoft.com/office/drawing/2014/main" id="{BF6B2EE4-5A93-5729-1EAC-03E66A0B56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18D43F-B7E2-7961-9FFE-21EB28342D5A}"/>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3349292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CCE6-8084-DA30-31CB-CD9726E36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64A11-4BA3-288B-80CE-24DCC4C5BC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AF7808-6760-899B-5637-5AF891200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9F123-B801-4BD3-C9F2-562B462B5B8A}"/>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6" name="Footer Placeholder 5">
            <a:extLst>
              <a:ext uri="{FF2B5EF4-FFF2-40B4-BE49-F238E27FC236}">
                <a16:creationId xmlns:a16="http://schemas.microsoft.com/office/drawing/2014/main" id="{1D499435-4ECB-552D-F273-B2E602B912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C8A5FE-E587-D277-E8C4-8DC54ED6E293}"/>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7351237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9A34-ECF4-CD06-A854-8EED594D9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E85963-B99D-0D48-F74E-5347F28C1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209FE-05AD-1F83-2A16-595EF372B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EEA6-1CE3-D581-30FA-B8A6BB4BFB6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6" name="Footer Placeholder 5">
            <a:extLst>
              <a:ext uri="{FF2B5EF4-FFF2-40B4-BE49-F238E27FC236}">
                <a16:creationId xmlns:a16="http://schemas.microsoft.com/office/drawing/2014/main" id="{7D9DEB60-F0E3-E3A7-BDE3-3F3D04B3D1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0D5625-5E2A-FDD7-240B-CE4AD3D04E8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0728659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8964-CFDD-EEE7-561D-6CD0AA476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BBC7B5-E245-21C1-36FF-25BF670F53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11137-3CC6-DE86-3F8F-12263490118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5" name="Footer Placeholder 4">
            <a:extLst>
              <a:ext uri="{FF2B5EF4-FFF2-40B4-BE49-F238E27FC236}">
                <a16:creationId xmlns:a16="http://schemas.microsoft.com/office/drawing/2014/main" id="{1349A0C3-B51F-2043-29A8-381E40D744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42932E-13ED-745D-FD1E-DB6D1C575E9E}"/>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06448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2DD41-03F0-5A20-D0FC-53F8C68AD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F3F08-A716-9B80-7DAD-A5D0BE30E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C8755-E2ED-FEEE-B158-E0DD3FB12F61}"/>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7/18/2024</a:t>
            </a:fld>
            <a:endParaRPr lang="en-US"/>
          </a:p>
        </p:txBody>
      </p:sp>
      <p:sp>
        <p:nvSpPr>
          <p:cNvPr id="5" name="Footer Placeholder 4">
            <a:extLst>
              <a:ext uri="{FF2B5EF4-FFF2-40B4-BE49-F238E27FC236}">
                <a16:creationId xmlns:a16="http://schemas.microsoft.com/office/drawing/2014/main" id="{B7DB962C-DB69-9313-835E-9A96B9436FE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0384AD-5BB3-6E37-4160-F0641747085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18125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7/18/2024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B51140-C23B-45C0-B1FB-D7EA759F66EC}"/>
              </a:ext>
            </a:extLst>
          </p:cNvPr>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AA45C9-EA98-45C3-82AA-05460373C853}"/>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FDF4F-D3D1-4511-BF40-F17702C09459}"/>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39DD42-D7EB-418A-8239-F7FD4CE5A224}" type="datetime1">
              <a:rPr lang="en-US" smtClean="0"/>
              <a:t>7/18/2024</a:t>
            </a:fld>
            <a:endParaRPr lang="en-US" dirty="0"/>
          </a:p>
        </p:txBody>
      </p:sp>
      <p:sp>
        <p:nvSpPr>
          <p:cNvPr id="5" name="Footer Placeholder 4">
            <a:extLst>
              <a:ext uri="{FF2B5EF4-FFF2-40B4-BE49-F238E27FC236}">
                <a16:creationId xmlns:a16="http://schemas.microsoft.com/office/drawing/2014/main" id="{DF9C521E-7FA6-4F70-832E-72E430F2D578}"/>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Key Benefit Administrators</a:t>
            </a:r>
          </a:p>
        </p:txBody>
      </p:sp>
      <p:sp>
        <p:nvSpPr>
          <p:cNvPr id="6" name="Slide Number Placeholder 5">
            <a:extLst>
              <a:ext uri="{FF2B5EF4-FFF2-40B4-BE49-F238E27FC236}">
                <a16:creationId xmlns:a16="http://schemas.microsoft.com/office/drawing/2014/main" id="{E38196BC-C87C-4997-9858-64C1882D1F5E}"/>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1B7D62-7D4B-4EC0-9445-56A6951E1D90}" type="slidenum">
              <a:rPr lang="en-US" smtClean="0"/>
              <a:t>‹#›</a:t>
            </a:fld>
            <a:endParaRPr lang="en-US" dirty="0"/>
          </a:p>
        </p:txBody>
      </p:sp>
    </p:spTree>
    <p:extLst>
      <p:ext uri="{BB962C8B-B14F-4D97-AF65-F5344CB8AC3E}">
        <p14:creationId xmlns:p14="http://schemas.microsoft.com/office/powerpoint/2010/main" val="250634880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B39A1-2181-7751-3A9C-DD497656D778}"/>
              </a:ext>
            </a:extLst>
          </p:cNvPr>
          <p:cNvSpPr>
            <a:spLocks noGrp="1"/>
          </p:cNvSpPr>
          <p:nvPr>
            <p:ph type="title"/>
          </p:nvPr>
        </p:nvSpPr>
        <p:spPr>
          <a:xfrm>
            <a:off x="838200" y="36512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76B2F-4CF9-EA9D-2AF2-B6F1F3AF1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83784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24.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4.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jpeg"/><Relationship Id="rId12" Type="http://schemas.openxmlformats.org/officeDocument/2006/relationships/image" Target="../media/image32.jpe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jpeg"/><Relationship Id="rId4" Type="http://schemas.openxmlformats.org/officeDocument/2006/relationships/image" Target="../media/image24.png"/><Relationship Id="rId9"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jpe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8.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jpeg"/><Relationship Id="rId7" Type="http://schemas.openxmlformats.org/officeDocument/2006/relationships/image" Target="../media/image55.jpeg"/><Relationship Id="rId2" Type="http://schemas.openxmlformats.org/officeDocument/2006/relationships/image" Target="../media/image50.png"/><Relationship Id="rId1" Type="http://schemas.openxmlformats.org/officeDocument/2006/relationships/slideLayout" Target="../slideLayouts/slideLayout6.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8.jpeg"/><Relationship Id="rId4" Type="http://schemas.openxmlformats.org/officeDocument/2006/relationships/image" Target="../media/image52.png"/><Relationship Id="rId9" Type="http://schemas.openxmlformats.org/officeDocument/2006/relationships/image" Target="../media/image57.pn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9.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Layout" Target="../slideLayouts/slideLayout6.xml"/><Relationship Id="rId4" Type="http://schemas.openxmlformats.org/officeDocument/2006/relationships/image" Target="../media/image62.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0.xml.rels><?xml version="1.0" encoding="UTF-8" standalone="yes"?>
<Relationships xmlns="http://schemas.openxmlformats.org/package/2006/relationships"><Relationship Id="rId8" Type="http://schemas.openxmlformats.org/officeDocument/2006/relationships/image" Target="../media/image70.sv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hyperlink" Target="mailto:jack.hill@keybenefit.com" TargetMode="External"/><Relationship Id="rId2" Type="http://schemas.openxmlformats.org/officeDocument/2006/relationships/image" Target="../media/image64.jpeg"/><Relationship Id="rId1" Type="http://schemas.openxmlformats.org/officeDocument/2006/relationships/slideLayout" Target="../slideLayouts/slideLayout6.xml"/><Relationship Id="rId6" Type="http://schemas.openxmlformats.org/officeDocument/2006/relationships/image" Target="../media/image68.svg"/><Relationship Id="rId11" Type="http://schemas.openxmlformats.org/officeDocument/2006/relationships/image" Target="../media/image21.png"/><Relationship Id="rId5" Type="http://schemas.openxmlformats.org/officeDocument/2006/relationships/image" Target="../media/image67.png"/><Relationship Id="rId10" Type="http://schemas.openxmlformats.org/officeDocument/2006/relationships/image" Target="../media/image72.svg"/><Relationship Id="rId4" Type="http://schemas.openxmlformats.org/officeDocument/2006/relationships/image" Target="../media/image66.svg"/><Relationship Id="rId9"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July 19,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050" name="Picture 2" descr="Lehigh Valley | Bethlehem, PA, US | Bill Dickinson | Flickr">
            <a:extLst>
              <a:ext uri="{FF2B5EF4-FFF2-40B4-BE49-F238E27FC236}">
                <a16:creationId xmlns:a16="http://schemas.microsoft.com/office/drawing/2014/main" id="{960FC751-2A37-9680-5086-37ED9D505D2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81075" y="1708929"/>
            <a:ext cx="11210925" cy="51490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t. Luke's University Health Network's 150th Anniversary">
            <a:extLst>
              <a:ext uri="{FF2B5EF4-FFF2-40B4-BE49-F238E27FC236}">
                <a16:creationId xmlns:a16="http://schemas.microsoft.com/office/drawing/2014/main" id="{418AEC1D-1E1C-A206-08BE-266A53346372}"/>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07764" y="579749"/>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418531"/>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Why 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dirty="0">
                <a:solidFill>
                  <a:schemeClr val="tx1">
                    <a:lumMod val="75000"/>
                    <a:lumOff val="25000"/>
                  </a:schemeClr>
                </a:solidFill>
                <a:latin typeface="Arial" panose="020B0604020202020204" pitchFamily="34" charset="0"/>
                <a:cs typeface="Arial" panose="020B0604020202020204" pitchFamily="34" charset="0"/>
              </a:rPr>
              <a:t>It is time you have a say in your community's healthcare</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D916C96C-A20E-4C43-93A0-514379E86986}"/>
              </a:ext>
            </a:extLst>
          </p:cNvPr>
          <p:cNvSpPr txBox="1"/>
          <p:nvPr/>
        </p:nvSpPr>
        <p:spPr>
          <a:xfrm>
            <a:off x="5064863" y="648765"/>
            <a:ext cx="7091475" cy="4811445"/>
          </a:xfrm>
          <a:prstGeom prst="rect">
            <a:avLst/>
          </a:prstGeom>
          <a:noFill/>
        </p:spPr>
        <p:txBody>
          <a:bodyPr wrap="square">
            <a:spAutoFit/>
          </a:bodyPr>
          <a:lstStyle/>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Capture commercial pay market share</a:t>
            </a:r>
          </a:p>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Connect employers and employees with St Luke's</a:t>
            </a:r>
            <a:r>
              <a:rPr lang="en-US" sz="3200" b="1" dirty="0">
                <a:latin typeface="Calibri" panose="020F0502020204030204" pitchFamily="34" charset="0"/>
                <a:ea typeface="Calibri" panose="020F0502020204030204" pitchFamily="34" charset="0"/>
                <a:cs typeface="Times New Roman" panose="02020603050405020304" pitchFamily="18" charset="0"/>
              </a:rPr>
              <a:t> p</a:t>
            </a:r>
            <a:r>
              <a:rPr lang="en-US" sz="3200" b="1" dirty="0">
                <a:effectLst/>
                <a:latin typeface="Calibri" panose="020F0502020204030204" pitchFamily="34" charset="0"/>
                <a:ea typeface="Calibri" panose="020F0502020204030204" pitchFamily="34" charset="0"/>
                <a:cs typeface="Times New Roman" panose="02020603050405020304" pitchFamily="18" charset="0"/>
              </a:rPr>
              <a:t>roviders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Increase the census and directed care for St Luke's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Cut out carriers to lower the price of healthcare in the marketplace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Improve the health of the covered population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59040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471593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Rectangle 5">
            <a:extLst>
              <a:ext uri="{FF2B5EF4-FFF2-40B4-BE49-F238E27FC236}">
                <a16:creationId xmlns:a16="http://schemas.microsoft.com/office/drawing/2014/main" id="{6E5722BE-2B2D-4795-BCAF-25B00D3C9E01}"/>
              </a:ext>
            </a:extLst>
          </p:cNvPr>
          <p:cNvSpPr/>
          <p:nvPr/>
        </p:nvSpPr>
        <p:spPr>
          <a:xfrm>
            <a:off x="5375023" y="2074277"/>
            <a:ext cx="6096000" cy="3397853"/>
          </a:xfrm>
          <a:prstGeom prst="rect">
            <a:avLst/>
          </a:prstGeom>
        </p:spPr>
        <p:txBody>
          <a:bodyPr>
            <a:spAutoFit/>
          </a:bodyPr>
          <a:lstStyle/>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Employer and Re-Insurer assume all risk for the program</a:t>
            </a:r>
          </a:p>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Employer is responsible for payment/funding of all fees, premiums, and claims</a:t>
            </a:r>
          </a:p>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St Luke's Receives:</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Fee-For-Service payments </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Care Coordination fees (St Luke's)</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Reimbursement for Standards of Care Services</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Potential Upside Gain Sharing</a:t>
            </a:r>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a:off x="5375023" y="643468"/>
            <a:ext cx="5911043" cy="1079436"/>
          </a:xfrm>
        </p:spPr>
        <p:txBody>
          <a:bodyPr>
            <a:noAutofit/>
          </a:bodyPr>
          <a:lstStyle/>
          <a:p>
            <a:pPr>
              <a:lnSpc>
                <a:spcPct val="100000"/>
              </a:lnSpc>
              <a:spcBef>
                <a:spcPts val="600"/>
              </a:spcBef>
            </a:pPr>
            <a:r>
              <a:rPr lang="en-US" sz="3600" dirty="0">
                <a:solidFill>
                  <a:srgbClr val="59CAE8"/>
                </a:solidFill>
              </a:rPr>
              <a:t>DIRECT-TO-EMPLOYER</a:t>
            </a:r>
            <a:br>
              <a:rPr lang="en-US" sz="3600" dirty="0">
                <a:solidFill>
                  <a:srgbClr val="000B2E"/>
                </a:solidFill>
              </a:rPr>
            </a:br>
            <a:r>
              <a:rPr lang="en-US" sz="2000" dirty="0">
                <a:solidFill>
                  <a:srgbClr val="000B2E"/>
                </a:solidFill>
              </a:rPr>
              <a:t>Focused on Self-Funded Employers</a:t>
            </a:r>
            <a:endParaRPr lang="en-US" sz="3600" dirty="0">
              <a:solidFill>
                <a:srgbClr val="000B2E"/>
              </a:solidFill>
            </a:endParaRPr>
          </a:p>
        </p:txBody>
      </p:sp>
      <p:sp>
        <p:nvSpPr>
          <p:cNvPr id="7" name="Rectangle 6">
            <a:extLst>
              <a:ext uri="{FF2B5EF4-FFF2-40B4-BE49-F238E27FC236}">
                <a16:creationId xmlns:a16="http://schemas.microsoft.com/office/drawing/2014/main" id="{16B699B2-0ED4-420C-8D6A-E40BF532CD0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descr="Our Business - Vertical Tech Solutions">
            <a:extLst>
              <a:ext uri="{FF2B5EF4-FFF2-40B4-BE49-F238E27FC236}">
                <a16:creationId xmlns:a16="http://schemas.microsoft.com/office/drawing/2014/main" id="{2787B40A-2BFF-48B0-AC4D-7383581E4F8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582514" y="1275071"/>
            <a:ext cx="3550906" cy="4307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83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4" descr="St. Luke's University Health Network's 150th Anniversary">
            <a:extLst>
              <a:ext uri="{FF2B5EF4-FFF2-40B4-BE49-F238E27FC236}">
                <a16:creationId xmlns:a16="http://schemas.microsoft.com/office/drawing/2014/main" id="{D6AB8280-65CC-A73E-FAC0-B6BB8F43AF67}"/>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93250" y="-64796"/>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Creates</a:t>
            </a:r>
          </a:p>
          <a:p>
            <a:pPr algn="ctr"/>
            <a:r>
              <a:rPr lang="en-US" sz="4000" dirty="0">
                <a:solidFill>
                  <a:schemeClr val="accent2"/>
                </a:solidFill>
              </a:rPr>
              <a:t>~$.31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~$.58 of profit</a:t>
            </a:r>
          </a:p>
        </p:txBody>
      </p:sp>
      <p:pic>
        <p:nvPicPr>
          <p:cNvPr id="3" name="Picture 4" descr="St. Luke's University Health Network's 150th Anniversary">
            <a:extLst>
              <a:ext uri="{FF2B5EF4-FFF2-40B4-BE49-F238E27FC236}">
                <a16:creationId xmlns:a16="http://schemas.microsoft.com/office/drawing/2014/main" id="{533FD6B8-D6F3-D3D6-4D32-D3F2818DD6E0}"/>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89009" y="0"/>
            <a:ext cx="1616333" cy="8490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0D1BA4-6D19-00FD-17FF-A0AD0AAAF7EE}"/>
              </a:ext>
            </a:extLst>
          </p:cNvPr>
          <p:cNvSpPr txBox="1"/>
          <p:nvPr/>
        </p:nvSpPr>
        <p:spPr>
          <a:xfrm>
            <a:off x="1973943" y="5562552"/>
            <a:ext cx="8964377" cy="369332"/>
          </a:xfrm>
          <a:prstGeom prst="rect">
            <a:avLst/>
          </a:prstGeom>
          <a:noFill/>
        </p:spPr>
        <p:txBody>
          <a:bodyPr wrap="none" rtlCol="0">
            <a:spAutoFit/>
          </a:bodyPr>
          <a:lstStyle/>
          <a:p>
            <a:r>
              <a:rPr lang="en-US" dirty="0"/>
              <a:t>See Slides 38 for More Details on Calculation of Commercial and Government-Pay Net Income</a:t>
            </a:r>
          </a:p>
        </p:txBody>
      </p:sp>
    </p:spTree>
    <p:extLst>
      <p:ext uri="{BB962C8B-B14F-4D97-AF65-F5344CB8AC3E}">
        <p14:creationId xmlns:p14="http://schemas.microsoft.com/office/powerpoint/2010/main" val="3348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9143" y="2046514"/>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3657" y="2061029"/>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9143" y="2046514"/>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82171" y="2322286"/>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12465"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BH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52661"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72759"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5543" y="1828800"/>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32563"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3543" y="1741714"/>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2914" y="1828800"/>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10286" y="1727200"/>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2914" y="1828800"/>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9143" y="1756229"/>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0" y="711190"/>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St. Luke's University Health Network's 150th Anniversary">
            <a:extLst>
              <a:ext uri="{FF2B5EF4-FFF2-40B4-BE49-F238E27FC236}">
                <a16:creationId xmlns:a16="http://schemas.microsoft.com/office/drawing/2014/main" id="{A26B9B8E-7E0B-E284-9526-7C2858C04978}"/>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7098" y="617314"/>
            <a:ext cx="2713741" cy="14255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elcome to Lehigh Valley Health Network ...">
            <a:extLst>
              <a:ext uri="{FF2B5EF4-FFF2-40B4-BE49-F238E27FC236}">
                <a16:creationId xmlns:a16="http://schemas.microsoft.com/office/drawing/2014/main" id="{8CB795D1-F1A5-27E9-EDB4-5FB2922F8AF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038601" y="963387"/>
            <a:ext cx="3987995" cy="7928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inity Health Muskegon – Grand Rapids, MI - RQI Partners, LLC">
            <a:extLst>
              <a:ext uri="{FF2B5EF4-FFF2-40B4-BE49-F238E27FC236}">
                <a16:creationId xmlns:a16="http://schemas.microsoft.com/office/drawing/2014/main" id="{9A6B5F68-2EDD-4425-9E94-7AEACCC0AF0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11885" y="-137886"/>
            <a:ext cx="4020910" cy="2939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269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4" descr="St. Luke's University Health Network's 150th Anniversary">
            <a:extLst>
              <a:ext uri="{FF2B5EF4-FFF2-40B4-BE49-F238E27FC236}">
                <a16:creationId xmlns:a16="http://schemas.microsoft.com/office/drawing/2014/main" id="{54C4C891-BACC-B531-6B4E-417D42F3127C}"/>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53935" y="2433244"/>
            <a:ext cx="2910924" cy="152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F099-195A-A047-B40B-2C937AB25DBD}"/>
              </a:ext>
            </a:extLst>
          </p:cNvPr>
          <p:cNvSpPr>
            <a:spLocks noGrp="1"/>
          </p:cNvSpPr>
          <p:nvPr>
            <p:ph type="title"/>
          </p:nvPr>
        </p:nvSpPr>
        <p:spPr>
          <a:xfrm>
            <a:off x="1460500" y="210353"/>
            <a:ext cx="9829800" cy="1325563"/>
          </a:xfrm>
        </p:spPr>
        <p:txBody>
          <a:bodyPr>
            <a:normAutofit/>
          </a:bodyPr>
          <a:lstStyle/>
          <a:p>
            <a:r>
              <a:rPr lang="en-US" dirty="0"/>
              <a:t>Strong </a:t>
            </a:r>
            <a:r>
              <a:rPr lang="en-US" b="1" dirty="0"/>
              <a:t>Brand</a:t>
            </a:r>
            <a:r>
              <a:rPr lang="en-US" dirty="0"/>
              <a:t> Quality</a:t>
            </a:r>
          </a:p>
        </p:txBody>
      </p:sp>
      <p:pic>
        <p:nvPicPr>
          <p:cNvPr id="7" name="Content Placeholder 6">
            <a:extLst>
              <a:ext uri="{FF2B5EF4-FFF2-40B4-BE49-F238E27FC236}">
                <a16:creationId xmlns:a16="http://schemas.microsoft.com/office/drawing/2014/main" id="{E6B5926E-4AAC-8204-A9FD-B546D2D620A9}"/>
              </a:ext>
            </a:extLst>
          </p:cNvPr>
          <p:cNvPicPr>
            <a:picLocks noGrp="1" noChangeAspect="1"/>
          </p:cNvPicPr>
          <p:nvPr>
            <p:ph idx="1"/>
          </p:nvPr>
        </p:nvPicPr>
        <p:blipFill>
          <a:blip r:embed="rId2"/>
          <a:stretch>
            <a:fillRect/>
          </a:stretch>
        </p:blipFill>
        <p:spPr>
          <a:xfrm>
            <a:off x="4609338" y="1690687"/>
            <a:ext cx="5768630" cy="4518224"/>
          </a:xfrm>
        </p:spPr>
      </p:pic>
      <p:pic>
        <p:nvPicPr>
          <p:cNvPr id="8" name="Picture 2" descr="Welcome to Lehigh Valley Health Network ...">
            <a:extLst>
              <a:ext uri="{FF2B5EF4-FFF2-40B4-BE49-F238E27FC236}">
                <a16:creationId xmlns:a16="http://schemas.microsoft.com/office/drawing/2014/main" id="{DDC94D88-BA34-5AA9-EA9B-C148FD0A715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2212" y="5178426"/>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 Luke's University Health Network's 150th Anniversary">
            <a:extLst>
              <a:ext uri="{FF2B5EF4-FFF2-40B4-BE49-F238E27FC236}">
                <a16:creationId xmlns:a16="http://schemas.microsoft.com/office/drawing/2014/main" id="{86AC65E6-F3F0-4B89-D1E6-216DC9C8C86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502650" y="3328966"/>
            <a:ext cx="2266950" cy="11908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F890093-D539-CA4F-976A-7B1A5C58F15B}"/>
              </a:ext>
            </a:extLst>
          </p:cNvPr>
          <p:cNvSpPr txBox="1"/>
          <p:nvPr/>
        </p:nvSpPr>
        <p:spPr>
          <a:xfrm>
            <a:off x="1284079" y="2851320"/>
            <a:ext cx="2757206" cy="1477328"/>
          </a:xfrm>
          <a:prstGeom prst="rect">
            <a:avLst/>
          </a:prstGeom>
          <a:noFill/>
        </p:spPr>
        <p:txBody>
          <a:bodyPr wrap="square" rtlCol="0">
            <a:spAutoFit/>
          </a:bodyPr>
          <a:lstStyle/>
          <a:p>
            <a:r>
              <a:rPr lang="en-US" dirty="0"/>
              <a:t>Comparison of Medicare payment market share by zip code: St Luke’s vs Lehigh Valley Health Network</a:t>
            </a:r>
          </a:p>
        </p:txBody>
      </p:sp>
    </p:spTree>
    <p:extLst>
      <p:ext uri="{BB962C8B-B14F-4D97-AF65-F5344CB8AC3E}">
        <p14:creationId xmlns:p14="http://schemas.microsoft.com/office/powerpoint/2010/main" val="2494354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1A362-2AA1-DB6F-E381-95548BA50FD2}"/>
              </a:ext>
            </a:extLst>
          </p:cNvPr>
          <p:cNvSpPr>
            <a:spLocks noGrp="1"/>
          </p:cNvSpPr>
          <p:nvPr>
            <p:ph type="title"/>
          </p:nvPr>
        </p:nvSpPr>
        <p:spPr/>
        <p:txBody>
          <a:bodyPr>
            <a:normAutofit/>
          </a:bodyPr>
          <a:lstStyle/>
          <a:p>
            <a:r>
              <a:rPr lang="en-US" dirty="0"/>
              <a:t>Extensive </a:t>
            </a:r>
            <a:r>
              <a:rPr lang="en-US" b="1" dirty="0"/>
              <a:t>Patient Access</a:t>
            </a:r>
          </a:p>
        </p:txBody>
      </p:sp>
      <p:pic>
        <p:nvPicPr>
          <p:cNvPr id="5" name="Content Placeholder 4">
            <a:extLst>
              <a:ext uri="{FF2B5EF4-FFF2-40B4-BE49-F238E27FC236}">
                <a16:creationId xmlns:a16="http://schemas.microsoft.com/office/drawing/2014/main" id="{925ABC0E-AAB4-F399-F7BF-ED278C149419}"/>
              </a:ext>
            </a:extLst>
          </p:cNvPr>
          <p:cNvPicPr>
            <a:picLocks noGrp="1" noChangeAspect="1"/>
          </p:cNvPicPr>
          <p:nvPr>
            <p:ph idx="1"/>
          </p:nvPr>
        </p:nvPicPr>
        <p:blipFill>
          <a:blip r:embed="rId2"/>
          <a:stretch>
            <a:fillRect/>
          </a:stretch>
        </p:blipFill>
        <p:spPr>
          <a:xfrm>
            <a:off x="3490912" y="1858169"/>
            <a:ext cx="5210175" cy="4286250"/>
          </a:xfrm>
        </p:spPr>
      </p:pic>
      <p:pic>
        <p:nvPicPr>
          <p:cNvPr id="1026" name="Picture 2" descr="Welcome to Lehigh Valley Health Network ...">
            <a:extLst>
              <a:ext uri="{FF2B5EF4-FFF2-40B4-BE49-F238E27FC236}">
                <a16:creationId xmlns:a16="http://schemas.microsoft.com/office/drawing/2014/main" id="{D35E0F37-25DB-A6ED-FA0B-749C789F743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1604" y="2216823"/>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 Luke's University Health Network's 150th Anniversary">
            <a:extLst>
              <a:ext uri="{FF2B5EF4-FFF2-40B4-BE49-F238E27FC236}">
                <a16:creationId xmlns:a16="http://schemas.microsoft.com/office/drawing/2014/main" id="{81F606B0-F3E0-4A78-98C0-7AA2580C33ED}"/>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48800" y="1926190"/>
            <a:ext cx="2266950" cy="11908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02C5E5F-C08F-02C6-5478-0FD5169A64CD}"/>
              </a:ext>
            </a:extLst>
          </p:cNvPr>
          <p:cNvGraphicFramePr>
            <a:graphicFrameLocks noGrp="1"/>
          </p:cNvGraphicFramePr>
          <p:nvPr/>
        </p:nvGraphicFramePr>
        <p:xfrm>
          <a:off x="311586" y="3139930"/>
          <a:ext cx="2766324" cy="1097280"/>
        </p:xfrm>
        <a:graphic>
          <a:graphicData uri="http://schemas.openxmlformats.org/drawingml/2006/table">
            <a:tbl>
              <a:tblPr firstRow="1" bandRow="1">
                <a:tableStyleId>{5C22544A-7EE6-4342-B048-85BDC9FD1C3A}</a:tableStyleId>
              </a:tblPr>
              <a:tblGrid>
                <a:gridCol w="1383162">
                  <a:extLst>
                    <a:ext uri="{9D8B030D-6E8A-4147-A177-3AD203B41FA5}">
                      <a16:colId xmlns:a16="http://schemas.microsoft.com/office/drawing/2014/main" val="1499193583"/>
                    </a:ext>
                  </a:extLst>
                </a:gridCol>
                <a:gridCol w="1383162">
                  <a:extLst>
                    <a:ext uri="{9D8B030D-6E8A-4147-A177-3AD203B41FA5}">
                      <a16:colId xmlns:a16="http://schemas.microsoft.com/office/drawing/2014/main" val="3693673618"/>
                    </a:ext>
                  </a:extLst>
                </a:gridCol>
              </a:tblGrid>
              <a:tr h="251800">
                <a:tc>
                  <a:txBody>
                    <a:bodyPr/>
                    <a:lstStyle/>
                    <a:p>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3311402759"/>
                  </a:ext>
                </a:extLst>
              </a:tr>
              <a:tr h="251800">
                <a:tc>
                  <a:txBody>
                    <a:bodyPr/>
                    <a:lstStyle/>
                    <a:p>
                      <a:r>
                        <a:rPr lang="en-US" sz="1200" dirty="0"/>
                        <a:t>Lehigh Valley Hospital Cedar Crest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tc>
                  <a:txBody>
                    <a:bodyPr/>
                    <a:lstStyle/>
                    <a:p>
                      <a:pPr algn="ctr"/>
                      <a:r>
                        <a:rPr lang="en-US" sz="1200" dirty="0"/>
                        <a:t>227,393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extLst>
                  <a:ext uri="{0D108BD9-81ED-4DB2-BD59-A6C34878D82A}">
                    <a16:rowId xmlns:a16="http://schemas.microsoft.com/office/drawing/2014/main" val="316278004"/>
                  </a:ext>
                </a:extLst>
              </a:tr>
            </a:tbl>
          </a:graphicData>
        </a:graphic>
      </p:graphicFrame>
      <p:graphicFrame>
        <p:nvGraphicFramePr>
          <p:cNvPr id="7" name="Table 6">
            <a:extLst>
              <a:ext uri="{FF2B5EF4-FFF2-40B4-BE49-F238E27FC236}">
                <a16:creationId xmlns:a16="http://schemas.microsoft.com/office/drawing/2014/main" id="{F5DFB184-5687-810D-E027-F824D29970B6}"/>
              </a:ext>
            </a:extLst>
          </p:cNvPr>
          <p:cNvGraphicFramePr>
            <a:graphicFrameLocks noGrp="1"/>
          </p:cNvGraphicFramePr>
          <p:nvPr/>
        </p:nvGraphicFramePr>
        <p:xfrm>
          <a:off x="9199113" y="3139930"/>
          <a:ext cx="2766324" cy="2474935"/>
        </p:xfrm>
        <a:graphic>
          <a:graphicData uri="http://schemas.openxmlformats.org/drawingml/2006/table">
            <a:tbl>
              <a:tblPr firstRow="1" bandRow="1">
                <a:tableStyleId>{5C22544A-7EE6-4342-B048-85BDC9FD1C3A}</a:tableStyleId>
              </a:tblPr>
              <a:tblGrid>
                <a:gridCol w="1810632">
                  <a:extLst>
                    <a:ext uri="{9D8B030D-6E8A-4147-A177-3AD203B41FA5}">
                      <a16:colId xmlns:a16="http://schemas.microsoft.com/office/drawing/2014/main" val="1499193583"/>
                    </a:ext>
                  </a:extLst>
                </a:gridCol>
                <a:gridCol w="955692">
                  <a:extLst>
                    <a:ext uri="{9D8B030D-6E8A-4147-A177-3AD203B41FA5}">
                      <a16:colId xmlns:a16="http://schemas.microsoft.com/office/drawing/2014/main" val="3693673618"/>
                    </a:ext>
                  </a:extLst>
                </a:gridCol>
              </a:tblGrid>
              <a:tr h="251800">
                <a:tc>
                  <a:txBody>
                    <a:bodyPr/>
                    <a:lstStyle/>
                    <a:p>
                      <a:pPr algn="l"/>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311402759"/>
                  </a:ext>
                </a:extLst>
              </a:tr>
              <a:tr h="251800">
                <a:tc>
                  <a:txBody>
                    <a:bodyPr/>
                    <a:lstStyle/>
                    <a:p>
                      <a:pPr algn="l" fontAlgn="b"/>
                      <a:r>
                        <a:rPr lang="en-US" sz="1200" kern="1200" dirty="0">
                          <a:solidFill>
                            <a:schemeClr val="dk1"/>
                          </a:solidFill>
                          <a:latin typeface="+mn-lt"/>
                          <a:ea typeface="+mn-ea"/>
                          <a:cs typeface="+mn-cs"/>
                        </a:rPr>
                        <a:t>St Luke's Hospital - Anderson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142,000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16278004"/>
                  </a:ext>
                </a:extLst>
              </a:tr>
              <a:tr h="251800">
                <a:tc>
                  <a:txBody>
                    <a:bodyPr/>
                    <a:lstStyle/>
                    <a:p>
                      <a:pPr algn="l" fontAlgn="b"/>
                      <a:r>
                        <a:rPr lang="en-US" sz="1200" kern="1200" dirty="0">
                          <a:solidFill>
                            <a:schemeClr val="dk1"/>
                          </a:solidFill>
                          <a:latin typeface="+mn-lt"/>
                          <a:ea typeface="+mn-ea"/>
                          <a:cs typeface="+mn-cs"/>
                        </a:rPr>
                        <a:t>St Lukes Upper Bucks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46,000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52114391"/>
                  </a:ext>
                </a:extLst>
              </a:tr>
              <a:tr h="251800">
                <a:tc>
                  <a:txBody>
                    <a:bodyPr/>
                    <a:lstStyle/>
                    <a:p>
                      <a:pPr algn="l" fontAlgn="b"/>
                      <a:r>
                        <a:rPr lang="en-US" sz="1200" kern="1200" dirty="0">
                          <a:solidFill>
                            <a:schemeClr val="dk1"/>
                          </a:solidFill>
                          <a:latin typeface="+mn-lt"/>
                          <a:ea typeface="+mn-ea"/>
                          <a:cs typeface="+mn-cs"/>
                        </a:rPr>
                        <a:t>St Luke's Hospital Bethlehem</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255,000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612802536"/>
                  </a:ext>
                </a:extLst>
              </a:tr>
              <a:tr h="251800">
                <a:tc>
                  <a:txBody>
                    <a:bodyPr/>
                    <a:lstStyle/>
                    <a:p>
                      <a:pPr algn="l" fontAlgn="b"/>
                      <a:r>
                        <a:rPr lang="en-US" sz="1200" kern="1200" dirty="0">
                          <a:solidFill>
                            <a:schemeClr val="dk1"/>
                          </a:solidFill>
                          <a:latin typeface="+mn-lt"/>
                          <a:ea typeface="+mn-ea"/>
                          <a:cs typeface="+mn-cs"/>
                        </a:rPr>
                        <a:t>St Luke's Warren Hospital</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118,000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81464314"/>
                  </a:ext>
                </a:extLst>
              </a:tr>
              <a:tr h="251800">
                <a:tc>
                  <a:txBody>
                    <a:bodyPr/>
                    <a:lstStyle/>
                    <a:p>
                      <a:pPr algn="l"/>
                      <a:r>
                        <a:rPr lang="en-US" sz="1200" kern="1200" dirty="0">
                          <a:solidFill>
                            <a:schemeClr val="dk1"/>
                          </a:solidFill>
                          <a:latin typeface="+mn-lt"/>
                          <a:ea typeface="+mn-ea"/>
                          <a:cs typeface="+mn-cs"/>
                        </a:rPr>
                        <a:t>St Luke's Hospital - Easton Campus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141,000</a:t>
                      </a:r>
                    </a:p>
                    <a:p>
                      <a:pPr algn="r"/>
                      <a:endParaRPr lang="en-US" sz="120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713141400"/>
                  </a:ext>
                </a:extLst>
              </a:tr>
            </a:tbl>
          </a:graphicData>
        </a:graphic>
      </p:graphicFrame>
    </p:spTree>
    <p:extLst>
      <p:ext uri="{BB962C8B-B14F-4D97-AF65-F5344CB8AC3E}">
        <p14:creationId xmlns:p14="http://schemas.microsoft.com/office/powerpoint/2010/main" val="413337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2A5F1066-82AD-E3F2-6735-8C1531B89B6B}"/>
              </a:ext>
            </a:extLst>
          </p:cNvPr>
          <p:cNvGraphicFramePr>
            <a:graphicFrameLocks noGrp="1"/>
          </p:cNvGraphicFramePr>
          <p:nvPr>
            <p:extLst>
              <p:ext uri="{D42A27DB-BD31-4B8C-83A1-F6EECF244321}">
                <p14:modId xmlns:p14="http://schemas.microsoft.com/office/powerpoint/2010/main" val="3096766026"/>
              </p:ext>
            </p:extLst>
          </p:nvPr>
        </p:nvGraphicFramePr>
        <p:xfrm>
          <a:off x="2825173" y="544450"/>
          <a:ext cx="7754293" cy="6313550"/>
        </p:xfrm>
        <a:graphic>
          <a:graphicData uri="http://schemas.openxmlformats.org/drawingml/2006/table">
            <a:tbl>
              <a:tblPr/>
              <a:tblGrid>
                <a:gridCol w="1966344">
                  <a:extLst>
                    <a:ext uri="{9D8B030D-6E8A-4147-A177-3AD203B41FA5}">
                      <a16:colId xmlns:a16="http://schemas.microsoft.com/office/drawing/2014/main" val="1854761256"/>
                    </a:ext>
                  </a:extLst>
                </a:gridCol>
                <a:gridCol w="2800621">
                  <a:extLst>
                    <a:ext uri="{9D8B030D-6E8A-4147-A177-3AD203B41FA5}">
                      <a16:colId xmlns:a16="http://schemas.microsoft.com/office/drawing/2014/main" val="1277421539"/>
                    </a:ext>
                  </a:extLst>
                </a:gridCol>
                <a:gridCol w="1493664">
                  <a:extLst>
                    <a:ext uri="{9D8B030D-6E8A-4147-A177-3AD203B41FA5}">
                      <a16:colId xmlns:a16="http://schemas.microsoft.com/office/drawing/2014/main" val="2993711787"/>
                    </a:ext>
                  </a:extLst>
                </a:gridCol>
                <a:gridCol w="1493664">
                  <a:extLst>
                    <a:ext uri="{9D8B030D-6E8A-4147-A177-3AD203B41FA5}">
                      <a16:colId xmlns:a16="http://schemas.microsoft.com/office/drawing/2014/main" val="3219477761"/>
                    </a:ext>
                  </a:extLst>
                </a:gridCol>
              </a:tblGrid>
              <a:tr h="87027">
                <a:tc rowSpan="8">
                  <a:txBody>
                    <a:bodyPr/>
                    <a:lstStyle/>
                    <a:p>
                      <a:pPr algn="ctr" fontAlgn="ctr"/>
                      <a:r>
                        <a:rPr lang="en-US" sz="800" b="0" i="0" u="none" strike="noStrike">
                          <a:solidFill>
                            <a:srgbClr val="000000"/>
                          </a:solidFill>
                          <a:effectLst/>
                          <a:latin typeface="Aptos Narrow" panose="020B0004020202020204" pitchFamily="34" charset="0"/>
                        </a:rPr>
                        <a:t>Cardiovascular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Cardiac Cath Lab</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56060128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Cardiac Rehab</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20588622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Cardiac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71129747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Carotid Stenting</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455202155"/>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Coronary Interventions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87161441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Electrophysiology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60922043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Vascular Intervention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42440557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Vascular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874174416"/>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Emergency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Level 1 Trauma Certification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7089816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Pediatrics Trauma Certified</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124780734"/>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Neurosciences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Electroencephalography (EEG)</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9549257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Sleep Studies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577005872"/>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Oncology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Chemotherapy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0387201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Radiation 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704711428"/>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Organ Transplant</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Kidney Transplant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290951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Pancreas Transplant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841391396"/>
                  </a:ext>
                </a:extLst>
              </a:tr>
              <a:tr h="87027">
                <a:tc rowSpan="3">
                  <a:txBody>
                    <a:bodyPr/>
                    <a:lstStyle/>
                    <a:p>
                      <a:pPr algn="ctr" fontAlgn="ctr"/>
                      <a:r>
                        <a:rPr lang="en-US" sz="800" b="0" i="0" u="none" strike="noStrike">
                          <a:solidFill>
                            <a:srgbClr val="000000"/>
                          </a:solidFill>
                          <a:effectLst/>
                          <a:latin typeface="Aptos Narrow" panose="020B0004020202020204" pitchFamily="34" charset="0"/>
                        </a:rPr>
                        <a:t>Orthopedic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Arthroscopy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40987558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Joint Replacement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95614491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Spine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9059672"/>
                  </a:ext>
                </a:extLst>
              </a:tr>
              <a:tr h="87027">
                <a:tc rowSpan="5">
                  <a:txBody>
                    <a:bodyPr/>
                    <a:lstStyle/>
                    <a:p>
                      <a:pPr algn="ctr" fontAlgn="ctr"/>
                      <a:r>
                        <a:rPr lang="en-US" sz="800" b="0" i="0" u="none" strike="noStrike">
                          <a:solidFill>
                            <a:srgbClr val="000000"/>
                          </a:solidFill>
                          <a:effectLst/>
                          <a:latin typeface="Aptos Narrow" panose="020B0004020202020204" pitchFamily="34" charset="0"/>
                        </a:rPr>
                        <a:t>Other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Hemodialysis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4950718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Home Health</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610546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Hospice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4662266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Lithotripsy (ESWL)</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04870731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Obstetrics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691069649"/>
                  </a:ext>
                </a:extLst>
              </a:tr>
              <a:tr h="87027">
                <a:tc rowSpan="8">
                  <a:txBody>
                    <a:bodyPr/>
                    <a:lstStyle/>
                    <a:p>
                      <a:pPr algn="ctr" fontAlgn="ctr"/>
                      <a:r>
                        <a:rPr lang="en-US" sz="800" b="0" i="0" u="none" strike="noStrike">
                          <a:solidFill>
                            <a:srgbClr val="000000"/>
                          </a:solidFill>
                          <a:effectLst/>
                          <a:latin typeface="Aptos Narrow" panose="020B0004020202020204" pitchFamily="34" charset="0"/>
                        </a:rPr>
                        <a:t>Radiology / Nuclear Medicine / Imaging</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Computed Tomography (CT)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256298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Computed Tomography-Angiography (CTA)</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82638858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Digital Mammography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02573570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Intensity-Modulated Radiation Therapy (IMRT)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803466663"/>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Magnetic Resonance Imaging (MRI)</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939237559"/>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Magnetic Resonance Angiography (MRA)</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7634464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Positron Emission Tomography (PET)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60792357"/>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Single Photon Emission Computerized Tomography (SPECT)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582931586"/>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Rehabilitation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Physical 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955467131"/>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Speech 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889584269"/>
                  </a:ext>
                </a:extLst>
              </a:tr>
              <a:tr h="87027">
                <a:tc rowSpan="8">
                  <a:txBody>
                    <a:bodyPr/>
                    <a:lstStyle/>
                    <a:p>
                      <a:pPr algn="ctr" fontAlgn="ctr"/>
                      <a:r>
                        <a:rPr lang="en-US" sz="800" b="0" i="0" u="none" strike="noStrike">
                          <a:solidFill>
                            <a:srgbClr val="000000"/>
                          </a:solidFill>
                          <a:effectLst/>
                          <a:latin typeface="Aptos Narrow" panose="020B0004020202020204" pitchFamily="34" charset="0"/>
                        </a:rPr>
                        <a:t>Special Care</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Burn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2277283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Coronary Intensive Care (CCU)</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023173531"/>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Detox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233948875"/>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Intensive Care Unit (ICU)</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95265937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Neonatal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683170391"/>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Pediatric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3713996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Surgical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555710339"/>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Trauma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09988621"/>
                  </a:ext>
                </a:extLst>
              </a:tr>
              <a:tr h="87027">
                <a:tc rowSpan="3">
                  <a:txBody>
                    <a:bodyPr/>
                    <a:lstStyle/>
                    <a:p>
                      <a:pPr algn="ctr" fontAlgn="ctr"/>
                      <a:r>
                        <a:rPr lang="en-US" sz="800" b="0" i="0" u="none" strike="noStrike">
                          <a:solidFill>
                            <a:srgbClr val="000000"/>
                          </a:solidFill>
                          <a:effectLst/>
                          <a:latin typeface="Aptos Narrow" panose="020B0004020202020204" pitchFamily="34" charset="0"/>
                        </a:rPr>
                        <a:t>Subprovider Units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Psychiatric</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03388613"/>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Rehabilitation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16567425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Skilled Nursing (SNF)</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151157209"/>
                  </a:ext>
                </a:extLst>
              </a:tr>
              <a:tr h="87027">
                <a:tc rowSpan="3">
                  <a:txBody>
                    <a:bodyPr/>
                    <a:lstStyle/>
                    <a:p>
                      <a:pPr algn="ctr" fontAlgn="ctr"/>
                      <a:r>
                        <a:rPr lang="en-US" sz="800" b="0" i="0" u="none" strike="noStrike">
                          <a:solidFill>
                            <a:srgbClr val="000000"/>
                          </a:solidFill>
                          <a:effectLst/>
                          <a:latin typeface="Aptos Narrow" panose="020B0004020202020204" pitchFamily="34" charset="0"/>
                        </a:rPr>
                        <a:t>Surgery</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Inpatient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54419896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Radiosurgery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42430231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Robotic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468107397"/>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Wound Care</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Hyperbaric Oxygen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929250826"/>
                  </a:ext>
                </a:extLst>
              </a:tr>
              <a:tr h="87027">
                <a:tc vMerge="1">
                  <a:txBody>
                    <a:bodyPr/>
                    <a:lstStyle/>
                    <a:p>
                      <a:endParaRPr lang="en-US"/>
                    </a:p>
                  </a:txBody>
                  <a:tcPr/>
                </a:tc>
                <a:tc>
                  <a:txBody>
                    <a:bodyPr/>
                    <a:lstStyle/>
                    <a:p>
                      <a:pPr algn="l" fontAlgn="b"/>
                      <a:r>
                        <a:rPr lang="en-US" sz="800" b="0" i="0" u="none" strike="noStrike" dirty="0">
                          <a:solidFill>
                            <a:srgbClr val="000000"/>
                          </a:solidFill>
                          <a:effectLst/>
                          <a:latin typeface="Aptos Narrow" panose="020B0004020202020204" pitchFamily="34" charset="0"/>
                        </a:rPr>
                        <a:t>Wound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dirty="0">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890207688"/>
                  </a:ext>
                </a:extLst>
              </a:tr>
            </a:tbl>
          </a:graphicData>
        </a:graphic>
      </p:graphicFrame>
      <p:pic>
        <p:nvPicPr>
          <p:cNvPr id="13" name="Picture 2" descr="Welcome to Lehigh Valley Health Network ...">
            <a:extLst>
              <a:ext uri="{FF2B5EF4-FFF2-40B4-BE49-F238E27FC236}">
                <a16:creationId xmlns:a16="http://schemas.microsoft.com/office/drawing/2014/main" id="{518D6BFD-81EF-3FFD-19C5-471170C59481}"/>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555806" y="117882"/>
            <a:ext cx="1522385" cy="30266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St. Luke's University Health Network's 150th Anniversary">
            <a:extLst>
              <a:ext uri="{FF2B5EF4-FFF2-40B4-BE49-F238E27FC236}">
                <a16:creationId xmlns:a16="http://schemas.microsoft.com/office/drawing/2014/main" id="{3D3A8095-B932-6AA9-C361-528172189533}"/>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235210" y="-62127"/>
            <a:ext cx="1260186" cy="66199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C711FF8-DB8A-7529-AA88-2752B9496184}"/>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1101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A991-6A91-FF6F-33FF-985C159014CE}"/>
              </a:ext>
            </a:extLst>
          </p:cNvPr>
          <p:cNvSpPr>
            <a:spLocks noGrp="1"/>
          </p:cNvSpPr>
          <p:nvPr>
            <p:ph type="title"/>
          </p:nvPr>
        </p:nvSpPr>
        <p:spPr>
          <a:xfrm>
            <a:off x="1879600" y="288924"/>
            <a:ext cx="10515600" cy="1325563"/>
          </a:xfrm>
        </p:spPr>
        <p:txBody>
          <a:bodyPr/>
          <a:lstStyle/>
          <a:p>
            <a:r>
              <a:rPr lang="en-US" dirty="0"/>
              <a:t>Excellent </a:t>
            </a:r>
            <a:r>
              <a:rPr lang="en-US" b="1" dirty="0"/>
              <a:t>Care Quality</a:t>
            </a:r>
          </a:p>
        </p:txBody>
      </p:sp>
      <p:graphicFrame>
        <p:nvGraphicFramePr>
          <p:cNvPr id="4" name="Content Placeholder 3">
            <a:extLst>
              <a:ext uri="{FF2B5EF4-FFF2-40B4-BE49-F238E27FC236}">
                <a16:creationId xmlns:a16="http://schemas.microsoft.com/office/drawing/2014/main" id="{D9C61F8C-B152-2706-CA9F-96880601EEFA}"/>
              </a:ext>
            </a:extLst>
          </p:cNvPr>
          <p:cNvGraphicFramePr>
            <a:graphicFrameLocks noGrp="1"/>
          </p:cNvGraphicFramePr>
          <p:nvPr>
            <p:ph idx="1"/>
            <p:extLst>
              <p:ext uri="{D42A27DB-BD31-4B8C-83A1-F6EECF244321}">
                <p14:modId xmlns:p14="http://schemas.microsoft.com/office/powerpoint/2010/main" val="3526240816"/>
              </p:ext>
            </p:extLst>
          </p:nvPr>
        </p:nvGraphicFramePr>
        <p:xfrm>
          <a:off x="4102100" y="-123825"/>
          <a:ext cx="7963024" cy="5886452"/>
        </p:xfrm>
        <a:graphic>
          <a:graphicData uri="http://schemas.openxmlformats.org/drawingml/2006/table">
            <a:tbl>
              <a:tblPr/>
              <a:tblGrid>
                <a:gridCol w="2120045">
                  <a:extLst>
                    <a:ext uri="{9D8B030D-6E8A-4147-A177-3AD203B41FA5}">
                      <a16:colId xmlns:a16="http://schemas.microsoft.com/office/drawing/2014/main" val="2222280177"/>
                    </a:ext>
                  </a:extLst>
                </a:gridCol>
                <a:gridCol w="2120045">
                  <a:extLst>
                    <a:ext uri="{9D8B030D-6E8A-4147-A177-3AD203B41FA5}">
                      <a16:colId xmlns:a16="http://schemas.microsoft.com/office/drawing/2014/main" val="1625810600"/>
                    </a:ext>
                  </a:extLst>
                </a:gridCol>
                <a:gridCol w="2152929">
                  <a:extLst>
                    <a:ext uri="{9D8B030D-6E8A-4147-A177-3AD203B41FA5}">
                      <a16:colId xmlns:a16="http://schemas.microsoft.com/office/drawing/2014/main" val="1336689831"/>
                    </a:ext>
                  </a:extLst>
                </a:gridCol>
                <a:gridCol w="1570005">
                  <a:extLst>
                    <a:ext uri="{9D8B030D-6E8A-4147-A177-3AD203B41FA5}">
                      <a16:colId xmlns:a16="http://schemas.microsoft.com/office/drawing/2014/main" val="300144108"/>
                    </a:ext>
                  </a:extLst>
                </a:gridCol>
              </a:tblGrid>
              <a:tr h="3309550">
                <a:tc>
                  <a:txBody>
                    <a:bodyPr/>
                    <a:lstStyle/>
                    <a:p>
                      <a:pPr algn="l" fontAlgn="b">
                        <a:spcBef>
                          <a:spcPts val="0"/>
                        </a:spcBef>
                        <a:spcAft>
                          <a:spcPts val="0"/>
                        </a:spcAft>
                      </a:pPr>
                      <a:r>
                        <a:rPr lang="en-US" sz="2000" b="0" i="0" u="none" strike="noStrike" dirty="0">
                          <a:solidFill>
                            <a:srgbClr val="000000"/>
                          </a:solidFill>
                          <a:effectLst/>
                          <a:latin typeface="Calibri" panose="020F0502020204030204" pitchFamily="34" charset="0"/>
                        </a:rPr>
                        <a:t>Patient HCAHPS Recommendation Rate Percentile</a:t>
                      </a:r>
                      <a:endParaRPr lang="en-US" sz="4000" b="0" i="0" u="none" strike="noStrike" dirty="0">
                        <a:effectLst/>
                        <a:latin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Calibri" panose="020F0502020204030204" pitchFamily="34" charset="0"/>
                        </a:rPr>
                        <a:t>CMS Quality Stars Percentile</a:t>
                      </a:r>
                      <a:endParaRPr lang="en-US" sz="4000" b="0" i="0" u="none" strike="noStrike" dirty="0">
                        <a:effectLst/>
                        <a:latin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Calibri" panose="020F0502020204030204" pitchFamily="34" charset="0"/>
                        </a:rPr>
                        <a:t>Mortality Average Percentile</a:t>
                      </a:r>
                      <a:endParaRPr lang="en-US" sz="4000" b="0" i="0" u="none" strike="noStrike" dirty="0">
                        <a:effectLst/>
                        <a:latin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Calibri" panose="020F0502020204030204" pitchFamily="34" charset="0"/>
                        </a:rPr>
                        <a:t>Readmission Percentile</a:t>
                      </a:r>
                      <a:endParaRPr lang="en-US" sz="4000" b="0" i="0" u="none" strike="noStrike" dirty="0">
                        <a:effectLst/>
                        <a:latin typeface="Arial" panose="020B0604020202020204" pitchFamily="34" charset="0"/>
                      </a:endParaRPr>
                    </a:p>
                  </a:txBody>
                  <a:tcPr marL="23679" marR="23679" marT="23679" marB="0" anchor="b">
                    <a:lnL>
                      <a:noFill/>
                    </a:lnL>
                    <a:lnR>
                      <a:noFill/>
                    </a:lnR>
                    <a:lnT>
                      <a:noFill/>
                    </a:lnT>
                    <a:lnB>
                      <a:noFill/>
                    </a:lnB>
                    <a:noFill/>
                  </a:tcPr>
                </a:tc>
                <a:extLst>
                  <a:ext uri="{0D108BD9-81ED-4DB2-BD59-A6C34878D82A}">
                    <a16:rowId xmlns:a16="http://schemas.microsoft.com/office/drawing/2014/main" val="2286023769"/>
                  </a:ext>
                </a:extLst>
              </a:tr>
              <a:tr h="1288451">
                <a:tc>
                  <a:txBody>
                    <a:bodyPr/>
                    <a:lstStyle/>
                    <a:p>
                      <a:pPr algn="r" fontAlgn="b">
                        <a:spcBef>
                          <a:spcPts val="0"/>
                        </a:spcBef>
                        <a:spcAft>
                          <a:spcPts val="0"/>
                        </a:spcAft>
                      </a:pPr>
                      <a:r>
                        <a:rPr lang="en-US" sz="2000" b="0" i="0" u="none" strike="noStrike" dirty="0">
                          <a:solidFill>
                            <a:srgbClr val="000000"/>
                          </a:solidFill>
                          <a:effectLst/>
                          <a:highlight>
                            <a:srgbClr val="B8E1C5"/>
                          </a:highlight>
                          <a:latin typeface="Calibri" panose="020F0502020204030204" pitchFamily="34" charset="0"/>
                        </a:rPr>
                        <a:t>73%</a:t>
                      </a:r>
                      <a:endParaRPr lang="en-US" sz="4000" b="0" i="0" u="none" strike="noStrike" dirty="0">
                        <a:effectLst/>
                        <a:highlight>
                          <a:srgbClr val="B8E1C5"/>
                        </a:highlight>
                        <a:latin typeface="Arial" panose="020B0604020202020204" pitchFamily="34" charset="0"/>
                      </a:endParaRPr>
                    </a:p>
                  </a:txBody>
                  <a:tcPr marL="23679" marR="23679" marT="23679" marB="0" anchor="b">
                    <a:lnL>
                      <a:noFill/>
                    </a:lnL>
                    <a:lnR>
                      <a:noFill/>
                    </a:lnR>
                    <a:lnT>
                      <a:noFill/>
                    </a:lnT>
                    <a:lnB>
                      <a:noFill/>
                    </a:lnB>
                    <a:solidFill>
                      <a:srgbClr val="B8E1C5"/>
                    </a:solidFill>
                  </a:tcPr>
                </a:tc>
                <a:tc>
                  <a:txBody>
                    <a:bodyPr/>
                    <a:lstStyle/>
                    <a:p>
                      <a:pPr algn="r" fontAlgn="b">
                        <a:spcBef>
                          <a:spcPts val="0"/>
                        </a:spcBef>
                        <a:spcAft>
                          <a:spcPts val="0"/>
                        </a:spcAft>
                      </a:pPr>
                      <a:r>
                        <a:rPr lang="en-US" sz="2000" b="0" i="0" u="none" strike="noStrike">
                          <a:solidFill>
                            <a:srgbClr val="000000"/>
                          </a:solidFill>
                          <a:effectLst/>
                          <a:highlight>
                            <a:srgbClr val="63BE7B"/>
                          </a:highlight>
                          <a:latin typeface="Calibri" panose="020F0502020204030204" pitchFamily="34" charset="0"/>
                        </a:rPr>
                        <a:t>99%</a:t>
                      </a:r>
                      <a:endParaRPr lang="en-US" sz="4000" b="0" i="0" u="none" strike="noStrike">
                        <a:effectLst/>
                        <a:highlight>
                          <a:srgbClr val="63BE7B"/>
                        </a:highlight>
                        <a:latin typeface="Arial" panose="020B0604020202020204" pitchFamily="34" charset="0"/>
                      </a:endParaRPr>
                    </a:p>
                  </a:txBody>
                  <a:tcPr marL="23679" marR="23679" marT="23679" marB="0" anchor="b">
                    <a:lnL>
                      <a:noFill/>
                    </a:lnL>
                    <a:lnR>
                      <a:noFill/>
                    </a:lnR>
                    <a:lnT>
                      <a:noFill/>
                    </a:lnT>
                    <a:lnB>
                      <a:noFill/>
                    </a:lnB>
                    <a:solidFill>
                      <a:srgbClr val="63BE7B"/>
                    </a:solidFill>
                  </a:tcPr>
                </a:tc>
                <a:tc>
                  <a:txBody>
                    <a:bodyPr/>
                    <a:lstStyle/>
                    <a:p>
                      <a:pPr algn="r" fontAlgn="b">
                        <a:spcBef>
                          <a:spcPts val="0"/>
                        </a:spcBef>
                        <a:spcAft>
                          <a:spcPts val="0"/>
                        </a:spcAft>
                      </a:pPr>
                      <a:r>
                        <a:rPr lang="en-US" sz="2000" b="0" i="0" u="none" strike="noStrike">
                          <a:solidFill>
                            <a:srgbClr val="000000"/>
                          </a:solidFill>
                          <a:effectLst/>
                          <a:highlight>
                            <a:srgbClr val="8ED0A0"/>
                          </a:highlight>
                          <a:latin typeface="Calibri" panose="020F0502020204030204" pitchFamily="34" charset="0"/>
                        </a:rPr>
                        <a:t>86%</a:t>
                      </a:r>
                      <a:endParaRPr lang="en-US" sz="4000" b="0" i="0" u="none" strike="noStrike">
                        <a:effectLst/>
                        <a:highlight>
                          <a:srgbClr val="8ED0A0"/>
                        </a:highlight>
                        <a:latin typeface="Arial" panose="020B0604020202020204" pitchFamily="34" charset="0"/>
                      </a:endParaRPr>
                    </a:p>
                  </a:txBody>
                  <a:tcPr marL="23679" marR="23679" marT="23679" marB="0" anchor="b">
                    <a:lnL>
                      <a:noFill/>
                    </a:lnL>
                    <a:lnR>
                      <a:noFill/>
                    </a:lnR>
                    <a:lnT>
                      <a:noFill/>
                    </a:lnT>
                    <a:lnB>
                      <a:noFill/>
                    </a:lnB>
                    <a:solidFill>
                      <a:srgbClr val="8ED0A0"/>
                    </a:solidFill>
                  </a:tcPr>
                </a:tc>
                <a:tc>
                  <a:txBody>
                    <a:bodyPr/>
                    <a:lstStyle/>
                    <a:p>
                      <a:pPr algn="r" fontAlgn="b">
                        <a:spcBef>
                          <a:spcPts val="0"/>
                        </a:spcBef>
                        <a:spcAft>
                          <a:spcPts val="0"/>
                        </a:spcAft>
                      </a:pPr>
                      <a:r>
                        <a:rPr lang="en-US" sz="2000" b="0" i="0" u="none" strike="noStrike">
                          <a:solidFill>
                            <a:srgbClr val="000000"/>
                          </a:solidFill>
                          <a:effectLst/>
                          <a:highlight>
                            <a:srgbClr val="DDF0E4"/>
                          </a:highlight>
                          <a:latin typeface="Calibri" panose="020F0502020204030204" pitchFamily="34" charset="0"/>
                        </a:rPr>
                        <a:t>63%</a:t>
                      </a:r>
                      <a:endParaRPr lang="en-US" sz="4000" b="0" i="0" u="none" strike="noStrike">
                        <a:effectLst/>
                        <a:highlight>
                          <a:srgbClr val="DDF0E4"/>
                        </a:highlight>
                        <a:latin typeface="Arial" panose="020B0604020202020204" pitchFamily="34" charset="0"/>
                      </a:endParaRPr>
                    </a:p>
                  </a:txBody>
                  <a:tcPr marL="23679" marR="23679" marT="23679" marB="0" anchor="b">
                    <a:lnL>
                      <a:noFill/>
                    </a:lnL>
                    <a:lnR>
                      <a:noFill/>
                    </a:lnR>
                    <a:lnT>
                      <a:noFill/>
                    </a:lnT>
                    <a:lnB>
                      <a:noFill/>
                    </a:lnB>
                    <a:solidFill>
                      <a:srgbClr val="DDF0E4"/>
                    </a:solidFill>
                  </a:tcPr>
                </a:tc>
                <a:extLst>
                  <a:ext uri="{0D108BD9-81ED-4DB2-BD59-A6C34878D82A}">
                    <a16:rowId xmlns:a16="http://schemas.microsoft.com/office/drawing/2014/main" val="1456460964"/>
                  </a:ext>
                </a:extLst>
              </a:tr>
              <a:tr h="1288451">
                <a:tc>
                  <a:txBody>
                    <a:bodyPr/>
                    <a:lstStyle/>
                    <a:p>
                      <a:pPr algn="r" fontAlgn="b">
                        <a:spcBef>
                          <a:spcPts val="0"/>
                        </a:spcBef>
                        <a:spcAft>
                          <a:spcPts val="0"/>
                        </a:spcAft>
                      </a:pPr>
                      <a:r>
                        <a:rPr lang="en-US" sz="2000" b="0" i="0" u="none" strike="noStrike">
                          <a:solidFill>
                            <a:srgbClr val="000000"/>
                          </a:solidFill>
                          <a:effectLst/>
                          <a:highlight>
                            <a:srgbClr val="FCFCFF"/>
                          </a:highlight>
                          <a:latin typeface="Calibri" panose="020F0502020204030204" pitchFamily="34" charset="0"/>
                        </a:rPr>
                        <a:t>53%</a:t>
                      </a:r>
                      <a:endParaRPr lang="en-US" sz="4000" b="0" i="0" u="none" strike="noStrike">
                        <a:effectLst/>
                        <a:highlight>
                          <a:srgbClr val="FCFCFF"/>
                        </a:highlight>
                        <a:latin typeface="Arial" panose="020B0604020202020204" pitchFamily="34" charset="0"/>
                      </a:endParaRPr>
                    </a:p>
                  </a:txBody>
                  <a:tcPr marL="23679" marR="23679" marT="23679" marB="0" anchor="b">
                    <a:lnL>
                      <a:noFill/>
                    </a:lnL>
                    <a:lnR>
                      <a:noFill/>
                    </a:lnR>
                    <a:lnT>
                      <a:noFill/>
                    </a:lnT>
                    <a:lnB>
                      <a:noFill/>
                    </a:lnB>
                    <a:solidFill>
                      <a:srgbClr val="FCFCFF"/>
                    </a:solidFill>
                  </a:tcPr>
                </a:tc>
                <a:tc>
                  <a:txBody>
                    <a:bodyPr/>
                    <a:lstStyle/>
                    <a:p>
                      <a:pPr algn="r" fontAlgn="b">
                        <a:spcBef>
                          <a:spcPts val="0"/>
                        </a:spcBef>
                        <a:spcAft>
                          <a:spcPts val="0"/>
                        </a:spcAft>
                      </a:pPr>
                      <a:r>
                        <a:rPr lang="en-US" sz="2000" b="0" i="0" u="none" strike="noStrike" dirty="0">
                          <a:solidFill>
                            <a:srgbClr val="000000"/>
                          </a:solidFill>
                          <a:effectLst/>
                          <a:highlight>
                            <a:srgbClr val="ECF6F1"/>
                          </a:highlight>
                          <a:latin typeface="Calibri" panose="020F0502020204030204" pitchFamily="34" charset="0"/>
                        </a:rPr>
                        <a:t>58%</a:t>
                      </a:r>
                      <a:endParaRPr lang="en-US" sz="4000" b="0" i="0" u="none" strike="noStrike" dirty="0">
                        <a:effectLst/>
                        <a:highlight>
                          <a:srgbClr val="ECF6F1"/>
                        </a:highlight>
                        <a:latin typeface="Arial" panose="020B0604020202020204" pitchFamily="34" charset="0"/>
                      </a:endParaRPr>
                    </a:p>
                  </a:txBody>
                  <a:tcPr marL="23679" marR="23679" marT="23679" marB="0" anchor="b">
                    <a:lnL>
                      <a:noFill/>
                    </a:lnL>
                    <a:lnR>
                      <a:noFill/>
                    </a:lnR>
                    <a:lnT>
                      <a:noFill/>
                    </a:lnT>
                    <a:lnB>
                      <a:noFill/>
                    </a:lnB>
                    <a:solidFill>
                      <a:srgbClr val="ECF6F1"/>
                    </a:solidFill>
                  </a:tcPr>
                </a:tc>
                <a:tc>
                  <a:txBody>
                    <a:bodyPr/>
                    <a:lstStyle/>
                    <a:p>
                      <a:pPr algn="r" fontAlgn="b">
                        <a:spcBef>
                          <a:spcPts val="0"/>
                        </a:spcBef>
                        <a:spcAft>
                          <a:spcPts val="0"/>
                        </a:spcAft>
                      </a:pPr>
                      <a:r>
                        <a:rPr lang="en-US" sz="2000" b="0" i="0" u="none" strike="noStrike">
                          <a:solidFill>
                            <a:srgbClr val="000000"/>
                          </a:solidFill>
                          <a:effectLst/>
                          <a:highlight>
                            <a:srgbClr val="BDE3C9"/>
                          </a:highlight>
                          <a:latin typeface="Calibri" panose="020F0502020204030204" pitchFamily="34" charset="0"/>
                        </a:rPr>
                        <a:t>72%</a:t>
                      </a:r>
                      <a:endParaRPr lang="en-US" sz="4000" b="0" i="0" u="none" strike="noStrike">
                        <a:effectLst/>
                        <a:highlight>
                          <a:srgbClr val="BDE3C9"/>
                        </a:highlight>
                        <a:latin typeface="Arial" panose="020B0604020202020204" pitchFamily="34" charset="0"/>
                      </a:endParaRPr>
                    </a:p>
                  </a:txBody>
                  <a:tcPr marL="23679" marR="23679" marT="23679" marB="0" anchor="b">
                    <a:lnL>
                      <a:noFill/>
                    </a:lnL>
                    <a:lnR>
                      <a:noFill/>
                    </a:lnR>
                    <a:lnT>
                      <a:noFill/>
                    </a:lnT>
                    <a:lnB>
                      <a:noFill/>
                    </a:lnB>
                    <a:solidFill>
                      <a:srgbClr val="BDE3C9"/>
                    </a:solidFill>
                  </a:tcPr>
                </a:tc>
                <a:tc>
                  <a:txBody>
                    <a:bodyPr/>
                    <a:lstStyle/>
                    <a:p>
                      <a:pPr algn="r" fontAlgn="b">
                        <a:spcBef>
                          <a:spcPts val="0"/>
                        </a:spcBef>
                        <a:spcAft>
                          <a:spcPts val="0"/>
                        </a:spcAft>
                      </a:pPr>
                      <a:r>
                        <a:rPr lang="en-US" sz="2000" b="0" i="0" u="none" strike="noStrike" dirty="0">
                          <a:solidFill>
                            <a:srgbClr val="000000"/>
                          </a:solidFill>
                          <a:effectLst/>
                          <a:highlight>
                            <a:srgbClr val="DBEFE3"/>
                          </a:highlight>
                          <a:latin typeface="Calibri" panose="020F0502020204030204" pitchFamily="34" charset="0"/>
                        </a:rPr>
                        <a:t>63%</a:t>
                      </a:r>
                      <a:endParaRPr lang="en-US" sz="4000" b="0" i="0" u="none" strike="noStrike" dirty="0">
                        <a:effectLst/>
                        <a:highlight>
                          <a:srgbClr val="DBEFE3"/>
                        </a:highlight>
                        <a:latin typeface="Arial" panose="020B0604020202020204" pitchFamily="34" charset="0"/>
                      </a:endParaRPr>
                    </a:p>
                  </a:txBody>
                  <a:tcPr marL="23679" marR="23679" marT="23679" marB="0" anchor="b">
                    <a:lnL>
                      <a:noFill/>
                    </a:lnL>
                    <a:lnR>
                      <a:noFill/>
                    </a:lnR>
                    <a:lnT>
                      <a:noFill/>
                    </a:lnT>
                    <a:lnB>
                      <a:noFill/>
                    </a:lnB>
                    <a:solidFill>
                      <a:srgbClr val="DBEFE3"/>
                    </a:solidFill>
                  </a:tcPr>
                </a:tc>
                <a:extLst>
                  <a:ext uri="{0D108BD9-81ED-4DB2-BD59-A6C34878D82A}">
                    <a16:rowId xmlns:a16="http://schemas.microsoft.com/office/drawing/2014/main" val="543260720"/>
                  </a:ext>
                </a:extLst>
              </a:tr>
            </a:tbl>
          </a:graphicData>
        </a:graphic>
      </p:graphicFrame>
      <p:pic>
        <p:nvPicPr>
          <p:cNvPr id="5" name="Picture 2" descr="Welcome to Lehigh Valley Health Network ...">
            <a:extLst>
              <a:ext uri="{FF2B5EF4-FFF2-40B4-BE49-F238E27FC236}">
                <a16:creationId xmlns:a16="http://schemas.microsoft.com/office/drawing/2014/main" id="{F9CBBC25-2379-DA66-C994-34C7894D093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0112" y="4895461"/>
            <a:ext cx="2266950" cy="4506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t. Luke's University Health Network's 150th Anniversary">
            <a:extLst>
              <a:ext uri="{FF2B5EF4-FFF2-40B4-BE49-F238E27FC236}">
                <a16:creationId xmlns:a16="http://schemas.microsoft.com/office/drawing/2014/main" id="{359DA4E3-A816-8BBD-E4DF-EBB8182B642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266693" y="3419623"/>
            <a:ext cx="1505331" cy="790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F85B4F-4461-B17C-D1D9-5A4173F20833}"/>
              </a:ext>
            </a:extLst>
          </p:cNvPr>
          <p:cNvSpPr txBox="1"/>
          <p:nvPr/>
        </p:nvSpPr>
        <p:spPr>
          <a:xfrm>
            <a:off x="3019358" y="6015534"/>
            <a:ext cx="878852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CMS measurements of HCAHPS patient experience (percent who would strongly recommend), CMS Stars, high-variation mortality rates and high-variation readmission rates all shown as percentiles compared to all hospitals nationally, with the 99</a:t>
            </a:r>
            <a:r>
              <a:rPr kumimoji="0" lang="en-US" sz="1400" b="0" i="0" u="none" strike="noStrike" kern="1200" cap="none" spc="0" normalizeH="0" baseline="30000" noProof="0" dirty="0">
                <a:ln>
                  <a:noFill/>
                </a:ln>
                <a:solidFill>
                  <a:srgbClr val="5B5B5B"/>
                </a:solidFill>
                <a:effectLst/>
                <a:uLnTx/>
                <a:uFillTx/>
                <a:latin typeface="Aileron Light"/>
                <a:ea typeface="+mn-ea"/>
                <a:cs typeface="+mn-cs"/>
              </a:rPr>
              <a:t>th</a:t>
            </a:r>
            <a:r>
              <a:rPr kumimoji="0" lang="en-US" sz="1400" b="0" i="0" u="none" strike="noStrike" kern="1200" cap="none" spc="0" normalizeH="0" baseline="0" noProof="0" dirty="0">
                <a:ln>
                  <a:noFill/>
                </a:ln>
                <a:solidFill>
                  <a:srgbClr val="5B5B5B"/>
                </a:solidFill>
                <a:effectLst/>
                <a:uLnTx/>
                <a:uFillTx/>
                <a:latin typeface="Aileron Light"/>
                <a:ea typeface="+mn-ea"/>
                <a:cs typeface="+mn-cs"/>
              </a:rPr>
              <a:t> percentile being the best. </a:t>
            </a:r>
          </a:p>
        </p:txBody>
      </p:sp>
      <p:sp>
        <p:nvSpPr>
          <p:cNvPr id="7" name="Rectangle 6">
            <a:extLst>
              <a:ext uri="{FF2B5EF4-FFF2-40B4-BE49-F238E27FC236}">
                <a16:creationId xmlns:a16="http://schemas.microsoft.com/office/drawing/2014/main" id="{06EC2811-E3FF-9DAD-A862-D025B8B049B2}"/>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98920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77EF7-48E1-59B9-7425-C8FFAD79147B}"/>
              </a:ext>
            </a:extLst>
          </p:cNvPr>
          <p:cNvSpPr>
            <a:spLocks noGrp="1"/>
          </p:cNvSpPr>
          <p:nvPr>
            <p:ph type="title"/>
          </p:nvPr>
        </p:nvSpPr>
        <p:spPr>
          <a:xfrm>
            <a:off x="1816100" y="327024"/>
            <a:ext cx="10515600" cy="1325563"/>
          </a:xfrm>
        </p:spPr>
        <p:txBody>
          <a:bodyPr/>
          <a:lstStyle/>
          <a:p>
            <a:r>
              <a:rPr lang="en-US" dirty="0"/>
              <a:t>Care at </a:t>
            </a:r>
            <a:r>
              <a:rPr lang="en-US" b="1" dirty="0"/>
              <a:t>Value</a:t>
            </a:r>
            <a:r>
              <a:rPr lang="en-US" dirty="0"/>
              <a:t> Pricing</a:t>
            </a:r>
          </a:p>
        </p:txBody>
      </p:sp>
      <p:graphicFrame>
        <p:nvGraphicFramePr>
          <p:cNvPr id="4" name="Content Placeholder 4">
            <a:extLst>
              <a:ext uri="{FF2B5EF4-FFF2-40B4-BE49-F238E27FC236}">
                <a16:creationId xmlns:a16="http://schemas.microsoft.com/office/drawing/2014/main" id="{AFA2A0DF-5447-9DFA-147E-C70145DBB6EE}"/>
              </a:ext>
            </a:extLst>
          </p:cNvPr>
          <p:cNvGraphicFramePr>
            <a:graphicFrameLocks noGrp="1"/>
          </p:cNvGraphicFramePr>
          <p:nvPr>
            <p:ph idx="1"/>
            <p:extLst>
              <p:ext uri="{D42A27DB-BD31-4B8C-83A1-F6EECF244321}">
                <p14:modId xmlns:p14="http://schemas.microsoft.com/office/powerpoint/2010/main" val="2319058349"/>
              </p:ext>
            </p:extLst>
          </p:nvPr>
        </p:nvGraphicFramePr>
        <p:xfrm>
          <a:off x="1460500" y="2225675"/>
          <a:ext cx="10506457" cy="3337259"/>
        </p:xfrm>
        <a:graphic>
          <a:graphicData uri="http://schemas.openxmlformats.org/drawingml/2006/table">
            <a:tbl>
              <a:tblPr firstRow="1" bandRow="1"/>
              <a:tblGrid>
                <a:gridCol w="4496672">
                  <a:extLst>
                    <a:ext uri="{9D8B030D-6E8A-4147-A177-3AD203B41FA5}">
                      <a16:colId xmlns:a16="http://schemas.microsoft.com/office/drawing/2014/main" val="3878184201"/>
                    </a:ext>
                  </a:extLst>
                </a:gridCol>
                <a:gridCol w="3108378">
                  <a:extLst>
                    <a:ext uri="{9D8B030D-6E8A-4147-A177-3AD203B41FA5}">
                      <a16:colId xmlns:a16="http://schemas.microsoft.com/office/drawing/2014/main" val="184236409"/>
                    </a:ext>
                  </a:extLst>
                </a:gridCol>
                <a:gridCol w="2901407">
                  <a:extLst>
                    <a:ext uri="{9D8B030D-6E8A-4147-A177-3AD203B41FA5}">
                      <a16:colId xmlns:a16="http://schemas.microsoft.com/office/drawing/2014/main" val="1684919295"/>
                    </a:ext>
                  </a:extLst>
                </a:gridCol>
              </a:tblGrid>
              <a:tr h="764963">
                <a:tc>
                  <a:txBody>
                    <a:bodyPr/>
                    <a:lstStyle/>
                    <a:p>
                      <a:pPr algn="l" fontAlgn="b"/>
                      <a:r>
                        <a:rPr lang="en-US" sz="2200" b="0" i="0" u="none" strike="noStrike" dirty="0">
                          <a:solidFill>
                            <a:srgbClr val="000000"/>
                          </a:solidFill>
                          <a:effectLst/>
                          <a:latin typeface="Calibri" panose="020F0502020204030204" pitchFamily="34" charset="0"/>
                        </a:rPr>
                        <a:t>Hospital</a:t>
                      </a:r>
                    </a:p>
                  </a:txBody>
                  <a:tcPr marL="19105" marR="19105" marT="19105" marB="0" anchor="b">
                    <a:lnL>
                      <a:noFill/>
                    </a:lnL>
                    <a:lnR>
                      <a:noFill/>
                    </a:lnR>
                    <a:lnT>
                      <a:noFill/>
                    </a:lnT>
                    <a:lnB>
                      <a:noFill/>
                    </a:lnB>
                    <a:noFill/>
                  </a:tcPr>
                </a:tc>
                <a:tc>
                  <a:txBody>
                    <a:bodyPr/>
                    <a:lstStyle/>
                    <a:p>
                      <a:pPr algn="l" fontAlgn="b"/>
                      <a:r>
                        <a:rPr lang="en-US" sz="2200" b="0" i="0" u="none" strike="noStrike" dirty="0">
                          <a:solidFill>
                            <a:srgbClr val="000000"/>
                          </a:solidFill>
                          <a:effectLst/>
                          <a:latin typeface="Calibri" panose="020F0502020204030204" pitchFamily="34" charset="0"/>
                        </a:rPr>
                        <a:t>Rand Outpatient Services Percent of Medicare</a:t>
                      </a:r>
                    </a:p>
                  </a:txBody>
                  <a:tcPr marL="19105" marR="19105" marT="19105" marB="0" anchor="b">
                    <a:lnL>
                      <a:noFill/>
                    </a:lnL>
                    <a:lnR>
                      <a:noFill/>
                    </a:lnR>
                    <a:lnT>
                      <a:noFill/>
                    </a:lnT>
                    <a:lnB>
                      <a:noFill/>
                    </a:lnB>
                    <a:noFill/>
                  </a:tcPr>
                </a:tc>
                <a:tc>
                  <a:txBody>
                    <a:bodyPr/>
                    <a:lstStyle/>
                    <a:p>
                      <a:pPr algn="l" fontAlgn="b"/>
                      <a:r>
                        <a:rPr lang="en-US" sz="2200" b="0" i="0" u="none" strike="noStrike">
                          <a:solidFill>
                            <a:srgbClr val="000000"/>
                          </a:solidFill>
                          <a:effectLst/>
                          <a:latin typeface="Calibri" panose="020F0502020204030204" pitchFamily="34" charset="0"/>
                        </a:rPr>
                        <a:t>Rand Inpatient Services Percent of Medicare</a:t>
                      </a:r>
                    </a:p>
                  </a:txBody>
                  <a:tcPr marL="19105" marR="19105" marT="19105" marB="0" anchor="b">
                    <a:lnL>
                      <a:noFill/>
                    </a:lnL>
                    <a:lnR>
                      <a:noFill/>
                    </a:lnR>
                    <a:lnT>
                      <a:noFill/>
                    </a:lnT>
                    <a:lnB>
                      <a:noFill/>
                    </a:lnB>
                    <a:noFill/>
                  </a:tcPr>
                </a:tc>
                <a:extLst>
                  <a:ext uri="{0D108BD9-81ED-4DB2-BD59-A6C34878D82A}">
                    <a16:rowId xmlns:a16="http://schemas.microsoft.com/office/drawing/2014/main" val="1885184669"/>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Anderson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B073"/>
                          </a:highlight>
                          <a:latin typeface="Calibri" panose="020F0502020204030204" pitchFamily="34" charset="0"/>
                        </a:rPr>
                        <a:t>290%</a:t>
                      </a:r>
                    </a:p>
                  </a:txBody>
                  <a:tcPr marL="19105" marR="19105" marT="19105" marB="0" anchor="b">
                    <a:lnL>
                      <a:noFill/>
                    </a:lnL>
                    <a:lnR>
                      <a:noFill/>
                    </a:lnR>
                    <a:lnT>
                      <a:noFill/>
                    </a:lnT>
                    <a:lnB>
                      <a:noFill/>
                    </a:lnB>
                    <a:solidFill>
                      <a:srgbClr val="F9B073"/>
                    </a:solidFill>
                  </a:tcPr>
                </a:tc>
                <a:tc>
                  <a:txBody>
                    <a:bodyPr/>
                    <a:lstStyle/>
                    <a:p>
                      <a:pPr algn="r" fontAlgn="b"/>
                      <a:r>
                        <a:rPr lang="en-US" sz="2200" b="0" i="0" u="none" strike="noStrike">
                          <a:solidFill>
                            <a:srgbClr val="000000"/>
                          </a:solidFill>
                          <a:effectLst/>
                          <a:highlight>
                            <a:srgbClr val="FABA85"/>
                          </a:highlight>
                          <a:latin typeface="Calibri" panose="020F0502020204030204" pitchFamily="34" charset="0"/>
                        </a:rPr>
                        <a:t>280%</a:t>
                      </a:r>
                    </a:p>
                  </a:txBody>
                  <a:tcPr marL="19105" marR="19105" marT="19105" marB="0" anchor="b">
                    <a:lnL>
                      <a:noFill/>
                    </a:lnL>
                    <a:lnR>
                      <a:noFill/>
                    </a:lnR>
                    <a:lnT>
                      <a:noFill/>
                    </a:lnT>
                    <a:lnB>
                      <a:noFill/>
                    </a:lnB>
                    <a:solidFill>
                      <a:srgbClr val="FABA85"/>
                    </a:solidFill>
                  </a:tcPr>
                </a:tc>
                <a:extLst>
                  <a:ext uri="{0D108BD9-81ED-4DB2-BD59-A6C34878D82A}">
                    <a16:rowId xmlns:a16="http://schemas.microsoft.com/office/drawing/2014/main" val="4015801012"/>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Upper Bucks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AE70"/>
                          </a:highlight>
                          <a:latin typeface="Calibri" panose="020F0502020204030204" pitchFamily="34" charset="0"/>
                        </a:rPr>
                        <a:t>292%</a:t>
                      </a:r>
                    </a:p>
                  </a:txBody>
                  <a:tcPr marL="19105" marR="19105" marT="19105" marB="0" anchor="b">
                    <a:lnL>
                      <a:noFill/>
                    </a:lnL>
                    <a:lnR>
                      <a:noFill/>
                    </a:lnR>
                    <a:lnT>
                      <a:noFill/>
                    </a:lnT>
                    <a:lnB>
                      <a:noFill/>
                    </a:lnB>
                    <a:solidFill>
                      <a:srgbClr val="F9AE70"/>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873359961"/>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Bethlehem</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AB379"/>
                          </a:highlight>
                          <a:latin typeface="Calibri" panose="020F0502020204030204" pitchFamily="34" charset="0"/>
                        </a:rPr>
                        <a:t>287%</a:t>
                      </a:r>
                    </a:p>
                  </a:txBody>
                  <a:tcPr marL="19105" marR="19105" marT="19105" marB="0" anchor="b">
                    <a:lnL>
                      <a:noFill/>
                    </a:lnL>
                    <a:lnR>
                      <a:noFill/>
                    </a:lnR>
                    <a:lnT>
                      <a:noFill/>
                    </a:lnT>
                    <a:lnB>
                      <a:noFill/>
                    </a:lnB>
                    <a:solidFill>
                      <a:srgbClr val="FAB379"/>
                    </a:solidFill>
                  </a:tcPr>
                </a:tc>
                <a:tc>
                  <a:txBody>
                    <a:bodyPr/>
                    <a:lstStyle/>
                    <a:p>
                      <a:pPr algn="r" fontAlgn="b"/>
                      <a:r>
                        <a:rPr lang="en-US" sz="2200" b="0" i="0" u="none" strike="noStrike">
                          <a:solidFill>
                            <a:srgbClr val="000000"/>
                          </a:solidFill>
                          <a:effectLst/>
                          <a:highlight>
                            <a:srgbClr val="FFFDFC"/>
                          </a:highlight>
                          <a:latin typeface="Calibri" panose="020F0502020204030204" pitchFamily="34" charset="0"/>
                        </a:rPr>
                        <a:t>214%</a:t>
                      </a:r>
                    </a:p>
                  </a:txBody>
                  <a:tcPr marL="19105" marR="19105" marT="19105" marB="0" anchor="b">
                    <a:lnL>
                      <a:noFill/>
                    </a:lnL>
                    <a:lnR>
                      <a:noFill/>
                    </a:lnR>
                    <a:lnT>
                      <a:noFill/>
                    </a:lnT>
                    <a:lnB>
                      <a:noFill/>
                    </a:lnB>
                    <a:solidFill>
                      <a:srgbClr val="FFFDFC"/>
                    </a:solidFill>
                  </a:tcPr>
                </a:tc>
                <a:extLst>
                  <a:ext uri="{0D108BD9-81ED-4DB2-BD59-A6C34878D82A}">
                    <a16:rowId xmlns:a16="http://schemas.microsoft.com/office/drawing/2014/main" val="195949457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Warren Hospital</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CD8B9"/>
                          </a:highligh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205911860"/>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 Easton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FFFFF"/>
                          </a:highlight>
                          <a:latin typeface="Calibri" panose="020F0502020204030204" pitchFamily="34" charset="0"/>
                        </a:rPr>
                        <a:t>212%</a:t>
                      </a:r>
                    </a:p>
                  </a:txBody>
                  <a:tcPr marL="19105" marR="19105" marT="19105" marB="0" anchor="b">
                    <a:lnL>
                      <a:noFill/>
                    </a:lnL>
                    <a:lnR>
                      <a:noFill/>
                    </a:lnR>
                    <a:lnT>
                      <a:noFill/>
                    </a:lnT>
                    <a:lnB>
                      <a:noFill/>
                    </a:lnB>
                    <a:solidFill>
                      <a:srgbClr val="FFFFFF"/>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2759948968"/>
                  </a:ext>
                </a:extLst>
              </a:tr>
              <a:tr h="428716">
                <a:tc>
                  <a:txBody>
                    <a:bodyPr/>
                    <a:lstStyle/>
                    <a:p>
                      <a:pPr algn="l" fontAlgn="b"/>
                      <a:r>
                        <a:rPr lang="en-US" sz="2200" b="0" i="0" u="none" strike="noStrike">
                          <a:solidFill>
                            <a:srgbClr val="000000"/>
                          </a:solidFill>
                          <a:effectLst/>
                          <a:latin typeface="Calibri" panose="020F0502020204030204" pitchFamily="34" charset="0"/>
                        </a:rPr>
                        <a:t>Lehigh Valley Hospital Cedar Crest</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79646"/>
                          </a:highlight>
                          <a:latin typeface="Calibri" panose="020F0502020204030204" pitchFamily="34" charset="0"/>
                        </a:rPr>
                        <a:t>315%</a:t>
                      </a:r>
                    </a:p>
                  </a:txBody>
                  <a:tcPr marL="19105" marR="19105" marT="19105" marB="0" anchor="b">
                    <a:lnL>
                      <a:noFill/>
                    </a:lnL>
                    <a:lnR>
                      <a:noFill/>
                    </a:lnR>
                    <a:lnT>
                      <a:noFill/>
                    </a:lnT>
                    <a:lnB>
                      <a:noFill/>
                    </a:lnB>
                    <a:solidFill>
                      <a:srgbClr val="F79646"/>
                    </a:solidFill>
                  </a:tcPr>
                </a:tc>
                <a:tc>
                  <a:txBody>
                    <a:bodyPr/>
                    <a:lstStyle/>
                    <a:p>
                      <a:pPr algn="r" fontAlgn="b"/>
                      <a:r>
                        <a:rPr lang="en-US" sz="2200" b="0" i="0" u="none" strike="noStrike" dirty="0">
                          <a:solidFill>
                            <a:srgbClr val="000000"/>
                          </a:solidFill>
                          <a:effectLst/>
                          <a:highlight>
                            <a:srgbClr val="FDDABD"/>
                          </a:highlight>
                          <a:latin typeface="Calibri" panose="020F0502020204030204" pitchFamily="34" charset="0"/>
                        </a:rPr>
                        <a:t>249%</a:t>
                      </a:r>
                    </a:p>
                  </a:txBody>
                  <a:tcPr marL="19105" marR="19105" marT="19105" marB="0" anchor="b">
                    <a:lnL>
                      <a:noFill/>
                    </a:lnL>
                    <a:lnR>
                      <a:noFill/>
                    </a:lnR>
                    <a:lnT>
                      <a:noFill/>
                    </a:lnT>
                    <a:lnB>
                      <a:noFill/>
                    </a:lnB>
                    <a:solidFill>
                      <a:srgbClr val="FDDABD"/>
                    </a:solidFill>
                  </a:tcPr>
                </a:tc>
                <a:extLst>
                  <a:ext uri="{0D108BD9-81ED-4DB2-BD59-A6C34878D82A}">
                    <a16:rowId xmlns:a16="http://schemas.microsoft.com/office/drawing/2014/main" val="2437637617"/>
                  </a:ext>
                </a:extLst>
              </a:tr>
            </a:tbl>
          </a:graphicData>
        </a:graphic>
      </p:graphicFrame>
      <p:sp>
        <p:nvSpPr>
          <p:cNvPr id="3" name="TextBox 2">
            <a:extLst>
              <a:ext uri="{FF2B5EF4-FFF2-40B4-BE49-F238E27FC236}">
                <a16:creationId xmlns:a16="http://schemas.microsoft.com/office/drawing/2014/main" id="{76CBA33A-A09D-F008-EFF9-25B34FFB78DA}"/>
              </a:ext>
            </a:extLst>
          </p:cNvPr>
          <p:cNvSpPr txBox="1"/>
          <p:nvPr/>
        </p:nvSpPr>
        <p:spPr>
          <a:xfrm>
            <a:off x="2813414" y="5982133"/>
            <a:ext cx="878852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RAND round 5 hospital cost data: https://www.rand.org/pubs/research_reports/RRA1144-2.html</a:t>
            </a:r>
          </a:p>
        </p:txBody>
      </p:sp>
      <p:sp>
        <p:nvSpPr>
          <p:cNvPr id="5" name="Rectangle 4">
            <a:extLst>
              <a:ext uri="{FF2B5EF4-FFF2-40B4-BE49-F238E27FC236}">
                <a16:creationId xmlns:a16="http://schemas.microsoft.com/office/drawing/2014/main" id="{071177CF-501D-49B4-18C3-24177CC6F96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618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466318" y="2975599"/>
            <a:ext cx="5911043" cy="752041"/>
          </a:xfrm>
        </p:spPr>
        <p:txBody>
          <a:bodyPr>
            <a:noAutofit/>
          </a:bodyPr>
          <a:lstStyle/>
          <a:p>
            <a:pPr>
              <a:lnSpc>
                <a:spcPct val="100000"/>
              </a:lnSpc>
              <a:spcBef>
                <a:spcPts val="600"/>
              </a:spcBef>
            </a:pPr>
            <a:r>
              <a:rPr lang="en-US" sz="3600" dirty="0">
                <a:solidFill>
                  <a:schemeClr val="bg1"/>
                </a:solidFill>
              </a:rPr>
              <a:t>FINANCIAL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0" y="5162550"/>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highlight>
                  <a:srgbClr val="FFFF00"/>
                </a:highlight>
              </a:rPr>
              <a:t>NOTE:  Please see detailed financial analysis and assumptions used starting on page 36.  </a:t>
            </a:r>
          </a:p>
          <a:p>
            <a:pPr marL="285750" indent="-285750">
              <a:buFont typeface="Arial" panose="020B0604020202020204" pitchFamily="34" charset="0"/>
              <a:buChar char="•"/>
            </a:pPr>
            <a:r>
              <a:rPr lang="en-US" sz="1600" dirty="0">
                <a:highlight>
                  <a:srgbClr val="FFFF00"/>
                </a:highlight>
              </a:rPr>
              <a:t>Financial projections do not include 340B contribution margin, which could represent $136 pmpm based upon optimizing 340B through plan design, St Luke's approved site(s) with network integration, and development of St </a:t>
            </a:r>
            <a:r>
              <a:rPr lang="en-US" sz="1600" dirty="0" err="1">
                <a:highlight>
                  <a:srgbClr val="FFFF00"/>
                </a:highlight>
              </a:rPr>
              <a:t>Luke's’s</a:t>
            </a:r>
            <a:r>
              <a:rPr lang="en-US" sz="1600" dirty="0">
                <a:highlight>
                  <a:srgbClr val="FFFF00"/>
                </a:highlight>
              </a:rPr>
              <a:t> proprietary PBM program.    </a:t>
            </a:r>
          </a:p>
        </p:txBody>
      </p:sp>
      <p:graphicFrame>
        <p:nvGraphicFramePr>
          <p:cNvPr id="2" name="Content Placeholder 2">
            <a:extLst>
              <a:ext uri="{FF2B5EF4-FFF2-40B4-BE49-F238E27FC236}">
                <a16:creationId xmlns:a16="http://schemas.microsoft.com/office/drawing/2014/main" id="{078061F7-7E32-674A-73E9-5C3CACEDD9A1}"/>
              </a:ext>
            </a:extLst>
          </p:cNvPr>
          <p:cNvGraphicFramePr>
            <a:graphicFrameLocks noGrp="1"/>
          </p:cNvGraphicFramePr>
          <p:nvPr>
            <p:extLst>
              <p:ext uri="{D42A27DB-BD31-4B8C-83A1-F6EECF244321}">
                <p14:modId xmlns:p14="http://schemas.microsoft.com/office/powerpoint/2010/main" val="3712571183"/>
              </p:ext>
            </p:extLst>
          </p:nvPr>
        </p:nvGraphicFramePr>
        <p:xfrm>
          <a:off x="2005977" y="397510"/>
          <a:ext cx="9052560" cy="47650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6,419K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$ 9,781K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$ 25,827K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$ 3,462K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$ 1,362K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$39,123K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$103,309K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$ 64,186K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$13,847K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$ 6,437K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$78,246K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$14,400K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$128,373K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$27,694K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$13,294K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$13,204K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r h="0">
                <a:tc gridSpan="8">
                  <a:txBody>
                    <a:bodyPr/>
                    <a:lstStyle/>
                    <a:p>
                      <a:pPr marL="127000" marR="127000" algn="l">
                        <a:lnSpc>
                          <a:spcPct val="100000"/>
                        </a:lnSpc>
                        <a:spcBef>
                          <a:spcPts val="1000"/>
                        </a:spcBef>
                        <a:spcAft>
                          <a:spcPts val="1000"/>
                        </a:spcAft>
                        <a:buNone/>
                      </a:pPr>
                      <a:r>
                        <a:rPr sz="1000" b="0" i="0" u="none" cap="none" dirty="0">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0FB99D7-ACFC-2A9C-A898-256404198AD1}"/>
              </a:ext>
            </a:extLst>
          </p:cNvPr>
          <p:cNvPicPr>
            <a:picLocks noChangeAspect="1"/>
          </p:cNvPicPr>
          <p:nvPr/>
        </p:nvPicPr>
        <p:blipFill>
          <a:blip r:embed="rId2"/>
          <a:stretch>
            <a:fillRect/>
          </a:stretch>
        </p:blipFill>
        <p:spPr>
          <a:xfrm>
            <a:off x="1205395" y="516383"/>
            <a:ext cx="8044638" cy="6130031"/>
          </a:xfrm>
          <a:prstGeom prst="rect">
            <a:avLst/>
          </a:prstGeom>
        </p:spPr>
      </p:pic>
      <p:sp>
        <p:nvSpPr>
          <p:cNvPr id="4" name="Footer Placeholder 3">
            <a:extLst>
              <a:ext uri="{FF2B5EF4-FFF2-40B4-BE49-F238E27FC236}">
                <a16:creationId xmlns:a16="http://schemas.microsoft.com/office/drawing/2014/main" id="{85EBC102-0292-B21D-323C-61E512F17964}"/>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847DC0F-0600-2929-C50B-65887D04AC6C}"/>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6" name="Rectangle 5">
            <a:extLst>
              <a:ext uri="{FF2B5EF4-FFF2-40B4-BE49-F238E27FC236}">
                <a16:creationId xmlns:a16="http://schemas.microsoft.com/office/drawing/2014/main" id="{3F864769-7530-1C3E-AA58-26FAB6C19A22}"/>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704ED7B9-92F8-AFD1-B5A1-41759F44ED98}"/>
              </a:ext>
            </a:extLst>
          </p:cNvPr>
          <p:cNvSpPr txBox="1">
            <a:spLocks/>
          </p:cNvSpPr>
          <p:nvPr/>
        </p:nvSpPr>
        <p:spPr>
          <a:xfrm rot="16200000">
            <a:off x="-2466318" y="2975599"/>
            <a:ext cx="5911043"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a:solidFill>
                  <a:schemeClr val="bg1"/>
                </a:solidFill>
              </a:rPr>
              <a:t>FINANCIAL SUMMARY</a:t>
            </a:r>
            <a:endParaRPr lang="en-US" sz="3600" dirty="0">
              <a:solidFill>
                <a:schemeClr val="bg1"/>
              </a:solidFill>
            </a:endParaRPr>
          </a:p>
        </p:txBody>
      </p:sp>
      <p:sp>
        <p:nvSpPr>
          <p:cNvPr id="9" name="AutoShape 4">
            <a:extLst>
              <a:ext uri="{FF2B5EF4-FFF2-40B4-BE49-F238E27FC236}">
                <a16:creationId xmlns:a16="http://schemas.microsoft.com/office/drawing/2014/main" id="{106C6F00-FF77-9938-4004-A9A20659EF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CC492FF3-DF1B-F12B-D5ED-5B279CB47C24}"/>
              </a:ext>
            </a:extLst>
          </p:cNvPr>
          <p:cNvSpPr txBox="1"/>
          <p:nvPr/>
        </p:nvSpPr>
        <p:spPr>
          <a:xfrm>
            <a:off x="8853714" y="1756228"/>
            <a:ext cx="3390800" cy="461665"/>
          </a:xfrm>
          <a:prstGeom prst="rect">
            <a:avLst/>
          </a:prstGeom>
          <a:noFill/>
        </p:spPr>
        <p:txBody>
          <a:bodyPr wrap="none" rtlCol="0">
            <a:spAutoFit/>
          </a:bodyPr>
          <a:lstStyle/>
          <a:p>
            <a:r>
              <a:rPr lang="en-US" sz="2400" b="1" dirty="0"/>
              <a:t>Core Model Assumptions</a:t>
            </a:r>
          </a:p>
        </p:txBody>
      </p:sp>
      <p:sp>
        <p:nvSpPr>
          <p:cNvPr id="16" name="TextBox 15">
            <a:extLst>
              <a:ext uri="{FF2B5EF4-FFF2-40B4-BE49-F238E27FC236}">
                <a16:creationId xmlns:a16="http://schemas.microsoft.com/office/drawing/2014/main" id="{5CD262C4-7EB6-BACC-2D76-818773A77342}"/>
              </a:ext>
            </a:extLst>
          </p:cNvPr>
          <p:cNvSpPr txBox="1"/>
          <p:nvPr/>
        </p:nvSpPr>
        <p:spPr>
          <a:xfrm>
            <a:off x="8853714" y="2288738"/>
            <a:ext cx="3225104" cy="3139321"/>
          </a:xfrm>
          <a:prstGeom prst="rect">
            <a:avLst/>
          </a:prstGeom>
          <a:noFill/>
        </p:spPr>
        <p:txBody>
          <a:bodyPr wrap="square" rtlCol="0">
            <a:spAutoFit/>
          </a:bodyPr>
          <a:lstStyle/>
          <a:p>
            <a:pPr marL="285750" indent="-285750">
              <a:buFont typeface="Arial" panose="020B0604020202020204" pitchFamily="34" charset="0"/>
              <a:buChar char="•"/>
            </a:pPr>
            <a:r>
              <a:rPr lang="en-US" dirty="0"/>
              <a:t>Commercial care margin is 18% (conservatively half of observed margin)</a:t>
            </a:r>
          </a:p>
          <a:p>
            <a:pPr marL="285750" indent="-285750">
              <a:buFont typeface="Arial" panose="020B0604020202020204" pitchFamily="34" charset="0"/>
              <a:buChar char="•"/>
            </a:pPr>
            <a:r>
              <a:rPr lang="en-US" dirty="0"/>
              <a:t>DTE pricing is 5% below current commercial levels (employers pay ~10% less but BH saves with easier billing)</a:t>
            </a:r>
          </a:p>
          <a:p>
            <a:pPr marL="285750" indent="-285750">
              <a:buFont typeface="Arial" panose="020B0604020202020204" pitchFamily="34" charset="0"/>
              <a:buChar char="•"/>
            </a:pPr>
            <a:r>
              <a:rPr lang="en-US" dirty="0"/>
              <a:t>Estimated 32% inpatient market share</a:t>
            </a:r>
          </a:p>
          <a:p>
            <a:pPr marL="285750" indent="-285750">
              <a:buFont typeface="Arial" panose="020B0604020202020204" pitchFamily="34" charset="0"/>
              <a:buChar char="•"/>
            </a:pPr>
            <a:r>
              <a:rPr lang="en-US" dirty="0"/>
              <a:t>Estimated 18% outpatient market share</a:t>
            </a:r>
          </a:p>
        </p:txBody>
      </p:sp>
    </p:spTree>
    <p:extLst>
      <p:ext uri="{BB962C8B-B14F-4D97-AF65-F5344CB8AC3E}">
        <p14:creationId xmlns:p14="http://schemas.microsoft.com/office/powerpoint/2010/main" val="1206251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pic>
        <p:nvPicPr>
          <p:cNvPr id="5128" name="Picture 8" descr="The Benefits of Seeing a Doctor Regularly - Bethesda Health Group">
            <a:extLst>
              <a:ext uri="{FF2B5EF4-FFF2-40B4-BE49-F238E27FC236}">
                <a16:creationId xmlns:a16="http://schemas.microsoft.com/office/drawing/2014/main" id="{D48E317B-E618-444A-AE9E-7DE4D21C491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6543673" y="-2821"/>
            <a:ext cx="5648326" cy="6858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7AEF790-4820-4494-9FC1-0A245D6577A0}"/>
              </a:ext>
            </a:extLst>
          </p:cNvPr>
          <p:cNvSpPr/>
          <p:nvPr/>
        </p:nvSpPr>
        <p:spPr>
          <a:xfrm>
            <a:off x="-1" y="0"/>
            <a:ext cx="6543675" cy="6858000"/>
          </a:xfrm>
          <a:prstGeom prst="rect">
            <a:avLst/>
          </a:prstGeom>
          <a:solidFill>
            <a:srgbClr val="254F96">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9E5270D8-D91A-4D35-BF28-FCA32645E5F8}"/>
              </a:ext>
            </a:extLst>
          </p:cNvPr>
          <p:cNvSpPr>
            <a:spLocks noGrp="1"/>
          </p:cNvSpPr>
          <p:nvPr>
            <p:ph type="ftr" sz="quarter" idx="11"/>
          </p:nvPr>
        </p:nvSpPr>
        <p:spPr>
          <a:xfrm>
            <a:off x="1214436" y="635158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10FF8DEF-CD4D-4B66-8B1F-3C2B3B5BFB50}"/>
              </a:ext>
            </a:extLst>
          </p:cNvPr>
          <p:cNvSpPr>
            <a:spLocks noGrp="1"/>
          </p:cNvSpPr>
          <p:nvPr>
            <p:ph type="sldNum" sz="quarter" idx="12"/>
          </p:nvPr>
        </p:nvSpPr>
        <p:spPr>
          <a:xfrm>
            <a:off x="8542866" y="6480529"/>
            <a:ext cx="2229909" cy="365125"/>
          </a:xfrm>
        </p:spPr>
        <p:txBody>
          <a:bodyPr/>
          <a:lstStyle/>
          <a:p>
            <a:fld id="{3AFC719D-C4A7-4544-876E-D411D11AF6C9}" type="slidenum">
              <a:rPr lang="en-US" smtClean="0"/>
              <a:t>15</a:t>
            </a:fld>
            <a:endParaRPr lang="en-US" dirty="0"/>
          </a:p>
        </p:txBody>
      </p:sp>
      <p:sp>
        <p:nvSpPr>
          <p:cNvPr id="5" name="Rectangle 4">
            <a:extLst>
              <a:ext uri="{FF2B5EF4-FFF2-40B4-BE49-F238E27FC236}">
                <a16:creationId xmlns:a16="http://schemas.microsoft.com/office/drawing/2014/main" id="{579C780F-FF60-4470-A8DE-F4D593671BFE}"/>
              </a:ext>
            </a:extLst>
          </p:cNvPr>
          <p:cNvSpPr/>
          <p:nvPr/>
        </p:nvSpPr>
        <p:spPr>
          <a:xfrm>
            <a:off x="628650" y="1718408"/>
            <a:ext cx="5169152" cy="4267200"/>
          </a:xfrm>
          <a:prstGeom prst="rect">
            <a:avLst/>
          </a:prstGeom>
        </p:spPr>
        <p:txBody>
          <a:bodyPr vert="horz" lIns="91440" tIns="45720" rIns="91440" bIns="45720" rtlCol="0" anchor="t">
            <a:noAutofit/>
          </a:bodyPr>
          <a:lstStyle/>
          <a:p>
            <a:pPr marL="685808" indent="-457206" defTabSz="914411">
              <a:lnSpc>
                <a:spcPct val="90000"/>
              </a:lnSpc>
              <a:spcAft>
                <a:spcPts val="1800"/>
              </a:spcAft>
              <a:buFont typeface="Wingdings" panose="05000000000000000000" pitchFamily="2" charset="2"/>
              <a:buChar char="§"/>
            </a:pPr>
            <a:r>
              <a:rPr lang="en-US" sz="2000" b="1" dirty="0">
                <a:solidFill>
                  <a:schemeClr val="bg1"/>
                </a:solidFill>
              </a:rPr>
              <a:t>“Directly” contract </a:t>
            </a:r>
            <a:r>
              <a:rPr lang="en-US" sz="2000" dirty="0">
                <a:solidFill>
                  <a:schemeClr val="bg1"/>
                </a:solidFill>
              </a:rPr>
              <a:t>with self-funded employer(s) for FFS with potential for gain share – upside and downside possibilities</a:t>
            </a:r>
          </a:p>
          <a:p>
            <a:pPr marL="685808" indent="-457206" defTabSz="914411">
              <a:lnSpc>
                <a:spcPct val="90000"/>
              </a:lnSpc>
              <a:spcAft>
                <a:spcPts val="1800"/>
              </a:spcAft>
              <a:buFont typeface="Wingdings" panose="05000000000000000000" pitchFamily="2" charset="2"/>
              <a:buChar char="§"/>
            </a:pPr>
            <a:r>
              <a:rPr lang="en-US" sz="2000" b="1" dirty="0">
                <a:solidFill>
                  <a:schemeClr val="bg1"/>
                </a:solidFill>
              </a:rPr>
              <a:t>St Luke's is the “center” of the relationship</a:t>
            </a:r>
            <a:r>
              <a:rPr lang="en-US" sz="2000" dirty="0">
                <a:solidFill>
                  <a:schemeClr val="bg1"/>
                </a:solidFill>
              </a:rPr>
              <a:t> with the employer – not an insurance carrier</a:t>
            </a:r>
          </a:p>
          <a:p>
            <a:pPr marL="685808" indent="-457206" defTabSz="914411">
              <a:lnSpc>
                <a:spcPct val="90000"/>
              </a:lnSpc>
              <a:spcAft>
                <a:spcPts val="1800"/>
              </a:spcAft>
              <a:buFont typeface="Wingdings" panose="05000000000000000000" pitchFamily="2" charset="2"/>
              <a:buChar char="§"/>
            </a:pPr>
            <a:r>
              <a:rPr lang="en-US" sz="2000" b="1" dirty="0">
                <a:solidFill>
                  <a:schemeClr val="bg1"/>
                </a:solidFill>
              </a:rPr>
              <a:t>Financially incent members to use St Luke's medical provider(s) </a:t>
            </a:r>
            <a:r>
              <a:rPr lang="en-US" sz="2000" dirty="0">
                <a:solidFill>
                  <a:schemeClr val="bg1"/>
                </a:solidFill>
              </a:rPr>
              <a:t>and adhere to protocols intended to address gaps in care and to manage appropriate utilization</a:t>
            </a:r>
          </a:p>
        </p:txBody>
      </p:sp>
      <p:sp>
        <p:nvSpPr>
          <p:cNvPr id="6" name="Title 1">
            <a:extLst>
              <a:ext uri="{FF2B5EF4-FFF2-40B4-BE49-F238E27FC236}">
                <a16:creationId xmlns:a16="http://schemas.microsoft.com/office/drawing/2014/main" id="{15D926EE-2F61-4F98-8422-760EE07038B5}"/>
              </a:ext>
            </a:extLst>
          </p:cNvPr>
          <p:cNvSpPr>
            <a:spLocks noGrp="1"/>
          </p:cNvSpPr>
          <p:nvPr>
            <p:ph type="title"/>
          </p:nvPr>
        </p:nvSpPr>
        <p:spPr>
          <a:xfrm>
            <a:off x="687260" y="496711"/>
            <a:ext cx="5169152" cy="1051629"/>
          </a:xfrm>
        </p:spPr>
        <p:txBody>
          <a:bodyPr>
            <a:normAutofit fontScale="90000"/>
          </a:bodyPr>
          <a:lstStyle/>
          <a:p>
            <a:pPr>
              <a:lnSpc>
                <a:spcPct val="100000"/>
              </a:lnSpc>
              <a:spcBef>
                <a:spcPts val="600"/>
              </a:spcBef>
              <a:spcAft>
                <a:spcPts val="600"/>
              </a:spcAft>
            </a:pPr>
            <a:r>
              <a:rPr lang="en-US" sz="3600" dirty="0">
                <a:solidFill>
                  <a:schemeClr val="bg1"/>
                </a:solidFill>
              </a:rPr>
              <a:t>DIRECT-TO-EMPLOYER</a:t>
            </a:r>
            <a:br>
              <a:rPr lang="en-US" sz="3600" dirty="0">
                <a:solidFill>
                  <a:schemeClr val="bg1"/>
                </a:solidFill>
              </a:rPr>
            </a:br>
            <a:r>
              <a:rPr lang="en-US" sz="2000" dirty="0">
                <a:solidFill>
                  <a:schemeClr val="bg1"/>
                </a:solidFill>
              </a:rPr>
              <a:t>Health Plan Strategy</a:t>
            </a:r>
            <a:endParaRPr lang="en-US" sz="3600" dirty="0">
              <a:solidFill>
                <a:schemeClr val="bg1"/>
              </a:solidFill>
            </a:endParaRPr>
          </a:p>
        </p:txBody>
      </p:sp>
    </p:spTree>
    <p:extLst>
      <p:ext uri="{BB962C8B-B14F-4D97-AF65-F5344CB8AC3E}">
        <p14:creationId xmlns:p14="http://schemas.microsoft.com/office/powerpoint/2010/main" val="3736780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5594" y="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4D036B-CF91-40EF-88B5-63D0260D0147}"/>
              </a:ext>
            </a:extLst>
          </p:cNvPr>
          <p:cNvSpPr>
            <a:spLocks noGrp="1"/>
          </p:cNvSpPr>
          <p:nvPr>
            <p:ph type="title"/>
          </p:nvPr>
        </p:nvSpPr>
        <p:spPr>
          <a:xfrm>
            <a:off x="561975" y="320684"/>
            <a:ext cx="10515600" cy="1325563"/>
          </a:xfrm>
        </p:spPr>
        <p:txBody>
          <a:bodyPr>
            <a:normAutofit/>
          </a:bodyPr>
          <a:lstStyle/>
          <a:p>
            <a:r>
              <a:rPr lang="en-US" sz="3600" dirty="0">
                <a:solidFill>
                  <a:schemeClr val="tx1">
                    <a:lumMod val="75000"/>
                    <a:lumOff val="25000"/>
                  </a:schemeClr>
                </a:solidFill>
              </a:rPr>
              <a:t>There Are </a:t>
            </a:r>
            <a:r>
              <a:rPr lang="en-US" sz="3600" dirty="0">
                <a:solidFill>
                  <a:srgbClr val="000B2E"/>
                </a:solidFill>
              </a:rPr>
              <a:t>5 Main Reasons </a:t>
            </a:r>
            <a:r>
              <a:rPr lang="en-US" sz="3600" dirty="0">
                <a:solidFill>
                  <a:schemeClr val="tx1">
                    <a:lumMod val="75000"/>
                    <a:lumOff val="25000"/>
                  </a:schemeClr>
                </a:solidFill>
              </a:rPr>
              <a:t>the DTE Program is Strategically Important for St Luke's: </a:t>
            </a:r>
          </a:p>
        </p:txBody>
      </p:sp>
      <p:sp>
        <p:nvSpPr>
          <p:cNvPr id="25"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16</a:t>
            </a:fld>
            <a:endParaRPr lang="en-US" dirty="0"/>
          </a:p>
        </p:txBody>
      </p:sp>
      <p:sp>
        <p:nvSpPr>
          <p:cNvPr id="5"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grpSp>
        <p:nvGrpSpPr>
          <p:cNvPr id="12" name="Group 11">
            <a:extLst>
              <a:ext uri="{FF2B5EF4-FFF2-40B4-BE49-F238E27FC236}">
                <a16:creationId xmlns:a16="http://schemas.microsoft.com/office/drawing/2014/main" id="{757FA25C-8EB6-4C31-9C3C-8A0215C1E657}"/>
              </a:ext>
            </a:extLst>
          </p:cNvPr>
          <p:cNvGrpSpPr/>
          <p:nvPr/>
        </p:nvGrpSpPr>
        <p:grpSpPr>
          <a:xfrm>
            <a:off x="504703" y="3175019"/>
            <a:ext cx="11182594" cy="2086725"/>
            <a:chOff x="539823" y="2622568"/>
            <a:chExt cx="11182594" cy="2086725"/>
          </a:xfrm>
        </p:grpSpPr>
        <p:sp>
          <p:nvSpPr>
            <p:cNvPr id="6" name="Rectangle 5">
              <a:extLst>
                <a:ext uri="{FF2B5EF4-FFF2-40B4-BE49-F238E27FC236}">
                  <a16:creationId xmlns:a16="http://schemas.microsoft.com/office/drawing/2014/main" id="{869C0219-52DA-48A1-B7B2-E6F8C4FBD3C3}"/>
                </a:ext>
              </a:extLst>
            </p:cNvPr>
            <p:cNvSpPr/>
            <p:nvPr/>
          </p:nvSpPr>
          <p:spPr>
            <a:xfrm>
              <a:off x="539823" y="2622568"/>
              <a:ext cx="1920240" cy="1089529"/>
            </a:xfrm>
            <a:prstGeom prst="rect">
              <a:avLst/>
            </a:prstGeom>
          </p:spPr>
          <p:txBody>
            <a:bodyPr wrap="square">
              <a:spAutoFit/>
            </a:bodyPr>
            <a:lstStyle/>
            <a:p>
              <a:pPr defTabSz="914411">
                <a:lnSpc>
                  <a:spcPct val="90000"/>
                </a:lnSpc>
                <a:spcAft>
                  <a:spcPts val="1200"/>
                </a:spcAft>
                <a:buClr>
                  <a:schemeClr val="tx1"/>
                </a:buClr>
              </a:pPr>
              <a:r>
                <a:rPr lang="en-US" dirty="0"/>
                <a:t>Millions in NEW incremental net revenue and net margins </a:t>
              </a:r>
            </a:p>
          </p:txBody>
        </p:sp>
        <p:sp>
          <p:nvSpPr>
            <p:cNvPr id="7" name="Rectangle 6">
              <a:extLst>
                <a:ext uri="{FF2B5EF4-FFF2-40B4-BE49-F238E27FC236}">
                  <a16:creationId xmlns:a16="http://schemas.microsoft.com/office/drawing/2014/main" id="{8FCD729A-32AD-4303-8BA6-9EBD13F93D1C}"/>
                </a:ext>
              </a:extLst>
            </p:cNvPr>
            <p:cNvSpPr/>
            <p:nvPr/>
          </p:nvSpPr>
          <p:spPr>
            <a:xfrm>
              <a:off x="2460063" y="2622568"/>
              <a:ext cx="1920240" cy="590931"/>
            </a:xfrm>
            <a:prstGeom prst="rect">
              <a:avLst/>
            </a:prstGeom>
          </p:spPr>
          <p:txBody>
            <a:bodyPr wrap="square">
              <a:spAutoFit/>
            </a:bodyPr>
            <a:lstStyle/>
            <a:p>
              <a:pPr defTabSz="914411">
                <a:lnSpc>
                  <a:spcPct val="90000"/>
                </a:lnSpc>
                <a:spcAft>
                  <a:spcPts val="1200"/>
                </a:spcAft>
                <a:buClr>
                  <a:schemeClr val="tx1"/>
                </a:buClr>
              </a:pPr>
              <a:r>
                <a:rPr lang="en-US" dirty="0"/>
                <a:t>Control over your own network</a:t>
              </a:r>
            </a:p>
          </p:txBody>
        </p:sp>
        <p:sp>
          <p:nvSpPr>
            <p:cNvPr id="8" name="Rectangle 7">
              <a:extLst>
                <a:ext uri="{FF2B5EF4-FFF2-40B4-BE49-F238E27FC236}">
                  <a16:creationId xmlns:a16="http://schemas.microsoft.com/office/drawing/2014/main" id="{9EEC6943-2052-4989-AFDB-0DA3D01CD9BC}"/>
                </a:ext>
              </a:extLst>
            </p:cNvPr>
            <p:cNvSpPr/>
            <p:nvPr/>
          </p:nvSpPr>
          <p:spPr>
            <a:xfrm>
              <a:off x="4517472" y="2622568"/>
              <a:ext cx="2194560" cy="1588127"/>
            </a:xfrm>
            <a:prstGeom prst="rect">
              <a:avLst/>
            </a:prstGeom>
          </p:spPr>
          <p:txBody>
            <a:bodyPr wrap="square">
              <a:spAutoFit/>
            </a:bodyPr>
            <a:lstStyle/>
            <a:p>
              <a:pPr defTabSz="914411">
                <a:lnSpc>
                  <a:spcPct val="90000"/>
                </a:lnSpc>
                <a:spcAft>
                  <a:spcPts val="1200"/>
                </a:spcAft>
                <a:buClr>
                  <a:schemeClr val="tx1"/>
                </a:buClr>
              </a:pPr>
              <a:r>
                <a:rPr lang="en-US" dirty="0"/>
                <a:t>Employers directly connect with St Luke's without a middleman for better patient care and lower costs</a:t>
              </a:r>
            </a:p>
          </p:txBody>
        </p:sp>
        <p:sp>
          <p:nvSpPr>
            <p:cNvPr id="9" name="Rectangle 8">
              <a:extLst>
                <a:ext uri="{FF2B5EF4-FFF2-40B4-BE49-F238E27FC236}">
                  <a16:creationId xmlns:a16="http://schemas.microsoft.com/office/drawing/2014/main" id="{9560E049-3D97-445B-A793-900EDA1D90C3}"/>
                </a:ext>
              </a:extLst>
            </p:cNvPr>
            <p:cNvSpPr/>
            <p:nvPr/>
          </p:nvSpPr>
          <p:spPr>
            <a:xfrm>
              <a:off x="7056120" y="2622568"/>
              <a:ext cx="2194560" cy="2086725"/>
            </a:xfrm>
            <a:prstGeom prst="rect">
              <a:avLst/>
            </a:prstGeom>
          </p:spPr>
          <p:txBody>
            <a:bodyPr wrap="square">
              <a:spAutoFit/>
            </a:bodyPr>
            <a:lstStyle/>
            <a:p>
              <a:pPr defTabSz="914411">
                <a:lnSpc>
                  <a:spcPct val="90000"/>
                </a:lnSpc>
                <a:spcAft>
                  <a:spcPts val="1200"/>
                </a:spcAft>
                <a:buClr>
                  <a:schemeClr val="tx1"/>
                </a:buClr>
              </a:pPr>
              <a:r>
                <a:rPr lang="en-US" dirty="0"/>
                <a:t>St Luke's has a </a:t>
              </a:r>
              <a:r>
                <a:rPr lang="en-US" b="1" dirty="0"/>
                <a:t>complete employer health plan</a:t>
              </a:r>
              <a:r>
                <a:rPr lang="en-US" dirty="0"/>
                <a:t> strategy and robust source of new fees and revenues  - low financial and execution risk</a:t>
              </a:r>
            </a:p>
          </p:txBody>
        </p:sp>
        <p:sp>
          <p:nvSpPr>
            <p:cNvPr id="10" name="Rectangle 9">
              <a:extLst>
                <a:ext uri="{FF2B5EF4-FFF2-40B4-BE49-F238E27FC236}">
                  <a16:creationId xmlns:a16="http://schemas.microsoft.com/office/drawing/2014/main" id="{FE4FEE64-C08B-4274-8DE0-E40202493C89}"/>
                </a:ext>
              </a:extLst>
            </p:cNvPr>
            <p:cNvSpPr/>
            <p:nvPr/>
          </p:nvSpPr>
          <p:spPr>
            <a:xfrm>
              <a:off x="9527857" y="2622568"/>
              <a:ext cx="2194560" cy="2086725"/>
            </a:xfrm>
            <a:prstGeom prst="rect">
              <a:avLst/>
            </a:prstGeom>
          </p:spPr>
          <p:txBody>
            <a:bodyPr wrap="square">
              <a:spAutoFit/>
            </a:bodyPr>
            <a:lstStyle/>
            <a:p>
              <a:pPr defTabSz="914411">
                <a:lnSpc>
                  <a:spcPct val="90000"/>
                </a:lnSpc>
                <a:spcAft>
                  <a:spcPts val="1200"/>
                </a:spcAft>
                <a:buClr>
                  <a:schemeClr val="tx1"/>
                </a:buClr>
              </a:pPr>
              <a:r>
                <a:rPr lang="en-US" dirty="0"/>
                <a:t>Increases the ability to achieve the quadruple aim – increased member satisfaction, better outcomes, reduced cost, and provider satisfaction</a:t>
              </a:r>
            </a:p>
          </p:txBody>
        </p:sp>
      </p:grpSp>
      <p:grpSp>
        <p:nvGrpSpPr>
          <p:cNvPr id="18" name="Group 17">
            <a:extLst>
              <a:ext uri="{FF2B5EF4-FFF2-40B4-BE49-F238E27FC236}">
                <a16:creationId xmlns:a16="http://schemas.microsoft.com/office/drawing/2014/main" id="{4B9F9B26-0A0F-4CF8-9DA0-5059868C5CB2}"/>
              </a:ext>
            </a:extLst>
          </p:cNvPr>
          <p:cNvGrpSpPr/>
          <p:nvPr/>
        </p:nvGrpSpPr>
        <p:grpSpPr>
          <a:xfrm>
            <a:off x="2305050" y="3013093"/>
            <a:ext cx="7015285" cy="2425682"/>
            <a:chOff x="2305050" y="3013093"/>
            <a:chExt cx="7015285" cy="2425682"/>
          </a:xfrm>
        </p:grpSpPr>
        <p:cxnSp>
          <p:nvCxnSpPr>
            <p:cNvPr id="14" name="Straight Connector 13">
              <a:extLst>
                <a:ext uri="{FF2B5EF4-FFF2-40B4-BE49-F238E27FC236}">
                  <a16:creationId xmlns:a16="http://schemas.microsoft.com/office/drawing/2014/main" id="{DD477D80-386D-4C49-BB5B-4192EF9C3FCB}"/>
                </a:ext>
              </a:extLst>
            </p:cNvPr>
            <p:cNvCxnSpPr/>
            <p:nvPr/>
          </p:nvCxnSpPr>
          <p:spPr>
            <a:xfrm>
              <a:off x="2305050"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0E56FE-A6BB-45BA-AD2C-5C733B41A4AB}"/>
                </a:ext>
              </a:extLst>
            </p:cNvPr>
            <p:cNvCxnSpPr/>
            <p:nvPr/>
          </p:nvCxnSpPr>
          <p:spPr>
            <a:xfrm>
              <a:off x="9320335"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E21D51-5C46-4E4F-89AD-9E1626EA1395}"/>
                </a:ext>
              </a:extLst>
            </p:cNvPr>
            <p:cNvCxnSpPr/>
            <p:nvPr/>
          </p:nvCxnSpPr>
          <p:spPr>
            <a:xfrm>
              <a:off x="6829425"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BEBD8C5-A657-4991-8D27-1779D21F4E6F}"/>
                </a:ext>
              </a:extLst>
            </p:cNvPr>
            <p:cNvCxnSpPr/>
            <p:nvPr/>
          </p:nvCxnSpPr>
          <p:spPr>
            <a:xfrm>
              <a:off x="4343400"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52309E96-4A70-4D55-BD3A-FD937C216BA4}"/>
              </a:ext>
            </a:extLst>
          </p:cNvPr>
          <p:cNvGrpSpPr/>
          <p:nvPr/>
        </p:nvGrpSpPr>
        <p:grpSpPr>
          <a:xfrm>
            <a:off x="1104900" y="2498744"/>
            <a:ext cx="9704192" cy="438150"/>
            <a:chOff x="1104900" y="2336819"/>
            <a:chExt cx="9704192" cy="438150"/>
          </a:xfrm>
          <a:effectLst>
            <a:outerShdw blurRad="50800" dist="38100" dir="2700000" algn="tl" rotWithShape="0">
              <a:prstClr val="black">
                <a:alpha val="40000"/>
              </a:prstClr>
            </a:outerShdw>
          </a:effectLst>
        </p:grpSpPr>
        <p:sp>
          <p:nvSpPr>
            <p:cNvPr id="19" name="Oval 18">
              <a:extLst>
                <a:ext uri="{FF2B5EF4-FFF2-40B4-BE49-F238E27FC236}">
                  <a16:creationId xmlns:a16="http://schemas.microsoft.com/office/drawing/2014/main" id="{6E3306A4-A22E-44B4-B28D-02A4477CAE09}"/>
                </a:ext>
              </a:extLst>
            </p:cNvPr>
            <p:cNvSpPr/>
            <p:nvPr/>
          </p:nvSpPr>
          <p:spPr>
            <a:xfrm>
              <a:off x="1104900"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50C0D7B4-43BC-4CE3-AA3D-60612464FC41}"/>
                </a:ext>
              </a:extLst>
            </p:cNvPr>
            <p:cNvSpPr/>
            <p:nvPr/>
          </p:nvSpPr>
          <p:spPr>
            <a:xfrm>
              <a:off x="3165988"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1" name="Oval 20">
              <a:extLst>
                <a:ext uri="{FF2B5EF4-FFF2-40B4-BE49-F238E27FC236}">
                  <a16:creationId xmlns:a16="http://schemas.microsoft.com/office/drawing/2014/main" id="{AC92C3ED-CA43-4359-8184-F49D4D5F61C8}"/>
                </a:ext>
              </a:extLst>
            </p:cNvPr>
            <p:cNvSpPr/>
            <p:nvPr/>
          </p:nvSpPr>
          <p:spPr>
            <a:xfrm>
              <a:off x="5357812"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 name="Oval 21">
              <a:extLst>
                <a:ext uri="{FF2B5EF4-FFF2-40B4-BE49-F238E27FC236}">
                  <a16:creationId xmlns:a16="http://schemas.microsoft.com/office/drawing/2014/main" id="{CC957790-747E-4EC8-AE97-A7D0FBDA3700}"/>
                </a:ext>
              </a:extLst>
            </p:cNvPr>
            <p:cNvSpPr/>
            <p:nvPr/>
          </p:nvSpPr>
          <p:spPr>
            <a:xfrm>
              <a:off x="7663342"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3" name="Oval 22">
              <a:extLst>
                <a:ext uri="{FF2B5EF4-FFF2-40B4-BE49-F238E27FC236}">
                  <a16:creationId xmlns:a16="http://schemas.microsoft.com/office/drawing/2014/main" id="{F654282D-D293-405A-A40C-6C061ED59255}"/>
                </a:ext>
              </a:extLst>
            </p:cNvPr>
            <p:cNvSpPr/>
            <p:nvPr/>
          </p:nvSpPr>
          <p:spPr>
            <a:xfrm>
              <a:off x="10370942"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grpSp>
    </p:spTree>
    <p:extLst>
      <p:ext uri="{BB962C8B-B14F-4D97-AF65-F5344CB8AC3E}">
        <p14:creationId xmlns:p14="http://schemas.microsoft.com/office/powerpoint/2010/main" val="4059548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1062CA-52E9-06A0-5FC7-4275D5D1A998}"/>
              </a:ext>
            </a:extLst>
          </p:cNvPr>
          <p:cNvSpPr txBox="1"/>
          <p:nvPr/>
        </p:nvSpPr>
        <p:spPr>
          <a:xfrm>
            <a:off x="225860" y="190180"/>
            <a:ext cx="5108964" cy="1956841"/>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3400" dirty="0">
                <a:latin typeface="+mj-lt"/>
                <a:ea typeface="+mj-ea"/>
                <a:cs typeface="+mj-cs"/>
              </a:rPr>
              <a:t>Why does the DTE Strategy Work for St Luke's? </a:t>
            </a:r>
          </a:p>
        </p:txBody>
      </p:sp>
      <p:sp>
        <p:nvSpPr>
          <p:cNvPr id="8" name="TextBox 7">
            <a:extLst>
              <a:ext uri="{FF2B5EF4-FFF2-40B4-BE49-F238E27FC236}">
                <a16:creationId xmlns:a16="http://schemas.microsoft.com/office/drawing/2014/main" id="{3AA1C844-EEF7-1AE4-E6A8-89B4BF629228}"/>
              </a:ext>
            </a:extLst>
          </p:cNvPr>
          <p:cNvSpPr txBox="1"/>
          <p:nvPr/>
        </p:nvSpPr>
        <p:spPr>
          <a:xfrm>
            <a:off x="35884" y="2596138"/>
            <a:ext cx="5199618" cy="4181278"/>
          </a:xfrm>
          <a:prstGeom prst="rect">
            <a:avLst/>
          </a:prstGeom>
        </p:spPr>
        <p:txBody>
          <a:bodyPr vert="horz" lIns="91440" tIns="45720" rIns="91440" bIns="45720" rtlCol="0">
            <a:normAutofit fontScale="92500"/>
          </a:bodyPr>
          <a:lstStyle/>
          <a:p>
            <a:pPr marL="285750" indent="-228600" defTabSz="914400">
              <a:lnSpc>
                <a:spcPct val="90000"/>
              </a:lnSpc>
              <a:spcAft>
                <a:spcPts val="600"/>
              </a:spcAft>
              <a:buFont typeface="Arial" panose="020B0604020202020204" pitchFamily="34" charset="0"/>
              <a:buChar char="•"/>
            </a:pPr>
            <a:endParaRPr lang="en-US" sz="1200" dirty="0"/>
          </a:p>
          <a:p>
            <a:pPr marL="285750" indent="-228600" defTabSz="914400">
              <a:lnSpc>
                <a:spcPct val="90000"/>
              </a:lnSpc>
              <a:spcAft>
                <a:spcPts val="600"/>
              </a:spcAft>
              <a:buFont typeface="Arial" panose="020B0604020202020204" pitchFamily="34" charset="0"/>
              <a:buChar char="•"/>
            </a:pPr>
            <a:r>
              <a:rPr lang="en-US" sz="1500" dirty="0"/>
              <a:t>KBA has been successful in selling employer self-funded health plans for over 40 years without the added benefit of active integration by healthcare providers, or the lowest unit prices compared to the largest payers. </a:t>
            </a:r>
          </a:p>
          <a:p>
            <a:pPr marL="285750" indent="-228600" defTabSz="914400">
              <a:lnSpc>
                <a:spcPct val="90000"/>
              </a:lnSpc>
              <a:spcAft>
                <a:spcPts val="600"/>
              </a:spcAft>
              <a:buFont typeface="Arial" panose="020B0604020202020204" pitchFamily="34" charset="0"/>
              <a:buChar char="•"/>
            </a:pPr>
            <a:endParaRPr lang="en-US" sz="1500" dirty="0"/>
          </a:p>
          <a:p>
            <a:pPr marL="285750" indent="-228600" defTabSz="914400">
              <a:lnSpc>
                <a:spcPct val="90000"/>
              </a:lnSpc>
              <a:spcAft>
                <a:spcPts val="600"/>
              </a:spcAft>
              <a:buFont typeface="Arial" panose="020B0604020202020204" pitchFamily="34" charset="0"/>
              <a:buChar char="•"/>
            </a:pPr>
            <a:r>
              <a:rPr lang="en-US" sz="1500" dirty="0"/>
              <a:t>St Luke's can quantify its value proposition to employers as the lowest cost and highest quality provider using KBA’s proven population health management system from day one.</a:t>
            </a:r>
          </a:p>
          <a:p>
            <a:pPr marL="285750" indent="-228600" defTabSz="914400">
              <a:lnSpc>
                <a:spcPct val="90000"/>
              </a:lnSpc>
              <a:spcAft>
                <a:spcPts val="600"/>
              </a:spcAft>
              <a:buFont typeface="Arial" panose="020B0604020202020204" pitchFamily="34" charset="0"/>
              <a:buChar char="•"/>
            </a:pPr>
            <a:endParaRPr lang="en-US" sz="1500" dirty="0"/>
          </a:p>
          <a:p>
            <a:pPr marL="285750" indent="-228600" defTabSz="914400">
              <a:lnSpc>
                <a:spcPct val="90000"/>
              </a:lnSpc>
              <a:spcAft>
                <a:spcPts val="600"/>
              </a:spcAft>
              <a:buFont typeface="Arial" panose="020B0604020202020204" pitchFamily="34" charset="0"/>
              <a:buChar char="•"/>
            </a:pPr>
            <a:r>
              <a:rPr lang="en-US" sz="1500" dirty="0"/>
              <a:t>St Luke's can deploy a “turn-key” health plan for employer sponsored health plans in 6 months without the millions in capital contribution to start and operate an insurance company.</a:t>
            </a:r>
          </a:p>
          <a:p>
            <a:pPr marL="285750" indent="-228600" defTabSz="914400">
              <a:lnSpc>
                <a:spcPct val="90000"/>
              </a:lnSpc>
              <a:spcAft>
                <a:spcPts val="600"/>
              </a:spcAft>
              <a:buFont typeface="Arial" panose="020B0604020202020204" pitchFamily="34" charset="0"/>
              <a:buChar char="•"/>
            </a:pPr>
            <a:endParaRPr lang="en-US" sz="1500" dirty="0"/>
          </a:p>
          <a:p>
            <a:pPr marL="285750" indent="-228600" defTabSz="914400">
              <a:lnSpc>
                <a:spcPct val="90000"/>
              </a:lnSpc>
              <a:spcAft>
                <a:spcPts val="600"/>
              </a:spcAft>
              <a:buFont typeface="Arial" panose="020B0604020202020204" pitchFamily="34" charset="0"/>
              <a:buChar char="•"/>
            </a:pPr>
            <a:r>
              <a:rPr lang="en-US" sz="1500" dirty="0"/>
              <a:t>KBA provides St Luke's with a comprehensive sales, marketing, and social media system to promote St </a:t>
            </a:r>
            <a:r>
              <a:rPr lang="en-US" sz="1500" dirty="0" err="1"/>
              <a:t>Luke's’s</a:t>
            </a:r>
            <a:r>
              <a:rPr lang="en-US" sz="1500" dirty="0"/>
              <a:t> value proposition directly to the employer community while working with insurance agents and brokers to drive employer adoption.</a:t>
            </a:r>
          </a:p>
        </p:txBody>
      </p:sp>
      <p:pic>
        <p:nvPicPr>
          <p:cNvPr id="1026" name="Picture 2" descr="Strategy Definition – What Is Strategy? | Marketing91">
            <a:extLst>
              <a:ext uri="{FF2B5EF4-FFF2-40B4-BE49-F238E27FC236}">
                <a16:creationId xmlns:a16="http://schemas.microsoft.com/office/drawing/2014/main" id="{7DF77012-62E5-D016-CD8B-EBF287DFD01A}"/>
              </a:ext>
            </a:extLst>
          </p:cNvPr>
          <p:cNvPicPr>
            <a:picLocks noChangeAspect="1" noChangeArrowheads="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AB682664-45E4-6547-A7F0-E6E452829584}"/>
              </a:ext>
            </a:extLst>
          </p:cNvPr>
          <p:cNvSpPr>
            <a:spLocks noGrp="1"/>
          </p:cNvSpPr>
          <p:nvPr>
            <p:ph type="ftr" sz="quarter" idx="11"/>
          </p:nvPr>
        </p:nvSpPr>
        <p:spPr>
          <a:xfrm>
            <a:off x="6248400" y="6356350"/>
            <a:ext cx="4114800" cy="365125"/>
          </a:xfrm>
        </p:spPr>
        <p:txBody>
          <a:bodyPr vert="horz" lIns="91440" tIns="45720" rIns="91440" bIns="45720" rtlCol="0" anchor="ctr">
            <a:normAutofit/>
          </a:bodyPr>
          <a:lstStyle/>
          <a:p>
            <a:pPr algn="l" defTabSz="914400">
              <a:spcAft>
                <a:spcPts val="600"/>
              </a:spcAft>
              <a:defRPr/>
            </a:pPr>
            <a:r>
              <a:rPr lang="en-US" kern="1200" spc="0" dirty="0">
                <a:solidFill>
                  <a:srgbClr val="FFFFFF"/>
                </a:solidFill>
                <a:latin typeface="Calibri" panose="020F0502020204030204"/>
                <a:ea typeface="+mn-ea"/>
                <a:cs typeface="+mn-cs"/>
              </a:rPr>
              <a:t>Key Benefit Administrators</a:t>
            </a:r>
          </a:p>
        </p:txBody>
      </p:sp>
      <p:sp>
        <p:nvSpPr>
          <p:cNvPr id="4" name="Slide Number Placeholder 3">
            <a:extLst>
              <a:ext uri="{FF2B5EF4-FFF2-40B4-BE49-F238E27FC236}">
                <a16:creationId xmlns:a16="http://schemas.microsoft.com/office/drawing/2014/main" id="{917BAF0B-7A3F-A415-DDF1-E26CF729B2C4}"/>
              </a:ext>
            </a:extLst>
          </p:cNvPr>
          <p:cNvSpPr>
            <a:spLocks noGrp="1"/>
          </p:cNvSpPr>
          <p:nvPr>
            <p:ph type="sldNum" sz="quarter" idx="12"/>
          </p:nvPr>
        </p:nvSpPr>
        <p:spPr>
          <a:xfrm>
            <a:off x="10439400" y="6356350"/>
            <a:ext cx="914400" cy="365125"/>
          </a:xfrm>
        </p:spPr>
        <p:txBody>
          <a:bodyPr vert="horz" lIns="91440" tIns="45720" rIns="91440" bIns="45720" rtlCol="0" anchor="ctr">
            <a:normAutofit/>
          </a:bodyPr>
          <a:lstStyle/>
          <a:p>
            <a:pPr defTabSz="914400">
              <a:spcAft>
                <a:spcPts val="600"/>
              </a:spcAft>
              <a:defRPr/>
            </a:pPr>
            <a:fld id="{3AFC719D-C4A7-4544-876E-D411D11AF6C9}" type="slidenum">
              <a:rPr lang="en-US">
                <a:solidFill>
                  <a:srgbClr val="FFFFFF"/>
                </a:solidFill>
                <a:latin typeface="Calibri" panose="020F0502020204030204"/>
              </a:rPr>
              <a:pPr defTabSz="914400">
                <a:spcAft>
                  <a:spcPts val="600"/>
                </a:spcAft>
                <a:defRPr/>
              </a:pPr>
              <a:t>17</a:t>
            </a:fld>
            <a:endParaRPr lang="en-US" dirty="0">
              <a:solidFill>
                <a:srgbClr val="FFFFFF"/>
              </a:solidFill>
              <a:latin typeface="Calibri" panose="020F0502020204030204"/>
            </a:endParaRPr>
          </a:p>
        </p:txBody>
      </p:sp>
    </p:spTree>
    <p:extLst>
      <p:ext uri="{BB962C8B-B14F-4D97-AF65-F5344CB8AC3E}">
        <p14:creationId xmlns:p14="http://schemas.microsoft.com/office/powerpoint/2010/main" val="785295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462486"/>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43B2D3D-737D-4332-BAC2-07DB57394469}"/>
              </a:ext>
            </a:extLst>
          </p:cNvPr>
          <p:cNvSpPr/>
          <p:nvPr/>
        </p:nvSpPr>
        <p:spPr>
          <a:xfrm>
            <a:off x="4857751" y="0"/>
            <a:ext cx="602932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19</a:t>
            </a:fld>
            <a:endParaRPr lang="en-US" dirty="0"/>
          </a:p>
        </p:txBody>
      </p:sp>
      <p:sp>
        <p:nvSpPr>
          <p:cNvPr id="8" name="TextBox 7">
            <a:extLst>
              <a:ext uri="{FF2B5EF4-FFF2-40B4-BE49-F238E27FC236}">
                <a16:creationId xmlns:a16="http://schemas.microsoft.com/office/drawing/2014/main" id="{1A87AF45-3420-4F7A-959C-0F2A3AD826A3}"/>
              </a:ext>
            </a:extLst>
          </p:cNvPr>
          <p:cNvSpPr txBox="1"/>
          <p:nvPr/>
        </p:nvSpPr>
        <p:spPr>
          <a:xfrm>
            <a:off x="5582738" y="666751"/>
            <a:ext cx="5537700" cy="6054725"/>
          </a:xfrm>
          <a:prstGeom prst="rect">
            <a:avLst/>
          </a:prstGeom>
        </p:spPr>
        <p:txBody>
          <a:bodyPr vert="horz" lIns="91440" tIns="45720" rIns="91440" bIns="45720" rtlCol="0" anchor="ctr">
            <a:noAutofit/>
          </a:bodyPr>
          <a:lstStyle/>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Companion Life </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Crum &amp; Forster</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Fidelity Security</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Kemper</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National General</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Transamerica</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US Fire</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University of Louisville Health (OneHealthPlan.net)</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Anderson Regional Medical Ctr. (AffinityHealthPlan.net)</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25 Independent Third Party Administrators</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State of Indiana</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Coefficient (Google)</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CHS (NW AR)</a:t>
            </a:r>
          </a:p>
          <a:p>
            <a:pPr marL="400055" indent="-342905" defTabSz="914411">
              <a:lnSpc>
                <a:spcPct val="90000"/>
              </a:lnSpc>
              <a:spcAft>
                <a:spcPts val="600"/>
              </a:spcAft>
              <a:buFont typeface="Wingdings" panose="05000000000000000000" pitchFamily="2" charset="2"/>
              <a:buChar char="§"/>
            </a:pPr>
            <a:endParaRPr lang="en-US" sz="2000" b="1" dirty="0"/>
          </a:p>
          <a:p>
            <a:pPr marL="400055" indent="-342905" defTabSz="914411">
              <a:lnSpc>
                <a:spcPct val="90000"/>
              </a:lnSpc>
              <a:spcAft>
                <a:spcPts val="600"/>
              </a:spcAft>
              <a:buFont typeface="Wingdings" panose="05000000000000000000" pitchFamily="2" charset="2"/>
              <a:buChar char="§"/>
            </a:pPr>
            <a:endParaRPr lang="en-US" sz="2000" b="1"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110130" y="2069523"/>
            <a:ext cx="4582820" cy="826473"/>
          </a:xfrm>
          <a:noFill/>
        </p:spPr>
        <p:txBody>
          <a:bodyPr vert="horz" lIns="91440" tIns="45720" rIns="91440" bIns="45720" rtlCol="0" anchor="t">
            <a:normAutofit fontScale="90000"/>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Plans</a:t>
            </a:r>
            <a:endParaRPr lang="en-US" sz="2800" b="1" cap="all" spc="150" dirty="0">
              <a:solidFill>
                <a:srgbClr val="0F5DA6"/>
              </a:solidFill>
              <a:latin typeface="Arial" panose="020B0604020202020204" pitchFamily="34" charset="0"/>
              <a:cs typeface="Arial" panose="020B0604020202020204" pitchFamily="34" charset="0"/>
            </a:endParaRPr>
          </a:p>
        </p:txBody>
      </p:sp>
      <p:sp>
        <p:nvSpPr>
          <p:cNvPr id="26" name="Arrow: Right 25">
            <a:extLst>
              <a:ext uri="{FF2B5EF4-FFF2-40B4-BE49-F238E27FC236}">
                <a16:creationId xmlns:a16="http://schemas.microsoft.com/office/drawing/2014/main" id="{485B1D89-F2E0-4440-BD76-569F230AFB8F}"/>
              </a:ext>
            </a:extLst>
          </p:cNvPr>
          <p:cNvSpPr/>
          <p:nvPr/>
        </p:nvSpPr>
        <p:spPr>
          <a:xfrm>
            <a:off x="-8251" y="1680923"/>
            <a:ext cx="5261386" cy="415588"/>
          </a:xfrm>
          <a:prstGeom prst="rightArrow">
            <a:avLst/>
          </a:prstGeom>
          <a:solidFill>
            <a:srgbClr val="A8A7A7">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19872" y="788680"/>
            <a:ext cx="3645898" cy="6299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Text&#10;&#10;Description automatically generated">
            <a:extLst>
              <a:ext uri="{FF2B5EF4-FFF2-40B4-BE49-F238E27FC236}">
                <a16:creationId xmlns:a16="http://schemas.microsoft.com/office/drawing/2014/main" id="{4EA87FCC-3873-28CC-224C-B928F158A3D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8984" y="3033466"/>
            <a:ext cx="1487514" cy="636129"/>
          </a:xfrm>
          <a:prstGeom prst="rect">
            <a:avLst/>
          </a:prstGeom>
        </p:spPr>
      </p:pic>
      <p:pic>
        <p:nvPicPr>
          <p:cNvPr id="11" name="Picture 10" descr="Logo&#10;&#10;Description automatically generated">
            <a:extLst>
              <a:ext uri="{FF2B5EF4-FFF2-40B4-BE49-F238E27FC236}">
                <a16:creationId xmlns:a16="http://schemas.microsoft.com/office/drawing/2014/main" id="{AF0229D7-B381-7222-F0F7-3C0EFD996D1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00030" y="3823597"/>
            <a:ext cx="1560217" cy="415588"/>
          </a:xfrm>
          <a:prstGeom prst="rect">
            <a:avLst/>
          </a:prstGeom>
        </p:spPr>
      </p:pic>
      <p:pic>
        <p:nvPicPr>
          <p:cNvPr id="13" name="Picture 12" descr="A picture containing text&#10;&#10;Description automatically generated">
            <a:extLst>
              <a:ext uri="{FF2B5EF4-FFF2-40B4-BE49-F238E27FC236}">
                <a16:creationId xmlns:a16="http://schemas.microsoft.com/office/drawing/2014/main" id="{302EAFAD-4D74-1297-7878-222631BEF45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83313" y="3127550"/>
            <a:ext cx="2418683" cy="382591"/>
          </a:xfrm>
          <a:prstGeom prst="rect">
            <a:avLst/>
          </a:prstGeom>
        </p:spPr>
      </p:pic>
      <p:pic>
        <p:nvPicPr>
          <p:cNvPr id="15" name="Picture 14" descr="A picture containing icon&#10;&#10;Description automatically generated">
            <a:extLst>
              <a:ext uri="{FF2B5EF4-FFF2-40B4-BE49-F238E27FC236}">
                <a16:creationId xmlns:a16="http://schemas.microsoft.com/office/drawing/2014/main" id="{45B07F8C-C742-C10D-36BD-BDB919DF295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283313" y="4552641"/>
            <a:ext cx="2273700" cy="414671"/>
          </a:xfrm>
          <a:prstGeom prst="rect">
            <a:avLst/>
          </a:prstGeom>
        </p:spPr>
      </p:pic>
      <p:pic>
        <p:nvPicPr>
          <p:cNvPr id="17" name="Picture 16" descr="A picture containing text, clipart&#10;&#10;Description automatically generated">
            <a:extLst>
              <a:ext uri="{FF2B5EF4-FFF2-40B4-BE49-F238E27FC236}">
                <a16:creationId xmlns:a16="http://schemas.microsoft.com/office/drawing/2014/main" id="{2E6ABA23-91D7-C235-CD17-7D93C6DFFF1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50061" y="3818080"/>
            <a:ext cx="1490090" cy="507562"/>
          </a:xfrm>
          <a:prstGeom prst="rect">
            <a:avLst/>
          </a:prstGeom>
        </p:spPr>
      </p:pic>
      <p:pic>
        <p:nvPicPr>
          <p:cNvPr id="19" name="Picture 18" descr="A picture containing text&#10;&#10;Description automatically generated">
            <a:extLst>
              <a:ext uri="{FF2B5EF4-FFF2-40B4-BE49-F238E27FC236}">
                <a16:creationId xmlns:a16="http://schemas.microsoft.com/office/drawing/2014/main" id="{318F1A40-12E3-8E0E-A19E-4113C17326D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91179" y="4574391"/>
            <a:ext cx="1646591" cy="299915"/>
          </a:xfrm>
          <a:prstGeom prst="rect">
            <a:avLst/>
          </a:prstGeom>
        </p:spPr>
      </p:pic>
      <p:pic>
        <p:nvPicPr>
          <p:cNvPr id="21" name="Picture 20" descr="Logo&#10;&#10;Description automatically generated with medium confidence">
            <a:extLst>
              <a:ext uri="{FF2B5EF4-FFF2-40B4-BE49-F238E27FC236}">
                <a16:creationId xmlns:a16="http://schemas.microsoft.com/office/drawing/2014/main" id="{D6FE0FC9-D851-98CB-3235-19DA6451610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283313" y="5137240"/>
            <a:ext cx="1403470" cy="302816"/>
          </a:xfrm>
          <a:prstGeom prst="rect">
            <a:avLst/>
          </a:prstGeom>
        </p:spPr>
      </p:pic>
      <p:pic>
        <p:nvPicPr>
          <p:cNvPr id="23" name="Picture 22" descr="A picture containing text, clipart&#10;&#10;Description automatically generated">
            <a:extLst>
              <a:ext uri="{FF2B5EF4-FFF2-40B4-BE49-F238E27FC236}">
                <a16:creationId xmlns:a16="http://schemas.microsoft.com/office/drawing/2014/main" id="{55744992-9258-EE27-8898-FED62438CC48}"/>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250061" y="5814652"/>
            <a:ext cx="1487514" cy="297503"/>
          </a:xfrm>
          <a:prstGeom prst="rect">
            <a:avLst/>
          </a:prstGeom>
        </p:spPr>
      </p:pic>
      <p:pic>
        <p:nvPicPr>
          <p:cNvPr id="1026" name="Picture 2" descr="Home">
            <a:extLst>
              <a:ext uri="{FF2B5EF4-FFF2-40B4-BE49-F238E27FC236}">
                <a16:creationId xmlns:a16="http://schemas.microsoft.com/office/drawing/2014/main" id="{DE19A654-5987-2533-04FD-0F2EAB94314D}"/>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278640" y="5081313"/>
            <a:ext cx="1658684" cy="4146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QA Logo">
            <a:extLst>
              <a:ext uri="{FF2B5EF4-FFF2-40B4-BE49-F238E27FC236}">
                <a16:creationId xmlns:a16="http://schemas.microsoft.com/office/drawing/2014/main" id="{30B067E7-06B1-2B7B-D62A-7838888DD20B}"/>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2283313" y="5739745"/>
            <a:ext cx="1544883" cy="32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880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Diagram&#10;&#10;Description automatically generated">
            <a:extLst>
              <a:ext uri="{FF2B5EF4-FFF2-40B4-BE49-F238E27FC236}">
                <a16:creationId xmlns:a16="http://schemas.microsoft.com/office/drawing/2014/main" id="{9BD78704-6439-095B-3EBA-562D6CAAF6E2}"/>
              </a:ext>
            </a:extLst>
          </p:cNvPr>
          <p:cNvPicPr>
            <a:picLocks noChangeAspect="1"/>
          </p:cNvPicPr>
          <p:nvPr/>
        </p:nvPicPr>
        <p:blipFill>
          <a:blip r:embed="rId3"/>
          <a:stretch>
            <a:fillRect/>
          </a:stretch>
        </p:blipFill>
        <p:spPr>
          <a:xfrm>
            <a:off x="955646" y="1526797"/>
            <a:ext cx="8767194" cy="4518352"/>
          </a:xfrm>
          <a:prstGeom prst="rect">
            <a:avLst/>
          </a:prstGeom>
        </p:spPr>
      </p:pic>
    </p:spTree>
    <p:extLst>
      <p:ext uri="{BB962C8B-B14F-4D97-AF65-F5344CB8AC3E}">
        <p14:creationId xmlns:p14="http://schemas.microsoft.com/office/powerpoint/2010/main" val="1297738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St Luke's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St Luke's</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22</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201424"/>
          </a:xfrm>
          <a:prstGeom prst="rect">
            <a:avLst/>
          </a:prstGeom>
        </p:spPr>
        <p:txBody>
          <a:bodyPr wrap="square">
            <a:spAutoFit/>
          </a:bodyPr>
          <a:lstStyle/>
          <a:p>
            <a:pPr>
              <a:spcAft>
                <a:spcPts val="1200"/>
              </a:spcAft>
            </a:pPr>
            <a:r>
              <a:rPr lang="en-US" b="1" cap="all" dirty="0">
                <a:solidFill>
                  <a:srgbClr val="000B2E"/>
                </a:solidFill>
              </a:rPr>
              <a:t>ST LUKE’S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are part of your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gain share distribution! </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direction of St Luke's</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 OF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BHS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695881639"/>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4" descr="St. Luke's University Health Network's 150th Anniversary">
            <a:extLst>
              <a:ext uri="{FF2B5EF4-FFF2-40B4-BE49-F238E27FC236}">
                <a16:creationId xmlns:a16="http://schemas.microsoft.com/office/drawing/2014/main" id="{A601C53D-270A-F96F-E93A-2884C7DD245B}"/>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721850" y="4104340"/>
            <a:ext cx="1123950" cy="59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0" y="-1833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23</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Our population health management processes have been proven effective regardless of network affiliation or contracts</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If St Luke's DTE program does nothing more than utilize our proven population health processes, this will be your result:</a:t>
            </a:r>
          </a:p>
          <a:p>
            <a:pPr marL="828685" lvl="1" indent="-342905" defTabSz="914411">
              <a:lnSpc>
                <a:spcPct val="90000"/>
              </a:lnSpc>
              <a:spcAft>
                <a:spcPts val="1200"/>
              </a:spcAft>
              <a:buClr>
                <a:schemeClr val="bg1"/>
              </a:buClr>
              <a:buFont typeface="Arial" panose="020B0604020202020204" pitchFamily="34" charset="0"/>
              <a:buChar char="•"/>
            </a:pPr>
            <a:r>
              <a:rPr lang="en-US" sz="2000" dirty="0">
                <a:solidFill>
                  <a:schemeClr val="bg1"/>
                </a:solidFill>
              </a:rPr>
              <a:t>Greater Completion Rates for Standards of Care for the Chronically Ill</a:t>
            </a:r>
          </a:p>
          <a:p>
            <a:pPr marL="828685" lvl="1" indent="-342905" defTabSz="914411">
              <a:lnSpc>
                <a:spcPct val="90000"/>
              </a:lnSpc>
              <a:spcAft>
                <a:spcPts val="1200"/>
              </a:spcAft>
              <a:buClr>
                <a:schemeClr val="bg1"/>
              </a:buClr>
              <a:buFont typeface="Arial" panose="020B0604020202020204" pitchFamily="34" charset="0"/>
              <a:buChar char="•"/>
            </a:pPr>
            <a:r>
              <a:rPr lang="en-US" sz="2000" dirty="0">
                <a:solidFill>
                  <a:schemeClr val="bg1"/>
                </a:solidFill>
              </a:rPr>
              <a:t>Reduced Employer Spend Regardless of the Contract Rates</a:t>
            </a:r>
          </a:p>
          <a:p>
            <a:pPr marL="828685" lvl="1" indent="-342905" defTabSz="914411">
              <a:lnSpc>
                <a:spcPct val="90000"/>
              </a:lnSpc>
              <a:spcAft>
                <a:spcPts val="1200"/>
              </a:spcAft>
              <a:buClr>
                <a:schemeClr val="bg1"/>
              </a:buClr>
              <a:buFont typeface="Arial" panose="020B0604020202020204" pitchFamily="34" charset="0"/>
              <a:buChar char="•"/>
            </a:pPr>
            <a:r>
              <a:rPr lang="en-US" sz="2000" b="1" dirty="0">
                <a:solidFill>
                  <a:schemeClr val="bg1"/>
                </a:solidFill>
              </a:rPr>
              <a:t>Quantifiable 11%-17% in Reduced Employer Health Plan Costs</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St Luke’s managed care processes will only turbocharge the overall results – Truly Transformative in the Market Place</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530578" y="689833"/>
            <a:ext cx="3053314" cy="2504922"/>
          </a:xfrm>
        </p:spPr>
        <p:txBody>
          <a:bodyPr vert="horz" lIns="91440" tIns="45720" rIns="91440" bIns="45720" rtlCol="0" anchor="t">
            <a:normAutofit fontScale="90000"/>
          </a:bodyPr>
          <a:lstStyle/>
          <a:p>
            <a:r>
              <a:rPr lang="en-US" sz="3600" cap="all" dirty="0">
                <a:solidFill>
                  <a:schemeClr val="bg1"/>
                </a:solidFill>
              </a:rPr>
              <a:t>Your Partner IN POPULATION HEALTH</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ST LUKE’S </a:t>
            </a:r>
            <a:r>
              <a:rPr lang="en-US" sz="2400" b="1" cap="small" dirty="0">
                <a:solidFill>
                  <a:srgbClr val="000B2E"/>
                </a:solidFill>
              </a:rPr>
              <a:t>CAN PROMOTE THESE RESULTS FOR YOUR OWN PROGRAM FROM DAY ONE!!</a:t>
            </a:r>
          </a:p>
        </p:txBody>
      </p:sp>
      <p:grpSp>
        <p:nvGrpSpPr>
          <p:cNvPr id="11" name="Group 10">
            <a:extLst>
              <a:ext uri="{FF2B5EF4-FFF2-40B4-BE49-F238E27FC236}">
                <a16:creationId xmlns:a16="http://schemas.microsoft.com/office/drawing/2014/main" id="{64927658-C8B4-4AE5-8522-21AFC8A5E865}"/>
              </a:ext>
            </a:extLst>
          </p:cNvPr>
          <p:cNvGrpSpPr/>
          <p:nvPr/>
        </p:nvGrpSpPr>
        <p:grpSpPr>
          <a:xfrm>
            <a:off x="415510" y="3519985"/>
            <a:ext cx="3283450" cy="2966192"/>
            <a:chOff x="4703781" y="1634723"/>
            <a:chExt cx="5153961" cy="4655967"/>
          </a:xfrm>
          <a:effectLst>
            <a:outerShdw blurRad="50800" dist="38100" dir="2700000" algn="tl" rotWithShape="0">
              <a:prstClr val="black">
                <a:alpha val="40000"/>
              </a:prstClr>
            </a:outerShdw>
          </a:effectLst>
        </p:grpSpPr>
        <p:sp>
          <p:nvSpPr>
            <p:cNvPr id="12" name="Freeform: Shape 11">
              <a:extLst>
                <a:ext uri="{FF2B5EF4-FFF2-40B4-BE49-F238E27FC236}">
                  <a16:creationId xmlns:a16="http://schemas.microsoft.com/office/drawing/2014/main" id="{CC7E1DE5-B251-4D86-B35B-C6F84DA3BDAC}"/>
                </a:ext>
              </a:extLst>
            </p:cNvPr>
            <p:cNvSpPr/>
            <p:nvPr/>
          </p:nvSpPr>
          <p:spPr>
            <a:xfrm>
              <a:off x="4703781" y="2358770"/>
              <a:ext cx="5153961" cy="3931920"/>
            </a:xfrm>
            <a:custGeom>
              <a:avLst/>
              <a:gdLst>
                <a:gd name="connsiteX0" fmla="*/ 1965960 w 5153961"/>
                <a:gd name="connsiteY0" fmla="*/ 0 h 3931920"/>
                <a:gd name="connsiteX1" fmla="*/ 3921770 w 5153961"/>
                <a:gd name="connsiteY1" fmla="*/ 1764952 h 3931920"/>
                <a:gd name="connsiteX2" fmla="*/ 3925790 w 5153961"/>
                <a:gd name="connsiteY2" fmla="*/ 1844571 h 3931920"/>
                <a:gd name="connsiteX3" fmla="*/ 4938190 w 5153961"/>
                <a:gd name="connsiteY3" fmla="*/ 1844571 h 3931920"/>
                <a:gd name="connsiteX4" fmla="*/ 5153961 w 5153961"/>
                <a:gd name="connsiteY4" fmla="*/ 2060343 h 3931920"/>
                <a:gd name="connsiteX5" fmla="*/ 4938190 w 5153961"/>
                <a:gd name="connsiteY5" fmla="*/ 2276114 h 3931920"/>
                <a:gd name="connsiteX6" fmla="*/ 3905112 w 5153961"/>
                <a:gd name="connsiteY6" fmla="*/ 2276114 h 3931920"/>
                <a:gd name="connsiteX7" fmla="*/ 3891979 w 5153961"/>
                <a:gd name="connsiteY7" fmla="*/ 2362170 h 3931920"/>
                <a:gd name="connsiteX8" fmla="*/ 1965960 w 5153961"/>
                <a:gd name="connsiteY8" fmla="*/ 3931920 h 3931920"/>
                <a:gd name="connsiteX9" fmla="*/ 0 w 5153961"/>
                <a:gd name="connsiteY9" fmla="*/ 1965960 h 3931920"/>
                <a:gd name="connsiteX10" fmla="*/ 1965960 w 5153961"/>
                <a:gd name="connsiteY10" fmla="*/ 0 h 3931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53961" h="3931920">
                  <a:moveTo>
                    <a:pt x="1965960" y="0"/>
                  </a:moveTo>
                  <a:cubicBezTo>
                    <a:pt x="2983870" y="0"/>
                    <a:pt x="3821093" y="773605"/>
                    <a:pt x="3921770" y="1764952"/>
                  </a:cubicBezTo>
                  <a:lnTo>
                    <a:pt x="3925790" y="1844571"/>
                  </a:lnTo>
                  <a:lnTo>
                    <a:pt x="4938190" y="1844571"/>
                  </a:lnTo>
                  <a:lnTo>
                    <a:pt x="5153961" y="2060343"/>
                  </a:lnTo>
                  <a:lnTo>
                    <a:pt x="4938190" y="2276114"/>
                  </a:lnTo>
                  <a:lnTo>
                    <a:pt x="3905112" y="2276114"/>
                  </a:lnTo>
                  <a:lnTo>
                    <a:pt x="3891979" y="2362170"/>
                  </a:lnTo>
                  <a:cubicBezTo>
                    <a:pt x="3708660" y="3258025"/>
                    <a:pt x="2916009" y="3931920"/>
                    <a:pt x="1965960" y="3931920"/>
                  </a:cubicBezTo>
                  <a:cubicBezTo>
                    <a:pt x="880190" y="3931920"/>
                    <a:pt x="0" y="3051730"/>
                    <a:pt x="0" y="1965960"/>
                  </a:cubicBezTo>
                  <a:cubicBezTo>
                    <a:pt x="0" y="880190"/>
                    <a:pt x="880190" y="0"/>
                    <a:pt x="1965960" y="0"/>
                  </a:cubicBezTo>
                  <a:close/>
                </a:path>
              </a:pathLst>
            </a:custGeom>
            <a:solidFill>
              <a:srgbClr val="61A606"/>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BC7B9F41-BE56-4A64-A790-37BD7466EAC1}"/>
                </a:ext>
              </a:extLst>
            </p:cNvPr>
            <p:cNvSpPr/>
            <p:nvPr/>
          </p:nvSpPr>
          <p:spPr>
            <a:xfrm>
              <a:off x="5160980" y="2507998"/>
              <a:ext cx="3812657" cy="3298433"/>
            </a:xfrm>
            <a:custGeom>
              <a:avLst/>
              <a:gdLst>
                <a:gd name="connsiteX0" fmla="*/ 3509732 w 3812657"/>
                <a:gd name="connsiteY0" fmla="*/ 0 h 3298433"/>
                <a:gd name="connsiteX1" fmla="*/ 3812657 w 3812657"/>
                <a:gd name="connsiteY1" fmla="*/ 36764 h 3298433"/>
                <a:gd name="connsiteX2" fmla="*/ 3775894 w 3812657"/>
                <a:gd name="connsiteY2" fmla="*/ 339688 h 3298433"/>
                <a:gd name="connsiteX3" fmla="*/ 2837549 w 3812657"/>
                <a:gd name="connsiteY3" fmla="*/ 1074927 h 3298433"/>
                <a:gd name="connsiteX4" fmla="*/ 2898954 w 3812657"/>
                <a:gd name="connsiteY4" fmla="*/ 1202396 h 3298433"/>
                <a:gd name="connsiteX5" fmla="*/ 3017520 w 3812657"/>
                <a:gd name="connsiteY5" fmla="*/ 1789673 h 3298433"/>
                <a:gd name="connsiteX6" fmla="*/ 1508760 w 3812657"/>
                <a:gd name="connsiteY6" fmla="*/ 3298433 h 3298433"/>
                <a:gd name="connsiteX7" fmla="*/ 0 w 3812657"/>
                <a:gd name="connsiteY7" fmla="*/ 1789673 h 3298433"/>
                <a:gd name="connsiteX8" fmla="*/ 1508760 w 3812657"/>
                <a:gd name="connsiteY8" fmla="*/ 280913 h 3298433"/>
                <a:gd name="connsiteX9" fmla="*/ 2575615 w 3812657"/>
                <a:gd name="connsiteY9" fmla="*/ 722819 h 3298433"/>
                <a:gd name="connsiteX10" fmla="*/ 2580450 w 3812657"/>
                <a:gd name="connsiteY10" fmla="*/ 728139 h 3298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12657" h="3298433">
                  <a:moveTo>
                    <a:pt x="3509732" y="0"/>
                  </a:moveTo>
                  <a:lnTo>
                    <a:pt x="3812657" y="36764"/>
                  </a:lnTo>
                  <a:lnTo>
                    <a:pt x="3775894" y="339688"/>
                  </a:lnTo>
                  <a:lnTo>
                    <a:pt x="2837549" y="1074927"/>
                  </a:lnTo>
                  <a:lnTo>
                    <a:pt x="2898954" y="1202396"/>
                  </a:lnTo>
                  <a:cubicBezTo>
                    <a:pt x="2975302" y="1382901"/>
                    <a:pt x="3017520" y="1581357"/>
                    <a:pt x="3017520" y="1789673"/>
                  </a:cubicBezTo>
                  <a:cubicBezTo>
                    <a:pt x="3017520" y="2622938"/>
                    <a:pt x="2342025" y="3298433"/>
                    <a:pt x="1508760" y="3298433"/>
                  </a:cubicBezTo>
                  <a:cubicBezTo>
                    <a:pt x="675495" y="3298433"/>
                    <a:pt x="0" y="2622938"/>
                    <a:pt x="0" y="1789673"/>
                  </a:cubicBezTo>
                  <a:cubicBezTo>
                    <a:pt x="0" y="956408"/>
                    <a:pt x="675495" y="280913"/>
                    <a:pt x="1508760" y="280913"/>
                  </a:cubicBezTo>
                  <a:cubicBezTo>
                    <a:pt x="1925393" y="280913"/>
                    <a:pt x="2302583" y="449787"/>
                    <a:pt x="2575615" y="722819"/>
                  </a:cubicBezTo>
                  <a:lnTo>
                    <a:pt x="2580450" y="728139"/>
                  </a:lnTo>
                  <a:close/>
                </a:path>
              </a:pathLst>
            </a:custGeom>
            <a:solidFill>
              <a:srgbClr val="019CA5"/>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CC128022-076E-41BE-A355-2BDF9D741879}"/>
                </a:ext>
              </a:extLst>
            </p:cNvPr>
            <p:cNvSpPr/>
            <p:nvPr/>
          </p:nvSpPr>
          <p:spPr>
            <a:xfrm>
              <a:off x="5755341" y="1634723"/>
              <a:ext cx="1828800" cy="3577348"/>
            </a:xfrm>
            <a:custGeom>
              <a:avLst/>
              <a:gdLst>
                <a:gd name="connsiteX0" fmla="*/ 914400 w 1828800"/>
                <a:gd name="connsiteY0" fmla="*/ 0 h 3577348"/>
                <a:gd name="connsiteX1" fmla="*/ 1130171 w 1828800"/>
                <a:gd name="connsiteY1" fmla="*/ 215771 h 3577348"/>
                <a:gd name="connsiteX2" fmla="*/ 1130171 w 1828800"/>
                <a:gd name="connsiteY2" fmla="*/ 1776900 h 3577348"/>
                <a:gd name="connsiteX3" fmla="*/ 1270326 w 1828800"/>
                <a:gd name="connsiteY3" fmla="*/ 1820406 h 3577348"/>
                <a:gd name="connsiteX4" fmla="*/ 1828800 w 1828800"/>
                <a:gd name="connsiteY4" fmla="*/ 2662948 h 3577348"/>
                <a:gd name="connsiteX5" fmla="*/ 914400 w 1828800"/>
                <a:gd name="connsiteY5" fmla="*/ 3577348 h 3577348"/>
                <a:gd name="connsiteX6" fmla="*/ 0 w 1828800"/>
                <a:gd name="connsiteY6" fmla="*/ 2662948 h 3577348"/>
                <a:gd name="connsiteX7" fmla="*/ 558475 w 1828800"/>
                <a:gd name="connsiteY7" fmla="*/ 1820406 h 3577348"/>
                <a:gd name="connsiteX8" fmla="*/ 698628 w 1828800"/>
                <a:gd name="connsiteY8" fmla="*/ 1776900 h 3577348"/>
                <a:gd name="connsiteX9" fmla="*/ 698628 w 1828800"/>
                <a:gd name="connsiteY9" fmla="*/ 215771 h 357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8800" h="3577348">
                  <a:moveTo>
                    <a:pt x="914400" y="0"/>
                  </a:moveTo>
                  <a:lnTo>
                    <a:pt x="1130171" y="215771"/>
                  </a:lnTo>
                  <a:lnTo>
                    <a:pt x="1130171" y="1776900"/>
                  </a:lnTo>
                  <a:lnTo>
                    <a:pt x="1270326" y="1820406"/>
                  </a:lnTo>
                  <a:cubicBezTo>
                    <a:pt x="1598518" y="1959220"/>
                    <a:pt x="1828800" y="2284191"/>
                    <a:pt x="1828800" y="2662948"/>
                  </a:cubicBezTo>
                  <a:cubicBezTo>
                    <a:pt x="1828800" y="3167957"/>
                    <a:pt x="1419409" y="3577348"/>
                    <a:pt x="914400" y="3577348"/>
                  </a:cubicBezTo>
                  <a:cubicBezTo>
                    <a:pt x="409391" y="3577348"/>
                    <a:pt x="0" y="3167957"/>
                    <a:pt x="0" y="2662948"/>
                  </a:cubicBezTo>
                  <a:cubicBezTo>
                    <a:pt x="0" y="2284191"/>
                    <a:pt x="230283" y="1959220"/>
                    <a:pt x="558475" y="1820406"/>
                  </a:cubicBezTo>
                  <a:lnTo>
                    <a:pt x="698628" y="1776900"/>
                  </a:lnTo>
                  <a:lnTo>
                    <a:pt x="698628" y="215771"/>
                  </a:lnTo>
                  <a:close/>
                </a:path>
              </a:pathLst>
            </a:custGeom>
            <a:solidFill>
              <a:srgbClr val="59CAE8"/>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TextBox 14">
              <a:extLst>
                <a:ext uri="{FF2B5EF4-FFF2-40B4-BE49-F238E27FC236}">
                  <a16:creationId xmlns:a16="http://schemas.microsoft.com/office/drawing/2014/main" id="{36D0F9FB-8E21-4A59-9F0B-6252FFDD31A8}"/>
                </a:ext>
              </a:extLst>
            </p:cNvPr>
            <p:cNvSpPr txBox="1"/>
            <p:nvPr/>
          </p:nvSpPr>
          <p:spPr>
            <a:xfrm>
              <a:off x="5895300" y="3653707"/>
              <a:ext cx="1548882" cy="1401019"/>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cs typeface="Arial" panose="020B0604020202020204" pitchFamily="34" charset="0"/>
                </a:rPr>
                <a:t>20%</a:t>
              </a:r>
            </a:p>
            <a:p>
              <a:pPr algn="ctr"/>
              <a:r>
                <a:rPr lang="en-US" sz="1200" dirty="0">
                  <a:solidFill>
                    <a:schemeClr val="bg1"/>
                  </a:solidFill>
                </a:rPr>
                <a:t>Driving</a:t>
              </a:r>
            </a:p>
            <a:p>
              <a:pPr algn="ctr"/>
              <a:r>
                <a:rPr lang="en-US" sz="1400" b="1" dirty="0">
                  <a:solidFill>
                    <a:schemeClr val="bg1"/>
                  </a:solidFill>
                  <a:latin typeface="Arial" panose="020B0604020202020204" pitchFamily="34" charset="0"/>
                  <a:cs typeface="Arial" panose="020B0604020202020204" pitchFamily="34" charset="0"/>
                </a:rPr>
                <a:t>80% </a:t>
              </a:r>
            </a:p>
            <a:p>
              <a:pPr algn="ctr"/>
              <a:r>
                <a:rPr lang="en-US" sz="1200" dirty="0">
                  <a:solidFill>
                    <a:schemeClr val="bg1"/>
                  </a:solidFill>
                </a:rPr>
                <a:t>of Cost</a:t>
              </a:r>
            </a:p>
          </p:txBody>
        </p:sp>
      </p:grpSp>
    </p:spTree>
    <p:extLst>
      <p:ext uri="{BB962C8B-B14F-4D97-AF65-F5344CB8AC3E}">
        <p14:creationId xmlns:p14="http://schemas.microsoft.com/office/powerpoint/2010/main" val="3958060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A1E786-80E3-4086-A822-161ED0B972BD}"/>
              </a:ext>
            </a:extLst>
          </p:cNvPr>
          <p:cNvSpPr/>
          <p:nvPr/>
        </p:nvSpPr>
        <p:spPr>
          <a:xfrm>
            <a:off x="0" y="1"/>
            <a:ext cx="12192000" cy="6857999"/>
          </a:xfrm>
          <a:prstGeom prst="rect">
            <a:avLst/>
          </a:prstGeom>
          <a:solidFill>
            <a:srgbClr val="244F9A"/>
          </a:solidFill>
        </p:spPr>
        <p:txBody>
          <a:bodyPr wrap="square">
            <a:noAutofit/>
          </a:bodyPr>
          <a:lstStyle/>
          <a:p>
            <a:pPr algn="ctr"/>
            <a:r>
              <a:rPr lang="en-US" b="1" cap="all" spc="300" dirty="0">
                <a:solidFill>
                  <a:srgbClr val="FFFFFF"/>
                </a:solidFill>
              </a:rPr>
              <a:t>ACTIONABLE ANALYTICS BASED UPON SEVERITY OF ILLNESS AND GAPS IN CARE</a:t>
            </a:r>
          </a:p>
          <a:p>
            <a:pPr algn="ctr"/>
            <a:r>
              <a:rPr lang="en-US" dirty="0">
                <a:solidFill>
                  <a:srgbClr val="FFFFFF"/>
                </a:solidFill>
              </a:rPr>
              <a:t>All data available to St Luke's</a:t>
            </a:r>
            <a:endParaRPr lang="en-US" dirty="0"/>
          </a:p>
        </p:txBody>
      </p:sp>
      <p:grpSp>
        <p:nvGrpSpPr>
          <p:cNvPr id="18" name="Group 17">
            <a:extLst>
              <a:ext uri="{FF2B5EF4-FFF2-40B4-BE49-F238E27FC236}">
                <a16:creationId xmlns:a16="http://schemas.microsoft.com/office/drawing/2014/main" id="{BE7E8AA3-6686-4683-863D-039F4B9F4ECF}"/>
              </a:ext>
            </a:extLst>
          </p:cNvPr>
          <p:cNvGrpSpPr/>
          <p:nvPr/>
        </p:nvGrpSpPr>
        <p:grpSpPr>
          <a:xfrm>
            <a:off x="1567178" y="715711"/>
            <a:ext cx="9057640" cy="5400675"/>
            <a:chOff x="1567178" y="1319078"/>
            <a:chExt cx="9057640" cy="5400675"/>
          </a:xfrm>
        </p:grpSpPr>
        <p:pic>
          <p:nvPicPr>
            <p:cNvPr id="7" name="Picture 6">
              <a:extLst>
                <a:ext uri="{FF2B5EF4-FFF2-40B4-BE49-F238E27FC236}">
                  <a16:creationId xmlns:a16="http://schemas.microsoft.com/office/drawing/2014/main" id="{17377C34-25B9-4425-A9D0-632127AD8249}"/>
                </a:ext>
              </a:extLst>
            </p:cNvPr>
            <p:cNvPicPr/>
            <p:nvPr/>
          </p:nvPicPr>
          <p:blipFill>
            <a:blip r:embed="rId2">
              <a:extLst>
                <a:ext uri="{28A0092B-C50C-407E-A947-70E740481C1C}">
                  <a14:useLocalDpi xmlns:a14="http://schemas.microsoft.com/office/drawing/2010/main"/>
                </a:ext>
              </a:extLst>
            </a:blip>
            <a:stretch>
              <a:fillRect/>
            </a:stretch>
          </p:blipFill>
          <p:spPr>
            <a:xfrm>
              <a:off x="1567178" y="1319078"/>
              <a:ext cx="9057640" cy="5400675"/>
            </a:xfrm>
            <a:prstGeom prst="rect">
              <a:avLst/>
            </a:prstGeom>
          </p:spPr>
        </p:pic>
        <p:sp>
          <p:nvSpPr>
            <p:cNvPr id="11" name="Rectangle 10">
              <a:extLst>
                <a:ext uri="{FF2B5EF4-FFF2-40B4-BE49-F238E27FC236}">
                  <a16:creationId xmlns:a16="http://schemas.microsoft.com/office/drawing/2014/main" id="{BD91CA6F-7193-4C55-81B2-D73039FE2B3E}"/>
                </a:ext>
              </a:extLst>
            </p:cNvPr>
            <p:cNvSpPr/>
            <p:nvPr/>
          </p:nvSpPr>
          <p:spPr>
            <a:xfrm>
              <a:off x="5023945" y="2879834"/>
              <a:ext cx="5370784" cy="283780"/>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sp>
          <p:nvSpPr>
            <p:cNvPr id="13" name="Rectangle 12">
              <a:extLst>
                <a:ext uri="{FF2B5EF4-FFF2-40B4-BE49-F238E27FC236}">
                  <a16:creationId xmlns:a16="http://schemas.microsoft.com/office/drawing/2014/main" id="{2B6CC832-77C3-4E6A-8D26-6F422247D41E}"/>
                </a:ext>
              </a:extLst>
            </p:cNvPr>
            <p:cNvSpPr/>
            <p:nvPr/>
          </p:nvSpPr>
          <p:spPr>
            <a:xfrm>
              <a:off x="5023945" y="3673391"/>
              <a:ext cx="2543504" cy="131353"/>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2E074EC1-9219-490A-9E38-4C2A7C3F3754}"/>
                </a:ext>
              </a:extLst>
            </p:cNvPr>
            <p:cNvSpPr/>
            <p:nvPr/>
          </p:nvSpPr>
          <p:spPr>
            <a:xfrm>
              <a:off x="7851225" y="3804744"/>
              <a:ext cx="2543504" cy="767256"/>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sp>
          <p:nvSpPr>
            <p:cNvPr id="17" name="Rectangle 16">
              <a:extLst>
                <a:ext uri="{FF2B5EF4-FFF2-40B4-BE49-F238E27FC236}">
                  <a16:creationId xmlns:a16="http://schemas.microsoft.com/office/drawing/2014/main" id="{AE90F4AD-BE15-4925-A5D5-EDCEFF21D8A4}"/>
                </a:ext>
              </a:extLst>
            </p:cNvPr>
            <p:cNvSpPr/>
            <p:nvPr/>
          </p:nvSpPr>
          <p:spPr>
            <a:xfrm>
              <a:off x="1619728" y="3916437"/>
              <a:ext cx="3125692" cy="767256"/>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grpSp>
      <p:sp>
        <p:nvSpPr>
          <p:cNvPr id="3" name="Speech Bubble: Rectangle 2">
            <a:extLst>
              <a:ext uri="{FF2B5EF4-FFF2-40B4-BE49-F238E27FC236}">
                <a16:creationId xmlns:a16="http://schemas.microsoft.com/office/drawing/2014/main" id="{B9C9D577-CEBE-4AC8-923F-BA769D4BB565}"/>
              </a:ext>
            </a:extLst>
          </p:cNvPr>
          <p:cNvSpPr/>
          <p:nvPr/>
        </p:nvSpPr>
        <p:spPr>
          <a:xfrm>
            <a:off x="200549" y="1052042"/>
            <a:ext cx="1166080" cy="1773591"/>
          </a:xfrm>
          <a:prstGeom prst="wedgeRectCallout">
            <a:avLst>
              <a:gd name="adj1" fmla="val 72005"/>
              <a:gd name="adj2" fmla="val -20467"/>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All Patient, Provider, and Location Data Regardless of Network Affiliation  </a:t>
            </a:r>
          </a:p>
        </p:txBody>
      </p:sp>
      <p:sp>
        <p:nvSpPr>
          <p:cNvPr id="9" name="Speech Bubble: Rectangle 8">
            <a:extLst>
              <a:ext uri="{FF2B5EF4-FFF2-40B4-BE49-F238E27FC236}">
                <a16:creationId xmlns:a16="http://schemas.microsoft.com/office/drawing/2014/main" id="{23E0A51F-5DA6-4A3F-8D20-0C13E6E9FAFA}"/>
              </a:ext>
            </a:extLst>
          </p:cNvPr>
          <p:cNvSpPr/>
          <p:nvPr/>
        </p:nvSpPr>
        <p:spPr>
          <a:xfrm>
            <a:off x="10825367" y="1643233"/>
            <a:ext cx="1197614" cy="738339"/>
          </a:xfrm>
          <a:prstGeom prst="wedgeRectCallout">
            <a:avLst>
              <a:gd name="adj1" fmla="val -76447"/>
              <a:gd name="adj2" fmla="val 35320"/>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Identify the sickest of the sick</a:t>
            </a:r>
          </a:p>
        </p:txBody>
      </p:sp>
      <p:sp>
        <p:nvSpPr>
          <p:cNvPr id="12" name="Speech Bubble: Rectangle 11">
            <a:extLst>
              <a:ext uri="{FF2B5EF4-FFF2-40B4-BE49-F238E27FC236}">
                <a16:creationId xmlns:a16="http://schemas.microsoft.com/office/drawing/2014/main" id="{99C9C8C9-BC21-4EF2-BCCF-61138AF197CA}"/>
              </a:ext>
            </a:extLst>
          </p:cNvPr>
          <p:cNvSpPr/>
          <p:nvPr/>
        </p:nvSpPr>
        <p:spPr>
          <a:xfrm>
            <a:off x="3841105" y="5880172"/>
            <a:ext cx="1566042" cy="885482"/>
          </a:xfrm>
          <a:prstGeom prst="wedgeRectCallout">
            <a:avLst>
              <a:gd name="adj1" fmla="val 36269"/>
              <a:gd name="adj2" fmla="val -136788"/>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Regimens of Care for Chronic Illnesses</a:t>
            </a:r>
          </a:p>
        </p:txBody>
      </p:sp>
      <p:sp>
        <p:nvSpPr>
          <p:cNvPr id="15" name="Speech Bubble: Rectangle 14">
            <a:extLst>
              <a:ext uri="{FF2B5EF4-FFF2-40B4-BE49-F238E27FC236}">
                <a16:creationId xmlns:a16="http://schemas.microsoft.com/office/drawing/2014/main" id="{B2C42829-971C-4412-819E-B9C8B2DE95F5}"/>
              </a:ext>
            </a:extLst>
          </p:cNvPr>
          <p:cNvSpPr/>
          <p:nvPr/>
        </p:nvSpPr>
        <p:spPr>
          <a:xfrm>
            <a:off x="10800007" y="2996396"/>
            <a:ext cx="1191444" cy="1849822"/>
          </a:xfrm>
          <a:prstGeom prst="wedgeRectCallout">
            <a:avLst>
              <a:gd name="adj1" fmla="val -76411"/>
              <a:gd name="adj2" fmla="val -20782"/>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Monitor Compliance with Nurse Coaching and Triage to Providers</a:t>
            </a:r>
          </a:p>
        </p:txBody>
      </p:sp>
      <p:sp>
        <p:nvSpPr>
          <p:cNvPr id="14" name="Speech Bubble: Rectangle 13">
            <a:extLst>
              <a:ext uri="{FF2B5EF4-FFF2-40B4-BE49-F238E27FC236}">
                <a16:creationId xmlns:a16="http://schemas.microsoft.com/office/drawing/2014/main" id="{9BA67BD1-7D54-4D98-B3FF-4D310F8932AA}"/>
              </a:ext>
            </a:extLst>
          </p:cNvPr>
          <p:cNvSpPr/>
          <p:nvPr/>
        </p:nvSpPr>
        <p:spPr>
          <a:xfrm>
            <a:off x="200549" y="3454963"/>
            <a:ext cx="1166080" cy="1912883"/>
          </a:xfrm>
          <a:prstGeom prst="wedgeRectCallout">
            <a:avLst>
              <a:gd name="adj1" fmla="val 72005"/>
              <a:gd name="adj2" fmla="val -20467"/>
            </a:avLst>
          </a:prstGeom>
          <a:solidFill>
            <a:srgbClr val="59CAE8">
              <a:alpha val="71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Identify Every Chronic Condition by Patient for Intervention</a:t>
            </a:r>
          </a:p>
        </p:txBody>
      </p:sp>
      <p:sp>
        <p:nvSpPr>
          <p:cNvPr id="2" name="Footer Placeholder 1">
            <a:extLst>
              <a:ext uri="{FF2B5EF4-FFF2-40B4-BE49-F238E27FC236}">
                <a16:creationId xmlns:a16="http://schemas.microsoft.com/office/drawing/2014/main" id="{BCD0416D-DA68-4454-8941-57609268D905}"/>
              </a:ext>
            </a:extLst>
          </p:cNvPr>
          <p:cNvSpPr>
            <a:spLocks noGrp="1"/>
          </p:cNvSpPr>
          <p:nvPr>
            <p:ph type="ftr" sz="quarter" idx="11"/>
          </p:nvPr>
        </p:nvSpPr>
        <p:spPr>
          <a:xfrm>
            <a:off x="5793825" y="6307509"/>
            <a:ext cx="4114800" cy="365125"/>
          </a:xfrm>
        </p:spPr>
        <p:txBody>
          <a:bodyPr/>
          <a:lstStyle/>
          <a:p>
            <a:pPr algn="l"/>
            <a:r>
              <a:rPr lang="en-US" spc="300" dirty="0">
                <a:solidFill>
                  <a:schemeClr val="tx1">
                    <a:lumMod val="75000"/>
                    <a:lumOff val="25000"/>
                  </a:schemeClr>
                </a:solidFill>
              </a:rPr>
              <a:t>Key Benefit Administrators</a:t>
            </a:r>
          </a:p>
        </p:txBody>
      </p:sp>
      <p:sp>
        <p:nvSpPr>
          <p:cNvPr id="4" name="Slide Number Placeholder 3">
            <a:extLst>
              <a:ext uri="{FF2B5EF4-FFF2-40B4-BE49-F238E27FC236}">
                <a16:creationId xmlns:a16="http://schemas.microsoft.com/office/drawing/2014/main" id="{FAD6E8A8-C8D4-4941-8541-74F6A1B7F1BC}"/>
              </a:ext>
            </a:extLst>
          </p:cNvPr>
          <p:cNvSpPr>
            <a:spLocks noGrp="1"/>
          </p:cNvSpPr>
          <p:nvPr>
            <p:ph type="sldNum" sz="quarter" idx="12"/>
          </p:nvPr>
        </p:nvSpPr>
        <p:spPr>
          <a:xfrm>
            <a:off x="9285018" y="6311396"/>
            <a:ext cx="2743200" cy="365125"/>
          </a:xfrm>
        </p:spPr>
        <p:txBody>
          <a:bodyPr/>
          <a:lstStyle/>
          <a:p>
            <a:pPr algn="r"/>
            <a:fld id="{C41B7D62-7D4B-4EC0-9445-56A6951E1D90}" type="slidenum">
              <a:rPr lang="en-US" smtClean="0">
                <a:solidFill>
                  <a:schemeClr val="tx1">
                    <a:lumMod val="75000"/>
                    <a:lumOff val="25000"/>
                  </a:schemeClr>
                </a:solidFill>
              </a:rPr>
              <a:pPr algn="r"/>
              <a:t>24</a:t>
            </a:fld>
            <a:endParaRPr lang="en-US" dirty="0">
              <a:solidFill>
                <a:schemeClr val="tx1">
                  <a:lumMod val="75000"/>
                  <a:lumOff val="25000"/>
                </a:schemeClr>
              </a:solidFill>
            </a:endParaRPr>
          </a:p>
        </p:txBody>
      </p:sp>
    </p:spTree>
    <p:extLst>
      <p:ext uri="{BB962C8B-B14F-4D97-AF65-F5344CB8AC3E}">
        <p14:creationId xmlns:p14="http://schemas.microsoft.com/office/powerpoint/2010/main" val="3174320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25</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altLang="en-US" dirty="0">
              <a:solidFill>
                <a:schemeClr val="bg1"/>
              </a:solidFill>
            </a:endParaRPr>
          </a:p>
          <a:p>
            <a:pPr>
              <a:spcBef>
                <a:spcPct val="0"/>
              </a:spcBef>
              <a:buClrTx/>
              <a:buSzTx/>
              <a:buFontTx/>
              <a:buNone/>
            </a:pPr>
            <a:endParaRPr lang="en-US" altLang="en-US" spc="150" dirty="0">
              <a:solidFill>
                <a:schemeClr val="bg1"/>
              </a:solidFill>
            </a:endParaRPr>
          </a:p>
          <a:p>
            <a:pPr>
              <a:spcBef>
                <a:spcPct val="0"/>
              </a:spcBef>
              <a:buClrTx/>
              <a:buSzTx/>
              <a:buFontTx/>
              <a:buNone/>
            </a:pPr>
            <a:r>
              <a:rPr lang="en-US" sz="1600" spc="120" dirty="0">
                <a:solidFill>
                  <a:srgbClr val="FFFFFF"/>
                </a:solidFill>
                <a:ea typeface="+mj-ea"/>
                <a:cs typeface="+mj-cs"/>
              </a:rPr>
              <a:t>Using Evidence-Based standards of care for 27 chronic conditions and co-morbidities we can directly impact the overall cost of care substantially.  For example, a diabetic that meets the prescribed standards of care for treatment can save a health plan over $6,000 per year over their lifetime (AHDI CDM Comparison of Regimens of Care for Diabetic Patients, 2017-2021). </a:t>
            </a:r>
            <a:br>
              <a:rPr lang="en-US" sz="1600" spc="120" dirty="0">
                <a:solidFill>
                  <a:srgbClr val="FFFFFF"/>
                </a:solidFill>
                <a:ea typeface="+mj-ea"/>
                <a:cs typeface="+mj-cs"/>
              </a:rPr>
            </a:br>
            <a:br>
              <a:rPr lang="en-US" sz="1600" spc="120" dirty="0">
                <a:solidFill>
                  <a:srgbClr val="FFFFFF"/>
                </a:solidFill>
                <a:ea typeface="+mj-ea"/>
                <a:cs typeface="+mj-cs"/>
              </a:rPr>
            </a:br>
            <a:r>
              <a:rPr lang="en-US" sz="1600" b="1" spc="120" dirty="0">
                <a:solidFill>
                  <a:srgbClr val="FFFFFF"/>
                </a:solidFill>
                <a:ea typeface="+mj-ea"/>
                <a:cs typeface="+mj-cs"/>
              </a:rPr>
              <a:t>Good Health is Good Business</a:t>
            </a: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PROVEN POPULATION HEALTH MANAGEMENT</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26</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St Luke’s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St Luke’s 340B drug pricing program</a:t>
            </a:r>
          </a:p>
          <a:p>
            <a:pPr marL="285753" indent="-285753">
              <a:spcBef>
                <a:spcPts val="600"/>
              </a:spcBef>
              <a:buFont typeface="Wingdings" panose="05000000000000000000" pitchFamily="2" charset="2"/>
              <a:buChar char="§"/>
            </a:pPr>
            <a:r>
              <a:rPr lang="en-US" sz="2000" dirty="0">
                <a:solidFill>
                  <a:schemeClr val="bg1"/>
                </a:solidFill>
              </a:rPr>
              <a:t>Allows St Luke's to create their own PBM program</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Gerber Life Insurance</a:t>
            </a:r>
          </a:p>
          <a:p>
            <a:pPr algn="ctr">
              <a:lnSpc>
                <a:spcPct val="200000"/>
              </a:lnSpc>
            </a:pPr>
            <a:r>
              <a:rPr lang="en-US" dirty="0"/>
              <a:t>Nationwide</a:t>
            </a:r>
          </a:p>
          <a:p>
            <a:pPr algn="ctr">
              <a:lnSpc>
                <a:spcPct val="200000"/>
              </a:lnSpc>
            </a:pPr>
            <a:r>
              <a:rPr lang="en-US" dirty="0"/>
              <a:t>Sirius Group</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27</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909036"/>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a:t>
            </a:r>
          </a:p>
          <a:p>
            <a:pPr marL="285753" indent="-285753">
              <a:spcAft>
                <a:spcPts val="600"/>
              </a:spcAft>
              <a:buFont typeface="Wingdings" panose="05000000000000000000" pitchFamily="2" charset="2"/>
              <a:buChar char="§"/>
            </a:pPr>
            <a:r>
              <a:rPr lang="en-US" dirty="0"/>
              <a:t>KBA performs a comprehensive analysis of each stop-loss partner in order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to ensure proper pricing;</a:t>
            </a:r>
          </a:p>
          <a:p>
            <a:pPr marL="285753" indent="-285753">
              <a:spcAft>
                <a:spcPts val="600"/>
              </a:spcAft>
              <a:buFont typeface="Wingdings" panose="05000000000000000000" pitchFamily="2" charset="2"/>
              <a:buChar char="§"/>
            </a:pPr>
            <a:r>
              <a:rPr lang="en-US" dirty="0"/>
              <a:t>KBA is also evaluated by the stop-loss markets in order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28</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42FB80-C911-47BE-AB6A-45B5849C73D3}"/>
              </a:ext>
            </a:extLst>
          </p:cNvPr>
          <p:cNvSpPr>
            <a:spLocks noGrp="1"/>
          </p:cNvSpPr>
          <p:nvPr>
            <p:ph type="title"/>
          </p:nvPr>
        </p:nvSpPr>
        <p:spPr>
          <a:xfrm>
            <a:off x="6457950" y="1001793"/>
            <a:ext cx="5092462" cy="1325563"/>
          </a:xfrm>
        </p:spPr>
        <p:txBody>
          <a:bodyPr>
            <a:normAutofit/>
          </a:bodyPr>
          <a:lstStyle/>
          <a:p>
            <a:r>
              <a:rPr lang="en-US" sz="3200" dirty="0">
                <a:solidFill>
                  <a:srgbClr val="244F9A"/>
                </a:solidFill>
              </a:rPr>
              <a:t>BENEFITS FOR THE EMPLOYER</a:t>
            </a:r>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St Luke's </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Tree>
    <p:extLst>
      <p:ext uri="{BB962C8B-B14F-4D97-AF65-F5344CB8AC3E}">
        <p14:creationId xmlns:p14="http://schemas.microsoft.com/office/powerpoint/2010/main" val="1714126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29</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394360"/>
            <a:ext cx="11737910" cy="646331"/>
          </a:xfrm>
          <a:prstGeom prst="rect">
            <a:avLst/>
          </a:prstGeom>
          <a:noFill/>
        </p:spPr>
        <p:txBody>
          <a:bodyPr wrap="square">
            <a:spAutoFit/>
          </a:bodyPr>
          <a:lstStyle/>
          <a:p>
            <a:pPr algn="ctr"/>
            <a:r>
              <a:rPr lang="en-US" sz="1800" spc="200">
                <a:latin typeface="+mj-lt"/>
                <a:cs typeface="+mj-cs"/>
              </a:rPr>
              <a:t>DEMOGRAPHICS</a:t>
            </a:r>
            <a:br>
              <a:rPr lang="en-US" sz="1800" spc="200">
                <a:latin typeface="+mj-lt"/>
                <a:cs typeface="+mj-cs"/>
              </a:rPr>
            </a:br>
            <a:r>
              <a:rPr lang="en-US" sz="1800" spc="200">
                <a:latin typeface="+mj-lt"/>
                <a:cs typeface="+mj-cs"/>
              </a:rPr>
              <a:t>21,000+ Employers       244</a:t>
            </a:r>
            <a:r>
              <a:rPr lang="en-US" sz="1800" spc="200">
                <a:latin typeface="+mj-lt"/>
                <a:cs typeface="+mj-cs"/>
                <a:sym typeface="Wingdings" panose="05000000000000000000" pitchFamily="2" charset="2"/>
              </a:rPr>
              <a:t>,000+ Employees       536,000+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511042" y="775061"/>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457586" y="766384"/>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2" name="Table 1">
            <a:extLst>
              <a:ext uri="{FF2B5EF4-FFF2-40B4-BE49-F238E27FC236}">
                <a16:creationId xmlns:a16="http://schemas.microsoft.com/office/drawing/2014/main" id="{8B2650CC-8DDD-32A4-5087-ABC4146B4E07}"/>
              </a:ext>
            </a:extLst>
          </p:cNvPr>
          <p:cNvGraphicFramePr>
            <a:graphicFrameLocks noGrp="1"/>
          </p:cNvGraphicFramePr>
          <p:nvPr>
            <p:extLst>
              <p:ext uri="{D42A27DB-BD31-4B8C-83A1-F6EECF244321}">
                <p14:modId xmlns:p14="http://schemas.microsoft.com/office/powerpoint/2010/main" val="1373395539"/>
              </p:ext>
            </p:extLst>
          </p:nvPr>
        </p:nvGraphicFramePr>
        <p:xfrm>
          <a:off x="4215189" y="1186606"/>
          <a:ext cx="7749766" cy="3066876"/>
        </p:xfrm>
        <a:graphic>
          <a:graphicData uri="http://schemas.openxmlformats.org/drawingml/2006/table">
            <a:tbl>
              <a:tblPr>
                <a:tableStyleId>{5FD0F851-EC5A-4D38-B0AD-8093EC10F338}</a:tableStyleId>
              </a:tblPr>
              <a:tblGrid>
                <a:gridCol w="2555236">
                  <a:extLst>
                    <a:ext uri="{9D8B030D-6E8A-4147-A177-3AD203B41FA5}">
                      <a16:colId xmlns:a16="http://schemas.microsoft.com/office/drawing/2014/main" val="1276038589"/>
                    </a:ext>
                  </a:extLst>
                </a:gridCol>
                <a:gridCol w="1731510">
                  <a:extLst>
                    <a:ext uri="{9D8B030D-6E8A-4147-A177-3AD203B41FA5}">
                      <a16:colId xmlns:a16="http://schemas.microsoft.com/office/drawing/2014/main" val="3117790426"/>
                    </a:ext>
                  </a:extLst>
                </a:gridCol>
                <a:gridCol w="1731510">
                  <a:extLst>
                    <a:ext uri="{9D8B030D-6E8A-4147-A177-3AD203B41FA5}">
                      <a16:colId xmlns:a16="http://schemas.microsoft.com/office/drawing/2014/main" val="167344824"/>
                    </a:ext>
                  </a:extLst>
                </a:gridCol>
                <a:gridCol w="1731510">
                  <a:extLst>
                    <a:ext uri="{9D8B030D-6E8A-4147-A177-3AD203B41FA5}">
                      <a16:colId xmlns:a16="http://schemas.microsoft.com/office/drawing/2014/main" val="3456291151"/>
                    </a:ext>
                  </a:extLst>
                </a:gridCol>
              </a:tblGrid>
              <a:tr h="243357">
                <a:tc>
                  <a:txBody>
                    <a:bodyPr/>
                    <a:lstStyle/>
                    <a:p>
                      <a:pPr algn="l" fontAlgn="b"/>
                      <a:r>
                        <a:rPr lang="en-US" sz="1600" u="sng" strike="noStrike" dirty="0">
                          <a:effectLst/>
                        </a:rPr>
                        <a:t>CHATTANOOGA MSA</a:t>
                      </a:r>
                      <a:endParaRPr lang="en-US" sz="1600" b="1"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44511600"/>
                  </a:ext>
                </a:extLst>
              </a:tr>
              <a:tr h="243357">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EMPLOYERS</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EMPLOYEES</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MEMBERS</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16217789"/>
                  </a:ext>
                </a:extLst>
              </a:tr>
              <a:tr h="243357">
                <a:tc>
                  <a:txBody>
                    <a:bodyPr/>
                    <a:lstStyle/>
                    <a:p>
                      <a:pPr algn="l" fontAlgn="b"/>
                      <a:r>
                        <a:rPr lang="en-US" sz="1600" u="none" strike="noStrike" dirty="0">
                          <a:effectLst/>
                        </a:rPr>
                        <a:t>2 TO 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14,372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43,116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94,855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33713114"/>
                  </a:ext>
                </a:extLst>
              </a:tr>
              <a:tr h="243357">
                <a:tc>
                  <a:txBody>
                    <a:bodyPr/>
                    <a:lstStyle/>
                    <a:p>
                      <a:pPr algn="l" fontAlgn="b"/>
                      <a:r>
                        <a:rPr lang="en-US" sz="1600" u="none" strike="noStrike" dirty="0">
                          <a:effectLst/>
                        </a:rPr>
                        <a:t>10 TO 19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4,384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48,224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106,093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78536306"/>
                  </a:ext>
                </a:extLst>
              </a:tr>
              <a:tr h="243357">
                <a:tc>
                  <a:txBody>
                    <a:bodyPr/>
                    <a:lstStyle/>
                    <a:p>
                      <a:pPr algn="l" fontAlgn="b"/>
                      <a:r>
                        <a:rPr lang="en-US" sz="1600" u="none" strike="noStrike" dirty="0">
                          <a:effectLst/>
                        </a:rPr>
                        <a:t>20 TO 49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1,947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64,251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141,352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68450314"/>
                  </a:ext>
                </a:extLst>
              </a:tr>
              <a:tr h="243357">
                <a:tc>
                  <a:txBody>
                    <a:bodyPr/>
                    <a:lstStyle/>
                    <a:p>
                      <a:pPr algn="l" fontAlgn="b"/>
                      <a:r>
                        <a:rPr lang="en-US" sz="1600" u="none" strike="noStrike" dirty="0">
                          <a:effectLst/>
                        </a:rPr>
                        <a:t>50 TO 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328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20,008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44,018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72952117"/>
                  </a:ext>
                </a:extLst>
              </a:tr>
              <a:tr h="243357">
                <a:tc>
                  <a:txBody>
                    <a:bodyPr/>
                    <a:lstStyle/>
                    <a:p>
                      <a:pPr algn="l" fontAlgn="b"/>
                      <a:r>
                        <a:rPr lang="en-US" sz="1600" u="none" strike="noStrike" dirty="0">
                          <a:effectLst/>
                        </a:rPr>
                        <a:t>100 TO 249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174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25,926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57,037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30523293"/>
                  </a:ext>
                </a:extLst>
              </a:tr>
              <a:tr h="243357">
                <a:tc>
                  <a:txBody>
                    <a:bodyPr/>
                    <a:lstStyle/>
                    <a:p>
                      <a:pPr algn="l" fontAlgn="b"/>
                      <a:r>
                        <a:rPr lang="en-US" sz="1600" u="none" strike="noStrike" dirty="0">
                          <a:effectLst/>
                        </a:rPr>
                        <a:t>250-499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51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13,974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30,743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58700628"/>
                  </a:ext>
                </a:extLst>
              </a:tr>
              <a:tr h="243357">
                <a:tc>
                  <a:txBody>
                    <a:bodyPr/>
                    <a:lstStyle/>
                    <a:p>
                      <a:pPr algn="l" fontAlgn="b"/>
                      <a:r>
                        <a:rPr lang="en-US" sz="1600" u="none" strike="noStrike" dirty="0">
                          <a:effectLst/>
                        </a:rPr>
                        <a:t>500 TO 999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19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10,887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23,951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5711975"/>
                  </a:ext>
                </a:extLst>
              </a:tr>
              <a:tr h="243357">
                <a:tc>
                  <a:txBody>
                    <a:bodyPr/>
                    <a:lstStyle/>
                    <a:p>
                      <a:pPr algn="l" fontAlgn="b"/>
                      <a:r>
                        <a:rPr lang="en-US" sz="1600" u="none" strike="noStrike" dirty="0">
                          <a:effectLst/>
                        </a:rPr>
                        <a:t>1,000 TO 4,999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12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17,676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38,887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99614234"/>
                  </a:ext>
                </a:extLst>
              </a:tr>
              <a:tr h="279861">
                <a:tc>
                  <a:txBody>
                    <a:bodyPr/>
                    <a:lstStyle/>
                    <a:p>
                      <a:pPr algn="l" fontAlgn="b"/>
                      <a:r>
                        <a:rPr lang="en-US" sz="1600" u="none" strike="noStrike" dirty="0">
                          <a:effectLst/>
                        </a:rPr>
                        <a:t>5,000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sng" strike="noStrike" dirty="0">
                          <a:effectLst/>
                        </a:rPr>
                        <a:t>                             4 </a:t>
                      </a:r>
                      <a:endParaRPr lang="en-US" sz="1600" b="0"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sng" strike="noStrike" dirty="0">
                          <a:effectLst/>
                        </a:rPr>
                        <a:t>                  21,756 </a:t>
                      </a:r>
                      <a:endParaRPr lang="en-US" sz="1600" b="0"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sng" strike="noStrike" dirty="0">
                          <a:effectLst/>
                        </a:rPr>
                        <a:t>                  47,863 </a:t>
                      </a:r>
                      <a:endParaRPr lang="en-US" sz="1600" b="0" i="0" u="sng"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05740800"/>
                  </a:ext>
                </a:extLst>
              </a:tr>
              <a:tr h="243357">
                <a:tc>
                  <a:txBody>
                    <a:bodyPr/>
                    <a:lstStyle/>
                    <a:p>
                      <a:pPr algn="l" fontAlgn="b"/>
                      <a:endParaRPr lang="en-US" sz="1600" b="0" i="0" u="none" strike="noStrike" dirty="0">
                        <a:solidFill>
                          <a:srgbClr val="000000"/>
                        </a:solidFill>
                        <a:effectLst/>
                        <a:latin typeface="Calibri" panose="020F0502020204030204" pitchFamily="34" charset="0"/>
                      </a:endParaRPr>
                    </a:p>
                  </a:txBody>
                  <a:tcPr marL="85725" marR="9525" marT="9525" marB="0" anchor="b"/>
                </a:tc>
                <a:tc>
                  <a:txBody>
                    <a:bodyPr/>
                    <a:lstStyle/>
                    <a:p>
                      <a:pPr algn="l" fontAlgn="b"/>
                      <a:r>
                        <a:rPr lang="en-US" sz="1600" u="none" strike="noStrike" dirty="0">
                          <a:effectLst/>
                        </a:rPr>
                        <a:t>                  21,291 </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244,062 </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536,936 </a:t>
                      </a:r>
                      <a:endParaRPr lang="en-US"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81711525"/>
                  </a:ext>
                </a:extLst>
              </a:tr>
            </a:tbl>
          </a:graphicData>
        </a:graphic>
      </p:graphicFrame>
      <p:pic>
        <p:nvPicPr>
          <p:cNvPr id="11" name="Picture 4" descr="St. Luke's University Health Network's 150th Anniversary">
            <a:extLst>
              <a:ext uri="{FF2B5EF4-FFF2-40B4-BE49-F238E27FC236}">
                <a16:creationId xmlns:a16="http://schemas.microsoft.com/office/drawing/2014/main" id="{030DB615-E0FB-2E06-0A80-F6D810560463}"/>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010951" y="4824716"/>
            <a:ext cx="2879377" cy="15125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09362EB4-B226-1FF6-B2FB-21941F7EBC55}"/>
              </a:ext>
            </a:extLst>
          </p:cNvPr>
          <p:cNvPicPr>
            <a:picLocks noChangeAspect="1"/>
          </p:cNvPicPr>
          <p:nvPr/>
        </p:nvPicPr>
        <p:blipFill>
          <a:blip r:embed="rId3"/>
          <a:stretch>
            <a:fillRect/>
          </a:stretch>
        </p:blipFill>
        <p:spPr>
          <a:xfrm>
            <a:off x="0" y="2429672"/>
            <a:ext cx="3761905" cy="3647619"/>
          </a:xfrm>
          <a:prstGeom prst="rect">
            <a:avLst/>
          </a:prstGeom>
        </p:spPr>
      </p:pic>
      <p:sp>
        <p:nvSpPr>
          <p:cNvPr id="15" name="Rectangle 14">
            <a:extLst>
              <a:ext uri="{FF2B5EF4-FFF2-40B4-BE49-F238E27FC236}">
                <a16:creationId xmlns:a16="http://schemas.microsoft.com/office/drawing/2014/main" id="{E29F1353-9CEC-E488-D801-57701A0744CC}"/>
              </a:ext>
            </a:extLst>
          </p:cNvPr>
          <p:cNvSpPr/>
          <p:nvPr/>
        </p:nvSpPr>
        <p:spPr>
          <a:xfrm rot="1189742">
            <a:off x="3966040" y="1898345"/>
            <a:ext cx="680720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PA Data Coming</a:t>
            </a:r>
          </a:p>
        </p:txBody>
      </p:sp>
    </p:spTree>
    <p:extLst>
      <p:ext uri="{BB962C8B-B14F-4D97-AF65-F5344CB8AC3E}">
        <p14:creationId xmlns:p14="http://schemas.microsoft.com/office/powerpoint/2010/main" val="3680080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30</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PLAN DESIGNS THAT OPTIMIZE PLAN STEERAGE TO ST LUKE’S</a:t>
            </a:r>
          </a:p>
        </p:txBody>
      </p:sp>
      <p:pic>
        <p:nvPicPr>
          <p:cNvPr id="5" name="Picture 4" descr="St. Luke's University Health Network's 150th Anniversary">
            <a:extLst>
              <a:ext uri="{FF2B5EF4-FFF2-40B4-BE49-F238E27FC236}">
                <a16:creationId xmlns:a16="http://schemas.microsoft.com/office/drawing/2014/main" id="{DF60A471-4B8E-0C1D-0527-74B37F295BF6}"/>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378950" y="5036083"/>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a:t>
            </a:r>
            <a:r>
              <a:rPr lang="en-US" sz="2000" dirty="0">
                <a:solidFill>
                  <a:schemeClr val="bg1"/>
                </a:solidFill>
                <a:highlight>
                  <a:srgbClr val="FFFF00"/>
                </a:highlight>
              </a:rPr>
              <a:t>2</a:t>
            </a:r>
            <a:r>
              <a:rPr lang="en-US" sz="2000" dirty="0">
                <a:solidFill>
                  <a:schemeClr val="bg1"/>
                </a:solidFill>
              </a:rPr>
              <a:t>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31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2647473577"/>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32</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33</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T must think like a business and go beyond traditional business  partnerships | CIO">
            <a:extLst>
              <a:ext uri="{FF2B5EF4-FFF2-40B4-BE49-F238E27FC236}">
                <a16:creationId xmlns:a16="http://schemas.microsoft.com/office/drawing/2014/main" id="{ACA8F3D6-1566-49F6-82EF-EBB7909EF6A8}"/>
              </a:ext>
            </a:extLst>
          </p:cNvPr>
          <p:cNvPicPr>
            <a:picLocks noChangeAspect="1" noChangeArrowheads="1"/>
          </p:cNvPicPr>
          <p:nvPr/>
        </p:nvPicPr>
        <p:blipFill>
          <a:blip r:embed="rId2">
            <a:alphaModFix amt="23000"/>
            <a:extLst>
              <a:ext uri="{28A0092B-C50C-407E-A947-70E740481C1C}">
                <a14:useLocalDpi xmlns:a14="http://schemas.microsoft.com/office/drawing/2010/main"/>
              </a:ext>
            </a:extLst>
          </a:blip>
          <a:srcRect/>
          <a:stretch>
            <a:fillRect/>
          </a:stretch>
        </p:blipFill>
        <p:spPr bwMode="auto">
          <a:xfrm>
            <a:off x="0" y="-1234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F2A2384-87B4-4D78-9869-9D594EF48401}"/>
              </a:ext>
            </a:extLst>
          </p:cNvPr>
          <p:cNvSpPr/>
          <p:nvPr/>
        </p:nvSpPr>
        <p:spPr>
          <a:xfrm>
            <a:off x="6096000" y="1524000"/>
            <a:ext cx="6096000" cy="5331178"/>
          </a:xfrm>
          <a:prstGeom prst="rect">
            <a:avLst/>
          </a:prstGeom>
          <a:solidFill>
            <a:srgbClr val="244F9A">
              <a:alpha val="88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9D9B523-DB99-459B-80E1-2F51A15AC941}"/>
              </a:ext>
            </a:extLst>
          </p:cNvPr>
          <p:cNvSpPr>
            <a:spLocks noGrp="1"/>
          </p:cNvSpPr>
          <p:nvPr>
            <p:ph type="title"/>
          </p:nvPr>
        </p:nvSpPr>
        <p:spPr>
          <a:xfrm>
            <a:off x="6580465" y="248736"/>
            <a:ext cx="5257800" cy="835025"/>
          </a:xfrm>
        </p:spPr>
        <p:txBody>
          <a:bodyPr>
            <a:normAutofit/>
          </a:bodyPr>
          <a:lstStyle/>
          <a:p>
            <a:r>
              <a:rPr lang="en-US" sz="3200" dirty="0"/>
              <a:t>DTE COLLABORATION</a:t>
            </a:r>
          </a:p>
        </p:txBody>
      </p:sp>
      <p:sp>
        <p:nvSpPr>
          <p:cNvPr id="3" name="Footer Placeholder 2">
            <a:extLst>
              <a:ext uri="{FF2B5EF4-FFF2-40B4-BE49-F238E27FC236}">
                <a16:creationId xmlns:a16="http://schemas.microsoft.com/office/drawing/2014/main" id="{9EB172EF-A405-49F9-8A5A-0E1B773CE5B1}"/>
              </a:ext>
            </a:extLst>
          </p:cNvPr>
          <p:cNvSpPr>
            <a:spLocks noGrp="1"/>
          </p:cNvSpPr>
          <p:nvPr>
            <p:ph type="ftr" sz="quarter" idx="11"/>
          </p:nvPr>
        </p:nvSpPr>
        <p:spPr>
          <a:xfrm>
            <a:off x="714300" y="6223353"/>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F78A55D-A3BC-4D3C-A7BB-6CE4D36A530A}"/>
              </a:ext>
            </a:extLst>
          </p:cNvPr>
          <p:cNvSpPr>
            <a:spLocks noGrp="1"/>
          </p:cNvSpPr>
          <p:nvPr>
            <p:ph type="sldNum" sz="quarter" idx="12"/>
          </p:nvPr>
        </p:nvSpPr>
        <p:spPr>
          <a:xfrm>
            <a:off x="8828616" y="6223354"/>
            <a:ext cx="2743200" cy="365125"/>
          </a:xfrm>
        </p:spPr>
        <p:txBody>
          <a:bodyPr/>
          <a:lstStyle/>
          <a:p>
            <a:fld id="{3AFC719D-C4A7-4544-876E-D411D11AF6C9}" type="slidenum">
              <a:rPr lang="en-US" smtClean="0"/>
              <a:t>34</a:t>
            </a:fld>
            <a:endParaRPr lang="en-US" dirty="0"/>
          </a:p>
        </p:txBody>
      </p:sp>
      <p:sp>
        <p:nvSpPr>
          <p:cNvPr id="5" name="Rectangle 4">
            <a:extLst>
              <a:ext uri="{FF2B5EF4-FFF2-40B4-BE49-F238E27FC236}">
                <a16:creationId xmlns:a16="http://schemas.microsoft.com/office/drawing/2014/main" id="{210BE480-D272-4AD8-AA3A-7DC62A437E89}"/>
              </a:ext>
            </a:extLst>
          </p:cNvPr>
          <p:cNvSpPr/>
          <p:nvPr/>
        </p:nvSpPr>
        <p:spPr>
          <a:xfrm>
            <a:off x="781276" y="2843066"/>
            <a:ext cx="3714600" cy="2693045"/>
          </a:xfrm>
          <a:prstGeom prst="rect">
            <a:avLst/>
          </a:prstGeom>
        </p:spPr>
        <p:txBody>
          <a:bodyPr vert="horz" wrap="square">
            <a:noAutofit/>
          </a:bodyPr>
          <a:lstStyle/>
          <a:p>
            <a:pPr>
              <a:spcAft>
                <a:spcPts val="1200"/>
              </a:spcAft>
            </a:pPr>
            <a:endParaRPr lang="en-US" sz="2400" b="1" dirty="0"/>
          </a:p>
          <a:p>
            <a:pPr marL="342905" indent="-342905">
              <a:spcAft>
                <a:spcPts val="1200"/>
              </a:spcAft>
              <a:buFont typeface="Wingdings" panose="05000000000000000000" pitchFamily="2" charset="2"/>
              <a:buChar char="§"/>
            </a:pPr>
            <a:r>
              <a:rPr lang="en-US" dirty="0"/>
              <a:t>Tier 1 Provider Network</a:t>
            </a:r>
          </a:p>
          <a:p>
            <a:pPr marL="342905" indent="-342905">
              <a:spcAft>
                <a:spcPts val="1200"/>
              </a:spcAft>
              <a:buFont typeface="Wingdings" panose="05000000000000000000" pitchFamily="2" charset="2"/>
              <a:buChar char="§"/>
            </a:pPr>
            <a:r>
              <a:rPr lang="en-US" dirty="0"/>
              <a:t>Population Management</a:t>
            </a:r>
          </a:p>
          <a:p>
            <a:pPr marL="342905" indent="-342905">
              <a:spcAft>
                <a:spcPts val="1200"/>
              </a:spcAft>
              <a:buFont typeface="Wingdings" panose="05000000000000000000" pitchFamily="2" charset="2"/>
              <a:buChar char="§"/>
            </a:pPr>
            <a:r>
              <a:rPr lang="en-US" dirty="0"/>
              <a:t>Medical Director oversight</a:t>
            </a:r>
          </a:p>
          <a:p>
            <a:pPr marL="342905" indent="-342905">
              <a:spcAft>
                <a:spcPts val="1200"/>
              </a:spcAft>
              <a:buFont typeface="Wingdings" panose="05000000000000000000" pitchFamily="2" charset="2"/>
              <a:buChar char="§"/>
            </a:pPr>
            <a:r>
              <a:rPr lang="en-US" dirty="0"/>
              <a:t>Local Provider Recruitment</a:t>
            </a:r>
          </a:p>
          <a:p>
            <a:pPr marL="342905" indent="-342905">
              <a:spcAft>
                <a:spcPts val="1200"/>
              </a:spcAft>
              <a:buFont typeface="Wingdings" panose="05000000000000000000" pitchFamily="2" charset="2"/>
              <a:buChar char="§"/>
            </a:pPr>
            <a:r>
              <a:rPr lang="en-US" dirty="0"/>
              <a:t>Network Management</a:t>
            </a:r>
          </a:p>
        </p:txBody>
      </p:sp>
      <p:sp>
        <p:nvSpPr>
          <p:cNvPr id="6" name="Rectangle 5">
            <a:extLst>
              <a:ext uri="{FF2B5EF4-FFF2-40B4-BE49-F238E27FC236}">
                <a16:creationId xmlns:a16="http://schemas.microsoft.com/office/drawing/2014/main" id="{8CFD1E14-A946-4490-8975-0AF059BD64C7}"/>
              </a:ext>
            </a:extLst>
          </p:cNvPr>
          <p:cNvSpPr/>
          <p:nvPr/>
        </p:nvSpPr>
        <p:spPr>
          <a:xfrm>
            <a:off x="6741080" y="1673509"/>
            <a:ext cx="4936570" cy="4935755"/>
          </a:xfrm>
          <a:prstGeom prst="rect">
            <a:avLst/>
          </a:prstGeom>
        </p:spPr>
        <p:txBody>
          <a:bodyPr vert="horz" lIns="91440" tIns="45720" rIns="91440" bIns="45720" rtlCol="0" anchor="t">
            <a:noAutofit/>
          </a:bodyPr>
          <a:lstStyle/>
          <a:p>
            <a:pPr marL="114302" defTabSz="914411">
              <a:spcAft>
                <a:spcPts val="1200"/>
              </a:spcAft>
            </a:pPr>
            <a:r>
              <a:rPr lang="en-US" sz="2400" b="1" dirty="0">
                <a:solidFill>
                  <a:schemeClr val="bg1"/>
                </a:solidFill>
              </a:rPr>
              <a:t>KBA</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Full Health Plan Administration</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Direct Contracting on Behalf of St Luke's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Wrap Networks For Gaps And Members In Other Areas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Acquire &amp; Retain Customers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Population Management</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Transparent PBM </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Stop-loss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Employer/Broker Support </a:t>
            </a:r>
          </a:p>
        </p:txBody>
      </p:sp>
      <p:pic>
        <p:nvPicPr>
          <p:cNvPr id="7" name="Picture 4" descr="St. Luke's University Health Network's 150th Anniversary">
            <a:extLst>
              <a:ext uri="{FF2B5EF4-FFF2-40B4-BE49-F238E27FC236}">
                <a16:creationId xmlns:a16="http://schemas.microsoft.com/office/drawing/2014/main" id="{BA4B8698-4178-FADE-6F46-9093FAA46CB5}"/>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05101" y="666248"/>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2818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1768307469"/>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rPr>
                        <a:t>St Luke's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Gain Sharing Determination</a:t>
                      </a:r>
                    </a:p>
                    <a:p>
                      <a:pPr marL="685800" marR="0" lvl="1" indent="-228600">
                        <a:spcBef>
                          <a:spcPts val="0"/>
                        </a:spcBef>
                        <a:spcAft>
                          <a:spcPts val="0"/>
                        </a:spcAft>
                        <a:buClrTx/>
                        <a:buFont typeface="Arial" panose="020B0604020202020204" pitchFamily="34" charset="0"/>
                        <a:buChar char="•"/>
                        <a:tabLst>
                          <a:tab pos="4465955" algn="l"/>
                        </a:tabLst>
                      </a:pPr>
                      <a:r>
                        <a:rPr lang="en-US" sz="1200" dirty="0">
                          <a:effectLst/>
                        </a:rPr>
                        <a:t>Physician Formulas – With KBA Assistance</a:t>
                      </a:r>
                    </a:p>
                    <a:p>
                      <a:pPr marL="685800" marR="0" lvl="1" indent="-228600">
                        <a:spcBef>
                          <a:spcPts val="0"/>
                        </a:spcBef>
                        <a:spcAft>
                          <a:spcPts val="0"/>
                        </a:spcAft>
                        <a:buClrTx/>
                        <a:buFont typeface="Arial" panose="020B0604020202020204" pitchFamily="34" charset="0"/>
                        <a:buChar char="•"/>
                        <a:tabLst>
                          <a:tab pos="4465955" algn="l"/>
                        </a:tabLst>
                      </a:pPr>
                      <a:r>
                        <a:rPr lang="en-US" sz="1200" dirty="0">
                          <a:effectLst/>
                        </a:rPr>
                        <a:t>Hospital Formulas – With KBA Assistance</a:t>
                      </a:r>
                    </a:p>
                    <a:p>
                      <a:pPr marL="0" marR="0">
                        <a:spcBef>
                          <a:spcPts val="0"/>
                        </a:spcBef>
                        <a:spcAft>
                          <a:spcPts val="0"/>
                        </a:spcAft>
                        <a:tabLst>
                          <a:tab pos="4465955" algn="l"/>
                        </a:tabLs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St Luke's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35</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36</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p:txBody>
          <a:bodyPr/>
          <a:lstStyle/>
          <a:p>
            <a:r>
              <a:rPr lang="en-US" dirty="0"/>
              <a:t>Estimation of SL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Calibri" panose="020F0502020204030204"/>
                <a:ea typeface="+mn-ea"/>
                <a:cs typeface="+mn-cs"/>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54731711"/>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t>All Little-Rock Area BH</a:t>
                      </a:r>
                    </a:p>
                  </a:txBody>
                  <a:tcPr>
                    <a:solidFill>
                      <a:schemeClr val="accent3">
                        <a:lumMod val="20000"/>
                        <a:lumOff val="80000"/>
                      </a:schemeClr>
                    </a:solidFill>
                  </a:tcPr>
                </a:tc>
                <a:tc>
                  <a:txBody>
                    <a:bodyPr/>
                    <a:lstStyle/>
                    <a:p>
                      <a:r>
                        <a:rPr lang="en-US" sz="1400" dirty="0">
                          <a:solidFill>
                            <a:schemeClr val="accent1">
                              <a:lumMod val="75000"/>
                            </a:schemeClr>
                          </a:solidFill>
                        </a:rPr>
                        <a:t>$281,887</a:t>
                      </a:r>
                    </a:p>
                  </a:txBody>
                  <a:tcPr>
                    <a:solidFill>
                      <a:schemeClr val="accent3">
                        <a:lumMod val="20000"/>
                        <a:lumOff val="80000"/>
                      </a:schemeClr>
                    </a:solidFill>
                  </a:tcPr>
                </a:tc>
                <a:tc>
                  <a:txBody>
                    <a:bodyPr/>
                    <a:lstStyle/>
                    <a:p>
                      <a:r>
                        <a:rPr lang="en-US" sz="1400" dirty="0">
                          <a:solidFill>
                            <a:schemeClr val="accent1">
                              <a:lumMod val="75000"/>
                            </a:schemeClr>
                          </a:solidFill>
                        </a:rPr>
                        <a:t>$6,719,041K</a:t>
                      </a:r>
                    </a:p>
                  </a:txBody>
                  <a:tcPr>
                    <a:solidFill>
                      <a:schemeClr val="accent3">
                        <a:lumMod val="20000"/>
                        <a:lumOff val="80000"/>
                      </a:schemeClr>
                    </a:solidFill>
                  </a:tcPr>
                </a:tc>
                <a:tc>
                  <a:txBody>
                    <a:bodyPr/>
                    <a:lstStyle/>
                    <a:p>
                      <a:r>
                        <a:rPr lang="en-US" sz="1400" dirty="0">
                          <a:solidFill>
                            <a:schemeClr val="accent2">
                              <a:lumMod val="75000"/>
                            </a:schemeClr>
                          </a:solidFill>
                        </a:rPr>
                        <a:t>100%</a:t>
                      </a:r>
                    </a:p>
                  </a:txBody>
                  <a:tcP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r>
                        <a:rPr lang="en-US" sz="1400" dirty="0">
                          <a:solidFill>
                            <a:schemeClr val="accent1">
                              <a:lumMod val="75000"/>
                            </a:schemeClr>
                          </a:solidFill>
                        </a:rPr>
                        <a:t>$89,723</a:t>
                      </a:r>
                    </a:p>
                  </a:txBody>
                  <a:tcPr>
                    <a:solidFill>
                      <a:schemeClr val="accent3">
                        <a:lumMod val="20000"/>
                        <a:lumOff val="80000"/>
                      </a:schemeClr>
                    </a:solidFill>
                  </a:tcPr>
                </a:tc>
                <a:tc>
                  <a:txBody>
                    <a:bodyPr/>
                    <a:lstStyle/>
                    <a:p>
                      <a:r>
                        <a:rPr lang="en-US" sz="1400" dirty="0">
                          <a:solidFill>
                            <a:schemeClr val="accent6">
                              <a:lumMod val="75000"/>
                            </a:schemeClr>
                          </a:solidFill>
                        </a:rPr>
                        <a:t>$2,290,492K</a:t>
                      </a:r>
                    </a:p>
                  </a:txBody>
                  <a:tcPr>
                    <a:solidFill>
                      <a:schemeClr val="accent3">
                        <a:lumMod val="20000"/>
                        <a:lumOff val="80000"/>
                      </a:schemeClr>
                    </a:solidFill>
                  </a:tcPr>
                </a:tc>
                <a:tc>
                  <a:txBody>
                    <a:bodyPr/>
                    <a:lstStyle/>
                    <a:p>
                      <a:r>
                        <a:rPr lang="en-US" sz="1400" dirty="0">
                          <a:solidFill>
                            <a:schemeClr val="accent2">
                              <a:lumMod val="75000"/>
                            </a:schemeClr>
                          </a:solidFill>
                        </a:rPr>
                        <a:t>32%</a:t>
                      </a:r>
                    </a:p>
                  </a:txBody>
                  <a:tcP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r>
                        <a:rPr lang="en-US" sz="1400" dirty="0">
                          <a:solidFill>
                            <a:schemeClr val="accent1">
                              <a:lumMod val="75000"/>
                            </a:schemeClr>
                          </a:solidFill>
                        </a:rPr>
                        <a:t>$18,822</a:t>
                      </a:r>
                    </a:p>
                  </a:txBody>
                  <a:tcPr>
                    <a:solidFill>
                      <a:schemeClr val="accent3">
                        <a:lumMod val="20000"/>
                        <a:lumOff val="80000"/>
                      </a:schemeClr>
                    </a:solidFill>
                  </a:tcPr>
                </a:tc>
                <a:tc rowSpan="2">
                  <a:txBody>
                    <a:bodyPr/>
                    <a:lstStyle/>
                    <a:p>
                      <a:r>
                        <a:rPr lang="en-US" sz="1400" dirty="0">
                          <a:solidFill>
                            <a:schemeClr val="accent2">
                              <a:lumMod val="75000"/>
                            </a:schemeClr>
                          </a:solidFill>
                        </a:rPr>
                        <a:t>$533,554</a:t>
                      </a:r>
                    </a:p>
                  </a:txBody>
                  <a:tcPr>
                    <a:solidFill>
                      <a:schemeClr val="accent3">
                        <a:lumMod val="20000"/>
                        <a:lumOff val="80000"/>
                      </a:schemeClr>
                    </a:solidFill>
                  </a:tcPr>
                </a:tc>
                <a:tc>
                  <a:txBody>
                    <a:bodyPr/>
                    <a:lstStyle/>
                    <a:p>
                      <a:r>
                        <a:rPr lang="en-US" sz="1400" dirty="0">
                          <a:solidFill>
                            <a:schemeClr val="accent2">
                              <a:lumMod val="75000"/>
                            </a:schemeClr>
                          </a:solidFill>
                        </a:rPr>
                        <a:t>7%</a:t>
                      </a:r>
                    </a:p>
                  </a:txBody>
                  <a:tcP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r>
                        <a:rPr lang="en-US" sz="1400" dirty="0">
                          <a:solidFill>
                            <a:schemeClr val="accent1">
                              <a:lumMod val="75000"/>
                            </a:schemeClr>
                          </a:solidFill>
                        </a:rPr>
                        <a:t>$0</a:t>
                      </a:r>
                    </a:p>
                  </a:txBody>
                  <a:tcP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a:txBody>
                    <a:bodyPr/>
                    <a:lstStyle/>
                    <a:p>
                      <a:r>
                        <a:rPr lang="en-US" sz="1400" dirty="0">
                          <a:solidFill>
                            <a:schemeClr val="accent2">
                              <a:lumMod val="75000"/>
                            </a:schemeClr>
                          </a:solidFill>
                        </a:rPr>
                        <a:t>0%</a:t>
                      </a:r>
                    </a:p>
                  </a:txBody>
                  <a:tcP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r>
                        <a:rPr lang="en-US" sz="1400" dirty="0">
                          <a:solidFill>
                            <a:schemeClr val="accent2">
                              <a:lumMod val="75000"/>
                            </a:schemeClr>
                          </a:solidFill>
                        </a:rPr>
                        <a:t>$13,939</a:t>
                      </a:r>
                    </a:p>
                  </a:txBody>
                  <a:tcPr>
                    <a:solidFill>
                      <a:schemeClr val="accent3">
                        <a:lumMod val="20000"/>
                        <a:lumOff val="80000"/>
                      </a:schemeClr>
                    </a:solidFill>
                  </a:tcPr>
                </a:tc>
                <a:tc>
                  <a:txBody>
                    <a:bodyPr/>
                    <a:lstStyle/>
                    <a:p>
                      <a:r>
                        <a:rPr lang="en-US" sz="1400" dirty="0">
                          <a:solidFill>
                            <a:schemeClr val="accent1">
                              <a:lumMod val="75000"/>
                            </a:schemeClr>
                          </a:solidFill>
                        </a:rPr>
                        <a:t>$87,341</a:t>
                      </a:r>
                    </a:p>
                  </a:txBody>
                  <a:tcPr>
                    <a:solidFill>
                      <a:schemeClr val="accent3">
                        <a:lumMod val="20000"/>
                        <a:lumOff val="80000"/>
                      </a:schemeClr>
                    </a:solidFill>
                  </a:tcPr>
                </a:tc>
                <a:tc>
                  <a:txBody>
                    <a:bodyPr/>
                    <a:lstStyle/>
                    <a:p>
                      <a:r>
                        <a:rPr lang="en-US" sz="1400" dirty="0">
                          <a:solidFill>
                            <a:schemeClr val="accent2">
                              <a:lumMod val="75000"/>
                            </a:schemeClr>
                          </a:solidFill>
                        </a:rPr>
                        <a:t>1%</a:t>
                      </a:r>
                    </a:p>
                  </a:txBody>
                  <a:tcP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r>
                        <a:rPr lang="en-US" sz="1400" dirty="0">
                          <a:solidFill>
                            <a:schemeClr val="accent2">
                              <a:lumMod val="75000"/>
                            </a:schemeClr>
                          </a:solidFill>
                        </a:rPr>
                        <a:t>$980,425</a:t>
                      </a:r>
                    </a:p>
                  </a:txBody>
                  <a:tcPr>
                    <a:solidFill>
                      <a:schemeClr val="accent3">
                        <a:lumMod val="20000"/>
                        <a:lumOff val="80000"/>
                      </a:schemeClr>
                    </a:solid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$3,894,994</a:t>
                      </a:r>
                    </a:p>
                  </a:txBody>
                  <a:tcPr>
                    <a:solidFill>
                      <a:schemeClr val="accent3">
                        <a:lumMod val="20000"/>
                        <a:lumOff val="80000"/>
                      </a:schemeClr>
                    </a:solidFill>
                  </a:tcPr>
                </a:tc>
                <a:tc>
                  <a:txBody>
                    <a:bodyPr/>
                    <a:lstStyle/>
                    <a:p>
                      <a:r>
                        <a:rPr lang="en-US" sz="1400" dirty="0">
                          <a:solidFill>
                            <a:schemeClr val="accent2">
                              <a:lumMod val="75000"/>
                            </a:schemeClr>
                          </a:solidFill>
                        </a:rPr>
                        <a:t>61%</a:t>
                      </a:r>
                    </a:p>
                  </a:txBody>
                  <a:tcP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Commercial/self pay is assumed to be the rest of the total payer mix share.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552478"/>
            <a:ext cx="5648960" cy="13849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Medicaid and Other Government Pay are estimated to be paying the same rate per inpatient day as Medicare (a conservative assumption).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Commercial/Self Pay is assumed to be all revenue not known to be paid by Medicare and not assumed to be paid by Medicaid or other government pay. </a:t>
            </a:r>
          </a:p>
        </p:txBody>
      </p:sp>
      <p:sp>
        <p:nvSpPr>
          <p:cNvPr id="8" name="TextBox 10">
            <a:extLst>
              <a:ext uri="{FF2B5EF4-FFF2-40B4-BE49-F238E27FC236}">
                <a16:creationId xmlns:a16="http://schemas.microsoft.com/office/drawing/2014/main" id="{E107289D-24BF-1E88-2683-BA2979EC32B6}"/>
              </a:ext>
            </a:extLst>
          </p:cNvPr>
          <p:cNvSpPr txBox="1"/>
          <p:nvPr/>
        </p:nvSpPr>
        <p:spPr>
          <a:xfrm>
            <a:off x="6431282" y="4971227"/>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Total inpatient days for ‘No Pay’ and ‘Commercial’ are estimated to be the payer mix estimates for “No Pay, Charity Care” and “Commercial/Self Pay” multiplied by the total number of inpatient days. </a:t>
            </a:r>
          </a:p>
        </p:txBody>
      </p:sp>
      <p:sp>
        <p:nvSpPr>
          <p:cNvPr id="9"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Calibri" panose="020F0502020204030204"/>
                <a:ea typeface="+mn-ea"/>
                <a:cs typeface="+mn-cs"/>
              </a:rPr>
              <a:t>Values in blue are taken from the 2021 Medicare Provider Cost Report (https://data.cms.gov/provider-compliance/cost-report/hospital-provider-cost-report/data)</a:t>
            </a:r>
          </a:p>
        </p:txBody>
      </p:sp>
      <p:sp>
        <p:nvSpPr>
          <p:cNvPr id="10"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Calibri" panose="020F0502020204030204"/>
                <a:ea typeface="+mn-ea"/>
                <a:cs typeface="+mn-cs"/>
              </a:rPr>
              <a:t>MedPAR</a:t>
            </a:r>
            <a:r>
              <a:rPr kumimoji="0" lang="en-US" sz="11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 </a:t>
            </a:r>
          </a:p>
        </p:txBody>
      </p:sp>
      <p:sp>
        <p:nvSpPr>
          <p:cNvPr id="11"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dirty="0"/>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t>The RAND estimate for St Luke's that commercial insurance is paying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Calibri" panose="020F0502020204030204"/>
                <a:ea typeface="+mn-ea"/>
                <a:cs typeface="+mn-cs"/>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200"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4034693993"/>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3,894,994</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dirty="0"/>
                        <a:t>CM13</a:t>
                      </a:r>
                      <a:r>
                        <a:rPr lang="en-US" dirty="0">
                          <a:solidFill>
                            <a:schemeClr val="tx1"/>
                          </a:solidFill>
                        </a:rPr>
                        <a:t>% current 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6,568,734</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10,463,728</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sz="1800" dirty="0"/>
                        <a:t>6,608,088</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$3,855,639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Divided by 203%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1,674,546</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2,824,047</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4,498,593</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6,608,088</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2">
                              <a:lumMod val="75000"/>
                            </a:schemeClr>
                          </a:solidFill>
                        </a:rPr>
                        <a:t>$2,109,495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2">
                              <a:lumMod val="75000"/>
                            </a:schemeClr>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11" name="Title 1"/>
          <p:cNvSpPr>
            <a:spLocks noGrp="1"/>
          </p:cNvSpPr>
          <p:nvPr>
            <p:ph type="title"/>
          </p:nvPr>
        </p:nvSpPr>
        <p:spPr>
          <a:xfrm>
            <a:off x="838202" y="365125"/>
            <a:ext cx="10515600" cy="1325563"/>
          </a:xfrm>
        </p:spPr>
        <p:txBody>
          <a:bodyPr/>
          <a:lstStyle/>
          <a:p>
            <a:r>
              <a:t>Estimation of Margin for Commercial vs. Government Pay</a:t>
            </a:r>
          </a:p>
        </p:txBody>
      </p:sp>
    </p:spTree>
    <p:extLst>
      <p:ext uri="{BB962C8B-B14F-4D97-AF65-F5344CB8AC3E}">
        <p14:creationId xmlns:p14="http://schemas.microsoft.com/office/powerpoint/2010/main" val="367918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2">
            <a:extLst>
              <a:ext uri="{FF2B5EF4-FFF2-40B4-BE49-F238E27FC236}">
                <a16:creationId xmlns:a16="http://schemas.microsoft.com/office/drawing/2014/main" id="{4E8EAD19-4774-4C90-71AE-EC2459799810}"/>
              </a:ext>
            </a:extLst>
          </p:cNvPr>
          <p:cNvGraphicFramePr>
            <a:graphicFrameLocks noGrp="1"/>
          </p:cNvGraphicFramePr>
          <p:nvPr>
            <p:extLst>
              <p:ext uri="{D42A27DB-BD31-4B8C-83A1-F6EECF244321}">
                <p14:modId xmlns:p14="http://schemas.microsoft.com/office/powerpoint/2010/main" val="262922562"/>
              </p:ext>
            </p:extLst>
          </p:nvPr>
        </p:nvGraphicFramePr>
        <p:xfrm>
          <a:off x="1079500" y="931916"/>
          <a:ext cx="10033000" cy="4488688"/>
        </p:xfrm>
        <a:graphic>
          <a:graphicData uri="http://schemas.openxmlformats.org/drawingml/2006/table">
            <a:tbl>
              <a:tblPr/>
              <a:tblGrid>
                <a:gridCol w="3203988">
                  <a:extLst>
                    <a:ext uri="{9D8B030D-6E8A-4147-A177-3AD203B41FA5}">
                      <a16:colId xmlns:a16="http://schemas.microsoft.com/office/drawing/2014/main" val="20000"/>
                    </a:ext>
                  </a:extLst>
                </a:gridCol>
                <a:gridCol w="955035">
                  <a:extLst>
                    <a:ext uri="{9D8B030D-6E8A-4147-A177-3AD203B41FA5}">
                      <a16:colId xmlns:a16="http://schemas.microsoft.com/office/drawing/2014/main" val="20001"/>
                    </a:ext>
                  </a:extLst>
                </a:gridCol>
                <a:gridCol w="1170688">
                  <a:extLst>
                    <a:ext uri="{9D8B030D-6E8A-4147-A177-3AD203B41FA5}">
                      <a16:colId xmlns:a16="http://schemas.microsoft.com/office/drawing/2014/main" val="20002"/>
                    </a:ext>
                  </a:extLst>
                </a:gridCol>
                <a:gridCol w="1622532">
                  <a:extLst>
                    <a:ext uri="{9D8B030D-6E8A-4147-A177-3AD203B41FA5}">
                      <a16:colId xmlns:a16="http://schemas.microsoft.com/office/drawing/2014/main" val="20003"/>
                    </a:ext>
                  </a:extLst>
                </a:gridCol>
                <a:gridCol w="1458225">
                  <a:extLst>
                    <a:ext uri="{9D8B030D-6E8A-4147-A177-3AD203B41FA5}">
                      <a16:colId xmlns:a16="http://schemas.microsoft.com/office/drawing/2014/main" val="20004"/>
                    </a:ext>
                  </a:extLst>
                </a:gridCol>
                <a:gridCol w="1622532">
                  <a:extLst>
                    <a:ext uri="{9D8B030D-6E8A-4147-A177-3AD203B41FA5}">
                      <a16:colId xmlns:a16="http://schemas.microsoft.com/office/drawing/2014/main" val="20005"/>
                    </a:ext>
                  </a:extLst>
                </a:gridCol>
              </a:tblGrid>
              <a:tr h="491958">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Warren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92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368,161.2K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628,908.6K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Quakertown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59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279,999.3K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443,390.2K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Bethlehem</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476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$3,198,742.0K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$2,640,398.0K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7234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Easton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164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352,608.5K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429,718.2K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7234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Miners Memorial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122,533.8K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316,335.6K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7234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Anderson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146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680,242.5K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$1,131,691.6K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Hunterdon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301,818.9K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448,678.7K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Lansdale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176,684.4K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164,286.6K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Reading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$1,593,063.7K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$1,526,971.0K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Grand View Health</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229,623.2K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316,907.9K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Pottstown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465,072.2K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441,982.0K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4754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endParaRP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$4,967,638.2K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$5,033,370.6K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Hazleton</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214,053.4K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443,957.1K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Pocono</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473,920.8K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739,891.7K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Doylestown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482,710.4K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638,299.8K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Mary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836,819.8K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695,324.9K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Physicians Care Surgical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83,225.4K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88,359.5K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Luke's Hospital - Monroe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542,096.7K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704,753.1K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bl>
          </a:graphicData>
        </a:graphic>
      </p:graphicFrame>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lstStyle/>
          <a:p>
            <a:r>
              <a:rPr lang="en-US" dirty="0"/>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39</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838200" y="5682875"/>
            <a:ext cx="10515600" cy="738664"/>
          </a:xfrm>
          <a:prstGeom prst="rect">
            <a:avLst/>
          </a:prstGeom>
          <a:noFill/>
        </p:spPr>
        <p:txBody>
          <a:bodyPr wrap="square" rtlCol="0">
            <a:spAutoFit/>
          </a:bodyPr>
          <a:lstStyle/>
          <a:p>
            <a:r>
              <a:rPr lang="en-US" sz="1400" dirty="0"/>
              <a:t>For outpatient market share, it is estimated that only 56% of local physicians are employed by area hospitals (Research from the Physician Advocacy Institute:  https://www.physiciansadvocacyinstitute.org/Portals/0/assets/docs/PAI-Research/PAI-Avalere%20Physician%20Employment%20Trends%20Study%202019-2023%20Final.pdf?ver=uGHF46u1GSeZgYXMKFyYvw%3d%3d)</a:t>
            </a:r>
          </a:p>
        </p:txBody>
      </p:sp>
    </p:spTree>
    <p:extLst>
      <p:ext uri="{BB962C8B-B14F-4D97-AF65-F5344CB8AC3E}">
        <p14:creationId xmlns:p14="http://schemas.microsoft.com/office/powerpoint/2010/main" val="30349230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466417626"/>
              </p:ext>
            </p:extLst>
          </p:nvPr>
        </p:nvGraphicFramePr>
        <p:xfrm>
          <a:off x="0" y="1"/>
          <a:ext cx="12192001" cy="6746240"/>
        </p:xfrm>
        <a:graphic>
          <a:graphicData uri="http://schemas.openxmlformats.org/drawingml/2006/table">
            <a:tbl>
              <a:tblPr/>
              <a:tblGrid>
                <a:gridCol w="2204758">
                  <a:extLst>
                    <a:ext uri="{9D8B030D-6E8A-4147-A177-3AD203B41FA5}">
                      <a16:colId xmlns:a16="http://schemas.microsoft.com/office/drawing/2014/main" val="20000"/>
                    </a:ext>
                  </a:extLst>
                </a:gridCol>
                <a:gridCol w="1506647">
                  <a:extLst>
                    <a:ext uri="{9D8B030D-6E8A-4147-A177-3AD203B41FA5}">
                      <a16:colId xmlns:a16="http://schemas.microsoft.com/office/drawing/2014/main" val="20001"/>
                    </a:ext>
                  </a:extLst>
                </a:gridCol>
                <a:gridCol w="1927011">
                  <a:extLst>
                    <a:ext uri="{9D8B030D-6E8A-4147-A177-3AD203B41FA5}">
                      <a16:colId xmlns:a16="http://schemas.microsoft.com/office/drawing/2014/main" val="20002"/>
                    </a:ext>
                  </a:extLst>
                </a:gridCol>
                <a:gridCol w="1634468">
                  <a:extLst>
                    <a:ext uri="{9D8B030D-6E8A-4147-A177-3AD203B41FA5}">
                      <a16:colId xmlns:a16="http://schemas.microsoft.com/office/drawing/2014/main" val="20003"/>
                    </a:ext>
                  </a:extLst>
                </a:gridCol>
                <a:gridCol w="1772811">
                  <a:extLst>
                    <a:ext uri="{9D8B030D-6E8A-4147-A177-3AD203B41FA5}">
                      <a16:colId xmlns:a16="http://schemas.microsoft.com/office/drawing/2014/main" val="20004"/>
                    </a:ext>
                  </a:extLst>
                </a:gridCol>
                <a:gridCol w="1346976">
                  <a:extLst>
                    <a:ext uri="{9D8B030D-6E8A-4147-A177-3AD203B41FA5}">
                      <a16:colId xmlns:a16="http://schemas.microsoft.com/office/drawing/2014/main" val="20005"/>
                    </a:ext>
                  </a:extLst>
                </a:gridCol>
                <a:gridCol w="1799330">
                  <a:extLst>
                    <a:ext uri="{9D8B030D-6E8A-4147-A177-3AD203B41FA5}">
                      <a16:colId xmlns:a16="http://schemas.microsoft.com/office/drawing/2014/main" val="20006"/>
                    </a:ext>
                  </a:extLst>
                </a:gridCol>
              </a:tblGrid>
              <a:tr h="186543">
                <a:tc gridSpan="7">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96634">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Bethlehem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Anderson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Upper Bucks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Miners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Warren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Easton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68195">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175,348</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50,266</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22,200</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10,032</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19,488</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4,553</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168195">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52,829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15,729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6,831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8,271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11,581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4,726</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1,513</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$4,405,903K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$1,147,293K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$445,030.1K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$148,635.9K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$476,397.8K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$95,781.93K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$4,200,213K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$1,399,166K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$622,566.5K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$391,107.5K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$893,500.7K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$266,747.9K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$1,429,700K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$388,982.3K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$180,820.5K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$54,446.66K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$201,411.5K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$35,132.22K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$337,708.1K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$125,411.7K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$43,999.84K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$4,049.943K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$18,222.38K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$4,162.523K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$2,638,495K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$632,899K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$220,209.8K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$90,139.27K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$256,763.9K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$56,487.18K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$44,285.54K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$17,607.8K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$7,224.374K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$6,073.798K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$6,732.363K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$5,417.753K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$4,331,130K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$1,120,753K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$444,925.3K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$146,792.1K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$467,292.5K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$97,195.85K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$4,128,932K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$1,366,800K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$622,419.8K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$386,255.9K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$876,423.4K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$270,685.6K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Total Costs</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$8,460,062K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$2,487,552K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$1,067,345K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$533,048K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$1,343,716K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$367,881.4K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$190,339.8K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$76,514.7K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$7,475.856K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$12,769.15K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$32,914.92K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$66.121K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42.4%</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0.7%</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0.7%</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Commerical</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62.8%</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58.6%</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61.7%</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53.7%</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53.7%</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57.3%</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Commercial Profit Margin</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39.1%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34.3%</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2.4%</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2.3%</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18288" marB="27432"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p:txBody>
          <a:bodyPr/>
          <a:lstStyle/>
          <a:p>
            <a:r>
              <a:rPr lang="en-US" dirty="0"/>
              <a:t>Estimating PMPY Spend With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3617864606"/>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Little Rock AR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$ 2,959 </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$ 5,380</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$ 2,512</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41</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t>KBA utilizes its data warehouse with greater than $3B in yearly adjudicated charges to estimate PMPY spend by inpatient, outpatient and professional charges. Pharmacy and non-health-system charges are excluded. </a:t>
            </a:r>
          </a:p>
          <a:p>
            <a:endParaRPr lang="en-US" sz="1400" dirty="0"/>
          </a:p>
          <a:p>
            <a:r>
              <a:rPr lang="en-US" sz="1400" dirty="0"/>
              <a:t>Using the Milliman area adjustment factors by zip code, charges are standardized to local estimates. </a:t>
            </a:r>
          </a:p>
          <a:p>
            <a:endParaRPr lang="en-US" sz="1400" dirty="0"/>
          </a:p>
          <a:p>
            <a:r>
              <a:rPr lang="en-US" sz="1400" dirty="0"/>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lstStyle/>
          <a:p>
            <a:r>
              <a:rPr lang="en-US" dirty="0"/>
              <a:t>Estimating Expected Steerage With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42</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nvGraphicFramePr>
        <p:xfrm>
          <a:off x="629020" y="1690688"/>
          <a:ext cx="9282575" cy="4378622"/>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p>
                  </a:txBody>
                  <a:tcPr marL="80580" marR="80580" marT="40290" marB="40290" anchor="ctr">
                    <a:lnL>
                      <a:noFill/>
                    </a:lnL>
                    <a:lnR>
                      <a:noFill/>
                    </a:lnR>
                    <a:lnT>
                      <a:noFill/>
                    </a:lnT>
                    <a:lnB>
                      <a:noFill/>
                    </a:lnB>
                  </a:tcPr>
                </a:tc>
                <a:tc gridSpan="4">
                  <a:txBody>
                    <a:bodyPr/>
                    <a:lstStyle/>
                    <a:p>
                      <a:r>
                        <a:rPr lang="en-US" sz="1600" b="1" u="sng"/>
                        <a:t>DTE Health Plan Utilization by Tier - DTE 2022-2023 YTD</a:t>
                      </a:r>
                      <a:endParaRPr lang="en-US" sz="1600"/>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t> </a:t>
                      </a:r>
                    </a:p>
                  </a:txBody>
                  <a:tcPr marL="80580" marR="80580" marT="40290" marB="40290" anchor="ctr">
                    <a:lnL>
                      <a:noFill/>
                    </a:lnL>
                    <a:lnR>
                      <a:noFill/>
                    </a:lnR>
                    <a:lnT>
                      <a:noFill/>
                    </a:lnT>
                    <a:lnB>
                      <a:noFill/>
                    </a:lnB>
                  </a:tcPr>
                </a:tc>
                <a:tc>
                  <a:txBody>
                    <a:bodyPr/>
                    <a:lstStyle/>
                    <a:p>
                      <a:pPr algn="ctr"/>
                      <a:r>
                        <a:rPr lang="en-US" sz="1600" b="1" u="sng" dirty="0"/>
                        <a:t>Charges</a:t>
                      </a:r>
                      <a:endParaRPr lang="en-US" sz="1600" dirty="0"/>
                    </a:p>
                  </a:txBody>
                  <a:tcPr marL="80580" marR="80580" marT="40290" marB="40290" anchor="ctr">
                    <a:lnL>
                      <a:noFill/>
                    </a:lnL>
                    <a:lnR>
                      <a:noFill/>
                    </a:lnR>
                    <a:lnT>
                      <a:noFill/>
                    </a:lnT>
                    <a:lnB>
                      <a:noFill/>
                    </a:lnB>
                  </a:tcPr>
                </a:tc>
                <a:tc>
                  <a:txBody>
                    <a:bodyPr/>
                    <a:lstStyle/>
                    <a:p>
                      <a:pPr algn="ctr"/>
                      <a:r>
                        <a:rPr lang="en-US" sz="1600" b="1" u="sng" dirty="0"/>
                        <a:t>%</a:t>
                      </a:r>
                      <a:endParaRPr lang="en-US" sz="1600" dirty="0"/>
                    </a:p>
                  </a:txBody>
                  <a:tcPr marL="80580" marR="80580" marT="40290" marB="40290" anchor="ctr">
                    <a:lnL>
                      <a:noFill/>
                    </a:lnL>
                    <a:lnR>
                      <a:noFill/>
                    </a:lnR>
                    <a:lnT>
                      <a:noFill/>
                    </a:lnT>
                    <a:lnB>
                      <a:noFill/>
                    </a:lnB>
                  </a:tcPr>
                </a:tc>
                <a:tc>
                  <a:txBody>
                    <a:bodyPr/>
                    <a:lstStyle/>
                    <a:p>
                      <a:pPr algn="ctr"/>
                      <a:r>
                        <a:rPr lang="en-US" sz="1600" b="1" u="sng" dirty="0"/>
                        <a:t>Paid</a:t>
                      </a:r>
                      <a:endParaRPr lang="en-US" sz="1600" dirty="0"/>
                    </a:p>
                  </a:txBody>
                  <a:tcPr marL="80580" marR="80580" marT="40290" marB="40290" anchor="ctr">
                    <a:lnL>
                      <a:noFill/>
                    </a:lnL>
                    <a:lnR>
                      <a:noFill/>
                    </a:lnR>
                    <a:lnT>
                      <a:noFill/>
                    </a:lnT>
                    <a:lnB>
                      <a:noFill/>
                    </a:lnB>
                  </a:tcPr>
                </a:tc>
                <a:tc>
                  <a:txBody>
                    <a:bodyPr/>
                    <a:lstStyle/>
                    <a:p>
                      <a:pPr algn="ctr"/>
                      <a:r>
                        <a:rPr lang="en-US" sz="1600" b="1" u="sng" dirty="0"/>
                        <a:t>%</a:t>
                      </a:r>
                      <a:endParaRPr lang="en-US" sz="1600" dirty="0"/>
                    </a:p>
                  </a:txBody>
                  <a:tcPr marL="80580" marR="80580" marT="40290" marB="40290" anchor="ctr">
                    <a:lnL>
                      <a:noFill/>
                    </a:lnL>
                    <a:lnR>
                      <a:noFill/>
                    </a:lnR>
                    <a:lnT>
                      <a:noFill/>
                    </a:lnT>
                    <a:lnB>
                      <a:noFill/>
                    </a:lnB>
                  </a:tcPr>
                </a:tc>
                <a:tc>
                  <a:txBody>
                    <a:bodyPr/>
                    <a:lstStyle/>
                    <a:p>
                      <a:pPr algn="ctr"/>
                      <a:r>
                        <a:rPr lang="en-US" sz="1600" b="1" dirty="0"/>
                        <a:t>Discount Equivalent</a:t>
                      </a:r>
                      <a:endParaRPr lang="en-US" sz="1600" dirty="0"/>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b="1"/>
                        <a:t>Charge to Paid</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t>Tier 1</a:t>
                      </a:r>
                      <a:endParaRPr lang="en-US" sz="1600"/>
                    </a:p>
                  </a:txBody>
                  <a:tcPr marL="80580" marR="80580" marT="40290" marB="40290" anchor="ctr">
                    <a:lnL>
                      <a:noFill/>
                    </a:lnL>
                    <a:lnR>
                      <a:noFill/>
                    </a:lnR>
                    <a:lnT>
                      <a:noFill/>
                    </a:lnT>
                    <a:lnB>
                      <a:noFill/>
                    </a:lnB>
                  </a:tcPr>
                </a:tc>
                <a:tc>
                  <a:txBody>
                    <a:bodyPr/>
                    <a:lstStyle/>
                    <a:p>
                      <a:pPr algn="ctr"/>
                      <a:r>
                        <a:rPr lang="en-US" sz="1600" dirty="0"/>
                        <a:t> </a:t>
                      </a:r>
                    </a:p>
                  </a:txBody>
                  <a:tcPr marL="80580" marR="80580" marT="40290" marB="40290" anchor="ctr">
                    <a:lnL>
                      <a:noFill/>
                    </a:lnL>
                    <a:lnR>
                      <a:noFill/>
                    </a:lnR>
                    <a:lnT>
                      <a:noFill/>
                    </a:lnT>
                    <a:lnB>
                      <a:noFill/>
                    </a:lnB>
                  </a:tcPr>
                </a:tc>
                <a:tc>
                  <a:txBody>
                    <a:bodyPr/>
                    <a:lstStyle/>
                    <a:p>
                      <a:pPr algn="ctr"/>
                      <a:r>
                        <a:rPr lang="en-US" sz="1600" b="1"/>
                        <a:t>81.26%</a:t>
                      </a:r>
                      <a:endParaRPr lang="en-US" sz="1600"/>
                    </a:p>
                  </a:txBody>
                  <a:tcPr marL="80580" marR="80580" marT="40290" marB="40290" anchor="ctr">
                    <a:lnL>
                      <a:noFill/>
                    </a:lnL>
                    <a:lnR>
                      <a:noFill/>
                    </a:lnR>
                    <a:lnT>
                      <a:noFill/>
                    </a:lnT>
                    <a:lnB>
                      <a:noFill/>
                    </a:lnB>
                  </a:tcPr>
                </a:tc>
                <a:tc>
                  <a:txBody>
                    <a:bodyPr/>
                    <a:lstStyle/>
                    <a:p>
                      <a:pPr algn="ctr"/>
                      <a:r>
                        <a:rPr lang="en-US" sz="1600"/>
                        <a:t> </a:t>
                      </a:r>
                    </a:p>
                  </a:txBody>
                  <a:tcPr marL="80580" marR="80580" marT="40290" marB="40290" anchor="ctr">
                    <a:lnL>
                      <a:noFill/>
                    </a:lnL>
                    <a:lnR>
                      <a:noFill/>
                    </a:lnR>
                    <a:lnT>
                      <a:noFill/>
                    </a:lnT>
                    <a:lnB>
                      <a:noFill/>
                    </a:lnB>
                  </a:tcPr>
                </a:tc>
                <a:tc>
                  <a:txBody>
                    <a:bodyPr/>
                    <a:lstStyle/>
                    <a:p>
                      <a:pPr algn="ctr"/>
                      <a:r>
                        <a:rPr lang="en-US" sz="1600" b="1"/>
                        <a:t>77.42%</a:t>
                      </a:r>
                      <a:endParaRPr lang="en-US" sz="1600"/>
                    </a:p>
                  </a:txBody>
                  <a:tcPr marL="80580" marR="80580" marT="40290" marB="40290" anchor="ctr">
                    <a:lnL>
                      <a:noFill/>
                    </a:lnL>
                    <a:lnR>
                      <a:noFill/>
                    </a:lnR>
                    <a:lnT>
                      <a:noFill/>
                    </a:lnT>
                    <a:lnB>
                      <a:noFill/>
                    </a:lnB>
                  </a:tcPr>
                </a:tc>
                <a:tc>
                  <a:txBody>
                    <a:bodyPr/>
                    <a:lstStyle/>
                    <a:p>
                      <a:pPr algn="ctr"/>
                      <a:r>
                        <a:rPr lang="en-US" sz="1600"/>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t>Current DTE Network #1</a:t>
                      </a:r>
                    </a:p>
                  </a:txBody>
                  <a:tcPr marL="80580" marR="80580" marT="40290" marB="40290" anchor="ctr">
                    <a:lnL>
                      <a:noFill/>
                    </a:lnL>
                    <a:lnR>
                      <a:noFill/>
                    </a:lnR>
                    <a:lnT>
                      <a:noFill/>
                    </a:lnT>
                    <a:lnB>
                      <a:noFill/>
                    </a:lnB>
                  </a:tcPr>
                </a:tc>
                <a:tc>
                  <a:txBody>
                    <a:bodyPr/>
                    <a:lstStyle/>
                    <a:p>
                      <a:pPr algn="ctr"/>
                      <a:r>
                        <a:rPr lang="en-US" sz="1600" dirty="0"/>
                        <a:t>$     17,913,805.69</a:t>
                      </a:r>
                    </a:p>
                  </a:txBody>
                  <a:tcPr marL="80580" marR="80580" marT="40290" marB="40290" anchor="ctr">
                    <a:lnL>
                      <a:noFill/>
                    </a:lnL>
                    <a:lnR>
                      <a:noFill/>
                    </a:lnR>
                    <a:lnT>
                      <a:noFill/>
                    </a:lnT>
                    <a:lnB>
                      <a:noFill/>
                    </a:lnB>
                  </a:tcPr>
                </a:tc>
                <a:tc>
                  <a:txBody>
                    <a:bodyPr/>
                    <a:lstStyle/>
                    <a:p>
                      <a:pPr algn="ctr"/>
                      <a:r>
                        <a:rPr lang="en-US" sz="1600"/>
                        <a:t>54.82%</a:t>
                      </a:r>
                    </a:p>
                  </a:txBody>
                  <a:tcPr marL="80580" marR="80580" marT="40290" marB="40290" anchor="ctr">
                    <a:lnL>
                      <a:noFill/>
                    </a:lnL>
                    <a:lnR>
                      <a:noFill/>
                    </a:lnR>
                    <a:lnT>
                      <a:noFill/>
                    </a:lnT>
                    <a:lnB>
                      <a:noFill/>
                    </a:lnB>
                  </a:tcPr>
                </a:tc>
                <a:tc>
                  <a:txBody>
                    <a:bodyPr/>
                    <a:lstStyle/>
                    <a:p>
                      <a:pPr algn="ctr"/>
                      <a:r>
                        <a:rPr lang="en-US" sz="1600"/>
                        <a:t>$        6,907,327.88</a:t>
                      </a:r>
                    </a:p>
                  </a:txBody>
                  <a:tcPr marL="80580" marR="80580" marT="40290" marB="40290" anchor="ctr">
                    <a:lnL>
                      <a:noFill/>
                    </a:lnL>
                    <a:lnR>
                      <a:noFill/>
                    </a:lnR>
                    <a:lnT>
                      <a:noFill/>
                    </a:lnT>
                    <a:lnB>
                      <a:noFill/>
                    </a:lnB>
                  </a:tcPr>
                </a:tc>
                <a:tc>
                  <a:txBody>
                    <a:bodyPr/>
                    <a:lstStyle/>
                    <a:p>
                      <a:pPr algn="ctr"/>
                      <a:r>
                        <a:rPr lang="en-US" sz="1600"/>
                        <a:t>58.63%</a:t>
                      </a:r>
                    </a:p>
                  </a:txBody>
                  <a:tcPr marL="80580" marR="80580" marT="40290" marB="40290" anchor="ctr">
                    <a:lnL>
                      <a:noFill/>
                    </a:lnL>
                    <a:lnR>
                      <a:noFill/>
                    </a:lnR>
                    <a:lnT>
                      <a:noFill/>
                    </a:lnT>
                    <a:lnB>
                      <a:noFill/>
                    </a:lnB>
                  </a:tcPr>
                </a:tc>
                <a:tc>
                  <a:txBody>
                    <a:bodyPr/>
                    <a:lstStyle/>
                    <a:p>
                      <a:pPr algn="ctr"/>
                      <a:r>
                        <a:rPr lang="en-US" sz="1600" b="1"/>
                        <a:t>-61.44%</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t>Current DTE Network #2</a:t>
                      </a:r>
                    </a:p>
                  </a:txBody>
                  <a:tcPr marL="80580" marR="80580" marT="40290" marB="40290" anchor="ctr">
                    <a:lnL>
                      <a:noFill/>
                    </a:lnL>
                    <a:lnR>
                      <a:noFill/>
                    </a:lnR>
                    <a:lnT>
                      <a:noFill/>
                    </a:lnT>
                    <a:lnB>
                      <a:noFill/>
                    </a:lnB>
                  </a:tcPr>
                </a:tc>
                <a:tc>
                  <a:txBody>
                    <a:bodyPr/>
                    <a:lstStyle/>
                    <a:p>
                      <a:pPr algn="ctr"/>
                      <a:r>
                        <a:rPr lang="en-US" sz="1600" dirty="0"/>
                        <a:t>$         8,460,570.40</a:t>
                      </a:r>
                    </a:p>
                  </a:txBody>
                  <a:tcPr marL="80580" marR="80580" marT="40290" marB="40290" anchor="ctr">
                    <a:lnL>
                      <a:noFill/>
                    </a:lnL>
                    <a:lnR>
                      <a:noFill/>
                    </a:lnR>
                    <a:lnT>
                      <a:noFill/>
                    </a:lnT>
                    <a:lnB>
                      <a:noFill/>
                    </a:lnB>
                  </a:tcPr>
                </a:tc>
                <a:tc>
                  <a:txBody>
                    <a:bodyPr/>
                    <a:lstStyle/>
                    <a:p>
                      <a:pPr algn="ctr"/>
                      <a:r>
                        <a:rPr lang="en-US" sz="1600"/>
                        <a:t>78.37%</a:t>
                      </a:r>
                    </a:p>
                  </a:txBody>
                  <a:tcPr marL="80580" marR="80580" marT="40290" marB="40290" anchor="ctr">
                    <a:lnL>
                      <a:noFill/>
                    </a:lnL>
                    <a:lnR>
                      <a:noFill/>
                    </a:lnR>
                    <a:lnT>
                      <a:noFill/>
                    </a:lnT>
                    <a:lnB>
                      <a:noFill/>
                    </a:lnB>
                  </a:tcPr>
                </a:tc>
                <a:tc>
                  <a:txBody>
                    <a:bodyPr/>
                    <a:lstStyle/>
                    <a:p>
                      <a:pPr algn="ctr"/>
                      <a:r>
                        <a:rPr lang="en-US" sz="1600"/>
                        <a:t>$         3,280,571.45</a:t>
                      </a:r>
                    </a:p>
                  </a:txBody>
                  <a:tcPr marL="80580" marR="80580" marT="40290" marB="40290" anchor="ctr">
                    <a:lnL>
                      <a:noFill/>
                    </a:lnL>
                    <a:lnR>
                      <a:noFill/>
                    </a:lnR>
                    <a:lnT>
                      <a:noFill/>
                    </a:lnT>
                    <a:lnB>
                      <a:noFill/>
                    </a:lnB>
                  </a:tcPr>
                </a:tc>
                <a:tc>
                  <a:txBody>
                    <a:bodyPr/>
                    <a:lstStyle/>
                    <a:p>
                      <a:pPr algn="ctr"/>
                      <a:r>
                        <a:rPr lang="en-US" sz="1600"/>
                        <a:t>77.62%</a:t>
                      </a:r>
                    </a:p>
                  </a:txBody>
                  <a:tcPr marL="80580" marR="80580" marT="40290" marB="40290" anchor="ctr">
                    <a:lnL>
                      <a:noFill/>
                    </a:lnL>
                    <a:lnR>
                      <a:noFill/>
                    </a:lnR>
                    <a:lnT>
                      <a:noFill/>
                    </a:lnT>
                    <a:lnB>
                      <a:noFill/>
                    </a:lnB>
                  </a:tcPr>
                </a:tc>
                <a:tc>
                  <a:txBody>
                    <a:bodyPr/>
                    <a:lstStyle/>
                    <a:p>
                      <a:pPr algn="ctr"/>
                      <a:r>
                        <a:rPr lang="en-US" sz="1600" b="1"/>
                        <a:t>-61.23%</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t>Current DTE Network #3</a:t>
                      </a:r>
                    </a:p>
                  </a:txBody>
                  <a:tcPr marL="80580" marR="80580" marT="40290" marB="40290" anchor="ctr">
                    <a:lnL>
                      <a:noFill/>
                    </a:lnL>
                    <a:lnR>
                      <a:noFill/>
                    </a:lnR>
                    <a:lnT>
                      <a:noFill/>
                    </a:lnT>
                    <a:lnB>
                      <a:noFill/>
                    </a:lnB>
                  </a:tcPr>
                </a:tc>
                <a:tc>
                  <a:txBody>
                    <a:bodyPr/>
                    <a:lstStyle/>
                    <a:p>
                      <a:pPr algn="ctr"/>
                      <a:r>
                        <a:rPr lang="en-US" sz="1600" dirty="0"/>
                        <a:t>$            629,748.27</a:t>
                      </a:r>
                    </a:p>
                  </a:txBody>
                  <a:tcPr marL="80580" marR="80580" marT="40290" marB="40290" anchor="ctr">
                    <a:lnL>
                      <a:noFill/>
                    </a:lnL>
                    <a:lnR>
                      <a:noFill/>
                    </a:lnR>
                    <a:lnT>
                      <a:noFill/>
                    </a:lnT>
                    <a:lnB>
                      <a:noFill/>
                    </a:lnB>
                  </a:tcPr>
                </a:tc>
                <a:tc>
                  <a:txBody>
                    <a:bodyPr/>
                    <a:lstStyle/>
                    <a:p>
                      <a:pPr algn="ctr"/>
                      <a:r>
                        <a:rPr lang="en-US" sz="1600"/>
                        <a:t>72.98%</a:t>
                      </a:r>
                    </a:p>
                  </a:txBody>
                  <a:tcPr marL="80580" marR="80580" marT="40290" marB="40290" anchor="ctr">
                    <a:lnL>
                      <a:noFill/>
                    </a:lnL>
                    <a:lnR>
                      <a:noFill/>
                    </a:lnR>
                    <a:lnT>
                      <a:noFill/>
                    </a:lnT>
                    <a:lnB>
                      <a:noFill/>
                    </a:lnB>
                  </a:tcPr>
                </a:tc>
                <a:tc>
                  <a:txBody>
                    <a:bodyPr/>
                    <a:lstStyle/>
                    <a:p>
                      <a:pPr algn="ctr"/>
                      <a:r>
                        <a:rPr lang="en-US" sz="1600"/>
                        <a:t>$            198,216.95</a:t>
                      </a:r>
                    </a:p>
                  </a:txBody>
                  <a:tcPr marL="80580" marR="80580" marT="40290" marB="40290" anchor="ctr">
                    <a:lnL>
                      <a:noFill/>
                    </a:lnL>
                    <a:lnR>
                      <a:noFill/>
                    </a:lnR>
                    <a:lnT>
                      <a:noFill/>
                    </a:lnT>
                    <a:lnB>
                      <a:noFill/>
                    </a:lnB>
                  </a:tcPr>
                </a:tc>
                <a:tc>
                  <a:txBody>
                    <a:bodyPr/>
                    <a:lstStyle/>
                    <a:p>
                      <a:pPr algn="ctr"/>
                      <a:r>
                        <a:rPr lang="en-US" sz="1600"/>
                        <a:t>80.64%</a:t>
                      </a:r>
                    </a:p>
                  </a:txBody>
                  <a:tcPr marL="80580" marR="80580" marT="40290" marB="40290" anchor="ctr">
                    <a:lnL>
                      <a:noFill/>
                    </a:lnL>
                    <a:lnR>
                      <a:noFill/>
                    </a:lnR>
                    <a:lnT>
                      <a:noFill/>
                    </a:lnT>
                    <a:lnB>
                      <a:noFill/>
                    </a:lnB>
                  </a:tcPr>
                </a:tc>
                <a:tc>
                  <a:txBody>
                    <a:bodyPr/>
                    <a:lstStyle/>
                    <a:p>
                      <a:pPr algn="ctr"/>
                      <a:r>
                        <a:rPr lang="en-US" sz="1600" b="1"/>
                        <a:t>-68.52%</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t>Current DTE Network #4</a:t>
                      </a:r>
                    </a:p>
                  </a:txBody>
                  <a:tcPr marL="80580" marR="80580" marT="40290" marB="40290" anchor="ctr">
                    <a:lnL>
                      <a:noFill/>
                    </a:lnL>
                    <a:lnR>
                      <a:noFill/>
                    </a:lnR>
                    <a:lnT>
                      <a:noFill/>
                    </a:lnT>
                    <a:lnB>
                      <a:noFill/>
                    </a:lnB>
                  </a:tcPr>
                </a:tc>
                <a:tc>
                  <a:txBody>
                    <a:bodyPr/>
                    <a:lstStyle/>
                    <a:p>
                      <a:pPr algn="ctr"/>
                      <a:r>
                        <a:rPr lang="en-US" sz="1600" u="sng" dirty="0"/>
                        <a:t>$      58,261,069.02</a:t>
                      </a:r>
                      <a:endParaRPr lang="en-US" sz="1600" dirty="0"/>
                    </a:p>
                  </a:txBody>
                  <a:tcPr marL="80580" marR="80580" marT="40290" marB="40290" anchor="ctr">
                    <a:lnL>
                      <a:noFill/>
                    </a:lnL>
                    <a:lnR>
                      <a:noFill/>
                    </a:lnR>
                    <a:lnT>
                      <a:noFill/>
                    </a:lnT>
                    <a:lnB>
                      <a:noFill/>
                    </a:lnB>
                  </a:tcPr>
                </a:tc>
                <a:tc>
                  <a:txBody>
                    <a:bodyPr/>
                    <a:lstStyle/>
                    <a:p>
                      <a:pPr algn="ctr"/>
                      <a:r>
                        <a:rPr lang="en-US" sz="1600" dirty="0"/>
                        <a:t>96.15%</a:t>
                      </a:r>
                    </a:p>
                  </a:txBody>
                  <a:tcPr marL="80580" marR="80580" marT="40290" marB="40290" anchor="ctr">
                    <a:lnL>
                      <a:noFill/>
                    </a:lnL>
                    <a:lnR>
                      <a:noFill/>
                    </a:lnR>
                    <a:lnT>
                      <a:noFill/>
                    </a:lnT>
                    <a:lnB>
                      <a:noFill/>
                    </a:lnB>
                  </a:tcPr>
                </a:tc>
                <a:tc>
                  <a:txBody>
                    <a:bodyPr/>
                    <a:lstStyle/>
                    <a:p>
                      <a:pPr algn="ctr"/>
                      <a:r>
                        <a:rPr lang="en-US" sz="1600" u="sng"/>
                        <a:t>$      12,968,046.77</a:t>
                      </a:r>
                      <a:endParaRPr lang="en-US" sz="1600"/>
                    </a:p>
                  </a:txBody>
                  <a:tcPr marL="80580" marR="80580" marT="40290" marB="40290" anchor="ctr">
                    <a:lnL>
                      <a:noFill/>
                    </a:lnL>
                    <a:lnR>
                      <a:noFill/>
                    </a:lnR>
                    <a:lnT>
                      <a:noFill/>
                    </a:lnT>
                    <a:lnB>
                      <a:noFill/>
                    </a:lnB>
                  </a:tcPr>
                </a:tc>
                <a:tc>
                  <a:txBody>
                    <a:bodyPr/>
                    <a:lstStyle/>
                    <a:p>
                      <a:pPr algn="ctr"/>
                      <a:r>
                        <a:rPr lang="en-US" sz="1600" dirty="0"/>
                        <a:t>93.20%</a:t>
                      </a:r>
                    </a:p>
                  </a:txBody>
                  <a:tcPr marL="80580" marR="80580" marT="40290" marB="40290" anchor="ctr">
                    <a:lnL>
                      <a:noFill/>
                    </a:lnL>
                    <a:lnR>
                      <a:noFill/>
                    </a:lnR>
                    <a:lnT>
                      <a:noFill/>
                    </a:lnT>
                    <a:lnB>
                      <a:noFill/>
                    </a:lnB>
                  </a:tcPr>
                </a:tc>
                <a:tc>
                  <a:txBody>
                    <a:bodyPr/>
                    <a:lstStyle/>
                    <a:p>
                      <a:pPr algn="ctr"/>
                      <a:r>
                        <a:rPr lang="en-US" sz="1600" b="1" dirty="0"/>
                        <a:t>-77.74%</a:t>
                      </a:r>
                      <a:endParaRPr lang="en-US" sz="1600" dirty="0"/>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t> </a:t>
                      </a:r>
                    </a:p>
                  </a:txBody>
                  <a:tcPr marL="80580" marR="80580" marT="40290" marB="40290" anchor="ctr">
                    <a:lnL>
                      <a:noFill/>
                    </a:lnL>
                    <a:lnR>
                      <a:noFill/>
                    </a:lnR>
                    <a:lnT>
                      <a:noFill/>
                    </a:lnT>
                    <a:lnB>
                      <a:noFill/>
                    </a:lnB>
                  </a:tcPr>
                </a:tc>
                <a:tc>
                  <a:txBody>
                    <a:bodyPr/>
                    <a:lstStyle/>
                    <a:p>
                      <a:r>
                        <a:rPr lang="en-US" sz="1600" b="1"/>
                        <a:t>$     85,265,193.38 </a:t>
                      </a:r>
                      <a:endParaRPr lang="en-US" sz="1600"/>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b="1" dirty="0"/>
                        <a:t>$     23,354,163.05</a:t>
                      </a:r>
                      <a:endParaRPr lang="en-US" sz="1600" dirty="0"/>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dirty="0"/>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291814" y="2851933"/>
            <a:ext cx="814428" cy="390525"/>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2105"/>
              <a:gd name="adj4" fmla="val -98255"/>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t>43</a:t>
            </a:fld>
            <a:endParaRPr lang="en-US" dirty="0"/>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505137226"/>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Patients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$ 5,922,086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$ 10,766,836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$ 2,872,465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$ 19,561,387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$ 1,089,859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$ 1,981,452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$ 528,628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$ 3,599,939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2013927832"/>
              </p:ext>
            </p:extLst>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$ 3,323,480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$ 3,383,480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t>Minus Implementation Fee (One 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$ 3,053,480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004059594"/>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$ 14,086,569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$ 25,610,536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$ 11,957,519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$ 51,654,624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$ 1,888,064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$ 3,432,655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$ 1,602,701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$ 6,923,419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2" name="TextBox 1">
            <a:extLst>
              <a:ext uri="{FF2B5EF4-FFF2-40B4-BE49-F238E27FC236}">
                <a16:creationId xmlns:a16="http://schemas.microsoft.com/office/drawing/2014/main" id="{60820A86-1B9D-21A4-BBB6-DDFB73605882}"/>
              </a:ext>
            </a:extLst>
          </p:cNvPr>
          <p:cNvSpPr txBox="1"/>
          <p:nvPr/>
        </p:nvSpPr>
        <p:spPr>
          <a:xfrm>
            <a:off x="7772647" y="875949"/>
            <a:ext cx="4318001" cy="523220"/>
          </a:xfrm>
          <a:prstGeom prst="rect">
            <a:avLst/>
          </a:prstGeom>
          <a:noFill/>
        </p:spPr>
        <p:txBody>
          <a:bodyPr wrap="square">
            <a:spAutoFit/>
          </a:bodyPr>
          <a:lstStyle/>
          <a:p>
            <a:r>
              <a:rPr lang="en-US" sz="1400" dirty="0"/>
              <a:t>† Assuming proportional revenues from market shares of 32% (inpatient) and 18% (outpatient)</a:t>
            </a:r>
          </a:p>
        </p:txBody>
      </p:sp>
      <p:sp>
        <p:nvSpPr>
          <p:cNvPr id="3"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t>‡ Conservatively assuming a commercial margin of 29% (half of the estimated commercial margin)</a:t>
            </a:r>
          </a:p>
        </p:txBody>
      </p:sp>
      <p:sp>
        <p:nvSpPr>
          <p:cNvPr id="7"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t>⁰ Assuming 77.42% market share based on KBA narrow network DTE experience</a:t>
            </a:r>
          </a:p>
        </p:txBody>
      </p:sp>
      <p:sp>
        <p:nvSpPr>
          <p:cNvPr id="8" name="TextBox 7">
            <a:extLst>
              <a:ext uri="{FF2B5EF4-FFF2-40B4-BE49-F238E27FC236}">
                <a16:creationId xmlns:a16="http://schemas.microsoft.com/office/drawing/2014/main" id="{A897897D-C568-B204-6568-514AD4B71A5C}"/>
              </a:ext>
            </a:extLst>
          </p:cNvPr>
          <p:cNvSpPr txBox="1"/>
          <p:nvPr/>
        </p:nvSpPr>
        <p:spPr>
          <a:xfrm>
            <a:off x="7772646" y="2690336"/>
            <a:ext cx="4318001" cy="954107"/>
          </a:xfrm>
          <a:prstGeom prst="rect">
            <a:avLst/>
          </a:prstGeom>
          <a:noFill/>
        </p:spPr>
        <p:txBody>
          <a:bodyPr wrap="square">
            <a:spAutoFit/>
          </a:bodyPr>
          <a:lstStyle/>
          <a:p>
            <a:r>
              <a:rPr lang="en-US" sz="1400" dirty="0"/>
              <a:t>* Conservatively assuming a commercial margin of 24%, with a 10 percentage-point reduction to reflect competitive-edge rates and a 5 percentage-point increase to reflect lower billing costs.  </a:t>
            </a:r>
          </a:p>
        </p:txBody>
      </p:sp>
    </p:spTree>
    <p:extLst>
      <p:ext uri="{BB962C8B-B14F-4D97-AF65-F5344CB8AC3E}">
        <p14:creationId xmlns:p14="http://schemas.microsoft.com/office/powerpoint/2010/main" val="14198165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438741460"/>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Overall </a:t>
                      </a:r>
                      <a:r>
                        <a:rPr sz="2000" b="1" i="0" u="none" cap="none" dirty="0">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$1,956.1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$3,912.3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$19,561.4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$39,122.8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$78,245.5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$360.0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$720.0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$3,599.9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$7,199.9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$14,399.8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$5,165.5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$10,330.9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$51,654.6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$103,309.2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$206,618.5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$3,209.3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$6,418.6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$32,093.2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$64,186.5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$128,372.9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$692.3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$1,384.7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$6,923.4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$13,846.8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$27,693.7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$664.7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$3,323.5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$6,647.0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$13,293.9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$8.3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$346.7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$3,053.5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$6,437.0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$13,203.9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28763197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833441917"/>
              </p:ext>
            </p:extLst>
          </p:nvPr>
        </p:nvGraphicFramePr>
        <p:xfrm>
          <a:off x="0" y="0"/>
          <a:ext cx="12192002" cy="655320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Service Area </a:t>
                      </a:r>
                      <a:r>
                        <a:rPr sz="2000" b="1" i="0" u="none" cap="none" dirty="0">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$1,184.4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$11,844.2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$23,688.3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$109.0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$218.0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$1,089.9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$2,179.7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$4,359.4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$1,408.7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$2,817.3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$14,086.6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$28,173.1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$56,346.3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$188.8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$377.6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$1,888.1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$3,776.1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$7,552.3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$816.4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$1,632.9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$8,164.5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$16,329.0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$32,657.9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Inpatient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$79.8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$159.6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$798.2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$1,596.4</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$3,192.8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Outpatient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$1,076.7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$2,153.4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$10,766.8</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$21,533.7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$43,067.3</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$198.1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$396.3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$1,981.5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$3,962.9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$7,925.8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$2,561.1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$5,122.1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$25,610.5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$51,221.1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$102,442.1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$343.3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$686.5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$3,432.7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$6,865.3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$13,730.6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$1,484.4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$2,968.7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$14,843.7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$29,687.4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$59,374.8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Outpatient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$145.1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$290.2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$1,451.2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$2,902.4</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$5,804.8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Professional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$287.2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$574.5</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$2,872.5</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$5,744.9</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$11,489.9</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$105.7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$528.6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$1,057.3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$2,114.5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$1,195.8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$2,391.5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$11,957.5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$23,915.0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$47,830.1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$160.3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$320.5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$1,602.7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$3,205.4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$6,410.8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$908.5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$1,817.0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$9,085.1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$18,170.1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$36,340.2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Professional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$107.4</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$214.8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$1,074.1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$2,148.1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$4,296.3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71732612"/>
              </p:ext>
            </p:extLst>
          </p:nvPr>
        </p:nvGraphicFramePr>
        <p:xfrm>
          <a:off x="0" y="0"/>
          <a:ext cx="12192002" cy="647192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400" b="1" i="0" u="none" cap="none" dirty="0">
                          <a:solidFill>
                            <a:srgbClr val="FFFFFF">
                              <a:alpha val="100000"/>
                            </a:srgbClr>
                          </a:solidFill>
                          <a:latin typeface="Arial"/>
                          <a:cs typeface="Arial"/>
                          <a:sym typeface="Arial"/>
                        </a:rPr>
                        <a:t>Overall </a:t>
                      </a:r>
                      <a:r>
                        <a:rPr sz="2400" b="1" i="0" u="none" cap="none" dirty="0">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$1,956.1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$3,912.3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$19,561.4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$39,122.8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$78,245.5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$720.0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$1,440.0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$7,199.9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$14,399.8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$28,799.5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$5,165.5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$10,330.9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$51,654.6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$103,309.2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$206,618.5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$3,209.3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$6,418.6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$32,093.2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$64,186.5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$128,372.9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$1,643.0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$3,285.9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$16,429.6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$32,859.1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$65,718.3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$923.0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$1,845.9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$9,229.7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$18,459.4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$36,918.8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$599.0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$1,527.9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$8,959.7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$18,249.4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$36,828.8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488557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328735650"/>
              </p:ext>
            </p:extLst>
          </p:nvPr>
        </p:nvGraphicFramePr>
        <p:xfrm>
          <a:off x="0" y="0"/>
          <a:ext cx="12192002" cy="655320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Service Area </a:t>
                      </a:r>
                      <a:r>
                        <a:rPr sz="2000" b="1" i="0" u="none" cap="none" dirty="0">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$1,184.4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$11,844.2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$23,688.3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$218.0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$435.9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$2,179.7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$4,359.4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$8,718.9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$1,408.7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$2,817.3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$14,086.6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$28,173.1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$56,346.3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$448.0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$896.1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$4,480.5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$8,960.9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$17,921.8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$816.4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$1,632.9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$8,164.5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$16,329.0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$32,657.9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Inpatient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$230.1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$460.1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$2,300.7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$4,601.5</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$9,203.0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Outpatient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$1,076.7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$2,153.4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$10,766.8</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$21,533.7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$43,067.3</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$396.3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$792.6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$3,962.9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$7,925.8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$15,851.6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$2,561.1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$5,122.1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$25,610.5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$51,221.1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$102,442.1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$814.6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$1,629.2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$8,145.8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$16,291.7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$32,583.3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$1,484.4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$2,968.7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$14,843.7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$29,687.4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$59,374.8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Outpatient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$418.3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$836.6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$4,182.9</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$8,365.9</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$16,731.7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Professional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$287.2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$574.5</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$2,872.5</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$5,744.9</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$11,489.9</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$105.7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$211.5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$1,057.3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$2,114.5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$4,229.0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$1,195.8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$2,391.5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$11,957.5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$23,915.0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$47,830.1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$380.3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$760.7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$3,803.3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$7,606.6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$15,213.1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$908.5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$1,817.0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$9,085.1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$18,170.1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$36,340.2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Professional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$274.6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$549.2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$2,746.0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$5,492.0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$10,984.1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48</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1562496573"/>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49</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50</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Jack Hill, Executive Vice President – KBA</a:t>
            </a:r>
          </a:p>
          <a:p>
            <a:pPr algn="ctr"/>
            <a:r>
              <a:rPr lang="en-US" dirty="0">
                <a:solidFill>
                  <a:schemeClr val="bg1"/>
                </a:solidFill>
                <a:latin typeface="Arial" panose="020B0604020202020204" pitchFamily="34" charset="0"/>
                <a:cs typeface="Arial" panose="020B0604020202020204" pitchFamily="34" charset="0"/>
              </a:rPr>
              <a:t>630-878-7539 * </a:t>
            </a:r>
            <a:r>
              <a:rPr lang="en-US" dirty="0">
                <a:solidFill>
                  <a:schemeClr val="bg1"/>
                </a:solidFill>
                <a:latin typeface="Arial" panose="020B0604020202020204" pitchFamily="34" charset="0"/>
                <a:cs typeface="Arial" panose="020B0604020202020204" pitchFamily="34" charset="0"/>
                <a:hlinkClick r:id="rId12">
                  <a:extLst>
                    <a:ext uri="{A12FA001-AC4F-418D-AE19-62706E023703}">
                      <ahyp:hlinkClr xmlns:ahyp="http://schemas.microsoft.com/office/drawing/2018/hyperlinkcolor" val="tx"/>
                    </a:ext>
                  </a:extLst>
                </a:hlinkClick>
              </a:rPr>
              <a:t>jack.hill@keybenefit.com</a:t>
            </a:r>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Custom 3">
      <a:dk1>
        <a:srgbClr val="5B5B5B"/>
      </a:dk1>
      <a:lt1>
        <a:sysClr val="window" lastClr="FFFFFF"/>
      </a:lt1>
      <a:dk2>
        <a:srgbClr val="323F4F"/>
      </a:dk2>
      <a:lt2>
        <a:srgbClr val="E7E6E6"/>
      </a:lt2>
      <a:accent1>
        <a:srgbClr val="DBA660"/>
      </a:accent1>
      <a:accent2>
        <a:srgbClr val="44A1C4"/>
      </a:accent2>
      <a:accent3>
        <a:srgbClr val="FFE699"/>
      </a:accent3>
      <a:accent4>
        <a:srgbClr val="935E1B"/>
      </a:accent4>
      <a:accent5>
        <a:srgbClr val="2D6B83"/>
      </a:accent5>
      <a:accent6>
        <a:srgbClr val="80734D"/>
      </a:accent6>
      <a:hlink>
        <a:srgbClr val="9FA0A6"/>
      </a:hlink>
      <a:folHlink>
        <a:srgbClr val="A4CD88"/>
      </a:folHlink>
    </a:clrScheme>
    <a:fontScheme name="Custom 1">
      <a:majorFont>
        <a:latin typeface="Aileron"/>
        <a:ea typeface=""/>
        <a:cs typeface=""/>
      </a:majorFont>
      <a:minorFont>
        <a:latin typeface="Ailero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39657</TotalTime>
  <Words>6021</Words>
  <Application>Microsoft Office PowerPoint</Application>
  <PresentationFormat>Widescreen</PresentationFormat>
  <Paragraphs>1690</Paragraphs>
  <Slides>50</Slides>
  <Notes>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50</vt:i4>
      </vt:variant>
    </vt:vector>
  </HeadingPairs>
  <TitlesOfParts>
    <vt:vector size="63" baseType="lpstr">
      <vt:lpstr>Aileron</vt:lpstr>
      <vt:lpstr>Aileron Light</vt:lpstr>
      <vt:lpstr>Aptos Narrow</vt:lpstr>
      <vt:lpstr>Arial</vt:lpstr>
      <vt:lpstr>Arial Black</vt:lpstr>
      <vt:lpstr>Calibri</vt:lpstr>
      <vt:lpstr>Calibri Light</vt:lpstr>
      <vt:lpstr>Century Gothic</vt:lpstr>
      <vt:lpstr>Courier New</vt:lpstr>
      <vt:lpstr>Wingdings</vt:lpstr>
      <vt:lpstr>Office Theme</vt:lpstr>
      <vt:lpstr>1_Office Theme</vt:lpstr>
      <vt:lpstr>2_Office Theme</vt:lpstr>
      <vt:lpstr>PowerPoint Presentation</vt:lpstr>
      <vt:lpstr>Why Direct-to-Employer (DTE)?  It is time you have a say in your community's healthcare</vt:lpstr>
      <vt:lpstr>DIRECT-TO-EMPLOYER Focused on Self-Funded Employers</vt:lpstr>
      <vt:lpstr>Direct-to-Employer (DTE)  Your plan focused on Your relationship with Employers</vt:lpstr>
      <vt:lpstr>Every $1 of Care</vt:lpstr>
      <vt:lpstr>PowerPoint Presentation</vt:lpstr>
      <vt:lpstr>Direct-to-Employer Strategy: Only Available to Premier Health Systems</vt:lpstr>
      <vt:lpstr>Strong Brand Quality</vt:lpstr>
      <vt:lpstr>Extensive Patient Access</vt:lpstr>
      <vt:lpstr>PowerPoint Presentation</vt:lpstr>
      <vt:lpstr>Excellent Care Quality</vt:lpstr>
      <vt:lpstr>Care at Value Pricing</vt:lpstr>
      <vt:lpstr>FINANCIAL SUMMARY</vt:lpstr>
      <vt:lpstr>PowerPoint Presentation</vt:lpstr>
      <vt:lpstr>DIRECT-TO-EMPLOYER Health Plan Strategy</vt:lpstr>
      <vt:lpstr>There Are 5 Main Reasons the DTE Program is Strategically Important for St Luke's: </vt:lpstr>
      <vt:lpstr>PowerPoint Presentation</vt:lpstr>
      <vt:lpstr>PowerPoint Presentation</vt:lpstr>
      <vt:lpstr>Healthcare Leader in Private Labeled Plans</vt:lpstr>
      <vt:lpstr>Healthcare Leader in Private Labeled Plans</vt:lpstr>
      <vt:lpstr>PowerPoint Presentation</vt:lpstr>
      <vt:lpstr>BHS NETWORK </vt:lpstr>
      <vt:lpstr>Your Partner IN POPULATION HEALTH</vt:lpstr>
      <vt:lpstr>PowerPoint Presentation</vt:lpstr>
      <vt:lpstr>PowerPoint Presentation</vt:lpstr>
      <vt:lpstr>Transparent PBM Integration </vt:lpstr>
      <vt:lpstr>STOP-LOSS INSURANCE</vt:lpstr>
      <vt:lpstr>BENEFITS FOR THE EMPLOYER</vt:lpstr>
      <vt:lpstr>PowerPoint Presentation</vt:lpstr>
      <vt:lpstr>PowerPoint Presentation</vt:lpstr>
      <vt:lpstr>DTE  PROGRAM MARKETING  &amp; SALES</vt:lpstr>
      <vt:lpstr>Complete Sales Distribution System</vt:lpstr>
      <vt:lpstr>Complete Marketing System</vt:lpstr>
      <vt:lpstr>DTE COLLABORATION</vt:lpstr>
      <vt:lpstr>ROLES &amp; RESPONSBILITIES</vt:lpstr>
      <vt:lpstr>FINANCIAL PROJECTIONS &amp; ASSUMPTIONS</vt:lpstr>
      <vt:lpstr>Estimation of SL 2021 Inpatient Payer Mix</vt:lpstr>
      <vt:lpstr>Estimation of Margin for Commercial vs. Government Pay</vt:lpstr>
      <vt:lpstr>Estimating Market Share</vt:lpstr>
      <vt:lpstr>PowerPoint Presentation</vt:lpstr>
      <vt:lpstr>Estimating PMPY Spend With KBA Data</vt:lpstr>
      <vt:lpstr>Estimating Expected Steerage With KBA Data</vt:lpstr>
      <vt:lpstr>PowerPoint Presentation</vt:lpstr>
      <vt:lpstr>PowerPoint Presentation</vt:lpstr>
      <vt:lpstr>PowerPoint Presentation</vt:lpstr>
      <vt:lpstr>PowerPoint Presentation</vt:lpstr>
      <vt:lpstr>PowerPoint Presentation</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97</cp:revision>
  <cp:lastPrinted>2023-07-13T10:24:43Z</cp:lastPrinted>
  <dcterms:created xsi:type="dcterms:W3CDTF">2021-01-20T14:12:11Z</dcterms:created>
  <dcterms:modified xsi:type="dcterms:W3CDTF">2024-07-19T15:23:08Z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