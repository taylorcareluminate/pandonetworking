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68" r:id="rId5"/>
  </p:sldMasterIdLst>
  <p:notesMasterIdLst>
    <p:notesMasterId r:id="rId59"/>
  </p:notesMasterIdLst>
  <p:sldIdLst>
    <p:sldId id="488" r:id="rId6"/>
    <p:sldId id="454" r:id="rId7"/>
    <p:sldId id="549" r:id="rId8"/>
    <p:sldId id="521" r:id="rId9"/>
    <p:sldId id="267" r:id="rId10"/>
    <p:sldId id="259" r:id="rId11"/>
    <p:sldId id="263" r:id="rId12"/>
    <p:sldId id="265" r:id="rId13"/>
    <p:sldId id="487" r:id="rId14"/>
    <p:sldId id="518" r:id="rId15"/>
    <p:sldId id="520" r:id="rId16"/>
    <p:sldId id="466" r:id="rId17"/>
    <p:sldId id="517" r:id="rId18"/>
    <p:sldId id="580" r:id="rId19"/>
    <p:sldId id="582" r:id="rId20"/>
    <p:sldId id="590" r:id="rId21"/>
    <p:sldId id="548" r:id="rId22"/>
    <p:sldId id="456" r:id="rId23"/>
    <p:sldId id="489" r:id="rId24"/>
    <p:sldId id="499" r:id="rId25"/>
    <p:sldId id="458" r:id="rId26"/>
    <p:sldId id="446" r:id="rId27"/>
    <p:sldId id="461" r:id="rId28"/>
    <p:sldId id="462" r:id="rId29"/>
    <p:sldId id="469" r:id="rId30"/>
    <p:sldId id="336" r:id="rId31"/>
    <p:sldId id="337" r:id="rId32"/>
    <p:sldId id="583" r:id="rId33"/>
    <p:sldId id="592" r:id="rId34"/>
    <p:sldId id="558" r:id="rId35"/>
    <p:sldId id="593" r:id="rId36"/>
    <p:sldId id="588" r:id="rId37"/>
    <p:sldId id="536" r:id="rId38"/>
    <p:sldId id="501" r:id="rId39"/>
    <p:sldId id="584" r:id="rId40"/>
    <p:sldId id="525" r:id="rId41"/>
    <p:sldId id="594" r:id="rId42"/>
    <p:sldId id="595" r:id="rId43"/>
    <p:sldId id="571" r:id="rId44"/>
    <p:sldId id="546" r:id="rId45"/>
    <p:sldId id="547" r:id="rId46"/>
    <p:sldId id="591" r:id="rId47"/>
    <p:sldId id="574" r:id="rId48"/>
    <p:sldId id="256" r:id="rId49"/>
    <p:sldId id="575" r:id="rId50"/>
    <p:sldId id="572" r:id="rId51"/>
    <p:sldId id="576" r:id="rId52"/>
    <p:sldId id="573" r:id="rId53"/>
    <p:sldId id="498" r:id="rId54"/>
    <p:sldId id="325" r:id="rId55"/>
    <p:sldId id="326" r:id="rId56"/>
    <p:sldId id="491" r:id="rId57"/>
    <p:sldId id="472" r:id="rId58"/>
  </p:sldIdLst>
  <p:sldSz cx="12192000" cy="6858000"/>
  <p:notesSz cx="7315200" cy="9601200"/>
  <p:custDataLst>
    <p:tags r:id="rId6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FA3E6"/>
    <a:srgbClr val="CFE7EB"/>
    <a:srgbClr val="FCD8B9"/>
    <a:srgbClr val="59CAE8"/>
    <a:srgbClr val="30589B"/>
    <a:srgbClr val="843C0C"/>
    <a:srgbClr val="01A050"/>
    <a:srgbClr val="6A8C98"/>
    <a:srgbClr val="244F9A"/>
    <a:srgbClr val="254F9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624C16-4F2B-47EC-85D0-BC3AFA5229A1}" v="36" dt="2024-09-25T02:03:54.138"/>
    <p1510:client id="{B1AA47C0-BCD1-4E59-9439-8B6EAB2DA626}" v="17" dt="2024-09-24T03:30:21.339"/>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214" autoAdjust="0"/>
    <p:restoredTop sz="94660"/>
  </p:normalViewPr>
  <p:slideViewPr>
    <p:cSldViewPr snapToGrid="0">
      <p:cViewPr varScale="1">
        <p:scale>
          <a:sx n="108" d="100"/>
          <a:sy n="108" d="100"/>
        </p:scale>
        <p:origin x="390" y="96"/>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microsoft.com/office/2016/11/relationships/changesInfo" Target="changesInfos/changesInfo1.xml"/><Relationship Id="rId5" Type="http://schemas.openxmlformats.org/officeDocument/2006/relationships/slideMaster" Target="slideMasters/slideMaster2.xml"/><Relationship Id="rId61" Type="http://schemas.openxmlformats.org/officeDocument/2006/relationships/commentAuthors" Target="commentAuthor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notesMaster" Target="notesMasters/notesMaster1.xml"/><Relationship Id="rId67" Type="http://schemas.microsoft.com/office/2015/10/relationships/revisionInfo" Target="revisionInfo.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tags" Target="tags/tag1.xml"/><Relationship Id="rId65"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3A624C16-4F2B-47EC-85D0-BC3AFA5229A1}"/>
    <pc:docChg chg="undo custSel addSld delSld modSld sldOrd">
      <pc:chgData name="Taylor Davis" userId="5c9e72a0-c39f-4aa1-9d7d-64125e78cbe6" providerId="ADAL" clId="{3A624C16-4F2B-47EC-85D0-BC3AFA5229A1}" dt="2024-09-25T02:03:54.138" v="177"/>
      <pc:docMkLst>
        <pc:docMk/>
      </pc:docMkLst>
      <pc:sldChg chg="modSp">
        <pc:chgData name="Taylor Davis" userId="5c9e72a0-c39f-4aa1-9d7d-64125e78cbe6" providerId="ADAL" clId="{3A624C16-4F2B-47EC-85D0-BC3AFA5229A1}" dt="2024-09-25T02:02:38.460" v="145"/>
        <pc:sldMkLst>
          <pc:docMk/>
          <pc:sldMk cId="0" sldId="256"/>
        </pc:sldMkLst>
        <pc:graphicFrameChg chg="mod">
          <ac:chgData name="Taylor Davis" userId="5c9e72a0-c39f-4aa1-9d7d-64125e78cbe6" providerId="ADAL" clId="{3A624C16-4F2B-47EC-85D0-BC3AFA5229A1}" dt="2024-09-25T02:02:38.460" v="145"/>
          <ac:graphicFrameMkLst>
            <pc:docMk/>
            <pc:sldMk cId="0" sldId="256"/>
            <ac:graphicFrameMk id="2" creationId="{00000000-0000-0000-0000-000000000000}"/>
          </ac:graphicFrameMkLst>
        </pc:graphicFrameChg>
      </pc:sldChg>
      <pc:sldChg chg="del">
        <pc:chgData name="Taylor Davis" userId="5c9e72a0-c39f-4aa1-9d7d-64125e78cbe6" providerId="ADAL" clId="{3A624C16-4F2B-47EC-85D0-BC3AFA5229A1}" dt="2024-09-24T20:11:33.960" v="1" actId="2696"/>
        <pc:sldMkLst>
          <pc:docMk/>
          <pc:sldMk cId="413337631" sldId="259"/>
        </pc:sldMkLst>
      </pc:sldChg>
      <pc:sldChg chg="addSp delSp modSp add mod">
        <pc:chgData name="Taylor Davis" userId="5c9e72a0-c39f-4aa1-9d7d-64125e78cbe6" providerId="ADAL" clId="{3A624C16-4F2B-47EC-85D0-BC3AFA5229A1}" dt="2024-09-25T01:52:59.561" v="128"/>
        <pc:sldMkLst>
          <pc:docMk/>
          <pc:sldMk cId="2123092068" sldId="259"/>
        </pc:sldMkLst>
        <pc:spChg chg="add del mod">
          <ac:chgData name="Taylor Davis" userId="5c9e72a0-c39f-4aa1-9d7d-64125e78cbe6" providerId="ADAL" clId="{3A624C16-4F2B-47EC-85D0-BC3AFA5229A1}" dt="2024-09-25T00:35:04.663" v="55" actId="21"/>
          <ac:spMkLst>
            <pc:docMk/>
            <pc:sldMk cId="2123092068" sldId="259"/>
            <ac:spMk id="2" creationId="{64CA6D38-A3B3-FD3F-572E-A686C9595A07}"/>
          </ac:spMkLst>
        </pc:spChg>
        <pc:spChg chg="add mod">
          <ac:chgData name="Taylor Davis" userId="5c9e72a0-c39f-4aa1-9d7d-64125e78cbe6" providerId="ADAL" clId="{3A624C16-4F2B-47EC-85D0-BC3AFA5229A1}" dt="2024-09-25T00:35:04.663" v="55" actId="21"/>
          <ac:spMkLst>
            <pc:docMk/>
            <pc:sldMk cId="2123092068" sldId="259"/>
            <ac:spMk id="4" creationId="{0580546A-2939-D46E-8497-A1CB9205A0E5}"/>
          </ac:spMkLst>
        </pc:spChg>
        <pc:spChg chg="mod">
          <ac:chgData name="Taylor Davis" userId="5c9e72a0-c39f-4aa1-9d7d-64125e78cbe6" providerId="ADAL" clId="{3A624C16-4F2B-47EC-85D0-BC3AFA5229A1}" dt="2024-09-25T01:52:59.561" v="128"/>
          <ac:spMkLst>
            <pc:docMk/>
            <pc:sldMk cId="2123092068" sldId="259"/>
            <ac:spMk id="8" creationId="{B7A296EC-ABAC-52BC-9CE3-E14DAA57D327}"/>
          </ac:spMkLst>
        </pc:spChg>
        <pc:graphicFrameChg chg="mod modGraphic">
          <ac:chgData name="Taylor Davis" userId="5c9e72a0-c39f-4aa1-9d7d-64125e78cbe6" providerId="ADAL" clId="{3A624C16-4F2B-47EC-85D0-BC3AFA5229A1}" dt="2024-09-25T00:35:46.653" v="84" actId="1036"/>
          <ac:graphicFrameMkLst>
            <pc:docMk/>
            <pc:sldMk cId="2123092068" sldId="259"/>
            <ac:graphicFrameMk id="7" creationId="{F5DFB184-5687-810D-E027-F824D29970B6}"/>
          </ac:graphicFrameMkLst>
        </pc:graphicFrameChg>
        <pc:picChg chg="del">
          <ac:chgData name="Taylor Davis" userId="5c9e72a0-c39f-4aa1-9d7d-64125e78cbe6" providerId="ADAL" clId="{3A624C16-4F2B-47EC-85D0-BC3AFA5229A1}" dt="2024-09-25T00:35:04.663" v="55" actId="21"/>
          <ac:picMkLst>
            <pc:docMk/>
            <pc:sldMk cId="2123092068" sldId="259"/>
            <ac:picMk id="5" creationId="{925ABC0E-AAB4-F399-F7BF-ED278C149419}"/>
          </ac:picMkLst>
        </pc:picChg>
        <pc:picChg chg="mod modCrop">
          <ac:chgData name="Taylor Davis" userId="5c9e72a0-c39f-4aa1-9d7d-64125e78cbe6" providerId="ADAL" clId="{3A624C16-4F2B-47EC-85D0-BC3AFA5229A1}" dt="2024-09-25T00:35:19.085" v="56" actId="732"/>
          <ac:picMkLst>
            <pc:docMk/>
            <pc:sldMk cId="2123092068" sldId="259"/>
            <ac:picMk id="9" creationId="{4A1C0BBF-67AE-4FA8-B00B-C8516DF8406E}"/>
          </ac:picMkLst>
        </pc:picChg>
        <pc:picChg chg="mod">
          <ac:chgData name="Taylor Davis" userId="5c9e72a0-c39f-4aa1-9d7d-64125e78cbe6" providerId="ADAL" clId="{3A624C16-4F2B-47EC-85D0-BC3AFA5229A1}" dt="2024-09-25T00:35:46.653" v="84" actId="1036"/>
          <ac:picMkLst>
            <pc:docMk/>
            <pc:sldMk cId="2123092068" sldId="259"/>
            <ac:picMk id="1028" creationId="{81F606B0-F3E0-4A78-98C0-7AA2580C33ED}"/>
          </ac:picMkLst>
        </pc:picChg>
      </pc:sldChg>
      <pc:sldChg chg="modSp add">
        <pc:chgData name="Taylor Davis" userId="5c9e72a0-c39f-4aa1-9d7d-64125e78cbe6" providerId="ADAL" clId="{3A624C16-4F2B-47EC-85D0-BC3AFA5229A1}" dt="2024-09-25T01:52:59.561" v="128"/>
        <pc:sldMkLst>
          <pc:docMk/>
          <pc:sldMk cId="2850395362" sldId="263"/>
        </pc:sldMkLst>
        <pc:spChg chg="mod">
          <ac:chgData name="Taylor Davis" userId="5c9e72a0-c39f-4aa1-9d7d-64125e78cbe6" providerId="ADAL" clId="{3A624C16-4F2B-47EC-85D0-BC3AFA5229A1}" dt="2024-09-25T01:52:59.561" v="128"/>
          <ac:spMkLst>
            <pc:docMk/>
            <pc:sldMk cId="2850395362" sldId="263"/>
            <ac:spMk id="10" creationId="{58B5BAC4-765B-3901-8C3A-00577DDBB959}"/>
          </ac:spMkLst>
        </pc:spChg>
      </pc:sldChg>
      <pc:sldChg chg="del">
        <pc:chgData name="Taylor Davis" userId="5c9e72a0-c39f-4aa1-9d7d-64125e78cbe6" providerId="ADAL" clId="{3A624C16-4F2B-47EC-85D0-BC3AFA5229A1}" dt="2024-09-24T20:11:33.960" v="1" actId="2696"/>
        <pc:sldMkLst>
          <pc:docMk/>
          <pc:sldMk cId="3598920730" sldId="263"/>
        </pc:sldMkLst>
      </pc:sldChg>
      <pc:sldChg chg="del">
        <pc:chgData name="Taylor Davis" userId="5c9e72a0-c39f-4aa1-9d7d-64125e78cbe6" providerId="ADAL" clId="{3A624C16-4F2B-47EC-85D0-BC3AFA5229A1}" dt="2024-09-24T20:11:33.960" v="1" actId="2696"/>
        <pc:sldMkLst>
          <pc:docMk/>
          <pc:sldMk cId="2256184360" sldId="265"/>
        </pc:sldMkLst>
      </pc:sldChg>
      <pc:sldChg chg="modSp add mod">
        <pc:chgData name="Taylor Davis" userId="5c9e72a0-c39f-4aa1-9d7d-64125e78cbe6" providerId="ADAL" clId="{3A624C16-4F2B-47EC-85D0-BC3AFA5229A1}" dt="2024-09-25T01:52:59.561" v="128"/>
        <pc:sldMkLst>
          <pc:docMk/>
          <pc:sldMk cId="4006264123" sldId="265"/>
        </pc:sldMkLst>
        <pc:spChg chg="mod">
          <ac:chgData name="Taylor Davis" userId="5c9e72a0-c39f-4aa1-9d7d-64125e78cbe6" providerId="ADAL" clId="{3A624C16-4F2B-47EC-85D0-BC3AFA5229A1}" dt="2024-09-25T01:52:59.561" v="128"/>
          <ac:spMkLst>
            <pc:docMk/>
            <pc:sldMk cId="4006264123" sldId="265"/>
            <ac:spMk id="8" creationId="{DFF233D9-7F19-9283-14DF-A46881A805AF}"/>
          </ac:spMkLst>
        </pc:spChg>
        <pc:graphicFrameChg chg="mod modGraphic">
          <ac:chgData name="Taylor Davis" userId="5c9e72a0-c39f-4aa1-9d7d-64125e78cbe6" providerId="ADAL" clId="{3A624C16-4F2B-47EC-85D0-BC3AFA5229A1}" dt="2024-09-25T01:45:10.663" v="127" actId="13926"/>
          <ac:graphicFrameMkLst>
            <pc:docMk/>
            <pc:sldMk cId="4006264123" sldId="265"/>
            <ac:graphicFrameMk id="4" creationId="{AFA2A0DF-5447-9DFA-147E-C70145DBB6EE}"/>
          </ac:graphicFrameMkLst>
        </pc:graphicFrameChg>
      </pc:sldChg>
      <pc:sldChg chg="modSp add">
        <pc:chgData name="Taylor Davis" userId="5c9e72a0-c39f-4aa1-9d7d-64125e78cbe6" providerId="ADAL" clId="{3A624C16-4F2B-47EC-85D0-BC3AFA5229A1}" dt="2024-09-25T01:52:59.561" v="128"/>
        <pc:sldMkLst>
          <pc:docMk/>
          <pc:sldMk cId="949394106" sldId="267"/>
        </pc:sldMkLst>
        <pc:spChg chg="mod">
          <ac:chgData name="Taylor Davis" userId="5c9e72a0-c39f-4aa1-9d7d-64125e78cbe6" providerId="ADAL" clId="{3A624C16-4F2B-47EC-85D0-BC3AFA5229A1}" dt="2024-09-25T01:52:59.561" v="128"/>
          <ac:spMkLst>
            <pc:docMk/>
            <pc:sldMk cId="949394106" sldId="267"/>
            <ac:spMk id="10" creationId="{9164B861-2919-13B0-DF11-6C92DA49C7C5}"/>
          </ac:spMkLst>
        </pc:spChg>
      </pc:sldChg>
      <pc:sldChg chg="del">
        <pc:chgData name="Taylor Davis" userId="5c9e72a0-c39f-4aa1-9d7d-64125e78cbe6" providerId="ADAL" clId="{3A624C16-4F2B-47EC-85D0-BC3AFA5229A1}" dt="2024-09-24T20:11:33.960" v="1" actId="2696"/>
        <pc:sldMkLst>
          <pc:docMk/>
          <pc:sldMk cId="2494354821" sldId="267"/>
        </pc:sldMkLst>
      </pc:sldChg>
      <pc:sldChg chg="modSp">
        <pc:chgData name="Taylor Davis" userId="5c9e72a0-c39f-4aa1-9d7d-64125e78cbe6" providerId="ADAL" clId="{3A624C16-4F2B-47EC-85D0-BC3AFA5229A1}" dt="2024-09-25T01:52:59.561" v="128"/>
        <pc:sldMkLst>
          <pc:docMk/>
          <pc:sldMk cId="2984433661" sldId="446"/>
        </pc:sldMkLst>
        <pc:spChg chg="mod">
          <ac:chgData name="Taylor Davis" userId="5c9e72a0-c39f-4aa1-9d7d-64125e78cbe6" providerId="ADAL" clId="{3A624C16-4F2B-47EC-85D0-BC3AFA5229A1}" dt="2024-09-25T01:52:59.561" v="128"/>
          <ac:spMkLst>
            <pc:docMk/>
            <pc:sldMk cId="2984433661" sldId="446"/>
            <ac:spMk id="2" creationId="{0255DED4-CAB2-4C40-8464-BA04A291D04E}"/>
          </ac:spMkLst>
        </pc:spChg>
      </pc:sldChg>
      <pc:sldChg chg="modSp">
        <pc:chgData name="Taylor Davis" userId="5c9e72a0-c39f-4aa1-9d7d-64125e78cbe6" providerId="ADAL" clId="{3A624C16-4F2B-47EC-85D0-BC3AFA5229A1}" dt="2024-09-25T01:52:59.561" v="128"/>
        <pc:sldMkLst>
          <pc:docMk/>
          <pc:sldMk cId="3958060990" sldId="458"/>
        </pc:sldMkLst>
        <pc:spChg chg="mod">
          <ac:chgData name="Taylor Davis" userId="5c9e72a0-c39f-4aa1-9d7d-64125e78cbe6" providerId="ADAL" clId="{3A624C16-4F2B-47EC-85D0-BC3AFA5229A1}" dt="2024-09-25T01:52:59.561" v="128"/>
          <ac:spMkLst>
            <pc:docMk/>
            <pc:sldMk cId="3958060990" sldId="458"/>
            <ac:spMk id="5" creationId="{F78CFBEA-CEF2-471A-842D-8314716A34E9}"/>
          </ac:spMkLst>
        </pc:spChg>
      </pc:sldChg>
      <pc:sldChg chg="ord">
        <pc:chgData name="Taylor Davis" userId="5c9e72a0-c39f-4aa1-9d7d-64125e78cbe6" providerId="ADAL" clId="{3A624C16-4F2B-47EC-85D0-BC3AFA5229A1}" dt="2024-09-24T20:11:43.212" v="4"/>
        <pc:sldMkLst>
          <pc:docMk/>
          <pc:sldMk cId="1552833548" sldId="487"/>
        </pc:sldMkLst>
      </pc:sldChg>
      <pc:sldChg chg="modSp mod">
        <pc:chgData name="Taylor Davis" userId="5c9e72a0-c39f-4aa1-9d7d-64125e78cbe6" providerId="ADAL" clId="{3A624C16-4F2B-47EC-85D0-BC3AFA5229A1}" dt="2024-09-25T01:52:59.561" v="128"/>
        <pc:sldMkLst>
          <pc:docMk/>
          <pc:sldMk cId="3680080401" sldId="517"/>
        </pc:sldMkLst>
        <pc:spChg chg="mod">
          <ac:chgData name="Taylor Davis" userId="5c9e72a0-c39f-4aa1-9d7d-64125e78cbe6" providerId="ADAL" clId="{3A624C16-4F2B-47EC-85D0-BC3AFA5229A1}" dt="2024-09-25T01:52:59.561" v="128"/>
          <ac:spMkLst>
            <pc:docMk/>
            <pc:sldMk cId="3680080401" sldId="517"/>
            <ac:spMk id="16" creationId="{012C7A76-8C4C-0C17-C582-24A807F19DA5}"/>
          </ac:spMkLst>
        </pc:spChg>
        <pc:graphicFrameChg chg="mod modGraphic">
          <ac:chgData name="Taylor Davis" userId="5c9e72a0-c39f-4aa1-9d7d-64125e78cbe6" providerId="ADAL" clId="{3A624C16-4F2B-47EC-85D0-BC3AFA5229A1}" dt="2024-09-25T01:52:59.561" v="128"/>
          <ac:graphicFrameMkLst>
            <pc:docMk/>
            <pc:sldMk cId="3680080401" sldId="517"/>
            <ac:graphicFrameMk id="13" creationId="{C5BE1B27-9F04-9265-C933-6FD598A73DFA}"/>
          </ac:graphicFrameMkLst>
        </pc:graphicFrameChg>
      </pc:sldChg>
      <pc:sldChg chg="del">
        <pc:chgData name="Taylor Davis" userId="5c9e72a0-c39f-4aa1-9d7d-64125e78cbe6" providerId="ADAL" clId="{3A624C16-4F2B-47EC-85D0-BC3AFA5229A1}" dt="2024-09-24T20:11:33.960" v="1" actId="2696"/>
        <pc:sldMkLst>
          <pc:docMk/>
          <pc:sldMk cId="500461553" sldId="521"/>
        </pc:sldMkLst>
      </pc:sldChg>
      <pc:sldChg chg="add">
        <pc:chgData name="Taylor Davis" userId="5c9e72a0-c39f-4aa1-9d7d-64125e78cbe6" providerId="ADAL" clId="{3A624C16-4F2B-47EC-85D0-BC3AFA5229A1}" dt="2024-09-24T20:11:37.534" v="2"/>
        <pc:sldMkLst>
          <pc:docMk/>
          <pc:sldMk cId="1832852241" sldId="521"/>
        </pc:sldMkLst>
      </pc:sldChg>
      <pc:sldChg chg="modSp del mod">
        <pc:chgData name="Taylor Davis" userId="5c9e72a0-c39f-4aa1-9d7d-64125e78cbe6" providerId="ADAL" clId="{3A624C16-4F2B-47EC-85D0-BC3AFA5229A1}" dt="2024-09-25T02:01:27.005" v="130" actId="47"/>
        <pc:sldMkLst>
          <pc:docMk/>
          <pc:sldMk cId="3034923006" sldId="527"/>
        </pc:sldMkLst>
        <pc:graphicFrameChg chg="mod">
          <ac:chgData name="Taylor Davis" userId="5c9e72a0-c39f-4aa1-9d7d-64125e78cbe6" providerId="ADAL" clId="{3A624C16-4F2B-47EC-85D0-BC3AFA5229A1}" dt="2024-09-25T00:38:03.917" v="85" actId="1076"/>
          <ac:graphicFrameMkLst>
            <pc:docMk/>
            <pc:sldMk cId="3034923006" sldId="527"/>
            <ac:graphicFrameMk id="7" creationId="{4E8EAD19-4774-4C90-71AE-EC2459799810}"/>
          </ac:graphicFrameMkLst>
        </pc:graphicFrameChg>
      </pc:sldChg>
      <pc:sldChg chg="modSp">
        <pc:chgData name="Taylor Davis" userId="5c9e72a0-c39f-4aa1-9d7d-64125e78cbe6" providerId="ADAL" clId="{3A624C16-4F2B-47EC-85D0-BC3AFA5229A1}" dt="2024-09-25T02:03:20.856" v="162"/>
        <pc:sldMkLst>
          <pc:docMk/>
          <pc:sldMk cId="0" sldId="572"/>
        </pc:sldMkLst>
        <pc:graphicFrameChg chg="mod">
          <ac:chgData name="Taylor Davis" userId="5c9e72a0-c39f-4aa1-9d7d-64125e78cbe6" providerId="ADAL" clId="{3A624C16-4F2B-47EC-85D0-BC3AFA5229A1}" dt="2024-09-25T02:03:20.856" v="162"/>
          <ac:graphicFrameMkLst>
            <pc:docMk/>
            <pc:sldMk cId="0" sldId="572"/>
            <ac:graphicFrameMk id="2" creationId="{00000000-0000-0000-0000-000000000000}"/>
          </ac:graphicFrameMkLst>
        </pc:graphicFrameChg>
      </pc:sldChg>
      <pc:sldChg chg="modSp">
        <pc:chgData name="Taylor Davis" userId="5c9e72a0-c39f-4aa1-9d7d-64125e78cbe6" providerId="ADAL" clId="{3A624C16-4F2B-47EC-85D0-BC3AFA5229A1}" dt="2024-09-25T02:03:54.138" v="177"/>
        <pc:sldMkLst>
          <pc:docMk/>
          <pc:sldMk cId="0" sldId="573"/>
        </pc:sldMkLst>
        <pc:graphicFrameChg chg="mod">
          <ac:chgData name="Taylor Davis" userId="5c9e72a0-c39f-4aa1-9d7d-64125e78cbe6" providerId="ADAL" clId="{3A624C16-4F2B-47EC-85D0-BC3AFA5229A1}" dt="2024-09-25T02:03:54.138" v="177"/>
          <ac:graphicFrameMkLst>
            <pc:docMk/>
            <pc:sldMk cId="0" sldId="573"/>
            <ac:graphicFrameMk id="2" creationId="{00000000-0000-0000-0000-000000000000}"/>
          </ac:graphicFrameMkLst>
        </pc:graphicFrameChg>
      </pc:sldChg>
      <pc:sldChg chg="modSp mod">
        <pc:chgData name="Taylor Davis" userId="5c9e72a0-c39f-4aa1-9d7d-64125e78cbe6" providerId="ADAL" clId="{3A624C16-4F2B-47EC-85D0-BC3AFA5229A1}" dt="2024-09-25T02:02:32.529" v="144" actId="20577"/>
        <pc:sldMkLst>
          <pc:docMk/>
          <pc:sldMk cId="1064222983" sldId="574"/>
        </pc:sldMkLst>
        <pc:graphicFrameChg chg="modGraphic">
          <ac:chgData name="Taylor Davis" userId="5c9e72a0-c39f-4aa1-9d7d-64125e78cbe6" providerId="ADAL" clId="{3A624C16-4F2B-47EC-85D0-BC3AFA5229A1}" dt="2024-09-25T02:02:32.529" v="144" actId="20577"/>
          <ac:graphicFrameMkLst>
            <pc:docMk/>
            <pc:sldMk cId="1064222983" sldId="574"/>
            <ac:graphicFrameMk id="2" creationId="{00000000-0000-0000-0000-000000000000}"/>
          </ac:graphicFrameMkLst>
        </pc:graphicFrameChg>
      </pc:sldChg>
      <pc:sldChg chg="modSp mod">
        <pc:chgData name="Taylor Davis" userId="5c9e72a0-c39f-4aa1-9d7d-64125e78cbe6" providerId="ADAL" clId="{3A624C16-4F2B-47EC-85D0-BC3AFA5229A1}" dt="2024-09-25T02:03:16.815" v="161" actId="20577"/>
        <pc:sldMkLst>
          <pc:docMk/>
          <pc:sldMk cId="3790917938" sldId="575"/>
        </pc:sldMkLst>
        <pc:graphicFrameChg chg="modGraphic">
          <ac:chgData name="Taylor Davis" userId="5c9e72a0-c39f-4aa1-9d7d-64125e78cbe6" providerId="ADAL" clId="{3A624C16-4F2B-47EC-85D0-BC3AFA5229A1}" dt="2024-09-25T02:03:16.815" v="161" actId="20577"/>
          <ac:graphicFrameMkLst>
            <pc:docMk/>
            <pc:sldMk cId="3790917938" sldId="575"/>
            <ac:graphicFrameMk id="2" creationId="{00000000-0000-0000-0000-000000000000}"/>
          </ac:graphicFrameMkLst>
        </pc:graphicFrameChg>
      </pc:sldChg>
      <pc:sldChg chg="modSp mod">
        <pc:chgData name="Taylor Davis" userId="5c9e72a0-c39f-4aa1-9d7d-64125e78cbe6" providerId="ADAL" clId="{3A624C16-4F2B-47EC-85D0-BC3AFA5229A1}" dt="2024-09-25T02:03:50.263" v="176" actId="20577"/>
        <pc:sldMkLst>
          <pc:docMk/>
          <pc:sldMk cId="250010407" sldId="576"/>
        </pc:sldMkLst>
        <pc:graphicFrameChg chg="modGraphic">
          <ac:chgData name="Taylor Davis" userId="5c9e72a0-c39f-4aa1-9d7d-64125e78cbe6" providerId="ADAL" clId="{3A624C16-4F2B-47EC-85D0-BC3AFA5229A1}" dt="2024-09-25T02:03:50.263" v="176" actId="20577"/>
          <ac:graphicFrameMkLst>
            <pc:docMk/>
            <pc:sldMk cId="250010407" sldId="576"/>
            <ac:graphicFrameMk id="2" creationId="{00000000-0000-0000-0000-000000000000}"/>
          </ac:graphicFrameMkLst>
        </pc:graphicFrameChg>
      </pc:sldChg>
      <pc:sldChg chg="delSp mod">
        <pc:chgData name="Taylor Davis" userId="5c9e72a0-c39f-4aa1-9d7d-64125e78cbe6" providerId="ADAL" clId="{3A624C16-4F2B-47EC-85D0-BC3AFA5229A1}" dt="2024-09-25T00:43:29.361" v="86" actId="478"/>
        <pc:sldMkLst>
          <pc:docMk/>
          <pc:sldMk cId="838631500" sldId="584"/>
        </pc:sldMkLst>
        <pc:spChg chg="del">
          <ac:chgData name="Taylor Davis" userId="5c9e72a0-c39f-4aa1-9d7d-64125e78cbe6" providerId="ADAL" clId="{3A624C16-4F2B-47EC-85D0-BC3AFA5229A1}" dt="2024-09-25T00:43:29.361" v="86" actId="478"/>
          <ac:spMkLst>
            <pc:docMk/>
            <pc:sldMk cId="838631500" sldId="584"/>
            <ac:spMk id="9" creationId="{CF495B2A-50EF-4B94-1C1C-99E3DB78B211}"/>
          </ac:spMkLst>
        </pc:spChg>
      </pc:sldChg>
      <pc:sldChg chg="add">
        <pc:chgData name="Taylor Davis" userId="5c9e72a0-c39f-4aa1-9d7d-64125e78cbe6" providerId="ADAL" clId="{3A624C16-4F2B-47EC-85D0-BC3AFA5229A1}" dt="2024-09-25T02:01:24.838" v="129"/>
        <pc:sldMkLst>
          <pc:docMk/>
          <pc:sldMk cId="3903060040" sldId="595"/>
        </pc:sldMkLst>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png"/><Relationship Id="rId1" Type="http://schemas.openxmlformats.org/officeDocument/2006/relationships/image" Target="../media/image33.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png"/><Relationship Id="rId1" Type="http://schemas.openxmlformats.org/officeDocument/2006/relationships/image" Target="../media/image33.jpe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7552FD-62D0-4C89-AB2B-72AE9D7341CF}" type="doc">
      <dgm:prSet loTypeId="urn:microsoft.com/office/officeart/2005/8/layout/venn2" loCatId="relationship" qsTypeId="urn:microsoft.com/office/officeart/2005/8/quickstyle/3d1#1" qsCatId="3D" csTypeId="urn:microsoft.com/office/officeart/2005/8/colors/accent1_3" csCatId="accent1" phldr="1"/>
      <dgm:spPr/>
      <dgm:t>
        <a:bodyPr/>
        <a:lstStyle/>
        <a:p>
          <a:endParaRPr lang="en-US"/>
        </a:p>
      </dgm:t>
    </dgm:pt>
    <dgm:pt modelId="{95724BCE-4D84-45F0-853F-F17C772D0584}">
      <dgm:prSet phldrT="[Text]" custT="1"/>
      <dgm:spPr>
        <a:solidFill>
          <a:srgbClr val="61A606"/>
        </a:solidFill>
      </dgm:spPr>
      <dgm:t>
        <a:bodyPr/>
        <a:lstStyle/>
        <a:p>
          <a:r>
            <a:rPr lang="en-US" sz="1200" b="1" dirty="0"/>
            <a:t>Out of Network</a:t>
          </a:r>
        </a:p>
      </dgm:t>
    </dgm:pt>
    <dgm:pt modelId="{C4069396-DBC4-441D-858D-6F1FB8AB3335}" type="parTrans" cxnId="{EDE789B6-DE86-481F-A7CA-05566DD34C7E}">
      <dgm:prSet/>
      <dgm:spPr/>
      <dgm:t>
        <a:bodyPr/>
        <a:lstStyle/>
        <a:p>
          <a:endParaRPr lang="en-US" sz="1200" b="1"/>
        </a:p>
      </dgm:t>
    </dgm:pt>
    <dgm:pt modelId="{B7AFCCD7-67D9-4F40-93BA-B7F5FA89153B}" type="sibTrans" cxnId="{EDE789B6-DE86-481F-A7CA-05566DD34C7E}">
      <dgm:prSet/>
      <dgm:spPr/>
      <dgm:t>
        <a:bodyPr/>
        <a:lstStyle/>
        <a:p>
          <a:endParaRPr lang="en-US" sz="1200" b="1"/>
        </a:p>
      </dgm:t>
    </dgm:pt>
    <dgm:pt modelId="{569713F0-CA36-4804-9BAC-B1D988D414E1}">
      <dgm:prSet phldrT="[Text]" custT="1"/>
      <dgm:spPr>
        <a:solidFill>
          <a:srgbClr val="244F9A"/>
        </a:solidFill>
      </dgm:spPr>
      <dgm:t>
        <a:bodyPr/>
        <a:lstStyle/>
        <a:p>
          <a:r>
            <a:rPr lang="en-US" sz="1200" b="1" dirty="0"/>
            <a:t>Friends &amp; Family (Contracted)</a:t>
          </a:r>
        </a:p>
      </dgm:t>
    </dgm:pt>
    <dgm:pt modelId="{C2ABEC94-DF33-4E2B-8072-2FB520905D00}" type="parTrans" cxnId="{FBE4C505-B914-4ED7-A279-063D711FC2A4}">
      <dgm:prSet/>
      <dgm:spPr/>
      <dgm:t>
        <a:bodyPr/>
        <a:lstStyle/>
        <a:p>
          <a:endParaRPr lang="en-US" sz="1200" b="1"/>
        </a:p>
      </dgm:t>
    </dgm:pt>
    <dgm:pt modelId="{7F7B88C7-943C-4452-A6E8-0E402C95A08B}" type="sibTrans" cxnId="{FBE4C505-B914-4ED7-A279-063D711FC2A4}">
      <dgm:prSet/>
      <dgm:spPr/>
      <dgm:t>
        <a:bodyPr/>
        <a:lstStyle/>
        <a:p>
          <a:endParaRPr lang="en-US" sz="1200" b="1"/>
        </a:p>
      </dgm:t>
    </dgm:pt>
    <dgm:pt modelId="{1E65235D-8651-4890-AE0B-49DC383A1E91}">
      <dgm:prSet phldrT="[Text]" custT="1"/>
      <dgm:spPr>
        <a:solidFill>
          <a:srgbClr val="59CAE8"/>
        </a:solidFill>
      </dgm:spPr>
      <dgm:t>
        <a:bodyPr/>
        <a:lstStyle/>
        <a:p>
          <a:endParaRPr lang="en-US" sz="1200" b="1" dirty="0">
            <a:effectLst>
              <a:outerShdw blurRad="38100" dist="38100" dir="2700000" algn="tl">
                <a:srgbClr val="000000">
                  <a:alpha val="43137"/>
                </a:srgbClr>
              </a:outerShdw>
            </a:effectLst>
          </a:endParaRPr>
        </a:p>
      </dgm:t>
    </dgm:pt>
    <dgm:pt modelId="{EBC95944-0EC3-46F4-9FEF-8988CFF8C43A}" type="parTrans" cxnId="{C483DC75-E93F-42FC-9F22-8AEF775BA916}">
      <dgm:prSet/>
      <dgm:spPr/>
      <dgm:t>
        <a:bodyPr/>
        <a:lstStyle/>
        <a:p>
          <a:endParaRPr lang="en-US" sz="1200" b="1"/>
        </a:p>
      </dgm:t>
    </dgm:pt>
    <dgm:pt modelId="{61F457D8-374A-49D4-900E-947546529662}" type="sibTrans" cxnId="{C483DC75-E93F-42FC-9F22-8AEF775BA916}">
      <dgm:prSet/>
      <dgm:spPr/>
      <dgm:t>
        <a:bodyPr/>
        <a:lstStyle/>
        <a:p>
          <a:endParaRPr lang="en-US" sz="1200" b="1"/>
        </a:p>
      </dgm:t>
    </dgm:pt>
    <dgm:pt modelId="{ECE6B814-0FC3-4C58-9174-74C36EF10323}">
      <dgm:prSet phldrT="[Text]" custT="1"/>
      <dgm:spPr>
        <a:solidFill>
          <a:srgbClr val="019CA5"/>
        </a:solidFill>
      </dgm:spPr>
      <dgm:t>
        <a:bodyPr/>
        <a:lstStyle/>
        <a:p>
          <a:r>
            <a:rPr lang="en-US" sz="1200" b="1" dirty="0"/>
            <a:t>Wrap Network (Rented)</a:t>
          </a:r>
        </a:p>
      </dgm:t>
    </dgm:pt>
    <dgm:pt modelId="{86D68A84-8990-42F1-BDC0-9D23A1F134C4}" type="sibTrans" cxnId="{249B36A5-1CF8-4FAF-92A3-07C95195B8A7}">
      <dgm:prSet/>
      <dgm:spPr/>
      <dgm:t>
        <a:bodyPr/>
        <a:lstStyle/>
        <a:p>
          <a:endParaRPr lang="en-US" sz="1200" b="1"/>
        </a:p>
      </dgm:t>
    </dgm:pt>
    <dgm:pt modelId="{93698D8B-DBC4-4A38-ACF6-A3FD1A770EC5}" type="parTrans" cxnId="{249B36A5-1CF8-4FAF-92A3-07C95195B8A7}">
      <dgm:prSet/>
      <dgm:spPr/>
      <dgm:t>
        <a:bodyPr/>
        <a:lstStyle/>
        <a:p>
          <a:endParaRPr lang="en-US" sz="1200" b="1"/>
        </a:p>
      </dgm:t>
    </dgm:pt>
    <dgm:pt modelId="{B48E91E1-A56E-40AF-9FB7-1CF2ACB11A26}" type="pres">
      <dgm:prSet presAssocID="{CC7552FD-62D0-4C89-AB2B-72AE9D7341CF}" presName="Name0" presStyleCnt="0">
        <dgm:presLayoutVars>
          <dgm:chMax val="7"/>
          <dgm:resizeHandles val="exact"/>
        </dgm:presLayoutVars>
      </dgm:prSet>
      <dgm:spPr/>
    </dgm:pt>
    <dgm:pt modelId="{51B4B7A6-5CC6-4D2B-A008-C2393CCE8E1A}" type="pres">
      <dgm:prSet presAssocID="{CC7552FD-62D0-4C89-AB2B-72AE9D7341CF}" presName="comp1" presStyleCnt="0"/>
      <dgm:spPr/>
    </dgm:pt>
    <dgm:pt modelId="{2137BF38-EED7-40B6-AE30-314765FAF99B}" type="pres">
      <dgm:prSet presAssocID="{CC7552FD-62D0-4C89-AB2B-72AE9D7341CF}" presName="circle1" presStyleLbl="node1" presStyleIdx="0" presStyleCnt="4"/>
      <dgm:spPr/>
    </dgm:pt>
    <dgm:pt modelId="{DF426F85-4C8C-4ED2-8675-11BFB0838EC8}" type="pres">
      <dgm:prSet presAssocID="{CC7552FD-62D0-4C89-AB2B-72AE9D7341CF}" presName="c1text" presStyleLbl="node1" presStyleIdx="0" presStyleCnt="4">
        <dgm:presLayoutVars>
          <dgm:bulletEnabled val="1"/>
        </dgm:presLayoutVars>
      </dgm:prSet>
      <dgm:spPr/>
    </dgm:pt>
    <dgm:pt modelId="{C6723F7F-022F-4FCC-B6E2-7067916A4B10}" type="pres">
      <dgm:prSet presAssocID="{CC7552FD-62D0-4C89-AB2B-72AE9D7341CF}" presName="comp2" presStyleCnt="0"/>
      <dgm:spPr/>
    </dgm:pt>
    <dgm:pt modelId="{68806E35-FB05-408F-AFBC-163227E8487B}" type="pres">
      <dgm:prSet presAssocID="{CC7552FD-62D0-4C89-AB2B-72AE9D7341CF}" presName="circle2" presStyleLbl="node1" presStyleIdx="1" presStyleCnt="4"/>
      <dgm:spPr/>
    </dgm:pt>
    <dgm:pt modelId="{0B6A6A60-FE79-4554-9C37-549CA04643BE}" type="pres">
      <dgm:prSet presAssocID="{CC7552FD-62D0-4C89-AB2B-72AE9D7341CF}" presName="c2text" presStyleLbl="node1" presStyleIdx="1" presStyleCnt="4">
        <dgm:presLayoutVars>
          <dgm:bulletEnabled val="1"/>
        </dgm:presLayoutVars>
      </dgm:prSet>
      <dgm:spPr/>
    </dgm:pt>
    <dgm:pt modelId="{6FD52F53-EBEF-48E2-8A07-24379F9A581F}" type="pres">
      <dgm:prSet presAssocID="{CC7552FD-62D0-4C89-AB2B-72AE9D7341CF}" presName="comp3" presStyleCnt="0"/>
      <dgm:spPr/>
    </dgm:pt>
    <dgm:pt modelId="{EBC66B5F-74A7-4C59-9CEC-5E7379E73E3B}" type="pres">
      <dgm:prSet presAssocID="{CC7552FD-62D0-4C89-AB2B-72AE9D7341CF}" presName="circle3" presStyleLbl="node1" presStyleIdx="2" presStyleCnt="4"/>
      <dgm:spPr/>
    </dgm:pt>
    <dgm:pt modelId="{F4A2D7CC-0825-42DF-BF52-41782C7F5FD9}" type="pres">
      <dgm:prSet presAssocID="{CC7552FD-62D0-4C89-AB2B-72AE9D7341CF}" presName="c3text" presStyleLbl="node1" presStyleIdx="2" presStyleCnt="4">
        <dgm:presLayoutVars>
          <dgm:bulletEnabled val="1"/>
        </dgm:presLayoutVars>
      </dgm:prSet>
      <dgm:spPr/>
    </dgm:pt>
    <dgm:pt modelId="{28E403A5-F99B-4FAC-89FC-A846539584D0}" type="pres">
      <dgm:prSet presAssocID="{CC7552FD-62D0-4C89-AB2B-72AE9D7341CF}" presName="comp4" presStyleCnt="0"/>
      <dgm:spPr/>
    </dgm:pt>
    <dgm:pt modelId="{F92C6764-1AFD-4DFF-B75E-6422C5503855}" type="pres">
      <dgm:prSet presAssocID="{CC7552FD-62D0-4C89-AB2B-72AE9D7341CF}" presName="circle4" presStyleLbl="node1" presStyleIdx="3" presStyleCnt="4" custLinFactNeighborX="805" custLinFactNeighborY="1231"/>
      <dgm:spPr/>
    </dgm:pt>
    <dgm:pt modelId="{D63BE29E-2BB7-44DC-AA3E-8ABC2E4D12DA}" type="pres">
      <dgm:prSet presAssocID="{CC7552FD-62D0-4C89-AB2B-72AE9D7341CF}" presName="c4text" presStyleLbl="node1" presStyleIdx="3" presStyleCnt="4">
        <dgm:presLayoutVars>
          <dgm:bulletEnabled val="1"/>
        </dgm:presLayoutVars>
      </dgm:prSet>
      <dgm:spPr/>
    </dgm:pt>
  </dgm:ptLst>
  <dgm:cxnLst>
    <dgm:cxn modelId="{FBE4C505-B914-4ED7-A279-063D711FC2A4}" srcId="{CC7552FD-62D0-4C89-AB2B-72AE9D7341CF}" destId="{569713F0-CA36-4804-9BAC-B1D988D414E1}" srcOrd="2" destOrd="0" parTransId="{C2ABEC94-DF33-4E2B-8072-2FB520905D00}" sibTransId="{7F7B88C7-943C-4452-A6E8-0E402C95A08B}"/>
    <dgm:cxn modelId="{F2B3A710-39AB-4C98-A65E-5BAFADE8822C}" type="presOf" srcId="{1E65235D-8651-4890-AE0B-49DC383A1E91}" destId="{F92C6764-1AFD-4DFF-B75E-6422C5503855}" srcOrd="0" destOrd="0" presId="urn:microsoft.com/office/officeart/2005/8/layout/venn2"/>
    <dgm:cxn modelId="{AB7ABC15-C91B-4510-987C-DC7E28931CDF}" type="presOf" srcId="{ECE6B814-0FC3-4C58-9174-74C36EF10323}" destId="{68806E35-FB05-408F-AFBC-163227E8487B}" srcOrd="0" destOrd="0" presId="urn:microsoft.com/office/officeart/2005/8/layout/venn2"/>
    <dgm:cxn modelId="{0DECDB18-FC83-4AD8-8CE5-199CE52396EB}" type="presOf" srcId="{ECE6B814-0FC3-4C58-9174-74C36EF10323}" destId="{0B6A6A60-FE79-4554-9C37-549CA04643BE}" srcOrd="1" destOrd="0" presId="urn:microsoft.com/office/officeart/2005/8/layout/venn2"/>
    <dgm:cxn modelId="{14418032-6613-4832-B925-ADD3CB109AC1}" type="presOf" srcId="{95724BCE-4D84-45F0-853F-F17C772D0584}" destId="{DF426F85-4C8C-4ED2-8675-11BFB0838EC8}" srcOrd="1" destOrd="0" presId="urn:microsoft.com/office/officeart/2005/8/layout/venn2"/>
    <dgm:cxn modelId="{402ECC72-BF1F-4D94-9E07-E240E3CDC58B}" type="presOf" srcId="{569713F0-CA36-4804-9BAC-B1D988D414E1}" destId="{EBC66B5F-74A7-4C59-9CEC-5E7379E73E3B}" srcOrd="0" destOrd="0" presId="urn:microsoft.com/office/officeart/2005/8/layout/venn2"/>
    <dgm:cxn modelId="{C8818974-6CAA-4CB2-8EE8-57F21A36CA14}" type="presOf" srcId="{569713F0-CA36-4804-9BAC-B1D988D414E1}" destId="{F4A2D7CC-0825-42DF-BF52-41782C7F5FD9}" srcOrd="1" destOrd="0" presId="urn:microsoft.com/office/officeart/2005/8/layout/venn2"/>
    <dgm:cxn modelId="{C483DC75-E93F-42FC-9F22-8AEF775BA916}" srcId="{CC7552FD-62D0-4C89-AB2B-72AE9D7341CF}" destId="{1E65235D-8651-4890-AE0B-49DC383A1E91}" srcOrd="3" destOrd="0" parTransId="{EBC95944-0EC3-46F4-9FEF-8988CFF8C43A}" sibTransId="{61F457D8-374A-49D4-900E-947546529662}"/>
    <dgm:cxn modelId="{A6A7605A-1F39-45EF-BF83-BA2406EE7A18}" type="presOf" srcId="{95724BCE-4D84-45F0-853F-F17C772D0584}" destId="{2137BF38-EED7-40B6-AE30-314765FAF99B}" srcOrd="0" destOrd="0" presId="urn:microsoft.com/office/officeart/2005/8/layout/venn2"/>
    <dgm:cxn modelId="{E2740696-3283-48CE-B97D-9876EDC46B7F}" type="presOf" srcId="{1E65235D-8651-4890-AE0B-49DC383A1E91}" destId="{D63BE29E-2BB7-44DC-AA3E-8ABC2E4D12DA}" srcOrd="1" destOrd="0" presId="urn:microsoft.com/office/officeart/2005/8/layout/venn2"/>
    <dgm:cxn modelId="{249B36A5-1CF8-4FAF-92A3-07C95195B8A7}" srcId="{CC7552FD-62D0-4C89-AB2B-72AE9D7341CF}" destId="{ECE6B814-0FC3-4C58-9174-74C36EF10323}" srcOrd="1" destOrd="0" parTransId="{93698D8B-DBC4-4A38-ACF6-A3FD1A770EC5}" sibTransId="{86D68A84-8990-42F1-BDC0-9D23A1F134C4}"/>
    <dgm:cxn modelId="{248A33AF-5C9C-44CD-83DB-FBE3BC11E892}" type="presOf" srcId="{CC7552FD-62D0-4C89-AB2B-72AE9D7341CF}" destId="{B48E91E1-A56E-40AF-9FB7-1CF2ACB11A26}" srcOrd="0" destOrd="0" presId="urn:microsoft.com/office/officeart/2005/8/layout/venn2"/>
    <dgm:cxn modelId="{EDE789B6-DE86-481F-A7CA-05566DD34C7E}" srcId="{CC7552FD-62D0-4C89-AB2B-72AE9D7341CF}" destId="{95724BCE-4D84-45F0-853F-F17C772D0584}" srcOrd="0" destOrd="0" parTransId="{C4069396-DBC4-441D-858D-6F1FB8AB3335}" sibTransId="{B7AFCCD7-67D9-4F40-93BA-B7F5FA89153B}"/>
    <dgm:cxn modelId="{5BD9092F-1A66-4F0A-AF1E-25AF0EE8FD30}" type="presParOf" srcId="{B48E91E1-A56E-40AF-9FB7-1CF2ACB11A26}" destId="{51B4B7A6-5CC6-4D2B-A008-C2393CCE8E1A}" srcOrd="0" destOrd="0" presId="urn:microsoft.com/office/officeart/2005/8/layout/venn2"/>
    <dgm:cxn modelId="{2F863CF6-5E37-43DF-912A-4A5621BA5BF0}" type="presParOf" srcId="{51B4B7A6-5CC6-4D2B-A008-C2393CCE8E1A}" destId="{2137BF38-EED7-40B6-AE30-314765FAF99B}" srcOrd="0" destOrd="0" presId="urn:microsoft.com/office/officeart/2005/8/layout/venn2"/>
    <dgm:cxn modelId="{975CD106-737C-48C1-9A8D-9501AD23E7A8}" type="presParOf" srcId="{51B4B7A6-5CC6-4D2B-A008-C2393CCE8E1A}" destId="{DF426F85-4C8C-4ED2-8675-11BFB0838EC8}" srcOrd="1" destOrd="0" presId="urn:microsoft.com/office/officeart/2005/8/layout/venn2"/>
    <dgm:cxn modelId="{9D0C7BE2-1A22-4D14-8173-13BB6F5F499A}" type="presParOf" srcId="{B48E91E1-A56E-40AF-9FB7-1CF2ACB11A26}" destId="{C6723F7F-022F-4FCC-B6E2-7067916A4B10}" srcOrd="1" destOrd="0" presId="urn:microsoft.com/office/officeart/2005/8/layout/venn2"/>
    <dgm:cxn modelId="{0FB070D9-1CF8-45D8-910F-51CDC89BD66C}" type="presParOf" srcId="{C6723F7F-022F-4FCC-B6E2-7067916A4B10}" destId="{68806E35-FB05-408F-AFBC-163227E8487B}" srcOrd="0" destOrd="0" presId="urn:microsoft.com/office/officeart/2005/8/layout/venn2"/>
    <dgm:cxn modelId="{E874FD9E-42DD-4775-BD14-98A78C0E358F}" type="presParOf" srcId="{C6723F7F-022F-4FCC-B6E2-7067916A4B10}" destId="{0B6A6A60-FE79-4554-9C37-549CA04643BE}" srcOrd="1" destOrd="0" presId="urn:microsoft.com/office/officeart/2005/8/layout/venn2"/>
    <dgm:cxn modelId="{533F2428-7D48-425A-84B9-BD8EE9858991}" type="presParOf" srcId="{B48E91E1-A56E-40AF-9FB7-1CF2ACB11A26}" destId="{6FD52F53-EBEF-48E2-8A07-24379F9A581F}" srcOrd="2" destOrd="0" presId="urn:microsoft.com/office/officeart/2005/8/layout/venn2"/>
    <dgm:cxn modelId="{D6C94450-97EC-46B7-8F51-45063118571E}" type="presParOf" srcId="{6FD52F53-EBEF-48E2-8A07-24379F9A581F}" destId="{EBC66B5F-74A7-4C59-9CEC-5E7379E73E3B}" srcOrd="0" destOrd="0" presId="urn:microsoft.com/office/officeart/2005/8/layout/venn2"/>
    <dgm:cxn modelId="{83345C35-304E-4D9D-A9F4-F8721176DD23}" type="presParOf" srcId="{6FD52F53-EBEF-48E2-8A07-24379F9A581F}" destId="{F4A2D7CC-0825-42DF-BF52-41782C7F5FD9}" srcOrd="1" destOrd="0" presId="urn:microsoft.com/office/officeart/2005/8/layout/venn2"/>
    <dgm:cxn modelId="{AC46EE94-CB6F-43B3-84C8-F82373D89B41}" type="presParOf" srcId="{B48E91E1-A56E-40AF-9FB7-1CF2ACB11A26}" destId="{28E403A5-F99B-4FAC-89FC-A846539584D0}" srcOrd="3" destOrd="0" presId="urn:microsoft.com/office/officeart/2005/8/layout/venn2"/>
    <dgm:cxn modelId="{0E30E2C5-34DC-4093-889B-5B1D03CBEB01}" type="presParOf" srcId="{28E403A5-F99B-4FAC-89FC-A846539584D0}" destId="{F92C6764-1AFD-4DFF-B75E-6422C5503855}" srcOrd="0" destOrd="0" presId="urn:microsoft.com/office/officeart/2005/8/layout/venn2"/>
    <dgm:cxn modelId="{5C9EDED6-C0C0-452F-9674-0BA712F0109C}" type="presParOf" srcId="{28E403A5-F99B-4FAC-89FC-A846539584D0}" destId="{D63BE29E-2BB7-44DC-AA3E-8ABC2E4D12DA}" srcOrd="1" destOrd="0" presId="urn:microsoft.com/office/officeart/2005/8/layout/venn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150493-506C-4796-9188-B229C3F673EE}" type="doc">
      <dgm:prSet loTypeId="urn:microsoft.com/office/officeart/2005/8/layout/bList2" loCatId="list" qsTypeId="urn:microsoft.com/office/officeart/2005/8/quickstyle/simple1" qsCatId="simple" csTypeId="urn:microsoft.com/office/officeart/2005/8/colors/accent1_2" csCatId="accent1" phldr="1"/>
      <dgm:spPr/>
      <dgm:t>
        <a:bodyPr/>
        <a:lstStyle/>
        <a:p>
          <a:endParaRPr lang="en-US"/>
        </a:p>
      </dgm:t>
    </dgm:pt>
    <dgm:pt modelId="{D23E581B-AA16-403B-8AF5-1BB3E719881C}">
      <dgm:prSet phldrT="[Text]" custT="1"/>
      <dgm:spPr>
        <a:solidFill>
          <a:srgbClr val="59CAE8"/>
        </a:solidFill>
        <a:ln>
          <a:solidFill>
            <a:srgbClr val="59CAE8"/>
          </a:solidFill>
        </a:ln>
      </dgm:spPr>
      <dgm:t>
        <a:bodyPr/>
        <a:lstStyle/>
        <a:p>
          <a:r>
            <a:rPr lang="en-US" sz="2200" b="1" dirty="0"/>
            <a:t>BROKER DEVELOPMENT</a:t>
          </a:r>
        </a:p>
      </dgm:t>
    </dgm:pt>
    <dgm:pt modelId="{B1EFF21B-7CA5-4F93-B9E5-5284C3F28E15}" type="parTrans" cxnId="{2F92E761-FCD0-4BDD-A76B-9C732D3383BD}">
      <dgm:prSet/>
      <dgm:spPr/>
      <dgm:t>
        <a:bodyPr/>
        <a:lstStyle/>
        <a:p>
          <a:endParaRPr lang="en-US"/>
        </a:p>
      </dgm:t>
    </dgm:pt>
    <dgm:pt modelId="{1A5DEF5B-E65A-4FF8-AF95-9D9360F04B85}" type="sibTrans" cxnId="{2F92E761-FCD0-4BDD-A76B-9C732D3383BD}">
      <dgm:prSet/>
      <dgm:spPr/>
      <dgm:t>
        <a:bodyPr/>
        <a:lstStyle/>
        <a:p>
          <a:endParaRPr lang="en-US"/>
        </a:p>
      </dgm:t>
    </dgm:pt>
    <dgm:pt modelId="{7FF46690-C008-4C6D-8B8B-295F75E0DB9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Identification of Key Distribution Agents</a:t>
          </a:r>
        </a:p>
      </dgm:t>
    </dgm:pt>
    <dgm:pt modelId="{8D0C7DC4-BF81-461E-AD4F-3807C09AE856}" type="parTrans" cxnId="{F91C5992-82A2-4E51-88AD-3B34B316A11D}">
      <dgm:prSet/>
      <dgm:spPr/>
      <dgm:t>
        <a:bodyPr/>
        <a:lstStyle/>
        <a:p>
          <a:endParaRPr lang="en-US"/>
        </a:p>
      </dgm:t>
    </dgm:pt>
    <dgm:pt modelId="{B3C1D7E9-AE25-4261-B242-F121DEE18B6F}" type="sibTrans" cxnId="{F91C5992-82A2-4E51-88AD-3B34B316A11D}">
      <dgm:prSet/>
      <dgm:spPr/>
      <dgm:t>
        <a:bodyPr/>
        <a:lstStyle/>
        <a:p>
          <a:endParaRPr lang="en-US"/>
        </a:p>
      </dgm:t>
    </dgm:pt>
    <dgm:pt modelId="{8D4A55D0-1681-418C-B4D4-503419A60283}">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Training and Development</a:t>
          </a:r>
        </a:p>
      </dgm:t>
    </dgm:pt>
    <dgm:pt modelId="{011C8C61-B114-4F8E-977C-29D521EDD73E}" type="parTrans" cxnId="{C7F2A021-2EC4-4FB9-98C4-91297D552460}">
      <dgm:prSet/>
      <dgm:spPr/>
      <dgm:t>
        <a:bodyPr/>
        <a:lstStyle/>
        <a:p>
          <a:endParaRPr lang="en-US"/>
        </a:p>
      </dgm:t>
    </dgm:pt>
    <dgm:pt modelId="{FAFC1358-B61D-4F1C-8954-5762C6025450}" type="sibTrans" cxnId="{C7F2A021-2EC4-4FB9-98C4-91297D552460}">
      <dgm:prSet/>
      <dgm:spPr/>
      <dgm:t>
        <a:bodyPr/>
        <a:lstStyle/>
        <a:p>
          <a:endParaRPr lang="en-US"/>
        </a:p>
      </dgm:t>
    </dgm:pt>
    <dgm:pt modelId="{137481BD-655E-4B21-9249-6EBB92970AA3}">
      <dgm:prSet phldrT="[Text]" custT="1"/>
      <dgm:spPr>
        <a:solidFill>
          <a:srgbClr val="59CAE8"/>
        </a:solidFill>
        <a:ln>
          <a:solidFill>
            <a:srgbClr val="59CAE8"/>
          </a:solidFill>
        </a:ln>
      </dgm:spPr>
      <dgm:t>
        <a:bodyPr/>
        <a:lstStyle/>
        <a:p>
          <a:r>
            <a:rPr lang="en-US" sz="2200" b="1" dirty="0"/>
            <a:t>DIRECT SALES</a:t>
          </a:r>
        </a:p>
      </dgm:t>
    </dgm:pt>
    <dgm:pt modelId="{ACB6711E-EC99-4F64-AEE7-58413CCAC090}" type="parTrans" cxnId="{BE4C9AF1-D175-4190-956C-E575898133B0}">
      <dgm:prSet/>
      <dgm:spPr/>
      <dgm:t>
        <a:bodyPr/>
        <a:lstStyle/>
        <a:p>
          <a:endParaRPr lang="en-US"/>
        </a:p>
      </dgm:t>
    </dgm:pt>
    <dgm:pt modelId="{6DA4AAFE-429F-489B-91ED-08FB3BF54110}" type="sibTrans" cxnId="{BE4C9AF1-D175-4190-956C-E575898133B0}">
      <dgm:prSet/>
      <dgm:spPr/>
      <dgm:t>
        <a:bodyPr/>
        <a:lstStyle/>
        <a:p>
          <a:endParaRPr lang="en-US"/>
        </a:p>
      </dgm:t>
    </dgm:pt>
    <dgm:pt modelId="{F7F7C9CC-CBF7-4EC6-A201-AF42BC40F2A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Identification of Key Targets</a:t>
          </a:r>
        </a:p>
      </dgm:t>
    </dgm:pt>
    <dgm:pt modelId="{9087CC11-EF03-4DA5-ABF7-19F2B693FB4C}" type="parTrans" cxnId="{E3215492-455E-4EA7-919D-4D44F840E9C9}">
      <dgm:prSet/>
      <dgm:spPr/>
      <dgm:t>
        <a:bodyPr/>
        <a:lstStyle/>
        <a:p>
          <a:endParaRPr lang="en-US"/>
        </a:p>
      </dgm:t>
    </dgm:pt>
    <dgm:pt modelId="{43B95110-FECF-4DEB-82CB-554B129E2221}" type="sibTrans" cxnId="{E3215492-455E-4EA7-919D-4D44F840E9C9}">
      <dgm:prSet/>
      <dgm:spPr/>
      <dgm:t>
        <a:bodyPr/>
        <a:lstStyle/>
        <a:p>
          <a:endParaRPr lang="en-US"/>
        </a:p>
      </dgm:t>
    </dgm:pt>
    <dgm:pt modelId="{EF258820-A04A-4B12-9D99-F238EA30416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Working with SLUHN on Specific Employers</a:t>
          </a:r>
        </a:p>
      </dgm:t>
    </dgm:pt>
    <dgm:pt modelId="{A7BE2C5B-83D4-42C4-A4B2-538C9CC1DDC3}" type="parTrans" cxnId="{4A2F2F51-3B2B-4AB0-8F0E-60C80B592AE5}">
      <dgm:prSet/>
      <dgm:spPr/>
      <dgm:t>
        <a:bodyPr/>
        <a:lstStyle/>
        <a:p>
          <a:endParaRPr lang="en-US"/>
        </a:p>
      </dgm:t>
    </dgm:pt>
    <dgm:pt modelId="{1D731E4C-0D14-463F-B6A4-B4F760D2ECA9}" type="sibTrans" cxnId="{4A2F2F51-3B2B-4AB0-8F0E-60C80B592AE5}">
      <dgm:prSet/>
      <dgm:spPr/>
      <dgm:t>
        <a:bodyPr/>
        <a:lstStyle/>
        <a:p>
          <a:endParaRPr lang="en-US"/>
        </a:p>
      </dgm:t>
    </dgm:pt>
    <dgm:pt modelId="{8AA02574-A625-4CCB-B607-53FB332909CE}">
      <dgm:prSet phldrT="[Text]"/>
      <dgm:spPr>
        <a:solidFill>
          <a:srgbClr val="59CAE8"/>
        </a:solidFill>
        <a:ln>
          <a:solidFill>
            <a:srgbClr val="59CAE8"/>
          </a:solidFill>
        </a:ln>
      </dgm:spPr>
      <dgm:t>
        <a:bodyPr/>
        <a:lstStyle/>
        <a:p>
          <a:r>
            <a:rPr lang="en-US" b="1" dirty="0"/>
            <a:t>SALES ADMINISTRATION</a:t>
          </a:r>
        </a:p>
      </dgm:t>
    </dgm:pt>
    <dgm:pt modelId="{03E4F07C-7651-4A84-978A-18980E54788A}" type="parTrans" cxnId="{04823003-2C67-4DC4-A96A-9D1D87D33B2A}">
      <dgm:prSet/>
      <dgm:spPr/>
      <dgm:t>
        <a:bodyPr/>
        <a:lstStyle/>
        <a:p>
          <a:endParaRPr lang="en-US"/>
        </a:p>
      </dgm:t>
    </dgm:pt>
    <dgm:pt modelId="{A59D420A-0509-48A4-84B8-BD859CBDE972}" type="sibTrans" cxnId="{04823003-2C67-4DC4-A96A-9D1D87D33B2A}">
      <dgm:prSet/>
      <dgm:spPr/>
      <dgm:t>
        <a:bodyPr/>
        <a:lstStyle/>
        <a:p>
          <a:endParaRPr lang="en-US"/>
        </a:p>
      </dgm:t>
    </dgm:pt>
    <dgm:pt modelId="{8F0095CA-0C27-493A-9874-D794A8A7353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Quote System</a:t>
          </a:r>
        </a:p>
      </dgm:t>
    </dgm:pt>
    <dgm:pt modelId="{CDC7246F-F150-4E81-9FFD-97B9BE41076B}" type="parTrans" cxnId="{A94A4D77-D410-4172-B3AA-E2ACA791F98F}">
      <dgm:prSet/>
      <dgm:spPr/>
      <dgm:t>
        <a:bodyPr/>
        <a:lstStyle/>
        <a:p>
          <a:endParaRPr lang="en-US"/>
        </a:p>
      </dgm:t>
    </dgm:pt>
    <dgm:pt modelId="{510451AB-9983-4AEA-8022-D0BC130E6092}" type="sibTrans" cxnId="{A94A4D77-D410-4172-B3AA-E2ACA791F98F}">
      <dgm:prSet/>
      <dgm:spPr/>
      <dgm:t>
        <a:bodyPr/>
        <a:lstStyle/>
        <a:p>
          <a:endParaRPr lang="en-US"/>
        </a:p>
      </dgm:t>
    </dgm:pt>
    <dgm:pt modelId="{A6159738-FDC8-4527-9EE7-E748F5F180C4}">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A32F0CB0-B068-4A83-8EE1-38AABA44839F}" type="parTrans" cxnId="{8B104222-6399-4A64-A215-E3EBB8CBBCE9}">
      <dgm:prSet/>
      <dgm:spPr/>
      <dgm:t>
        <a:bodyPr/>
        <a:lstStyle/>
        <a:p>
          <a:endParaRPr lang="en-US"/>
        </a:p>
      </dgm:t>
    </dgm:pt>
    <dgm:pt modelId="{56F68E1F-8354-4732-BE63-FD4638DDCC41}" type="sibTrans" cxnId="{8B104222-6399-4A64-A215-E3EBB8CBBCE9}">
      <dgm:prSet/>
      <dgm:spPr/>
      <dgm:t>
        <a:bodyPr/>
        <a:lstStyle/>
        <a:p>
          <a:endParaRPr lang="en-US"/>
        </a:p>
      </dgm:t>
    </dgm:pt>
    <dgm:pt modelId="{55B6DA3F-4BB5-419B-93D9-A3F482FE7CD2}">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Quote Evaluation</a:t>
          </a:r>
        </a:p>
      </dgm:t>
    </dgm:pt>
    <dgm:pt modelId="{040046BF-2D82-47BD-903B-6D20E5A82A2F}" type="parTrans" cxnId="{3942E9C9-D4D9-4DE8-814F-990DD7368247}">
      <dgm:prSet/>
      <dgm:spPr/>
      <dgm:t>
        <a:bodyPr/>
        <a:lstStyle/>
        <a:p>
          <a:endParaRPr lang="en-US"/>
        </a:p>
      </dgm:t>
    </dgm:pt>
    <dgm:pt modelId="{67C7D3C6-55FB-420A-8BE3-EEF7B8227D00}" type="sibTrans" cxnId="{3942E9C9-D4D9-4DE8-814F-990DD7368247}">
      <dgm:prSet/>
      <dgm:spPr/>
      <dgm:t>
        <a:bodyPr/>
        <a:lstStyle/>
        <a:p>
          <a:endParaRPr lang="en-US"/>
        </a:p>
      </dgm:t>
    </dgm:pt>
    <dgm:pt modelId="{18F7CD44-01BC-420F-8F77-B2F834061C5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Compensation</a:t>
          </a:r>
        </a:p>
      </dgm:t>
    </dgm:pt>
    <dgm:pt modelId="{626F4F01-D67C-46BF-BE55-EDE98335CEFB}" type="parTrans" cxnId="{8162C5E1-8299-4C0D-976A-C6AE3B6A2219}">
      <dgm:prSet/>
      <dgm:spPr/>
      <dgm:t>
        <a:bodyPr/>
        <a:lstStyle/>
        <a:p>
          <a:endParaRPr lang="en-US"/>
        </a:p>
      </dgm:t>
    </dgm:pt>
    <dgm:pt modelId="{D05D3DF4-0111-4D0B-86E5-ADEE05D7B77E}" type="sibTrans" cxnId="{8162C5E1-8299-4C0D-976A-C6AE3B6A2219}">
      <dgm:prSet/>
      <dgm:spPr/>
      <dgm:t>
        <a:bodyPr/>
        <a:lstStyle/>
        <a:p>
          <a:endParaRPr lang="en-US"/>
        </a:p>
      </dgm:t>
    </dgm:pt>
    <dgm:pt modelId="{B1FA3D48-7F41-4C46-99D6-6C8591F4198C}">
      <dgm:prSet phldrT="[Text]"/>
      <dgm:spPr>
        <a:solidFill>
          <a:schemeClr val="lt1">
            <a:hueOff val="0"/>
            <a:satOff val="0"/>
            <a:lumOff val="0"/>
            <a:alpha val="80000"/>
          </a:schemeClr>
        </a:solidFill>
        <a:ln>
          <a:solidFill>
            <a:schemeClr val="bg1">
              <a:lumMod val="65000"/>
            </a:schemeClr>
          </a:solidFill>
        </a:ln>
      </dgm:spPr>
      <dgm:t>
        <a:bodyPr tIns="91440"/>
        <a:lstStyle/>
        <a:p>
          <a:pPr marL="114300" indent="0">
            <a:lnSpc>
              <a:spcPct val="100000"/>
            </a:lnSpc>
            <a:spcAft>
              <a:spcPts val="300"/>
            </a:spcAft>
          </a:pPr>
          <a:endParaRPr lang="en-US" sz="1500" b="0" dirty="0"/>
        </a:p>
      </dgm:t>
    </dgm:pt>
    <dgm:pt modelId="{012C922E-7A6C-43B7-A753-53C75D0CB07F}" type="parTrans" cxnId="{EBF30808-A408-4F9D-B9C2-E5FC4507A989}">
      <dgm:prSet/>
      <dgm:spPr/>
      <dgm:t>
        <a:bodyPr/>
        <a:lstStyle/>
        <a:p>
          <a:endParaRPr lang="en-US"/>
        </a:p>
      </dgm:t>
    </dgm:pt>
    <dgm:pt modelId="{4E6B45C1-37A8-43E1-8B00-EA4364BA9A53}" type="sibTrans" cxnId="{EBF30808-A408-4F9D-B9C2-E5FC4507A989}">
      <dgm:prSet/>
      <dgm:spPr/>
      <dgm:t>
        <a:bodyPr/>
        <a:lstStyle/>
        <a:p>
          <a:endParaRPr lang="en-US"/>
        </a:p>
      </dgm:t>
    </dgm:pt>
    <dgm:pt modelId="{52909B4C-F1D6-4114-81F2-43FEC7AE2687}">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Meet and Greet</a:t>
          </a:r>
        </a:p>
      </dgm:t>
    </dgm:pt>
    <dgm:pt modelId="{1E4615D3-4B3A-437B-A9CD-82E4CFF8FA93}" type="parTrans" cxnId="{E5A01246-CF50-42C5-A8E0-61A3D4EDFDAD}">
      <dgm:prSet/>
      <dgm:spPr/>
      <dgm:t>
        <a:bodyPr/>
        <a:lstStyle/>
        <a:p>
          <a:endParaRPr lang="en-US"/>
        </a:p>
      </dgm:t>
    </dgm:pt>
    <dgm:pt modelId="{7A8627E2-A1BB-4202-B6A1-492AAA800E1E}" type="sibTrans" cxnId="{E5A01246-CF50-42C5-A8E0-61A3D4EDFDAD}">
      <dgm:prSet/>
      <dgm:spPr/>
      <dgm:t>
        <a:bodyPr/>
        <a:lstStyle/>
        <a:p>
          <a:endParaRPr lang="en-US"/>
        </a:p>
      </dgm:t>
    </dgm:pt>
    <dgm:pt modelId="{EEE8F098-CBAA-4FDF-AD53-BB2438D100F7}">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Sales Process</a:t>
          </a:r>
        </a:p>
      </dgm:t>
    </dgm:pt>
    <dgm:pt modelId="{6B7527E6-8507-4045-9B6E-9CF72FEF5E95}" type="parTrans" cxnId="{51B92CD5-97D5-40B6-AB85-7E46EB3A8DAD}">
      <dgm:prSet/>
      <dgm:spPr/>
      <dgm:t>
        <a:bodyPr/>
        <a:lstStyle/>
        <a:p>
          <a:endParaRPr lang="en-US"/>
        </a:p>
      </dgm:t>
    </dgm:pt>
    <dgm:pt modelId="{CE2375D9-47D1-49B0-BEE1-C3E70E7CB9E2}" type="sibTrans" cxnId="{51B92CD5-97D5-40B6-AB85-7E46EB3A8DAD}">
      <dgm:prSet/>
      <dgm:spPr/>
      <dgm:t>
        <a:bodyPr/>
        <a:lstStyle/>
        <a:p>
          <a:endParaRPr lang="en-US"/>
        </a:p>
      </dgm:t>
    </dgm:pt>
    <dgm:pt modelId="{B27D0194-626B-4B7E-B215-FC4ADD64CF0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Closing</a:t>
          </a:r>
        </a:p>
      </dgm:t>
    </dgm:pt>
    <dgm:pt modelId="{E7D0C996-3A46-456D-A675-0CF24ACD7493}" type="parTrans" cxnId="{496A7FEB-F9F3-49B2-87F8-A7DB503158A7}">
      <dgm:prSet/>
      <dgm:spPr/>
      <dgm:t>
        <a:bodyPr/>
        <a:lstStyle/>
        <a:p>
          <a:endParaRPr lang="en-US"/>
        </a:p>
      </dgm:t>
    </dgm:pt>
    <dgm:pt modelId="{592F40CC-5F5B-4E86-86DB-EDED83B9F5A5}" type="sibTrans" cxnId="{496A7FEB-F9F3-49B2-87F8-A7DB503158A7}">
      <dgm:prSet/>
      <dgm:spPr/>
      <dgm:t>
        <a:bodyPr/>
        <a:lstStyle/>
        <a:p>
          <a:endParaRPr lang="en-US"/>
        </a:p>
      </dgm:t>
    </dgm:pt>
    <dgm:pt modelId="{5E564713-3E5C-4216-AC76-2C8D569707A1}">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0C8DA182-D421-4374-AA69-62A4033F8D61}" type="parTrans" cxnId="{D5EF1BE8-567B-4AEB-9931-155FFDAC15D1}">
      <dgm:prSet/>
      <dgm:spPr/>
      <dgm:t>
        <a:bodyPr/>
        <a:lstStyle/>
        <a:p>
          <a:endParaRPr lang="en-US"/>
        </a:p>
      </dgm:t>
    </dgm:pt>
    <dgm:pt modelId="{C594015F-2B43-47FD-9E44-22D00FC6EB48}" type="sibTrans" cxnId="{D5EF1BE8-567B-4AEB-9931-155FFDAC15D1}">
      <dgm:prSet/>
      <dgm:spPr/>
      <dgm:t>
        <a:bodyPr/>
        <a:lstStyle/>
        <a:p>
          <a:endParaRPr lang="en-US"/>
        </a:p>
      </dgm:t>
    </dgm:pt>
    <dgm:pt modelId="{885332B7-7246-4244-A0D2-975A33F31079}">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Stop Loss Negotiations</a:t>
          </a:r>
        </a:p>
      </dgm:t>
    </dgm:pt>
    <dgm:pt modelId="{E7FAEC81-7510-4FBC-A43B-11CC7AE943EB}" type="parTrans" cxnId="{0DED00E9-39A7-4A66-81CF-9E58BACE546B}">
      <dgm:prSet/>
      <dgm:spPr/>
      <dgm:t>
        <a:bodyPr/>
        <a:lstStyle/>
        <a:p>
          <a:endParaRPr lang="en-US"/>
        </a:p>
      </dgm:t>
    </dgm:pt>
    <dgm:pt modelId="{505CD4CE-5097-4B20-85CF-86C38AD5B674}" type="sibTrans" cxnId="{0DED00E9-39A7-4A66-81CF-9E58BACE546B}">
      <dgm:prSet/>
      <dgm:spPr/>
      <dgm:t>
        <a:bodyPr/>
        <a:lstStyle/>
        <a:p>
          <a:endParaRPr lang="en-US"/>
        </a:p>
      </dgm:t>
    </dgm:pt>
    <dgm:pt modelId="{EBA74B6E-E441-4C94-B40D-344355E6A2AD}">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Reporting &amp; Analysis</a:t>
          </a:r>
        </a:p>
      </dgm:t>
    </dgm:pt>
    <dgm:pt modelId="{EE185816-4FAD-4377-95BE-CE8785110CA3}" type="parTrans" cxnId="{A69873B0-FF94-42FA-85D6-2178D30F5661}">
      <dgm:prSet/>
      <dgm:spPr/>
      <dgm:t>
        <a:bodyPr/>
        <a:lstStyle/>
        <a:p>
          <a:endParaRPr lang="en-US"/>
        </a:p>
      </dgm:t>
    </dgm:pt>
    <dgm:pt modelId="{2A50F865-EFF3-4244-97F8-F727D47A77B6}" type="sibTrans" cxnId="{A69873B0-FF94-42FA-85D6-2178D30F5661}">
      <dgm:prSet/>
      <dgm:spPr/>
      <dgm:t>
        <a:bodyPr/>
        <a:lstStyle/>
        <a:p>
          <a:endParaRPr lang="en-US"/>
        </a:p>
      </dgm:t>
    </dgm:pt>
    <dgm:pt modelId="{D640020A-77D2-41B3-8CF5-C70AAC2AA6DC}">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Proposal Development</a:t>
          </a:r>
        </a:p>
      </dgm:t>
    </dgm:pt>
    <dgm:pt modelId="{F724F9CA-A993-42BD-9A69-1207E54E7E56}" type="parTrans" cxnId="{AF9CDED6-0EC7-4744-8E01-7561E759F175}">
      <dgm:prSet/>
      <dgm:spPr/>
      <dgm:t>
        <a:bodyPr/>
        <a:lstStyle/>
        <a:p>
          <a:endParaRPr lang="en-US"/>
        </a:p>
      </dgm:t>
    </dgm:pt>
    <dgm:pt modelId="{8E45483F-4EE1-46BA-9F55-8EF02F57610E}" type="sibTrans" cxnId="{AF9CDED6-0EC7-4744-8E01-7561E759F175}">
      <dgm:prSet/>
      <dgm:spPr/>
      <dgm:t>
        <a:bodyPr/>
        <a:lstStyle/>
        <a:p>
          <a:endParaRPr lang="en-US"/>
        </a:p>
      </dgm:t>
    </dgm:pt>
    <dgm:pt modelId="{02E691F9-88D3-4BD2-83C9-F0036F6DAFD4}" type="pres">
      <dgm:prSet presAssocID="{FD150493-506C-4796-9188-B229C3F673EE}" presName="diagram" presStyleCnt="0">
        <dgm:presLayoutVars>
          <dgm:dir/>
          <dgm:animLvl val="lvl"/>
          <dgm:resizeHandles val="exact"/>
        </dgm:presLayoutVars>
      </dgm:prSet>
      <dgm:spPr/>
    </dgm:pt>
    <dgm:pt modelId="{58D04B40-D6D0-4E84-B95B-18F2C07DF5B9}" type="pres">
      <dgm:prSet presAssocID="{D23E581B-AA16-403B-8AF5-1BB3E719881C}" presName="compNode" presStyleCnt="0"/>
      <dgm:spPr/>
    </dgm:pt>
    <dgm:pt modelId="{3F010C22-B439-4BEC-A07A-60ED666B2E08}" type="pres">
      <dgm:prSet presAssocID="{D23E581B-AA16-403B-8AF5-1BB3E719881C}" presName="childRect" presStyleLbl="bgAcc1" presStyleIdx="0" presStyleCnt="3" custScaleY="106070">
        <dgm:presLayoutVars>
          <dgm:bulletEnabled val="1"/>
        </dgm:presLayoutVars>
      </dgm:prSet>
      <dgm:spPr/>
    </dgm:pt>
    <dgm:pt modelId="{5F2862EE-15F0-400F-BA0C-7A5864BA0266}" type="pres">
      <dgm:prSet presAssocID="{D23E581B-AA16-403B-8AF5-1BB3E719881C}" presName="parentText" presStyleLbl="node1" presStyleIdx="0" presStyleCnt="0">
        <dgm:presLayoutVars>
          <dgm:chMax val="0"/>
          <dgm:bulletEnabled val="1"/>
        </dgm:presLayoutVars>
      </dgm:prSet>
      <dgm:spPr/>
    </dgm:pt>
    <dgm:pt modelId="{CBD6250E-21D7-41DA-B5C6-ED9529780301}" type="pres">
      <dgm:prSet presAssocID="{D23E581B-AA16-403B-8AF5-1BB3E719881C}" presName="parentRect" presStyleLbl="alignNode1" presStyleIdx="0" presStyleCnt="3"/>
      <dgm:spPr/>
    </dgm:pt>
    <dgm:pt modelId="{C9DDB7FA-A0FA-4D6A-949B-B117078ADD34}" type="pres">
      <dgm:prSet presAssocID="{D23E581B-AA16-403B-8AF5-1BB3E719881C}" presName="adorn" presStyleLbl="fgAccFollowNode1" presStyleIdx="0" presStyleCnt="3"/>
      <dgm:spPr>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dgm:spPr>
    </dgm:pt>
    <dgm:pt modelId="{E77E4508-34B4-407E-AA04-E065337321D5}" type="pres">
      <dgm:prSet presAssocID="{1A5DEF5B-E65A-4FF8-AF95-9D9360F04B85}" presName="sibTrans" presStyleLbl="sibTrans2D1" presStyleIdx="0" presStyleCnt="0"/>
      <dgm:spPr/>
    </dgm:pt>
    <dgm:pt modelId="{9DA3E70E-BD71-4D3F-B533-03B38D4C3DF0}" type="pres">
      <dgm:prSet presAssocID="{137481BD-655E-4B21-9249-6EBB92970AA3}" presName="compNode" presStyleCnt="0"/>
      <dgm:spPr/>
    </dgm:pt>
    <dgm:pt modelId="{8C4E3136-41AF-48D5-891D-C7A5263CF655}" type="pres">
      <dgm:prSet presAssocID="{137481BD-655E-4B21-9249-6EBB92970AA3}" presName="childRect" presStyleLbl="bgAcc1" presStyleIdx="1" presStyleCnt="3" custScaleY="106070">
        <dgm:presLayoutVars>
          <dgm:bulletEnabled val="1"/>
        </dgm:presLayoutVars>
      </dgm:prSet>
      <dgm:spPr/>
    </dgm:pt>
    <dgm:pt modelId="{87CDE648-3631-45A2-81CB-A378391DE746}" type="pres">
      <dgm:prSet presAssocID="{137481BD-655E-4B21-9249-6EBB92970AA3}" presName="parentText" presStyleLbl="node1" presStyleIdx="0" presStyleCnt="0">
        <dgm:presLayoutVars>
          <dgm:chMax val="0"/>
          <dgm:bulletEnabled val="1"/>
        </dgm:presLayoutVars>
      </dgm:prSet>
      <dgm:spPr/>
    </dgm:pt>
    <dgm:pt modelId="{79A312E4-6849-4D68-ADD1-B772AC6F907C}" type="pres">
      <dgm:prSet presAssocID="{137481BD-655E-4B21-9249-6EBB92970AA3}" presName="parentRect" presStyleLbl="alignNode1" presStyleIdx="1" presStyleCnt="3"/>
      <dgm:spPr/>
    </dgm:pt>
    <dgm:pt modelId="{59AE0CE5-CBA7-420A-835A-5F5591837FE8}" type="pres">
      <dgm:prSet presAssocID="{137481BD-655E-4B21-9249-6EBB92970AA3}" presName="adorn" presStyleLbl="fgAccFollowNode1" presStyleIdx="1" presStyleCnt="3"/>
      <dgm:spPr>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dgm:spPr>
    </dgm:pt>
    <dgm:pt modelId="{D3E0BD9C-A15C-4128-8A3E-11E4925B5449}" type="pres">
      <dgm:prSet presAssocID="{6DA4AAFE-429F-489B-91ED-08FB3BF54110}" presName="sibTrans" presStyleLbl="sibTrans2D1" presStyleIdx="0" presStyleCnt="0"/>
      <dgm:spPr/>
    </dgm:pt>
    <dgm:pt modelId="{FEE7CB4D-9AA0-4FA3-ACBC-9D2E9B793FB1}" type="pres">
      <dgm:prSet presAssocID="{8AA02574-A625-4CCB-B607-53FB332909CE}" presName="compNode" presStyleCnt="0"/>
      <dgm:spPr/>
    </dgm:pt>
    <dgm:pt modelId="{35B06EAE-30F4-4745-ACED-5452905F1416}" type="pres">
      <dgm:prSet presAssocID="{8AA02574-A625-4CCB-B607-53FB332909CE}" presName="childRect" presStyleLbl="bgAcc1" presStyleIdx="2" presStyleCnt="3" custScaleY="106070">
        <dgm:presLayoutVars>
          <dgm:bulletEnabled val="1"/>
        </dgm:presLayoutVars>
      </dgm:prSet>
      <dgm:spPr/>
    </dgm:pt>
    <dgm:pt modelId="{9E8AA967-F63D-4462-B3DF-2E61DCE37D82}" type="pres">
      <dgm:prSet presAssocID="{8AA02574-A625-4CCB-B607-53FB332909CE}" presName="parentText" presStyleLbl="node1" presStyleIdx="0" presStyleCnt="0">
        <dgm:presLayoutVars>
          <dgm:chMax val="0"/>
          <dgm:bulletEnabled val="1"/>
        </dgm:presLayoutVars>
      </dgm:prSet>
      <dgm:spPr/>
    </dgm:pt>
    <dgm:pt modelId="{A8558B5A-0979-484B-BD3E-256476C68F9A}" type="pres">
      <dgm:prSet presAssocID="{8AA02574-A625-4CCB-B607-53FB332909CE}" presName="parentRect" presStyleLbl="alignNode1" presStyleIdx="2" presStyleCnt="3"/>
      <dgm:spPr/>
    </dgm:pt>
    <dgm:pt modelId="{1AE27240-F06A-48BF-83C8-82D83CBD609C}" type="pres">
      <dgm:prSet presAssocID="{8AA02574-A625-4CCB-B607-53FB332909CE}" presName="adorn" presStyleLbl="fgAccFollowNode1" presStyleIdx="2" presStyleCnt="3"/>
      <dgm:spPr>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dgm:spPr>
    </dgm:pt>
  </dgm:ptLst>
  <dgm:cxnLst>
    <dgm:cxn modelId="{04823003-2C67-4DC4-A96A-9D1D87D33B2A}" srcId="{FD150493-506C-4796-9188-B229C3F673EE}" destId="{8AA02574-A625-4CCB-B607-53FB332909CE}" srcOrd="2" destOrd="0" parTransId="{03E4F07C-7651-4A84-978A-18980E54788A}" sibTransId="{A59D420A-0509-48A4-84B8-BD859CBDE972}"/>
    <dgm:cxn modelId="{7B42FE03-BD6F-43D6-BBCC-B71496222048}" type="presOf" srcId="{18F7CD44-01BC-420F-8F77-B2F834061C56}" destId="{3F010C22-B439-4BEC-A07A-60ED666B2E08}" srcOrd="0" destOrd="3" presId="urn:microsoft.com/office/officeart/2005/8/layout/bList2"/>
    <dgm:cxn modelId="{54060E05-1455-499C-A6BB-E47A1C8EFC1A}" type="presOf" srcId="{B1FA3D48-7F41-4C46-99D6-6C8591F4198C}" destId="{8C4E3136-41AF-48D5-891D-C7A5263CF655}" srcOrd="0" destOrd="5" presId="urn:microsoft.com/office/officeart/2005/8/layout/bList2"/>
    <dgm:cxn modelId="{EBF30808-A408-4F9D-B9C2-E5FC4507A989}" srcId="{137481BD-655E-4B21-9249-6EBB92970AA3}" destId="{B1FA3D48-7F41-4C46-99D6-6C8591F4198C}" srcOrd="5" destOrd="0" parTransId="{012C922E-7A6C-43B7-A753-53C75D0CB07F}" sibTransId="{4E6B45C1-37A8-43E1-8B00-EA4364BA9A53}"/>
    <dgm:cxn modelId="{3D9A0B09-6AB4-485F-8CF6-E2667BD0F39D}" type="presOf" srcId="{EEE8F098-CBAA-4FDF-AD53-BB2438D100F7}" destId="{8C4E3136-41AF-48D5-891D-C7A5263CF655}" srcOrd="0" destOrd="3" presId="urn:microsoft.com/office/officeart/2005/8/layout/bList2"/>
    <dgm:cxn modelId="{6D174311-286B-4901-9809-DB185CC1A3A7}" type="presOf" srcId="{52909B4C-F1D6-4114-81F2-43FEC7AE2687}" destId="{8C4E3136-41AF-48D5-891D-C7A5263CF655}" srcOrd="0" destOrd="2" presId="urn:microsoft.com/office/officeart/2005/8/layout/bList2"/>
    <dgm:cxn modelId="{C7F2A021-2EC4-4FB9-98C4-91297D552460}" srcId="{D23E581B-AA16-403B-8AF5-1BB3E719881C}" destId="{8D4A55D0-1681-418C-B4D4-503419A60283}" srcOrd="1" destOrd="0" parTransId="{011C8C61-B114-4F8E-977C-29D521EDD73E}" sibTransId="{FAFC1358-B61D-4F1C-8954-5762C6025450}"/>
    <dgm:cxn modelId="{8B104222-6399-4A64-A215-E3EBB8CBBCE9}" srcId="{8AA02574-A625-4CCB-B607-53FB332909CE}" destId="{A6159738-FDC8-4527-9EE7-E748F5F180C4}" srcOrd="4" destOrd="0" parTransId="{A32F0CB0-B068-4A83-8EE1-38AABA44839F}" sibTransId="{56F68E1F-8354-4732-BE63-FD4638DDCC41}"/>
    <dgm:cxn modelId="{7B680F26-15C7-4ECC-9BE4-0E8E90993F89}" type="presOf" srcId="{D640020A-77D2-41B3-8CF5-C70AAC2AA6DC}" destId="{35B06EAE-30F4-4745-ACED-5452905F1416}" srcOrd="0" destOrd="1" presId="urn:microsoft.com/office/officeart/2005/8/layout/bList2"/>
    <dgm:cxn modelId="{7E2CEC2B-6FA7-4859-8C81-1D70C53CD08B}" type="presOf" srcId="{885332B7-7246-4244-A0D2-975A33F31079}" destId="{35B06EAE-30F4-4745-ACED-5452905F1416}" srcOrd="0" destOrd="2" presId="urn:microsoft.com/office/officeart/2005/8/layout/bList2"/>
    <dgm:cxn modelId="{67E03231-DB0E-4277-AB75-FBA53D566E93}" type="presOf" srcId="{6DA4AAFE-429F-489B-91ED-08FB3BF54110}" destId="{D3E0BD9C-A15C-4128-8A3E-11E4925B5449}" srcOrd="0" destOrd="0" presId="urn:microsoft.com/office/officeart/2005/8/layout/bList2"/>
    <dgm:cxn modelId="{83C4A231-D186-4969-BA3D-B7D11C49A7DB}" type="presOf" srcId="{FD150493-506C-4796-9188-B229C3F673EE}" destId="{02E691F9-88D3-4BD2-83C9-F0036F6DAFD4}" srcOrd="0" destOrd="0" presId="urn:microsoft.com/office/officeart/2005/8/layout/bList2"/>
    <dgm:cxn modelId="{2F92E761-FCD0-4BDD-A76B-9C732D3383BD}" srcId="{FD150493-506C-4796-9188-B229C3F673EE}" destId="{D23E581B-AA16-403B-8AF5-1BB3E719881C}" srcOrd="0" destOrd="0" parTransId="{B1EFF21B-7CA5-4F93-B9E5-5284C3F28E15}" sibTransId="{1A5DEF5B-E65A-4FF8-AF95-9D9360F04B85}"/>
    <dgm:cxn modelId="{6F5B0544-A529-4966-AB26-9F11B7AE40CA}" type="presOf" srcId="{137481BD-655E-4B21-9249-6EBB92970AA3}" destId="{79A312E4-6849-4D68-ADD1-B772AC6F907C}" srcOrd="1" destOrd="0" presId="urn:microsoft.com/office/officeart/2005/8/layout/bList2"/>
    <dgm:cxn modelId="{E5A01246-CF50-42C5-A8E0-61A3D4EDFDAD}" srcId="{137481BD-655E-4B21-9249-6EBB92970AA3}" destId="{52909B4C-F1D6-4114-81F2-43FEC7AE2687}" srcOrd="2" destOrd="0" parTransId="{1E4615D3-4B3A-437B-A9CD-82E4CFF8FA93}" sibTransId="{7A8627E2-A1BB-4202-B6A1-492AAA800E1E}"/>
    <dgm:cxn modelId="{338AA666-5CD1-4B0E-8D79-42A1DB196BFE}" type="presOf" srcId="{8D4A55D0-1681-418C-B4D4-503419A60283}" destId="{3F010C22-B439-4BEC-A07A-60ED666B2E08}" srcOrd="0" destOrd="1" presId="urn:microsoft.com/office/officeart/2005/8/layout/bList2"/>
    <dgm:cxn modelId="{FA50D26E-BC2C-4CD7-B6FF-610BE97ECCDC}" type="presOf" srcId="{EBA74B6E-E441-4C94-B40D-344355E6A2AD}" destId="{35B06EAE-30F4-4745-ACED-5452905F1416}" srcOrd="0" destOrd="3" presId="urn:microsoft.com/office/officeart/2005/8/layout/bList2"/>
    <dgm:cxn modelId="{4A2F2F51-3B2B-4AB0-8F0E-60C80B592AE5}" srcId="{137481BD-655E-4B21-9249-6EBB92970AA3}" destId="{EF258820-A04A-4B12-9D99-F238EA304160}" srcOrd="1" destOrd="0" parTransId="{A7BE2C5B-83D4-42C4-A4B2-538C9CC1DDC3}" sibTransId="{1D731E4C-0D14-463F-B6A4-B4F760D2ECA9}"/>
    <dgm:cxn modelId="{A94A4D77-D410-4172-B3AA-E2ACA791F98F}" srcId="{8AA02574-A625-4CCB-B607-53FB332909CE}" destId="{8F0095CA-0C27-493A-9874-D794A8A73536}" srcOrd="0" destOrd="0" parTransId="{CDC7246F-F150-4E81-9FFD-97B9BE41076B}" sibTransId="{510451AB-9983-4AEA-8022-D0BC130E6092}"/>
    <dgm:cxn modelId="{EEE04859-9D6F-4F7C-A816-0425AD38F258}" type="presOf" srcId="{D23E581B-AA16-403B-8AF5-1BB3E719881C}" destId="{CBD6250E-21D7-41DA-B5C6-ED9529780301}" srcOrd="1" destOrd="0" presId="urn:microsoft.com/office/officeart/2005/8/layout/bList2"/>
    <dgm:cxn modelId="{C3C9F559-4F82-4941-A725-E9BCE191CFCA}" type="presOf" srcId="{5E564713-3E5C-4216-AC76-2C8D569707A1}" destId="{35B06EAE-30F4-4745-ACED-5452905F1416}" srcOrd="0" destOrd="5" presId="urn:microsoft.com/office/officeart/2005/8/layout/bList2"/>
    <dgm:cxn modelId="{49843980-F694-4D65-86B3-4D28E75D1CAD}" type="presOf" srcId="{137481BD-655E-4B21-9249-6EBB92970AA3}" destId="{87CDE648-3631-45A2-81CB-A378391DE746}" srcOrd="0" destOrd="0" presId="urn:microsoft.com/office/officeart/2005/8/layout/bList2"/>
    <dgm:cxn modelId="{BAD32D88-086B-4163-8EEE-CFA5FBE13314}" type="presOf" srcId="{F7F7C9CC-CBF7-4EC6-A201-AF42BC40F2A0}" destId="{8C4E3136-41AF-48D5-891D-C7A5263CF655}" srcOrd="0" destOrd="0" presId="urn:microsoft.com/office/officeart/2005/8/layout/bList2"/>
    <dgm:cxn modelId="{E3215492-455E-4EA7-919D-4D44F840E9C9}" srcId="{137481BD-655E-4B21-9249-6EBB92970AA3}" destId="{F7F7C9CC-CBF7-4EC6-A201-AF42BC40F2A0}" srcOrd="0" destOrd="0" parTransId="{9087CC11-EF03-4DA5-ABF7-19F2B693FB4C}" sibTransId="{43B95110-FECF-4DEB-82CB-554B129E2221}"/>
    <dgm:cxn modelId="{F91C5992-82A2-4E51-88AD-3B34B316A11D}" srcId="{D23E581B-AA16-403B-8AF5-1BB3E719881C}" destId="{7FF46690-C008-4C6D-8B8B-295F75E0DB90}" srcOrd="0" destOrd="0" parTransId="{8D0C7DC4-BF81-461E-AD4F-3807C09AE856}" sibTransId="{B3C1D7E9-AE25-4261-B242-F121DEE18B6F}"/>
    <dgm:cxn modelId="{4223F69E-8990-4F1E-B5FB-EA7DF1360CD2}" type="presOf" srcId="{EF258820-A04A-4B12-9D99-F238EA304160}" destId="{8C4E3136-41AF-48D5-891D-C7A5263CF655}" srcOrd="0" destOrd="1" presId="urn:microsoft.com/office/officeart/2005/8/layout/bList2"/>
    <dgm:cxn modelId="{92EAACA0-EC69-4A7A-A0D6-B767ABABFD4D}" type="presOf" srcId="{8AA02574-A625-4CCB-B607-53FB332909CE}" destId="{9E8AA967-F63D-4462-B3DF-2E61DCE37D82}" srcOrd="0" destOrd="0" presId="urn:microsoft.com/office/officeart/2005/8/layout/bList2"/>
    <dgm:cxn modelId="{A32D6DAF-29BD-4DA0-8A68-C96BC152DC95}" type="presOf" srcId="{B27D0194-626B-4B7E-B215-FC4ADD64CF06}" destId="{8C4E3136-41AF-48D5-891D-C7A5263CF655}" srcOrd="0" destOrd="4" presId="urn:microsoft.com/office/officeart/2005/8/layout/bList2"/>
    <dgm:cxn modelId="{00FED3AF-57A0-4536-AF96-3C7ACD6762BC}" type="presOf" srcId="{A6159738-FDC8-4527-9EE7-E748F5F180C4}" destId="{35B06EAE-30F4-4745-ACED-5452905F1416}" srcOrd="0" destOrd="4" presId="urn:microsoft.com/office/officeart/2005/8/layout/bList2"/>
    <dgm:cxn modelId="{A69873B0-FF94-42FA-85D6-2178D30F5661}" srcId="{8AA02574-A625-4CCB-B607-53FB332909CE}" destId="{EBA74B6E-E441-4C94-B40D-344355E6A2AD}" srcOrd="3" destOrd="0" parTransId="{EE185816-4FAD-4377-95BE-CE8785110CA3}" sibTransId="{2A50F865-EFF3-4244-97F8-F727D47A77B6}"/>
    <dgm:cxn modelId="{2B3431C1-9B14-46D0-BBBE-04A6E3263EF3}" type="presOf" srcId="{55B6DA3F-4BB5-419B-93D9-A3F482FE7CD2}" destId="{3F010C22-B439-4BEC-A07A-60ED666B2E08}" srcOrd="0" destOrd="2" presId="urn:microsoft.com/office/officeart/2005/8/layout/bList2"/>
    <dgm:cxn modelId="{3942E9C9-D4D9-4DE8-814F-990DD7368247}" srcId="{D23E581B-AA16-403B-8AF5-1BB3E719881C}" destId="{55B6DA3F-4BB5-419B-93D9-A3F482FE7CD2}" srcOrd="2" destOrd="0" parTransId="{040046BF-2D82-47BD-903B-6D20E5A82A2F}" sibTransId="{67C7D3C6-55FB-420A-8BE3-EEF7B8227D00}"/>
    <dgm:cxn modelId="{51B92CD5-97D5-40B6-AB85-7E46EB3A8DAD}" srcId="{137481BD-655E-4B21-9249-6EBB92970AA3}" destId="{EEE8F098-CBAA-4FDF-AD53-BB2438D100F7}" srcOrd="3" destOrd="0" parTransId="{6B7527E6-8507-4045-9B6E-9CF72FEF5E95}" sibTransId="{CE2375D9-47D1-49B0-BEE1-C3E70E7CB9E2}"/>
    <dgm:cxn modelId="{AF9CDED6-0EC7-4744-8E01-7561E759F175}" srcId="{8AA02574-A625-4CCB-B607-53FB332909CE}" destId="{D640020A-77D2-41B3-8CF5-C70AAC2AA6DC}" srcOrd="1" destOrd="0" parTransId="{F724F9CA-A993-42BD-9A69-1207E54E7E56}" sibTransId="{8E45483F-4EE1-46BA-9F55-8EF02F57610E}"/>
    <dgm:cxn modelId="{FB851ADA-FDC3-4AC9-B5D1-634F1680EA45}" type="presOf" srcId="{D23E581B-AA16-403B-8AF5-1BB3E719881C}" destId="{5F2862EE-15F0-400F-BA0C-7A5864BA0266}" srcOrd="0" destOrd="0" presId="urn:microsoft.com/office/officeart/2005/8/layout/bList2"/>
    <dgm:cxn modelId="{8162C5E1-8299-4C0D-976A-C6AE3B6A2219}" srcId="{D23E581B-AA16-403B-8AF5-1BB3E719881C}" destId="{18F7CD44-01BC-420F-8F77-B2F834061C56}" srcOrd="3" destOrd="0" parTransId="{626F4F01-D67C-46BF-BE55-EDE98335CEFB}" sibTransId="{D05D3DF4-0111-4D0B-86E5-ADEE05D7B77E}"/>
    <dgm:cxn modelId="{D5EF1BE8-567B-4AEB-9931-155FFDAC15D1}" srcId="{8AA02574-A625-4CCB-B607-53FB332909CE}" destId="{5E564713-3E5C-4216-AC76-2C8D569707A1}" srcOrd="5" destOrd="0" parTransId="{0C8DA182-D421-4374-AA69-62A4033F8D61}" sibTransId="{C594015F-2B43-47FD-9E44-22D00FC6EB48}"/>
    <dgm:cxn modelId="{0DED00E9-39A7-4A66-81CF-9E58BACE546B}" srcId="{8AA02574-A625-4CCB-B607-53FB332909CE}" destId="{885332B7-7246-4244-A0D2-975A33F31079}" srcOrd="2" destOrd="0" parTransId="{E7FAEC81-7510-4FBC-A43B-11CC7AE943EB}" sibTransId="{505CD4CE-5097-4B20-85CF-86C38AD5B674}"/>
    <dgm:cxn modelId="{AECB39EB-1DBA-434A-8146-CF9B196B8451}" type="presOf" srcId="{8F0095CA-0C27-493A-9874-D794A8A73536}" destId="{35B06EAE-30F4-4745-ACED-5452905F1416}" srcOrd="0" destOrd="0" presId="urn:microsoft.com/office/officeart/2005/8/layout/bList2"/>
    <dgm:cxn modelId="{496A7FEB-F9F3-49B2-87F8-A7DB503158A7}" srcId="{137481BD-655E-4B21-9249-6EBB92970AA3}" destId="{B27D0194-626B-4B7E-B215-FC4ADD64CF06}" srcOrd="4" destOrd="0" parTransId="{E7D0C996-3A46-456D-A675-0CF24ACD7493}" sibTransId="{592F40CC-5F5B-4E86-86DB-EDED83B9F5A5}"/>
    <dgm:cxn modelId="{A3AD3BED-9760-4A23-A6A8-1FADD02C6B08}" type="presOf" srcId="{1A5DEF5B-E65A-4FF8-AF95-9D9360F04B85}" destId="{E77E4508-34B4-407E-AA04-E065337321D5}" srcOrd="0" destOrd="0" presId="urn:microsoft.com/office/officeart/2005/8/layout/bList2"/>
    <dgm:cxn modelId="{758129EF-89A9-4155-9DEC-39FAD16AFE4C}" type="presOf" srcId="{7FF46690-C008-4C6D-8B8B-295F75E0DB90}" destId="{3F010C22-B439-4BEC-A07A-60ED666B2E08}" srcOrd="0" destOrd="0" presId="urn:microsoft.com/office/officeart/2005/8/layout/bList2"/>
    <dgm:cxn modelId="{9E65D2EF-C724-4A4E-A250-0CDA6B8D3B0C}" type="presOf" srcId="{8AA02574-A625-4CCB-B607-53FB332909CE}" destId="{A8558B5A-0979-484B-BD3E-256476C68F9A}" srcOrd="1" destOrd="0" presId="urn:microsoft.com/office/officeart/2005/8/layout/bList2"/>
    <dgm:cxn modelId="{BE4C9AF1-D175-4190-956C-E575898133B0}" srcId="{FD150493-506C-4796-9188-B229C3F673EE}" destId="{137481BD-655E-4B21-9249-6EBB92970AA3}" srcOrd="1" destOrd="0" parTransId="{ACB6711E-EC99-4F64-AEE7-58413CCAC090}" sibTransId="{6DA4AAFE-429F-489B-91ED-08FB3BF54110}"/>
    <dgm:cxn modelId="{B5885EA0-DA88-4518-B897-8E4982D27502}" type="presParOf" srcId="{02E691F9-88D3-4BD2-83C9-F0036F6DAFD4}" destId="{58D04B40-D6D0-4E84-B95B-18F2C07DF5B9}" srcOrd="0" destOrd="0" presId="urn:microsoft.com/office/officeart/2005/8/layout/bList2"/>
    <dgm:cxn modelId="{0CC27C19-DFA1-4B50-89B5-9D9EF36DF7F7}" type="presParOf" srcId="{58D04B40-D6D0-4E84-B95B-18F2C07DF5B9}" destId="{3F010C22-B439-4BEC-A07A-60ED666B2E08}" srcOrd="0" destOrd="0" presId="urn:microsoft.com/office/officeart/2005/8/layout/bList2"/>
    <dgm:cxn modelId="{902D026E-25F8-4507-85F1-8886A8485D85}" type="presParOf" srcId="{58D04B40-D6D0-4E84-B95B-18F2C07DF5B9}" destId="{5F2862EE-15F0-400F-BA0C-7A5864BA0266}" srcOrd="1" destOrd="0" presId="urn:microsoft.com/office/officeart/2005/8/layout/bList2"/>
    <dgm:cxn modelId="{200FCB12-E1A4-4B3E-91D1-228A8C46AB54}" type="presParOf" srcId="{58D04B40-D6D0-4E84-B95B-18F2C07DF5B9}" destId="{CBD6250E-21D7-41DA-B5C6-ED9529780301}" srcOrd="2" destOrd="0" presId="urn:microsoft.com/office/officeart/2005/8/layout/bList2"/>
    <dgm:cxn modelId="{7012B8A7-875F-46B3-8C5A-A9BD60F7D309}" type="presParOf" srcId="{58D04B40-D6D0-4E84-B95B-18F2C07DF5B9}" destId="{C9DDB7FA-A0FA-4D6A-949B-B117078ADD34}" srcOrd="3" destOrd="0" presId="urn:microsoft.com/office/officeart/2005/8/layout/bList2"/>
    <dgm:cxn modelId="{BC40FDAD-F912-41AF-8C81-6A33BE58279A}" type="presParOf" srcId="{02E691F9-88D3-4BD2-83C9-F0036F6DAFD4}" destId="{E77E4508-34B4-407E-AA04-E065337321D5}" srcOrd="1" destOrd="0" presId="urn:microsoft.com/office/officeart/2005/8/layout/bList2"/>
    <dgm:cxn modelId="{FF99F07A-CF7A-4B8D-99C8-32ABC0973A79}" type="presParOf" srcId="{02E691F9-88D3-4BD2-83C9-F0036F6DAFD4}" destId="{9DA3E70E-BD71-4D3F-B533-03B38D4C3DF0}" srcOrd="2" destOrd="0" presId="urn:microsoft.com/office/officeart/2005/8/layout/bList2"/>
    <dgm:cxn modelId="{293E5CD8-2971-4070-8F9A-C3CF67512C00}" type="presParOf" srcId="{9DA3E70E-BD71-4D3F-B533-03B38D4C3DF0}" destId="{8C4E3136-41AF-48D5-891D-C7A5263CF655}" srcOrd="0" destOrd="0" presId="urn:microsoft.com/office/officeart/2005/8/layout/bList2"/>
    <dgm:cxn modelId="{03C40921-D762-4C86-9E2B-9930035E07F1}" type="presParOf" srcId="{9DA3E70E-BD71-4D3F-B533-03B38D4C3DF0}" destId="{87CDE648-3631-45A2-81CB-A378391DE746}" srcOrd="1" destOrd="0" presId="urn:microsoft.com/office/officeart/2005/8/layout/bList2"/>
    <dgm:cxn modelId="{B22706E5-299E-4A4D-BE8A-BEA92B369AC1}" type="presParOf" srcId="{9DA3E70E-BD71-4D3F-B533-03B38D4C3DF0}" destId="{79A312E4-6849-4D68-ADD1-B772AC6F907C}" srcOrd="2" destOrd="0" presId="urn:microsoft.com/office/officeart/2005/8/layout/bList2"/>
    <dgm:cxn modelId="{BA59C74A-96C1-4D66-B62F-0D9FD3E10D2E}" type="presParOf" srcId="{9DA3E70E-BD71-4D3F-B533-03B38D4C3DF0}" destId="{59AE0CE5-CBA7-420A-835A-5F5591837FE8}" srcOrd="3" destOrd="0" presId="urn:microsoft.com/office/officeart/2005/8/layout/bList2"/>
    <dgm:cxn modelId="{D569563E-4821-4932-9DEE-077AF6C7AC8D}" type="presParOf" srcId="{02E691F9-88D3-4BD2-83C9-F0036F6DAFD4}" destId="{D3E0BD9C-A15C-4128-8A3E-11E4925B5449}" srcOrd="3" destOrd="0" presId="urn:microsoft.com/office/officeart/2005/8/layout/bList2"/>
    <dgm:cxn modelId="{BA380A69-4FA1-47AC-9025-058A2CE8BDB0}" type="presParOf" srcId="{02E691F9-88D3-4BD2-83C9-F0036F6DAFD4}" destId="{FEE7CB4D-9AA0-4FA3-ACBC-9D2E9B793FB1}" srcOrd="4" destOrd="0" presId="urn:microsoft.com/office/officeart/2005/8/layout/bList2"/>
    <dgm:cxn modelId="{7816995C-B8DE-43A8-95DC-F6E98D106E71}" type="presParOf" srcId="{FEE7CB4D-9AA0-4FA3-ACBC-9D2E9B793FB1}" destId="{35B06EAE-30F4-4745-ACED-5452905F1416}" srcOrd="0" destOrd="0" presId="urn:microsoft.com/office/officeart/2005/8/layout/bList2"/>
    <dgm:cxn modelId="{282DD5D8-A007-4939-9EE0-EB47E62C0F7D}" type="presParOf" srcId="{FEE7CB4D-9AA0-4FA3-ACBC-9D2E9B793FB1}" destId="{9E8AA967-F63D-4462-B3DF-2E61DCE37D82}" srcOrd="1" destOrd="0" presId="urn:microsoft.com/office/officeart/2005/8/layout/bList2"/>
    <dgm:cxn modelId="{D9AD3E0C-08BA-47EA-993B-0B017926FEC1}" type="presParOf" srcId="{FEE7CB4D-9AA0-4FA3-ACBC-9D2E9B793FB1}" destId="{A8558B5A-0979-484B-BD3E-256476C68F9A}" srcOrd="2" destOrd="0" presId="urn:microsoft.com/office/officeart/2005/8/layout/bList2"/>
    <dgm:cxn modelId="{AB163A00-5796-4F8F-85A5-9EA91057261F}" type="presParOf" srcId="{FEE7CB4D-9AA0-4FA3-ACBC-9D2E9B793FB1}" destId="{1AE27240-F06A-48BF-83C8-82D83CBD609C}" srcOrd="3" destOrd="0" presId="urn:microsoft.com/office/officeart/2005/8/layout/b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r>
            <a:rPr lang="en-US" sz="2000" dirty="0"/>
            <a:t>To Determine Gaps in Medical Service Delivery</a:t>
          </a:r>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r>
            <a:rPr lang="en-US" sz="2000" dirty="0"/>
            <a:t>To Dial in Competitive Stop-Loss Rates and SLUHN’s Net Revenues/Margins</a:t>
          </a:r>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885E5002-0CF3-4E48-8AF2-CFDE3D9C5F95}">
      <dgm:prSet phldrT="[Text]" custT="1"/>
      <dgm:spPr>
        <a:scene3d>
          <a:camera prst="orthographicFront">
            <a:rot lat="0" lon="0" rev="0"/>
          </a:camera>
          <a:lightRig rig="balanced" dir="t">
            <a:rot lat="0" lon="0" rev="8700000"/>
          </a:lightRig>
        </a:scene3d>
        <a:sp3d>
          <a:bevelT w="190500" h="38100"/>
        </a:sp3d>
      </dgm:spPr>
      <dgm:t>
        <a:bodyPr/>
        <a:lstStyle/>
        <a:p>
          <a:r>
            <a:rPr lang="en-US" sz="2000" dirty="0"/>
            <a:t>Other Key Providers to Potentially Contract with on Behalf of SLUHN</a:t>
          </a:r>
        </a:p>
      </dgm:t>
    </dgm:pt>
    <dgm:pt modelId="{07951373-8690-4CF3-80AA-9EE02677643E}" type="parTrans" cxnId="{267E981E-83E8-4C0D-BB69-6B487689D409}">
      <dgm:prSet/>
      <dgm:spPr/>
      <dgm:t>
        <a:bodyPr/>
        <a:lstStyle/>
        <a:p>
          <a:endParaRPr lang="en-US"/>
        </a:p>
      </dgm:t>
    </dgm:pt>
    <dgm:pt modelId="{403B5D3A-5EA7-4D99-AA1B-EF659D635465}" type="sibTrans" cxnId="{267E981E-83E8-4C0D-BB69-6B487689D409}">
      <dgm:prSet/>
      <dgm:spPr/>
      <dgm:t>
        <a:bodyPr/>
        <a:lstStyle/>
        <a:p>
          <a:endParaRPr lang="en-US"/>
        </a:p>
      </dgm:t>
    </dgm:pt>
    <dgm:pt modelId="{23191ED5-1888-4BB0-9F9A-309AED5CED4E}">
      <dgm:prSet phldrT="[Text]" custT="1"/>
      <dgm:spPr>
        <a:scene3d>
          <a:camera prst="orthographicFront">
            <a:rot lat="0" lon="0" rev="0"/>
          </a:camera>
          <a:lightRig rig="balanced" dir="t">
            <a:rot lat="0" lon="0" rev="8700000"/>
          </a:lightRig>
        </a:scene3d>
        <a:sp3d>
          <a:bevelT w="190500" h="38100"/>
        </a:sp3d>
      </dgm:spPr>
      <dgm:t>
        <a:bodyPr/>
        <a:lstStyle/>
        <a:p>
          <a:r>
            <a:rPr lang="en-US" sz="2000" dirty="0"/>
            <a:t>Wrap Network to Cover All Other Provider Types</a:t>
          </a:r>
        </a:p>
      </dgm:t>
    </dgm:pt>
    <dgm:pt modelId="{0A0CA7F0-53C9-4FC2-BC2C-EDE139D4D9C8}" type="parTrans" cxnId="{81AA961E-5D70-45AE-9F1B-573FDECD21C7}">
      <dgm:prSet/>
      <dgm:spPr/>
      <dgm:t>
        <a:bodyPr/>
        <a:lstStyle/>
        <a:p>
          <a:endParaRPr lang="en-US"/>
        </a:p>
      </dgm:t>
    </dgm:pt>
    <dgm:pt modelId="{9F6230AE-2605-4E3D-A7D9-6B64831FBD6F}" type="sibTrans" cxnId="{81AA961E-5D70-45AE-9F1B-573FDECD21C7}">
      <dgm:prSet/>
      <dgm:spPr/>
      <dgm:t>
        <a:bodyPr/>
        <a:lstStyle/>
        <a:p>
          <a:endParaRPr lang="en-US"/>
        </a:p>
      </dgm:t>
    </dgm:pt>
    <dgm:pt modelId="{16E133FC-BA70-43F5-8C55-AFF6DC83BF5E}">
      <dgm:prSet phldrT="[Text]" custT="1"/>
      <dgm:spPr>
        <a:scene3d>
          <a:camera prst="orthographicFront">
            <a:rot lat="0" lon="0" rev="0"/>
          </a:camera>
          <a:lightRig rig="balanced" dir="t">
            <a:rot lat="0" lon="0" rev="8700000"/>
          </a:lightRig>
        </a:scene3d>
        <a:sp3d>
          <a:bevelT w="190500" h="38100"/>
        </a:sp3d>
      </dgm:spPr>
      <dgm:t>
        <a:bodyPr/>
        <a:lstStyle/>
        <a:p>
          <a:r>
            <a:rPr lang="en-US" sz="2000" dirty="0"/>
            <a:t>Actuarial Evaluation Compared to the Market</a:t>
          </a:r>
        </a:p>
      </dgm:t>
    </dgm:pt>
    <dgm:pt modelId="{A9A7716D-DA07-4969-B9E2-56090C4EA54A}" type="parTrans" cxnId="{7370C76C-6808-4562-9788-BC084F7259FA}">
      <dgm:prSet/>
      <dgm:spPr/>
      <dgm:t>
        <a:bodyPr/>
        <a:lstStyle/>
        <a:p>
          <a:endParaRPr lang="en-US"/>
        </a:p>
      </dgm:t>
    </dgm:pt>
    <dgm:pt modelId="{771E70D2-8F9D-4C66-9CF5-E0513F394A68}" type="sibTrans" cxnId="{7370C76C-6808-4562-9788-BC084F7259FA}">
      <dgm:prSet/>
      <dgm:spPr/>
      <dgm:t>
        <a:bodyPr/>
        <a:lstStyle/>
        <a:p>
          <a:endParaRPr lang="en-US"/>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8F734B10-A13F-4999-98E5-AA65E975BC8C}" type="presOf" srcId="{16E133FC-BA70-43F5-8C55-AFF6DC83BF5E}" destId="{FE1F4B02-EB68-4CAB-8CF0-3D5AB6A01850}" srcOrd="0" destOrd="1" presId="urn:microsoft.com/office/officeart/2005/8/layout/chevron2"/>
    <dgm:cxn modelId="{81AA961E-5D70-45AE-9F1B-573FDECD21C7}" srcId="{47BCB690-E656-418C-B55B-B79A4FCE6245}" destId="{23191ED5-1888-4BB0-9F9A-309AED5CED4E}" srcOrd="2" destOrd="0" parTransId="{0A0CA7F0-53C9-4FC2-BC2C-EDE139D4D9C8}" sibTransId="{9F6230AE-2605-4E3D-A7D9-6B64831FBD6F}"/>
    <dgm:cxn modelId="{267E981E-83E8-4C0D-BB69-6B487689D409}" srcId="{47BCB690-E656-418C-B55B-B79A4FCE6245}" destId="{885E5002-0CF3-4E48-8AF2-CFDE3D9C5F95}" srcOrd="1" destOrd="0" parTransId="{07951373-8690-4CF3-80AA-9EE02677643E}" sibTransId="{403B5D3A-5EA7-4D99-AA1B-EF659D635465}"/>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C8539135-8F05-4137-93E2-F6781FDF29CD}" type="presOf" srcId="{23191ED5-1888-4BB0-9F9A-309AED5CED4E}" destId="{7C07DD5C-F3F7-413D-935A-CCBA7C6C1E36}" srcOrd="0" destOrd="2" presId="urn:microsoft.com/office/officeart/2005/8/layout/chevron2"/>
    <dgm:cxn modelId="{37B0893D-B99A-4826-8404-BA4A45B0DFA8}" type="presOf" srcId="{8FF7F8DE-0085-4489-85EA-475C2622F1F3}" destId="{1FCF5A5E-7DF9-412A-B101-D83967D7DE65}" srcOrd="0" destOrd="0" presId="urn:microsoft.com/office/officeart/2005/8/layout/chevron2"/>
    <dgm:cxn modelId="{B732B44B-EF99-46A3-8EF5-A98E2D80FB87}" type="presOf" srcId="{885E5002-0CF3-4E48-8AF2-CFDE3D9C5F95}" destId="{7C07DD5C-F3F7-413D-935A-CCBA7C6C1E36}" srcOrd="0" destOrd="1" presId="urn:microsoft.com/office/officeart/2005/8/layout/chevron2"/>
    <dgm:cxn modelId="{7370C76C-6808-4562-9788-BC084F7259FA}" srcId="{8FF7F8DE-0085-4489-85EA-475C2622F1F3}" destId="{16E133FC-BA70-43F5-8C55-AFF6DC83BF5E}" srcOrd="1" destOrd="0" parTransId="{A9A7716D-DA07-4969-B9E2-56090C4EA54A}" sibTransId="{771E70D2-8F9D-4C66-9CF5-E0513F394A68}"/>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7BF38-EED7-40B6-AE30-314765FAF99B}">
      <dsp:nvSpPr>
        <dsp:cNvPr id="0" name=""/>
        <dsp:cNvSpPr/>
      </dsp:nvSpPr>
      <dsp:spPr>
        <a:xfrm>
          <a:off x="0" y="1066800"/>
          <a:ext cx="3718560" cy="3718560"/>
        </a:xfrm>
        <a:prstGeom prst="ellipse">
          <a:avLst/>
        </a:prstGeom>
        <a:solidFill>
          <a:srgbClr val="61A60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Out of Network</a:t>
          </a:r>
        </a:p>
      </dsp:txBody>
      <dsp:txXfrm>
        <a:off x="1339425" y="1252728"/>
        <a:ext cx="1039709" cy="557784"/>
      </dsp:txXfrm>
    </dsp:sp>
    <dsp:sp modelId="{68806E35-FB05-408F-AFBC-163227E8487B}">
      <dsp:nvSpPr>
        <dsp:cNvPr id="0" name=""/>
        <dsp:cNvSpPr/>
      </dsp:nvSpPr>
      <dsp:spPr>
        <a:xfrm>
          <a:off x="371855" y="1810511"/>
          <a:ext cx="2974848" cy="2974848"/>
        </a:xfrm>
        <a:prstGeom prst="ellipse">
          <a:avLst/>
        </a:prstGeom>
        <a:solidFill>
          <a:srgbClr val="019CA5"/>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Wrap Network (Rented)</a:t>
          </a:r>
        </a:p>
      </dsp:txBody>
      <dsp:txXfrm>
        <a:off x="1339425" y="1989002"/>
        <a:ext cx="1039709" cy="535472"/>
      </dsp:txXfrm>
    </dsp:sp>
    <dsp:sp modelId="{EBC66B5F-74A7-4C59-9CEC-5E7379E73E3B}">
      <dsp:nvSpPr>
        <dsp:cNvPr id="0" name=""/>
        <dsp:cNvSpPr/>
      </dsp:nvSpPr>
      <dsp:spPr>
        <a:xfrm>
          <a:off x="743711" y="2554223"/>
          <a:ext cx="2231136" cy="2231136"/>
        </a:xfrm>
        <a:prstGeom prst="ellipse">
          <a:avLst/>
        </a:prstGeom>
        <a:solidFill>
          <a:srgbClr val="244F9A"/>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Friends &amp; Family (Contracted)</a:t>
          </a:r>
        </a:p>
      </dsp:txBody>
      <dsp:txXfrm>
        <a:off x="1339425" y="2721559"/>
        <a:ext cx="1039709" cy="502005"/>
      </dsp:txXfrm>
    </dsp:sp>
    <dsp:sp modelId="{F92C6764-1AFD-4DFF-B75E-6422C5503855}">
      <dsp:nvSpPr>
        <dsp:cNvPr id="0" name=""/>
        <dsp:cNvSpPr/>
      </dsp:nvSpPr>
      <dsp:spPr>
        <a:xfrm>
          <a:off x="1127541" y="3316246"/>
          <a:ext cx="1487424" cy="1487424"/>
        </a:xfrm>
        <a:prstGeom prst="ellipse">
          <a:avLst/>
        </a:prstGeom>
        <a:solidFill>
          <a:srgbClr val="59CAE8"/>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effectLst>
              <a:outerShdw blurRad="38100" dist="38100" dir="2700000" algn="tl">
                <a:srgbClr val="000000">
                  <a:alpha val="43137"/>
                </a:srgbClr>
              </a:outerShdw>
            </a:effectLst>
          </a:endParaRPr>
        </a:p>
      </dsp:txBody>
      <dsp:txXfrm>
        <a:off x="1345369" y="3688102"/>
        <a:ext cx="1051767" cy="7437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010C22-B439-4BEC-A07A-60ED666B2E08}">
      <dsp:nvSpPr>
        <dsp:cNvPr id="0" name=""/>
        <dsp:cNvSpPr/>
      </dsp:nvSpPr>
      <dsp:spPr>
        <a:xfrm>
          <a:off x="724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Identification of Key Distribution Agents</a:t>
          </a:r>
        </a:p>
        <a:p>
          <a:pPr marL="285750" lvl="1" indent="-228600" algn="l" defTabSz="800100">
            <a:lnSpc>
              <a:spcPct val="100000"/>
            </a:lnSpc>
            <a:spcBef>
              <a:spcPct val="0"/>
            </a:spcBef>
            <a:spcAft>
              <a:spcPts val="300"/>
            </a:spcAft>
            <a:buChar char="•"/>
          </a:pPr>
          <a:r>
            <a:rPr lang="en-US" sz="1800" b="0" kern="1200" dirty="0"/>
            <a:t>Training and Development</a:t>
          </a:r>
        </a:p>
        <a:p>
          <a:pPr marL="285750" lvl="1" indent="-228600" algn="l" defTabSz="800100">
            <a:lnSpc>
              <a:spcPct val="100000"/>
            </a:lnSpc>
            <a:spcBef>
              <a:spcPct val="0"/>
            </a:spcBef>
            <a:spcAft>
              <a:spcPts val="300"/>
            </a:spcAft>
            <a:buChar char="•"/>
          </a:pPr>
          <a:r>
            <a:rPr lang="en-US" sz="1800" b="0" kern="1200" dirty="0"/>
            <a:t>Quote Evaluation</a:t>
          </a:r>
        </a:p>
        <a:p>
          <a:pPr marL="285750" lvl="1" indent="-228600" algn="l" defTabSz="800100">
            <a:lnSpc>
              <a:spcPct val="100000"/>
            </a:lnSpc>
            <a:spcBef>
              <a:spcPct val="0"/>
            </a:spcBef>
            <a:spcAft>
              <a:spcPts val="300"/>
            </a:spcAft>
            <a:buChar char="•"/>
          </a:pPr>
          <a:r>
            <a:rPr lang="en-US" sz="1800" b="0" kern="1200" dirty="0"/>
            <a:t>Compensation</a:t>
          </a:r>
        </a:p>
      </dsp:txBody>
      <dsp:txXfrm>
        <a:off x="65274" y="739765"/>
        <a:ext cx="3011912" cy="2418668"/>
      </dsp:txXfrm>
    </dsp:sp>
    <dsp:sp modelId="{CBD6250E-21D7-41DA-B5C6-ED9529780301}">
      <dsp:nvSpPr>
        <dsp:cNvPr id="0" name=""/>
        <dsp:cNvSpPr/>
      </dsp:nvSpPr>
      <dsp:spPr>
        <a:xfrm>
          <a:off x="724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BROKER DEVELOPMENT</a:t>
          </a:r>
        </a:p>
      </dsp:txBody>
      <dsp:txXfrm>
        <a:off x="7242" y="3087567"/>
        <a:ext cx="2202800" cy="1004036"/>
      </dsp:txXfrm>
    </dsp:sp>
    <dsp:sp modelId="{C9DDB7FA-A0FA-4D6A-949B-B117078ADD34}">
      <dsp:nvSpPr>
        <dsp:cNvPr id="0" name=""/>
        <dsp:cNvSpPr/>
      </dsp:nvSpPr>
      <dsp:spPr>
        <a:xfrm>
          <a:off x="2298527" y="3247049"/>
          <a:ext cx="1094791" cy="1094791"/>
        </a:xfrm>
        <a:prstGeom prst="ellipse">
          <a:avLst/>
        </a:prstGeom>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C4E3136-41AF-48D5-891D-C7A5263CF655}">
      <dsp:nvSpPr>
        <dsp:cNvPr id="0" name=""/>
        <dsp:cNvSpPr/>
      </dsp:nvSpPr>
      <dsp:spPr>
        <a:xfrm>
          <a:off x="3664547"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Identification of Key Targets</a:t>
          </a:r>
        </a:p>
        <a:p>
          <a:pPr marL="285750" lvl="1" indent="-228600" algn="l" defTabSz="800100">
            <a:lnSpc>
              <a:spcPct val="100000"/>
            </a:lnSpc>
            <a:spcBef>
              <a:spcPct val="0"/>
            </a:spcBef>
            <a:spcAft>
              <a:spcPts val="300"/>
            </a:spcAft>
            <a:buChar char="•"/>
          </a:pPr>
          <a:r>
            <a:rPr lang="en-US" sz="1800" b="0" kern="1200" dirty="0"/>
            <a:t>Working with SLUHN on Specific Employers</a:t>
          </a:r>
        </a:p>
        <a:p>
          <a:pPr marL="285750" lvl="1" indent="-228600" algn="l" defTabSz="800100">
            <a:lnSpc>
              <a:spcPct val="100000"/>
            </a:lnSpc>
            <a:spcBef>
              <a:spcPct val="0"/>
            </a:spcBef>
            <a:spcAft>
              <a:spcPts val="300"/>
            </a:spcAft>
            <a:buChar char="•"/>
          </a:pPr>
          <a:r>
            <a:rPr lang="en-US" sz="1800" b="0" kern="1200" dirty="0"/>
            <a:t>Meet and Greet</a:t>
          </a:r>
        </a:p>
        <a:p>
          <a:pPr marL="285750" lvl="1" indent="-228600" algn="l" defTabSz="800100">
            <a:lnSpc>
              <a:spcPct val="100000"/>
            </a:lnSpc>
            <a:spcBef>
              <a:spcPct val="0"/>
            </a:spcBef>
            <a:spcAft>
              <a:spcPts val="300"/>
            </a:spcAft>
            <a:buChar char="•"/>
          </a:pPr>
          <a:r>
            <a:rPr lang="en-US" sz="1800" b="0" kern="1200" dirty="0"/>
            <a:t>Sales Process</a:t>
          </a:r>
        </a:p>
        <a:p>
          <a:pPr marL="285750" lvl="1" indent="-228600" algn="l" defTabSz="800100">
            <a:lnSpc>
              <a:spcPct val="100000"/>
            </a:lnSpc>
            <a:spcBef>
              <a:spcPct val="0"/>
            </a:spcBef>
            <a:spcAft>
              <a:spcPts val="300"/>
            </a:spcAft>
            <a:buChar char="•"/>
          </a:pPr>
          <a:r>
            <a:rPr lang="en-US" sz="1800" b="0" kern="1200" dirty="0"/>
            <a:t>Closing</a:t>
          </a:r>
        </a:p>
        <a:p>
          <a:pPr marL="114300" lvl="1" indent="0" algn="l" defTabSz="666750">
            <a:lnSpc>
              <a:spcPct val="100000"/>
            </a:lnSpc>
            <a:spcBef>
              <a:spcPct val="0"/>
            </a:spcBef>
            <a:spcAft>
              <a:spcPts val="300"/>
            </a:spcAft>
            <a:buChar char="•"/>
          </a:pPr>
          <a:endParaRPr lang="en-US" sz="1500" b="0" kern="1200" dirty="0"/>
        </a:p>
      </dsp:txBody>
      <dsp:txXfrm>
        <a:off x="3722579" y="739765"/>
        <a:ext cx="3011912" cy="2418668"/>
      </dsp:txXfrm>
    </dsp:sp>
    <dsp:sp modelId="{79A312E4-6849-4D68-ADD1-B772AC6F907C}">
      <dsp:nvSpPr>
        <dsp:cNvPr id="0" name=""/>
        <dsp:cNvSpPr/>
      </dsp:nvSpPr>
      <dsp:spPr>
        <a:xfrm>
          <a:off x="3664547"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DIRECT SALES</a:t>
          </a:r>
        </a:p>
      </dsp:txBody>
      <dsp:txXfrm>
        <a:off x="3664547" y="3087567"/>
        <a:ext cx="2202800" cy="1004036"/>
      </dsp:txXfrm>
    </dsp:sp>
    <dsp:sp modelId="{59AE0CE5-CBA7-420A-835A-5F5591837FE8}">
      <dsp:nvSpPr>
        <dsp:cNvPr id="0" name=""/>
        <dsp:cNvSpPr/>
      </dsp:nvSpPr>
      <dsp:spPr>
        <a:xfrm>
          <a:off x="5955832" y="3247049"/>
          <a:ext cx="1094791" cy="1094791"/>
        </a:xfrm>
        <a:prstGeom prst="ellipse">
          <a:avLst/>
        </a:prstGeom>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5B06EAE-30F4-4745-ACED-5452905F1416}">
      <dsp:nvSpPr>
        <dsp:cNvPr id="0" name=""/>
        <dsp:cNvSpPr/>
      </dsp:nvSpPr>
      <dsp:spPr>
        <a:xfrm>
          <a:off x="732185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Quote System</a:t>
          </a:r>
        </a:p>
        <a:p>
          <a:pPr marL="285750" lvl="1" indent="-228600" algn="l" defTabSz="800100">
            <a:lnSpc>
              <a:spcPct val="100000"/>
            </a:lnSpc>
            <a:spcBef>
              <a:spcPct val="0"/>
            </a:spcBef>
            <a:spcAft>
              <a:spcPts val="300"/>
            </a:spcAft>
            <a:buChar char="•"/>
          </a:pPr>
          <a:r>
            <a:rPr lang="en-US" sz="1800" b="0" kern="1200" dirty="0"/>
            <a:t>Proposal Development</a:t>
          </a:r>
        </a:p>
        <a:p>
          <a:pPr marL="285750" lvl="1" indent="-228600" algn="l" defTabSz="800100">
            <a:lnSpc>
              <a:spcPct val="100000"/>
            </a:lnSpc>
            <a:spcBef>
              <a:spcPct val="0"/>
            </a:spcBef>
            <a:spcAft>
              <a:spcPts val="300"/>
            </a:spcAft>
            <a:buChar char="•"/>
          </a:pPr>
          <a:r>
            <a:rPr lang="en-US" sz="1800" b="0" kern="1200" dirty="0"/>
            <a:t>Stop Loss Negotiations</a:t>
          </a:r>
        </a:p>
        <a:p>
          <a:pPr marL="285750" lvl="1" indent="-228600" algn="l" defTabSz="800100">
            <a:lnSpc>
              <a:spcPct val="100000"/>
            </a:lnSpc>
            <a:spcBef>
              <a:spcPct val="0"/>
            </a:spcBef>
            <a:spcAft>
              <a:spcPts val="300"/>
            </a:spcAft>
            <a:buChar char="•"/>
          </a:pPr>
          <a:r>
            <a:rPr lang="en-US" sz="1800" b="0" kern="1200" dirty="0"/>
            <a:t>Reporting &amp; Analysis</a:t>
          </a:r>
        </a:p>
        <a:p>
          <a:pPr marL="228600" lvl="1" indent="0" algn="l" defTabSz="933450">
            <a:lnSpc>
              <a:spcPct val="100000"/>
            </a:lnSpc>
            <a:spcBef>
              <a:spcPct val="0"/>
            </a:spcBef>
            <a:spcAft>
              <a:spcPts val="300"/>
            </a:spcAft>
            <a:buChar char="•"/>
          </a:pPr>
          <a:endParaRPr lang="en-US" sz="2100" b="0" kern="1200" dirty="0"/>
        </a:p>
        <a:p>
          <a:pPr marL="228600" lvl="1" indent="0" algn="l" defTabSz="933450">
            <a:lnSpc>
              <a:spcPct val="100000"/>
            </a:lnSpc>
            <a:spcBef>
              <a:spcPct val="0"/>
            </a:spcBef>
            <a:spcAft>
              <a:spcPts val="300"/>
            </a:spcAft>
            <a:buChar char="•"/>
          </a:pPr>
          <a:endParaRPr lang="en-US" sz="2100" b="0" kern="1200" dirty="0"/>
        </a:p>
      </dsp:txBody>
      <dsp:txXfrm>
        <a:off x="7379884" y="739765"/>
        <a:ext cx="3011912" cy="2418668"/>
      </dsp:txXfrm>
    </dsp:sp>
    <dsp:sp modelId="{A8558B5A-0979-484B-BD3E-256476C68F9A}">
      <dsp:nvSpPr>
        <dsp:cNvPr id="0" name=""/>
        <dsp:cNvSpPr/>
      </dsp:nvSpPr>
      <dsp:spPr>
        <a:xfrm>
          <a:off x="732185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SALES ADMINISTRATION</a:t>
          </a:r>
        </a:p>
      </dsp:txBody>
      <dsp:txXfrm>
        <a:off x="7321852" y="3087567"/>
        <a:ext cx="2202800" cy="1004036"/>
      </dsp:txXfrm>
    </dsp:sp>
    <dsp:sp modelId="{1AE27240-F06A-48BF-83C8-82D83CBD609C}">
      <dsp:nvSpPr>
        <dsp:cNvPr id="0" name=""/>
        <dsp:cNvSpPr/>
      </dsp:nvSpPr>
      <dsp:spPr>
        <a:xfrm>
          <a:off x="9613138" y="3247049"/>
          <a:ext cx="1094791" cy="1094791"/>
        </a:xfrm>
        <a:prstGeom prst="ellipse">
          <a:avLst/>
        </a:prstGeom>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272" y="313505"/>
          <a:ext cx="2075147" cy="145260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8535"/>
        <a:ext cx="1452603" cy="622544"/>
      </dsp:txXfrm>
    </dsp:sp>
    <dsp:sp modelId="{7C07DD5C-F3F7-413D-935A-CCBA7C6C1E36}">
      <dsp:nvSpPr>
        <dsp:cNvPr id="0" name=""/>
        <dsp:cNvSpPr/>
      </dsp:nvSpPr>
      <dsp:spPr>
        <a:xfrm rot="5400000">
          <a:off x="3574368" y="-2119531"/>
          <a:ext cx="1348845" cy="559237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To Determine Gaps in Medical Service Delivery</a:t>
          </a:r>
        </a:p>
        <a:p>
          <a:pPr marL="228600" lvl="1" indent="-228600" algn="l" defTabSz="889000">
            <a:lnSpc>
              <a:spcPct val="90000"/>
            </a:lnSpc>
            <a:spcBef>
              <a:spcPct val="0"/>
            </a:spcBef>
            <a:spcAft>
              <a:spcPct val="15000"/>
            </a:spcAft>
            <a:buChar char="•"/>
          </a:pPr>
          <a:r>
            <a:rPr lang="en-US" sz="2000" kern="1200" dirty="0"/>
            <a:t>Other Key Providers to Potentially Contract with on Behalf of SLUHN</a:t>
          </a:r>
        </a:p>
        <a:p>
          <a:pPr marL="228600" lvl="1" indent="-228600" algn="l" defTabSz="889000">
            <a:lnSpc>
              <a:spcPct val="90000"/>
            </a:lnSpc>
            <a:spcBef>
              <a:spcPct val="0"/>
            </a:spcBef>
            <a:spcAft>
              <a:spcPct val="15000"/>
            </a:spcAft>
            <a:buChar char="•"/>
          </a:pPr>
          <a:r>
            <a:rPr lang="en-US" sz="2000" kern="1200" dirty="0"/>
            <a:t>Wrap Network to Cover All Other Provider Types</a:t>
          </a:r>
        </a:p>
      </dsp:txBody>
      <dsp:txXfrm rot="-5400000">
        <a:off x="1452604" y="68078"/>
        <a:ext cx="5526530" cy="1217155"/>
      </dsp:txXfrm>
    </dsp:sp>
    <dsp:sp modelId="{1FCF5A5E-7DF9-412A-B101-D83967D7DE65}">
      <dsp:nvSpPr>
        <dsp:cNvPr id="0" name=""/>
        <dsp:cNvSpPr/>
      </dsp:nvSpPr>
      <dsp:spPr>
        <a:xfrm rot="5400000">
          <a:off x="-311272" y="2101215"/>
          <a:ext cx="2075147" cy="145260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245"/>
        <a:ext cx="1452603" cy="622544"/>
      </dsp:txXfrm>
    </dsp:sp>
    <dsp:sp modelId="{FE1F4B02-EB68-4CAB-8CF0-3D5AB6A01850}">
      <dsp:nvSpPr>
        <dsp:cNvPr id="0" name=""/>
        <dsp:cNvSpPr/>
      </dsp:nvSpPr>
      <dsp:spPr>
        <a:xfrm rot="5400000">
          <a:off x="3574368" y="-331821"/>
          <a:ext cx="1348845" cy="559237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To Dial in Competitive Stop-Loss Rates and SLUHN’s Net Revenues/Margins</a:t>
          </a:r>
        </a:p>
        <a:p>
          <a:pPr marL="228600" lvl="1" indent="-228600" algn="l" defTabSz="889000">
            <a:lnSpc>
              <a:spcPct val="90000"/>
            </a:lnSpc>
            <a:spcBef>
              <a:spcPct val="0"/>
            </a:spcBef>
            <a:spcAft>
              <a:spcPct val="15000"/>
            </a:spcAft>
            <a:buChar char="•"/>
          </a:pPr>
          <a:r>
            <a:rPr lang="en-US" sz="2000" kern="1200" dirty="0"/>
            <a:t>Actuarial Evaluation Compared to the Market</a:t>
          </a:r>
        </a:p>
      </dsp:txBody>
      <dsp:txXfrm rot="-5400000">
        <a:off x="1452604" y="1855788"/>
        <a:ext cx="5526530" cy="121715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vl1pPr>
          </a:lstStyle>
          <a:p>
            <a:fld id="{7444AE22-21A2-46C1-A42F-3B4E8AE858E0}" type="datetimeFigureOut">
              <a:rPr lang="en-US" smtClean="0"/>
              <a:t>9/24/2024</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vl1pPr>
          </a:lstStyle>
          <a:p>
            <a:fld id="{4139CA89-B4B2-4050-B038-8DF8E3A33516}" type="slidenum">
              <a:rPr lang="en-US" smtClean="0"/>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6288C0-024E-429E-B9F9-88F45D0B6B9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539031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15</a:t>
            </a:fld>
            <a:endParaRPr lang="en-US" dirty="0"/>
          </a:p>
        </p:txBody>
      </p:sp>
    </p:spTree>
    <p:extLst>
      <p:ext uri="{BB962C8B-B14F-4D97-AF65-F5344CB8AC3E}">
        <p14:creationId xmlns:p14="http://schemas.microsoft.com/office/powerpoint/2010/main" val="31893513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29</a:t>
            </a:fld>
            <a:endParaRPr lang="en-US" dirty="0"/>
          </a:p>
        </p:txBody>
      </p:sp>
    </p:spTree>
    <p:extLst>
      <p:ext uri="{BB962C8B-B14F-4D97-AF65-F5344CB8AC3E}">
        <p14:creationId xmlns:p14="http://schemas.microsoft.com/office/powerpoint/2010/main" val="3189351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9/24/2024</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9/24/2024</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9/24/2024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9/24/2024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9/24/2024</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9/24/2024</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9/24/2024</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9/24/2024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9/24/2024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9/24/2024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9/24/2024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EF80E-CA35-C63B-47F4-CC11DF60B7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99C5256-98EC-A333-1F96-35A29C9400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4BD36D9-E54A-02C1-9D01-07CEC057512E}"/>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9/24/2024</a:t>
            </a:fld>
            <a:endParaRPr lang="en-US"/>
          </a:p>
        </p:txBody>
      </p:sp>
      <p:sp>
        <p:nvSpPr>
          <p:cNvPr id="5" name="Footer Placeholder 4">
            <a:extLst>
              <a:ext uri="{FF2B5EF4-FFF2-40B4-BE49-F238E27FC236}">
                <a16:creationId xmlns:a16="http://schemas.microsoft.com/office/drawing/2014/main" id="{57C5BD99-A0E5-C8E6-0293-C8F4E7ADB4F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FB29629F-1D20-FF76-5EB6-240309CFAA9C}"/>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15764449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C2AC4-349D-A897-6171-03399A1D79D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7623D0-BE5E-FC7B-8C30-08E065FD27B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775E28-04F2-0BB8-CAA3-EAA16C700BB4}"/>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9/24/2024</a:t>
            </a:fld>
            <a:endParaRPr lang="en-US"/>
          </a:p>
        </p:txBody>
      </p:sp>
      <p:sp>
        <p:nvSpPr>
          <p:cNvPr id="5" name="Footer Placeholder 4">
            <a:extLst>
              <a:ext uri="{FF2B5EF4-FFF2-40B4-BE49-F238E27FC236}">
                <a16:creationId xmlns:a16="http://schemas.microsoft.com/office/drawing/2014/main" id="{EBE8921E-7A76-6CA3-63C8-C8BEF6D7FCF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B3FBE9D-47C9-B56A-3EC3-6120B283D13C}"/>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24370303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lide Outpu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7623D0-BE5E-FC7B-8C30-08E065FD27B7}"/>
              </a:ext>
            </a:extLst>
          </p:cNvPr>
          <p:cNvSpPr>
            <a:spLocks noGrp="1"/>
          </p:cNvSpPr>
          <p:nvPr>
            <p:ph idx="1"/>
          </p:nvPr>
        </p:nvSpPr>
        <p:spPr>
          <a:xfrm>
            <a:off x="838200" y="723207"/>
            <a:ext cx="10515600" cy="5203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750580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3522A-5659-8E58-0C7C-8DF74D11BB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5892466-9973-B746-9C73-FB335C44BBB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0605841-E333-8EF3-13A4-B887A17F5BB2}"/>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9/24/2024</a:t>
            </a:fld>
            <a:endParaRPr lang="en-US"/>
          </a:p>
        </p:txBody>
      </p:sp>
      <p:sp>
        <p:nvSpPr>
          <p:cNvPr id="5" name="Footer Placeholder 4">
            <a:extLst>
              <a:ext uri="{FF2B5EF4-FFF2-40B4-BE49-F238E27FC236}">
                <a16:creationId xmlns:a16="http://schemas.microsoft.com/office/drawing/2014/main" id="{C0D55581-7211-C530-1B0A-5B6FABC5D47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23750AD-5B48-0726-4977-83576D9A2851}"/>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19273939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FF885-B892-AF4E-14F6-5BF965E9DF3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7E1770-FA2D-DFFD-19D7-51C803C2A32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321ABB0-2FF2-50E1-1D39-1209FC2FEA0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9C5AA1-7869-F7B1-1AAA-9AB491751C25}"/>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9/24/2024</a:t>
            </a:fld>
            <a:endParaRPr lang="en-US"/>
          </a:p>
        </p:txBody>
      </p:sp>
      <p:sp>
        <p:nvSpPr>
          <p:cNvPr id="6" name="Footer Placeholder 5">
            <a:extLst>
              <a:ext uri="{FF2B5EF4-FFF2-40B4-BE49-F238E27FC236}">
                <a16:creationId xmlns:a16="http://schemas.microsoft.com/office/drawing/2014/main" id="{30C631CC-0ED4-0DBA-3B11-951955097C5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52EA0F43-4FF6-41EA-54B8-4C2B9B6AAD16}"/>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27450932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A9208-B29A-5C1B-0F83-0D22E830228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93FC125-6ED1-2C82-D3ED-F51C43D5FA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2CF8AA-AEDB-5574-67D8-C4CF4BAE8C5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E0A1351-7B1F-3D2B-8CC3-AD63799BB8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5B1D59-8D71-169B-800D-1B6369565C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7D17602-A406-BF7F-1159-4B4C378EF6D0}"/>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9/24/2024</a:t>
            </a:fld>
            <a:endParaRPr lang="en-US"/>
          </a:p>
        </p:txBody>
      </p:sp>
      <p:sp>
        <p:nvSpPr>
          <p:cNvPr id="8" name="Footer Placeholder 7">
            <a:extLst>
              <a:ext uri="{FF2B5EF4-FFF2-40B4-BE49-F238E27FC236}">
                <a16:creationId xmlns:a16="http://schemas.microsoft.com/office/drawing/2014/main" id="{5FE251BD-2045-1E2C-E87C-4EFC8120926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D23B3598-579D-3653-EDD8-A878B177B824}"/>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34311040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0C5C9-55E7-611E-0F37-4EE6F2A3A9E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94637D8-C95D-4CFA-CBF5-2ADEF685D61D}"/>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9/24/2024</a:t>
            </a:fld>
            <a:endParaRPr lang="en-US"/>
          </a:p>
        </p:txBody>
      </p:sp>
      <p:sp>
        <p:nvSpPr>
          <p:cNvPr id="4" name="Footer Placeholder 3">
            <a:extLst>
              <a:ext uri="{FF2B5EF4-FFF2-40B4-BE49-F238E27FC236}">
                <a16:creationId xmlns:a16="http://schemas.microsoft.com/office/drawing/2014/main" id="{42AB4C0A-D1FD-786C-5A2E-8A4B2720872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84A6D1C3-0C4C-016B-EC68-78B7509E3715}"/>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12452499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83E7AE-170E-91FA-7315-36E3FEE36516}"/>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9/24/2024</a:t>
            </a:fld>
            <a:endParaRPr lang="en-US"/>
          </a:p>
        </p:txBody>
      </p:sp>
      <p:sp>
        <p:nvSpPr>
          <p:cNvPr id="3" name="Footer Placeholder 2">
            <a:extLst>
              <a:ext uri="{FF2B5EF4-FFF2-40B4-BE49-F238E27FC236}">
                <a16:creationId xmlns:a16="http://schemas.microsoft.com/office/drawing/2014/main" id="{BF6B2EE4-5A93-5729-1EAC-03E66A0B56C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DC18D43F-B7E2-7961-9FFE-21EB28342D5A}"/>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33349292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8CCE6-8084-DA30-31CB-CD9726E36D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D64A11-4BA3-288B-80CE-24DCC4C5BC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BAF7808-6760-899B-5637-5AF8912005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29F123-B801-4BD3-C9F2-562B462B5B8A}"/>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9/24/2024</a:t>
            </a:fld>
            <a:endParaRPr lang="en-US"/>
          </a:p>
        </p:txBody>
      </p:sp>
      <p:sp>
        <p:nvSpPr>
          <p:cNvPr id="6" name="Footer Placeholder 5">
            <a:extLst>
              <a:ext uri="{FF2B5EF4-FFF2-40B4-BE49-F238E27FC236}">
                <a16:creationId xmlns:a16="http://schemas.microsoft.com/office/drawing/2014/main" id="{1D499435-4ECB-552D-F273-B2E602B9126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6C8A5FE-E587-D277-E8C4-8DC54ED6E293}"/>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17351237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C9A34-ECF4-CD06-A854-8EED594D98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4E85963-B99D-0D48-F74E-5347F28C1F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E9209FE-05AD-1F83-2A16-595EF372B4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50EEA6-1CE3-D581-30FA-B8A6BB4BFB65}"/>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9/24/2024</a:t>
            </a:fld>
            <a:endParaRPr lang="en-US"/>
          </a:p>
        </p:txBody>
      </p:sp>
      <p:sp>
        <p:nvSpPr>
          <p:cNvPr id="6" name="Footer Placeholder 5">
            <a:extLst>
              <a:ext uri="{FF2B5EF4-FFF2-40B4-BE49-F238E27FC236}">
                <a16:creationId xmlns:a16="http://schemas.microsoft.com/office/drawing/2014/main" id="{7D9DEB60-F0E3-E3A7-BDE3-3F3D04B3D19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C0D5625-5E2A-FDD7-240B-CE4AD3D04E87}"/>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20728659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38964-CFDD-EEE7-561D-6CD0AA4762A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FBBC7B5-E245-21C1-36FF-25BF670F53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511137-3CC6-DE86-3F8F-12263490118D}"/>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9/24/2024</a:t>
            </a:fld>
            <a:endParaRPr lang="en-US"/>
          </a:p>
        </p:txBody>
      </p:sp>
      <p:sp>
        <p:nvSpPr>
          <p:cNvPr id="5" name="Footer Placeholder 4">
            <a:extLst>
              <a:ext uri="{FF2B5EF4-FFF2-40B4-BE49-F238E27FC236}">
                <a16:creationId xmlns:a16="http://schemas.microsoft.com/office/drawing/2014/main" id="{1349A0C3-B51F-2043-29A8-381E40D7441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842932E-13ED-745D-FD1E-DB6D1C575E9E}"/>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1906448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E2DD41-03F0-5A20-D0FC-53F8C68ADED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EBF3F08-A716-9B80-7DAD-A5D0BE30EC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DC8755-E2ED-FEEE-B158-E0DD3FB12F61}"/>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9/24/2024</a:t>
            </a:fld>
            <a:endParaRPr lang="en-US"/>
          </a:p>
        </p:txBody>
      </p:sp>
      <p:sp>
        <p:nvSpPr>
          <p:cNvPr id="5" name="Footer Placeholder 4">
            <a:extLst>
              <a:ext uri="{FF2B5EF4-FFF2-40B4-BE49-F238E27FC236}">
                <a16:creationId xmlns:a16="http://schemas.microsoft.com/office/drawing/2014/main" id="{B7DB962C-DB69-9313-835E-9A96B9436FE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560384AD-5BB3-6E37-4160-F06417470857}"/>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21812514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D48873-4569-48AE-9711-BF92EE297A77}" type="datetime1">
              <a:rPr lang="en-US" smtClean="0"/>
              <a:t>9/24/2024</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FC719D-C4A7-4544-876E-D411D11AF6C9}" type="slidenum">
              <a:rPr lang="en-US" smtClean="0"/>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EB39A1-2181-7751-3A9C-DD497656D778}"/>
              </a:ext>
            </a:extLst>
          </p:cNvPr>
          <p:cNvSpPr>
            <a:spLocks noGrp="1"/>
          </p:cNvSpPr>
          <p:nvPr>
            <p:ph type="title"/>
          </p:nvPr>
        </p:nvSpPr>
        <p:spPr>
          <a:xfrm>
            <a:off x="838200" y="365124"/>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7F76B2F-4CF9-EA9D-2AF2-B6F1F3AF1E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8378443"/>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6.jpe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5.jpe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2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2.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jpeg"/><Relationship Id="rId7" Type="http://schemas.openxmlformats.org/officeDocument/2006/relationships/image" Target="../media/image41.jpeg"/><Relationship Id="rId2" Type="http://schemas.openxmlformats.org/officeDocument/2006/relationships/image" Target="../media/image36.png"/><Relationship Id="rId1" Type="http://schemas.openxmlformats.org/officeDocument/2006/relationships/slideLayout" Target="../slideLayouts/slideLayout6.xml"/><Relationship Id="rId6" Type="http://schemas.openxmlformats.org/officeDocument/2006/relationships/image" Target="../media/image40.png"/><Relationship Id="rId5" Type="http://schemas.openxmlformats.org/officeDocument/2006/relationships/image" Target="../media/image39.png"/><Relationship Id="rId10" Type="http://schemas.openxmlformats.org/officeDocument/2006/relationships/image" Target="../media/image44.jpeg"/><Relationship Id="rId4" Type="http://schemas.openxmlformats.org/officeDocument/2006/relationships/image" Target="../media/image38.png"/><Relationship Id="rId9" Type="http://schemas.openxmlformats.org/officeDocument/2006/relationships/image" Target="../media/image4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45.png"/></Relationships>
</file>

<file path=ppt/slides/_rels/slide3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jpeg"/><Relationship Id="rId1" Type="http://schemas.openxmlformats.org/officeDocument/2006/relationships/slideLayout" Target="../slideLayouts/slideLayout6.xml"/><Relationship Id="rId4" Type="http://schemas.openxmlformats.org/officeDocument/2006/relationships/image" Target="../media/image50.svg"/></Relationships>
</file>

<file path=ppt/slides/_rels/slide35.xml.rels><?xml version="1.0" encoding="UTF-8" standalone="yes"?>
<Relationships xmlns="http://schemas.openxmlformats.org/package/2006/relationships"><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jpeg"/><Relationship Id="rId1" Type="http://schemas.openxmlformats.org/officeDocument/2006/relationships/slideLayout" Target="../slideLayouts/slideLayout2.xml"/><Relationship Id="rId6" Type="http://schemas.openxmlformats.org/officeDocument/2006/relationships/image" Target="../media/image54.jpeg"/><Relationship Id="rId5" Type="http://schemas.openxmlformats.org/officeDocument/2006/relationships/image" Target="../media/image53.jpeg"/><Relationship Id="rId4" Type="http://schemas.microsoft.com/office/2007/relationships/hdphoto" Target="../media/hdphoto2.wdp"/></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55.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55.jpeg"/><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53.xml.rels><?xml version="1.0" encoding="UTF-8" standalone="yes"?>
<Relationships xmlns="http://schemas.openxmlformats.org/package/2006/relationships"><Relationship Id="rId8" Type="http://schemas.openxmlformats.org/officeDocument/2006/relationships/image" Target="../media/image62.svg"/><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image" Target="../media/image56.jpeg"/><Relationship Id="rId1" Type="http://schemas.openxmlformats.org/officeDocument/2006/relationships/slideLayout" Target="../slideLayouts/slideLayout6.xml"/><Relationship Id="rId6" Type="http://schemas.openxmlformats.org/officeDocument/2006/relationships/image" Target="../media/image60.svg"/><Relationship Id="rId11" Type="http://schemas.openxmlformats.org/officeDocument/2006/relationships/image" Target="../media/image6.png"/><Relationship Id="rId5" Type="http://schemas.openxmlformats.org/officeDocument/2006/relationships/image" Target="../media/image59.png"/><Relationship Id="rId10" Type="http://schemas.openxmlformats.org/officeDocument/2006/relationships/image" Target="../media/image64.svg"/><Relationship Id="rId4" Type="http://schemas.openxmlformats.org/officeDocument/2006/relationships/image" Target="../media/image58.svg"/><Relationship Id="rId9" Type="http://schemas.openxmlformats.org/officeDocument/2006/relationships/image" Target="../media/image6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B981BBA2-A3ED-6F7B-693B-880E5B031B26}"/>
              </a:ext>
            </a:extLst>
          </p:cNvPr>
          <p:cNvSpPr txBox="1"/>
          <p:nvPr/>
        </p:nvSpPr>
        <p:spPr>
          <a:xfrm>
            <a:off x="896984" y="0"/>
            <a:ext cx="11295016" cy="707886"/>
          </a:xfrm>
          <a:prstGeom prst="rect">
            <a:avLst/>
          </a:prstGeom>
          <a:solidFill>
            <a:srgbClr val="30589B"/>
          </a:solidFill>
          <a:ln>
            <a:noFill/>
          </a:ln>
        </p:spPr>
        <p:txBody>
          <a:bodyPr wrap="square" rtlCol="0">
            <a:spAutoFit/>
          </a:bodyPr>
          <a:lstStyle/>
          <a:p>
            <a:r>
              <a:rPr lang="en-US" sz="2000" b="1" dirty="0">
                <a:solidFill>
                  <a:schemeClr val="bg1"/>
                </a:solidFill>
              </a:rPr>
              <a:t>DIRECT-TO-EMPLOYER PLAN </a:t>
            </a:r>
          </a:p>
          <a:p>
            <a:r>
              <a:rPr lang="en-US" sz="2000" b="1" dirty="0">
                <a:solidFill>
                  <a:schemeClr val="bg1"/>
                </a:solidFill>
              </a:rPr>
              <a:t>September 24, 2024</a:t>
            </a:r>
          </a:p>
        </p:txBody>
      </p:sp>
      <p:pic>
        <p:nvPicPr>
          <p:cNvPr id="6" name="Picture 5" descr="A close-up of a logo&#10;&#10;Description automatically generated with medium confidence">
            <a:extLst>
              <a:ext uri="{FF2B5EF4-FFF2-40B4-BE49-F238E27FC236}">
                <a16:creationId xmlns:a16="http://schemas.microsoft.com/office/drawing/2014/main" id="{F66A7945-0E55-35D5-B6B3-1588521B85C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16318" y="735756"/>
            <a:ext cx="1493520" cy="818092"/>
          </a:xfrm>
          <a:prstGeom prst="rect">
            <a:avLst/>
          </a:prstGeom>
        </p:spPr>
      </p:pic>
      <p:pic>
        <p:nvPicPr>
          <p:cNvPr id="2050" name="Picture 2" descr="Lehigh Valley | Bethlehem, PA, US | Bill Dickinson | Flickr">
            <a:extLst>
              <a:ext uri="{FF2B5EF4-FFF2-40B4-BE49-F238E27FC236}">
                <a16:creationId xmlns:a16="http://schemas.microsoft.com/office/drawing/2014/main" id="{960FC751-2A37-9680-5086-37ED9D505D28}"/>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981075" y="1708929"/>
            <a:ext cx="11210925" cy="514907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4" descr="St. Luke's University Health Network's 150th Anniversary">
            <a:extLst>
              <a:ext uri="{FF2B5EF4-FFF2-40B4-BE49-F238E27FC236}">
                <a16:creationId xmlns:a16="http://schemas.microsoft.com/office/drawing/2014/main" id="{418AEC1D-1E1C-A206-08BE-266A53346372}"/>
              </a:ext>
            </a:extLst>
          </p:cNvPr>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507764" y="579749"/>
            <a:ext cx="2266950" cy="1190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0464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B5D2E5F-7796-4A80-A1F0-244E8AA938D3}"/>
              </a:ext>
            </a:extLst>
          </p:cNvPr>
          <p:cNvSpPr/>
          <p:nvPr/>
        </p:nvSpPr>
        <p:spPr>
          <a:xfrm>
            <a:off x="0" y="0"/>
            <a:ext cx="3095625" cy="6845654"/>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172" name="Picture 4" descr="Key Benefit Administrators Office Photos | Glassdoor">
            <a:extLst>
              <a:ext uri="{FF2B5EF4-FFF2-40B4-BE49-F238E27FC236}">
                <a16:creationId xmlns:a16="http://schemas.microsoft.com/office/drawing/2014/main" id="{6CEA05B0-D867-49BD-BC20-745975B6F4C1}"/>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828926" y="0"/>
            <a:ext cx="9363075" cy="685800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a:extLst>
              <a:ext uri="{FF2B5EF4-FFF2-40B4-BE49-F238E27FC236}">
                <a16:creationId xmlns:a16="http://schemas.microsoft.com/office/drawing/2014/main" id="{F9E7BDA1-C2F0-47FC-8E35-E6C155FA11C4}"/>
              </a:ext>
            </a:extLst>
          </p:cNvPr>
          <p:cNvPicPr>
            <a:picLocks noChangeAspect="1"/>
          </p:cNvPicPr>
          <p:nvPr/>
        </p:nvPicPr>
        <p:blipFill>
          <a:blip r:embed="rId3"/>
          <a:stretch>
            <a:fillRect/>
          </a:stretch>
        </p:blipFill>
        <p:spPr>
          <a:xfrm rot="10800000">
            <a:off x="0" y="-4227"/>
            <a:ext cx="3000375" cy="1000125"/>
          </a:xfrm>
          <a:prstGeom prst="rect">
            <a:avLst/>
          </a:prstGeom>
        </p:spPr>
      </p:pic>
      <p:sp>
        <p:nvSpPr>
          <p:cNvPr id="4"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fld id="{3AFC719D-C4A7-4544-876E-D411D11AF6C9}" type="slidenum">
              <a:rPr lang="en-US" smtClean="0"/>
              <a:t>2</a:t>
            </a:fld>
            <a:endParaRPr lang="en-US" dirty="0"/>
          </a:p>
        </p:txBody>
      </p:sp>
      <p:sp>
        <p:nvSpPr>
          <p:cNvPr id="24" name="Rectangle 23">
            <a:extLst>
              <a:ext uri="{FF2B5EF4-FFF2-40B4-BE49-F238E27FC236}">
                <a16:creationId xmlns:a16="http://schemas.microsoft.com/office/drawing/2014/main" id="{88F9B5E8-D3C0-4885-9F6B-379525D51687}"/>
              </a:ext>
            </a:extLst>
          </p:cNvPr>
          <p:cNvSpPr/>
          <p:nvPr/>
        </p:nvSpPr>
        <p:spPr>
          <a:xfrm>
            <a:off x="-3796" y="1415180"/>
            <a:ext cx="7385671" cy="5439997"/>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Single Corner Rounded 4">
            <a:extLst>
              <a:ext uri="{FF2B5EF4-FFF2-40B4-BE49-F238E27FC236}">
                <a16:creationId xmlns:a16="http://schemas.microsoft.com/office/drawing/2014/main" id="{AD1D7B3D-91CE-4826-90BB-5F92F8BB9481}"/>
              </a:ext>
            </a:extLst>
          </p:cNvPr>
          <p:cNvSpPr/>
          <p:nvPr/>
        </p:nvSpPr>
        <p:spPr>
          <a:xfrm>
            <a:off x="0" y="1009650"/>
            <a:ext cx="7477760" cy="5845528"/>
          </a:xfrm>
          <a:prstGeom prst="round1Rect">
            <a:avLst>
              <a:gd name="adj" fmla="val 12082"/>
            </a:avLst>
          </a:prstGeom>
          <a:solidFill>
            <a:srgbClr val="254F96">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lvl="1" defTabSz="914411" fontAlgn="base">
              <a:defRPr/>
            </a:pPr>
            <a:endParaRPr lang="en-US" dirty="0">
              <a:solidFill>
                <a:prstClr val="white"/>
              </a:solidFill>
              <a:latin typeface="Arial" panose="020B0604020202020204" pitchFamily="34" charset="0"/>
              <a:cs typeface="Arial" panose="020B0604020202020204" pitchFamily="34" charset="0"/>
            </a:endParaRPr>
          </a:p>
        </p:txBody>
      </p:sp>
      <p:sp>
        <p:nvSpPr>
          <p:cNvPr id="6" name="Freeform: Shape 5">
            <a:extLst>
              <a:ext uri="{FF2B5EF4-FFF2-40B4-BE49-F238E27FC236}">
                <a16:creationId xmlns:a16="http://schemas.microsoft.com/office/drawing/2014/main" id="{D616A404-B324-4680-9ED6-0746BB2B3A16}"/>
              </a:ext>
            </a:extLst>
          </p:cNvPr>
          <p:cNvSpPr/>
          <p:nvPr/>
        </p:nvSpPr>
        <p:spPr>
          <a:xfrm rot="16200000">
            <a:off x="5385400" y="4759020"/>
            <a:ext cx="1873602" cy="2318710"/>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7" name="TextBox 6">
            <a:extLst>
              <a:ext uri="{FF2B5EF4-FFF2-40B4-BE49-F238E27FC236}">
                <a16:creationId xmlns:a16="http://schemas.microsoft.com/office/drawing/2014/main" id="{B009B747-65C4-4EA6-8340-1E1EB3FE580D}"/>
              </a:ext>
            </a:extLst>
          </p:cNvPr>
          <p:cNvSpPr txBox="1"/>
          <p:nvPr/>
        </p:nvSpPr>
        <p:spPr>
          <a:xfrm>
            <a:off x="452402" y="2374741"/>
            <a:ext cx="6650809" cy="3785652"/>
          </a:xfrm>
          <a:prstGeom prst="rect">
            <a:avLst/>
          </a:prstGeom>
          <a:noFill/>
        </p:spPr>
        <p:txBody>
          <a:bodyPr wrap="square" rtlCol="0">
            <a:spAutoFit/>
          </a:bodyPr>
          <a:lstStyle/>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Founded in 1979 and headquartered in Indianapolis, IN​</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Full-service TPA specializing in the administration of self-funded health plans and population health management​</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One of the country’s largest independently-owned TPAs </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The Key Family is a commonly-held group of benefits related organizations with:​</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3,000+ corporate clients​</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 million members under management​</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700 Employees</a:t>
            </a:r>
          </a:p>
          <a:p>
            <a:pPr marL="285753" indent="-285753" defTabSz="914411">
              <a:lnSpc>
                <a:spcPct val="150000"/>
              </a:lnSpc>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Exclusive Relationships</a:t>
            </a:r>
          </a:p>
          <a:p>
            <a:pPr marL="285753" indent="-285753" defTabSz="914411">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We know The Market – Agents, Networks, and MGAs</a:t>
            </a:r>
          </a:p>
        </p:txBody>
      </p:sp>
      <p:sp>
        <p:nvSpPr>
          <p:cNvPr id="3" name="Footer Placeholder 2">
            <a:extLst>
              <a:ext uri="{FF2B5EF4-FFF2-40B4-BE49-F238E27FC236}">
                <a16:creationId xmlns:a16="http://schemas.microsoft.com/office/drawing/2014/main" id="{EFB33B55-1AEB-4BBC-9F3F-C887F0C42EF5}"/>
              </a:ext>
            </a:extLst>
          </p:cNvPr>
          <p:cNvSpPr>
            <a:spLocks noGrp="1"/>
          </p:cNvSpPr>
          <p:nvPr>
            <p:ph type="ftr" sz="quarter" idx="11"/>
          </p:nvPr>
        </p:nvSpPr>
        <p:spPr>
          <a:xfrm>
            <a:off x="1307458" y="6360415"/>
            <a:ext cx="4114800" cy="365125"/>
          </a:xfrm>
        </p:spPr>
        <p:txBody>
          <a:bodyPr/>
          <a:lstStyle/>
          <a:p>
            <a:r>
              <a:rPr lang="en-US" dirty="0"/>
              <a:t>Key Benefit Administrators</a:t>
            </a:r>
          </a:p>
        </p:txBody>
      </p:sp>
      <p:pic>
        <p:nvPicPr>
          <p:cNvPr id="9220" name="Picture 4">
            <a:extLst>
              <a:ext uri="{FF2B5EF4-FFF2-40B4-BE49-F238E27FC236}">
                <a16:creationId xmlns:a16="http://schemas.microsoft.com/office/drawing/2014/main" id="{BA081F8A-34EF-4672-9370-DBC0CA8BE7A3}"/>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52402" y="1312679"/>
            <a:ext cx="3951647" cy="767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020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983975" y="1574349"/>
            <a:ext cx="7705725" cy="4657725"/>
          </a:xfrm>
          <a:prstGeom prst="rect">
            <a:avLst/>
          </a:prstGeom>
        </p:spPr>
      </p:pic>
      <p:sp>
        <p:nvSpPr>
          <p:cNvPr id="4" name="Footer Placeholder 3">
            <a:extLst>
              <a:ext uri="{FF2B5EF4-FFF2-40B4-BE49-F238E27FC236}">
                <a16:creationId xmlns:a16="http://schemas.microsoft.com/office/drawing/2014/main" id="{226CABA5-B853-4CE2-9D0B-B062457265F2}"/>
              </a:ext>
            </a:extLst>
          </p:cNvPr>
          <p:cNvSpPr>
            <a:spLocks noGrp="1"/>
          </p:cNvSpPr>
          <p:nvPr>
            <p:ph type="ftr" sz="quarter" idx="11"/>
          </p:nvPr>
        </p:nvSpPr>
        <p:spPr>
          <a:xfrm>
            <a:off x="396376" y="6471095"/>
            <a:ext cx="4114800" cy="250380"/>
          </a:xfrm>
        </p:spPr>
        <p:txBody>
          <a:bodyPr/>
          <a:lstStyle/>
          <a:p>
            <a:r>
              <a:rPr lang="en-US" dirty="0"/>
              <a:t>Key Benefit Administrators</a:t>
            </a:r>
          </a:p>
        </p:txBody>
      </p:sp>
      <p:sp>
        <p:nvSpPr>
          <p:cNvPr id="6" name="Rectangle 5">
            <a:extLst>
              <a:ext uri="{FF2B5EF4-FFF2-40B4-BE49-F238E27FC236}">
                <a16:creationId xmlns:a16="http://schemas.microsoft.com/office/drawing/2014/main" id="{F34C8217-D749-4511-B7B5-02F77484B378}"/>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fld id="{3AFC719D-C4A7-4544-876E-D411D11AF6C9}" type="slidenum">
              <a:rPr lang="en-US" smtClean="0"/>
              <a:t>3</a:t>
            </a:fld>
            <a:endParaRPr lang="en-US" dirty="0"/>
          </a:p>
        </p:txBody>
      </p:sp>
      <p:sp>
        <p:nvSpPr>
          <p:cNvPr id="9" name="Title 1">
            <a:extLst>
              <a:ext uri="{FF2B5EF4-FFF2-40B4-BE49-F238E27FC236}">
                <a16:creationId xmlns:a16="http://schemas.microsoft.com/office/drawing/2014/main" id="{553571B1-9896-47E3-8ADF-78C38648412E}"/>
              </a:ext>
            </a:extLst>
          </p:cNvPr>
          <p:cNvSpPr>
            <a:spLocks noGrp="1"/>
          </p:cNvSpPr>
          <p:nvPr>
            <p:ph type="title"/>
          </p:nvPr>
        </p:nvSpPr>
        <p:spPr>
          <a:xfrm>
            <a:off x="396376" y="1023915"/>
            <a:ext cx="9984796" cy="502882"/>
          </a:xfrm>
          <a:noFill/>
        </p:spPr>
        <p:txBody>
          <a:bodyPr vert="horz" lIns="91440" tIns="45720" rIns="91440" bIns="45720" rtlCol="0" anchor="t">
            <a:normAutofit/>
          </a:bodyPr>
          <a:lstStyle/>
          <a:p>
            <a:r>
              <a:rPr lang="en-US" sz="2800" b="1" spc="150" dirty="0">
                <a:solidFill>
                  <a:srgbClr val="0F5DA6"/>
                </a:solidFill>
                <a:latin typeface="Arial" panose="020B0604020202020204" pitchFamily="34" charset="0"/>
                <a:cs typeface="Arial" panose="020B0604020202020204" pitchFamily="34" charset="0"/>
              </a:rPr>
              <a:t>Healthcare Leader in Private Labeled DTE Plans</a:t>
            </a:r>
            <a:endParaRPr lang="en-US" sz="2800" b="1" cap="all" spc="150" dirty="0">
              <a:solidFill>
                <a:srgbClr val="0F5DA6"/>
              </a:solidFill>
              <a:latin typeface="Arial" panose="020B0604020202020204" pitchFamily="34" charset="0"/>
              <a:cs typeface="Arial" panose="020B0604020202020204" pitchFamily="34" charset="0"/>
            </a:endParaRPr>
          </a:p>
        </p:txBody>
      </p:sp>
      <p:pic>
        <p:nvPicPr>
          <p:cNvPr id="10242" name="Picture 2">
            <a:extLst>
              <a:ext uri="{FF2B5EF4-FFF2-40B4-BE49-F238E27FC236}">
                <a16:creationId xmlns:a16="http://schemas.microsoft.com/office/drawing/2014/main" id="{654A305B-9BE0-4449-826C-ACCCBB29F8D4}"/>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96376" y="293729"/>
            <a:ext cx="3645898" cy="62996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880AE72B-2936-B7FD-B16B-B7DDE61C48BF}"/>
              </a:ext>
            </a:extLst>
          </p:cNvPr>
          <p:cNvSpPr/>
          <p:nvPr/>
        </p:nvSpPr>
        <p:spPr>
          <a:xfrm>
            <a:off x="2659533" y="39740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Bentonville, AR</a:t>
            </a:r>
          </a:p>
          <a:p>
            <a:pPr algn="ctr"/>
            <a:r>
              <a:rPr lang="en-US" sz="1200" dirty="0">
                <a:latin typeface="Arial" panose="020B0604020202020204" pitchFamily="34" charset="0"/>
                <a:cs typeface="Arial" panose="020B0604020202020204" pitchFamily="34" charset="0"/>
              </a:rPr>
              <a:t>Northwest Health Plan</a:t>
            </a:r>
          </a:p>
        </p:txBody>
      </p:sp>
      <p:sp>
        <p:nvSpPr>
          <p:cNvPr id="10" name="Rectangle: Rounded Corners 9">
            <a:extLst>
              <a:ext uri="{FF2B5EF4-FFF2-40B4-BE49-F238E27FC236}">
                <a16:creationId xmlns:a16="http://schemas.microsoft.com/office/drawing/2014/main" id="{83BAAF75-9BFE-8A09-84C8-29127AD11CC8}"/>
              </a:ext>
            </a:extLst>
          </p:cNvPr>
          <p:cNvSpPr/>
          <p:nvPr/>
        </p:nvSpPr>
        <p:spPr>
          <a:xfrm>
            <a:off x="3572730" y="52576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Meridian, MS</a:t>
            </a:r>
          </a:p>
          <a:p>
            <a:pPr algn="ctr"/>
            <a:r>
              <a:rPr lang="en-US" sz="1200" dirty="0">
                <a:latin typeface="Arial" panose="020B0604020202020204" pitchFamily="34" charset="0"/>
                <a:cs typeface="Arial" panose="020B0604020202020204" pitchFamily="34" charset="0"/>
              </a:rPr>
              <a:t>Affinity Health Plan</a:t>
            </a:r>
          </a:p>
        </p:txBody>
      </p:sp>
      <p:sp>
        <p:nvSpPr>
          <p:cNvPr id="11" name="Rectangle: Rounded Corners 10">
            <a:extLst>
              <a:ext uri="{FF2B5EF4-FFF2-40B4-BE49-F238E27FC236}">
                <a16:creationId xmlns:a16="http://schemas.microsoft.com/office/drawing/2014/main" id="{F7F76DEC-1B86-5F34-4522-EE137E2BEDC5}"/>
              </a:ext>
            </a:extLst>
          </p:cNvPr>
          <p:cNvSpPr/>
          <p:nvPr/>
        </p:nvSpPr>
        <p:spPr>
          <a:xfrm>
            <a:off x="7452111" y="5382713"/>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Fort Myers, FL</a:t>
            </a:r>
          </a:p>
          <a:p>
            <a:pPr algn="ctr"/>
            <a:r>
              <a:rPr lang="en-US" sz="1200" dirty="0">
                <a:latin typeface="Arial" panose="020B0604020202020204" pitchFamily="34" charset="0"/>
                <a:cs typeface="Arial" panose="020B0604020202020204" pitchFamily="34" charset="0"/>
              </a:rPr>
              <a:t>Lee Health Care Partners</a:t>
            </a:r>
          </a:p>
        </p:txBody>
      </p:sp>
      <p:sp>
        <p:nvSpPr>
          <p:cNvPr id="12" name="Rectangle: Rounded Corners 11">
            <a:extLst>
              <a:ext uri="{FF2B5EF4-FFF2-40B4-BE49-F238E27FC236}">
                <a16:creationId xmlns:a16="http://schemas.microsoft.com/office/drawing/2014/main" id="{B522D9FB-03E8-0475-A3A5-AF33059EA7E6}"/>
              </a:ext>
            </a:extLst>
          </p:cNvPr>
          <p:cNvSpPr/>
          <p:nvPr/>
        </p:nvSpPr>
        <p:spPr>
          <a:xfrm>
            <a:off x="7208737" y="4373211"/>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Knoxville, TN</a:t>
            </a:r>
          </a:p>
          <a:p>
            <a:pPr algn="ctr"/>
            <a:r>
              <a:rPr lang="en-US" sz="1200" dirty="0">
                <a:latin typeface="Arial" panose="020B0604020202020204" pitchFamily="34" charset="0"/>
                <a:cs typeface="Arial" panose="020B0604020202020204" pitchFamily="34" charset="0"/>
              </a:rPr>
              <a:t>East Tennessee Health Plan</a:t>
            </a:r>
          </a:p>
        </p:txBody>
      </p:sp>
      <p:sp>
        <p:nvSpPr>
          <p:cNvPr id="13" name="Rectangle: Rounded Corners 12">
            <a:extLst>
              <a:ext uri="{FF2B5EF4-FFF2-40B4-BE49-F238E27FC236}">
                <a16:creationId xmlns:a16="http://schemas.microsoft.com/office/drawing/2014/main" id="{F3AB3343-FA0C-E9FA-637F-E45BB11DFFC1}"/>
              </a:ext>
            </a:extLst>
          </p:cNvPr>
          <p:cNvSpPr/>
          <p:nvPr/>
        </p:nvSpPr>
        <p:spPr>
          <a:xfrm>
            <a:off x="7047737" y="336370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Cincinnati, OH</a:t>
            </a:r>
          </a:p>
          <a:p>
            <a:pPr algn="ctr"/>
            <a:r>
              <a:rPr lang="en-US" sz="1200" dirty="0">
                <a:latin typeface="Arial" panose="020B0604020202020204" pitchFamily="34" charset="0"/>
                <a:cs typeface="Arial" panose="020B0604020202020204" pitchFamily="34" charset="0"/>
              </a:rPr>
              <a:t>TCH Optimal</a:t>
            </a:r>
          </a:p>
        </p:txBody>
      </p:sp>
      <p:sp>
        <p:nvSpPr>
          <p:cNvPr id="14" name="Rectangle: Rounded Corners 13">
            <a:extLst>
              <a:ext uri="{FF2B5EF4-FFF2-40B4-BE49-F238E27FC236}">
                <a16:creationId xmlns:a16="http://schemas.microsoft.com/office/drawing/2014/main" id="{A5F1AA97-617E-DEDA-E780-8518ACB143FB}"/>
              </a:ext>
            </a:extLst>
          </p:cNvPr>
          <p:cNvSpPr/>
          <p:nvPr/>
        </p:nvSpPr>
        <p:spPr>
          <a:xfrm>
            <a:off x="3870663" y="2934468"/>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Louisville, KY</a:t>
            </a:r>
          </a:p>
          <a:p>
            <a:pPr algn="ctr"/>
            <a:r>
              <a:rPr lang="en-US" sz="1200" dirty="0" err="1">
                <a:latin typeface="Arial" panose="020B0604020202020204" pitchFamily="34" charset="0"/>
                <a:cs typeface="Arial" panose="020B0604020202020204" pitchFamily="34" charset="0"/>
              </a:rPr>
              <a:t>OneHealth</a:t>
            </a:r>
            <a:r>
              <a:rPr lang="en-US" sz="1200" dirty="0">
                <a:latin typeface="Arial" panose="020B0604020202020204" pitchFamily="34" charset="0"/>
                <a:cs typeface="Arial" panose="020B0604020202020204" pitchFamily="34" charset="0"/>
              </a:rPr>
              <a:t> Plan</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18682" y="13652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Only Available to </a:t>
            </a:r>
            <a:r>
              <a:rPr lang="en-US" sz="4000" b="1" i="1" dirty="0">
                <a:solidFill>
                  <a:srgbClr val="000B2E"/>
                </a:solidFill>
                <a:latin typeface="Arial" panose="020B0604020202020204" pitchFamily="34" charset="0"/>
                <a:cs typeface="Arial" panose="020B0604020202020204" pitchFamily="34" charset="0"/>
              </a:rPr>
              <a:t>Premier</a:t>
            </a:r>
            <a:r>
              <a:rPr lang="en-US" sz="4000" b="1" dirty="0">
                <a:solidFill>
                  <a:srgbClr val="000B2E"/>
                </a:solidFill>
                <a:latin typeface="Arial" panose="020B0604020202020204" pitchFamily="34" charset="0"/>
                <a:cs typeface="Arial" panose="020B0604020202020204" pitchFamily="34" charset="0"/>
              </a:rPr>
              <a:t> Health Systems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317243" y="1572305"/>
            <a:ext cx="5672318" cy="4660901"/>
          </a:xfrm>
        </p:spPr>
        <p:txBody>
          <a:bodyPr>
            <a:normAutofit/>
          </a:bodyPr>
          <a:lstStyle/>
          <a:p>
            <a:pPr marL="0" indent="0">
              <a:lnSpc>
                <a:spcPct val="150000"/>
              </a:lnSpc>
              <a:spcAft>
                <a:spcPts val="1200"/>
              </a:spcAft>
              <a:buNone/>
            </a:pPr>
            <a:r>
              <a:rPr lang="en-US" sz="3200" b="1" dirty="0">
                <a:solidFill>
                  <a:srgbClr val="59CAE8"/>
                </a:solidFill>
                <a:latin typeface="Arial Black" panose="020B0A04020102020204" pitchFamily="34"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Arial Black" panose="020B0A04020102020204" pitchFamily="34"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Arial Black" panose="020B0A04020102020204" pitchFamily="34"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Arial Black" panose="020B0A04020102020204" pitchFamily="34" charset="0"/>
              </a:rPr>
              <a:t>EXCELENT</a:t>
            </a:r>
            <a:r>
              <a:rPr lang="en-US" sz="3200" dirty="0">
                <a:solidFill>
                  <a:srgbClr val="9900CC"/>
                </a:solidFill>
              </a:rPr>
              <a:t> </a:t>
            </a:r>
            <a:r>
              <a:rPr lang="en-US" sz="3200" dirty="0">
                <a:solidFill>
                  <a:schemeClr val="tx1">
                    <a:lumMod val="75000"/>
                    <a:lumOff val="25000"/>
                  </a:schemeClr>
                </a:solidFill>
              </a:rPr>
              <a:t>Care Quality  </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4" descr="St. Luke's University Health Network's 150th Anniversary">
            <a:extLst>
              <a:ext uri="{FF2B5EF4-FFF2-40B4-BE49-F238E27FC236}">
                <a16:creationId xmlns:a16="http://schemas.microsoft.com/office/drawing/2014/main" id="{54C4C891-BACC-B531-6B4E-417D42F3127C}"/>
              </a:ext>
            </a:extLst>
          </p:cNvPr>
          <p:cNvPicPr>
            <a:picLocks noChangeAspect="1" noChangeArrowheads="1"/>
          </p:cNvPicPr>
          <p:nvPr/>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553935" y="2433244"/>
            <a:ext cx="2910924" cy="1529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28522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E6B5926E-4AAC-8204-A9FD-B546D2D620A9}"/>
              </a:ext>
            </a:extLst>
          </p:cNvPr>
          <p:cNvPicPr>
            <a:picLocks noGrp="1" noChangeAspect="1"/>
          </p:cNvPicPr>
          <p:nvPr>
            <p:ph idx="1"/>
          </p:nvPr>
        </p:nvPicPr>
        <p:blipFill>
          <a:blip r:embed="rId2"/>
          <a:stretch>
            <a:fillRect/>
          </a:stretch>
        </p:blipFill>
        <p:spPr>
          <a:xfrm>
            <a:off x="4609338" y="1690687"/>
            <a:ext cx="5768630" cy="4518224"/>
          </a:xfrm>
        </p:spPr>
      </p:pic>
      <p:pic>
        <p:nvPicPr>
          <p:cNvPr id="8" name="Picture 2" descr="Welcome to Lehigh Valley Health Network ...">
            <a:extLst>
              <a:ext uri="{FF2B5EF4-FFF2-40B4-BE49-F238E27FC236}">
                <a16:creationId xmlns:a16="http://schemas.microsoft.com/office/drawing/2014/main" id="{DDC94D88-BA34-5AA9-EA9B-C148FD0A7157}"/>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3982212" y="5178426"/>
            <a:ext cx="3066288" cy="6096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St. Luke's University Health Network's 150th Anniversary">
            <a:extLst>
              <a:ext uri="{FF2B5EF4-FFF2-40B4-BE49-F238E27FC236}">
                <a16:creationId xmlns:a16="http://schemas.microsoft.com/office/drawing/2014/main" id="{86AC65E6-F3F0-4B89-D1E6-216DC9C8C86F}"/>
              </a:ext>
            </a:extLst>
          </p:cNvPr>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8502650" y="3328966"/>
            <a:ext cx="2266950" cy="119086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62A072E6-5B59-F58D-E1D5-FBB1C6050929}"/>
              </a:ext>
            </a:extLst>
          </p:cNvPr>
          <p:cNvSpPr/>
          <p:nvPr/>
        </p:nvSpPr>
        <p:spPr>
          <a:xfrm>
            <a:off x="0" y="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7F890093-D539-CA4F-976A-7B1A5C58F15B}"/>
              </a:ext>
            </a:extLst>
          </p:cNvPr>
          <p:cNvSpPr txBox="1"/>
          <p:nvPr/>
        </p:nvSpPr>
        <p:spPr>
          <a:xfrm>
            <a:off x="1284079" y="2851320"/>
            <a:ext cx="2757206" cy="147732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Comparison of Medicare payment market share by zip code: St Luke’s vs Lehigh Valley Health Network</a:t>
            </a:r>
          </a:p>
        </p:txBody>
      </p:sp>
      <p:sp>
        <p:nvSpPr>
          <p:cNvPr id="10" name="Title 1">
            <a:extLst>
              <a:ext uri="{FF2B5EF4-FFF2-40B4-BE49-F238E27FC236}">
                <a16:creationId xmlns:a16="http://schemas.microsoft.com/office/drawing/2014/main" id="{9164B861-2919-13B0-DF11-6C92DA49C7C5}"/>
              </a:ext>
            </a:extLst>
          </p:cNvPr>
          <p:cNvSpPr>
            <a:spLocks noGrp="1"/>
          </p:cNvSpPr>
          <p:nvPr>
            <p:ph type="title"/>
          </p:nvPr>
        </p:nvSpPr>
        <p:spPr>
          <a:xfrm>
            <a:off x="1118682" y="13652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SLUHN Advantage:</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Strong </a:t>
            </a:r>
            <a:r>
              <a:rPr lang="en-US" sz="4000" b="1" dirty="0">
                <a:solidFill>
                  <a:srgbClr val="59CAE8"/>
                </a:solidFill>
                <a:latin typeface="Arial" panose="020B0604020202020204" pitchFamily="34" charset="0"/>
                <a:cs typeface="Arial" panose="020B0604020202020204" pitchFamily="34" charset="0"/>
              </a:rPr>
              <a:t>Brand</a:t>
            </a:r>
            <a:r>
              <a:rPr lang="en-US" sz="4000" b="1" dirty="0">
                <a:solidFill>
                  <a:srgbClr val="000B2E"/>
                </a:solidFill>
                <a:latin typeface="Arial" panose="020B0604020202020204" pitchFamily="34" charset="0"/>
                <a:cs typeface="Arial" panose="020B0604020202020204" pitchFamily="34" charset="0"/>
              </a:rPr>
              <a:t> Quality</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493941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elcome to Lehigh Valley Health Network ...">
            <a:extLst>
              <a:ext uri="{FF2B5EF4-FFF2-40B4-BE49-F238E27FC236}">
                <a16:creationId xmlns:a16="http://schemas.microsoft.com/office/drawing/2014/main" id="{D35E0F37-25DB-A6ED-FA0B-749C789F7434}"/>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61604" y="2216823"/>
            <a:ext cx="3066288" cy="6096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t. Luke's University Health Network's 150th Anniversary">
            <a:extLst>
              <a:ext uri="{FF2B5EF4-FFF2-40B4-BE49-F238E27FC236}">
                <a16:creationId xmlns:a16="http://schemas.microsoft.com/office/drawing/2014/main" id="{81F606B0-F3E0-4A78-98C0-7AA2580C33ED}"/>
              </a:ext>
            </a:extLst>
          </p:cNvPr>
          <p:cNvPicPr>
            <a:picLocks noChangeAspect="1" noChangeArrowheads="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448800" y="985158"/>
            <a:ext cx="2266950" cy="119086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5">
            <a:extLst>
              <a:ext uri="{FF2B5EF4-FFF2-40B4-BE49-F238E27FC236}">
                <a16:creationId xmlns:a16="http://schemas.microsoft.com/office/drawing/2014/main" id="{802C5E5F-C08F-02C6-5478-0FD5169A64CD}"/>
              </a:ext>
            </a:extLst>
          </p:cNvPr>
          <p:cNvGraphicFramePr>
            <a:graphicFrameLocks noGrp="1"/>
          </p:cNvGraphicFramePr>
          <p:nvPr/>
        </p:nvGraphicFramePr>
        <p:xfrm>
          <a:off x="311586" y="3139930"/>
          <a:ext cx="2766324" cy="1097280"/>
        </p:xfrm>
        <a:graphic>
          <a:graphicData uri="http://schemas.openxmlformats.org/drawingml/2006/table">
            <a:tbl>
              <a:tblPr firstRow="1" bandRow="1">
                <a:tableStyleId>{5C22544A-7EE6-4342-B048-85BDC9FD1C3A}</a:tableStyleId>
              </a:tblPr>
              <a:tblGrid>
                <a:gridCol w="1383162">
                  <a:extLst>
                    <a:ext uri="{9D8B030D-6E8A-4147-A177-3AD203B41FA5}">
                      <a16:colId xmlns:a16="http://schemas.microsoft.com/office/drawing/2014/main" val="1499193583"/>
                    </a:ext>
                  </a:extLst>
                </a:gridCol>
                <a:gridCol w="1383162">
                  <a:extLst>
                    <a:ext uri="{9D8B030D-6E8A-4147-A177-3AD203B41FA5}">
                      <a16:colId xmlns:a16="http://schemas.microsoft.com/office/drawing/2014/main" val="3693673618"/>
                    </a:ext>
                  </a:extLst>
                </a:gridCol>
              </a:tblGrid>
              <a:tr h="251800">
                <a:tc>
                  <a:txBody>
                    <a:bodyPr/>
                    <a:lstStyle/>
                    <a:p>
                      <a:r>
                        <a:rPr lang="en-US" sz="1200" dirty="0"/>
                        <a:t>Hospital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00B050"/>
                    </a:solidFill>
                  </a:tcPr>
                </a:tc>
                <a:tc>
                  <a:txBody>
                    <a:bodyPr/>
                    <a:lstStyle/>
                    <a:p>
                      <a:r>
                        <a:rPr lang="en-US" sz="1200" dirty="0"/>
                        <a:t>Population Within 5 Miles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00B050"/>
                    </a:solidFill>
                  </a:tcPr>
                </a:tc>
                <a:extLst>
                  <a:ext uri="{0D108BD9-81ED-4DB2-BD59-A6C34878D82A}">
                    <a16:rowId xmlns:a16="http://schemas.microsoft.com/office/drawing/2014/main" val="3311402759"/>
                  </a:ext>
                </a:extLst>
              </a:tr>
              <a:tr h="251800">
                <a:tc>
                  <a:txBody>
                    <a:bodyPr/>
                    <a:lstStyle/>
                    <a:p>
                      <a:r>
                        <a:rPr lang="en-US" sz="1200" dirty="0"/>
                        <a:t>Lehigh Valley Hospital Cedar Crest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7FFFB"/>
                    </a:solidFill>
                  </a:tcPr>
                </a:tc>
                <a:tc>
                  <a:txBody>
                    <a:bodyPr/>
                    <a:lstStyle/>
                    <a:p>
                      <a:pPr algn="ctr"/>
                      <a:r>
                        <a:rPr lang="en-US" sz="1200" dirty="0"/>
                        <a:t>227,393</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7FFFB"/>
                    </a:solidFill>
                  </a:tcPr>
                </a:tc>
                <a:extLst>
                  <a:ext uri="{0D108BD9-81ED-4DB2-BD59-A6C34878D82A}">
                    <a16:rowId xmlns:a16="http://schemas.microsoft.com/office/drawing/2014/main" val="316278004"/>
                  </a:ext>
                </a:extLst>
              </a:tr>
            </a:tbl>
          </a:graphicData>
        </a:graphic>
      </p:graphicFrame>
      <p:graphicFrame>
        <p:nvGraphicFramePr>
          <p:cNvPr id="7" name="Table 6">
            <a:extLst>
              <a:ext uri="{FF2B5EF4-FFF2-40B4-BE49-F238E27FC236}">
                <a16:creationId xmlns:a16="http://schemas.microsoft.com/office/drawing/2014/main" id="{F5DFB184-5687-810D-E027-F824D29970B6}"/>
              </a:ext>
            </a:extLst>
          </p:cNvPr>
          <p:cNvGraphicFramePr>
            <a:graphicFrameLocks noGrp="1"/>
          </p:cNvGraphicFramePr>
          <p:nvPr>
            <p:extLst>
              <p:ext uri="{D42A27DB-BD31-4B8C-83A1-F6EECF244321}">
                <p14:modId xmlns:p14="http://schemas.microsoft.com/office/powerpoint/2010/main" val="3594610914"/>
              </p:ext>
            </p:extLst>
          </p:nvPr>
        </p:nvGraphicFramePr>
        <p:xfrm>
          <a:off x="9199113" y="2198898"/>
          <a:ext cx="2766324" cy="3663655"/>
        </p:xfrm>
        <a:graphic>
          <a:graphicData uri="http://schemas.openxmlformats.org/drawingml/2006/table">
            <a:tbl>
              <a:tblPr firstRow="1" bandRow="1">
                <a:tableStyleId>{5C22544A-7EE6-4342-B048-85BDC9FD1C3A}</a:tableStyleId>
              </a:tblPr>
              <a:tblGrid>
                <a:gridCol w="1810632">
                  <a:extLst>
                    <a:ext uri="{9D8B030D-6E8A-4147-A177-3AD203B41FA5}">
                      <a16:colId xmlns:a16="http://schemas.microsoft.com/office/drawing/2014/main" val="1499193583"/>
                    </a:ext>
                  </a:extLst>
                </a:gridCol>
                <a:gridCol w="955692">
                  <a:extLst>
                    <a:ext uri="{9D8B030D-6E8A-4147-A177-3AD203B41FA5}">
                      <a16:colId xmlns:a16="http://schemas.microsoft.com/office/drawing/2014/main" val="3693673618"/>
                    </a:ext>
                  </a:extLst>
                </a:gridCol>
              </a:tblGrid>
              <a:tr h="251800">
                <a:tc>
                  <a:txBody>
                    <a:bodyPr/>
                    <a:lstStyle/>
                    <a:p>
                      <a:pPr algn="l"/>
                      <a:r>
                        <a:rPr lang="en-US" sz="1200" dirty="0"/>
                        <a:t>Hospital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5"/>
                    </a:solidFill>
                  </a:tcPr>
                </a:tc>
                <a:tc>
                  <a:txBody>
                    <a:bodyPr/>
                    <a:lstStyle/>
                    <a:p>
                      <a:r>
                        <a:rPr lang="en-US" sz="1200" dirty="0"/>
                        <a:t>Population Within 5 Miles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5"/>
                    </a:solidFill>
                  </a:tcPr>
                </a:tc>
                <a:extLst>
                  <a:ext uri="{0D108BD9-81ED-4DB2-BD59-A6C34878D82A}">
                    <a16:rowId xmlns:a16="http://schemas.microsoft.com/office/drawing/2014/main" val="3311402759"/>
                  </a:ext>
                </a:extLst>
              </a:tr>
              <a:tr h="251800">
                <a:tc>
                  <a:txBody>
                    <a:bodyPr/>
                    <a:lstStyle/>
                    <a:p>
                      <a:pPr algn="l" fontAlgn="b"/>
                      <a:r>
                        <a:rPr lang="en-US" sz="1200" kern="1200" dirty="0">
                          <a:solidFill>
                            <a:schemeClr val="dk1"/>
                          </a:solidFill>
                          <a:latin typeface="+mn-lt"/>
                          <a:ea typeface="+mn-ea"/>
                          <a:cs typeface="+mn-cs"/>
                        </a:rPr>
                        <a:t>St Luke's Hospital - Anderson Campus</a:t>
                      </a:r>
                    </a:p>
                  </a:txBody>
                  <a:tcPr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fontAlgn="b"/>
                      <a:r>
                        <a:rPr lang="en-US" sz="1200" kern="1200" dirty="0">
                          <a:solidFill>
                            <a:schemeClr val="dk1"/>
                          </a:solidFill>
                          <a:latin typeface="+mn-lt"/>
                          <a:ea typeface="+mn-ea"/>
                          <a:cs typeface="+mn-cs"/>
                        </a:rPr>
                        <a:t>142,000</a:t>
                      </a:r>
                    </a:p>
                  </a:txBody>
                  <a:tcPr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316278004"/>
                  </a:ext>
                </a:extLst>
              </a:tr>
              <a:tr h="251800">
                <a:tc>
                  <a:txBody>
                    <a:bodyPr/>
                    <a:lstStyle/>
                    <a:p>
                      <a:pPr algn="l" fontAlgn="b"/>
                      <a:r>
                        <a:rPr lang="en-US" sz="1200" kern="1200" dirty="0">
                          <a:solidFill>
                            <a:schemeClr val="dk1"/>
                          </a:solidFill>
                          <a:latin typeface="+mn-lt"/>
                          <a:ea typeface="+mn-ea"/>
                          <a:cs typeface="+mn-cs"/>
                        </a:rPr>
                        <a:t>St Lukes Upper Bucks Campus</a:t>
                      </a:r>
                    </a:p>
                  </a:txBody>
                  <a:tcPr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fontAlgn="b"/>
                      <a:r>
                        <a:rPr lang="en-US" sz="1200" kern="1200" dirty="0">
                          <a:solidFill>
                            <a:schemeClr val="dk1"/>
                          </a:solidFill>
                          <a:latin typeface="+mn-lt"/>
                          <a:ea typeface="+mn-ea"/>
                          <a:cs typeface="+mn-cs"/>
                        </a:rPr>
                        <a:t>46,000</a:t>
                      </a:r>
                    </a:p>
                  </a:txBody>
                  <a:tcPr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352114391"/>
                  </a:ext>
                </a:extLst>
              </a:tr>
              <a:tr h="251800">
                <a:tc>
                  <a:txBody>
                    <a:bodyPr/>
                    <a:lstStyle/>
                    <a:p>
                      <a:pPr algn="l" fontAlgn="b"/>
                      <a:r>
                        <a:rPr lang="en-US" sz="1200" kern="1200" dirty="0">
                          <a:solidFill>
                            <a:schemeClr val="dk1"/>
                          </a:solidFill>
                          <a:latin typeface="+mn-lt"/>
                          <a:ea typeface="+mn-ea"/>
                          <a:cs typeface="+mn-cs"/>
                        </a:rPr>
                        <a:t>St Luke's Hospital Bethlehem</a:t>
                      </a:r>
                    </a:p>
                  </a:txBody>
                  <a:tcPr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fontAlgn="b"/>
                      <a:r>
                        <a:rPr lang="en-US" sz="1200" kern="1200" dirty="0">
                          <a:solidFill>
                            <a:schemeClr val="dk1"/>
                          </a:solidFill>
                          <a:latin typeface="+mn-lt"/>
                          <a:ea typeface="+mn-ea"/>
                          <a:cs typeface="+mn-cs"/>
                        </a:rPr>
                        <a:t>255,000</a:t>
                      </a:r>
                    </a:p>
                  </a:txBody>
                  <a:tcPr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1612802536"/>
                  </a:ext>
                </a:extLst>
              </a:tr>
              <a:tr h="251800">
                <a:tc>
                  <a:txBody>
                    <a:bodyPr/>
                    <a:lstStyle/>
                    <a:p>
                      <a:pPr algn="l" fontAlgn="b"/>
                      <a:r>
                        <a:rPr lang="en-US" sz="1200" kern="1200" dirty="0">
                          <a:solidFill>
                            <a:schemeClr val="dk1"/>
                          </a:solidFill>
                          <a:latin typeface="+mn-lt"/>
                          <a:ea typeface="+mn-ea"/>
                          <a:cs typeface="+mn-cs"/>
                        </a:rPr>
                        <a:t>St Luke's Warren Hospital</a:t>
                      </a:r>
                    </a:p>
                  </a:txBody>
                  <a:tcPr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fontAlgn="b"/>
                      <a:r>
                        <a:rPr lang="en-US" sz="1200" kern="1200" dirty="0">
                          <a:solidFill>
                            <a:schemeClr val="dk1"/>
                          </a:solidFill>
                          <a:latin typeface="+mn-lt"/>
                          <a:ea typeface="+mn-ea"/>
                          <a:cs typeface="+mn-cs"/>
                        </a:rPr>
                        <a:t>118,000</a:t>
                      </a:r>
                    </a:p>
                  </a:txBody>
                  <a:tcPr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1181464314"/>
                  </a:ext>
                </a:extLst>
              </a:tr>
              <a:tr h="251800">
                <a:tc>
                  <a:txBody>
                    <a:bodyPr/>
                    <a:lstStyle/>
                    <a:p>
                      <a:pPr algn="l"/>
                      <a:r>
                        <a:rPr lang="en-US" sz="1200" kern="1200" dirty="0">
                          <a:solidFill>
                            <a:schemeClr val="dk1"/>
                          </a:solidFill>
                          <a:latin typeface="+mn-lt"/>
                          <a:ea typeface="+mn-ea"/>
                          <a:cs typeface="+mn-cs"/>
                        </a:rPr>
                        <a:t>St Luke's Hospital - Easton Campus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a:r>
                        <a:rPr lang="en-US" sz="1200" kern="1200" dirty="0">
                          <a:solidFill>
                            <a:schemeClr val="dk1"/>
                          </a:solidFill>
                          <a:latin typeface="+mn-lt"/>
                          <a:ea typeface="+mn-ea"/>
                          <a:cs typeface="+mn-cs"/>
                        </a:rPr>
                        <a:t>141,000</a:t>
                      </a:r>
                    </a:p>
                    <a:p>
                      <a:pPr algn="r"/>
                      <a:endParaRPr lang="en-US" sz="1200" kern="1200" dirty="0">
                        <a:solidFill>
                          <a:schemeClr val="dk1"/>
                        </a:solidFill>
                        <a:latin typeface="+mn-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3713141400"/>
                  </a:ext>
                </a:extLst>
              </a:tr>
              <a:tr h="251800">
                <a:tc>
                  <a:txBody>
                    <a:bodyPr/>
                    <a:lstStyle/>
                    <a:p>
                      <a:pPr algn="l"/>
                      <a:r>
                        <a:rPr lang="en-US" sz="1200" kern="1200" dirty="0">
                          <a:solidFill>
                            <a:schemeClr val="dk1"/>
                          </a:solidFill>
                          <a:latin typeface="+mn-lt"/>
                          <a:ea typeface="+mn-ea"/>
                          <a:cs typeface="+mn-cs"/>
                        </a:rPr>
                        <a:t>St. Luke’s Hospital Monroe County</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a:r>
                        <a:rPr lang="en-US" sz="1200" kern="1200" dirty="0">
                          <a:solidFill>
                            <a:schemeClr val="dk1"/>
                          </a:solidFill>
                          <a:latin typeface="+mn-lt"/>
                          <a:ea typeface="+mn-ea"/>
                          <a:cs typeface="+mn-cs"/>
                        </a:rPr>
                        <a:t>48,667</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2385780560"/>
                  </a:ext>
                </a:extLst>
              </a:tr>
              <a:tr h="251800">
                <a:tc>
                  <a:txBody>
                    <a:bodyPr/>
                    <a:lstStyle/>
                    <a:p>
                      <a:pPr algn="l"/>
                      <a:r>
                        <a:rPr lang="en-US" sz="1200" kern="1200" dirty="0">
                          <a:solidFill>
                            <a:schemeClr val="dk1"/>
                          </a:solidFill>
                          <a:latin typeface="+mn-lt"/>
                          <a:ea typeface="+mn-ea"/>
                          <a:cs typeface="+mn-cs"/>
                        </a:rPr>
                        <a:t>St. Luke’s Hospital Carbon County</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a:r>
                        <a:rPr lang="en-US" sz="1200" kern="1200" dirty="0">
                          <a:solidFill>
                            <a:schemeClr val="dk1"/>
                          </a:solidFill>
                          <a:latin typeface="+mn-lt"/>
                          <a:ea typeface="+mn-ea"/>
                          <a:cs typeface="+mn-cs"/>
                        </a:rPr>
                        <a:t>26,628</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1165044891"/>
                  </a:ext>
                </a:extLst>
              </a:tr>
              <a:tr h="251800">
                <a:tc>
                  <a:txBody>
                    <a:bodyPr/>
                    <a:lstStyle/>
                    <a:p>
                      <a:pPr algn="l"/>
                      <a:r>
                        <a:rPr lang="en-US" sz="1200" kern="1200" dirty="0">
                          <a:solidFill>
                            <a:schemeClr val="dk1"/>
                          </a:solidFill>
                          <a:latin typeface="+mn-lt"/>
                          <a:ea typeface="+mn-ea"/>
                          <a:cs typeface="+mn-cs"/>
                        </a:rPr>
                        <a:t>Grand View Hospital</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a:r>
                        <a:rPr lang="en-US" sz="1200" kern="1200" dirty="0">
                          <a:solidFill>
                            <a:schemeClr val="dk1"/>
                          </a:solidFill>
                          <a:latin typeface="+mn-lt"/>
                          <a:ea typeface="+mn-ea"/>
                          <a:cs typeface="+mn-cs"/>
                        </a:rPr>
                        <a:t>70,739</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1318321328"/>
                  </a:ext>
                </a:extLst>
              </a:tr>
            </a:tbl>
          </a:graphicData>
        </a:graphic>
      </p:graphicFrame>
      <p:sp>
        <p:nvSpPr>
          <p:cNvPr id="8" name="Title 1">
            <a:extLst>
              <a:ext uri="{FF2B5EF4-FFF2-40B4-BE49-F238E27FC236}">
                <a16:creationId xmlns:a16="http://schemas.microsoft.com/office/drawing/2014/main" id="{B7A296EC-ABAC-52BC-9CE3-E14DAA57D327}"/>
              </a:ext>
            </a:extLst>
          </p:cNvPr>
          <p:cNvSpPr>
            <a:spLocks noGrp="1"/>
          </p:cNvSpPr>
          <p:nvPr>
            <p:ph type="title"/>
          </p:nvPr>
        </p:nvSpPr>
        <p:spPr>
          <a:xfrm>
            <a:off x="480053" y="277460"/>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SLUHN Advantage:</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Best-in-Area </a:t>
            </a:r>
            <a:r>
              <a:rPr lang="en-US" sz="4000" b="1" dirty="0">
                <a:solidFill>
                  <a:srgbClr val="59CAE8"/>
                </a:solidFill>
                <a:latin typeface="Arial" panose="020B0604020202020204" pitchFamily="34" charset="0"/>
                <a:cs typeface="Arial" panose="020B0604020202020204" pitchFamily="34" charset="0"/>
              </a:rPr>
              <a:t>Patient Access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pic>
        <p:nvPicPr>
          <p:cNvPr id="9" name="Content Placeholder 8">
            <a:extLst>
              <a:ext uri="{FF2B5EF4-FFF2-40B4-BE49-F238E27FC236}">
                <a16:creationId xmlns:a16="http://schemas.microsoft.com/office/drawing/2014/main" id="{4A1C0BBF-67AE-4FA8-B00B-C8516DF8406E}"/>
              </a:ext>
            </a:extLst>
          </p:cNvPr>
          <p:cNvPicPr>
            <a:picLocks noGrp="1" noChangeAspect="1"/>
          </p:cNvPicPr>
          <p:nvPr>
            <p:ph idx="1"/>
          </p:nvPr>
        </p:nvPicPr>
        <p:blipFill>
          <a:blip r:embed="rId4"/>
          <a:srcRect b="11790"/>
          <a:stretch/>
        </p:blipFill>
        <p:spPr>
          <a:xfrm>
            <a:off x="3767055" y="1825625"/>
            <a:ext cx="4657890" cy="3838328"/>
          </a:xfrm>
          <a:prstGeom prst="rect">
            <a:avLst/>
          </a:prstGeom>
        </p:spPr>
      </p:pic>
    </p:spTree>
    <p:extLst>
      <p:ext uri="{BB962C8B-B14F-4D97-AF65-F5344CB8AC3E}">
        <p14:creationId xmlns:p14="http://schemas.microsoft.com/office/powerpoint/2010/main" val="2123092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9C61F8C-B152-2706-CA9F-96880601EEFA}"/>
              </a:ext>
            </a:extLst>
          </p:cNvPr>
          <p:cNvGraphicFramePr>
            <a:graphicFrameLocks noGrp="1"/>
          </p:cNvGraphicFramePr>
          <p:nvPr>
            <p:ph idx="1"/>
          </p:nvPr>
        </p:nvGraphicFramePr>
        <p:xfrm>
          <a:off x="4102100" y="-123825"/>
          <a:ext cx="7963024" cy="5886452"/>
        </p:xfrm>
        <a:graphic>
          <a:graphicData uri="http://schemas.openxmlformats.org/drawingml/2006/table">
            <a:tbl>
              <a:tblPr/>
              <a:tblGrid>
                <a:gridCol w="2120045">
                  <a:extLst>
                    <a:ext uri="{9D8B030D-6E8A-4147-A177-3AD203B41FA5}">
                      <a16:colId xmlns:a16="http://schemas.microsoft.com/office/drawing/2014/main" val="2222280177"/>
                    </a:ext>
                  </a:extLst>
                </a:gridCol>
                <a:gridCol w="2120045">
                  <a:extLst>
                    <a:ext uri="{9D8B030D-6E8A-4147-A177-3AD203B41FA5}">
                      <a16:colId xmlns:a16="http://schemas.microsoft.com/office/drawing/2014/main" val="1625810600"/>
                    </a:ext>
                  </a:extLst>
                </a:gridCol>
                <a:gridCol w="2152929">
                  <a:extLst>
                    <a:ext uri="{9D8B030D-6E8A-4147-A177-3AD203B41FA5}">
                      <a16:colId xmlns:a16="http://schemas.microsoft.com/office/drawing/2014/main" val="1336689831"/>
                    </a:ext>
                  </a:extLst>
                </a:gridCol>
                <a:gridCol w="1570005">
                  <a:extLst>
                    <a:ext uri="{9D8B030D-6E8A-4147-A177-3AD203B41FA5}">
                      <a16:colId xmlns:a16="http://schemas.microsoft.com/office/drawing/2014/main" val="300144108"/>
                    </a:ext>
                  </a:extLst>
                </a:gridCol>
              </a:tblGrid>
              <a:tr h="3309550">
                <a:tc>
                  <a:txBody>
                    <a:bodyPr/>
                    <a:lstStyle/>
                    <a:p>
                      <a:pPr algn="l" fontAlgn="b">
                        <a:spcBef>
                          <a:spcPts val="0"/>
                        </a:spcBef>
                        <a:spcAft>
                          <a:spcPts val="0"/>
                        </a:spcAft>
                      </a:pPr>
                      <a:r>
                        <a:rPr lang="en-US" sz="2000" b="0" i="0" u="none" strike="noStrike" dirty="0">
                          <a:solidFill>
                            <a:srgbClr val="000000"/>
                          </a:solidFill>
                          <a:effectLst/>
                          <a:latin typeface="Arial" panose="020B0604020202020204" pitchFamily="34" charset="0"/>
                          <a:cs typeface="Arial" panose="020B0604020202020204" pitchFamily="34" charset="0"/>
                        </a:rPr>
                        <a:t>Patient HCAHPS Recommendation Rate Percentile</a:t>
                      </a:r>
                      <a:endParaRPr lang="en-US" sz="4000" b="0" i="0" u="none" strike="noStrike" dirty="0">
                        <a:effectLs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noFill/>
                  </a:tcPr>
                </a:tc>
                <a:tc>
                  <a:txBody>
                    <a:bodyPr/>
                    <a:lstStyle/>
                    <a:p>
                      <a:pPr algn="l" fontAlgn="b">
                        <a:spcBef>
                          <a:spcPts val="0"/>
                        </a:spcBef>
                        <a:spcAft>
                          <a:spcPts val="0"/>
                        </a:spcAft>
                      </a:pPr>
                      <a:r>
                        <a:rPr lang="en-US" sz="2000" b="0" i="0" u="none" strike="noStrike" dirty="0">
                          <a:solidFill>
                            <a:srgbClr val="000000"/>
                          </a:solidFill>
                          <a:effectLst/>
                          <a:latin typeface="Arial" panose="020B0604020202020204" pitchFamily="34" charset="0"/>
                          <a:cs typeface="Arial" panose="020B0604020202020204" pitchFamily="34" charset="0"/>
                        </a:rPr>
                        <a:t>CMS Quality Stars Percentile</a:t>
                      </a:r>
                      <a:endParaRPr lang="en-US" sz="4000" b="0" i="0" u="none" strike="noStrike" dirty="0">
                        <a:effectLs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noFill/>
                  </a:tcPr>
                </a:tc>
                <a:tc>
                  <a:txBody>
                    <a:bodyPr/>
                    <a:lstStyle/>
                    <a:p>
                      <a:pPr algn="l" fontAlgn="b">
                        <a:spcBef>
                          <a:spcPts val="0"/>
                        </a:spcBef>
                        <a:spcAft>
                          <a:spcPts val="0"/>
                        </a:spcAft>
                      </a:pPr>
                      <a:r>
                        <a:rPr lang="en-US" sz="2000" b="0" i="0" u="none" strike="noStrike" dirty="0">
                          <a:solidFill>
                            <a:srgbClr val="000000"/>
                          </a:solidFill>
                          <a:effectLst/>
                          <a:latin typeface="Arial" panose="020B0604020202020204" pitchFamily="34" charset="0"/>
                          <a:cs typeface="Arial" panose="020B0604020202020204" pitchFamily="34" charset="0"/>
                        </a:rPr>
                        <a:t>Mortality Average Percentile</a:t>
                      </a:r>
                      <a:endParaRPr lang="en-US" sz="4000" b="0" i="0" u="none" strike="noStrike" dirty="0">
                        <a:effectLs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noFill/>
                  </a:tcPr>
                </a:tc>
                <a:tc>
                  <a:txBody>
                    <a:bodyPr/>
                    <a:lstStyle/>
                    <a:p>
                      <a:pPr algn="l" fontAlgn="b">
                        <a:spcBef>
                          <a:spcPts val="0"/>
                        </a:spcBef>
                        <a:spcAft>
                          <a:spcPts val="0"/>
                        </a:spcAft>
                      </a:pPr>
                      <a:r>
                        <a:rPr lang="en-US" sz="2000" b="0" i="0" u="none" strike="noStrike" dirty="0">
                          <a:solidFill>
                            <a:srgbClr val="000000"/>
                          </a:solidFill>
                          <a:effectLst/>
                          <a:latin typeface="Arial" panose="020B0604020202020204" pitchFamily="34" charset="0"/>
                          <a:cs typeface="Arial" panose="020B0604020202020204" pitchFamily="34" charset="0"/>
                        </a:rPr>
                        <a:t>Readmission Percentile</a:t>
                      </a:r>
                      <a:endParaRPr lang="en-US" sz="4000" b="0" i="0" u="none" strike="noStrike" dirty="0">
                        <a:effectLs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noFill/>
                  </a:tcPr>
                </a:tc>
                <a:extLst>
                  <a:ext uri="{0D108BD9-81ED-4DB2-BD59-A6C34878D82A}">
                    <a16:rowId xmlns:a16="http://schemas.microsoft.com/office/drawing/2014/main" val="2286023769"/>
                  </a:ext>
                </a:extLst>
              </a:tr>
              <a:tr h="1288451">
                <a:tc>
                  <a:txBody>
                    <a:bodyPr/>
                    <a:lstStyle/>
                    <a:p>
                      <a:pPr algn="r" fontAlgn="b">
                        <a:spcBef>
                          <a:spcPts val="0"/>
                        </a:spcBef>
                        <a:spcAft>
                          <a:spcPts val="0"/>
                        </a:spcAft>
                      </a:pPr>
                      <a:r>
                        <a:rPr lang="en-US" sz="2000" b="0" i="0" u="none" strike="noStrike" dirty="0">
                          <a:solidFill>
                            <a:srgbClr val="000000"/>
                          </a:solidFill>
                          <a:effectLst/>
                          <a:highlight>
                            <a:srgbClr val="B8E1C5"/>
                          </a:highlight>
                          <a:latin typeface="Arial" panose="020B0604020202020204" pitchFamily="34" charset="0"/>
                          <a:cs typeface="Arial" panose="020B0604020202020204" pitchFamily="34" charset="0"/>
                        </a:rPr>
                        <a:t>73%</a:t>
                      </a:r>
                      <a:endParaRPr lang="en-US" sz="4000" b="0" i="0" u="none" strike="noStrike" dirty="0">
                        <a:effectLst/>
                        <a:highlight>
                          <a:srgbClr val="B8E1C5"/>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B8E1C5"/>
                    </a:solidFill>
                  </a:tcPr>
                </a:tc>
                <a:tc>
                  <a:txBody>
                    <a:bodyPr/>
                    <a:lstStyle/>
                    <a:p>
                      <a:pPr algn="r" fontAlgn="b">
                        <a:spcBef>
                          <a:spcPts val="0"/>
                        </a:spcBef>
                        <a:spcAft>
                          <a:spcPts val="0"/>
                        </a:spcAft>
                      </a:pPr>
                      <a:r>
                        <a:rPr lang="en-US" sz="2000" b="0" i="0" u="none" strike="noStrike">
                          <a:solidFill>
                            <a:srgbClr val="000000"/>
                          </a:solidFill>
                          <a:effectLst/>
                          <a:highlight>
                            <a:srgbClr val="63BE7B"/>
                          </a:highlight>
                          <a:latin typeface="Arial" panose="020B0604020202020204" pitchFamily="34" charset="0"/>
                          <a:cs typeface="Arial" panose="020B0604020202020204" pitchFamily="34" charset="0"/>
                        </a:rPr>
                        <a:t>99%</a:t>
                      </a:r>
                      <a:endParaRPr lang="en-US" sz="4000" b="0" i="0" u="none" strike="noStrike">
                        <a:effectLst/>
                        <a:highlight>
                          <a:srgbClr val="63BE7B"/>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63BE7B"/>
                    </a:solidFill>
                  </a:tcPr>
                </a:tc>
                <a:tc>
                  <a:txBody>
                    <a:bodyPr/>
                    <a:lstStyle/>
                    <a:p>
                      <a:pPr algn="r" fontAlgn="b">
                        <a:spcBef>
                          <a:spcPts val="0"/>
                        </a:spcBef>
                        <a:spcAft>
                          <a:spcPts val="0"/>
                        </a:spcAft>
                      </a:pPr>
                      <a:r>
                        <a:rPr lang="en-US" sz="2000" b="0" i="0" u="none" strike="noStrike">
                          <a:solidFill>
                            <a:srgbClr val="000000"/>
                          </a:solidFill>
                          <a:effectLst/>
                          <a:highlight>
                            <a:srgbClr val="8ED0A0"/>
                          </a:highlight>
                          <a:latin typeface="Arial" panose="020B0604020202020204" pitchFamily="34" charset="0"/>
                          <a:cs typeface="Arial" panose="020B0604020202020204" pitchFamily="34" charset="0"/>
                        </a:rPr>
                        <a:t>86%</a:t>
                      </a:r>
                      <a:endParaRPr lang="en-US" sz="4000" b="0" i="0" u="none" strike="noStrike">
                        <a:effectLst/>
                        <a:highlight>
                          <a:srgbClr val="8ED0A0"/>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8ED0A0"/>
                    </a:solidFill>
                  </a:tcPr>
                </a:tc>
                <a:tc>
                  <a:txBody>
                    <a:bodyPr/>
                    <a:lstStyle/>
                    <a:p>
                      <a:pPr algn="r" fontAlgn="b">
                        <a:spcBef>
                          <a:spcPts val="0"/>
                        </a:spcBef>
                        <a:spcAft>
                          <a:spcPts val="0"/>
                        </a:spcAft>
                      </a:pPr>
                      <a:r>
                        <a:rPr lang="en-US" sz="2000" b="0" i="0" u="none" strike="noStrike">
                          <a:solidFill>
                            <a:srgbClr val="000000"/>
                          </a:solidFill>
                          <a:effectLst/>
                          <a:highlight>
                            <a:srgbClr val="DDF0E4"/>
                          </a:highlight>
                          <a:latin typeface="Arial" panose="020B0604020202020204" pitchFamily="34" charset="0"/>
                          <a:cs typeface="Arial" panose="020B0604020202020204" pitchFamily="34" charset="0"/>
                        </a:rPr>
                        <a:t>63%</a:t>
                      </a:r>
                      <a:endParaRPr lang="en-US" sz="4000" b="0" i="0" u="none" strike="noStrike">
                        <a:effectLst/>
                        <a:highlight>
                          <a:srgbClr val="DDF0E4"/>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DDF0E4"/>
                    </a:solidFill>
                  </a:tcPr>
                </a:tc>
                <a:extLst>
                  <a:ext uri="{0D108BD9-81ED-4DB2-BD59-A6C34878D82A}">
                    <a16:rowId xmlns:a16="http://schemas.microsoft.com/office/drawing/2014/main" val="1456460964"/>
                  </a:ext>
                </a:extLst>
              </a:tr>
              <a:tr h="1288451">
                <a:tc>
                  <a:txBody>
                    <a:bodyPr/>
                    <a:lstStyle/>
                    <a:p>
                      <a:pPr algn="r" fontAlgn="b">
                        <a:spcBef>
                          <a:spcPts val="0"/>
                        </a:spcBef>
                        <a:spcAft>
                          <a:spcPts val="0"/>
                        </a:spcAft>
                      </a:pPr>
                      <a:r>
                        <a:rPr lang="en-US" sz="2000" b="0" i="0" u="none" strike="noStrike">
                          <a:solidFill>
                            <a:srgbClr val="000000"/>
                          </a:solidFill>
                          <a:effectLst/>
                          <a:highlight>
                            <a:srgbClr val="FCFCFF"/>
                          </a:highlight>
                          <a:latin typeface="Arial" panose="020B0604020202020204" pitchFamily="34" charset="0"/>
                          <a:cs typeface="Arial" panose="020B0604020202020204" pitchFamily="34" charset="0"/>
                        </a:rPr>
                        <a:t>53%</a:t>
                      </a:r>
                      <a:endParaRPr lang="en-US" sz="4000" b="0" i="0" u="none" strike="noStrike">
                        <a:effectLst/>
                        <a:highlight>
                          <a:srgbClr val="FCFCFF"/>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FCFCFF"/>
                    </a:solidFill>
                  </a:tcPr>
                </a:tc>
                <a:tc>
                  <a:txBody>
                    <a:bodyPr/>
                    <a:lstStyle/>
                    <a:p>
                      <a:pPr algn="r" fontAlgn="b">
                        <a:spcBef>
                          <a:spcPts val="0"/>
                        </a:spcBef>
                        <a:spcAft>
                          <a:spcPts val="0"/>
                        </a:spcAft>
                      </a:pPr>
                      <a:r>
                        <a:rPr lang="en-US" sz="2000" b="0" i="0" u="none" strike="noStrike" dirty="0">
                          <a:solidFill>
                            <a:srgbClr val="000000"/>
                          </a:solidFill>
                          <a:effectLst/>
                          <a:highlight>
                            <a:srgbClr val="ECF6F1"/>
                          </a:highlight>
                          <a:latin typeface="Arial" panose="020B0604020202020204" pitchFamily="34" charset="0"/>
                          <a:cs typeface="Arial" panose="020B0604020202020204" pitchFamily="34" charset="0"/>
                        </a:rPr>
                        <a:t>58%</a:t>
                      </a:r>
                      <a:endParaRPr lang="en-US" sz="4000" b="0" i="0" u="none" strike="noStrike" dirty="0">
                        <a:effectLst/>
                        <a:highlight>
                          <a:srgbClr val="ECF6F1"/>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ECF6F1"/>
                    </a:solidFill>
                  </a:tcPr>
                </a:tc>
                <a:tc>
                  <a:txBody>
                    <a:bodyPr/>
                    <a:lstStyle/>
                    <a:p>
                      <a:pPr algn="r" fontAlgn="b">
                        <a:spcBef>
                          <a:spcPts val="0"/>
                        </a:spcBef>
                        <a:spcAft>
                          <a:spcPts val="0"/>
                        </a:spcAft>
                      </a:pPr>
                      <a:r>
                        <a:rPr lang="en-US" sz="2000" b="0" i="0" u="none" strike="noStrike">
                          <a:solidFill>
                            <a:srgbClr val="000000"/>
                          </a:solidFill>
                          <a:effectLst/>
                          <a:highlight>
                            <a:srgbClr val="BDE3C9"/>
                          </a:highlight>
                          <a:latin typeface="Arial" panose="020B0604020202020204" pitchFamily="34" charset="0"/>
                          <a:cs typeface="Arial" panose="020B0604020202020204" pitchFamily="34" charset="0"/>
                        </a:rPr>
                        <a:t>72%</a:t>
                      </a:r>
                      <a:endParaRPr lang="en-US" sz="4000" b="0" i="0" u="none" strike="noStrike">
                        <a:effectLst/>
                        <a:highlight>
                          <a:srgbClr val="BDE3C9"/>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BDE3C9"/>
                    </a:solidFill>
                  </a:tcPr>
                </a:tc>
                <a:tc>
                  <a:txBody>
                    <a:bodyPr/>
                    <a:lstStyle/>
                    <a:p>
                      <a:pPr algn="r" fontAlgn="b">
                        <a:spcBef>
                          <a:spcPts val="0"/>
                        </a:spcBef>
                        <a:spcAft>
                          <a:spcPts val="0"/>
                        </a:spcAft>
                      </a:pPr>
                      <a:r>
                        <a:rPr lang="en-US" sz="2000" b="0" i="0" u="none" strike="noStrike" dirty="0">
                          <a:solidFill>
                            <a:srgbClr val="000000"/>
                          </a:solidFill>
                          <a:effectLst/>
                          <a:highlight>
                            <a:srgbClr val="DBEFE3"/>
                          </a:highlight>
                          <a:latin typeface="Arial" panose="020B0604020202020204" pitchFamily="34" charset="0"/>
                          <a:cs typeface="Arial" panose="020B0604020202020204" pitchFamily="34" charset="0"/>
                        </a:rPr>
                        <a:t>63%</a:t>
                      </a:r>
                      <a:endParaRPr lang="en-US" sz="4000" b="0" i="0" u="none" strike="noStrike" dirty="0">
                        <a:effectLst/>
                        <a:highlight>
                          <a:srgbClr val="DBEFE3"/>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DBEFE3"/>
                    </a:solidFill>
                  </a:tcPr>
                </a:tc>
                <a:extLst>
                  <a:ext uri="{0D108BD9-81ED-4DB2-BD59-A6C34878D82A}">
                    <a16:rowId xmlns:a16="http://schemas.microsoft.com/office/drawing/2014/main" val="543260720"/>
                  </a:ext>
                </a:extLst>
              </a:tr>
            </a:tbl>
          </a:graphicData>
        </a:graphic>
      </p:graphicFrame>
      <p:pic>
        <p:nvPicPr>
          <p:cNvPr id="5" name="Picture 2" descr="Welcome to Lehigh Valley Health Network ...">
            <a:extLst>
              <a:ext uri="{FF2B5EF4-FFF2-40B4-BE49-F238E27FC236}">
                <a16:creationId xmlns:a16="http://schemas.microsoft.com/office/drawing/2014/main" id="{F9CBBC25-2379-DA66-C994-34C7894D0939}"/>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670112" y="4895461"/>
            <a:ext cx="2266950" cy="45068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St. Luke's University Health Network's 150th Anniversary">
            <a:extLst>
              <a:ext uri="{FF2B5EF4-FFF2-40B4-BE49-F238E27FC236}">
                <a16:creationId xmlns:a16="http://schemas.microsoft.com/office/drawing/2014/main" id="{359DA4E3-A816-8BBD-E4DF-EBB8182B642F}"/>
              </a:ext>
            </a:extLst>
          </p:cNvPr>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2266693" y="3419623"/>
            <a:ext cx="1505331" cy="79077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AF85B4F-4461-B17C-D1D9-5A4173F20833}"/>
              </a:ext>
            </a:extLst>
          </p:cNvPr>
          <p:cNvSpPr txBox="1"/>
          <p:nvPr/>
        </p:nvSpPr>
        <p:spPr>
          <a:xfrm>
            <a:off x="3019358" y="6015534"/>
            <a:ext cx="8788525"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B5B5B"/>
                </a:solidFill>
                <a:effectLst/>
                <a:uLnTx/>
                <a:uFillTx/>
                <a:latin typeface="Arial" panose="020B0604020202020204" pitchFamily="34" charset="0"/>
                <a:cs typeface="Arial" panose="020B0604020202020204" pitchFamily="34" charset="0"/>
              </a:rPr>
              <a:t>Source: CMS measurements of HCAHPS patient experience (percent who would strongly recommend), CMS Stars, high-variation mortality rates and high-variation readmission rates all shown as percentiles compared to all hospitals nationally, with the 99</a:t>
            </a:r>
            <a:r>
              <a:rPr kumimoji="0" lang="en-US" sz="1400" b="0" i="0" u="none" strike="noStrike" kern="1200" cap="none" spc="0" normalizeH="0" baseline="30000" noProof="0" dirty="0">
                <a:ln>
                  <a:noFill/>
                </a:ln>
                <a:solidFill>
                  <a:srgbClr val="5B5B5B"/>
                </a:solidFill>
                <a:effectLst/>
                <a:uLnTx/>
                <a:uFillTx/>
                <a:latin typeface="Arial" panose="020B0604020202020204" pitchFamily="34" charset="0"/>
                <a:cs typeface="Arial" panose="020B0604020202020204" pitchFamily="34" charset="0"/>
              </a:rPr>
              <a:t>th</a:t>
            </a:r>
            <a:r>
              <a:rPr kumimoji="0" lang="en-US" sz="1400" b="0" i="0" u="none" strike="noStrike" kern="1200" cap="none" spc="0" normalizeH="0" baseline="0" noProof="0" dirty="0">
                <a:ln>
                  <a:noFill/>
                </a:ln>
                <a:solidFill>
                  <a:srgbClr val="5B5B5B"/>
                </a:solidFill>
                <a:effectLst/>
                <a:uLnTx/>
                <a:uFillTx/>
                <a:latin typeface="Arial" panose="020B0604020202020204" pitchFamily="34" charset="0"/>
                <a:cs typeface="Arial" panose="020B0604020202020204" pitchFamily="34" charset="0"/>
              </a:rPr>
              <a:t> percentile being the best. </a:t>
            </a:r>
          </a:p>
        </p:txBody>
      </p:sp>
      <p:sp>
        <p:nvSpPr>
          <p:cNvPr id="7" name="Rectangle 6">
            <a:extLst>
              <a:ext uri="{FF2B5EF4-FFF2-40B4-BE49-F238E27FC236}">
                <a16:creationId xmlns:a16="http://schemas.microsoft.com/office/drawing/2014/main" id="{06EC2811-E3FF-9DAD-A862-D025B8B049B2}"/>
              </a:ext>
            </a:extLst>
          </p:cNvPr>
          <p:cNvSpPr/>
          <p:nvPr/>
        </p:nvSpPr>
        <p:spPr>
          <a:xfrm>
            <a:off x="0" y="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itle 1">
            <a:extLst>
              <a:ext uri="{FF2B5EF4-FFF2-40B4-BE49-F238E27FC236}">
                <a16:creationId xmlns:a16="http://schemas.microsoft.com/office/drawing/2014/main" id="{58B5BAC4-765B-3901-8C3A-00577DDBB959}"/>
              </a:ext>
            </a:extLst>
          </p:cNvPr>
          <p:cNvSpPr>
            <a:spLocks noGrp="1"/>
          </p:cNvSpPr>
          <p:nvPr>
            <p:ph type="title"/>
          </p:nvPr>
        </p:nvSpPr>
        <p:spPr>
          <a:xfrm>
            <a:off x="1143446" y="281668"/>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SLUHN Advantage:</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Leading </a:t>
            </a:r>
            <a:r>
              <a:rPr lang="en-US" sz="4000" b="1" dirty="0">
                <a:solidFill>
                  <a:srgbClr val="59CAE8"/>
                </a:solidFill>
                <a:latin typeface="Arial" panose="020B0604020202020204" pitchFamily="34" charset="0"/>
                <a:cs typeface="Arial" panose="020B0604020202020204" pitchFamily="34" charset="0"/>
              </a:rPr>
              <a:t>Care Quality</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503953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4">
            <a:extLst>
              <a:ext uri="{FF2B5EF4-FFF2-40B4-BE49-F238E27FC236}">
                <a16:creationId xmlns:a16="http://schemas.microsoft.com/office/drawing/2014/main" id="{AFA2A0DF-5447-9DFA-147E-C70145DBB6EE}"/>
              </a:ext>
            </a:extLst>
          </p:cNvPr>
          <p:cNvGraphicFramePr>
            <a:graphicFrameLocks noGrp="1"/>
          </p:cNvGraphicFramePr>
          <p:nvPr>
            <p:ph idx="1"/>
            <p:extLst>
              <p:ext uri="{D42A27DB-BD31-4B8C-83A1-F6EECF244321}">
                <p14:modId xmlns:p14="http://schemas.microsoft.com/office/powerpoint/2010/main" val="3345559383"/>
              </p:ext>
            </p:extLst>
          </p:nvPr>
        </p:nvGraphicFramePr>
        <p:xfrm>
          <a:off x="1433867" y="1710771"/>
          <a:ext cx="10506457" cy="4194691"/>
        </p:xfrm>
        <a:graphic>
          <a:graphicData uri="http://schemas.openxmlformats.org/drawingml/2006/table">
            <a:tbl>
              <a:tblPr firstRow="1" bandRow="1"/>
              <a:tblGrid>
                <a:gridCol w="4496672">
                  <a:extLst>
                    <a:ext uri="{9D8B030D-6E8A-4147-A177-3AD203B41FA5}">
                      <a16:colId xmlns:a16="http://schemas.microsoft.com/office/drawing/2014/main" val="3878184201"/>
                    </a:ext>
                  </a:extLst>
                </a:gridCol>
                <a:gridCol w="3108378">
                  <a:extLst>
                    <a:ext uri="{9D8B030D-6E8A-4147-A177-3AD203B41FA5}">
                      <a16:colId xmlns:a16="http://schemas.microsoft.com/office/drawing/2014/main" val="184236409"/>
                    </a:ext>
                  </a:extLst>
                </a:gridCol>
                <a:gridCol w="2901407">
                  <a:extLst>
                    <a:ext uri="{9D8B030D-6E8A-4147-A177-3AD203B41FA5}">
                      <a16:colId xmlns:a16="http://schemas.microsoft.com/office/drawing/2014/main" val="1684919295"/>
                    </a:ext>
                  </a:extLst>
                </a:gridCol>
              </a:tblGrid>
              <a:tr h="764963">
                <a:tc>
                  <a:txBody>
                    <a:bodyPr/>
                    <a:lstStyle/>
                    <a:p>
                      <a:pPr algn="l" fontAlgn="b"/>
                      <a:r>
                        <a:rPr lang="en-US" sz="2200" b="0" i="0" u="none" strike="noStrike" dirty="0">
                          <a:solidFill>
                            <a:srgbClr val="000000"/>
                          </a:solidFill>
                          <a:effectLst/>
                          <a:latin typeface="Calibri" panose="020F0502020204030204" pitchFamily="34" charset="0"/>
                        </a:rPr>
                        <a:t>Hospital</a:t>
                      </a:r>
                    </a:p>
                  </a:txBody>
                  <a:tcPr marL="19105" marR="19105" marT="19105" marB="0" anchor="b">
                    <a:lnL>
                      <a:noFill/>
                    </a:lnL>
                    <a:lnR>
                      <a:noFill/>
                    </a:lnR>
                    <a:lnT>
                      <a:noFill/>
                    </a:lnT>
                    <a:lnB>
                      <a:noFill/>
                    </a:lnB>
                    <a:noFill/>
                  </a:tcPr>
                </a:tc>
                <a:tc>
                  <a:txBody>
                    <a:bodyPr/>
                    <a:lstStyle/>
                    <a:p>
                      <a:pPr algn="l" fontAlgn="b"/>
                      <a:r>
                        <a:rPr lang="en-US" sz="2200" b="0" i="0" u="none" strike="noStrike" dirty="0">
                          <a:solidFill>
                            <a:srgbClr val="000000"/>
                          </a:solidFill>
                          <a:effectLst/>
                          <a:latin typeface="Calibri" panose="020F0502020204030204" pitchFamily="34" charset="0"/>
                        </a:rPr>
                        <a:t>Rand Outpatient Services Percent of Medicare</a:t>
                      </a:r>
                    </a:p>
                  </a:txBody>
                  <a:tcPr marL="19105" marR="19105" marT="19105" marB="0" anchor="b">
                    <a:lnL>
                      <a:noFill/>
                    </a:lnL>
                    <a:lnR>
                      <a:noFill/>
                    </a:lnR>
                    <a:lnT>
                      <a:noFill/>
                    </a:lnT>
                    <a:lnB>
                      <a:noFill/>
                    </a:lnB>
                    <a:noFill/>
                  </a:tcPr>
                </a:tc>
                <a:tc>
                  <a:txBody>
                    <a:bodyPr/>
                    <a:lstStyle/>
                    <a:p>
                      <a:pPr algn="l" fontAlgn="b"/>
                      <a:r>
                        <a:rPr lang="en-US" sz="2200" b="0" i="0" u="none" strike="noStrike">
                          <a:solidFill>
                            <a:srgbClr val="000000"/>
                          </a:solidFill>
                          <a:effectLst/>
                          <a:latin typeface="Calibri" panose="020F0502020204030204" pitchFamily="34" charset="0"/>
                        </a:rPr>
                        <a:t>Rand Inpatient Services Percent of Medicare</a:t>
                      </a:r>
                    </a:p>
                  </a:txBody>
                  <a:tcPr marL="19105" marR="19105" marT="19105" marB="0" anchor="b">
                    <a:lnL>
                      <a:noFill/>
                    </a:lnL>
                    <a:lnR>
                      <a:noFill/>
                    </a:lnR>
                    <a:lnT>
                      <a:noFill/>
                    </a:lnT>
                    <a:lnB>
                      <a:noFill/>
                    </a:lnB>
                    <a:noFill/>
                  </a:tcPr>
                </a:tc>
                <a:extLst>
                  <a:ext uri="{0D108BD9-81ED-4DB2-BD59-A6C34878D82A}">
                    <a16:rowId xmlns:a16="http://schemas.microsoft.com/office/drawing/2014/main" val="1885184669"/>
                  </a:ext>
                </a:extLst>
              </a:tr>
              <a:tr h="428716">
                <a:tc>
                  <a:txBody>
                    <a:bodyPr/>
                    <a:lstStyle/>
                    <a:p>
                      <a:pPr algn="l" fontAlgn="b"/>
                      <a:r>
                        <a:rPr lang="en-US" sz="2200" b="0" i="0" u="none" strike="noStrike" dirty="0">
                          <a:solidFill>
                            <a:srgbClr val="000000"/>
                          </a:solidFill>
                          <a:effectLst/>
                          <a:latin typeface="Calibri" panose="020F0502020204030204" pitchFamily="34" charset="0"/>
                        </a:rPr>
                        <a:t>St Luke's Hospital - Anderson Campus</a:t>
                      </a:r>
                    </a:p>
                  </a:txBody>
                  <a:tcPr marL="19105" marR="19105" marT="19105" marB="0" anchor="b">
                    <a:lnL>
                      <a:noFill/>
                    </a:lnL>
                    <a:lnR>
                      <a:noFill/>
                    </a:lnR>
                    <a:lnT>
                      <a:noFill/>
                    </a:lnT>
                    <a:lnB>
                      <a:noFill/>
                    </a:lnB>
                    <a:noFill/>
                  </a:tcPr>
                </a:tc>
                <a:tc>
                  <a:txBody>
                    <a:bodyPr/>
                    <a:lstStyle/>
                    <a:p>
                      <a:pPr algn="r" fontAlgn="b"/>
                      <a:r>
                        <a:rPr lang="en-US" sz="2200" b="0" i="0" u="none" strike="noStrike">
                          <a:solidFill>
                            <a:srgbClr val="000000"/>
                          </a:solidFill>
                          <a:effectLst/>
                          <a:highlight>
                            <a:srgbClr val="F9B073"/>
                          </a:highlight>
                          <a:latin typeface="Calibri" panose="020F0502020204030204" pitchFamily="34" charset="0"/>
                        </a:rPr>
                        <a:t>290%</a:t>
                      </a:r>
                    </a:p>
                  </a:txBody>
                  <a:tcPr marL="19105" marR="19105" marT="19105" marB="0" anchor="b">
                    <a:lnL>
                      <a:noFill/>
                    </a:lnL>
                    <a:lnR>
                      <a:noFill/>
                    </a:lnR>
                    <a:lnT>
                      <a:noFill/>
                    </a:lnT>
                    <a:lnB>
                      <a:noFill/>
                    </a:lnB>
                    <a:solidFill>
                      <a:srgbClr val="F9B073"/>
                    </a:solidFill>
                  </a:tcPr>
                </a:tc>
                <a:tc>
                  <a:txBody>
                    <a:bodyPr/>
                    <a:lstStyle/>
                    <a:p>
                      <a:pPr algn="r" fontAlgn="b"/>
                      <a:r>
                        <a:rPr lang="en-US" sz="2200" b="0" i="0" u="none" strike="noStrike">
                          <a:solidFill>
                            <a:srgbClr val="000000"/>
                          </a:solidFill>
                          <a:effectLst/>
                          <a:highlight>
                            <a:srgbClr val="FABA85"/>
                          </a:highlight>
                          <a:latin typeface="Calibri" panose="020F0502020204030204" pitchFamily="34" charset="0"/>
                        </a:rPr>
                        <a:t>280%</a:t>
                      </a:r>
                    </a:p>
                  </a:txBody>
                  <a:tcPr marL="19105" marR="19105" marT="19105" marB="0" anchor="b">
                    <a:lnL>
                      <a:noFill/>
                    </a:lnL>
                    <a:lnR>
                      <a:noFill/>
                    </a:lnR>
                    <a:lnT>
                      <a:noFill/>
                    </a:lnT>
                    <a:lnB>
                      <a:noFill/>
                    </a:lnB>
                    <a:solidFill>
                      <a:srgbClr val="FABA85"/>
                    </a:solidFill>
                  </a:tcPr>
                </a:tc>
                <a:extLst>
                  <a:ext uri="{0D108BD9-81ED-4DB2-BD59-A6C34878D82A}">
                    <a16:rowId xmlns:a16="http://schemas.microsoft.com/office/drawing/2014/main" val="4015801012"/>
                  </a:ext>
                </a:extLst>
              </a:tr>
              <a:tr h="428716">
                <a:tc>
                  <a:txBody>
                    <a:bodyPr/>
                    <a:lstStyle/>
                    <a:p>
                      <a:pPr algn="l" fontAlgn="b"/>
                      <a:r>
                        <a:rPr lang="en-US" sz="2200" b="0" i="0" u="none" strike="noStrike" dirty="0">
                          <a:solidFill>
                            <a:srgbClr val="000000"/>
                          </a:solidFill>
                          <a:effectLst/>
                          <a:latin typeface="Calibri" panose="020F0502020204030204" pitchFamily="34" charset="0"/>
                        </a:rPr>
                        <a:t>St Lukes Upper Bucks Campus</a:t>
                      </a:r>
                    </a:p>
                  </a:txBody>
                  <a:tcPr marL="19105" marR="19105" marT="19105" marB="0" anchor="b">
                    <a:lnL>
                      <a:noFill/>
                    </a:lnL>
                    <a:lnR>
                      <a:noFill/>
                    </a:lnR>
                    <a:lnT>
                      <a:noFill/>
                    </a:lnT>
                    <a:lnB>
                      <a:noFill/>
                    </a:lnB>
                    <a:noFill/>
                  </a:tcPr>
                </a:tc>
                <a:tc>
                  <a:txBody>
                    <a:bodyPr/>
                    <a:lstStyle/>
                    <a:p>
                      <a:pPr algn="r" fontAlgn="b"/>
                      <a:r>
                        <a:rPr lang="en-US" sz="2200" b="0" i="0" u="none" strike="noStrike">
                          <a:solidFill>
                            <a:srgbClr val="000000"/>
                          </a:solidFill>
                          <a:effectLst/>
                          <a:highlight>
                            <a:srgbClr val="F9AE70"/>
                          </a:highlight>
                          <a:latin typeface="Calibri" panose="020F0502020204030204" pitchFamily="34" charset="0"/>
                        </a:rPr>
                        <a:t>292%</a:t>
                      </a:r>
                    </a:p>
                  </a:txBody>
                  <a:tcPr marL="19105" marR="19105" marT="19105" marB="0" anchor="b">
                    <a:lnL>
                      <a:noFill/>
                    </a:lnL>
                    <a:lnR>
                      <a:noFill/>
                    </a:lnR>
                    <a:lnT>
                      <a:noFill/>
                    </a:lnT>
                    <a:lnB>
                      <a:noFill/>
                    </a:lnB>
                    <a:solidFill>
                      <a:srgbClr val="F9AE70"/>
                    </a:solidFill>
                  </a:tcPr>
                </a:tc>
                <a:tc>
                  <a:txBody>
                    <a:bodyPr/>
                    <a:lstStyle/>
                    <a:p>
                      <a:pPr algn="l" fontAlgn="b"/>
                      <a:r>
                        <a:rPr lang="en-US" sz="2200" b="0" i="0" u="none" strike="noStrike">
                          <a:solidFill>
                            <a:srgbClr val="000000"/>
                          </a:solidFill>
                          <a:effectLst/>
                          <a:latin typeface="Calibri" panose="020F0502020204030204" pitchFamily="34" charset="0"/>
                        </a:rPr>
                        <a:t>         </a:t>
                      </a:r>
                    </a:p>
                  </a:txBody>
                  <a:tcPr marL="19105" marR="19105" marT="19105" marB="0" anchor="b">
                    <a:lnL>
                      <a:noFill/>
                    </a:lnL>
                    <a:lnR>
                      <a:noFill/>
                    </a:lnR>
                    <a:lnT>
                      <a:noFill/>
                    </a:lnT>
                    <a:lnB>
                      <a:noFill/>
                    </a:lnB>
                    <a:noFill/>
                  </a:tcPr>
                </a:tc>
                <a:extLst>
                  <a:ext uri="{0D108BD9-81ED-4DB2-BD59-A6C34878D82A}">
                    <a16:rowId xmlns:a16="http://schemas.microsoft.com/office/drawing/2014/main" val="3873359961"/>
                  </a:ext>
                </a:extLst>
              </a:tr>
              <a:tr h="428716">
                <a:tc>
                  <a:txBody>
                    <a:bodyPr/>
                    <a:lstStyle/>
                    <a:p>
                      <a:pPr algn="l" fontAlgn="b"/>
                      <a:r>
                        <a:rPr lang="en-US" sz="2200" b="0" i="0" u="none" strike="noStrike">
                          <a:solidFill>
                            <a:srgbClr val="000000"/>
                          </a:solidFill>
                          <a:effectLst/>
                          <a:latin typeface="Calibri" panose="020F0502020204030204" pitchFamily="34" charset="0"/>
                        </a:rPr>
                        <a:t>St Luke's Hospital Bethlehem</a:t>
                      </a:r>
                    </a:p>
                  </a:txBody>
                  <a:tcPr marL="19105" marR="19105" marT="19105" marB="0" anchor="b">
                    <a:lnL>
                      <a:noFill/>
                    </a:lnL>
                    <a:lnR>
                      <a:noFill/>
                    </a:lnR>
                    <a:lnT>
                      <a:noFill/>
                    </a:lnT>
                    <a:lnB>
                      <a:noFill/>
                    </a:lnB>
                    <a:noFill/>
                  </a:tcPr>
                </a:tc>
                <a:tc>
                  <a:txBody>
                    <a:bodyPr/>
                    <a:lstStyle/>
                    <a:p>
                      <a:pPr algn="r" fontAlgn="b"/>
                      <a:r>
                        <a:rPr lang="en-US" sz="2200" b="0" i="0" u="none" strike="noStrike">
                          <a:solidFill>
                            <a:srgbClr val="000000"/>
                          </a:solidFill>
                          <a:effectLst/>
                          <a:highlight>
                            <a:srgbClr val="FAB379"/>
                          </a:highlight>
                          <a:latin typeface="Calibri" panose="020F0502020204030204" pitchFamily="34" charset="0"/>
                        </a:rPr>
                        <a:t>287%</a:t>
                      </a:r>
                    </a:p>
                  </a:txBody>
                  <a:tcPr marL="19105" marR="19105" marT="19105" marB="0" anchor="b">
                    <a:lnL>
                      <a:noFill/>
                    </a:lnL>
                    <a:lnR>
                      <a:noFill/>
                    </a:lnR>
                    <a:lnT>
                      <a:noFill/>
                    </a:lnT>
                    <a:lnB>
                      <a:noFill/>
                    </a:lnB>
                    <a:solidFill>
                      <a:srgbClr val="FAB379"/>
                    </a:solidFill>
                  </a:tcPr>
                </a:tc>
                <a:tc>
                  <a:txBody>
                    <a:bodyPr/>
                    <a:lstStyle/>
                    <a:p>
                      <a:pPr algn="r" fontAlgn="b"/>
                      <a:r>
                        <a:rPr lang="en-US" sz="2200" b="0" i="0" u="none" strike="noStrike">
                          <a:solidFill>
                            <a:srgbClr val="000000"/>
                          </a:solidFill>
                          <a:effectLst/>
                          <a:highlight>
                            <a:srgbClr val="FFFDFC"/>
                          </a:highlight>
                          <a:latin typeface="Calibri" panose="020F0502020204030204" pitchFamily="34" charset="0"/>
                        </a:rPr>
                        <a:t>214%</a:t>
                      </a:r>
                    </a:p>
                  </a:txBody>
                  <a:tcPr marL="19105" marR="19105" marT="19105" marB="0" anchor="b">
                    <a:lnL>
                      <a:noFill/>
                    </a:lnL>
                    <a:lnR>
                      <a:noFill/>
                    </a:lnR>
                    <a:lnT>
                      <a:noFill/>
                    </a:lnT>
                    <a:lnB>
                      <a:noFill/>
                    </a:lnB>
                    <a:solidFill>
                      <a:srgbClr val="FFFDFC"/>
                    </a:solidFill>
                  </a:tcPr>
                </a:tc>
                <a:extLst>
                  <a:ext uri="{0D108BD9-81ED-4DB2-BD59-A6C34878D82A}">
                    <a16:rowId xmlns:a16="http://schemas.microsoft.com/office/drawing/2014/main" val="1959494578"/>
                  </a:ext>
                </a:extLst>
              </a:tr>
              <a:tr h="428716">
                <a:tc>
                  <a:txBody>
                    <a:bodyPr/>
                    <a:lstStyle/>
                    <a:p>
                      <a:pPr algn="l" fontAlgn="b"/>
                      <a:r>
                        <a:rPr lang="en-US" sz="2200" b="0" i="0" u="none" strike="noStrike" dirty="0">
                          <a:solidFill>
                            <a:srgbClr val="000000"/>
                          </a:solidFill>
                          <a:effectLst/>
                          <a:latin typeface="Calibri" panose="020F0502020204030204" pitchFamily="34" charset="0"/>
                        </a:rPr>
                        <a:t>St Luke's Warren Hospital</a:t>
                      </a:r>
                    </a:p>
                  </a:txBody>
                  <a:tcPr marL="19105" marR="19105" marT="19105" marB="0" anchor="b">
                    <a:lnL>
                      <a:noFill/>
                    </a:lnL>
                    <a:lnR>
                      <a:noFill/>
                    </a:lnR>
                    <a:lnT>
                      <a:noFill/>
                    </a:lnT>
                    <a:lnB>
                      <a:noFill/>
                    </a:lnB>
                    <a:noFill/>
                  </a:tcPr>
                </a:tc>
                <a:tc>
                  <a:txBody>
                    <a:bodyPr/>
                    <a:lstStyle/>
                    <a:p>
                      <a:pPr algn="r" fontAlgn="b"/>
                      <a:r>
                        <a:rPr lang="en-US" sz="2200" b="0" i="0" u="none" strike="noStrike" dirty="0">
                          <a:solidFill>
                            <a:srgbClr val="000000"/>
                          </a:solidFill>
                          <a:effectLst/>
                          <a:highlight>
                            <a:srgbClr val="FCD8B9"/>
                          </a:highlight>
                          <a:latin typeface="Calibri" panose="020F0502020204030204" pitchFamily="34" charset="0"/>
                        </a:rPr>
                        <a:t>251%</a:t>
                      </a:r>
                    </a:p>
                  </a:txBody>
                  <a:tcPr marL="19105" marR="19105" marT="19105" marB="0" anchor="b">
                    <a:lnL>
                      <a:noFill/>
                    </a:lnL>
                    <a:lnR>
                      <a:noFill/>
                    </a:lnR>
                    <a:lnT>
                      <a:noFill/>
                    </a:lnT>
                    <a:lnB>
                      <a:noFill/>
                    </a:lnB>
                    <a:solidFill>
                      <a:srgbClr val="FCD8B9"/>
                    </a:solidFill>
                  </a:tcPr>
                </a:tc>
                <a:tc>
                  <a:txBody>
                    <a:bodyPr/>
                    <a:lstStyle/>
                    <a:p>
                      <a:pPr algn="l" fontAlgn="b"/>
                      <a:r>
                        <a:rPr lang="en-US" sz="2200" b="0" i="0" u="none" strike="noStrike" dirty="0">
                          <a:solidFill>
                            <a:srgbClr val="000000"/>
                          </a:solidFill>
                          <a:effectLst/>
                          <a:latin typeface="Calibri" panose="020F0502020204030204" pitchFamily="34" charset="0"/>
                        </a:rPr>
                        <a:t>         </a:t>
                      </a:r>
                    </a:p>
                  </a:txBody>
                  <a:tcPr marL="19105" marR="19105" marT="19105" marB="0" anchor="b">
                    <a:lnL>
                      <a:noFill/>
                    </a:lnL>
                    <a:lnR>
                      <a:noFill/>
                    </a:lnR>
                    <a:lnT>
                      <a:noFill/>
                    </a:lnT>
                    <a:lnB>
                      <a:noFill/>
                    </a:lnB>
                    <a:noFill/>
                  </a:tcPr>
                </a:tc>
                <a:extLst>
                  <a:ext uri="{0D108BD9-81ED-4DB2-BD59-A6C34878D82A}">
                    <a16:rowId xmlns:a16="http://schemas.microsoft.com/office/drawing/2014/main" val="3205911860"/>
                  </a:ext>
                </a:extLst>
              </a:tr>
              <a:tr h="428716">
                <a:tc>
                  <a:txBody>
                    <a:bodyPr/>
                    <a:lstStyle/>
                    <a:p>
                      <a:pPr algn="l" fontAlgn="b"/>
                      <a:r>
                        <a:rPr lang="en-US" sz="2200" b="0" i="0" u="none" strike="noStrike">
                          <a:solidFill>
                            <a:srgbClr val="000000"/>
                          </a:solidFill>
                          <a:effectLst/>
                          <a:latin typeface="Calibri" panose="020F0502020204030204" pitchFamily="34" charset="0"/>
                        </a:rPr>
                        <a:t>St Luke's Hospital - Easton Campus</a:t>
                      </a:r>
                    </a:p>
                  </a:txBody>
                  <a:tcPr marL="19105" marR="19105" marT="19105" marB="0" anchor="b">
                    <a:lnL>
                      <a:noFill/>
                    </a:lnL>
                    <a:lnR>
                      <a:noFill/>
                    </a:lnR>
                    <a:lnT>
                      <a:noFill/>
                    </a:lnT>
                    <a:lnB>
                      <a:noFill/>
                    </a:lnB>
                    <a:noFill/>
                  </a:tcPr>
                </a:tc>
                <a:tc>
                  <a:txBody>
                    <a:bodyPr/>
                    <a:lstStyle/>
                    <a:p>
                      <a:pPr algn="r" fontAlgn="b"/>
                      <a:r>
                        <a:rPr lang="en-US" sz="2200" b="0" i="0" u="none" strike="noStrike" dirty="0">
                          <a:solidFill>
                            <a:srgbClr val="000000"/>
                          </a:solidFill>
                          <a:effectLst/>
                          <a:highlight>
                            <a:srgbClr val="FFFFFF"/>
                          </a:highlight>
                          <a:latin typeface="Calibri" panose="020F0502020204030204" pitchFamily="34" charset="0"/>
                        </a:rPr>
                        <a:t>212%</a:t>
                      </a:r>
                    </a:p>
                  </a:txBody>
                  <a:tcPr marL="19105" marR="19105" marT="19105" marB="0" anchor="b">
                    <a:lnL>
                      <a:noFill/>
                    </a:lnL>
                    <a:lnR>
                      <a:noFill/>
                    </a:lnR>
                    <a:lnT>
                      <a:noFill/>
                    </a:lnT>
                    <a:lnB>
                      <a:noFill/>
                    </a:lnB>
                    <a:solidFill>
                      <a:srgbClr val="FFFFFF"/>
                    </a:solidFill>
                  </a:tcPr>
                </a:tc>
                <a:tc>
                  <a:txBody>
                    <a:bodyPr/>
                    <a:lstStyle/>
                    <a:p>
                      <a:pPr algn="l" fontAlgn="b"/>
                      <a:r>
                        <a:rPr lang="en-US" sz="2200" b="0" i="0" u="none" strike="noStrike" dirty="0">
                          <a:solidFill>
                            <a:srgbClr val="000000"/>
                          </a:solidFill>
                          <a:effectLst/>
                          <a:latin typeface="Calibri" panose="020F0502020204030204" pitchFamily="34" charset="0"/>
                        </a:rPr>
                        <a:t>         </a:t>
                      </a:r>
                    </a:p>
                  </a:txBody>
                  <a:tcPr marL="19105" marR="19105" marT="19105" marB="0" anchor="b">
                    <a:lnL>
                      <a:noFill/>
                    </a:lnL>
                    <a:lnR>
                      <a:noFill/>
                    </a:lnR>
                    <a:lnT>
                      <a:noFill/>
                    </a:lnT>
                    <a:lnB>
                      <a:noFill/>
                    </a:lnB>
                    <a:noFill/>
                  </a:tcPr>
                </a:tc>
                <a:extLst>
                  <a:ext uri="{0D108BD9-81ED-4DB2-BD59-A6C34878D82A}">
                    <a16:rowId xmlns:a16="http://schemas.microsoft.com/office/drawing/2014/main" val="2759948968"/>
                  </a:ext>
                </a:extLst>
              </a:tr>
              <a:tr h="428716">
                <a:tc>
                  <a:txBody>
                    <a:bodyPr/>
                    <a:lstStyle/>
                    <a:p>
                      <a:pPr algn="l" fontAlgn="b"/>
                      <a:r>
                        <a:rPr lang="en-US" sz="2200" b="0" i="0" u="none" strike="noStrike" dirty="0">
                          <a:solidFill>
                            <a:srgbClr val="000000"/>
                          </a:solidFill>
                          <a:effectLst/>
                          <a:latin typeface="Calibri" panose="020F0502020204030204" pitchFamily="34" charset="0"/>
                        </a:rPr>
                        <a:t>St Luke’s Hospital - Monroe County</a:t>
                      </a:r>
                    </a:p>
                  </a:txBody>
                  <a:tcPr marL="19105" marR="19105" marT="19105" marB="0" anchor="b">
                    <a:lnL>
                      <a:noFill/>
                    </a:lnL>
                    <a:lnR>
                      <a:noFill/>
                    </a:lnR>
                    <a:lnT>
                      <a:noFill/>
                    </a:lnT>
                    <a:lnB>
                      <a:noFill/>
                    </a:lnB>
                    <a:noFill/>
                  </a:tcPr>
                </a:tc>
                <a:tc>
                  <a:txBody>
                    <a:bodyPr/>
                    <a:lstStyle/>
                    <a:p>
                      <a:pPr algn="r" fontAlgn="b"/>
                      <a:r>
                        <a:rPr lang="en-US" sz="2200" b="0" i="0" u="none" strike="noStrike" dirty="0">
                          <a:solidFill>
                            <a:srgbClr val="000000"/>
                          </a:solidFill>
                          <a:effectLst/>
                          <a:latin typeface="Calibri" panose="020F0502020204030204" pitchFamily="34" charset="0"/>
                        </a:rPr>
                        <a:t>251%</a:t>
                      </a:r>
                    </a:p>
                  </a:txBody>
                  <a:tcPr marL="19105" marR="19105" marT="19105" marB="0" anchor="b">
                    <a:lnL>
                      <a:noFill/>
                    </a:lnL>
                    <a:lnR>
                      <a:noFill/>
                    </a:lnR>
                    <a:lnT>
                      <a:noFill/>
                    </a:lnT>
                    <a:lnB>
                      <a:noFill/>
                    </a:lnB>
                    <a:solidFill>
                      <a:srgbClr val="FCD8B9"/>
                    </a:solidFill>
                  </a:tcPr>
                </a:tc>
                <a:tc>
                  <a:txBody>
                    <a:bodyPr/>
                    <a:lstStyle/>
                    <a:p>
                      <a:pPr algn="r" fontAlgn="b"/>
                      <a:r>
                        <a:rPr lang="en-US" sz="2200" b="0" i="0" u="none" strike="noStrike" dirty="0">
                          <a:solidFill>
                            <a:srgbClr val="000000"/>
                          </a:solidFill>
                          <a:effectLst/>
                          <a:latin typeface="Calibri" panose="020F0502020204030204" pitchFamily="34" charset="0"/>
                        </a:rPr>
                        <a:t>219%</a:t>
                      </a:r>
                    </a:p>
                  </a:txBody>
                  <a:tcPr marL="19105" marR="19105" marT="19105" marB="0" anchor="b">
                    <a:lnL>
                      <a:noFill/>
                    </a:lnL>
                    <a:lnR>
                      <a:noFill/>
                    </a:lnR>
                    <a:lnT>
                      <a:noFill/>
                    </a:lnT>
                    <a:lnB>
                      <a:noFill/>
                    </a:lnB>
                    <a:solidFill>
                      <a:srgbClr val="FCD8B9"/>
                    </a:solidFill>
                  </a:tcPr>
                </a:tc>
                <a:extLst>
                  <a:ext uri="{0D108BD9-81ED-4DB2-BD59-A6C34878D82A}">
                    <a16:rowId xmlns:a16="http://schemas.microsoft.com/office/drawing/2014/main" val="4245907629"/>
                  </a:ext>
                </a:extLst>
              </a:tr>
              <a:tr h="428716">
                <a:tc>
                  <a:txBody>
                    <a:bodyPr/>
                    <a:lstStyle/>
                    <a:p>
                      <a:pPr algn="l" fontAlgn="b"/>
                      <a:r>
                        <a:rPr lang="en-US" sz="2200" b="0" i="0" u="none" strike="noStrike" dirty="0">
                          <a:solidFill>
                            <a:srgbClr val="000000"/>
                          </a:solidFill>
                          <a:effectLst/>
                          <a:latin typeface="Calibri" panose="020F0502020204030204" pitchFamily="34" charset="0"/>
                        </a:rPr>
                        <a:t>Grand View Hospital</a:t>
                      </a:r>
                    </a:p>
                  </a:txBody>
                  <a:tcPr marL="19105" marR="19105" marT="19105" marB="0" anchor="b">
                    <a:lnL>
                      <a:noFill/>
                    </a:lnL>
                    <a:lnR>
                      <a:noFill/>
                    </a:lnR>
                    <a:lnT>
                      <a:noFill/>
                    </a:lnT>
                    <a:lnB>
                      <a:noFill/>
                    </a:lnB>
                    <a:solidFill>
                      <a:schemeClr val="bg1"/>
                    </a:solidFill>
                  </a:tcPr>
                </a:tc>
                <a:tc>
                  <a:txBody>
                    <a:bodyPr/>
                    <a:lstStyle/>
                    <a:p>
                      <a:pPr algn="r" fontAlgn="b"/>
                      <a:r>
                        <a:rPr lang="en-US" sz="2200" b="0" i="0" u="none" strike="noStrike" dirty="0">
                          <a:solidFill>
                            <a:srgbClr val="000000"/>
                          </a:solidFill>
                          <a:effectLst/>
                          <a:latin typeface="Calibri" panose="020F0502020204030204" pitchFamily="34" charset="0"/>
                        </a:rPr>
                        <a:t>179%</a:t>
                      </a:r>
                    </a:p>
                  </a:txBody>
                  <a:tcPr marL="19105" marR="19105" marT="19105" marB="0" anchor="b">
                    <a:lnL>
                      <a:noFill/>
                    </a:lnL>
                    <a:lnR>
                      <a:noFill/>
                    </a:lnR>
                    <a:lnT>
                      <a:noFill/>
                    </a:lnT>
                    <a:lnB>
                      <a:noFill/>
                    </a:lnB>
                    <a:solidFill>
                      <a:schemeClr val="bg1"/>
                    </a:solidFill>
                  </a:tcPr>
                </a:tc>
                <a:tc>
                  <a:txBody>
                    <a:bodyPr/>
                    <a:lstStyle/>
                    <a:p>
                      <a:pPr algn="r" fontAlgn="b"/>
                      <a:r>
                        <a:rPr lang="en-US" sz="2200" b="0" i="0" u="none" strike="noStrike" dirty="0">
                          <a:solidFill>
                            <a:srgbClr val="000000"/>
                          </a:solidFill>
                          <a:effectLst/>
                          <a:latin typeface="Calibri" panose="020F0502020204030204" pitchFamily="34" charset="0"/>
                        </a:rPr>
                        <a:t>197%</a:t>
                      </a:r>
                    </a:p>
                  </a:txBody>
                  <a:tcPr marL="19105" marR="19105" marT="19105" marB="0" anchor="b">
                    <a:lnL>
                      <a:noFill/>
                    </a:lnL>
                    <a:lnR>
                      <a:noFill/>
                    </a:lnR>
                    <a:lnT>
                      <a:noFill/>
                    </a:lnT>
                    <a:lnB>
                      <a:noFill/>
                    </a:lnB>
                    <a:solidFill>
                      <a:schemeClr val="bg1"/>
                    </a:solidFill>
                  </a:tcPr>
                </a:tc>
                <a:extLst>
                  <a:ext uri="{0D108BD9-81ED-4DB2-BD59-A6C34878D82A}">
                    <a16:rowId xmlns:a16="http://schemas.microsoft.com/office/drawing/2014/main" val="2433459656"/>
                  </a:ext>
                </a:extLst>
              </a:tr>
              <a:tr h="428716">
                <a:tc>
                  <a:txBody>
                    <a:bodyPr/>
                    <a:lstStyle/>
                    <a:p>
                      <a:pPr algn="l" fontAlgn="b"/>
                      <a:r>
                        <a:rPr lang="en-US" sz="2200" b="0" i="0" u="none" strike="noStrike" dirty="0">
                          <a:solidFill>
                            <a:srgbClr val="000000"/>
                          </a:solidFill>
                          <a:effectLst/>
                          <a:latin typeface="Calibri" panose="020F0502020204030204" pitchFamily="34" charset="0"/>
                        </a:rPr>
                        <a:t>Lehigh Valley Hospital Cedar Crest</a:t>
                      </a:r>
                    </a:p>
                  </a:txBody>
                  <a:tcPr marL="19105" marR="19105" marT="19105" marB="0" anchor="b">
                    <a:lnL>
                      <a:noFill/>
                    </a:lnL>
                    <a:lnR>
                      <a:noFill/>
                    </a:lnR>
                    <a:lnT>
                      <a:noFill/>
                    </a:lnT>
                    <a:lnB>
                      <a:noFill/>
                    </a:lnB>
                    <a:noFill/>
                  </a:tcPr>
                </a:tc>
                <a:tc>
                  <a:txBody>
                    <a:bodyPr/>
                    <a:lstStyle/>
                    <a:p>
                      <a:pPr algn="r" fontAlgn="b"/>
                      <a:r>
                        <a:rPr lang="en-US" sz="2200" b="0" i="0" u="none" strike="noStrike" dirty="0">
                          <a:solidFill>
                            <a:srgbClr val="000000"/>
                          </a:solidFill>
                          <a:effectLst/>
                          <a:highlight>
                            <a:srgbClr val="F79646"/>
                          </a:highlight>
                          <a:latin typeface="Calibri" panose="020F0502020204030204" pitchFamily="34" charset="0"/>
                        </a:rPr>
                        <a:t>315%</a:t>
                      </a:r>
                    </a:p>
                  </a:txBody>
                  <a:tcPr marL="19105" marR="19105" marT="19105" marB="0" anchor="b">
                    <a:lnL>
                      <a:noFill/>
                    </a:lnL>
                    <a:lnR>
                      <a:noFill/>
                    </a:lnR>
                    <a:lnT>
                      <a:noFill/>
                    </a:lnT>
                    <a:lnB>
                      <a:noFill/>
                    </a:lnB>
                    <a:solidFill>
                      <a:srgbClr val="F79646"/>
                    </a:solidFill>
                  </a:tcPr>
                </a:tc>
                <a:tc>
                  <a:txBody>
                    <a:bodyPr/>
                    <a:lstStyle/>
                    <a:p>
                      <a:pPr algn="r" fontAlgn="b"/>
                      <a:r>
                        <a:rPr lang="en-US" sz="2200" b="0" i="0" u="none" strike="noStrike" dirty="0">
                          <a:solidFill>
                            <a:srgbClr val="000000"/>
                          </a:solidFill>
                          <a:effectLst/>
                          <a:highlight>
                            <a:srgbClr val="FDDABD"/>
                          </a:highlight>
                          <a:latin typeface="Calibri" panose="020F0502020204030204" pitchFamily="34" charset="0"/>
                        </a:rPr>
                        <a:t>249%</a:t>
                      </a:r>
                    </a:p>
                  </a:txBody>
                  <a:tcPr marL="19105" marR="19105" marT="19105" marB="0" anchor="b">
                    <a:lnL>
                      <a:noFill/>
                    </a:lnL>
                    <a:lnR>
                      <a:noFill/>
                    </a:lnR>
                    <a:lnT>
                      <a:noFill/>
                    </a:lnT>
                    <a:lnB>
                      <a:noFill/>
                    </a:lnB>
                    <a:solidFill>
                      <a:srgbClr val="FDDABD"/>
                    </a:solidFill>
                  </a:tcPr>
                </a:tc>
                <a:extLst>
                  <a:ext uri="{0D108BD9-81ED-4DB2-BD59-A6C34878D82A}">
                    <a16:rowId xmlns:a16="http://schemas.microsoft.com/office/drawing/2014/main" val="2437637617"/>
                  </a:ext>
                </a:extLst>
              </a:tr>
            </a:tbl>
          </a:graphicData>
        </a:graphic>
      </p:graphicFrame>
      <p:sp>
        <p:nvSpPr>
          <p:cNvPr id="3" name="TextBox 2">
            <a:extLst>
              <a:ext uri="{FF2B5EF4-FFF2-40B4-BE49-F238E27FC236}">
                <a16:creationId xmlns:a16="http://schemas.microsoft.com/office/drawing/2014/main" id="{76CBA33A-A09D-F008-EFF9-25B34FFB78DA}"/>
              </a:ext>
            </a:extLst>
          </p:cNvPr>
          <p:cNvSpPr txBox="1"/>
          <p:nvPr/>
        </p:nvSpPr>
        <p:spPr>
          <a:xfrm>
            <a:off x="2813414" y="5982133"/>
            <a:ext cx="8788525"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B5B5B"/>
                </a:solidFill>
                <a:effectLst/>
                <a:uLnTx/>
                <a:uFillTx/>
                <a:latin typeface="Aileron Light"/>
                <a:ea typeface="+mn-ea"/>
                <a:cs typeface="+mn-cs"/>
              </a:rPr>
              <a:t>Source: RAND round 5 hospital cost data: https://www.rand.org/pubs/research_reports/RRA1144-2.html</a:t>
            </a:r>
          </a:p>
        </p:txBody>
      </p:sp>
      <p:sp>
        <p:nvSpPr>
          <p:cNvPr id="5" name="Rectangle 4">
            <a:extLst>
              <a:ext uri="{FF2B5EF4-FFF2-40B4-BE49-F238E27FC236}">
                <a16:creationId xmlns:a16="http://schemas.microsoft.com/office/drawing/2014/main" id="{071177CF-501D-49B4-18C3-24177CC6F96F}"/>
              </a:ext>
            </a:extLst>
          </p:cNvPr>
          <p:cNvSpPr/>
          <p:nvPr/>
        </p:nvSpPr>
        <p:spPr>
          <a:xfrm>
            <a:off x="0" y="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DFF233D9-7F19-9283-14DF-A46881A805AF}"/>
              </a:ext>
            </a:extLst>
          </p:cNvPr>
          <p:cNvSpPr>
            <a:spLocks noGrp="1"/>
          </p:cNvSpPr>
          <p:nvPr>
            <p:ph type="title"/>
          </p:nvPr>
        </p:nvSpPr>
        <p:spPr>
          <a:xfrm>
            <a:off x="1118682" y="13652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SLUHN Advantage:</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Care at </a:t>
            </a:r>
            <a:r>
              <a:rPr lang="en-US" sz="4000" b="1" dirty="0">
                <a:solidFill>
                  <a:srgbClr val="59CAE8"/>
                </a:solidFill>
                <a:latin typeface="Arial" panose="020B0604020202020204" pitchFamily="34" charset="0"/>
                <a:cs typeface="Arial" panose="020B0604020202020204" pitchFamily="34" charset="0"/>
              </a:rPr>
              <a:t>Value Pricing</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062641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409959" y="1292697"/>
            <a:ext cx="3677156" cy="3043929"/>
          </a:xfrm>
        </p:spPr>
        <p:txBody>
          <a:bodyPr>
            <a:noAutofit/>
          </a:bodyPr>
          <a:lstStyle/>
          <a:p>
            <a:pP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Direct-to-Employer</a:t>
            </a:r>
            <a:br>
              <a:rPr lang="en-US" sz="4000" b="1" dirty="0">
                <a:solidFill>
                  <a:srgbClr val="000B2E"/>
                </a:solidFill>
                <a:latin typeface="Arial" panose="020B0604020202020204" pitchFamily="34" charset="0"/>
                <a:cs typeface="Arial" panose="020B0604020202020204" pitchFamily="34" charset="0"/>
              </a:rPr>
            </a:br>
            <a:r>
              <a:rPr lang="en-US" sz="2800" b="1" dirty="0">
                <a:solidFill>
                  <a:srgbClr val="000B2E"/>
                </a:solidFill>
                <a:latin typeface="Arial" panose="020B0604020202020204" pitchFamily="34" charset="0"/>
                <a:cs typeface="Arial" panose="020B0604020202020204" pitchFamily="34" charset="0"/>
              </a:rPr>
              <a:t>(DTE)</a:t>
            </a:r>
            <a:br>
              <a:rPr lang="en-US" sz="1600" b="1" dirty="0">
                <a:solidFill>
                  <a:srgbClr val="000B2E"/>
                </a:solidFill>
                <a:latin typeface="Arial" panose="020B0604020202020204" pitchFamily="34" charset="0"/>
                <a:cs typeface="Arial" panose="020B0604020202020204" pitchFamily="34" charset="0"/>
              </a:rPr>
            </a:br>
            <a:br>
              <a:rPr lang="en-US" sz="1600" b="1" dirty="0">
                <a:solidFill>
                  <a:srgbClr val="000B2E"/>
                </a:solidFill>
                <a:latin typeface="Arial" panose="020B0604020202020204" pitchFamily="34" charset="0"/>
                <a:cs typeface="Arial" panose="020B0604020202020204" pitchFamily="34" charset="0"/>
              </a:rPr>
            </a:br>
            <a:r>
              <a:rPr lang="en-US" sz="1600" b="1" dirty="0">
                <a:solidFill>
                  <a:srgbClr val="000B2E"/>
                </a:solidFill>
                <a:latin typeface="Arial" panose="020B0604020202020204" pitchFamily="34" charset="0"/>
                <a:cs typeface="Arial" panose="020B0604020202020204" pitchFamily="34" charset="0"/>
              </a:rPr>
              <a:t>Your plan focused on Your relationship with Employers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6317763" y="1468132"/>
            <a:ext cx="5672318" cy="4660901"/>
          </a:xfrm>
        </p:spPr>
        <p:txBody>
          <a:bodyPr>
            <a:normAutofit/>
          </a:bodyPr>
          <a:lstStyle/>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Pick the Name of the Health Plan</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Determine the Fees Charged</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Practice the Medicine </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Receive the Profits  </a:t>
            </a:r>
          </a:p>
          <a:p>
            <a:pPr marL="0" indent="0">
              <a:lnSpc>
                <a:spcPct val="150000"/>
              </a:lnSpc>
              <a:spcAft>
                <a:spcPts val="1200"/>
              </a:spcAft>
              <a:buNone/>
            </a:pPr>
            <a:r>
              <a:rPr lang="en-US" sz="2700" b="1" dirty="0">
                <a:solidFill>
                  <a:srgbClr val="59CAE8"/>
                </a:solidFill>
                <a:latin typeface="Arial Black" panose="020B0A04020102020204" pitchFamily="34" charset="0"/>
              </a:rPr>
              <a:t>WE</a:t>
            </a:r>
            <a:r>
              <a:rPr lang="en-US" sz="2700" dirty="0">
                <a:solidFill>
                  <a:srgbClr val="9900CC"/>
                </a:solidFill>
              </a:rPr>
              <a:t> </a:t>
            </a:r>
            <a:r>
              <a:rPr lang="en-US" sz="2700"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9</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2" name="Group 41">
            <a:extLst>
              <a:ext uri="{FF2B5EF4-FFF2-40B4-BE49-F238E27FC236}">
                <a16:creationId xmlns:a16="http://schemas.microsoft.com/office/drawing/2014/main" id="{C3A11C0D-6225-4F5F-9034-762253C251A2}"/>
              </a:ext>
            </a:extLst>
          </p:cNvPr>
          <p:cNvGrpSpPr/>
          <p:nvPr/>
        </p:nvGrpSpPr>
        <p:grpSpPr>
          <a:xfrm>
            <a:off x="5489623" y="1468132"/>
            <a:ext cx="640080" cy="4254692"/>
            <a:chOff x="5315974" y="943768"/>
            <a:chExt cx="640080" cy="4254692"/>
          </a:xfrm>
          <a:noFill/>
        </p:grpSpPr>
        <p:pic>
          <p:nvPicPr>
            <p:cNvPr id="3082"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51"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52"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53"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54"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pic>
        <p:nvPicPr>
          <p:cNvPr id="7" name="Picture 4" descr="St. Luke's University Health Network's 150th Anniversary">
            <a:extLst>
              <a:ext uri="{FF2B5EF4-FFF2-40B4-BE49-F238E27FC236}">
                <a16:creationId xmlns:a16="http://schemas.microsoft.com/office/drawing/2014/main" id="{D6AB8280-65CC-A73E-FAC0-B6BB8F43AF67}"/>
              </a:ext>
            </a:extLst>
          </p:cNvPr>
          <p:cNvPicPr>
            <a:picLocks noChangeAspect="1" noChangeArrowheads="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493250" y="-64796"/>
            <a:ext cx="2266950" cy="1190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28335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Top Corners Snipped 11">
            <a:extLst>
              <a:ext uri="{FF2B5EF4-FFF2-40B4-BE49-F238E27FC236}">
                <a16:creationId xmlns:a16="http://schemas.microsoft.com/office/drawing/2014/main" id="{C7294A92-B19F-3B44-DB12-00913CE67D8E}"/>
              </a:ext>
            </a:extLst>
          </p:cNvPr>
          <p:cNvSpPr/>
          <p:nvPr/>
        </p:nvSpPr>
        <p:spPr>
          <a:xfrm rot="5400000">
            <a:off x="8391398" y="1277595"/>
            <a:ext cx="1103086" cy="2468880"/>
          </a:xfrm>
          <a:prstGeom prst="snip2SameRect">
            <a:avLst/>
          </a:prstGeom>
          <a:gradFill flip="none" rotWithShape="1">
            <a:gsLst>
              <a:gs pos="0">
                <a:schemeClr val="accent6">
                  <a:lumMod val="75000"/>
                </a:schemeClr>
              </a:gs>
              <a:gs pos="50000">
                <a:schemeClr val="accent6">
                  <a:lumMod val="60000"/>
                  <a:lumOff val="4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10</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2867" y="6008914"/>
            <a:ext cx="12194867" cy="849086"/>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061C4F0D-14E1-8EB9-6313-04B404BF313E}"/>
              </a:ext>
            </a:extLst>
          </p:cNvPr>
          <p:cNvSpPr txBox="1"/>
          <p:nvPr/>
        </p:nvSpPr>
        <p:spPr>
          <a:xfrm>
            <a:off x="1036930" y="3444621"/>
            <a:ext cx="3034331" cy="1323439"/>
          </a:xfrm>
          <a:prstGeom prst="rect">
            <a:avLst/>
          </a:prstGeom>
          <a:noFill/>
        </p:spPr>
        <p:txBody>
          <a:bodyPr wrap="square">
            <a:spAutoFit/>
          </a:bodyPr>
          <a:lstStyle/>
          <a:p>
            <a:pPr algn="ctr"/>
            <a:r>
              <a:rPr lang="en-US" sz="4000" dirty="0">
                <a:solidFill>
                  <a:schemeClr val="accent2"/>
                </a:solidFill>
              </a:rPr>
              <a:t>Results in</a:t>
            </a:r>
          </a:p>
          <a:p>
            <a:pPr algn="ctr"/>
            <a:r>
              <a:rPr lang="en-US" sz="4000" dirty="0">
                <a:solidFill>
                  <a:schemeClr val="accent2"/>
                </a:solidFill>
              </a:rPr>
              <a:t>~$.47 of loss</a:t>
            </a:r>
          </a:p>
        </p:txBody>
      </p:sp>
      <p:sp>
        <p:nvSpPr>
          <p:cNvPr id="14" name="Rectangle: Top Corners Snipped 13">
            <a:extLst>
              <a:ext uri="{FF2B5EF4-FFF2-40B4-BE49-F238E27FC236}">
                <a16:creationId xmlns:a16="http://schemas.microsoft.com/office/drawing/2014/main" id="{29FF9586-6515-7D59-3DF7-88C78AC367B3}"/>
              </a:ext>
            </a:extLst>
          </p:cNvPr>
          <p:cNvSpPr/>
          <p:nvPr/>
        </p:nvSpPr>
        <p:spPr>
          <a:xfrm rot="16200000">
            <a:off x="2929739" y="1279707"/>
            <a:ext cx="1103086" cy="2464655"/>
          </a:xfrm>
          <a:prstGeom prst="snip2SameRect">
            <a:avLst/>
          </a:prstGeom>
          <a:gradFill flip="none" rotWithShape="1">
            <a:gsLst>
              <a:gs pos="0">
                <a:schemeClr val="accent2">
                  <a:lumMod val="75000"/>
                </a:schemeClr>
              </a:gs>
              <a:gs pos="50000">
                <a:schemeClr val="accent2">
                  <a:lumMod val="40000"/>
                  <a:lumOff val="6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9E02499-7410-E23C-4113-F4DA25A9DAA4}"/>
              </a:ext>
            </a:extLst>
          </p:cNvPr>
          <p:cNvSpPr txBox="1"/>
          <p:nvPr/>
        </p:nvSpPr>
        <p:spPr>
          <a:xfrm>
            <a:off x="2321529"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Government Pay</a:t>
            </a:r>
            <a:endParaRPr lang="en-US" sz="2800" dirty="0"/>
          </a:p>
        </p:txBody>
      </p:sp>
      <p:sp>
        <p:nvSpPr>
          <p:cNvPr id="15" name="TextBox 14">
            <a:extLst>
              <a:ext uri="{FF2B5EF4-FFF2-40B4-BE49-F238E27FC236}">
                <a16:creationId xmlns:a16="http://schemas.microsoft.com/office/drawing/2014/main" id="{620BAD9F-253C-56EC-C1D5-EAAC15EB6015}"/>
              </a:ext>
            </a:extLst>
          </p:cNvPr>
          <p:cNvSpPr txBox="1"/>
          <p:nvPr/>
        </p:nvSpPr>
        <p:spPr>
          <a:xfrm>
            <a:off x="7660161"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Commercial Pay</a:t>
            </a:r>
            <a:endParaRPr lang="en-US" sz="2800" dirty="0"/>
          </a:p>
        </p:txBody>
      </p:sp>
      <p:sp>
        <p:nvSpPr>
          <p:cNvPr id="16" name="Oval 15">
            <a:extLst>
              <a:ext uri="{FF2B5EF4-FFF2-40B4-BE49-F238E27FC236}">
                <a16:creationId xmlns:a16="http://schemas.microsoft.com/office/drawing/2014/main" id="{AAF081E6-21F8-118C-A0B4-09143CFD45D2}"/>
              </a:ext>
            </a:extLst>
          </p:cNvPr>
          <p:cNvSpPr/>
          <p:nvPr/>
        </p:nvSpPr>
        <p:spPr>
          <a:xfrm>
            <a:off x="4425356" y="724705"/>
            <a:ext cx="3474720" cy="3474720"/>
          </a:xfrm>
          <a:prstGeom prst="ellips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4930388" y="1975469"/>
            <a:ext cx="2464656" cy="1073132"/>
          </a:xfrm>
        </p:spPr>
        <p:txBody>
          <a:bodyPr>
            <a:noAutofit/>
          </a:bodyPr>
          <a:lstStyle/>
          <a:p>
            <a:pPr algn="ct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Every $1 of Care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32EE0BDF-0BD6-C413-7373-07B39FBF0CAC}"/>
              </a:ext>
            </a:extLst>
          </p:cNvPr>
          <p:cNvSpPr txBox="1"/>
          <p:nvPr/>
        </p:nvSpPr>
        <p:spPr>
          <a:xfrm>
            <a:off x="8050193" y="3439738"/>
            <a:ext cx="3619293" cy="1323439"/>
          </a:xfrm>
          <a:prstGeom prst="rect">
            <a:avLst/>
          </a:prstGeom>
          <a:noFill/>
        </p:spPr>
        <p:txBody>
          <a:bodyPr wrap="square">
            <a:spAutoFit/>
          </a:bodyPr>
          <a:lstStyle/>
          <a:p>
            <a:pPr algn="ctr"/>
            <a:r>
              <a:rPr lang="en-US" sz="4000" dirty="0">
                <a:solidFill>
                  <a:schemeClr val="accent6">
                    <a:lumMod val="75000"/>
                  </a:schemeClr>
                </a:solidFill>
              </a:rPr>
              <a:t>Generates</a:t>
            </a:r>
          </a:p>
          <a:p>
            <a:pPr algn="ctr"/>
            <a:r>
              <a:rPr lang="en-US" sz="4000" dirty="0">
                <a:solidFill>
                  <a:schemeClr val="accent6">
                    <a:lumMod val="75000"/>
                  </a:schemeClr>
                </a:solidFill>
              </a:rPr>
              <a:t>~$.37 of profit</a:t>
            </a:r>
          </a:p>
        </p:txBody>
      </p:sp>
      <p:pic>
        <p:nvPicPr>
          <p:cNvPr id="3" name="Picture 4" descr="St. Luke's University Health Network's 150th Anniversary">
            <a:extLst>
              <a:ext uri="{FF2B5EF4-FFF2-40B4-BE49-F238E27FC236}">
                <a16:creationId xmlns:a16="http://schemas.microsoft.com/office/drawing/2014/main" id="{533FD6B8-D6F3-D3D6-4D32-D3F2818DD6E0}"/>
              </a:ext>
            </a:extLst>
          </p:cNvPr>
          <p:cNvPicPr>
            <a:picLocks noChangeAspect="1" noChangeArrowheads="1"/>
          </p:cNvPicPr>
          <p:nvPr/>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0289009" y="0"/>
            <a:ext cx="1616333" cy="84908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20D1BA4-6D19-00FD-17FF-A0AD0AAAF7EE}"/>
              </a:ext>
            </a:extLst>
          </p:cNvPr>
          <p:cNvSpPr txBox="1"/>
          <p:nvPr/>
        </p:nvSpPr>
        <p:spPr>
          <a:xfrm>
            <a:off x="1973943" y="5562552"/>
            <a:ext cx="8964377" cy="369332"/>
          </a:xfrm>
          <a:prstGeom prst="rect">
            <a:avLst/>
          </a:prstGeom>
          <a:noFill/>
        </p:spPr>
        <p:txBody>
          <a:bodyPr wrap="none" rtlCol="0">
            <a:spAutoFit/>
          </a:bodyPr>
          <a:lstStyle/>
          <a:p>
            <a:r>
              <a:rPr lang="en-US" dirty="0"/>
              <a:t>See Slide 35 for More Details on Calculation of Commercial and Government-Pay Net Income</a:t>
            </a:r>
          </a:p>
        </p:txBody>
      </p:sp>
    </p:spTree>
    <p:extLst>
      <p:ext uri="{BB962C8B-B14F-4D97-AF65-F5344CB8AC3E}">
        <p14:creationId xmlns:p14="http://schemas.microsoft.com/office/powerpoint/2010/main" val="33487365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8D2E8DAF-1D68-E498-59FF-722789499308}"/>
              </a:ext>
            </a:extLst>
          </p:cNvPr>
          <p:cNvSpPr/>
          <p:nvPr/>
        </p:nvSpPr>
        <p:spPr>
          <a:xfrm>
            <a:off x="1666276" y="2989943"/>
            <a:ext cx="8418286" cy="2191657"/>
          </a:xfrm>
          <a:custGeom>
            <a:avLst/>
            <a:gdLst>
              <a:gd name="connsiteX0" fmla="*/ 8157028 w 8418286"/>
              <a:gd name="connsiteY0" fmla="*/ 2191657 h 2191657"/>
              <a:gd name="connsiteX1" fmla="*/ 0 w 8418286"/>
              <a:gd name="connsiteY1" fmla="*/ 0 h 2191657"/>
              <a:gd name="connsiteX2" fmla="*/ 1088571 w 8418286"/>
              <a:gd name="connsiteY2" fmla="*/ 14515 h 2191657"/>
              <a:gd name="connsiteX3" fmla="*/ 8418286 w 8418286"/>
              <a:gd name="connsiteY3" fmla="*/ 2177143 h 2191657"/>
              <a:gd name="connsiteX4" fmla="*/ 8157028 w 8418286"/>
              <a:gd name="connsiteY4" fmla="*/ 2191657 h 21916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18286" h="2191657">
                <a:moveTo>
                  <a:pt x="8157028" y="2191657"/>
                </a:moveTo>
                <a:lnTo>
                  <a:pt x="0" y="0"/>
                </a:lnTo>
                <a:lnTo>
                  <a:pt x="1088571" y="14515"/>
                </a:lnTo>
                <a:lnTo>
                  <a:pt x="8418286" y="2177143"/>
                </a:lnTo>
                <a:lnTo>
                  <a:pt x="8157028" y="2191657"/>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46AC806E-BA4D-AF7F-5FBB-58FA9ECC5E79}"/>
              </a:ext>
            </a:extLst>
          </p:cNvPr>
          <p:cNvSpPr/>
          <p:nvPr/>
        </p:nvSpPr>
        <p:spPr>
          <a:xfrm>
            <a:off x="1680790" y="3004458"/>
            <a:ext cx="5544457" cy="2206171"/>
          </a:xfrm>
          <a:custGeom>
            <a:avLst/>
            <a:gdLst>
              <a:gd name="connsiteX0" fmla="*/ 5370286 w 5544457"/>
              <a:gd name="connsiteY0" fmla="*/ 2206171 h 2206171"/>
              <a:gd name="connsiteX1" fmla="*/ 0 w 5544457"/>
              <a:gd name="connsiteY1" fmla="*/ 0 h 2206171"/>
              <a:gd name="connsiteX2" fmla="*/ 1117600 w 5544457"/>
              <a:gd name="connsiteY2" fmla="*/ 0 h 2206171"/>
              <a:gd name="connsiteX3" fmla="*/ 5544457 w 5544457"/>
              <a:gd name="connsiteY3" fmla="*/ 2177142 h 2206171"/>
              <a:gd name="connsiteX4" fmla="*/ 5370286 w 5544457"/>
              <a:gd name="connsiteY4" fmla="*/ 2206171 h 22061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4457" h="2206171">
                <a:moveTo>
                  <a:pt x="5370286" y="2206171"/>
                </a:moveTo>
                <a:lnTo>
                  <a:pt x="0" y="0"/>
                </a:lnTo>
                <a:lnTo>
                  <a:pt x="1117600" y="0"/>
                </a:lnTo>
                <a:lnTo>
                  <a:pt x="5544457" y="2177142"/>
                </a:lnTo>
                <a:lnTo>
                  <a:pt x="5370286" y="22061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3FC6F23-9DB4-CE0C-FCDC-AE4293BB605A}"/>
              </a:ext>
            </a:extLst>
          </p:cNvPr>
          <p:cNvSpPr/>
          <p:nvPr/>
        </p:nvSpPr>
        <p:spPr>
          <a:xfrm>
            <a:off x="1666276" y="2989943"/>
            <a:ext cx="2859314" cy="2220686"/>
          </a:xfrm>
          <a:custGeom>
            <a:avLst/>
            <a:gdLst>
              <a:gd name="connsiteX0" fmla="*/ 2627086 w 2859314"/>
              <a:gd name="connsiteY0" fmla="*/ 2133600 h 2220686"/>
              <a:gd name="connsiteX1" fmla="*/ 0 w 2859314"/>
              <a:gd name="connsiteY1" fmla="*/ 0 h 2220686"/>
              <a:gd name="connsiteX2" fmla="*/ 1103086 w 2859314"/>
              <a:gd name="connsiteY2" fmla="*/ 0 h 2220686"/>
              <a:gd name="connsiteX3" fmla="*/ 2859314 w 2859314"/>
              <a:gd name="connsiteY3" fmla="*/ 2220686 h 2220686"/>
              <a:gd name="connsiteX4" fmla="*/ 2627086 w 2859314"/>
              <a:gd name="connsiteY4" fmla="*/ 2133600 h 22206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9314" h="2220686">
                <a:moveTo>
                  <a:pt x="2627086" y="2133600"/>
                </a:moveTo>
                <a:lnTo>
                  <a:pt x="0" y="0"/>
                </a:lnTo>
                <a:lnTo>
                  <a:pt x="1103086" y="0"/>
                </a:lnTo>
                <a:lnTo>
                  <a:pt x="2859314" y="2220686"/>
                </a:lnTo>
                <a:lnTo>
                  <a:pt x="2627086" y="2133600"/>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5553759E-194C-3BE9-0812-4BDD6E106166}"/>
              </a:ext>
            </a:extLst>
          </p:cNvPr>
          <p:cNvSpPr/>
          <p:nvPr/>
        </p:nvSpPr>
        <p:spPr>
          <a:xfrm>
            <a:off x="679304" y="3265715"/>
            <a:ext cx="2365829" cy="1959428"/>
          </a:xfrm>
          <a:custGeom>
            <a:avLst/>
            <a:gdLst>
              <a:gd name="connsiteX0" fmla="*/ 696686 w 2365829"/>
              <a:gd name="connsiteY0" fmla="*/ 1959428 h 1959428"/>
              <a:gd name="connsiteX1" fmla="*/ 0 w 2365829"/>
              <a:gd name="connsiteY1" fmla="*/ 0 h 1959428"/>
              <a:gd name="connsiteX2" fmla="*/ 2365829 w 2365829"/>
              <a:gd name="connsiteY2" fmla="*/ 0 h 1959428"/>
              <a:gd name="connsiteX3" fmla="*/ 1596572 w 2365829"/>
              <a:gd name="connsiteY3" fmla="*/ 1930400 h 1959428"/>
              <a:gd name="connsiteX4" fmla="*/ 696686 w 2365829"/>
              <a:gd name="connsiteY4" fmla="*/ 1959428 h 19594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5829" h="1959428">
                <a:moveTo>
                  <a:pt x="696686" y="1959428"/>
                </a:moveTo>
                <a:lnTo>
                  <a:pt x="0" y="0"/>
                </a:lnTo>
                <a:lnTo>
                  <a:pt x="2365829" y="0"/>
                </a:lnTo>
                <a:lnTo>
                  <a:pt x="1596572" y="1930400"/>
                </a:lnTo>
                <a:lnTo>
                  <a:pt x="696686" y="1959428"/>
                </a:lnTo>
                <a:close/>
              </a:path>
            </a:pathLst>
          </a:custGeom>
          <a:solidFill>
            <a:srgbClr val="01A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11</a:t>
            </a:fld>
            <a:endParaRPr lang="en-US" dirty="0"/>
          </a:p>
        </p:txBody>
      </p:sp>
      <p:sp>
        <p:nvSpPr>
          <p:cNvPr id="8" name="Flowchart: Terminator 7">
            <a:extLst>
              <a:ext uri="{FF2B5EF4-FFF2-40B4-BE49-F238E27FC236}">
                <a16:creationId xmlns:a16="http://schemas.microsoft.com/office/drawing/2014/main" id="{8D335AB1-AB15-7067-B3BD-167BDAD9B16A}"/>
              </a:ext>
            </a:extLst>
          </p:cNvPr>
          <p:cNvSpPr/>
          <p:nvPr/>
        </p:nvSpPr>
        <p:spPr>
          <a:xfrm>
            <a:off x="609598" y="5127172"/>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01A050"/>
                </a:solidFill>
              </a:rPr>
              <a:t>SLUHN DTE</a:t>
            </a:r>
          </a:p>
        </p:txBody>
      </p:sp>
      <p:sp>
        <p:nvSpPr>
          <p:cNvPr id="18" name="Flowchart: Terminator 17">
            <a:extLst>
              <a:ext uri="{FF2B5EF4-FFF2-40B4-BE49-F238E27FC236}">
                <a16:creationId xmlns:a16="http://schemas.microsoft.com/office/drawing/2014/main" id="{5F2996B7-8D0A-1EEE-8045-797310EFC387}"/>
              </a:ext>
            </a:extLst>
          </p:cNvPr>
          <p:cNvSpPr/>
          <p:nvPr/>
        </p:nvSpPr>
        <p:spPr>
          <a:xfrm>
            <a:off x="6449794" y="5127172"/>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50000"/>
                    <a:lumOff val="50000"/>
                  </a:schemeClr>
                </a:solidFill>
              </a:rPr>
              <a:t>PPO #2</a:t>
            </a:r>
          </a:p>
        </p:txBody>
      </p:sp>
      <p:sp>
        <p:nvSpPr>
          <p:cNvPr id="19" name="Flowchart: Terminator 18">
            <a:extLst>
              <a:ext uri="{FF2B5EF4-FFF2-40B4-BE49-F238E27FC236}">
                <a16:creationId xmlns:a16="http://schemas.microsoft.com/office/drawing/2014/main" id="{420D1CFD-2433-B308-F247-7CAA7C100A3E}"/>
              </a:ext>
            </a:extLst>
          </p:cNvPr>
          <p:cNvSpPr/>
          <p:nvPr/>
        </p:nvSpPr>
        <p:spPr>
          <a:xfrm>
            <a:off x="9369892" y="5127172"/>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50000"/>
                    <a:lumOff val="50000"/>
                  </a:schemeClr>
                </a:solidFill>
              </a:rPr>
              <a:t>PPO #3</a:t>
            </a:r>
          </a:p>
        </p:txBody>
      </p:sp>
      <p:sp>
        <p:nvSpPr>
          <p:cNvPr id="21" name="Freeform: Shape 20">
            <a:extLst>
              <a:ext uri="{FF2B5EF4-FFF2-40B4-BE49-F238E27FC236}">
                <a16:creationId xmlns:a16="http://schemas.microsoft.com/office/drawing/2014/main" id="{BA085909-3DBA-1031-1C78-985B4CD8D4FC}"/>
              </a:ext>
            </a:extLst>
          </p:cNvPr>
          <p:cNvSpPr/>
          <p:nvPr/>
        </p:nvSpPr>
        <p:spPr>
          <a:xfrm>
            <a:off x="4612676" y="2772229"/>
            <a:ext cx="1291771" cy="2409371"/>
          </a:xfrm>
          <a:custGeom>
            <a:avLst/>
            <a:gdLst>
              <a:gd name="connsiteX0" fmla="*/ 0 w 1291771"/>
              <a:gd name="connsiteY0" fmla="*/ 2409371 h 2409371"/>
              <a:gd name="connsiteX1" fmla="*/ 391886 w 1291771"/>
              <a:gd name="connsiteY1" fmla="*/ 14514 h 2409371"/>
              <a:gd name="connsiteX2" fmla="*/ 1291771 w 1291771"/>
              <a:gd name="connsiteY2" fmla="*/ 0 h 2409371"/>
              <a:gd name="connsiteX3" fmla="*/ 246743 w 1291771"/>
              <a:gd name="connsiteY3" fmla="*/ 2380343 h 2409371"/>
              <a:gd name="connsiteX4" fmla="*/ 0 w 1291771"/>
              <a:gd name="connsiteY4" fmla="*/ 2409371 h 2409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1771" h="2409371">
                <a:moveTo>
                  <a:pt x="0" y="2409371"/>
                </a:moveTo>
                <a:lnTo>
                  <a:pt x="391886" y="14514"/>
                </a:lnTo>
                <a:lnTo>
                  <a:pt x="1291771" y="0"/>
                </a:lnTo>
                <a:lnTo>
                  <a:pt x="246743" y="2380343"/>
                </a:lnTo>
                <a:lnTo>
                  <a:pt x="0" y="24093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Terminator 9">
            <a:extLst>
              <a:ext uri="{FF2B5EF4-FFF2-40B4-BE49-F238E27FC236}">
                <a16:creationId xmlns:a16="http://schemas.microsoft.com/office/drawing/2014/main" id="{75CE525B-6A36-CBFD-DAEC-08C2DCCA890E}"/>
              </a:ext>
            </a:extLst>
          </p:cNvPr>
          <p:cNvSpPr/>
          <p:nvPr/>
        </p:nvSpPr>
        <p:spPr>
          <a:xfrm>
            <a:off x="3529696" y="5127172"/>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50000"/>
                    <a:lumOff val="50000"/>
                  </a:schemeClr>
                </a:solidFill>
              </a:rPr>
              <a:t>PPO #1</a:t>
            </a:r>
          </a:p>
        </p:txBody>
      </p:sp>
      <p:sp>
        <p:nvSpPr>
          <p:cNvPr id="24" name="Freeform: Shape 23">
            <a:extLst>
              <a:ext uri="{FF2B5EF4-FFF2-40B4-BE49-F238E27FC236}">
                <a16:creationId xmlns:a16="http://schemas.microsoft.com/office/drawing/2014/main" id="{25DD61BC-D896-8689-4F94-1C5E1AD8A77C}"/>
              </a:ext>
            </a:extLst>
          </p:cNvPr>
          <p:cNvSpPr/>
          <p:nvPr/>
        </p:nvSpPr>
        <p:spPr>
          <a:xfrm>
            <a:off x="5120676" y="2685143"/>
            <a:ext cx="4702628" cy="2496457"/>
          </a:xfrm>
          <a:custGeom>
            <a:avLst/>
            <a:gdLst>
              <a:gd name="connsiteX0" fmla="*/ 0 w 4702628"/>
              <a:gd name="connsiteY0" fmla="*/ 2496457 h 2496457"/>
              <a:gd name="connsiteX1" fmla="*/ 4209143 w 4702628"/>
              <a:gd name="connsiteY1" fmla="*/ 0 h 2496457"/>
              <a:gd name="connsiteX2" fmla="*/ 4702628 w 4702628"/>
              <a:gd name="connsiteY2" fmla="*/ 14515 h 2496457"/>
              <a:gd name="connsiteX3" fmla="*/ 0 w 4702628"/>
              <a:gd name="connsiteY3" fmla="*/ 2496457 h 2496457"/>
            </a:gdLst>
            <a:ahLst/>
            <a:cxnLst>
              <a:cxn ang="0">
                <a:pos x="connsiteX0" y="connsiteY0"/>
              </a:cxn>
              <a:cxn ang="0">
                <a:pos x="connsiteX1" y="connsiteY1"/>
              </a:cxn>
              <a:cxn ang="0">
                <a:pos x="connsiteX2" y="connsiteY2"/>
              </a:cxn>
              <a:cxn ang="0">
                <a:pos x="connsiteX3" y="connsiteY3"/>
              </a:cxn>
            </a:cxnLst>
            <a:rect l="l" t="t" r="r" b="b"/>
            <a:pathLst>
              <a:path w="4702628" h="2496457">
                <a:moveTo>
                  <a:pt x="0" y="2496457"/>
                </a:moveTo>
                <a:lnTo>
                  <a:pt x="4209143" y="0"/>
                </a:lnTo>
                <a:lnTo>
                  <a:pt x="4702628" y="14515"/>
                </a:lnTo>
                <a:lnTo>
                  <a:pt x="0" y="2496457"/>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F58DA010-867A-9491-969D-99ECC30A6783}"/>
              </a:ext>
            </a:extLst>
          </p:cNvPr>
          <p:cNvSpPr/>
          <p:nvPr/>
        </p:nvSpPr>
        <p:spPr>
          <a:xfrm>
            <a:off x="4990047" y="2772229"/>
            <a:ext cx="2641600" cy="2423886"/>
          </a:xfrm>
          <a:custGeom>
            <a:avLst/>
            <a:gdLst>
              <a:gd name="connsiteX0" fmla="*/ 2481943 w 2641600"/>
              <a:gd name="connsiteY0" fmla="*/ 2423886 h 2423886"/>
              <a:gd name="connsiteX1" fmla="*/ 0 w 2641600"/>
              <a:gd name="connsiteY1" fmla="*/ 29029 h 2423886"/>
              <a:gd name="connsiteX2" fmla="*/ 914400 w 2641600"/>
              <a:gd name="connsiteY2" fmla="*/ 0 h 2423886"/>
              <a:gd name="connsiteX3" fmla="*/ 2641600 w 2641600"/>
              <a:gd name="connsiteY3" fmla="*/ 2409371 h 2423886"/>
              <a:gd name="connsiteX4" fmla="*/ 2481943 w 2641600"/>
              <a:gd name="connsiteY4" fmla="*/ 2423886 h 24238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1600" h="2423886">
                <a:moveTo>
                  <a:pt x="2481943" y="2423886"/>
                </a:moveTo>
                <a:lnTo>
                  <a:pt x="0" y="29029"/>
                </a:lnTo>
                <a:lnTo>
                  <a:pt x="914400" y="0"/>
                </a:lnTo>
                <a:lnTo>
                  <a:pt x="2641600" y="2409371"/>
                </a:lnTo>
                <a:lnTo>
                  <a:pt x="2481943" y="2423886"/>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78277868-FEA1-C248-ED39-1002FE8ADFE4}"/>
              </a:ext>
            </a:extLst>
          </p:cNvPr>
          <p:cNvSpPr/>
          <p:nvPr/>
        </p:nvSpPr>
        <p:spPr>
          <a:xfrm>
            <a:off x="7907419" y="2670629"/>
            <a:ext cx="1901371" cy="2525486"/>
          </a:xfrm>
          <a:custGeom>
            <a:avLst/>
            <a:gdLst>
              <a:gd name="connsiteX0" fmla="*/ 0 w 1901371"/>
              <a:gd name="connsiteY0" fmla="*/ 2510971 h 2525486"/>
              <a:gd name="connsiteX1" fmla="*/ 1422400 w 1901371"/>
              <a:gd name="connsiteY1" fmla="*/ 14514 h 2525486"/>
              <a:gd name="connsiteX2" fmla="*/ 1901371 w 1901371"/>
              <a:gd name="connsiteY2" fmla="*/ 0 h 2525486"/>
              <a:gd name="connsiteX3" fmla="*/ 87085 w 1901371"/>
              <a:gd name="connsiteY3" fmla="*/ 2510971 h 2525486"/>
              <a:gd name="connsiteX4" fmla="*/ 58057 w 1901371"/>
              <a:gd name="connsiteY4" fmla="*/ 2481943 h 2525486"/>
              <a:gd name="connsiteX5" fmla="*/ 72571 w 1901371"/>
              <a:gd name="connsiteY5" fmla="*/ 2481943 h 2525486"/>
              <a:gd name="connsiteX6" fmla="*/ 58057 w 1901371"/>
              <a:gd name="connsiteY6" fmla="*/ 2525486 h 2525486"/>
              <a:gd name="connsiteX7" fmla="*/ 0 w 1901371"/>
              <a:gd name="connsiteY7" fmla="*/ 2510971 h 2525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1371" h="2525486">
                <a:moveTo>
                  <a:pt x="0" y="2510971"/>
                </a:moveTo>
                <a:lnTo>
                  <a:pt x="1422400" y="14514"/>
                </a:lnTo>
                <a:lnTo>
                  <a:pt x="1901371" y="0"/>
                </a:lnTo>
                <a:lnTo>
                  <a:pt x="87085" y="2510971"/>
                </a:lnTo>
                <a:lnTo>
                  <a:pt x="58057" y="2481943"/>
                </a:lnTo>
                <a:lnTo>
                  <a:pt x="72571" y="2481943"/>
                </a:lnTo>
                <a:lnTo>
                  <a:pt x="58057" y="2525486"/>
                </a:lnTo>
                <a:lnTo>
                  <a:pt x="0" y="25109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8544170D-73AC-E85A-8695-7AC58167EAA4}"/>
              </a:ext>
            </a:extLst>
          </p:cNvPr>
          <p:cNvSpPr/>
          <p:nvPr/>
        </p:nvSpPr>
        <p:spPr>
          <a:xfrm>
            <a:off x="4990047" y="2772229"/>
            <a:ext cx="5631543" cy="2409371"/>
          </a:xfrm>
          <a:custGeom>
            <a:avLst/>
            <a:gdLst>
              <a:gd name="connsiteX0" fmla="*/ 5413829 w 5631543"/>
              <a:gd name="connsiteY0" fmla="*/ 2409371 h 2409371"/>
              <a:gd name="connsiteX1" fmla="*/ 0 w 5631543"/>
              <a:gd name="connsiteY1" fmla="*/ 14514 h 2409371"/>
              <a:gd name="connsiteX2" fmla="*/ 957943 w 5631543"/>
              <a:gd name="connsiteY2" fmla="*/ 0 h 2409371"/>
              <a:gd name="connsiteX3" fmla="*/ 5631543 w 5631543"/>
              <a:gd name="connsiteY3" fmla="*/ 2380343 h 2409371"/>
              <a:gd name="connsiteX4" fmla="*/ 5413829 w 5631543"/>
              <a:gd name="connsiteY4" fmla="*/ 2409371 h 2409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1543" h="2409371">
                <a:moveTo>
                  <a:pt x="5413829" y="2409371"/>
                </a:moveTo>
                <a:lnTo>
                  <a:pt x="0" y="14514"/>
                </a:lnTo>
                <a:lnTo>
                  <a:pt x="957943" y="0"/>
                </a:lnTo>
                <a:lnTo>
                  <a:pt x="5631543" y="2380343"/>
                </a:lnTo>
                <a:lnTo>
                  <a:pt x="5413829" y="24093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6929D0B6-560E-A26C-A57F-320C6F7E2095}"/>
              </a:ext>
            </a:extLst>
          </p:cNvPr>
          <p:cNvSpPr/>
          <p:nvPr/>
        </p:nvSpPr>
        <p:spPr>
          <a:xfrm>
            <a:off x="9286276" y="2699658"/>
            <a:ext cx="1698171" cy="2510971"/>
          </a:xfrm>
          <a:custGeom>
            <a:avLst/>
            <a:gdLst>
              <a:gd name="connsiteX0" fmla="*/ 1698171 w 1698171"/>
              <a:gd name="connsiteY0" fmla="*/ 2510971 h 2510971"/>
              <a:gd name="connsiteX1" fmla="*/ 0 w 1698171"/>
              <a:gd name="connsiteY1" fmla="*/ 43542 h 2510971"/>
              <a:gd name="connsiteX2" fmla="*/ 537028 w 1698171"/>
              <a:gd name="connsiteY2" fmla="*/ 0 h 2510971"/>
              <a:gd name="connsiteX3" fmla="*/ 1698171 w 1698171"/>
              <a:gd name="connsiteY3" fmla="*/ 2510971 h 2510971"/>
            </a:gdLst>
            <a:ahLst/>
            <a:cxnLst>
              <a:cxn ang="0">
                <a:pos x="connsiteX0" y="connsiteY0"/>
              </a:cxn>
              <a:cxn ang="0">
                <a:pos x="connsiteX1" y="connsiteY1"/>
              </a:cxn>
              <a:cxn ang="0">
                <a:pos x="connsiteX2" y="connsiteY2"/>
              </a:cxn>
              <a:cxn ang="0">
                <a:pos x="connsiteX3" y="connsiteY3"/>
              </a:cxn>
            </a:cxnLst>
            <a:rect l="l" t="t" r="r" b="b"/>
            <a:pathLst>
              <a:path w="1698171" h="2510971">
                <a:moveTo>
                  <a:pt x="1698171" y="2510971"/>
                </a:moveTo>
                <a:lnTo>
                  <a:pt x="0" y="43542"/>
                </a:lnTo>
                <a:lnTo>
                  <a:pt x="537028" y="0"/>
                </a:lnTo>
                <a:lnTo>
                  <a:pt x="1698171" y="25109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CDDEEC9E-0778-EDDC-EEB1-1D8F9A97B0BD}"/>
              </a:ext>
            </a:extLst>
          </p:cNvPr>
          <p:cNvSpPr/>
          <p:nvPr/>
        </p:nvSpPr>
        <p:spPr>
          <a:xfrm>
            <a:off x="-2867" y="1654619"/>
            <a:ext cx="12194867" cy="16401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4" descr="St. Luke's University Health Network's 150th Anniversary">
            <a:extLst>
              <a:ext uri="{FF2B5EF4-FFF2-40B4-BE49-F238E27FC236}">
                <a16:creationId xmlns:a16="http://schemas.microsoft.com/office/drawing/2014/main" id="{A26B9B8E-7E0B-E284-9526-7C2858C04978}"/>
              </a:ext>
            </a:extLst>
          </p:cNvPr>
          <p:cNvPicPr>
            <a:picLocks noChangeAspect="1" noChangeArrowheads="1"/>
          </p:cNvPicPr>
          <p:nvPr/>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494231" y="1560743"/>
            <a:ext cx="2713741" cy="142557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Welcome to Lehigh Valley Health Network ...">
            <a:extLst>
              <a:ext uri="{FF2B5EF4-FFF2-40B4-BE49-F238E27FC236}">
                <a16:creationId xmlns:a16="http://schemas.microsoft.com/office/drawing/2014/main" id="{8CB795D1-F1A5-27E9-EDB4-5FB2922F8AF2}"/>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035734" y="1906816"/>
            <a:ext cx="3987995" cy="79284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Trinity Health Muskegon – Grand Rapids, MI - RQI Partners, LLC">
            <a:extLst>
              <a:ext uri="{FF2B5EF4-FFF2-40B4-BE49-F238E27FC236}">
                <a16:creationId xmlns:a16="http://schemas.microsoft.com/office/drawing/2014/main" id="{9A6B5F68-2EDD-4425-9E94-7AEACCC0AF08}"/>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8009018" y="805543"/>
            <a:ext cx="4020910" cy="2939142"/>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9E01D9EC-3751-78C1-9D95-70AEB63694E1}"/>
              </a:ext>
            </a:extLst>
          </p:cNvPr>
          <p:cNvSpPr>
            <a:spLocks noGrp="1"/>
          </p:cNvSpPr>
          <p:nvPr>
            <p:ph type="title"/>
          </p:nvPr>
        </p:nvSpPr>
        <p:spPr>
          <a:xfrm>
            <a:off x="696174" y="23483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3600" b="1" dirty="0">
                <a:solidFill>
                  <a:srgbClr val="000B2E"/>
                </a:solidFill>
                <a:latin typeface="Arial" panose="020B0604020202020204" pitchFamily="34" charset="0"/>
                <a:cs typeface="Arial" panose="020B0604020202020204" pitchFamily="34" charset="0"/>
              </a:rPr>
              <a:t>Increased Capture of Commercial Market Share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03269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6"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12</a:t>
            </a:fld>
            <a:endParaRPr lang="en-US" dirty="0"/>
          </a:p>
        </p:txBody>
      </p:sp>
      <p:sp>
        <p:nvSpPr>
          <p:cNvPr id="7"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4579F9FC-9C26-4EE8-993C-4E9774C6CB61}"/>
              </a:ext>
            </a:extLst>
          </p:cNvPr>
          <p:cNvSpPr/>
          <p:nvPr/>
        </p:nvSpPr>
        <p:spPr>
          <a:xfrm>
            <a:off x="6301081" y="2692174"/>
            <a:ext cx="5726288" cy="2760756"/>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dirty="0"/>
              <a:t>Reduced medical spend through care control</a:t>
            </a:r>
          </a:p>
          <a:p>
            <a:pPr marL="514356" indent="-342905" defTabSz="914411">
              <a:lnSpc>
                <a:spcPct val="90000"/>
              </a:lnSpc>
              <a:spcAft>
                <a:spcPts val="1200"/>
              </a:spcAft>
              <a:buClr>
                <a:srgbClr val="244F9A"/>
              </a:buClr>
              <a:buFont typeface="Wingdings" panose="05000000000000000000" pitchFamily="2" charset="2"/>
              <a:buChar char="§"/>
            </a:pPr>
            <a:r>
              <a:rPr lang="en-US" dirty="0"/>
              <a:t>“At the table” with SLUHN</a:t>
            </a:r>
          </a:p>
          <a:p>
            <a:pPr marL="514356" indent="-342905" defTabSz="914411">
              <a:lnSpc>
                <a:spcPct val="90000"/>
              </a:lnSpc>
              <a:spcAft>
                <a:spcPts val="1200"/>
              </a:spcAft>
              <a:buClr>
                <a:srgbClr val="244F9A"/>
              </a:buClr>
              <a:buFont typeface="Wingdings" panose="05000000000000000000" pitchFamily="2" charset="2"/>
              <a:buChar char="§"/>
            </a:pPr>
            <a:r>
              <a:rPr lang="en-US" dirty="0"/>
              <a:t>Incentivized medical partners</a:t>
            </a:r>
          </a:p>
          <a:p>
            <a:pPr marL="514356" indent="-342905" defTabSz="914411">
              <a:lnSpc>
                <a:spcPct val="90000"/>
              </a:lnSpc>
              <a:spcAft>
                <a:spcPts val="1200"/>
              </a:spcAft>
              <a:buClr>
                <a:srgbClr val="244F9A"/>
              </a:buClr>
              <a:buFont typeface="Wingdings" panose="05000000000000000000" pitchFamily="2" charset="2"/>
              <a:buChar char="§"/>
            </a:pPr>
            <a:r>
              <a:rPr lang="en-US" dirty="0"/>
              <a:t>Improved and “superior” analytics</a:t>
            </a:r>
          </a:p>
          <a:p>
            <a:pPr marL="514356" indent="-342905" defTabSz="914411">
              <a:lnSpc>
                <a:spcPct val="90000"/>
              </a:lnSpc>
              <a:spcAft>
                <a:spcPts val="1200"/>
              </a:spcAft>
              <a:buClr>
                <a:srgbClr val="244F9A"/>
              </a:buClr>
              <a:buFont typeface="Wingdings" panose="05000000000000000000" pitchFamily="2" charset="2"/>
              <a:buChar char="§"/>
            </a:pPr>
            <a:r>
              <a:rPr lang="en-US" dirty="0"/>
              <a:t>Competitive stop-loss</a:t>
            </a:r>
          </a:p>
          <a:p>
            <a:pPr marL="514356" indent="-342905" defTabSz="914411">
              <a:lnSpc>
                <a:spcPct val="90000"/>
              </a:lnSpc>
              <a:spcAft>
                <a:spcPts val="1200"/>
              </a:spcAft>
              <a:buClr>
                <a:srgbClr val="244F9A"/>
              </a:buClr>
              <a:buFont typeface="Wingdings" panose="05000000000000000000" pitchFamily="2" charset="2"/>
              <a:buChar char="§"/>
            </a:pPr>
            <a:r>
              <a:rPr lang="en-US" dirty="0"/>
              <a:t>Increased flexibility</a:t>
            </a:r>
          </a:p>
          <a:p>
            <a:pPr marL="514356" indent="-342905" defTabSz="914411">
              <a:lnSpc>
                <a:spcPct val="90000"/>
              </a:lnSpc>
              <a:spcAft>
                <a:spcPts val="1200"/>
              </a:spcAft>
              <a:buClr>
                <a:srgbClr val="244F9A"/>
              </a:buClr>
              <a:buFont typeface="Wingdings" panose="05000000000000000000" pitchFamily="2" charset="2"/>
              <a:buChar char="§"/>
            </a:pPr>
            <a:r>
              <a:rPr lang="en-US" dirty="0"/>
              <a:t>Increased cash flow &amp; stabilization of cost</a:t>
            </a:r>
          </a:p>
        </p:txBody>
      </p:sp>
      <p:sp>
        <p:nvSpPr>
          <p:cNvPr id="3"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9"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3600" dirty="0">
                <a:solidFill>
                  <a:srgbClr val="000B2E"/>
                </a:solidFill>
              </a:rPr>
              <a:t>Powerful Employer Value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141260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13</a:t>
            </a:fld>
            <a:endParaRPr lang="en-US" dirty="0"/>
          </a:p>
        </p:txBody>
      </p:sp>
      <p:sp>
        <p:nvSpPr>
          <p:cNvPr id="6" name="TextBox 5">
            <a:extLst>
              <a:ext uri="{FF2B5EF4-FFF2-40B4-BE49-F238E27FC236}">
                <a16:creationId xmlns:a16="http://schemas.microsoft.com/office/drawing/2014/main" id="{C9963971-9E27-D1D8-44A6-33EAA3782592}"/>
              </a:ext>
            </a:extLst>
          </p:cNvPr>
          <p:cNvSpPr txBox="1"/>
          <p:nvPr/>
        </p:nvSpPr>
        <p:spPr>
          <a:xfrm>
            <a:off x="227045" y="1275695"/>
            <a:ext cx="11737910" cy="646331"/>
          </a:xfrm>
          <a:prstGeom prst="rect">
            <a:avLst/>
          </a:prstGeom>
          <a:noFill/>
        </p:spPr>
        <p:txBody>
          <a:bodyPr wrap="square">
            <a:spAutoFit/>
          </a:bodyPr>
          <a:lstStyle/>
          <a:p>
            <a:pPr algn="ctr"/>
            <a:r>
              <a:rPr lang="en-US" sz="1800" b="1" spc="200" dirty="0">
                <a:solidFill>
                  <a:schemeClr val="accent2">
                    <a:lumMod val="75000"/>
                  </a:schemeClr>
                </a:solidFill>
                <a:latin typeface="+mj-lt"/>
                <a:cs typeface="+mj-cs"/>
              </a:rPr>
              <a:t>Target Market</a:t>
            </a:r>
            <a:br>
              <a:rPr lang="en-US" sz="1800" spc="200" dirty="0">
                <a:latin typeface="+mj-lt"/>
                <a:cs typeface="+mj-cs"/>
              </a:rPr>
            </a:br>
            <a:r>
              <a:rPr lang="en-US" sz="1800" spc="200" dirty="0">
                <a:latin typeface="+mj-lt"/>
                <a:cs typeface="+mj-cs"/>
              </a:rPr>
              <a:t>2,353 Employers       390,000</a:t>
            </a:r>
            <a:r>
              <a:rPr lang="en-US" sz="1800" spc="200" dirty="0">
                <a:latin typeface="+mj-lt"/>
                <a:cs typeface="+mj-cs"/>
                <a:sym typeface="Wingdings" panose="05000000000000000000" pitchFamily="2" charset="2"/>
              </a:rPr>
              <a:t>+ Employees       627,000+ Members</a:t>
            </a:r>
            <a:endParaRPr lang="en-US" dirty="0"/>
          </a:p>
        </p:txBody>
      </p:sp>
      <p:sp>
        <p:nvSpPr>
          <p:cNvPr id="9"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     </a:t>
            </a:r>
            <a:endParaRPr lang="en-US" dirty="0">
              <a:solidFill>
                <a:schemeClr val="tx1"/>
              </a:solidFill>
            </a:endParaRPr>
          </a:p>
        </p:txBody>
      </p:sp>
      <p:pic>
        <p:nvPicPr>
          <p:cNvPr id="12" name="Picture 11">
            <a:extLst>
              <a:ext uri="{FF2B5EF4-FFF2-40B4-BE49-F238E27FC236}">
                <a16:creationId xmlns:a16="http://schemas.microsoft.com/office/drawing/2014/main" id="{68AEB764-7282-2935-C706-89FC9DB8EB8C}"/>
              </a:ext>
            </a:extLst>
          </p:cNvPr>
          <p:cNvPicPr>
            <a:picLocks noChangeAspect="1"/>
          </p:cNvPicPr>
          <p:nvPr/>
        </p:nvPicPr>
        <p:blipFill>
          <a:blip r:embed="rId2"/>
          <a:stretch>
            <a:fillRect/>
          </a:stretch>
        </p:blipFill>
        <p:spPr>
          <a:xfrm>
            <a:off x="0" y="2140949"/>
            <a:ext cx="4150841" cy="3901736"/>
          </a:xfrm>
          <a:prstGeom prst="rect">
            <a:avLst/>
          </a:prstGeom>
        </p:spPr>
      </p:pic>
      <p:graphicFrame>
        <p:nvGraphicFramePr>
          <p:cNvPr id="13" name="Table 12">
            <a:extLst>
              <a:ext uri="{FF2B5EF4-FFF2-40B4-BE49-F238E27FC236}">
                <a16:creationId xmlns:a16="http://schemas.microsoft.com/office/drawing/2014/main" id="{C5BE1B27-9F04-9265-C933-6FD598A73DFA}"/>
              </a:ext>
            </a:extLst>
          </p:cNvPr>
          <p:cNvGraphicFramePr>
            <a:graphicFrameLocks noGrp="1"/>
          </p:cNvGraphicFramePr>
          <p:nvPr>
            <p:extLst>
              <p:ext uri="{D42A27DB-BD31-4B8C-83A1-F6EECF244321}">
                <p14:modId xmlns:p14="http://schemas.microsoft.com/office/powerpoint/2010/main" val="1346810281"/>
              </p:ext>
            </p:extLst>
          </p:nvPr>
        </p:nvGraphicFramePr>
        <p:xfrm>
          <a:off x="4889297" y="2140949"/>
          <a:ext cx="6949427" cy="4273027"/>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272206">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Aptos Narrow" panose="020B0004020202020204" pitchFamily="34" charset="0"/>
                        </a:rPr>
                        <a:t>Total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440748">
                <a:tc>
                  <a:txBody>
                    <a:bodyPr/>
                    <a:lstStyle/>
                    <a:p>
                      <a:pPr algn="l" fontAlgn="b"/>
                      <a:r>
                        <a:rPr lang="en-US" sz="1100" b="0" i="0" u="none" strike="noStrike" dirty="0">
                          <a:solidFill>
                            <a:srgbClr val="000000"/>
                          </a:solidFill>
                          <a:effectLst/>
                          <a:latin typeface="Aptos Narrow" panose="020B0004020202020204" pitchFamily="34"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10 Miles of SLUHN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552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261</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161</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73</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13</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15</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11-20 Miles of SLUHN Hospital</a:t>
                      </a:r>
                    </a:p>
                  </a:txBody>
                  <a:tcPr marL="9525" marR="9525" marT="9525" marB="0" anchor="b">
                    <a:lnL>
                      <a:noFill/>
                    </a:lnL>
                    <a:lnR>
                      <a:noFill/>
                    </a:lnR>
                    <a:lnT>
                      <a:noFill/>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767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278</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175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86</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24</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10</a:t>
                      </a:r>
                    </a:p>
                  </a:txBody>
                  <a:tcPr marL="9525" marR="9525" marT="9525" marB="0" anchor="b">
                    <a:lnL>
                      <a:noFill/>
                    </a:lnL>
                    <a:lnR>
                      <a:noFill/>
                    </a:lnR>
                    <a:lnT>
                      <a:noFill/>
                    </a:lnT>
                    <a:lnB>
                      <a:noFill/>
                    </a:lnB>
                    <a:noFill/>
                  </a:tcPr>
                </a:tc>
                <a:extLst>
                  <a:ext uri="{0D108BD9-81ED-4DB2-BD59-A6C34878D82A}">
                    <a16:rowId xmlns:a16="http://schemas.microsoft.com/office/drawing/2014/main" val="3588716138"/>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21-30 Miles of SLUHN Hospital</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1908</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775</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544</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290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105</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75</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330736"/>
                  </a:ext>
                </a:extLst>
              </a:tr>
              <a:tr h="243507">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440748">
                <a:tc>
                  <a:txBody>
                    <a:bodyPr/>
                    <a:lstStyle/>
                    <a:p>
                      <a:pPr algn="l" fontAlgn="b"/>
                      <a:r>
                        <a:rPr lang="en-US" sz="1100" b="0" i="0" u="none" strike="noStrike" dirty="0">
                          <a:solidFill>
                            <a:srgbClr val="000000"/>
                          </a:solidFill>
                          <a:effectLst/>
                          <a:latin typeface="Aptos Narrow" panose="020B0004020202020204" pitchFamily="34" charset="0"/>
                        </a:rPr>
                        <a:t>Employees at Above Firms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10 Miles of SLUHN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41,400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39,150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48,300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51,100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26,000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165,000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11-20 Miles of SLUHN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57,525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41,700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52,500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60,200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48,000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110,000</a:t>
                      </a:r>
                    </a:p>
                  </a:txBody>
                  <a:tcPr marL="9525" marR="9525" marT="9525" marB="0" anchor="b">
                    <a:lnL>
                      <a:noFill/>
                    </a:lnL>
                    <a:lnR>
                      <a:noFill/>
                    </a:lnR>
                    <a:lnT>
                      <a:noFill/>
                    </a:lnT>
                    <a:lnB>
                      <a:noFill/>
                    </a:lnB>
                    <a:noFill/>
                  </a:tcPr>
                </a:tc>
                <a:extLst>
                  <a:ext uri="{0D108BD9-81ED-4DB2-BD59-A6C34878D82A}">
                    <a16:rowId xmlns:a16="http://schemas.microsoft.com/office/drawing/2014/main" val="1517699855"/>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21-30 Miles of SLUHN Hospital</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143,100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116,250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163,200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203,000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210,000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825,000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794521340"/>
                  </a:ext>
                </a:extLst>
              </a:tr>
              <a:tr h="243507">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440748">
                <a:tc>
                  <a:txBody>
                    <a:bodyPr/>
                    <a:lstStyle/>
                    <a:p>
                      <a:pPr algn="l" fontAlgn="b"/>
                      <a:r>
                        <a:rPr lang="en-US" sz="1100" b="0" i="0" u="none" strike="noStrike" dirty="0">
                          <a:solidFill>
                            <a:srgbClr val="000000"/>
                          </a:solidFill>
                          <a:effectLst/>
                          <a:latin typeface="Aptos Narrow" panose="020B0004020202020204" pitchFamily="34" charset="0"/>
                        </a:rPr>
                        <a:t>Total Members at Firms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10 Miles of SLUHN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66240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62640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77,280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81,760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41,600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264,000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11-20 Miles of SLUHN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92040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66720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84,000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96,320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76,800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176,000</a:t>
                      </a:r>
                    </a:p>
                  </a:txBody>
                  <a:tcPr marL="9525" marR="9525" marT="9525" marB="0" anchor="b">
                    <a:lnL>
                      <a:noFill/>
                    </a:lnL>
                    <a:lnR>
                      <a:noFill/>
                    </a:lnR>
                    <a:lnT>
                      <a:noFill/>
                    </a:lnT>
                    <a:lnB>
                      <a:noFill/>
                    </a:lnB>
                    <a:noFill/>
                  </a:tcPr>
                </a:tc>
                <a:extLst>
                  <a:ext uri="{0D108BD9-81ED-4DB2-BD59-A6C34878D82A}">
                    <a16:rowId xmlns:a16="http://schemas.microsoft.com/office/drawing/2014/main" val="3037142275"/>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21-30 Miles of SLUHN Hospital</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228960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186000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261,120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324,800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336,000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1,320,000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545027535"/>
                  </a:ext>
                </a:extLst>
              </a:tr>
            </a:tbl>
          </a:graphicData>
        </a:graphic>
      </p:graphicFrame>
      <p:sp>
        <p:nvSpPr>
          <p:cNvPr id="16" name="Title 1">
            <a:extLst>
              <a:ext uri="{FF2B5EF4-FFF2-40B4-BE49-F238E27FC236}">
                <a16:creationId xmlns:a16="http://schemas.microsoft.com/office/drawing/2014/main" id="{012C7A76-8C4C-0C17-C582-24A807F19DA5}"/>
              </a:ext>
            </a:extLst>
          </p:cNvPr>
          <p:cNvSpPr>
            <a:spLocks noGrp="1"/>
          </p:cNvSpPr>
          <p:nvPr>
            <p:ph type="title"/>
          </p:nvPr>
        </p:nvSpPr>
        <p:spPr>
          <a:xfrm>
            <a:off x="595490" y="-66318"/>
            <a:ext cx="11001020" cy="1325563"/>
          </a:xfrm>
        </p:spPr>
        <p:txBody>
          <a:bodyPr>
            <a:noAutofit/>
          </a:bodyPr>
          <a:lstStyle/>
          <a:p>
            <a:pPr>
              <a:lnSpc>
                <a:spcPct val="100000"/>
              </a:lnSpc>
              <a:spcBef>
                <a:spcPts val="1800"/>
              </a:spcBef>
              <a:spcAft>
                <a:spcPts val="600"/>
              </a:spcAft>
            </a:pPr>
            <a:r>
              <a:rPr lang="en-US" sz="3600" dirty="0">
                <a:solidFill>
                  <a:srgbClr val="000B2E"/>
                </a:solidFill>
              </a:rPr>
              <a:t>Significant Opportunity for SLUHN</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800804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dirty="0"/>
              <a:t>Plan Potential Growth Paths</a:t>
            </a:r>
          </a:p>
        </p:txBody>
      </p:sp>
      <p:sp>
        <p:nvSpPr>
          <p:cNvPr id="3" name="Footer Placeholder 2">
            <a:extLst>
              <a:ext uri="{FF2B5EF4-FFF2-40B4-BE49-F238E27FC236}">
                <a16:creationId xmlns:a16="http://schemas.microsoft.com/office/drawing/2014/main" id="{69C057C1-F13C-F6D8-AD44-F92FA29D30D9}"/>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BF46B415-80AF-26A8-45D6-1254179BD411}"/>
              </a:ext>
            </a:extLst>
          </p:cNvPr>
          <p:cNvSpPr>
            <a:spLocks noGrp="1"/>
          </p:cNvSpPr>
          <p:nvPr>
            <p:ph type="sldNum" sz="quarter" idx="12"/>
          </p:nvPr>
        </p:nvSpPr>
        <p:spPr/>
        <p:txBody>
          <a:bodyPr/>
          <a:lstStyle/>
          <a:p>
            <a:fld id="{3AFC719D-C4A7-4544-876E-D411D11AF6C9}" type="slidenum">
              <a:rPr lang="en-US" smtClean="0"/>
              <a:t>14</a:t>
            </a:fld>
            <a:endParaRPr lang="en-US" dirty="0"/>
          </a:p>
        </p:txBody>
      </p:sp>
      <p:sp>
        <p:nvSpPr>
          <p:cNvPr id="5" name="Rectangle 6">
            <a:extLst>
              <a:ext uri="{FF2B5EF4-FFF2-40B4-BE49-F238E27FC236}">
                <a16:creationId xmlns:a16="http://schemas.microsoft.com/office/drawing/2014/main" id="{F102BEAF-097D-41B4-20FD-56D98AD0F034}"/>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93706D05-011F-D6E5-AB62-168509A0E77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PLAN GROWTH POTENTIAL</a:t>
            </a:r>
          </a:p>
        </p:txBody>
      </p:sp>
      <p:grpSp>
        <p:nvGrpSpPr>
          <p:cNvPr id="7" name="Group 28">
            <a:extLst>
              <a:ext uri="{FF2B5EF4-FFF2-40B4-BE49-F238E27FC236}">
                <a16:creationId xmlns:a16="http://schemas.microsoft.com/office/drawing/2014/main" id="{69A10699-B4B2-AF88-E1A1-1EF0A88AB471}"/>
              </a:ext>
            </a:extLst>
          </p:cNvPr>
          <p:cNvGrpSpPr/>
          <p:nvPr/>
        </p:nvGrpSpPr>
        <p:grpSpPr>
          <a:xfrm>
            <a:off x="1359766" y="1855590"/>
            <a:ext cx="3960468" cy="3636786"/>
            <a:chOff x="1724978" y="2161521"/>
            <a:chExt cx="8274685" cy="4307840"/>
          </a:xfrm>
        </p:grpSpPr>
        <p:grpSp>
          <p:nvGrpSpPr>
            <p:cNvPr id="8" name="Group 29">
              <a:extLst>
                <a:ext uri="{FF2B5EF4-FFF2-40B4-BE49-F238E27FC236}">
                  <a16:creationId xmlns:a16="http://schemas.microsoft.com/office/drawing/2014/main" id="{11C874E5-E3B4-BAE0-4E2D-2C86D4E7E53A}"/>
                </a:ext>
              </a:extLst>
            </p:cNvPr>
            <p:cNvGrpSpPr/>
            <p:nvPr/>
          </p:nvGrpSpPr>
          <p:grpSpPr>
            <a:xfrm>
              <a:off x="1724978" y="5494001"/>
              <a:ext cx="6872605" cy="975360"/>
              <a:chOff x="1724978" y="5494001"/>
              <a:chExt cx="6872605" cy="975360"/>
            </a:xfrm>
          </p:grpSpPr>
          <p:sp>
            <p:nvSpPr>
              <p:cNvPr id="9"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10" name="TextBox 73">
                <a:extLst>
                  <a:ext uri="{FF2B5EF4-FFF2-40B4-BE49-F238E27FC236}">
                    <a16:creationId xmlns:a16="http://schemas.microsoft.com/office/drawing/2014/main" id="{AEAD331A-F2F6-E5AA-6FA8-43463612A331}"/>
                  </a:ext>
                </a:extLst>
              </p:cNvPr>
              <p:cNvSpPr txBox="1"/>
              <p:nvPr/>
            </p:nvSpPr>
            <p:spPr>
              <a:xfrm>
                <a:off x="1724978" y="5759838"/>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Population</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1" name="Group 30">
              <a:extLst>
                <a:ext uri="{FF2B5EF4-FFF2-40B4-BE49-F238E27FC236}">
                  <a16:creationId xmlns:a16="http://schemas.microsoft.com/office/drawing/2014/main" id="{689474B3-12FA-8E66-D71F-53822C9C68C9}"/>
                </a:ext>
              </a:extLst>
            </p:cNvPr>
            <p:cNvGrpSpPr/>
            <p:nvPr/>
          </p:nvGrpSpPr>
          <p:grpSpPr>
            <a:xfrm>
              <a:off x="2182178" y="2161521"/>
              <a:ext cx="7817485" cy="3197014"/>
              <a:chOff x="3627756" y="1830493"/>
              <a:chExt cx="7817485" cy="3197014"/>
            </a:xfrm>
          </p:grpSpPr>
          <p:grpSp>
            <p:nvGrpSpPr>
              <p:cNvPr id="12" name="Group 58">
                <a:extLst>
                  <a:ext uri="{FF2B5EF4-FFF2-40B4-BE49-F238E27FC236}">
                    <a16:creationId xmlns:a16="http://schemas.microsoft.com/office/drawing/2014/main" id="{51ED3EA0-1B18-EEE0-293E-BB00AD4DE764}"/>
                  </a:ext>
                </a:extLst>
              </p:cNvPr>
              <p:cNvGrpSpPr/>
              <p:nvPr/>
            </p:nvGrpSpPr>
            <p:grpSpPr>
              <a:xfrm>
                <a:off x="3627756" y="4052147"/>
                <a:ext cx="6882765" cy="975360"/>
                <a:chOff x="3627756" y="4052147"/>
                <a:chExt cx="6882765" cy="975360"/>
              </a:xfrm>
            </p:grpSpPr>
            <p:sp>
              <p:nvSpPr>
                <p:cNvPr id="13"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a:p>
              </p:txBody>
            </p:sp>
            <p:sp>
              <p:nvSpPr>
                <p:cNvPr id="14" name="TextBox 63">
                  <a:extLst>
                    <a:ext uri="{FF2B5EF4-FFF2-40B4-BE49-F238E27FC236}">
                      <a16:creationId xmlns:a16="http://schemas.microsoft.com/office/drawing/2014/main" id="{89D49C14-1775-066C-353B-1ACCC4D24138}"/>
                    </a:ext>
                  </a:extLst>
                </p:cNvPr>
                <p:cNvSpPr txBox="1"/>
                <p:nvPr/>
              </p:nvSpPr>
              <p:spPr>
                <a:xfrm>
                  <a:off x="3627756" y="4317984"/>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Working Age</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5" name="Group 52">
                <a:extLst>
                  <a:ext uri="{FF2B5EF4-FFF2-40B4-BE49-F238E27FC236}">
                    <a16:creationId xmlns:a16="http://schemas.microsoft.com/office/drawing/2014/main" id="{1DBB449D-FFE3-79BF-CC4B-CBC0A3F03B29}"/>
                  </a:ext>
                </a:extLst>
              </p:cNvPr>
              <p:cNvGrpSpPr/>
              <p:nvPr/>
            </p:nvGrpSpPr>
            <p:grpSpPr>
              <a:xfrm>
                <a:off x="4069948" y="2930285"/>
                <a:ext cx="6907933" cy="975360"/>
                <a:chOff x="4069947" y="2930285"/>
                <a:chExt cx="6907933" cy="975360"/>
              </a:xfrm>
            </p:grpSpPr>
            <p:sp>
              <p:nvSpPr>
                <p:cNvPr id="16"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17" name="TextBox 57">
                  <a:extLst>
                    <a:ext uri="{FF2B5EF4-FFF2-40B4-BE49-F238E27FC236}">
                      <a16:creationId xmlns:a16="http://schemas.microsoft.com/office/drawing/2014/main" id="{3C6B2C41-D61E-2C7A-3D82-5A90E06CEE5A}"/>
                    </a:ext>
                  </a:extLst>
                </p:cNvPr>
                <p:cNvSpPr txBox="1"/>
                <p:nvPr/>
              </p:nvSpPr>
              <p:spPr>
                <a:xfrm>
                  <a:off x="4069947" y="3206963"/>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Insured</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8" name="Group 46">
                <a:extLst>
                  <a:ext uri="{FF2B5EF4-FFF2-40B4-BE49-F238E27FC236}">
                    <a16:creationId xmlns:a16="http://schemas.microsoft.com/office/drawing/2014/main" id="{F80321D4-B659-65A7-5D2E-CFE404DB4D8E}"/>
                  </a:ext>
                </a:extLst>
              </p:cNvPr>
              <p:cNvGrpSpPr/>
              <p:nvPr/>
            </p:nvGrpSpPr>
            <p:grpSpPr>
              <a:xfrm>
                <a:off x="4561206" y="1830493"/>
                <a:ext cx="6884035" cy="975360"/>
                <a:chOff x="4561206" y="1830493"/>
                <a:chExt cx="6884035" cy="975360"/>
              </a:xfrm>
            </p:grpSpPr>
            <p:sp>
              <p:nvSpPr>
                <p:cNvPr id="19"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20" name="TextBox 51">
                  <a:extLst>
                    <a:ext uri="{FF2B5EF4-FFF2-40B4-BE49-F238E27FC236}">
                      <a16:creationId xmlns:a16="http://schemas.microsoft.com/office/drawing/2014/main" id="{2AE87841-825C-FE4F-1AB9-6CC03862C17F}"/>
                    </a:ext>
                  </a:extLst>
                </p:cNvPr>
                <p:cNvSpPr txBox="1"/>
                <p:nvPr/>
              </p:nvSpPr>
              <p:spPr>
                <a:xfrm>
                  <a:off x="4561206" y="2096329"/>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Self Funded</a:t>
                  </a:r>
                  <a:endParaRPr lang="en-IN" sz="1600" b="1" i="1" dirty="0">
                    <a:solidFill>
                      <a:schemeClr val="bg1"/>
                    </a:solidFill>
                    <a:latin typeface="Arial" panose="020B0604020202020204" pitchFamily="34" charset="0"/>
                    <a:cs typeface="Arial" panose="020B0604020202020204" pitchFamily="34" charset="0"/>
                  </a:endParaRPr>
                </a:p>
              </p:txBody>
            </p:sp>
          </p:grpSp>
        </p:grpSp>
        <p:sp>
          <p:nvSpPr>
            <p:cNvPr id="21"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grpSp>
          <p:nvGrpSpPr>
            <p:cNvPr id="22"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23"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a:solidFill>
                    <a:schemeClr val="bg1"/>
                  </a:solidFill>
                </a:endParaRPr>
              </a:p>
            </p:txBody>
          </p:sp>
          <p:sp>
            <p:nvSpPr>
              <p:cNvPr id="24"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5"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6"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7"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a:solidFill>
                    <a:schemeClr val="bg1"/>
                  </a:solidFill>
                </a:endParaRPr>
              </a:p>
            </p:txBody>
          </p:sp>
        </p:grpSp>
        <p:sp>
          <p:nvSpPr>
            <p:cNvPr id="28"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sp>
          <p:nvSpPr>
            <p:cNvPr id="29"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grpSp>
      <p:sp>
        <p:nvSpPr>
          <p:cNvPr id="30" name="TextBox 75">
            <a:extLst>
              <a:ext uri="{FF2B5EF4-FFF2-40B4-BE49-F238E27FC236}">
                <a16:creationId xmlns:a16="http://schemas.microsoft.com/office/drawing/2014/main" id="{02AD65D6-9504-23E6-E4FD-CC294F4A3C64}"/>
              </a:ext>
            </a:extLst>
          </p:cNvPr>
          <p:cNvSpPr txBox="1"/>
          <p:nvPr/>
        </p:nvSpPr>
        <p:spPr>
          <a:xfrm>
            <a:off x="1699594" y="5848141"/>
            <a:ext cx="9514366" cy="369332"/>
          </a:xfrm>
          <a:prstGeom prst="rect">
            <a:avLst/>
          </a:prstGeom>
          <a:noFill/>
        </p:spPr>
        <p:txBody>
          <a:bodyPr wrap="square" rtlCol="0">
            <a:spAutoFit/>
          </a:bodyPr>
          <a:lstStyle/>
          <a:p>
            <a:r>
              <a:rPr lang="en-US" dirty="0">
                <a:solidFill/>
              </a:rPr>
              <a:t>Estimates include Hunterdon, Warren, Bucks, Carbon, Lehigh, Luzerne, Northampton, and Schuylkill Counties</a:t>
            </a:r>
          </a:p>
        </p:txBody>
      </p:sp>
      <p:sp>
        <p:nvSpPr>
          <p:cNvPr id="31" name="TextBox 76">
            <a:extLst>
              <a:ext uri="{FF2B5EF4-FFF2-40B4-BE49-F238E27FC236}">
                <a16:creationId xmlns:a16="http://schemas.microsoft.com/office/drawing/2014/main" id="{F3A378C3-B669-3EE2-B76D-98EDB44E8CDF}"/>
              </a:ext>
            </a:extLst>
          </p:cNvPr>
          <p:cNvSpPr txBox="1"/>
          <p:nvPr/>
        </p:nvSpPr>
        <p:spPr>
          <a:xfrm>
            <a:off x="3297507" y="4821984"/>
            <a:ext cx="1613199" cy="523220"/>
          </a:xfrm>
          <a:prstGeom prst="rect">
            <a:avLst/>
          </a:prstGeom>
          <a:noFill/>
        </p:spPr>
        <p:txBody>
          <a:bodyPr wrap="none" rtlCol="0">
            <a:spAutoFit/>
          </a:bodyPr>
          <a:lstStyle/>
          <a:p>
            <a:r>
              <a:rPr lang="en-US" sz="2800" dirty="0">
                <a:solidFill/>
              </a:rPr>
              <a:t>2,106K</a:t>
            </a:r>
          </a:p>
        </p:txBody>
      </p:sp>
      <p:sp>
        <p:nvSpPr>
          <p:cNvPr id="32" name="TextBox 77">
            <a:extLst>
              <a:ext uri="{FF2B5EF4-FFF2-40B4-BE49-F238E27FC236}">
                <a16:creationId xmlns:a16="http://schemas.microsoft.com/office/drawing/2014/main" id="{F24CF5B8-0E02-1AF3-2A3D-F14253B44FE8}"/>
              </a:ext>
            </a:extLst>
          </p:cNvPr>
          <p:cNvSpPr txBox="1"/>
          <p:nvPr/>
        </p:nvSpPr>
        <p:spPr>
          <a:xfrm>
            <a:off x="3520440" y="3896929"/>
            <a:ext cx="1096775" cy="523220"/>
          </a:xfrm>
          <a:prstGeom prst="rect">
            <a:avLst/>
          </a:prstGeom>
          <a:noFill/>
        </p:spPr>
        <p:txBody>
          <a:bodyPr wrap="none" rtlCol="0">
            <a:spAutoFit/>
          </a:bodyPr>
          <a:lstStyle/>
          <a:p>
            <a:r>
              <a:rPr lang="en-US" sz="2800" dirty="0">
                <a:solidFill/>
              </a:rPr>
              <a:t>1,230K</a:t>
            </a:r>
          </a:p>
        </p:txBody>
      </p:sp>
      <p:sp>
        <p:nvSpPr>
          <p:cNvPr id="33" name="TextBox 78">
            <a:extLst>
              <a:ext uri="{FF2B5EF4-FFF2-40B4-BE49-F238E27FC236}">
                <a16:creationId xmlns:a16="http://schemas.microsoft.com/office/drawing/2014/main" id="{509B3348-F2D5-63CE-B5D5-5FB7263B3D0F}"/>
              </a:ext>
            </a:extLst>
          </p:cNvPr>
          <p:cNvSpPr txBox="1"/>
          <p:nvPr/>
        </p:nvSpPr>
        <p:spPr>
          <a:xfrm>
            <a:off x="3739896" y="2954184"/>
            <a:ext cx="1079142" cy="523220"/>
          </a:xfrm>
          <a:prstGeom prst="rect">
            <a:avLst/>
          </a:prstGeom>
          <a:noFill/>
        </p:spPr>
        <p:txBody>
          <a:bodyPr wrap="none" rtlCol="0">
            <a:spAutoFit/>
          </a:bodyPr>
          <a:lstStyle/>
          <a:p>
            <a:r>
              <a:rPr lang="en-US" sz="2800" dirty="0">
                <a:solidFill/>
              </a:rPr>
              <a:t>935K</a:t>
            </a:r>
          </a:p>
        </p:txBody>
      </p:sp>
      <p:sp>
        <p:nvSpPr>
          <p:cNvPr id="34" name="TextBox 79">
            <a:extLst>
              <a:ext uri="{FF2B5EF4-FFF2-40B4-BE49-F238E27FC236}">
                <a16:creationId xmlns:a16="http://schemas.microsoft.com/office/drawing/2014/main" id="{7E24246C-24ED-62DA-EA2E-6EA4A6ADAEAC}"/>
              </a:ext>
            </a:extLst>
          </p:cNvPr>
          <p:cNvSpPr txBox="1"/>
          <p:nvPr/>
        </p:nvSpPr>
        <p:spPr>
          <a:xfrm>
            <a:off x="3959352" y="2022649"/>
            <a:ext cx="922047" cy="523220"/>
          </a:xfrm>
          <a:prstGeom prst="rect">
            <a:avLst/>
          </a:prstGeom>
          <a:noFill/>
        </p:spPr>
        <p:txBody>
          <a:bodyPr wrap="none" rtlCol="0">
            <a:spAutoFit/>
          </a:bodyPr>
          <a:lstStyle/>
          <a:p>
            <a:r>
              <a:rPr lang="en-US" sz="2800" dirty="0">
                <a:solidFill/>
              </a:rPr>
              <a:t>538K</a:t>
            </a:r>
          </a:p>
        </p:txBody>
      </p:sp>
      <p:pic>
        <p:nvPicPr>
          <p:cNvPr id="35" name="Content Placeholder 34"/>
          <p:cNvPicPr>
            <a:picLocks noGrp="1"/>
          </p:cNvPicPr>
          <p:nvPr>
            <p:ph/>
          </p:nvPr>
        </p:nvPicPr>
        <p:blipFill>
          <a:blip r:embed="rId2"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Royalty-Free photo: Green tall trees near on the lake with overlooking  mountain during daytime | PickPik">
            <a:extLst>
              <a:ext uri="{FF2B5EF4-FFF2-40B4-BE49-F238E27FC236}">
                <a16:creationId xmlns:a16="http://schemas.microsoft.com/office/drawing/2014/main" id="{2478D38F-2055-3BED-F325-F30BC9616D52}"/>
              </a:ext>
            </a:extLst>
          </p:cNvPr>
          <p:cNvPicPr>
            <a:picLocks noChangeAspect="1" noChangeArrowheads="1"/>
          </p:cNvPicPr>
          <p:nvPr/>
        </p:nvPicPr>
        <p:blipFill rotWithShape="1">
          <a:blip r:embed="rId3">
            <a:duotone>
              <a:schemeClr val="bg2">
                <a:shade val="45000"/>
                <a:satMod val="135000"/>
              </a:schemeClr>
              <a:prstClr val="white"/>
            </a:duotone>
            <a:alphaModFix amt="28000"/>
            <a:extLst>
              <a:ext uri="{28A0092B-C50C-407E-A947-70E740481C1C}">
                <a14:useLocalDpi xmlns:a14="http://schemas.microsoft.com/office/drawing/2010/main" val="0"/>
              </a:ext>
            </a:extLst>
          </a:blip>
          <a:srcRect b="5528"/>
          <a:stretch/>
        </p:blipFill>
        <p:spPr bwMode="auto">
          <a:xfrm>
            <a:off x="-31771" y="1"/>
            <a:ext cx="10918845" cy="687206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C03588DF-56D9-837C-AA1C-128F048C493A}"/>
              </a:ext>
            </a:extLst>
          </p:cNvPr>
          <p:cNvSpPr>
            <a:spLocks noGrp="1"/>
          </p:cNvSpPr>
          <p:nvPr>
            <p:ph type="title"/>
          </p:nvPr>
        </p:nvSpPr>
        <p:spPr>
          <a:xfrm>
            <a:off x="295590" y="144962"/>
            <a:ext cx="10515600" cy="1325563"/>
          </a:xfrm>
        </p:spPr>
        <p:txBody>
          <a:bodyPr/>
          <a:lstStyle/>
          <a:p>
            <a:r>
              <a:rPr lang="en-US" dirty="0"/>
              <a:t>Growing Powerful, Lasting Profitability</a:t>
            </a:r>
          </a:p>
        </p:txBody>
      </p:sp>
      <p:sp>
        <p:nvSpPr>
          <p:cNvPr id="4" name="Footer Placeholder 2">
            <a:extLst>
              <a:ext uri="{FF2B5EF4-FFF2-40B4-BE49-F238E27FC236}">
                <a16:creationId xmlns:a16="http://schemas.microsoft.com/office/drawing/2014/main" id="{69C057C1-F13C-F6D8-AD44-F92FA29D30D9}"/>
              </a:ext>
            </a:extLst>
          </p:cNvPr>
          <p:cNvSpPr>
            <a:spLocks noGrp="1"/>
          </p:cNvSpPr>
          <p:nvPr>
            <p:ph type="ftr" sz="quarter" idx="11"/>
          </p:nvPr>
        </p:nvSpPr>
        <p:spPr>
          <a:xfrm>
            <a:off x="2752413" y="6480529"/>
            <a:ext cx="4114800" cy="365125"/>
          </a:xfrm>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F46B415-80AF-26A8-45D6-1254179BD411}"/>
              </a:ext>
            </a:extLst>
          </p:cNvPr>
          <p:cNvSpPr>
            <a:spLocks noGrp="1"/>
          </p:cNvSpPr>
          <p:nvPr>
            <p:ph type="sldNum" sz="quarter" idx="12"/>
          </p:nvPr>
        </p:nvSpPr>
        <p:spPr/>
        <p:txBody>
          <a:bodyPr/>
          <a:lstStyle/>
          <a:p>
            <a:fld id="{3AFC719D-C4A7-4544-876E-D411D11AF6C9}" type="slidenum">
              <a:rPr lang="en-US" smtClean="0"/>
              <a:t>15</a:t>
            </a:fld>
            <a:endParaRPr lang="en-US" dirty="0"/>
          </a:p>
        </p:txBody>
      </p:sp>
      <p:sp>
        <p:nvSpPr>
          <p:cNvPr id="6" name="Rectangle 4">
            <a:extLst>
              <a:ext uri="{FF2B5EF4-FFF2-40B4-BE49-F238E27FC236}">
                <a16:creationId xmlns:a16="http://schemas.microsoft.com/office/drawing/2014/main" id="{239038F2-C307-DC75-4AEA-316E0211A3AE}"/>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10">
            <a:extLst>
              <a:ext uri="{FF2B5EF4-FFF2-40B4-BE49-F238E27FC236}">
                <a16:creationId xmlns:a16="http://schemas.microsoft.com/office/drawing/2014/main" id="{C0C1C4CA-44D9-9691-E058-46CEB5C35DF2}"/>
              </a:ext>
            </a:extLst>
          </p:cNvPr>
          <p:cNvSpPr/>
          <p:nvPr/>
        </p:nvSpPr>
        <p:spPr>
          <a:xfrm>
            <a:off x="4401177" y="1868993"/>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1">
            <a:extLst>
              <a:ext uri="{FF2B5EF4-FFF2-40B4-BE49-F238E27FC236}">
                <a16:creationId xmlns:a16="http://schemas.microsoft.com/office/drawing/2014/main" id="{8DCAE5A5-11EC-16C5-5F5F-C5DF9E3B0859}"/>
              </a:ext>
            </a:extLst>
          </p:cNvPr>
          <p:cNvSpPr/>
          <p:nvPr/>
        </p:nvSpPr>
        <p:spPr>
          <a:xfrm>
            <a:off x="6315910" y="1868991"/>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2">
            <a:extLst>
              <a:ext uri="{FF2B5EF4-FFF2-40B4-BE49-F238E27FC236}">
                <a16:creationId xmlns:a16="http://schemas.microsoft.com/office/drawing/2014/main" id="{98C73641-C807-1985-E19A-CA79DA10785E}"/>
              </a:ext>
            </a:extLst>
          </p:cNvPr>
          <p:cNvSpPr/>
          <p:nvPr/>
        </p:nvSpPr>
        <p:spPr>
          <a:xfrm>
            <a:off x="8230644" y="1868990"/>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3">
            <a:extLst>
              <a:ext uri="{FF2B5EF4-FFF2-40B4-BE49-F238E27FC236}">
                <a16:creationId xmlns:a16="http://schemas.microsoft.com/office/drawing/2014/main" id="{8546D6DB-89F3-8B35-A9E8-670CED022928}"/>
              </a:ext>
            </a:extLst>
          </p:cNvPr>
          <p:cNvSpPr txBox="1"/>
          <p:nvPr/>
        </p:nvSpPr>
        <p:spPr>
          <a:xfrm>
            <a:off x="572430" y="1636954"/>
            <a:ext cx="2568332" cy="630942"/>
          </a:xfrm>
          <a:prstGeom prst="rect">
            <a:avLst/>
          </a:prstGeom>
          <a:noFill/>
        </p:spPr>
        <p:txBody>
          <a:bodyPr wrap="none" rtlCol="0">
            <a:spAutoFit/>
          </a:bodyPr>
          <a:lstStyle/>
          <a:p>
            <a:pPr algn="ctr"/>
            <a:r>
              <a:rPr lang="en-US" sz="2400" b="1" dirty="0">
                <a:solidFill>
                  <a:srgbClr val="6087CE"/>
                </a:solidFill>
              </a:rPr>
              <a:t>Early Stage</a:t>
            </a:r>
          </a:p>
          <a:p>
            <a:pPr algn="ctr"/>
            <a:r>
              <a:rPr lang="en-US" sz="1100" dirty="0">
                <a:solidFill>
                  <a:srgbClr val="6087CE"/>
                </a:solidFill>
              </a:rPr>
              <a:t>Graining Name Recognition, Early Growth</a:t>
            </a:r>
          </a:p>
        </p:txBody>
      </p:sp>
      <p:sp>
        <p:nvSpPr>
          <p:cNvPr id="11" name="TextBox 6">
            <a:extLst>
              <a:ext uri="{FF2B5EF4-FFF2-40B4-BE49-F238E27FC236}">
                <a16:creationId xmlns:a16="http://schemas.microsoft.com/office/drawing/2014/main" id="{0C35DE11-AC92-1958-1813-38A8A86CBCE8}"/>
              </a:ext>
            </a:extLst>
          </p:cNvPr>
          <p:cNvSpPr txBox="1"/>
          <p:nvPr/>
        </p:nvSpPr>
        <p:spPr>
          <a:xfrm>
            <a:off x="135286" y="2293880"/>
            <a:ext cx="1624165" cy="307777"/>
          </a:xfrm>
          <a:prstGeom prst="rect">
            <a:avLst/>
          </a:prstGeom>
          <a:noFill/>
        </p:spPr>
        <p:txBody>
          <a:bodyPr wrap="square">
            <a:spAutoFit/>
          </a:bodyPr>
          <a:lstStyle/>
          <a:p>
            <a:pPr algn="ctr"/>
            <a:r>
              <a:rPr lang="en-US" sz="1400" dirty="0">
                <a:solidFill>
                  <a:srgbClr val="6087CE"/>
                </a:solidFill>
              </a:rPr>
              <a:t>New Revenue:</a:t>
            </a:r>
          </a:p>
        </p:txBody>
      </p:sp>
      <p:sp>
        <p:nvSpPr>
          <p:cNvPr id="12" name="TextBox 7">
            <a:extLst>
              <a:ext uri="{FF2B5EF4-FFF2-40B4-BE49-F238E27FC236}">
                <a16:creationId xmlns:a16="http://schemas.microsoft.com/office/drawing/2014/main" id="{2E2DA353-8032-9A29-CBFC-5E2CAB8FA818}"/>
              </a:ext>
            </a:extLst>
          </p:cNvPr>
          <p:cNvSpPr txBox="1"/>
          <p:nvPr/>
        </p:nvSpPr>
        <p:spPr>
          <a:xfrm>
            <a:off x="2219510" y="2293880"/>
            <a:ext cx="1118086" cy="307777"/>
          </a:xfrm>
          <a:prstGeom prst="rect">
            <a:avLst/>
          </a:prstGeom>
          <a:noFill/>
        </p:spPr>
        <p:txBody>
          <a:bodyPr wrap="square">
            <a:spAutoFit/>
          </a:bodyPr>
          <a:lstStyle/>
          <a:p>
            <a:pPr algn="ctr"/>
            <a:r>
              <a:rPr lang="en-US" sz="1400" dirty="0">
                <a:solidFill>
                  <a:srgbClr val="6087CE"/>
                </a:solidFill>
              </a:rPr>
              <a:t>New Profit:</a:t>
            </a:r>
          </a:p>
        </p:txBody>
      </p:sp>
      <p:sp>
        <p:nvSpPr>
          <p:cNvPr id="13" name="TextBox 9">
            <a:extLst>
              <a:ext uri="{FF2B5EF4-FFF2-40B4-BE49-F238E27FC236}">
                <a16:creationId xmlns:a16="http://schemas.microsoft.com/office/drawing/2014/main" id="{2EE70FCE-698F-980C-DE5B-A5E0DD82F2B7}"/>
              </a:ext>
            </a:extLst>
          </p:cNvPr>
          <p:cNvSpPr txBox="1"/>
          <p:nvPr/>
        </p:nvSpPr>
        <p:spPr>
          <a:xfrm>
            <a:off x="129001" y="2539605"/>
            <a:ext cx="1588535" cy="400110"/>
          </a:xfrm>
          <a:prstGeom prst="rect">
            <a:avLst/>
          </a:prstGeom>
          <a:noFill/>
        </p:spPr>
        <p:txBody>
          <a:bodyPr wrap="square">
            <a:spAutoFit/>
          </a:bodyPr>
          <a:lstStyle/>
          <a:p>
            <a:pPr algn="ctr"/>
            <a:r>
              <a:rPr lang="en-US" sz="2000" b="1" dirty="0">
                <a:solidFill>
                  <a:srgbClr val="6087CE"/>
                </a:solidFill>
              </a:rPr>
              <a:t>$63.33M</a:t>
            </a:r>
            <a:endParaRPr lang="en-US" sz="2000" dirty="0"/>
          </a:p>
        </p:txBody>
      </p:sp>
      <p:sp>
        <p:nvSpPr>
          <p:cNvPr id="14" name="TextBox 14">
            <a:extLst>
              <a:ext uri="{FF2B5EF4-FFF2-40B4-BE49-F238E27FC236}">
                <a16:creationId xmlns:a16="http://schemas.microsoft.com/office/drawing/2014/main" id="{DBAF8120-09F6-4EB0-E666-C1CBDC5CF295}"/>
              </a:ext>
            </a:extLst>
          </p:cNvPr>
          <p:cNvSpPr txBox="1"/>
          <p:nvPr/>
        </p:nvSpPr>
        <p:spPr>
          <a:xfrm>
            <a:off x="1922550" y="2539605"/>
            <a:ext cx="1588535" cy="400110"/>
          </a:xfrm>
          <a:prstGeom prst="rect">
            <a:avLst/>
          </a:prstGeom>
          <a:noFill/>
        </p:spPr>
        <p:txBody>
          <a:bodyPr wrap="square">
            <a:spAutoFit/>
          </a:bodyPr>
          <a:lstStyle/>
          <a:p>
            <a:pPr algn="ctr"/>
            <a:r>
              <a:rPr lang="en-US" sz="2000" b="1" dirty="0">
                <a:solidFill>
                  <a:srgbClr val="6087CE"/>
                </a:solidFill>
              </a:rPr>
              <a:t>$16.41M</a:t>
            </a:r>
            <a:endParaRPr lang="en-US" sz="2000" dirty="0"/>
          </a:p>
        </p:txBody>
      </p:sp>
      <p:sp>
        <p:nvSpPr>
          <p:cNvPr id="15" name="TextBox 15">
            <a:extLst>
              <a:ext uri="{FF2B5EF4-FFF2-40B4-BE49-F238E27FC236}">
                <a16:creationId xmlns:a16="http://schemas.microsoft.com/office/drawing/2014/main" id="{5B374298-411A-3F68-B672-E1DC32DEA9AE}"/>
              </a:ext>
            </a:extLst>
          </p:cNvPr>
          <p:cNvSpPr txBox="1"/>
          <p:nvPr/>
        </p:nvSpPr>
        <p:spPr>
          <a:xfrm>
            <a:off x="781431" y="3151370"/>
            <a:ext cx="2132315" cy="630942"/>
          </a:xfrm>
          <a:prstGeom prst="rect">
            <a:avLst/>
          </a:prstGeom>
          <a:noFill/>
        </p:spPr>
        <p:txBody>
          <a:bodyPr wrap="none" rtlCol="0">
            <a:spAutoFit/>
          </a:bodyPr>
          <a:lstStyle/>
          <a:p>
            <a:pPr algn="ctr"/>
            <a:r>
              <a:rPr lang="en-US" sz="2400" b="1" dirty="0">
                <a:solidFill>
                  <a:srgbClr val="2F5597"/>
                </a:solidFill>
              </a:rPr>
              <a:t>Growth Stage</a:t>
            </a:r>
          </a:p>
          <a:p>
            <a:pPr algn="ctr"/>
            <a:r>
              <a:rPr lang="en-US" sz="1100" dirty="0">
                <a:solidFill>
                  <a:srgbClr val="2F5597"/>
                </a:solidFill>
              </a:rPr>
              <a:t>Strong Reputation, Strong Growth</a:t>
            </a:r>
          </a:p>
        </p:txBody>
      </p:sp>
      <p:sp>
        <p:nvSpPr>
          <p:cNvPr id="16" name="TextBox 16">
            <a:extLst>
              <a:ext uri="{FF2B5EF4-FFF2-40B4-BE49-F238E27FC236}">
                <a16:creationId xmlns:a16="http://schemas.microsoft.com/office/drawing/2014/main" id="{734215D0-1B81-9E25-D893-D1A81A7D90DE}"/>
              </a:ext>
            </a:extLst>
          </p:cNvPr>
          <p:cNvSpPr txBox="1"/>
          <p:nvPr/>
        </p:nvSpPr>
        <p:spPr>
          <a:xfrm>
            <a:off x="126277" y="3808296"/>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17" name="TextBox 17">
            <a:extLst>
              <a:ext uri="{FF2B5EF4-FFF2-40B4-BE49-F238E27FC236}">
                <a16:creationId xmlns:a16="http://schemas.microsoft.com/office/drawing/2014/main" id="{44D03DDF-E57A-E22B-A334-B0D6BAD568C1}"/>
              </a:ext>
            </a:extLst>
          </p:cNvPr>
          <p:cNvSpPr txBox="1"/>
          <p:nvPr/>
        </p:nvSpPr>
        <p:spPr>
          <a:xfrm>
            <a:off x="2210501" y="3808296"/>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18" name="TextBox 20">
            <a:extLst>
              <a:ext uri="{FF2B5EF4-FFF2-40B4-BE49-F238E27FC236}">
                <a16:creationId xmlns:a16="http://schemas.microsoft.com/office/drawing/2014/main" id="{2F96F890-CA85-53B4-4C86-B02186E9E89E}"/>
              </a:ext>
            </a:extLst>
          </p:cNvPr>
          <p:cNvSpPr txBox="1"/>
          <p:nvPr/>
        </p:nvSpPr>
        <p:spPr>
          <a:xfrm>
            <a:off x="119992" y="4054021"/>
            <a:ext cx="1588535" cy="400110"/>
          </a:xfrm>
          <a:prstGeom prst="rect">
            <a:avLst/>
          </a:prstGeom>
          <a:noFill/>
        </p:spPr>
        <p:txBody>
          <a:bodyPr wrap="square">
            <a:spAutoFit/>
          </a:bodyPr>
          <a:lstStyle/>
          <a:p>
            <a:pPr algn="ctr"/>
            <a:r>
              <a:rPr lang="en-US" sz="2000" b="1" dirty="0">
                <a:solidFill>
                  <a:srgbClr val="2F5597"/>
                </a:solidFill>
              </a:rPr>
              <a:t>$433.64M</a:t>
            </a:r>
            <a:endParaRPr lang="en-US" sz="2000" dirty="0">
              <a:solidFill>
                <a:srgbClr val="2F5597"/>
              </a:solidFill>
            </a:endParaRPr>
          </a:p>
        </p:txBody>
      </p:sp>
      <p:sp>
        <p:nvSpPr>
          <p:cNvPr id="19" name="TextBox 21">
            <a:extLst>
              <a:ext uri="{FF2B5EF4-FFF2-40B4-BE49-F238E27FC236}">
                <a16:creationId xmlns:a16="http://schemas.microsoft.com/office/drawing/2014/main" id="{BD5125C9-83DD-4D9F-DE79-D476BE3F058D}"/>
              </a:ext>
            </a:extLst>
          </p:cNvPr>
          <p:cNvSpPr txBox="1"/>
          <p:nvPr/>
        </p:nvSpPr>
        <p:spPr>
          <a:xfrm>
            <a:off x="1913541" y="4054021"/>
            <a:ext cx="1588535" cy="400110"/>
          </a:xfrm>
          <a:prstGeom prst="rect">
            <a:avLst/>
          </a:prstGeom>
          <a:noFill/>
        </p:spPr>
        <p:txBody>
          <a:bodyPr wrap="square">
            <a:spAutoFit/>
          </a:bodyPr>
          <a:lstStyle/>
          <a:p>
            <a:pPr algn="ctr"/>
            <a:r>
              <a:rPr lang="en-US" sz="2000" b="1" dirty="0">
                <a:solidFill>
                  <a:srgbClr val="2F5597"/>
                </a:solidFill>
              </a:rPr>
              <a:t>$113.52M</a:t>
            </a:r>
            <a:endParaRPr lang="en-US" sz="2000" dirty="0">
              <a:solidFill>
                <a:srgbClr val="2F5597"/>
              </a:solidFill>
            </a:endParaRPr>
          </a:p>
        </p:txBody>
      </p:sp>
      <p:sp>
        <p:nvSpPr>
          <p:cNvPr id="20" name="TextBox 22">
            <a:extLst>
              <a:ext uri="{FF2B5EF4-FFF2-40B4-BE49-F238E27FC236}">
                <a16:creationId xmlns:a16="http://schemas.microsoft.com/office/drawing/2014/main" id="{DEBB9E11-84A3-58F8-237D-4A265C29D49C}"/>
              </a:ext>
            </a:extLst>
          </p:cNvPr>
          <p:cNvSpPr txBox="1"/>
          <p:nvPr/>
        </p:nvSpPr>
        <p:spPr>
          <a:xfrm>
            <a:off x="729525" y="4771937"/>
            <a:ext cx="2254143" cy="630942"/>
          </a:xfrm>
          <a:prstGeom prst="rect">
            <a:avLst/>
          </a:prstGeom>
          <a:noFill/>
        </p:spPr>
        <p:txBody>
          <a:bodyPr wrap="none" rtlCol="0">
            <a:spAutoFit/>
          </a:bodyPr>
          <a:lstStyle/>
          <a:p>
            <a:pPr algn="ctr"/>
            <a:r>
              <a:rPr lang="en-US" sz="2400" b="1" dirty="0">
                <a:solidFill>
                  <a:srgbClr val="2F5597"/>
                </a:solidFill>
              </a:rPr>
              <a:t>Mature Stage</a:t>
            </a:r>
          </a:p>
          <a:p>
            <a:pPr algn="ctr"/>
            <a:r>
              <a:rPr lang="en-US" sz="1100" dirty="0">
                <a:solidFill>
                  <a:srgbClr val="2F5597"/>
                </a:solidFill>
              </a:rPr>
              <a:t>High Profitability, Market Saturation</a:t>
            </a:r>
          </a:p>
        </p:txBody>
      </p:sp>
      <p:sp>
        <p:nvSpPr>
          <p:cNvPr id="21" name="TextBox 23">
            <a:extLst>
              <a:ext uri="{FF2B5EF4-FFF2-40B4-BE49-F238E27FC236}">
                <a16:creationId xmlns:a16="http://schemas.microsoft.com/office/drawing/2014/main" id="{E4C2D887-78BC-455D-E84B-4706DBDF3CA1}"/>
              </a:ext>
            </a:extLst>
          </p:cNvPr>
          <p:cNvSpPr txBox="1"/>
          <p:nvPr/>
        </p:nvSpPr>
        <p:spPr>
          <a:xfrm>
            <a:off x="135286" y="5428863"/>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22" name="TextBox 24">
            <a:extLst>
              <a:ext uri="{FF2B5EF4-FFF2-40B4-BE49-F238E27FC236}">
                <a16:creationId xmlns:a16="http://schemas.microsoft.com/office/drawing/2014/main" id="{FC3AFD72-934E-C314-76C9-3BD3C3ADC5D7}"/>
              </a:ext>
            </a:extLst>
          </p:cNvPr>
          <p:cNvSpPr txBox="1"/>
          <p:nvPr/>
        </p:nvSpPr>
        <p:spPr>
          <a:xfrm>
            <a:off x="2219510" y="5428863"/>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23" name="TextBox 25">
            <a:extLst>
              <a:ext uri="{FF2B5EF4-FFF2-40B4-BE49-F238E27FC236}">
                <a16:creationId xmlns:a16="http://schemas.microsoft.com/office/drawing/2014/main" id="{AFC7E587-98BA-0E7B-D632-50ECCC546F0C}"/>
              </a:ext>
            </a:extLst>
          </p:cNvPr>
          <p:cNvSpPr txBox="1"/>
          <p:nvPr/>
        </p:nvSpPr>
        <p:spPr>
          <a:xfrm>
            <a:off x="129001" y="5674588"/>
            <a:ext cx="1588535" cy="400110"/>
          </a:xfrm>
          <a:prstGeom prst="rect">
            <a:avLst/>
          </a:prstGeom>
          <a:noFill/>
        </p:spPr>
        <p:txBody>
          <a:bodyPr wrap="square">
            <a:spAutoFit/>
          </a:bodyPr>
          <a:lstStyle/>
          <a:p>
            <a:pPr algn="ctr"/>
            <a:r>
              <a:rPr lang="en-US" sz="2000" b="1" dirty="0">
                <a:solidFill>
                  <a:srgbClr val="2F5597"/>
                </a:solidFill>
              </a:rPr>
              <a:t>$853.45M</a:t>
            </a:r>
            <a:endParaRPr lang="en-US" sz="2000" dirty="0">
              <a:solidFill>
                <a:srgbClr val="2F5597"/>
              </a:solidFill>
            </a:endParaRPr>
          </a:p>
        </p:txBody>
      </p:sp>
      <p:sp>
        <p:nvSpPr>
          <p:cNvPr id="24" name="TextBox 26">
            <a:extLst>
              <a:ext uri="{FF2B5EF4-FFF2-40B4-BE49-F238E27FC236}">
                <a16:creationId xmlns:a16="http://schemas.microsoft.com/office/drawing/2014/main" id="{CDADE326-124A-38EC-26DF-B19515A72278}"/>
              </a:ext>
            </a:extLst>
          </p:cNvPr>
          <p:cNvSpPr txBox="1"/>
          <p:nvPr/>
        </p:nvSpPr>
        <p:spPr>
          <a:xfrm>
            <a:off x="1922550" y="5674588"/>
            <a:ext cx="1588535" cy="400110"/>
          </a:xfrm>
          <a:prstGeom prst="rect">
            <a:avLst/>
          </a:prstGeom>
          <a:noFill/>
        </p:spPr>
        <p:txBody>
          <a:bodyPr wrap="square">
            <a:spAutoFit/>
          </a:bodyPr>
          <a:lstStyle/>
          <a:p>
            <a:pPr algn="ctr"/>
            <a:r>
              <a:rPr lang="en-US" sz="2000" b="1" dirty="0">
                <a:solidFill>
                  <a:srgbClr val="2F5597"/>
                </a:solidFill>
              </a:rPr>
              <a:t>$223.6M</a:t>
            </a:r>
            <a:endParaRPr lang="en-US" sz="2000" dirty="0">
              <a:solidFill>
                <a:srgbClr val="2F5597"/>
              </a:solidFill>
            </a:endParaRPr>
          </a:p>
        </p:txBody>
      </p:sp>
      <p:pic>
        <p:nvPicPr>
          <p:cNvPr id="25" name="Content Placeholder 24"/>
          <p:cNvPicPr>
            <a:picLocks noGrp="1"/>
          </p:cNvPicPr>
          <p:nvPr>
            <p:ph/>
          </p:nvPr>
        </p:nvPicPr>
        <p:blipFill>
          <a:blip r:embed="rId4" cstate="print"/>
          <a:stretch>
            <a:fillRect/>
          </a:stretch>
        </p:blipFill>
        <p:spPr>
          <a:xfrm>
            <a:off x="4078224" y="1472184"/>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9">
            <a:extLst>
              <a:ext uri="{FF2B5EF4-FFF2-40B4-BE49-F238E27FC236}">
                <a16:creationId xmlns:a16="http://schemas.microsoft.com/office/drawing/2014/main" id="{A1F948BD-D9F3-0E7A-A778-3B130A8365CE}"/>
              </a:ext>
            </a:extLst>
          </p:cNvPr>
          <p:cNvSpPr/>
          <p:nvPr/>
        </p:nvSpPr>
        <p:spPr>
          <a:xfrm>
            <a:off x="7554897" y="3022723"/>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CE020CCE-F739-8633-848E-AA7349974A46}"/>
              </a:ext>
            </a:extLst>
          </p:cNvPr>
          <p:cNvSpPr>
            <a:spLocks noGrp="1"/>
          </p:cNvSpPr>
          <p:nvPr>
            <p:ph type="title"/>
          </p:nvPr>
        </p:nvSpPr>
        <p:spPr>
          <a:xfrm>
            <a:off x="1553028" y="365125"/>
            <a:ext cx="10458459" cy="1325563"/>
          </a:xfrm>
        </p:spPr>
        <p:txBody>
          <a:bodyPr>
            <a:normAutofit/>
          </a:bodyPr>
          <a:lstStyle/>
          <a:p>
            <a:r>
              <a:rPr lang="en-US" sz="3600" b="1" dirty="0">
                <a:solidFill>
                  <a:schemeClr val="tx1">
                    <a:lumMod val="85000"/>
                    <a:lumOff val="15000"/>
                  </a:schemeClr>
                </a:solidFill>
                <a:latin typeface="Arial" panose="020B0604020202020204" pitchFamily="34" charset="0"/>
                <a:cs typeface="Arial" panose="020B0604020202020204" pitchFamily="34" charset="0"/>
              </a:rPr>
              <a:t>Estimated Financial Returns and Assumptions</a:t>
            </a:r>
          </a:p>
        </p:txBody>
      </p:sp>
      <p:sp>
        <p:nvSpPr>
          <p:cNvPr id="4" name="Footer Placeholder 3">
            <a:extLst>
              <a:ext uri="{FF2B5EF4-FFF2-40B4-BE49-F238E27FC236}">
                <a16:creationId xmlns:a16="http://schemas.microsoft.com/office/drawing/2014/main" id="{5507C855-B839-95B6-9EA2-093923967C6B}"/>
              </a:ext>
            </a:extLst>
          </p:cNvPr>
          <p:cNvSpPr>
            <a:spLocks noGrp="1"/>
          </p:cNvSpPr>
          <p:nvPr>
            <p:ph type="ftr" sz="quarter" idx="11"/>
          </p:nvPr>
        </p:nvSpPr>
        <p:spPr>
          <a:xfrm>
            <a:off x="4038602" y="6490145"/>
            <a:ext cx="4114800" cy="250380"/>
          </a:xfrm>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F7E7619F-9C66-420C-88E0-81D9A3B4FEB7}"/>
              </a:ext>
            </a:extLst>
          </p:cNvPr>
          <p:cNvSpPr>
            <a:spLocks noGrp="1"/>
          </p:cNvSpPr>
          <p:nvPr>
            <p:ph type="sldNum" sz="quarter" idx="12"/>
          </p:nvPr>
        </p:nvSpPr>
        <p:spPr>
          <a:xfrm>
            <a:off x="8610601" y="6490145"/>
            <a:ext cx="2743200" cy="250380"/>
          </a:xfrm>
        </p:spPr>
        <p:txBody>
          <a:bodyPr/>
          <a:lstStyle/>
          <a:p>
            <a:fld id="{3AFC719D-C4A7-4544-876E-D411D11AF6C9}" type="slidenum">
              <a:rPr lang="en-US" smtClean="0"/>
              <a:t>16</a:t>
            </a:fld>
            <a:endParaRPr lang="en-US" dirty="0"/>
          </a:p>
        </p:txBody>
      </p:sp>
      <p:sp>
        <p:nvSpPr>
          <p:cNvPr id="6" name="Rectangle 7">
            <a:extLst>
              <a:ext uri="{FF2B5EF4-FFF2-40B4-BE49-F238E27FC236}">
                <a16:creationId xmlns:a16="http://schemas.microsoft.com/office/drawing/2014/main" id="{55A48ACE-D370-6BA3-A39B-CF7D87E5C9A5}"/>
              </a:ext>
            </a:extLst>
          </p:cNvPr>
          <p:cNvSpPr/>
          <p:nvPr/>
        </p:nvSpPr>
        <p:spPr>
          <a:xfrm>
            <a:off x="7466120" y="1574676"/>
            <a:ext cx="4725880"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8">
            <a:extLst>
              <a:ext uri="{FF2B5EF4-FFF2-40B4-BE49-F238E27FC236}">
                <a16:creationId xmlns:a16="http://schemas.microsoft.com/office/drawing/2014/main" id="{99386F57-8E81-E6DF-1A01-623E3BB7AB0B}"/>
              </a:ext>
            </a:extLst>
          </p:cNvPr>
          <p:cNvSpPr/>
          <p:nvPr/>
        </p:nvSpPr>
        <p:spPr>
          <a:xfrm>
            <a:off x="7168718" y="1574676"/>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11">
            <a:extLst>
              <a:ext uri="{FF2B5EF4-FFF2-40B4-BE49-F238E27FC236}">
                <a16:creationId xmlns:a16="http://schemas.microsoft.com/office/drawing/2014/main" id="{7B828AB6-CD3A-4CD3-8950-2942DDBEAC0D}"/>
              </a:ext>
            </a:extLst>
          </p:cNvPr>
          <p:cNvSpPr txBox="1"/>
          <p:nvPr/>
        </p:nvSpPr>
        <p:spPr>
          <a:xfrm>
            <a:off x="8019782" y="1667584"/>
            <a:ext cx="3618555"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Patient Steerage Assumptions</a:t>
            </a:r>
          </a:p>
        </p:txBody>
      </p:sp>
      <p:sp>
        <p:nvSpPr>
          <p:cNvPr id="9" name="TextBox 12">
            <a:extLst>
              <a:ext uri="{FF2B5EF4-FFF2-40B4-BE49-F238E27FC236}">
                <a16:creationId xmlns:a16="http://schemas.microsoft.com/office/drawing/2014/main" id="{025AE6BF-C458-13D4-626E-DAD4C1439055}"/>
              </a:ext>
            </a:extLst>
          </p:cNvPr>
          <p:cNvSpPr txBox="1"/>
          <p:nvPr/>
        </p:nvSpPr>
        <p:spPr>
          <a:xfrm>
            <a:off x="7466120" y="2250333"/>
            <a:ext cx="4616389" cy="738664"/>
          </a:xfrm>
          <a:prstGeom prst="rect">
            <a:avLst/>
          </a:prstGeom>
          <a:noFill/>
        </p:spPr>
        <p:txBody>
          <a:bodyPr wrap="square" rtlCol="0">
            <a:spAutoFit/>
          </a:bodyPr>
          <a:lstStyle/>
          <a:p>
            <a:r>
              <a:rPr lang="en-US" sz="1050" dirty="0">
                <a:solidFill/>
              </a:rPr>
              <a:t>KBA currently estimates that Saint Luke's University Health Network has 34% inpatient market share, and 17% outpatient market compared to hospitals/clinics in the Luzerne, Carbon, Schuylkill, Lehigh, Northampton, Warren, Hunterdon, and Bucks Counties. Based on other KBA DTE networks, we expect steerage to be:</a:t>
            </a:r>
          </a:p>
        </p:txBody>
      </p:sp>
      <p:sp>
        <p:nvSpPr>
          <p:cNvPr id="10" name="TextBox 13">
            <a:extLst>
              <a:ext uri="{FF2B5EF4-FFF2-40B4-BE49-F238E27FC236}">
                <a16:creationId xmlns:a16="http://schemas.microsoft.com/office/drawing/2014/main" id="{179940AC-5161-4A7C-F820-720723177F99}"/>
              </a:ext>
            </a:extLst>
          </p:cNvPr>
          <p:cNvSpPr txBox="1"/>
          <p:nvPr/>
        </p:nvSpPr>
        <p:spPr>
          <a:xfrm>
            <a:off x="7785777" y="2987377"/>
            <a:ext cx="488916" cy="307777"/>
          </a:xfrm>
          <a:prstGeom prst="rect">
            <a:avLst/>
          </a:prstGeom>
          <a:noFill/>
        </p:spPr>
        <p:txBody>
          <a:bodyPr wrap="none" rtlCol="0">
            <a:spAutoFit/>
          </a:bodyPr>
          <a:lstStyle/>
          <a:p>
            <a:r>
              <a:rPr lang="en-US" sz="1400" b="1" dirty="0"/>
              <a:t>Low</a:t>
            </a:r>
          </a:p>
        </p:txBody>
      </p:sp>
      <p:sp>
        <p:nvSpPr>
          <p:cNvPr id="11" name="TextBox 14">
            <a:extLst>
              <a:ext uri="{FF2B5EF4-FFF2-40B4-BE49-F238E27FC236}">
                <a16:creationId xmlns:a16="http://schemas.microsoft.com/office/drawing/2014/main" id="{7AC10C26-8A4C-C6CF-D8A6-005227E091A5}"/>
              </a:ext>
            </a:extLst>
          </p:cNvPr>
          <p:cNvSpPr txBox="1"/>
          <p:nvPr/>
        </p:nvSpPr>
        <p:spPr>
          <a:xfrm>
            <a:off x="9529856" y="2975309"/>
            <a:ext cx="643509" cy="307777"/>
          </a:xfrm>
          <a:prstGeom prst="rect">
            <a:avLst/>
          </a:prstGeom>
          <a:noFill/>
        </p:spPr>
        <p:txBody>
          <a:bodyPr wrap="none" rtlCol="0">
            <a:spAutoFit/>
          </a:bodyPr>
          <a:lstStyle/>
          <a:p>
            <a:r>
              <a:rPr lang="en-US" sz="1400" b="1" dirty="0"/>
              <a:t>Target</a:t>
            </a:r>
          </a:p>
        </p:txBody>
      </p:sp>
      <p:sp>
        <p:nvSpPr>
          <p:cNvPr id="12" name="TextBox 15">
            <a:extLst>
              <a:ext uri="{FF2B5EF4-FFF2-40B4-BE49-F238E27FC236}">
                <a16:creationId xmlns:a16="http://schemas.microsoft.com/office/drawing/2014/main" id="{0D3F3B85-69EC-8FED-A956-FFB8BE6FE5D7}"/>
              </a:ext>
            </a:extLst>
          </p:cNvPr>
          <p:cNvSpPr txBox="1"/>
          <p:nvPr/>
        </p:nvSpPr>
        <p:spPr>
          <a:xfrm>
            <a:off x="11244106" y="2991243"/>
            <a:ext cx="524503" cy="307777"/>
          </a:xfrm>
          <a:prstGeom prst="rect">
            <a:avLst/>
          </a:prstGeom>
          <a:noFill/>
        </p:spPr>
        <p:txBody>
          <a:bodyPr wrap="none" rtlCol="0">
            <a:spAutoFit/>
          </a:bodyPr>
          <a:lstStyle/>
          <a:p>
            <a:r>
              <a:rPr lang="en-US" sz="1400" b="1" dirty="0"/>
              <a:t>High</a:t>
            </a:r>
          </a:p>
        </p:txBody>
      </p:sp>
      <p:sp>
        <p:nvSpPr>
          <p:cNvPr id="13" name="TextBox 16">
            <a:extLst>
              <a:ext uri="{FF2B5EF4-FFF2-40B4-BE49-F238E27FC236}">
                <a16:creationId xmlns:a16="http://schemas.microsoft.com/office/drawing/2014/main" id="{19FEE2C1-9161-C3CD-EE7F-6727C796DF0D}"/>
              </a:ext>
            </a:extLst>
          </p:cNvPr>
          <p:cNvSpPr txBox="1"/>
          <p:nvPr/>
        </p:nvSpPr>
        <p:spPr>
          <a:xfrm>
            <a:off x="7753036" y="3237256"/>
            <a:ext cx="583814" cy="369332"/>
          </a:xfrm>
          <a:prstGeom prst="rect">
            <a:avLst/>
          </a:prstGeom>
          <a:noFill/>
        </p:spPr>
        <p:txBody>
          <a:bodyPr wrap="none" rtlCol="0">
            <a:spAutoFit/>
          </a:bodyPr>
          <a:lstStyle/>
          <a:p>
            <a:r>
              <a:rPr lang="en-US" dirty="0">
                <a:solidFill/>
              </a:rPr>
              <a:t>70%</a:t>
            </a:r>
          </a:p>
        </p:txBody>
      </p:sp>
      <p:sp>
        <p:nvSpPr>
          <p:cNvPr id="14" name="TextBox 17">
            <a:extLst>
              <a:ext uri="{FF2B5EF4-FFF2-40B4-BE49-F238E27FC236}">
                <a16:creationId xmlns:a16="http://schemas.microsoft.com/office/drawing/2014/main" id="{1CC51BEE-0560-3D56-4AE8-86D704578774}"/>
              </a:ext>
            </a:extLst>
          </p:cNvPr>
          <p:cNvSpPr txBox="1"/>
          <p:nvPr/>
        </p:nvSpPr>
        <p:spPr>
          <a:xfrm>
            <a:off x="9580097" y="3237256"/>
            <a:ext cx="583814" cy="369332"/>
          </a:xfrm>
          <a:prstGeom prst="rect">
            <a:avLst/>
          </a:prstGeom>
          <a:noFill/>
        </p:spPr>
        <p:txBody>
          <a:bodyPr wrap="none" rtlCol="0">
            <a:spAutoFit/>
          </a:bodyPr>
          <a:lstStyle/>
          <a:p>
            <a:r>
              <a:rPr lang="en-US" dirty="0">
                <a:solidFill/>
              </a:rPr>
              <a:t>77%</a:t>
            </a:r>
          </a:p>
        </p:txBody>
      </p:sp>
      <p:sp>
        <p:nvSpPr>
          <p:cNvPr id="15" name="TextBox 18">
            <a:extLst>
              <a:ext uri="{FF2B5EF4-FFF2-40B4-BE49-F238E27FC236}">
                <a16:creationId xmlns:a16="http://schemas.microsoft.com/office/drawing/2014/main" id="{A17D3C89-20DF-71B2-E5D8-1DA9D1F926E7}"/>
              </a:ext>
            </a:extLst>
          </p:cNvPr>
          <p:cNvSpPr txBox="1"/>
          <p:nvPr/>
        </p:nvSpPr>
        <p:spPr>
          <a:xfrm>
            <a:off x="11218036" y="3237256"/>
            <a:ext cx="583814" cy="369332"/>
          </a:xfrm>
          <a:prstGeom prst="rect">
            <a:avLst/>
          </a:prstGeom>
          <a:noFill/>
        </p:spPr>
        <p:txBody>
          <a:bodyPr wrap="none" rtlCol="0">
            <a:spAutoFit/>
          </a:bodyPr>
          <a:lstStyle/>
          <a:p>
            <a:r>
              <a:rPr lang="en-US" dirty="0">
                <a:solidFill/>
              </a:rPr>
              <a:t>85%</a:t>
            </a:r>
          </a:p>
        </p:txBody>
      </p:sp>
      <p:sp>
        <p:nvSpPr>
          <p:cNvPr id="16" name="Rectangle 20">
            <a:extLst>
              <a:ext uri="{FF2B5EF4-FFF2-40B4-BE49-F238E27FC236}">
                <a16:creationId xmlns:a16="http://schemas.microsoft.com/office/drawing/2014/main" id="{620CA171-241C-9006-DA4D-7174E70B2EF3}"/>
              </a:ext>
            </a:extLst>
          </p:cNvPr>
          <p:cNvSpPr/>
          <p:nvPr/>
        </p:nvSpPr>
        <p:spPr>
          <a:xfrm>
            <a:off x="7597806" y="5348162"/>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21">
            <a:extLst>
              <a:ext uri="{FF2B5EF4-FFF2-40B4-BE49-F238E27FC236}">
                <a16:creationId xmlns:a16="http://schemas.microsoft.com/office/drawing/2014/main" id="{BD8E1912-BAE3-A76F-55A7-754D206BC471}"/>
              </a:ext>
            </a:extLst>
          </p:cNvPr>
          <p:cNvSpPr/>
          <p:nvPr/>
        </p:nvSpPr>
        <p:spPr>
          <a:xfrm>
            <a:off x="7509029" y="4095424"/>
            <a:ext cx="4682971"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22">
            <a:extLst>
              <a:ext uri="{FF2B5EF4-FFF2-40B4-BE49-F238E27FC236}">
                <a16:creationId xmlns:a16="http://schemas.microsoft.com/office/drawing/2014/main" id="{D2B9ED21-8D89-315C-4C9C-403AA9B2666A}"/>
              </a:ext>
            </a:extLst>
          </p:cNvPr>
          <p:cNvSpPr/>
          <p:nvPr/>
        </p:nvSpPr>
        <p:spPr>
          <a:xfrm>
            <a:off x="7211627" y="4095424"/>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23">
            <a:extLst>
              <a:ext uri="{FF2B5EF4-FFF2-40B4-BE49-F238E27FC236}">
                <a16:creationId xmlns:a16="http://schemas.microsoft.com/office/drawing/2014/main" id="{950E697A-C380-A6EE-50AE-8B3DED34929F}"/>
              </a:ext>
            </a:extLst>
          </p:cNvPr>
          <p:cNvSpPr txBox="1"/>
          <p:nvPr/>
        </p:nvSpPr>
        <p:spPr>
          <a:xfrm>
            <a:off x="8062691" y="4188332"/>
            <a:ext cx="3932743"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Commercial Margin Assumptions</a:t>
            </a:r>
          </a:p>
        </p:txBody>
      </p:sp>
      <p:sp>
        <p:nvSpPr>
          <p:cNvPr id="20" name="TextBox 24">
            <a:extLst>
              <a:ext uri="{FF2B5EF4-FFF2-40B4-BE49-F238E27FC236}">
                <a16:creationId xmlns:a16="http://schemas.microsoft.com/office/drawing/2014/main" id="{32C9D62D-25B0-6CD9-8AD7-E6855B1B1B26}"/>
              </a:ext>
            </a:extLst>
          </p:cNvPr>
          <p:cNvSpPr txBox="1"/>
          <p:nvPr/>
        </p:nvSpPr>
        <p:spPr>
          <a:xfrm>
            <a:off x="7509029" y="4771081"/>
            <a:ext cx="4616389" cy="577081"/>
          </a:xfrm>
          <a:prstGeom prst="rect">
            <a:avLst/>
          </a:prstGeom>
          <a:noFill/>
        </p:spPr>
        <p:txBody>
          <a:bodyPr wrap="square" rtlCol="0">
            <a:spAutoFit/>
          </a:bodyPr>
          <a:lstStyle/>
          <a:p>
            <a:r>
              <a:rPr lang="en-US" sz="1050" dirty="0">
                <a:solidFill/>
              </a:rPr>
              <a:t>KBA estimates DTE margins to be similar to the margin of other commercial plans (prices are lower but billing costs and self-payments are higher). We model DTE commercial margin as on target, below and above other commercial plans.</a:t>
            </a:r>
          </a:p>
        </p:txBody>
      </p:sp>
      <p:sp>
        <p:nvSpPr>
          <p:cNvPr id="21" name="TextBox 25">
            <a:extLst>
              <a:ext uri="{FF2B5EF4-FFF2-40B4-BE49-F238E27FC236}">
                <a16:creationId xmlns:a16="http://schemas.microsoft.com/office/drawing/2014/main" id="{A76920ED-352E-9285-CC83-BDA6AB18978D}"/>
              </a:ext>
            </a:extLst>
          </p:cNvPr>
          <p:cNvSpPr txBox="1"/>
          <p:nvPr/>
        </p:nvSpPr>
        <p:spPr>
          <a:xfrm>
            <a:off x="7707395" y="5300748"/>
            <a:ext cx="488916" cy="307777"/>
          </a:xfrm>
          <a:prstGeom prst="rect">
            <a:avLst/>
          </a:prstGeom>
          <a:noFill/>
        </p:spPr>
        <p:txBody>
          <a:bodyPr wrap="none" rtlCol="0">
            <a:spAutoFit/>
          </a:bodyPr>
          <a:lstStyle/>
          <a:p>
            <a:r>
              <a:rPr lang="en-US" sz="1400" b="1" dirty="0"/>
              <a:t>Low</a:t>
            </a:r>
          </a:p>
        </p:txBody>
      </p:sp>
      <p:sp>
        <p:nvSpPr>
          <p:cNvPr id="22" name="TextBox 26">
            <a:extLst>
              <a:ext uri="{FF2B5EF4-FFF2-40B4-BE49-F238E27FC236}">
                <a16:creationId xmlns:a16="http://schemas.microsoft.com/office/drawing/2014/main" id="{2559AB8C-6F23-81D3-4546-DE75EBD91879}"/>
              </a:ext>
            </a:extLst>
          </p:cNvPr>
          <p:cNvSpPr txBox="1"/>
          <p:nvPr/>
        </p:nvSpPr>
        <p:spPr>
          <a:xfrm>
            <a:off x="9572765" y="5300748"/>
            <a:ext cx="643509" cy="307777"/>
          </a:xfrm>
          <a:prstGeom prst="rect">
            <a:avLst/>
          </a:prstGeom>
          <a:noFill/>
        </p:spPr>
        <p:txBody>
          <a:bodyPr wrap="none" rtlCol="0">
            <a:spAutoFit/>
          </a:bodyPr>
          <a:lstStyle/>
          <a:p>
            <a:r>
              <a:rPr lang="en-US" sz="1400" b="1" dirty="0"/>
              <a:t>Target</a:t>
            </a:r>
          </a:p>
        </p:txBody>
      </p:sp>
      <p:sp>
        <p:nvSpPr>
          <p:cNvPr id="23" name="TextBox 27">
            <a:extLst>
              <a:ext uri="{FF2B5EF4-FFF2-40B4-BE49-F238E27FC236}">
                <a16:creationId xmlns:a16="http://schemas.microsoft.com/office/drawing/2014/main" id="{314AFF5C-ABDA-A82B-40C8-14E2DB160036}"/>
              </a:ext>
            </a:extLst>
          </p:cNvPr>
          <p:cNvSpPr txBox="1"/>
          <p:nvPr/>
        </p:nvSpPr>
        <p:spPr>
          <a:xfrm>
            <a:off x="11436788" y="5300748"/>
            <a:ext cx="524503" cy="307777"/>
          </a:xfrm>
          <a:prstGeom prst="rect">
            <a:avLst/>
          </a:prstGeom>
          <a:noFill/>
        </p:spPr>
        <p:txBody>
          <a:bodyPr wrap="none" rtlCol="0">
            <a:spAutoFit/>
          </a:bodyPr>
          <a:lstStyle/>
          <a:p>
            <a:r>
              <a:rPr lang="en-US" sz="1400" b="1" dirty="0"/>
              <a:t>High</a:t>
            </a:r>
          </a:p>
        </p:txBody>
      </p:sp>
      <p:sp>
        <p:nvSpPr>
          <p:cNvPr id="24" name="TextBox 28">
            <a:extLst>
              <a:ext uri="{FF2B5EF4-FFF2-40B4-BE49-F238E27FC236}">
                <a16:creationId xmlns:a16="http://schemas.microsoft.com/office/drawing/2014/main" id="{2C03026B-6D1E-F7B1-9995-7D9DC1019C60}"/>
              </a:ext>
            </a:extLst>
          </p:cNvPr>
          <p:cNvSpPr txBox="1"/>
          <p:nvPr/>
        </p:nvSpPr>
        <p:spPr>
          <a:xfrm>
            <a:off x="7659946" y="5559601"/>
            <a:ext cx="1099083" cy="369332"/>
          </a:xfrm>
          <a:prstGeom prst="rect">
            <a:avLst/>
          </a:prstGeom>
          <a:noFill/>
        </p:spPr>
        <p:txBody>
          <a:bodyPr wrap="none" rtlCol="0">
            <a:spAutoFit/>
          </a:bodyPr>
          <a:lstStyle/>
          <a:p>
            <a:r>
              <a:rPr lang="en-US" dirty="0">
                <a:solidFill/>
              </a:rPr>
              <a:t>5% Below</a:t>
            </a:r>
          </a:p>
        </p:txBody>
      </p:sp>
      <p:sp>
        <p:nvSpPr>
          <p:cNvPr id="25" name="TextBox 29">
            <a:extLst>
              <a:ext uri="{FF2B5EF4-FFF2-40B4-BE49-F238E27FC236}">
                <a16:creationId xmlns:a16="http://schemas.microsoft.com/office/drawing/2014/main" id="{9C64CEEB-E16A-926D-5DF0-DC8275443A40}"/>
              </a:ext>
            </a:extLst>
          </p:cNvPr>
          <p:cNvSpPr txBox="1"/>
          <p:nvPr/>
        </p:nvSpPr>
        <p:spPr>
          <a:xfrm>
            <a:off x="9580061" y="5571573"/>
            <a:ext cx="700833" cy="369332"/>
          </a:xfrm>
          <a:prstGeom prst="rect">
            <a:avLst/>
          </a:prstGeom>
          <a:noFill/>
        </p:spPr>
        <p:txBody>
          <a:bodyPr wrap="none" rtlCol="0">
            <a:spAutoFit/>
          </a:bodyPr>
          <a:lstStyle/>
          <a:p>
            <a:r>
              <a:rPr lang="en-US" dirty="0">
                <a:solidFill/>
              </a:rPr>
              <a:t>Same</a:t>
            </a:r>
          </a:p>
        </p:txBody>
      </p:sp>
      <p:sp>
        <p:nvSpPr>
          <p:cNvPr id="26" name="TextBox 30">
            <a:extLst>
              <a:ext uri="{FF2B5EF4-FFF2-40B4-BE49-F238E27FC236}">
                <a16:creationId xmlns:a16="http://schemas.microsoft.com/office/drawing/2014/main" id="{716000A2-AFB1-117D-BFF0-2BDA3EA8A77D}"/>
              </a:ext>
            </a:extLst>
          </p:cNvPr>
          <p:cNvSpPr txBox="1"/>
          <p:nvPr/>
        </p:nvSpPr>
        <p:spPr>
          <a:xfrm>
            <a:off x="11024514" y="5560691"/>
            <a:ext cx="1112741" cy="369332"/>
          </a:xfrm>
          <a:prstGeom prst="rect">
            <a:avLst/>
          </a:prstGeom>
          <a:noFill/>
        </p:spPr>
        <p:txBody>
          <a:bodyPr wrap="none" rtlCol="0">
            <a:spAutoFit/>
          </a:bodyPr>
          <a:lstStyle/>
          <a:p>
            <a:r>
              <a:rPr lang="en-US" dirty="0">
                <a:solidFill/>
              </a:rPr>
              <a:t>5% Above</a:t>
            </a:r>
          </a:p>
        </p:txBody>
      </p:sp>
      <p:sp>
        <p:nvSpPr>
          <p:cNvPr id="27" name="Rectangle 2">
            <a:extLst>
              <a:ext uri="{FF2B5EF4-FFF2-40B4-BE49-F238E27FC236}">
                <a16:creationId xmlns:a16="http://schemas.microsoft.com/office/drawing/2014/main" id="{E854312B-28D3-E83C-2C75-6E860911BB50}"/>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28" name="Title 1">
            <a:extLst>
              <a:ext uri="{FF2B5EF4-FFF2-40B4-BE49-F238E27FC236}">
                <a16:creationId xmlns:a16="http://schemas.microsoft.com/office/drawing/2014/main" id="{2DAB5DAF-375F-8C08-74DE-3B9B1A009F3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SINGLE-YEAR PROJECTION</a:t>
            </a:r>
          </a:p>
        </p:txBody>
      </p:sp>
      <p:pic>
        <p:nvPicPr>
          <p:cNvPr id="29" name="Content Placeholder 28"/>
          <p:cNvPicPr>
            <a:picLocks noGrp="1"/>
          </p:cNvPicPr>
          <p:nvPr>
            <p:ph/>
          </p:nvPr>
        </p:nvPicPr>
        <p:blipFill>
          <a:blip r:embed="rId2" cstate="print"/>
          <a:stretch>
            <a:fillRect/>
          </a:stretch>
        </p:blipFill>
        <p:spPr>
          <a:xfrm>
            <a:off x="1024128" y="1618488"/>
            <a:ext cx="6382512" cy="4553712"/>
          </a:xfrm>
          <a:prstGeom prst="rect">
            <a:avLst/>
          </a:prstGeom>
        </p:spPr>
      </p:pic>
    </p:spTree>
    <p:extLst>
      <p:ext uri="{BB962C8B-B14F-4D97-AF65-F5344CB8AC3E}">
        <p14:creationId xmlns:p14="http://schemas.microsoft.com/office/powerpoint/2010/main" val="29779693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600" b="0" dirty="0">
                <a:solidFill>
                  <a:schemeClr val="bg1"/>
                </a:solidFill>
              </a:rPr>
              <a:t>FOUR-YEAR PROJECTIONS</a:t>
            </a:r>
          </a:p>
        </p:txBody>
      </p:sp>
      <p:graphicFrame>
        <p:nvGraphicFramePr>
          <p:cNvPr id="7" name="Table 6"/>
          <p:cNvGraphicFramePr>
            <a:graphicFrameLocks noGrp="1"/>
          </p:cNvGraphicFramePr>
          <p:nvPr/>
        </p:nvGraphicFramePr>
        <p:xfrm>
          <a:off x="6204852" y="5025"/>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3,733.8K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7,664.2K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12,773.7K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19,455.3K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3,426.6K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7,531.0K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12,671.7K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19,394.1K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8" name="Table 7"/>
          <p:cNvGraphicFramePr>
            <a:graphicFrameLocks noGrp="1"/>
          </p:cNvGraphicFramePr>
          <p:nvPr/>
        </p:nvGraphicFramePr>
        <p:xfrm>
          <a:off x="6204852" y="2291025"/>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5,109.5K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10,218.9K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16,900.6K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25,940.4K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4,810.7K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10,101.3K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16,823.8K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dirty="0">
                          <a:solidFill>
                            <a:srgbClr val="000000">
                              <a:alpha val="100000"/>
                            </a:srgbClr>
                          </a:solidFill>
                          <a:latin typeface="Arial"/>
                          <a:cs typeface="Arial"/>
                          <a:sym typeface="Arial"/>
                        </a:rPr>
                        <a:t>25,918.8K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9" name="Table 8"/>
          <p:cNvGraphicFramePr>
            <a:graphicFrameLocks noGrp="1"/>
          </p:cNvGraphicFramePr>
          <p:nvPr/>
        </p:nvGraphicFramePr>
        <p:xfrm>
          <a:off x="6204852" y="4577025"/>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2,554.7K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5,109.5K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8,450.3K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12,970.2K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2,240.3K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4,960.7K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8,321.9K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dirty="0">
                          <a:solidFill>
                            <a:srgbClr val="000000">
                              <a:alpha val="100000"/>
                            </a:srgbClr>
                          </a:solidFill>
                          <a:latin typeface="Arial"/>
                          <a:cs typeface="Arial"/>
                          <a:sym typeface="Arial"/>
                        </a:rPr>
                        <a:t>12,869.4K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6" name="Content Placeholder 9">
            <a:extLst>
              <a:ext uri="{FF2B5EF4-FFF2-40B4-BE49-F238E27FC236}">
                <a16:creationId xmlns:a16="http://schemas.microsoft.com/office/drawing/2014/main" id="{A548FD59-D806-2ABE-146B-5FF724092BAB}"/>
              </a:ext>
            </a:extLst>
          </p:cNvPr>
          <p:cNvPicPr>
            <a:picLocks/>
          </p:cNvPicPr>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C179CC05-C580-445B-A6CE-880F87F13ADE}"/>
              </a:ext>
            </a:extLst>
          </p:cNvPr>
          <p:cNvSpPr/>
          <p:nvPr/>
        </p:nvSpPr>
        <p:spPr>
          <a:xfrm>
            <a:off x="1" y="-18338"/>
            <a:ext cx="1333500" cy="688868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5D0A2589-D5AE-4FA5-AFEE-380FBDE57678}"/>
              </a:ext>
            </a:extLst>
          </p:cNvPr>
          <p:cNvSpPr/>
          <p:nvPr/>
        </p:nvSpPr>
        <p:spPr>
          <a:xfrm>
            <a:off x="8305799" y="0"/>
            <a:ext cx="3886201" cy="68703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3B8F1952-97F2-4B3F-B2E1-5810787BF1F5}"/>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BE944F38-D276-436B-8BA7-1690795B2612}"/>
              </a:ext>
            </a:extLst>
          </p:cNvPr>
          <p:cNvSpPr>
            <a:spLocks noGrp="1"/>
          </p:cNvSpPr>
          <p:nvPr>
            <p:ph type="sldNum" sz="quarter" idx="12"/>
          </p:nvPr>
        </p:nvSpPr>
        <p:spPr/>
        <p:txBody>
          <a:bodyPr/>
          <a:lstStyle/>
          <a:p>
            <a:fld id="{3AFC719D-C4A7-4544-876E-D411D11AF6C9}" type="slidenum">
              <a:rPr lang="en-US" smtClean="0"/>
              <a:t>18</a:t>
            </a:fld>
            <a:endParaRPr lang="en-US" dirty="0"/>
          </a:p>
        </p:txBody>
      </p:sp>
      <p:sp>
        <p:nvSpPr>
          <p:cNvPr id="5" name="Rectangle 4">
            <a:extLst>
              <a:ext uri="{FF2B5EF4-FFF2-40B4-BE49-F238E27FC236}">
                <a16:creationId xmlns:a16="http://schemas.microsoft.com/office/drawing/2014/main" id="{3E6586F0-A9B4-4F4A-B94E-351404883741}"/>
              </a:ext>
            </a:extLst>
          </p:cNvPr>
          <p:cNvSpPr/>
          <p:nvPr/>
        </p:nvSpPr>
        <p:spPr>
          <a:xfrm>
            <a:off x="1981201" y="548292"/>
            <a:ext cx="5686424" cy="5478423"/>
          </a:xfrm>
          <a:prstGeom prst="rect">
            <a:avLst/>
          </a:prstGeom>
        </p:spPr>
        <p:txBody>
          <a:bodyPr wrap="square">
            <a:spAutoFit/>
          </a:bodyPr>
          <a:lstStyle/>
          <a:p>
            <a:pPr>
              <a:spcAft>
                <a:spcPts val="1200"/>
              </a:spcAft>
            </a:pPr>
            <a:r>
              <a:rPr lang="en-US" b="1" cap="all" dirty="0">
                <a:solidFill>
                  <a:srgbClr val="000B2E"/>
                </a:solidFill>
              </a:rPr>
              <a:t>SLUHN’s 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The medical providers in your direct control or part of SLUHN’s integrated delivery system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Potential risk sharing arrangements (e.g. employer stop-loss participation)</a:t>
            </a:r>
          </a:p>
          <a:p>
            <a:pPr>
              <a:spcAft>
                <a:spcPts val="1200"/>
              </a:spcAft>
            </a:pPr>
            <a:r>
              <a:rPr lang="en-US" b="1" cap="all" dirty="0">
                <a:solidFill>
                  <a:srgbClr val="000B2E"/>
                </a:solidFill>
              </a:rPr>
              <a:t>Friends &amp; Family Providers – TIER 1</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Access through direct contracts at the discretion of SLUHN</a:t>
            </a:r>
          </a:p>
          <a:p>
            <a:pPr>
              <a:spcAft>
                <a:spcPts val="1200"/>
              </a:spcAft>
            </a:pPr>
            <a:r>
              <a:rPr lang="en-US" b="1" dirty="0">
                <a:solidFill>
                  <a:srgbClr val="000B2E"/>
                </a:solidFill>
              </a:rPr>
              <a:t>WRAP NETWORK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Medical services from national PPO networks for members that travel, tertiary and specialty services you do not provide, and employees residing outside your direct catchment area </a:t>
            </a:r>
          </a:p>
          <a:p>
            <a:pPr marL="0" lvl="1">
              <a:spcAft>
                <a:spcPts val="1200"/>
              </a:spcAft>
            </a:pPr>
            <a:r>
              <a:rPr lang="en-US" b="1" dirty="0">
                <a:solidFill>
                  <a:srgbClr val="000B2E"/>
                </a:solidFill>
              </a:rPr>
              <a:t>OUT-OF-NETWORK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Non-contracted medical providers</a:t>
            </a:r>
          </a:p>
        </p:txBody>
      </p:sp>
      <p:sp>
        <p:nvSpPr>
          <p:cNvPr id="15" name="Title 1">
            <a:extLst>
              <a:ext uri="{FF2B5EF4-FFF2-40B4-BE49-F238E27FC236}">
                <a16:creationId xmlns:a16="http://schemas.microsoft.com/office/drawing/2014/main" id="{A044C7C1-57D3-4F0B-A71A-0CA303FF3DB8}"/>
              </a:ext>
            </a:extLst>
          </p:cNvPr>
          <p:cNvSpPr>
            <a:spLocks noGrp="1"/>
          </p:cNvSpPr>
          <p:nvPr>
            <p:ph type="title"/>
          </p:nvPr>
        </p:nvSpPr>
        <p:spPr>
          <a:xfrm>
            <a:off x="347449" y="156755"/>
            <a:ext cx="638604" cy="6701246"/>
          </a:xfrm>
          <a:noFill/>
        </p:spPr>
        <p:txBody>
          <a:bodyPr vert="wordArtVert">
            <a:noAutofit/>
          </a:bodyPr>
          <a:lstStyle/>
          <a:p>
            <a:r>
              <a:rPr lang="en-US" sz="2800" cap="all" spc="-150" dirty="0">
                <a:solidFill>
                  <a:schemeClr val="bg1"/>
                </a:solidFill>
              </a:rPr>
              <a:t>SLUHN N</a:t>
            </a:r>
            <a:r>
              <a:rPr lang="en-US" sz="2800" spc="-150" dirty="0">
                <a:solidFill>
                  <a:schemeClr val="bg1"/>
                </a:solidFill>
              </a:rPr>
              <a:t>ETWORK</a:t>
            </a:r>
            <a:r>
              <a:rPr lang="en-US" sz="2800" cap="all" spc="-150" dirty="0">
                <a:solidFill>
                  <a:schemeClr val="bg1"/>
                </a:solidFill>
              </a:rPr>
              <a:t> </a:t>
            </a:r>
          </a:p>
        </p:txBody>
      </p:sp>
      <p:graphicFrame>
        <p:nvGraphicFramePr>
          <p:cNvPr id="9" name="Diagram 8">
            <a:extLst>
              <a:ext uri="{FF2B5EF4-FFF2-40B4-BE49-F238E27FC236}">
                <a16:creationId xmlns:a16="http://schemas.microsoft.com/office/drawing/2014/main" id="{FAD0E162-C21A-49A7-B8F7-5357E17BEF5D}"/>
              </a:ext>
            </a:extLst>
          </p:cNvPr>
          <p:cNvGraphicFramePr/>
          <p:nvPr>
            <p:extLst>
              <p:ext uri="{D42A27DB-BD31-4B8C-83A1-F6EECF244321}">
                <p14:modId xmlns:p14="http://schemas.microsoft.com/office/powerpoint/2010/main" val="3661889314"/>
              </p:ext>
            </p:extLst>
          </p:nvPr>
        </p:nvGraphicFramePr>
        <p:xfrm>
          <a:off x="8377646" y="330927"/>
          <a:ext cx="3718560" cy="585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 name="Picture 4" descr="St. Luke's University Health Network's 150th Anniversary">
            <a:extLst>
              <a:ext uri="{FF2B5EF4-FFF2-40B4-BE49-F238E27FC236}">
                <a16:creationId xmlns:a16="http://schemas.microsoft.com/office/drawing/2014/main" id="{A601C53D-270A-F96F-E93A-2884C7DD245B}"/>
              </a:ext>
            </a:extLst>
          </p:cNvPr>
          <p:cNvPicPr>
            <a:picLocks noChangeAspect="1" noChangeArrowheads="1"/>
          </p:cNvPicPr>
          <p:nvPr/>
        </p:nvPicPr>
        <p:blipFill>
          <a:blip r:embed="rId7"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721850" y="4104340"/>
            <a:ext cx="1123950" cy="590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06213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664F8C9-9C7F-4948-A85D-2E89D3FE40B6}"/>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29335D2A-704B-40DA-B40A-6813A0904A8C}"/>
              </a:ext>
            </a:extLst>
          </p:cNvPr>
          <p:cNvSpPr>
            <a:spLocks noGrp="1"/>
          </p:cNvSpPr>
          <p:nvPr>
            <p:ph type="sldNum" sz="quarter" idx="12"/>
          </p:nvPr>
        </p:nvSpPr>
        <p:spPr/>
        <p:txBody>
          <a:bodyPr/>
          <a:lstStyle/>
          <a:p>
            <a:fld id="{3AFC719D-C4A7-4544-876E-D411D11AF6C9}" type="slidenum">
              <a:rPr lang="en-US" smtClean="0"/>
              <a:t>19</a:t>
            </a:fld>
            <a:endParaRPr lang="en-US" dirty="0"/>
          </a:p>
        </p:txBody>
      </p:sp>
      <p:pic>
        <p:nvPicPr>
          <p:cNvPr id="6" name="Picture 5">
            <a:extLst>
              <a:ext uri="{FF2B5EF4-FFF2-40B4-BE49-F238E27FC236}">
                <a16:creationId xmlns:a16="http://schemas.microsoft.com/office/drawing/2014/main" id="{10F9F71E-E6B1-42DA-8A5C-BA766FB41692}"/>
              </a:ext>
            </a:extLst>
          </p:cNvPr>
          <p:cNvPicPr/>
          <p:nvPr/>
        </p:nvPicPr>
        <p:blipFill>
          <a:blip r:embed="rId2"/>
          <a:stretch>
            <a:fillRect/>
          </a:stretch>
        </p:blipFill>
        <p:spPr>
          <a:xfrm>
            <a:off x="944808" y="1094934"/>
            <a:ext cx="10828091" cy="3515166"/>
          </a:xfrm>
          <a:prstGeom prst="rect">
            <a:avLst/>
          </a:prstGeom>
        </p:spPr>
      </p:pic>
      <p:sp>
        <p:nvSpPr>
          <p:cNvPr id="7" name="Right Brace 6">
            <a:extLst>
              <a:ext uri="{FF2B5EF4-FFF2-40B4-BE49-F238E27FC236}">
                <a16:creationId xmlns:a16="http://schemas.microsoft.com/office/drawing/2014/main" id="{3FB139EF-7F84-45B5-97A9-2678E891CE13}"/>
              </a:ext>
            </a:extLst>
          </p:cNvPr>
          <p:cNvSpPr/>
          <p:nvPr/>
        </p:nvSpPr>
        <p:spPr>
          <a:xfrm rot="5400000">
            <a:off x="3193839" y="2494417"/>
            <a:ext cx="555585" cy="4924885"/>
          </a:xfrm>
          <a:prstGeom prst="rightBrace">
            <a:avLst/>
          </a:prstGeom>
          <a:ln>
            <a:solidFill>
              <a:srgbClr val="254F96"/>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dirty="0"/>
          </a:p>
        </p:txBody>
      </p:sp>
      <p:sp>
        <p:nvSpPr>
          <p:cNvPr id="9" name="TextBox 8">
            <a:extLst>
              <a:ext uri="{FF2B5EF4-FFF2-40B4-BE49-F238E27FC236}">
                <a16:creationId xmlns:a16="http://schemas.microsoft.com/office/drawing/2014/main" id="{11F3B9D2-B381-4EA2-993A-13B4DAC230E5}"/>
              </a:ext>
            </a:extLst>
          </p:cNvPr>
          <p:cNvSpPr txBox="1"/>
          <p:nvPr/>
        </p:nvSpPr>
        <p:spPr>
          <a:xfrm>
            <a:off x="2036719" y="5303619"/>
            <a:ext cx="3019883" cy="923330"/>
          </a:xfrm>
          <a:prstGeom prst="rect">
            <a:avLst/>
          </a:prstGeom>
          <a:noFill/>
        </p:spPr>
        <p:txBody>
          <a:bodyPr wrap="square" rtlCol="0">
            <a:spAutoFit/>
          </a:bodyPr>
          <a:lstStyle/>
          <a:p>
            <a:pPr algn="ctr"/>
            <a:r>
              <a:rPr lang="en-US" b="1" dirty="0"/>
              <a:t>Exclusive Provider Organization (EPO) Plan Design Structure</a:t>
            </a:r>
          </a:p>
        </p:txBody>
      </p:sp>
      <p:sp>
        <p:nvSpPr>
          <p:cNvPr id="17" name="Rectangle 16">
            <a:extLst>
              <a:ext uri="{FF2B5EF4-FFF2-40B4-BE49-F238E27FC236}">
                <a16:creationId xmlns:a16="http://schemas.microsoft.com/office/drawing/2014/main" id="{F2E566E5-041D-4247-A79E-A185C1420D0E}"/>
              </a:ext>
            </a:extLst>
          </p:cNvPr>
          <p:cNvSpPr/>
          <p:nvPr/>
        </p:nvSpPr>
        <p:spPr>
          <a:xfrm>
            <a:off x="0" y="12345"/>
            <a:ext cx="12192000" cy="1013622"/>
          </a:xfrm>
          <a:prstGeom prst="rect">
            <a:avLst/>
          </a:prstGeom>
          <a:solidFill>
            <a:srgbClr val="244F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u="sng" dirty="0"/>
              <a:t>BENEFIT PLAN DESIGNS THAT OPTIMIZE STEERAGE TO SLUHN</a:t>
            </a:r>
          </a:p>
        </p:txBody>
      </p:sp>
      <p:pic>
        <p:nvPicPr>
          <p:cNvPr id="5" name="Picture 4" descr="St. Luke's University Health Network's 150th Anniversary">
            <a:extLst>
              <a:ext uri="{FF2B5EF4-FFF2-40B4-BE49-F238E27FC236}">
                <a16:creationId xmlns:a16="http://schemas.microsoft.com/office/drawing/2014/main" id="{DF60A471-4B8E-0C1D-0527-74B37F295BF6}"/>
              </a:ext>
            </a:extLst>
          </p:cNvPr>
          <p:cNvPicPr>
            <a:picLocks noChangeAspect="1" noChangeArrowheads="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378950" y="5036083"/>
            <a:ext cx="2266950" cy="1190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5436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20</a:t>
            </a:fld>
            <a:endParaRPr lang="en-US" dirty="0"/>
          </a:p>
        </p:txBody>
      </p:sp>
      <p:sp>
        <p:nvSpPr>
          <p:cNvPr id="7"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583404" y="3031902"/>
            <a:ext cx="6145216" cy="752041"/>
          </a:xfrm>
        </p:spPr>
        <p:txBody>
          <a:bodyPr>
            <a:noAutofit/>
          </a:bodyPr>
          <a:lstStyle/>
          <a:p>
            <a:pPr>
              <a:lnSpc>
                <a:spcPct val="100000"/>
              </a:lnSpc>
              <a:spcBef>
                <a:spcPts val="600"/>
              </a:spcBef>
            </a:pPr>
            <a:r>
              <a:rPr lang="en-US" sz="3600" b="0" dirty="0">
                <a:solidFill>
                  <a:schemeClr val="bg1"/>
                </a:solidFill>
              </a:rPr>
              <a:t>SINGLE YEAR SUMMARY</a:t>
            </a:r>
          </a:p>
        </p:txBody>
      </p:sp>
      <p:sp>
        <p:nvSpPr>
          <p:cNvPr id="9" name="TextBox 8">
            <a:extLst>
              <a:ext uri="{FF2B5EF4-FFF2-40B4-BE49-F238E27FC236}">
                <a16:creationId xmlns:a16="http://schemas.microsoft.com/office/drawing/2014/main" id="{AB8821D0-DEDE-002D-E87D-13E033D5D75F}"/>
              </a:ext>
            </a:extLst>
          </p:cNvPr>
          <p:cNvSpPr txBox="1"/>
          <p:nvPr/>
        </p:nvSpPr>
        <p:spPr>
          <a:xfrm>
            <a:off x="1091590" y="5162550"/>
            <a:ext cx="10881335"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a:t>NOTE:  Please see detailed financial analysis and assumptions used starting on page 34.  </a:t>
            </a:r>
          </a:p>
          <a:p>
            <a:pPr marL="285750" indent="-285750">
              <a:buFont typeface="Arial" panose="020B0604020202020204" pitchFamily="34" charset="0"/>
              <a:buChar char="•"/>
            </a:pPr>
            <a:r>
              <a:rPr lang="en-US" sz="1600" dirty="0"/>
              <a:t>Financial projections do not include 340B contribution margin, which could represent $136 pmpm based upon optimizing 340B through plan design, SLUHN’s approved site(s) with network integration, and development of SLUHN’s proprietary PBM program.</a:t>
            </a:r>
            <a:r>
              <a:rPr lang="en-US" sz="1600" dirty="0">
                <a:highlight>
                  <a:srgbClr val="FFFF00"/>
                </a:highlight>
              </a:rPr>
              <a:t>   </a:t>
            </a:r>
          </a:p>
        </p:txBody>
      </p:sp>
      <p:graphicFrame>
        <p:nvGraphicFramePr>
          <p:cNvPr id="2" name="Table 1">
            <a:extLst>
              <a:ext uri="{FF2B5EF4-FFF2-40B4-BE49-F238E27FC236}">
                <a16:creationId xmlns:a16="http://schemas.microsoft.com/office/drawing/2014/main" id="{C3B946C1-37F9-C136-1BAF-FB0AD7AF4115}"/>
              </a:ext>
            </a:extLst>
          </p:cNvPr>
          <p:cNvGraphicFramePr>
            <a:graphicFrameLocks noGrp="1"/>
          </p:cNvGraphicFramePr>
          <p:nvPr>
            <p:extLst>
              <p:ext uri="{D42A27DB-BD31-4B8C-83A1-F6EECF244321}">
                <p14:modId xmlns:p14="http://schemas.microsoft.com/office/powerpoint/2010/main" val="3352424812"/>
              </p:ext>
            </p:extLst>
          </p:nvPr>
        </p:nvGraphicFramePr>
        <p:xfrm>
          <a:off x="2176272" y="704088"/>
          <a:ext cx="9052560" cy="435864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dirty="0">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dirty="0">
                          <a:solidFill>
                            <a:srgbClr val="FFFFFF">
                              <a:alpha val="100000"/>
                            </a:srgbClr>
                          </a:solidFill>
                          <a:latin typeface="Arial"/>
                          <a:cs typeface="Arial"/>
                          <a:sym typeface="Arial"/>
                        </a:rPr>
                        <a:t>Target estimate with a margin similar to other commercial plans and target (77%) patient steerage.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a margin similar to other commerical plans and target (77%) patient steerage..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a margin similar to other commerical plans and target (77%) patient steerage..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a margin similar to other commerical plans and target (77%) patient steerage..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a margin similar to other commerical plans and target (77%) patient steerage..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a margin similar to other commerical plans and target (77%) patient steerage..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a margin similar to other commerical plans and target (77%) patient steerage..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a margin similar to other commerical plans and target (77%) patient steerage..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273K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1,027K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754K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266K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195K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-133K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$ 1,367K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354K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5,137K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3,770K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$ 1,331K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977K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653K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$ 2,734K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708K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$ 10,275K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7,541K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$ 2,661K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$ 1,953K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$ 1,635K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$ 6,836K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$ 1,771K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$ 25,687K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$ 18,852K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$ 6,654K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$ 4,883K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$ 4,583K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$27,343K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$ 7,082K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$102,749K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$ 75,406K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$26,614K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$19,532K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$19,322K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$54,685K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$14,165K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$205,498K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$150,812K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$53,228K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$39,064K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dirty="0">
                          <a:solidFill>
                            <a:srgbClr val="FFFFFF">
                              <a:alpha val="100000"/>
                            </a:srgbClr>
                          </a:solidFill>
                          <a:latin typeface="Arial"/>
                          <a:cs typeface="Arial"/>
                          <a:sym typeface="Arial"/>
                        </a:rPr>
                        <a:t>$38,974K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BDBD4FD-FFB4-4EDA-B509-71118D163D8A}"/>
              </a:ext>
            </a:extLst>
          </p:cNvPr>
          <p:cNvSpPr/>
          <p:nvPr/>
        </p:nvSpPr>
        <p:spPr>
          <a:xfrm>
            <a:off x="-1" y="-3877"/>
            <a:ext cx="12191999" cy="5021418"/>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fld id="{3AFC719D-C4A7-4544-876E-D411D11AF6C9}" type="slidenum">
              <a:rPr lang="en-US" smtClean="0"/>
              <a:t>21</a:t>
            </a:fld>
            <a:endParaRPr lang="en-US" dirty="0"/>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1"/>
            <a:ext cx="7800623" cy="4447822"/>
          </a:xfrm>
          <a:prstGeom prst="rect">
            <a:avLst/>
          </a:prstGeom>
        </p:spPr>
        <p:txBody>
          <a:bodyPr vert="horz" lIns="91440" tIns="45720" rIns="91440" bIns="45720" rtlCol="0" anchor="ctr">
            <a:normAutofit/>
          </a:bodyPr>
          <a:lstStyle/>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Patient engagement is the failure point of population health efforts. Direct employer participation is key to driving patient engagement.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Key Benefits DTE strategy positioned SLUHN to dramatically grow commercial market share by lowering per-employee plan costs by 11% to 17% at a time when employers are desperate for a path to better value.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SLUHN can demonstrate greater completion rates for Standards of Care for the Chronically Ill, driving better care outcomes. </a:t>
            </a:r>
          </a:p>
          <a:p>
            <a:pPr marL="371480" indent="-342905" defTabSz="914411">
              <a:lnSpc>
                <a:spcPct val="90000"/>
              </a:lnSpc>
              <a:spcAft>
                <a:spcPts val="1800"/>
              </a:spcAft>
              <a:buClr>
                <a:schemeClr val="bg1"/>
              </a:buClr>
              <a:buFont typeface="Wingdings" panose="05000000000000000000" pitchFamily="2" charset="2"/>
              <a:buChar char="§"/>
            </a:pPr>
            <a:r>
              <a:rPr lang="en-US" sz="2000" dirty="0">
                <a:solidFill>
                  <a:schemeClr val="bg1"/>
                </a:solidFill>
              </a:rPr>
              <a:t>Adding SLUHN’s managed care processes will only turbocharge the overall results – Positioning SLUHN as the transformational PA healthcare leader. </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406401"/>
            <a:ext cx="3053314" cy="2504922"/>
          </a:xfrm>
        </p:spPr>
        <p:txBody>
          <a:bodyPr vert="horz" lIns="91440" tIns="45720" rIns="91440" bIns="45720" rtlCol="0" anchor="t">
            <a:normAutofit fontScale="90000"/>
          </a:bodyPr>
          <a:lstStyle/>
          <a:p>
            <a:r>
              <a:rPr lang="en-US" sz="3600" cap="all" dirty="0">
                <a:solidFill>
                  <a:schemeClr val="bg1"/>
                </a:solidFill>
              </a:rPr>
              <a:t>the missing piece to population health success</a:t>
            </a:r>
          </a:p>
        </p:txBody>
      </p:sp>
      <p:sp>
        <p:nvSpPr>
          <p:cNvPr id="7" name="Rectangle 6">
            <a:extLst>
              <a:ext uri="{FF2B5EF4-FFF2-40B4-BE49-F238E27FC236}">
                <a16:creationId xmlns:a16="http://schemas.microsoft.com/office/drawing/2014/main" id="{F35A72B5-FEF9-458B-B242-8157703AFF9D}"/>
              </a:ext>
            </a:extLst>
          </p:cNvPr>
          <p:cNvSpPr/>
          <p:nvPr/>
        </p:nvSpPr>
        <p:spPr>
          <a:xfrm>
            <a:off x="4368882" y="5369550"/>
            <a:ext cx="7292541" cy="757130"/>
          </a:xfrm>
          <a:prstGeom prst="rect">
            <a:avLst/>
          </a:prstGeom>
        </p:spPr>
        <p:txBody>
          <a:bodyPr wrap="square">
            <a:spAutoFit/>
          </a:bodyPr>
          <a:lstStyle/>
          <a:p>
            <a:pPr marL="28576" defTabSz="914411">
              <a:lnSpc>
                <a:spcPct val="90000"/>
              </a:lnSpc>
              <a:spcAft>
                <a:spcPts val="1200"/>
              </a:spcAft>
              <a:buClr>
                <a:schemeClr val="accent5">
                  <a:lumMod val="50000"/>
                </a:schemeClr>
              </a:buClr>
            </a:pPr>
            <a:r>
              <a:rPr lang="en-US" sz="2400" b="1" cap="all" dirty="0">
                <a:solidFill>
                  <a:srgbClr val="000B2E"/>
                </a:solidFill>
              </a:rPr>
              <a:t>SLUHN </a:t>
            </a:r>
            <a:r>
              <a:rPr lang="en-US" sz="2400" b="1" cap="small" dirty="0">
                <a:solidFill>
                  <a:srgbClr val="000B2E"/>
                </a:solidFill>
              </a:rPr>
              <a:t>CAN PROMOTE THESE RESULTS FOR ITS OWN PROGRAM FROM DAY ONE!!</a:t>
            </a:r>
          </a:p>
        </p:txBody>
      </p:sp>
      <p:pic>
        <p:nvPicPr>
          <p:cNvPr id="10"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Table 18">
            <a:extLst>
              <a:ext uri="{FF2B5EF4-FFF2-40B4-BE49-F238E27FC236}">
                <a16:creationId xmlns:a16="http://schemas.microsoft.com/office/drawing/2014/main" id="{44DBAA81-6BB1-41F2-821B-655745573DD6}"/>
              </a:ext>
            </a:extLst>
          </p:cNvPr>
          <p:cNvGraphicFramePr>
            <a:graphicFrameLocks noGrp="1"/>
          </p:cNvGraphicFramePr>
          <p:nvPr>
            <p:extLst>
              <p:ext uri="{D42A27DB-BD31-4B8C-83A1-F6EECF244321}">
                <p14:modId xmlns:p14="http://schemas.microsoft.com/office/powerpoint/2010/main" val="3574623902"/>
              </p:ext>
            </p:extLst>
          </p:nvPr>
        </p:nvGraphicFramePr>
        <p:xfrm>
          <a:off x="4726294" y="136525"/>
          <a:ext cx="7205513" cy="6625708"/>
        </p:xfrm>
        <a:graphic>
          <a:graphicData uri="http://schemas.openxmlformats.org/drawingml/2006/table">
            <a:tbl>
              <a:tblPr firstRow="1" firstCol="1" bandRow="1"/>
              <a:tblGrid>
                <a:gridCol w="2597015">
                  <a:extLst>
                    <a:ext uri="{9D8B030D-6E8A-4147-A177-3AD203B41FA5}">
                      <a16:colId xmlns:a16="http://schemas.microsoft.com/office/drawing/2014/main" val="2366274540"/>
                    </a:ext>
                  </a:extLst>
                </a:gridCol>
                <a:gridCol w="1444924">
                  <a:extLst>
                    <a:ext uri="{9D8B030D-6E8A-4147-A177-3AD203B41FA5}">
                      <a16:colId xmlns:a16="http://schemas.microsoft.com/office/drawing/2014/main" val="3062753151"/>
                    </a:ext>
                  </a:extLst>
                </a:gridCol>
                <a:gridCol w="1581787">
                  <a:extLst>
                    <a:ext uri="{9D8B030D-6E8A-4147-A177-3AD203B41FA5}">
                      <a16:colId xmlns:a16="http://schemas.microsoft.com/office/drawing/2014/main" val="3107867473"/>
                    </a:ext>
                  </a:extLst>
                </a:gridCol>
                <a:gridCol w="1581787">
                  <a:extLst>
                    <a:ext uri="{9D8B030D-6E8A-4147-A177-3AD203B41FA5}">
                      <a16:colId xmlns:a16="http://schemas.microsoft.com/office/drawing/2014/main" val="1167931325"/>
                    </a:ext>
                  </a:extLst>
                </a:gridCol>
              </a:tblGrid>
              <a:tr h="144887">
                <a:tc>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CHRONIC CONDITION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A5A5A5"/>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gridSpan="3">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MINIMUM ANNUAL CARE RECOMMENDED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FFFFFF"/>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66498281"/>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ASTHMA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 (for patients 10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3001458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ATRIAL FIBRILLATION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06190503"/>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OBSTRUCTIVE PULMONARY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41583740"/>
                  </a:ext>
                </a:extLst>
              </a:tr>
              <a:tr h="591678">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VENOUS THROMBOTIC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Thrombo-embolic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48317387"/>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COPD WITH PULMONARY HYPERTENSION/COR PULMONALE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12 months of supplemental 02 Tx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5065669"/>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KIDNEY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Hgb or Hcrt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Calcium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Phosphorus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28746677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CONGESTIVE HEART FAILURE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412705431"/>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CORONARY ARTERY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56214346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DEPRESSION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18016476"/>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Glycohemoglobins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IF no nephropathy Dx or ACE/ARB Rx,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Urine Albumin/Creatinine ratio, Total Protein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21537549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EPILEPSY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160324191"/>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HUMAN IMMUNODEFICIENCY VIRUS INFECTION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2CBCs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 T-Cell/CD-4 Count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HIV Quantifications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Pap Smear (for women only, 21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645771183"/>
                  </a:ext>
                </a:extLst>
              </a:tr>
              <a:tr h="144887">
                <a:tc>
                  <a:txBody>
                    <a:bodyPr/>
                    <a:lstStyle/>
                    <a:p>
                      <a:pPr marL="0" marR="0">
                        <a:lnSpc>
                          <a:spcPct val="107000"/>
                        </a:lnSpc>
                        <a:spcBef>
                          <a:spcPts val="0"/>
                        </a:spcBef>
                        <a:spcAft>
                          <a:spcPts val="0"/>
                        </a:spcAft>
                      </a:pPr>
                      <a:r>
                        <a:rPr lang="en-US" sz="900" kern="1200" cap="all" baseline="0" dirty="0">
                          <a:solidFill>
                            <a:schemeClr val="tx1"/>
                          </a:solidFill>
                          <a:effectLst/>
                          <a:latin typeface="+mn-lt"/>
                          <a:ea typeface="+mn-ea"/>
                          <a:cs typeface="+mn-cs"/>
                        </a:rPr>
                        <a:t>Hyperlipidemia</a:t>
                      </a:r>
                      <a:endParaRPr lang="en-US" sz="900" cap="all"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672632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HYPERTENSION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792869988"/>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T4</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751188136"/>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HYPOTHYROIDISM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1285030"/>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METABOLIC SYNDROME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6926027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MULTIPLE 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01061009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PARKINSON'S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2827539696"/>
                  </a:ext>
                </a:extLst>
              </a:tr>
              <a:tr h="599619">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PERIPHERAL ARTERIAL DISEASE (ATHEROSCLEROSIS]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Peripheral Vascular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07869528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75589749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POLYMYALGIA RHEUMATICA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ESR or CRP</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CBC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413089292"/>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PULMONARY HYPERTENSION (UNRELATED TO COPD)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319373926"/>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REGIONAL ENTERITIS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32154129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RHEUMATOID ARTHRITIS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6307893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SLEEP APNEA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608131130"/>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ULCERATIVE COLITIS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48385909"/>
                  </a:ext>
                </a:extLst>
              </a:tr>
            </a:tbl>
          </a:graphicData>
        </a:graphic>
      </p:graphicFrame>
      <p:sp>
        <p:nvSpPr>
          <p:cNvPr id="8" name="Title 1">
            <a:extLst>
              <a:ext uri="{FF2B5EF4-FFF2-40B4-BE49-F238E27FC236}">
                <a16:creationId xmlns:a16="http://schemas.microsoft.com/office/drawing/2014/main" id="{F97470F7-7696-413D-9209-D155562954BB}"/>
              </a:ext>
            </a:extLst>
          </p:cNvPr>
          <p:cNvSpPr txBox="1">
            <a:spLocks/>
          </p:cNvSpPr>
          <p:nvPr/>
        </p:nvSpPr>
        <p:spPr>
          <a:xfrm>
            <a:off x="657037" y="1646141"/>
            <a:ext cx="3494834" cy="952500"/>
          </a:xfrm>
          <a:prstGeom prst="rect">
            <a:avLst/>
          </a:prstGeom>
        </p:spPr>
        <p:txBody>
          <a:bodyPr vert="horz" lIns="91440" tIns="45720" rIns="91440" bIns="45720" rtlCol="0" anchor="ctr">
            <a:normAutofit fontScale="92500" lnSpcReduction="10000"/>
          </a:bodyPr>
          <a:lstStyle>
            <a:lvl1pPr algn="ctr" defTabSz="457200" rtl="0" eaLnBrk="1" latinLnBrk="0" hangingPunct="1">
              <a:spcBef>
                <a:spcPct val="0"/>
              </a:spcBef>
              <a:buNone/>
              <a:defRPr sz="3200" b="1" kern="1200">
                <a:solidFill>
                  <a:srgbClr val="F3734E"/>
                </a:solidFill>
                <a:latin typeface="Helvetica"/>
                <a:ea typeface="+mj-ea"/>
                <a:cs typeface="Helvetica"/>
              </a:defRPr>
            </a:lvl1pPr>
          </a:lstStyle>
          <a:p>
            <a:pPr algn="l"/>
            <a:r>
              <a:rPr lang="en-US" dirty="0">
                <a:solidFill>
                  <a:schemeClr val="bg1"/>
                </a:solidFill>
                <a:latin typeface="+mj-lt"/>
              </a:rPr>
              <a:t>CHRONIC DISEASE MANAGEMENT   </a:t>
            </a:r>
          </a:p>
        </p:txBody>
      </p:sp>
      <p:sp>
        <p:nvSpPr>
          <p:cNvPr id="10" name="TextBox 9">
            <a:extLst>
              <a:ext uri="{FF2B5EF4-FFF2-40B4-BE49-F238E27FC236}">
                <a16:creationId xmlns:a16="http://schemas.microsoft.com/office/drawing/2014/main" id="{B8534B2B-9B09-497C-8FF0-E0C8506830D0}"/>
              </a:ext>
            </a:extLst>
          </p:cNvPr>
          <p:cNvSpPr txBox="1"/>
          <p:nvPr/>
        </p:nvSpPr>
        <p:spPr>
          <a:xfrm>
            <a:off x="689518" y="2889855"/>
            <a:ext cx="2794135" cy="2554545"/>
          </a:xfrm>
          <a:prstGeom prst="rect">
            <a:avLst/>
          </a:prstGeom>
          <a:noFill/>
        </p:spPr>
        <p:txBody>
          <a:bodyPr wrap="square" rtlCol="0">
            <a:spAutoFit/>
          </a:bodyPr>
          <a:lstStyle/>
          <a:p>
            <a:pPr>
              <a:spcBef>
                <a:spcPct val="0"/>
              </a:spcBef>
              <a:buClrTx/>
              <a:buSzTx/>
              <a:buFontTx/>
              <a:buNone/>
            </a:pPr>
            <a:r>
              <a:rPr lang="en-US" altLang="en-US" sz="2000" dirty="0">
                <a:solidFill>
                  <a:schemeClr val="bg1"/>
                </a:solidFill>
                <a:latin typeface="+mj-lt"/>
              </a:rPr>
              <a:t>The chronic diseases identified include a list of services (i.e. exams, lab work and diagnostics) rendered by a network provider payable at 100% and not subject to the deductible or copay. </a:t>
            </a:r>
            <a:endParaRPr lang="en-US" sz="2000" dirty="0">
              <a:solidFill>
                <a:schemeClr val="bg1"/>
              </a:solidFill>
              <a:latin typeface="+mj-lt"/>
            </a:endParaRPr>
          </a:p>
        </p:txBody>
      </p:sp>
      <p:sp>
        <p:nvSpPr>
          <p:cNvPr id="16" name="Slide Number Placeholder 15">
            <a:extLst>
              <a:ext uri="{FF2B5EF4-FFF2-40B4-BE49-F238E27FC236}">
                <a16:creationId xmlns:a16="http://schemas.microsoft.com/office/drawing/2014/main" id="{1C3A6D29-B425-4835-A19F-07D86D1044DB}"/>
              </a:ext>
            </a:extLst>
          </p:cNvPr>
          <p:cNvSpPr>
            <a:spLocks noGrp="1"/>
          </p:cNvSpPr>
          <p:nvPr>
            <p:ph type="sldNum" sz="quarter" idx="12"/>
          </p:nvPr>
        </p:nvSpPr>
        <p:spPr>
          <a:xfrm>
            <a:off x="9089572" y="6424927"/>
            <a:ext cx="2743200" cy="365125"/>
          </a:xfrm>
        </p:spPr>
        <p:txBody>
          <a:bodyPr/>
          <a:lstStyle/>
          <a:p>
            <a:fld id="{3AFC719D-C4A7-4544-876E-D411D11AF6C9}" type="slidenum">
              <a:rPr lang="en-US" smtClean="0"/>
              <a:t>22</a:t>
            </a:fld>
            <a:endParaRPr lang="en-US" dirty="0"/>
          </a:p>
        </p:txBody>
      </p:sp>
      <p:sp>
        <p:nvSpPr>
          <p:cNvPr id="12" name="Rectangle 11">
            <a:extLst>
              <a:ext uri="{FF2B5EF4-FFF2-40B4-BE49-F238E27FC236}">
                <a16:creationId xmlns:a16="http://schemas.microsoft.com/office/drawing/2014/main" id="{5B293367-A455-490C-8A35-4511AA3B90CE}"/>
              </a:ext>
            </a:extLst>
          </p:cNvPr>
          <p:cNvSpPr/>
          <p:nvPr/>
        </p:nvSpPr>
        <p:spPr>
          <a:xfrm>
            <a:off x="-1" y="984"/>
            <a:ext cx="4275989" cy="6871084"/>
          </a:xfrm>
          <a:prstGeom prst="rect">
            <a:avLst/>
          </a:prstGeom>
          <a:solidFill>
            <a:srgbClr val="244F9A">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rIns="457200" rtlCol="0" anchor="ctr"/>
          <a:lstStyle/>
          <a:p>
            <a:pPr>
              <a:spcBef>
                <a:spcPct val="0"/>
              </a:spcBef>
              <a:buClrTx/>
              <a:buSzTx/>
              <a:buFontTx/>
              <a:buNone/>
            </a:pPr>
            <a:endParaRPr lang="en-US" sz="1600" b="1" spc="120" dirty="0">
              <a:solidFill>
                <a:schemeClr val="bg1"/>
              </a:solidFill>
            </a:endParaRPr>
          </a:p>
        </p:txBody>
      </p:sp>
      <p:sp>
        <p:nvSpPr>
          <p:cNvPr id="2" name="TextBox 1">
            <a:extLst>
              <a:ext uri="{FF2B5EF4-FFF2-40B4-BE49-F238E27FC236}">
                <a16:creationId xmlns:a16="http://schemas.microsoft.com/office/drawing/2014/main" id="{0255DED4-CAB2-4C40-8464-BA04A291D04E}"/>
              </a:ext>
            </a:extLst>
          </p:cNvPr>
          <p:cNvSpPr txBox="1"/>
          <p:nvPr/>
        </p:nvSpPr>
        <p:spPr>
          <a:xfrm>
            <a:off x="0" y="523930"/>
            <a:ext cx="4275989" cy="830997"/>
          </a:xfrm>
          <a:prstGeom prst="rect">
            <a:avLst/>
          </a:prstGeom>
          <a:noFill/>
        </p:spPr>
        <p:txBody>
          <a:bodyPr wrap="square" rtlCol="0">
            <a:spAutoFit/>
          </a:bodyPr>
          <a:lstStyle/>
          <a:p>
            <a:pPr marL="338142"/>
            <a:r>
              <a:rPr lang="en-US" sz="2400" b="1" dirty="0">
                <a:solidFill>
                  <a:srgbClr val="FFFFFF"/>
                </a:solidFill>
                <a:latin typeface="Arial" panose="020B0604020202020204" pitchFamily="34" charset="0"/>
                <a:cs typeface="Arial" panose="020B0604020202020204" pitchFamily="34" charset="0"/>
              </a:rPr>
              <a:t>INTEGRATION TO SLUHN EPIC SYSTEM</a:t>
            </a:r>
            <a:endParaRPr lang="en-US" sz="2400" spc="150" dirty="0">
              <a:solidFill>
                <a:schemeClr val="bg1"/>
              </a:solidFill>
              <a:latin typeface="Arial" panose="020B0604020202020204" pitchFamily="34" charset="0"/>
              <a:cs typeface="Arial" panose="020B0604020202020204" pitchFamily="34" charset="0"/>
            </a:endParaRPr>
          </a:p>
        </p:txBody>
      </p:sp>
      <p:cxnSp>
        <p:nvCxnSpPr>
          <p:cNvPr id="18" name="Straight Connector 17">
            <a:extLst>
              <a:ext uri="{FF2B5EF4-FFF2-40B4-BE49-F238E27FC236}">
                <a16:creationId xmlns:a16="http://schemas.microsoft.com/office/drawing/2014/main" id="{654FDC49-A8BF-414E-8760-AA338D9AABBF}"/>
              </a:ext>
            </a:extLst>
          </p:cNvPr>
          <p:cNvCxnSpPr>
            <a:cxnSpLocks/>
          </p:cNvCxnSpPr>
          <p:nvPr/>
        </p:nvCxnSpPr>
        <p:spPr>
          <a:xfrm>
            <a:off x="437631" y="1627549"/>
            <a:ext cx="3207598" cy="0"/>
          </a:xfrm>
          <a:prstGeom prst="line">
            <a:avLst/>
          </a:prstGeom>
          <a:ln>
            <a:solidFill>
              <a:schemeClr val="bg1"/>
            </a:solidFill>
          </a:ln>
        </p:spPr>
        <p:style>
          <a:lnRef idx="1">
            <a:schemeClr val="accent5"/>
          </a:lnRef>
          <a:fillRef idx="0">
            <a:schemeClr val="accent5"/>
          </a:fillRef>
          <a:effectRef idx="0">
            <a:schemeClr val="accent5"/>
          </a:effectRef>
          <a:fontRef idx="minor">
            <a:schemeClr val="tx1"/>
          </a:fontRef>
        </p:style>
      </p:cxnSp>
      <p:sp>
        <p:nvSpPr>
          <p:cNvPr id="13" name="Freeform: Shape 12">
            <a:extLst>
              <a:ext uri="{FF2B5EF4-FFF2-40B4-BE49-F238E27FC236}">
                <a16:creationId xmlns:a16="http://schemas.microsoft.com/office/drawing/2014/main" id="{85E02AAF-B329-4E86-B476-C851852352F8}"/>
              </a:ext>
            </a:extLst>
          </p:cNvPr>
          <p:cNvSpPr/>
          <p:nvPr/>
        </p:nvSpPr>
        <p:spPr>
          <a:xfrm rot="16200000">
            <a:off x="2097937" y="4698539"/>
            <a:ext cx="1873602" cy="2482501"/>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3" name="Footer Placeholder 2">
            <a:extLst>
              <a:ext uri="{FF2B5EF4-FFF2-40B4-BE49-F238E27FC236}">
                <a16:creationId xmlns:a16="http://schemas.microsoft.com/office/drawing/2014/main" id="{897791F9-80A6-4A45-A936-C4A4E5494AFD}"/>
              </a:ext>
            </a:extLst>
          </p:cNvPr>
          <p:cNvSpPr>
            <a:spLocks noGrp="1"/>
          </p:cNvSpPr>
          <p:nvPr>
            <p:ph type="ftr" sz="quarter" idx="11"/>
          </p:nvPr>
        </p:nvSpPr>
        <p:spPr>
          <a:xfrm>
            <a:off x="90451" y="6424927"/>
            <a:ext cx="3871949" cy="323354"/>
          </a:xfrm>
        </p:spPr>
        <p:txBody>
          <a:bodyPr/>
          <a:lstStyle/>
          <a:p>
            <a:r>
              <a:rPr lang="en-US" dirty="0"/>
              <a:t>Key Benefit Administrators</a:t>
            </a:r>
          </a:p>
        </p:txBody>
      </p:sp>
      <p:pic>
        <p:nvPicPr>
          <p:cNvPr id="2050"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168" y="2044461"/>
            <a:ext cx="3494834" cy="19584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37C4D6D-E015-C93E-59BD-2C619644D714}"/>
              </a:ext>
            </a:extLst>
          </p:cNvPr>
          <p:cNvSpPr txBox="1"/>
          <p:nvPr/>
        </p:nvSpPr>
        <p:spPr>
          <a:xfrm>
            <a:off x="260193" y="4477165"/>
            <a:ext cx="3494834" cy="1200329"/>
          </a:xfrm>
          <a:prstGeom prst="rect">
            <a:avLst/>
          </a:prstGeom>
          <a:noFill/>
        </p:spPr>
        <p:txBody>
          <a:bodyPr wrap="square">
            <a:spAutoFit/>
          </a:bodyPr>
          <a:lstStyle/>
          <a:p>
            <a:pPr marL="0" algn="l" rtl="0" eaLnBrk="1" latinLnBrk="0" hangingPunct="1">
              <a:spcBef>
                <a:spcPts val="0"/>
              </a:spcBef>
              <a:spcAft>
                <a:spcPts val="0"/>
              </a:spcAft>
            </a:pPr>
            <a:r>
              <a:rPr lang="en-US" sz="1800" kern="1200" spc="120" dirty="0">
                <a:solidFill>
                  <a:srgbClr val="FFFFFF"/>
                </a:solidFill>
                <a:effectLst/>
                <a:latin typeface="Calibri" panose="020F0502020204030204" pitchFamily="34" charset="0"/>
                <a:ea typeface="+mn-ea"/>
                <a:cs typeface="+mn-cs"/>
              </a:rPr>
              <a:t>KBA shares evidence-based standards of care for 27 chronic conditions</a:t>
            </a:r>
            <a:r>
              <a:rPr lang="en-US" spc="120" dirty="0">
                <a:solidFill>
                  <a:srgbClr val="FFFFFF"/>
                </a:solidFill>
                <a:latin typeface="Calibri" panose="020F0502020204030204" pitchFamily="34" charset="0"/>
              </a:rPr>
              <a:t> directly into the Epic medical system. </a:t>
            </a:r>
            <a:endParaRPr lang="en-US" dirty="0">
              <a:effectLst/>
            </a:endParaRPr>
          </a:p>
        </p:txBody>
      </p:sp>
    </p:spTree>
    <p:custDataLst>
      <p:tags r:id="rId1"/>
    </p:custDataLst>
    <p:extLst>
      <p:ext uri="{BB962C8B-B14F-4D97-AF65-F5344CB8AC3E}">
        <p14:creationId xmlns:p14="http://schemas.microsoft.com/office/powerpoint/2010/main" val="29844336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6B12664C-5A76-42DD-9387-37E05409FCD6}"/>
              </a:ext>
            </a:extLst>
          </p:cNvPr>
          <p:cNvPicPr>
            <a:picLocks noChangeAspect="1" noChangeArrowheads="1"/>
          </p:cNvPicPr>
          <p:nvPr/>
        </p:nvPicPr>
        <p:blipFill>
          <a:blip r:embed="rId2">
            <a:alphaModFix amt="2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a:fillRect/>
          </a:stretch>
        </p:blipFill>
        <p:spPr bwMode="auto">
          <a:xfrm>
            <a:off x="-1" y="14068"/>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244F9A">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DB678D7-E940-4D9A-BC92-54EDE0B96DB2}"/>
              </a:ext>
            </a:extLst>
          </p:cNvPr>
          <p:cNvSpPr>
            <a:spLocks noGrp="1"/>
          </p:cNvSpPr>
          <p:nvPr>
            <p:ph type="title"/>
          </p:nvPr>
        </p:nvSpPr>
        <p:spPr>
          <a:xfrm>
            <a:off x="444305" y="351058"/>
            <a:ext cx="10515600" cy="740459"/>
          </a:xfrm>
        </p:spPr>
        <p:txBody>
          <a:bodyPr>
            <a:normAutofit/>
          </a:bodyPr>
          <a:lstStyle/>
          <a:p>
            <a:r>
              <a:rPr lang="en-US" dirty="0">
                <a:solidFill>
                  <a:schemeClr val="bg1"/>
                </a:solidFill>
              </a:rPr>
              <a:t>Transparent PBM Integration </a:t>
            </a:r>
          </a:p>
        </p:txBody>
      </p:sp>
      <p:sp>
        <p:nvSpPr>
          <p:cNvPr id="3" name="Footer Placeholder 2">
            <a:extLst>
              <a:ext uri="{FF2B5EF4-FFF2-40B4-BE49-F238E27FC236}">
                <a16:creationId xmlns:a16="http://schemas.microsoft.com/office/drawing/2014/main" id="{37D3F8B8-2E49-4602-96D2-63DBC785BD21}"/>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p:txBody>
          <a:bodyPr/>
          <a:lstStyle/>
          <a:p>
            <a:fld id="{3AFC719D-C4A7-4544-876E-D411D11AF6C9}" type="slidenum">
              <a:rPr lang="en-US" smtClean="0"/>
              <a:t>23</a:t>
            </a:fld>
            <a:endParaRPr lang="en-US" dirty="0"/>
          </a:p>
        </p:txBody>
      </p:sp>
      <p:sp>
        <p:nvSpPr>
          <p:cNvPr id="7" name="Rectangle 6">
            <a:extLst>
              <a:ext uri="{FF2B5EF4-FFF2-40B4-BE49-F238E27FC236}">
                <a16:creationId xmlns:a16="http://schemas.microsoft.com/office/drawing/2014/main" id="{8AFDC632-7C4B-44BF-B435-0CED1B7481B2}"/>
              </a:ext>
            </a:extLst>
          </p:cNvPr>
          <p:cNvSpPr/>
          <p:nvPr/>
        </p:nvSpPr>
        <p:spPr>
          <a:xfrm>
            <a:off x="562791" y="1138424"/>
            <a:ext cx="4970417" cy="1785104"/>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cs typeface="Century Gothic"/>
              </a:rPr>
              <a:t>Support of SLUHN’s retail pharmacy(s)</a:t>
            </a:r>
          </a:p>
          <a:p>
            <a:pPr marL="285753" indent="-285753">
              <a:spcBef>
                <a:spcPts val="600"/>
              </a:spcBef>
              <a:buFont typeface="Wingdings" panose="05000000000000000000" pitchFamily="2" charset="2"/>
              <a:buChar char="§"/>
            </a:pPr>
            <a:r>
              <a:rPr lang="en-US" sz="2000" dirty="0">
                <a:solidFill>
                  <a:schemeClr val="bg1"/>
                </a:solidFill>
                <a:cs typeface="Century Gothic"/>
              </a:rPr>
              <a:t>Optimize SLUHN’s 340B drug pricing program</a:t>
            </a:r>
          </a:p>
          <a:p>
            <a:pPr marL="285753" indent="-285753">
              <a:spcBef>
                <a:spcPts val="600"/>
              </a:spcBef>
              <a:buFont typeface="Wingdings" panose="05000000000000000000" pitchFamily="2" charset="2"/>
              <a:buChar char="§"/>
            </a:pPr>
            <a:r>
              <a:rPr lang="en-US" sz="2000" dirty="0">
                <a:solidFill>
                  <a:schemeClr val="bg1"/>
                </a:solidFill>
              </a:rPr>
              <a:t>Allows SLUHN to create its own PBM program if desired</a:t>
            </a:r>
          </a:p>
        </p:txBody>
      </p:sp>
      <p:sp>
        <p:nvSpPr>
          <p:cNvPr id="8" name="Rectangle 7">
            <a:extLst>
              <a:ext uri="{FF2B5EF4-FFF2-40B4-BE49-F238E27FC236}">
                <a16:creationId xmlns:a16="http://schemas.microsoft.com/office/drawing/2014/main" id="{BA8BB229-42C0-4FB6-AD0C-615BF4260145}"/>
              </a:ext>
            </a:extLst>
          </p:cNvPr>
          <p:cNvSpPr/>
          <p:nvPr/>
        </p:nvSpPr>
        <p:spPr>
          <a:xfrm>
            <a:off x="6095999" y="1173180"/>
            <a:ext cx="5715585" cy="2092881"/>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rPr>
              <a:t>Custom telephone number with personalized scripting and separate call tracking &amp; reporting</a:t>
            </a:r>
          </a:p>
          <a:p>
            <a:pPr marL="285753" indent="-285753">
              <a:spcBef>
                <a:spcPts val="600"/>
              </a:spcBef>
              <a:buFont typeface="Wingdings" panose="05000000000000000000" pitchFamily="2" charset="2"/>
              <a:buChar char="§"/>
            </a:pPr>
            <a:r>
              <a:rPr lang="en-US" sz="2000" dirty="0">
                <a:solidFill>
                  <a:schemeClr val="bg1"/>
                </a:solidFill>
              </a:rPr>
              <a:t>Fully customizable member welcome booklet &amp; materials</a:t>
            </a:r>
          </a:p>
          <a:p>
            <a:pPr marL="285753" indent="-285753">
              <a:spcBef>
                <a:spcPts val="600"/>
              </a:spcBef>
              <a:buFont typeface="Wingdings" panose="05000000000000000000" pitchFamily="2" charset="2"/>
              <a:buChar char="§"/>
            </a:pPr>
            <a:r>
              <a:rPr lang="en-US" sz="2000" dirty="0">
                <a:solidFill>
                  <a:schemeClr val="bg1"/>
                </a:solidFill>
              </a:rPr>
              <a:t>White labeled formulary document and marketing materials</a:t>
            </a:r>
          </a:p>
        </p:txBody>
      </p:sp>
      <p:sp>
        <p:nvSpPr>
          <p:cNvPr id="9" name="Rectangle 8">
            <a:extLst>
              <a:ext uri="{FF2B5EF4-FFF2-40B4-BE49-F238E27FC236}">
                <a16:creationId xmlns:a16="http://schemas.microsoft.com/office/drawing/2014/main" id="{CA0477AD-A883-49D0-84C0-1846E555302E}"/>
              </a:ext>
            </a:extLst>
          </p:cNvPr>
          <p:cNvSpPr/>
          <p:nvPr/>
        </p:nvSpPr>
        <p:spPr>
          <a:xfrm>
            <a:off x="472441" y="3804933"/>
            <a:ext cx="5168707" cy="2139047"/>
          </a:xfrm>
          <a:prstGeom prst="rect">
            <a:avLst/>
          </a:prstGeom>
        </p:spPr>
        <p:txBody>
          <a:bodyPr wrap="square">
            <a:spAutoFit/>
          </a:bodyPr>
          <a:lstStyle/>
          <a:p>
            <a:pPr>
              <a:spcBef>
                <a:spcPts val="600"/>
              </a:spcBef>
              <a:spcAft>
                <a:spcPts val="600"/>
              </a:spcAft>
            </a:pPr>
            <a:r>
              <a:rPr lang="en-US" b="1" spc="150" dirty="0">
                <a:solidFill>
                  <a:srgbClr val="59CAE8"/>
                </a:solidFill>
              </a:rPr>
              <a:t>CUSTOM CLIENT SUPPORT</a:t>
            </a:r>
            <a:r>
              <a:rPr lang="en-US" b="1" spc="150" dirty="0">
                <a:solidFill>
                  <a:srgbClr val="0063A3"/>
                </a:solidFill>
              </a:rPr>
              <a:t>:</a:t>
            </a:r>
          </a:p>
          <a:p>
            <a:pPr marL="285753" indent="-285753">
              <a:spcBef>
                <a:spcPts val="600"/>
              </a:spcBef>
              <a:buFont typeface="Wingdings" panose="05000000000000000000" pitchFamily="2" charset="2"/>
              <a:buChar char="§"/>
            </a:pPr>
            <a:r>
              <a:rPr lang="en-US" dirty="0"/>
              <a:t>Specialized call center capabilities</a:t>
            </a:r>
          </a:p>
          <a:p>
            <a:pPr marL="285753" indent="-285753">
              <a:spcBef>
                <a:spcPts val="600"/>
              </a:spcBef>
              <a:buFont typeface="Wingdings" panose="05000000000000000000" pitchFamily="2" charset="2"/>
              <a:buChar char="§"/>
            </a:pPr>
            <a:r>
              <a:rPr lang="en-US" dirty="0"/>
              <a:t>Fully customizable plan designs</a:t>
            </a:r>
          </a:p>
          <a:p>
            <a:pPr marL="285753" indent="-285753">
              <a:spcBef>
                <a:spcPts val="600"/>
              </a:spcBef>
              <a:buFont typeface="Wingdings" panose="05000000000000000000" pitchFamily="2" charset="2"/>
              <a:buChar char="§"/>
            </a:pPr>
            <a:r>
              <a:rPr lang="en-US" dirty="0"/>
              <a:t>Operational access to the platform</a:t>
            </a:r>
          </a:p>
          <a:p>
            <a:pPr marL="285753" indent="-285753">
              <a:spcBef>
                <a:spcPts val="600"/>
              </a:spcBef>
              <a:buFont typeface="Wingdings" panose="05000000000000000000" pitchFamily="2" charset="2"/>
              <a:buChar char="§"/>
            </a:pPr>
            <a:r>
              <a:rPr lang="en-US" dirty="0"/>
              <a:t>Customized process and functions to promote DTE strategy</a:t>
            </a:r>
          </a:p>
        </p:txBody>
      </p:sp>
      <p:sp>
        <p:nvSpPr>
          <p:cNvPr id="10"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a:spcBef>
                <a:spcPts val="600"/>
              </a:spcBef>
              <a:spcAft>
                <a:spcPts val="600"/>
              </a:spcAft>
            </a:pPr>
            <a:r>
              <a:rPr lang="en-US" b="1" spc="150" dirty="0">
                <a:solidFill>
                  <a:srgbClr val="59CAE8"/>
                </a:solidFill>
              </a:rPr>
              <a:t>CLINICAL FLEXIBILITY: </a:t>
            </a:r>
          </a:p>
          <a:p>
            <a:pPr>
              <a:spcBef>
                <a:spcPts val="600"/>
              </a:spcBef>
            </a:pPr>
            <a:r>
              <a:rPr lang="en-US" dirty="0"/>
              <a:t>Full portfolio of custom formulary offerings – with optimized formulary shield</a:t>
            </a:r>
          </a:p>
          <a:p>
            <a:pPr>
              <a:spcBef>
                <a:spcPts val="600"/>
              </a:spcBef>
            </a:pPr>
            <a:r>
              <a:rPr lang="en-US" dirty="0"/>
              <a:t>Clinical programs that drive towards overall DTE strategy</a:t>
            </a:r>
          </a:p>
          <a:p>
            <a:pPr>
              <a:spcBef>
                <a:spcPts val="600"/>
              </a:spcBef>
            </a:pPr>
            <a:r>
              <a:rPr lang="en-US" dirty="0"/>
              <a:t>Options for additional drug savings by driving members to lower cost alternatives</a:t>
            </a:r>
          </a:p>
          <a:p>
            <a:pPr>
              <a:spcBef>
                <a:spcPts val="600"/>
              </a:spcBef>
            </a:pPr>
            <a:r>
              <a:rPr lang="en-US" dirty="0"/>
              <a:t>Flexibility to customize or layer on utilization management programs</a:t>
            </a:r>
          </a:p>
        </p:txBody>
      </p:sp>
    </p:spTree>
    <p:extLst>
      <p:ext uri="{BB962C8B-B14F-4D97-AF65-F5344CB8AC3E}">
        <p14:creationId xmlns:p14="http://schemas.microsoft.com/office/powerpoint/2010/main" val="9027066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244F9A">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00000"/>
              </a:lnSpc>
            </a:pPr>
            <a:r>
              <a:rPr lang="en-US" dirty="0"/>
              <a:t>Tokio Marine</a:t>
            </a:r>
          </a:p>
          <a:p>
            <a:pPr algn="ctr">
              <a:lnSpc>
                <a:spcPct val="200000"/>
              </a:lnSpc>
            </a:pPr>
            <a:r>
              <a:rPr lang="en-US" dirty="0"/>
              <a:t>Nationwide</a:t>
            </a:r>
          </a:p>
          <a:p>
            <a:pPr algn="ctr">
              <a:lnSpc>
                <a:spcPct val="200000"/>
              </a:lnSpc>
            </a:pPr>
            <a:r>
              <a:rPr lang="en-US" dirty="0"/>
              <a:t>Berkshire Hathaway</a:t>
            </a:r>
          </a:p>
          <a:p>
            <a:pPr algn="ctr">
              <a:lnSpc>
                <a:spcPct val="200000"/>
              </a:lnSpc>
            </a:pPr>
            <a:r>
              <a:rPr lang="en-US" dirty="0"/>
              <a:t>Sun Life</a:t>
            </a:r>
          </a:p>
          <a:p>
            <a:pPr algn="ctr">
              <a:lnSpc>
                <a:spcPct val="200000"/>
              </a:lnSpc>
            </a:pPr>
            <a:r>
              <a:rPr lang="en-US" dirty="0"/>
              <a:t>Liberty Mutual</a:t>
            </a:r>
          </a:p>
          <a:p>
            <a:pPr algn="ctr">
              <a:lnSpc>
                <a:spcPct val="200000"/>
              </a:lnSpc>
            </a:pPr>
            <a:r>
              <a:rPr lang="en-US" dirty="0"/>
              <a:t>Granular (Google)</a:t>
            </a:r>
          </a:p>
          <a:p>
            <a:pPr algn="ctr">
              <a:lnSpc>
                <a:spcPct val="200000"/>
              </a:lnSpc>
            </a:pPr>
            <a:r>
              <a:rPr lang="en-US" dirty="0"/>
              <a:t>Companion Life</a:t>
            </a:r>
          </a:p>
          <a:p>
            <a:pPr algn="ctr">
              <a:lnSpc>
                <a:spcPct val="200000"/>
              </a:lnSpc>
            </a:pPr>
            <a:r>
              <a:rPr lang="en-US" dirty="0"/>
              <a:t>Crum &amp; Forster</a:t>
            </a:r>
          </a:p>
          <a:p>
            <a:pPr algn="ctr">
              <a:lnSpc>
                <a:spcPct val="200000"/>
              </a:lnSpc>
            </a:pPr>
            <a:r>
              <a:rPr lang="en-US" dirty="0"/>
              <a:t>American Fidelity</a:t>
            </a:r>
          </a:p>
          <a:p>
            <a:pPr algn="ctr">
              <a:lnSpc>
                <a:spcPct val="200000"/>
              </a:lnSpc>
            </a:pPr>
            <a:r>
              <a:rPr lang="en-US" dirty="0"/>
              <a:t>RGA</a:t>
            </a:r>
          </a:p>
          <a:p>
            <a:pPr algn="ctr"/>
            <a:endParaRPr lang="en-US" dirty="0"/>
          </a:p>
        </p:txBody>
      </p:sp>
      <p:sp>
        <p:nvSpPr>
          <p:cNvPr id="2"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59CAE8"/>
                </a:solidFill>
              </a:rPr>
              <a:t>STOP-LOSS INSURANCE</a:t>
            </a:r>
          </a:p>
        </p:txBody>
      </p:sp>
      <p:sp>
        <p:nvSpPr>
          <p:cNvPr id="3" name="Footer Placeholder 2">
            <a:extLst>
              <a:ext uri="{FF2B5EF4-FFF2-40B4-BE49-F238E27FC236}">
                <a16:creationId xmlns:a16="http://schemas.microsoft.com/office/drawing/2014/main" id="{A577469E-ACE0-4E96-83D4-09F32AADC3F2}"/>
              </a:ext>
            </a:extLst>
          </p:cNvPr>
          <p:cNvSpPr>
            <a:spLocks noGrp="1"/>
          </p:cNvSpPr>
          <p:nvPr>
            <p:ph type="ftr" sz="quarter" idx="11"/>
          </p:nvPr>
        </p:nvSpPr>
        <p:spPr>
          <a:xfrm>
            <a:off x="3018106" y="6430767"/>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fld id="{3AFC719D-C4A7-4544-876E-D411D11AF6C9}" type="slidenum">
              <a:rPr lang="en-US" smtClean="0"/>
              <a:t>24</a:t>
            </a:fld>
            <a:endParaRPr lang="en-US" dirty="0"/>
          </a:p>
        </p:txBody>
      </p:sp>
      <p:sp>
        <p:nvSpPr>
          <p:cNvPr id="5" name="TextBox 4">
            <a:extLst>
              <a:ext uri="{FF2B5EF4-FFF2-40B4-BE49-F238E27FC236}">
                <a16:creationId xmlns:a16="http://schemas.microsoft.com/office/drawing/2014/main" id="{2FF25A3A-C156-4EF4-AAF0-4C022A00A18A}"/>
              </a:ext>
            </a:extLst>
          </p:cNvPr>
          <p:cNvSpPr txBox="1"/>
          <p:nvPr/>
        </p:nvSpPr>
        <p:spPr>
          <a:xfrm>
            <a:off x="683456" y="1340031"/>
            <a:ext cx="8629357" cy="4632037"/>
          </a:xfrm>
          <a:prstGeom prst="rect">
            <a:avLst/>
          </a:prstGeom>
          <a:noFill/>
        </p:spPr>
        <p:txBody>
          <a:bodyPr wrap="square" rtlCol="0">
            <a:spAutoFit/>
          </a:bodyPr>
          <a:lstStyle/>
          <a:p>
            <a:pPr marL="285753" indent="-285753">
              <a:spcAft>
                <a:spcPts val="600"/>
              </a:spcAft>
              <a:buFont typeface="Wingdings" panose="05000000000000000000" pitchFamily="2" charset="2"/>
              <a:buChar char="§"/>
            </a:pPr>
            <a:r>
              <a:rPr lang="en-US" dirty="0"/>
              <a:t>KBA has over 20 stop-loss underwriters and carriers that we work with on core employer sponsored plans and DTE health plans;</a:t>
            </a:r>
          </a:p>
          <a:p>
            <a:pPr marL="285753" indent="-285753">
              <a:spcAft>
                <a:spcPts val="600"/>
              </a:spcAft>
              <a:buFont typeface="Wingdings" panose="05000000000000000000" pitchFamily="2" charset="2"/>
              <a:buChar char="§"/>
            </a:pPr>
            <a:r>
              <a:rPr lang="en-US" dirty="0"/>
              <a:t>KBA performs a comprehensive analysis of each stop-loss partner to approve them for our business;</a:t>
            </a:r>
          </a:p>
          <a:p>
            <a:pPr marL="285753" indent="-285753">
              <a:spcAft>
                <a:spcPts val="600"/>
              </a:spcAft>
              <a:buFont typeface="Wingdings" panose="05000000000000000000" pitchFamily="2" charset="2"/>
              <a:buChar char="§"/>
            </a:pPr>
            <a:r>
              <a:rPr lang="en-US" dirty="0"/>
              <a:t>KBA provides comprehensive pricing and medical service analysis for each DTE health plan to ensure proper pricing;</a:t>
            </a:r>
          </a:p>
          <a:p>
            <a:pPr marL="285753" indent="-285753">
              <a:spcAft>
                <a:spcPts val="600"/>
              </a:spcAft>
              <a:buFont typeface="Wingdings" panose="05000000000000000000" pitchFamily="2" charset="2"/>
              <a:buChar char="§"/>
            </a:pPr>
            <a:r>
              <a:rPr lang="en-US" dirty="0"/>
              <a:t>KBA is also evaluated by the stop-loss markets to be an approved claims payer for them;</a:t>
            </a:r>
          </a:p>
          <a:p>
            <a:pPr marL="285753" indent="-285753">
              <a:spcAft>
                <a:spcPts val="600"/>
              </a:spcAft>
              <a:buFont typeface="Wingdings" panose="05000000000000000000" pitchFamily="2" charset="2"/>
              <a:buChar char="§"/>
            </a:pPr>
            <a:r>
              <a:rPr lang="en-US" dirty="0"/>
              <a:t>KBA provides the administration required of the stop-loss markets:</a:t>
            </a:r>
          </a:p>
          <a:p>
            <a:pPr marL="742960" lvl="1" indent="-285753">
              <a:buFont typeface="Arial" panose="020B0604020202020204" pitchFamily="34" charset="0"/>
              <a:buChar char="•"/>
            </a:pPr>
            <a:r>
              <a:rPr lang="en-US" dirty="0"/>
              <a:t>Bordereau Reporting;</a:t>
            </a:r>
          </a:p>
          <a:p>
            <a:pPr marL="742960" lvl="1" indent="-285753">
              <a:buFont typeface="Arial" panose="020B0604020202020204" pitchFamily="34" charset="0"/>
              <a:buChar char="•"/>
            </a:pPr>
            <a:r>
              <a:rPr lang="en-US" dirty="0"/>
              <a:t>Claim Reporting and Reconciliation;</a:t>
            </a:r>
          </a:p>
          <a:p>
            <a:pPr marL="742960" lvl="1" indent="-285753">
              <a:buFont typeface="Arial" panose="020B0604020202020204" pitchFamily="34" charset="0"/>
              <a:buChar char="•"/>
            </a:pPr>
            <a:r>
              <a:rPr lang="en-US" dirty="0"/>
              <a:t>Evaluation of Networks;</a:t>
            </a:r>
          </a:p>
          <a:p>
            <a:pPr marL="742960" lvl="1" indent="-285753">
              <a:buFont typeface="Arial" panose="020B0604020202020204" pitchFamily="34" charset="0"/>
              <a:buChar char="•"/>
            </a:pPr>
            <a:r>
              <a:rPr lang="en-US" dirty="0"/>
              <a:t>Care Management;</a:t>
            </a:r>
          </a:p>
          <a:p>
            <a:pPr marL="742960" lvl="1" indent="-285753">
              <a:buFont typeface="Arial" panose="020B0604020202020204" pitchFamily="34" charset="0"/>
              <a:buChar char="•"/>
            </a:pPr>
            <a:r>
              <a:rPr lang="en-US" dirty="0"/>
              <a:t>Initial Underwriting; </a:t>
            </a:r>
          </a:p>
          <a:p>
            <a:pPr marL="742960" lvl="1" indent="-285753">
              <a:buFont typeface="Arial" panose="020B0604020202020204" pitchFamily="34" charset="0"/>
              <a:buChar char="•"/>
            </a:pPr>
            <a:r>
              <a:rPr lang="en-US" dirty="0"/>
              <a:t>Negotiation of rates and terms; and</a:t>
            </a:r>
          </a:p>
          <a:p>
            <a:pPr marL="742960" lvl="1" indent="-285753">
              <a:buFont typeface="Arial" panose="020B0604020202020204" pitchFamily="34" charset="0"/>
              <a:buChar char="•"/>
            </a:pPr>
            <a:r>
              <a:rPr lang="en-US" dirty="0"/>
              <a:t>Plan Design Actuarial</a:t>
            </a:r>
            <a:r>
              <a:rPr lang="en-US" b="1" dirty="0">
                <a:solidFill>
                  <a:srgbClr val="0070C0"/>
                </a:solidFill>
              </a:rPr>
              <a:t> </a:t>
            </a:r>
          </a:p>
        </p:txBody>
      </p:sp>
    </p:spTree>
    <p:extLst>
      <p:ext uri="{BB962C8B-B14F-4D97-AF65-F5344CB8AC3E}">
        <p14:creationId xmlns:p14="http://schemas.microsoft.com/office/powerpoint/2010/main" val="38048066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5"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600" b="1" spc="150" dirty="0">
              <a:solidFill>
                <a:schemeClr val="bg1"/>
              </a:solidFill>
            </a:endParaRPr>
          </a:p>
          <a:p>
            <a:pPr marL="347667" lvl="2" defTabSz="914411">
              <a:lnSpc>
                <a:spcPct val="150000"/>
              </a:lnSpc>
              <a:spcAft>
                <a:spcPts val="1200"/>
              </a:spcAft>
            </a:pPr>
            <a:r>
              <a:rPr lang="en-US" sz="2000" b="1" spc="150" dirty="0">
                <a:solidFill>
                  <a:schemeClr val="bg1"/>
                </a:solidFill>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Branding &amp; Messaging</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Brochures, Web Site, Media, etc.</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2000" dirty="0">
                <a:solidFill>
                  <a:schemeClr val="bg1"/>
                </a:solidFill>
              </a:rPr>
              <a:t>Sell Through Established Brokers in Your Service Area</a:t>
            </a:r>
          </a:p>
        </p:txBody>
      </p:sp>
      <p:sp>
        <p:nvSpPr>
          <p:cNvPr id="2"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3"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4"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25</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6" descr="7 Steps to Creating a Successful Sales Meeting">
            <a:extLst>
              <a:ext uri="{FF2B5EF4-FFF2-40B4-BE49-F238E27FC236}">
                <a16:creationId xmlns:a16="http://schemas.microsoft.com/office/drawing/2014/main" id="{5B70C6AA-61AD-4DD0-B983-F52567B64AFF}"/>
              </a:ext>
            </a:extLst>
          </p:cNvPr>
          <p:cNvPicPr>
            <a:picLocks noChangeAspect="1" noChangeArrowheads="1"/>
          </p:cNvPicPr>
          <p:nvPr/>
        </p:nvPicPr>
        <p:blipFill rotWithShape="1">
          <a:blip r:embed="rId2" cstate="screen">
            <a:duotone>
              <a:schemeClr val="bg2">
                <a:shade val="45000"/>
                <a:satMod val="135000"/>
              </a:schemeClr>
              <a:prstClr val="white"/>
            </a:duotone>
            <a:alphaModFix amt="35000"/>
            <a:extLs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E3AEE789-2E94-43A2-BF20-56F3182F3E86}"/>
              </a:ext>
            </a:extLst>
          </p:cNvPr>
          <p:cNvSpPr>
            <a:spLocks noGrp="1"/>
          </p:cNvSpPr>
          <p:nvPr>
            <p:ph type="title"/>
          </p:nvPr>
        </p:nvSpPr>
        <p:spPr>
          <a:xfrm>
            <a:off x="1691038" y="626557"/>
            <a:ext cx="8809923" cy="938167"/>
          </a:xfrm>
          <a:noFill/>
          <a:ln>
            <a:noFill/>
          </a:ln>
        </p:spPr>
        <p:txBody>
          <a:bodyPr>
            <a:noAutofit/>
          </a:bodyPr>
          <a:lstStyle/>
          <a:p>
            <a:r>
              <a:rPr lang="en-US" sz="2800" cap="all" dirty="0">
                <a:solidFill>
                  <a:srgbClr val="244F9A"/>
                </a:solidFill>
              </a:rPr>
              <a:t>Complete Sales Distribution System</a:t>
            </a:r>
          </a:p>
        </p:txBody>
      </p:sp>
      <p:graphicFrame>
        <p:nvGraphicFramePr>
          <p:cNvPr id="7" name="Diagram 6">
            <a:extLst>
              <a:ext uri="{FF2B5EF4-FFF2-40B4-BE49-F238E27FC236}">
                <a16:creationId xmlns:a16="http://schemas.microsoft.com/office/drawing/2014/main" id="{9538C73A-9FA7-458F-A114-0449E816E242}"/>
              </a:ext>
            </a:extLst>
          </p:cNvPr>
          <p:cNvGraphicFramePr/>
          <p:nvPr>
            <p:extLst>
              <p:ext uri="{D42A27DB-BD31-4B8C-83A1-F6EECF244321}">
                <p14:modId xmlns:p14="http://schemas.microsoft.com/office/powerpoint/2010/main" val="3572426963"/>
              </p:ext>
            </p:extLst>
          </p:nvPr>
        </p:nvGraphicFramePr>
        <p:xfrm>
          <a:off x="738414" y="1667230"/>
          <a:ext cx="10715172" cy="50235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3">
            <a:extLst>
              <a:ext uri="{FF2B5EF4-FFF2-40B4-BE49-F238E27FC236}">
                <a16:creationId xmlns:a16="http://schemas.microsoft.com/office/drawing/2014/main" id="{26AD7A8A-66DD-4BA6-A8DA-CC8BB638DACA}"/>
              </a:ext>
            </a:extLst>
          </p:cNvPr>
          <p:cNvSpPr>
            <a:spLocks noGrp="1"/>
          </p:cNvSpPr>
          <p:nvPr>
            <p:ph type="sldNum" sz="quarter" idx="12"/>
          </p:nvPr>
        </p:nvSpPr>
        <p:spPr>
          <a:xfrm>
            <a:off x="11353800" y="6428186"/>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26</a:t>
            </a:fld>
            <a:endParaRPr lang="en-US" sz="1100" dirty="0">
              <a:solidFill>
                <a:schemeClr val="tx1">
                  <a:lumMod val="50000"/>
                  <a:lumOff val="50000"/>
                </a:schemeClr>
              </a:solidFill>
            </a:endParaRPr>
          </a:p>
        </p:txBody>
      </p:sp>
      <p:sp>
        <p:nvSpPr>
          <p:cNvPr id="2" name="Footer Placeholder 1">
            <a:extLst>
              <a:ext uri="{FF2B5EF4-FFF2-40B4-BE49-F238E27FC236}">
                <a16:creationId xmlns:a16="http://schemas.microsoft.com/office/drawing/2014/main" id="{73EB584F-B688-4D65-AC70-27857B058937}"/>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6193244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EF7E883-34E5-46DB-B50C-C63CA63E190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32682" y="174481"/>
            <a:ext cx="5529323" cy="3080297"/>
          </a:xfrm>
          <a:prstGeom prst="rect">
            <a:avLst/>
          </a:prstGeom>
        </p:spPr>
      </p:pic>
      <p:sp>
        <p:nvSpPr>
          <p:cNvPr id="3" name="Rectangle: Single Corner Rounded 2">
            <a:extLst>
              <a:ext uri="{FF2B5EF4-FFF2-40B4-BE49-F238E27FC236}">
                <a16:creationId xmlns:a16="http://schemas.microsoft.com/office/drawing/2014/main" id="{0E0827A4-8831-4F72-BCCA-ED2FC12E6729}"/>
              </a:ext>
            </a:extLst>
          </p:cNvPr>
          <p:cNvSpPr/>
          <p:nvPr/>
        </p:nvSpPr>
        <p:spPr>
          <a:xfrm flipV="1">
            <a:off x="-12708" y="-1"/>
            <a:ext cx="6201467" cy="2586748"/>
          </a:xfrm>
          <a:prstGeom prst="round1Rect">
            <a:avLst>
              <a:gd name="adj" fmla="val 14176"/>
            </a:avLst>
          </a:prstGeom>
          <a:solidFill>
            <a:srgbClr val="59CAE8">
              <a:alpha val="94000"/>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6597641" cy="580655"/>
          </a:xfrm>
          <a:noFill/>
        </p:spPr>
        <p:txBody>
          <a:bodyPr>
            <a:normAutofit/>
          </a:bodyPr>
          <a:lstStyle/>
          <a:p>
            <a:r>
              <a:rPr lang="en-US" sz="2400" cap="all" dirty="0">
                <a:solidFill>
                  <a:schemeClr val="bg1"/>
                </a:solidFill>
              </a:rPr>
              <a:t>Complete Marketing System</a:t>
            </a:r>
          </a:p>
        </p:txBody>
      </p:sp>
      <p:sp>
        <p:nvSpPr>
          <p:cNvPr id="10" name="TextBox 9">
            <a:extLst>
              <a:ext uri="{FF2B5EF4-FFF2-40B4-BE49-F238E27FC236}">
                <a16:creationId xmlns:a16="http://schemas.microsoft.com/office/drawing/2014/main" id="{ED71BB9D-3705-447C-AA44-226373980B76}"/>
              </a:ext>
            </a:extLst>
          </p:cNvPr>
          <p:cNvSpPr txBox="1"/>
          <p:nvPr/>
        </p:nvSpPr>
        <p:spPr>
          <a:xfrm>
            <a:off x="296181" y="755136"/>
            <a:ext cx="5799819" cy="1631216"/>
          </a:xfrm>
          <a:prstGeom prst="rect">
            <a:avLst/>
          </a:prstGeom>
          <a:noFill/>
        </p:spPr>
        <p:txBody>
          <a:bodyPr wrap="square" rtlCol="0">
            <a:spAutoFit/>
          </a:bodyPr>
          <a:lstStyle/>
          <a:p>
            <a:pPr marL="342905" indent="-342905">
              <a:spcAft>
                <a:spcPts val="600"/>
              </a:spcAft>
              <a:buFont typeface="Wingdings" panose="05000000000000000000" pitchFamily="2" charset="2"/>
              <a:buChar char="§"/>
            </a:pPr>
            <a:r>
              <a:rPr lang="en-US" sz="1600" dirty="0">
                <a:solidFill>
                  <a:schemeClr val="bg1"/>
                </a:solidFill>
              </a:rPr>
              <a:t>Customized Branding and Messaging</a:t>
            </a:r>
          </a:p>
          <a:p>
            <a:pPr marL="342905" indent="-342905">
              <a:spcAft>
                <a:spcPts val="600"/>
              </a:spcAft>
              <a:buFont typeface="Wingdings" panose="05000000000000000000" pitchFamily="2" charset="2"/>
              <a:buChar char="§"/>
            </a:pPr>
            <a:r>
              <a:rPr lang="en-US" sz="1600" dirty="0">
                <a:solidFill>
                  <a:schemeClr val="bg1"/>
                </a:solidFill>
              </a:rPr>
              <a:t>Customized Brochures</a:t>
            </a:r>
          </a:p>
          <a:p>
            <a:pPr marL="342905" indent="-342905">
              <a:spcAft>
                <a:spcPts val="600"/>
              </a:spcAft>
              <a:buFont typeface="Wingdings" panose="05000000000000000000" pitchFamily="2" charset="2"/>
              <a:buChar char="§"/>
            </a:pPr>
            <a:r>
              <a:rPr lang="en-US" sz="1600" dirty="0">
                <a:solidFill>
                  <a:schemeClr val="bg1"/>
                </a:solidFill>
              </a:rPr>
              <a:t>Customized Web Site</a:t>
            </a:r>
          </a:p>
          <a:p>
            <a:pPr marL="342905" indent="-342905">
              <a:spcAft>
                <a:spcPts val="600"/>
              </a:spcAft>
              <a:buFont typeface="Wingdings" panose="05000000000000000000" pitchFamily="2" charset="2"/>
              <a:buChar char="§"/>
            </a:pPr>
            <a:r>
              <a:rPr lang="en-US" sz="1600" dirty="0">
                <a:solidFill>
                  <a:schemeClr val="bg1"/>
                </a:solidFill>
              </a:rPr>
              <a:t>Targeted Employer Outreach</a:t>
            </a:r>
          </a:p>
          <a:p>
            <a:pPr marL="342905" indent="-342905">
              <a:spcAft>
                <a:spcPts val="600"/>
              </a:spcAft>
              <a:buFont typeface="Wingdings" panose="05000000000000000000" pitchFamily="2" charset="2"/>
              <a:buChar char="§"/>
            </a:pPr>
            <a:r>
              <a:rPr lang="en-US" sz="1600" dirty="0">
                <a:solidFill>
                  <a:schemeClr val="bg1"/>
                </a:solidFill>
              </a:rPr>
              <a:t>Sales System (Social Media, Email, Text, etc.)</a:t>
            </a:r>
          </a:p>
        </p:txBody>
      </p:sp>
      <p:pic>
        <p:nvPicPr>
          <p:cNvPr id="11" name="Picture 10">
            <a:extLst>
              <a:ext uri="{FF2B5EF4-FFF2-40B4-BE49-F238E27FC236}">
                <a16:creationId xmlns:a16="http://schemas.microsoft.com/office/drawing/2014/main" id="{611A4305-92DF-45EF-9B03-0DB9043431A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36485" y="2995528"/>
            <a:ext cx="2223274" cy="2808514"/>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FED11506-66B0-49FB-A0EF-209B8223184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98496" y="2995528"/>
            <a:ext cx="2233972" cy="2808514"/>
          </a:xfrm>
          <a:prstGeom prst="rect">
            <a:avLst/>
          </a:prstGeom>
          <a:ln>
            <a:noFill/>
          </a:ln>
          <a:effectLst>
            <a:outerShdw blurRad="292100" dist="139700" dir="2700000" algn="tl" rotWithShape="0">
              <a:srgbClr val="333333">
                <a:alpha val="65000"/>
              </a:srgbClr>
            </a:outerShdw>
          </a:effectLst>
        </p:spPr>
      </p:pic>
      <p:pic>
        <p:nvPicPr>
          <p:cNvPr id="13" name="Picture 12">
            <a:extLst>
              <a:ext uri="{FF2B5EF4-FFF2-40B4-BE49-F238E27FC236}">
                <a16:creationId xmlns:a16="http://schemas.microsoft.com/office/drawing/2014/main" id="{71A4353A-F77C-46E5-A059-7B4875A5C5E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271205" y="2995528"/>
            <a:ext cx="2316270" cy="2847494"/>
          </a:xfrm>
          <a:prstGeom prst="rect">
            <a:avLst/>
          </a:prstGeom>
          <a:ln>
            <a:noFill/>
          </a:ln>
          <a:effectLst>
            <a:outerShdw blurRad="292100" dist="139700" dir="2700000" algn="tl" rotWithShape="0">
              <a:srgbClr val="333333">
                <a:alpha val="65000"/>
              </a:srgbClr>
            </a:outerShdw>
          </a:effectLst>
        </p:spPr>
      </p:pic>
      <p:pic>
        <p:nvPicPr>
          <p:cNvPr id="14" name="Picture 13">
            <a:extLst>
              <a:ext uri="{FF2B5EF4-FFF2-40B4-BE49-F238E27FC236}">
                <a16:creationId xmlns:a16="http://schemas.microsoft.com/office/drawing/2014/main" id="{2CFB10C7-2DC6-451E-90C6-2D68BD31A6EC}"/>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826212" y="2995528"/>
            <a:ext cx="2197436" cy="2864971"/>
          </a:xfrm>
          <a:prstGeom prst="rect">
            <a:avLst/>
          </a:prstGeom>
          <a:ln>
            <a:noFill/>
          </a:ln>
          <a:effectLst>
            <a:outerShdw blurRad="292100" dist="139700" dir="2700000" algn="tl" rotWithShape="0">
              <a:srgbClr val="333333">
                <a:alpha val="65000"/>
              </a:srgbClr>
            </a:outerShdw>
          </a:effectLst>
        </p:spPr>
      </p:pic>
      <p:pic>
        <p:nvPicPr>
          <p:cNvPr id="15" name="Picture 14">
            <a:extLst>
              <a:ext uri="{FF2B5EF4-FFF2-40B4-BE49-F238E27FC236}">
                <a16:creationId xmlns:a16="http://schemas.microsoft.com/office/drawing/2014/main" id="{775544D0-D189-4053-BD03-A061BD918D83}"/>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2262385" y="2995528"/>
            <a:ext cx="2329516" cy="2861400"/>
          </a:xfrm>
          <a:prstGeom prst="rect">
            <a:avLst/>
          </a:prstGeom>
          <a:ln>
            <a:noFill/>
          </a:ln>
          <a:effectLst>
            <a:outerShdw blurRad="292100" dist="139700" dir="2700000" algn="tl" rotWithShape="0">
              <a:srgbClr val="333333">
                <a:alpha val="65000"/>
              </a:srgbClr>
            </a:outerShdw>
          </a:effectLst>
        </p:spPr>
      </p:pic>
      <p:pic>
        <p:nvPicPr>
          <p:cNvPr id="16" name="Picture 15">
            <a:extLst>
              <a:ext uri="{FF2B5EF4-FFF2-40B4-BE49-F238E27FC236}">
                <a16:creationId xmlns:a16="http://schemas.microsoft.com/office/drawing/2014/main" id="{C064D670-84E1-4B9A-97F8-E62D958DB0B5}"/>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2830638" y="2995528"/>
            <a:ext cx="2525626" cy="2919327"/>
          </a:xfrm>
          <a:prstGeom prst="rect">
            <a:avLst/>
          </a:prstGeom>
          <a:ln>
            <a:noFill/>
          </a:ln>
          <a:effectLst>
            <a:outerShdw blurRad="292100" dist="139700" dir="2700000" algn="tl" rotWithShape="0">
              <a:srgbClr val="333333">
                <a:alpha val="65000"/>
              </a:srgbClr>
            </a:outerShdw>
          </a:effectLst>
        </p:spPr>
      </p:pic>
      <p:pic>
        <p:nvPicPr>
          <p:cNvPr id="17" name="Picture 16">
            <a:extLst>
              <a:ext uri="{FF2B5EF4-FFF2-40B4-BE49-F238E27FC236}">
                <a16:creationId xmlns:a16="http://schemas.microsoft.com/office/drawing/2014/main" id="{87B797F5-B8C2-4C24-8A7A-FE90F04BE322}"/>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3595002" y="2995528"/>
            <a:ext cx="2372536" cy="2936059"/>
          </a:xfrm>
          <a:prstGeom prst="rect">
            <a:avLst/>
          </a:prstGeom>
          <a:ln>
            <a:noFill/>
          </a:ln>
          <a:effectLst>
            <a:outerShdw blurRad="292100" dist="139700" dir="2700000" algn="tl" rotWithShape="0">
              <a:srgbClr val="333333">
                <a:alpha val="65000"/>
              </a:srgbClr>
            </a:outerShdw>
          </a:effectLst>
        </p:spPr>
      </p:pic>
      <p:sp>
        <p:nvSpPr>
          <p:cNvPr id="19" name="Slide Number Placeholder 3">
            <a:extLst>
              <a:ext uri="{FF2B5EF4-FFF2-40B4-BE49-F238E27FC236}">
                <a16:creationId xmlns:a16="http://schemas.microsoft.com/office/drawing/2014/main" id="{43B0C0D7-286F-40CC-99F2-E1758486FAF3}"/>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27</a:t>
            </a:fld>
            <a:endParaRPr lang="en-US" sz="1100" dirty="0">
              <a:solidFill>
                <a:schemeClr val="tx1">
                  <a:lumMod val="50000"/>
                  <a:lumOff val="50000"/>
                </a:schemeClr>
              </a:solidFill>
            </a:endParaRPr>
          </a:p>
        </p:txBody>
      </p:sp>
      <p:sp>
        <p:nvSpPr>
          <p:cNvPr id="2" name="Footer Placeholder 1">
            <a:extLst>
              <a:ext uri="{FF2B5EF4-FFF2-40B4-BE49-F238E27FC236}">
                <a16:creationId xmlns:a16="http://schemas.microsoft.com/office/drawing/2014/main" id="{CDED59B1-EA18-471C-9E96-59ECEF4AB7A5}"/>
              </a:ext>
            </a:extLst>
          </p:cNvPr>
          <p:cNvSpPr>
            <a:spLocks noGrp="1"/>
          </p:cNvSpPr>
          <p:nvPr>
            <p:ph type="ftr" sz="quarter" idx="11"/>
          </p:nvPr>
        </p:nvSpPr>
        <p:spPr/>
        <p:txBody>
          <a:bodyPr/>
          <a:lstStyle/>
          <a:p>
            <a:r>
              <a:rPr lang="en-US" dirty="0"/>
              <a:t>Key Benefit Administrators</a:t>
            </a:r>
          </a:p>
        </p:txBody>
      </p:sp>
      <p:pic>
        <p:nvPicPr>
          <p:cNvPr id="5" name="Picture 4">
            <a:extLst>
              <a:ext uri="{FF2B5EF4-FFF2-40B4-BE49-F238E27FC236}">
                <a16:creationId xmlns:a16="http://schemas.microsoft.com/office/drawing/2014/main" id="{95AED82D-3AD7-4F96-899E-4F246EB12576}"/>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6757012" y="2543534"/>
            <a:ext cx="5291531" cy="3637660"/>
          </a:xfrm>
          <a:prstGeom prst="rect">
            <a:avLst/>
          </a:prstGeom>
          <a:effectLst>
            <a:outerShdw blurRad="203200" dist="38100" algn="l" rotWithShape="0">
              <a:prstClr val="black">
                <a:alpha val="40000"/>
              </a:prstClr>
            </a:outerShdw>
          </a:effectLst>
        </p:spPr>
      </p:pic>
    </p:spTree>
    <p:extLst>
      <p:ext uri="{BB962C8B-B14F-4D97-AF65-F5344CB8AC3E}">
        <p14:creationId xmlns:p14="http://schemas.microsoft.com/office/powerpoint/2010/main" val="420959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322C503-4966-5415-B9BE-A36E062F4598}"/>
              </a:ext>
            </a:extLst>
          </p:cNvPr>
          <p:cNvSpPr>
            <a:spLocks noGrp="1"/>
          </p:cNvSpPr>
          <p:nvPr>
            <p:ph type="title"/>
          </p:nvPr>
        </p:nvSpPr>
        <p:spPr/>
        <p:txBody>
          <a:bodyPr/>
          <a:lstStyle/>
          <a:p>
            <a:r>
              <a:rPr lang="en-US" dirty="0"/>
              <a:t>Modeling for Community-Based Plan</a:t>
            </a:r>
          </a:p>
        </p:txBody>
      </p:sp>
      <p:sp>
        <p:nvSpPr>
          <p:cNvPr id="6" name="Text Placeholder 5">
            <a:extLst>
              <a:ext uri="{FF2B5EF4-FFF2-40B4-BE49-F238E27FC236}">
                <a16:creationId xmlns:a16="http://schemas.microsoft.com/office/drawing/2014/main" id="{5793C937-E2F6-8FFF-5F7B-19BB43ACC671}"/>
              </a:ext>
            </a:extLst>
          </p:cNvPr>
          <p:cNvSpPr>
            <a:spLocks noGrp="1"/>
          </p:cNvSpPr>
          <p:nvPr>
            <p:ph type="body" idx="1"/>
          </p:nvPr>
        </p:nvSpPr>
        <p:spPr/>
        <p:txBody>
          <a:bodyPr/>
          <a:lstStyle/>
          <a:p>
            <a:r>
              <a:rPr lang="en-US" dirty="0"/>
              <a:t>Plan modeled at far lower patient steerage rates but above current market share. Patient steerage can be achieved through pay card and virtual primary care. </a:t>
            </a:r>
          </a:p>
        </p:txBody>
      </p:sp>
      <p:sp>
        <p:nvSpPr>
          <p:cNvPr id="3" name="Footer Placeholder 2">
            <a:extLst>
              <a:ext uri="{FF2B5EF4-FFF2-40B4-BE49-F238E27FC236}">
                <a16:creationId xmlns:a16="http://schemas.microsoft.com/office/drawing/2014/main" id="{98E3F39C-74FA-1F8E-562E-E33D5E8BD5A0}"/>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7D8344C3-961C-E8CA-CD2D-58BA7288BB75}"/>
              </a:ext>
            </a:extLst>
          </p:cNvPr>
          <p:cNvSpPr>
            <a:spLocks noGrp="1"/>
          </p:cNvSpPr>
          <p:nvPr>
            <p:ph type="sldNum" sz="quarter" idx="12"/>
          </p:nvPr>
        </p:nvSpPr>
        <p:spPr/>
        <p:txBody>
          <a:bodyPr/>
          <a:lstStyle/>
          <a:p>
            <a:fld id="{3AFC719D-C4A7-4544-876E-D411D11AF6C9}" type="slidenum">
              <a:rPr lang="en-US" smtClean="0"/>
              <a:t>28</a:t>
            </a:fld>
            <a:endParaRPr lang="en-US" dirty="0"/>
          </a:p>
        </p:txBody>
      </p:sp>
    </p:spTree>
    <p:extLst>
      <p:ext uri="{BB962C8B-B14F-4D97-AF65-F5344CB8AC3E}">
        <p14:creationId xmlns:p14="http://schemas.microsoft.com/office/powerpoint/2010/main" val="21377086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Royalty-Free photo: Green tall trees near on the lake with overlooking  mountain during daytime | PickPik">
            <a:extLst>
              <a:ext uri="{FF2B5EF4-FFF2-40B4-BE49-F238E27FC236}">
                <a16:creationId xmlns:a16="http://schemas.microsoft.com/office/drawing/2014/main" id="{2478D38F-2055-3BED-F325-F30BC9616D52}"/>
              </a:ext>
            </a:extLst>
          </p:cNvPr>
          <p:cNvPicPr>
            <a:picLocks noChangeAspect="1" noChangeArrowheads="1"/>
          </p:cNvPicPr>
          <p:nvPr/>
        </p:nvPicPr>
        <p:blipFill rotWithShape="1">
          <a:blip r:embed="rId3">
            <a:duotone>
              <a:schemeClr val="bg2">
                <a:shade val="45000"/>
                <a:satMod val="135000"/>
              </a:schemeClr>
              <a:prstClr val="white"/>
            </a:duotone>
            <a:alphaModFix amt="28000"/>
            <a:extLst>
              <a:ext uri="{28A0092B-C50C-407E-A947-70E740481C1C}">
                <a14:useLocalDpi xmlns:a14="http://schemas.microsoft.com/office/drawing/2010/main" val="0"/>
              </a:ext>
            </a:extLst>
          </a:blip>
          <a:srcRect b="5528"/>
          <a:stretch/>
        </p:blipFill>
        <p:spPr bwMode="auto">
          <a:xfrm>
            <a:off x="-31771" y="1"/>
            <a:ext cx="10918845" cy="6872068"/>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2">
            <a:extLst>
              <a:ext uri="{FF2B5EF4-FFF2-40B4-BE49-F238E27FC236}">
                <a16:creationId xmlns:a16="http://schemas.microsoft.com/office/drawing/2014/main" id="{69C057C1-F13C-F6D8-AD44-F92FA29D30D9}"/>
              </a:ext>
            </a:extLst>
          </p:cNvPr>
          <p:cNvSpPr>
            <a:spLocks noGrp="1"/>
          </p:cNvSpPr>
          <p:nvPr>
            <p:ph type="ftr" sz="quarter" idx="11"/>
          </p:nvPr>
        </p:nvSpPr>
        <p:spPr>
          <a:xfrm>
            <a:off x="2752413" y="6480529"/>
            <a:ext cx="4114800" cy="365125"/>
          </a:xfrm>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F46B415-80AF-26A8-45D6-1254179BD411}"/>
              </a:ext>
            </a:extLst>
          </p:cNvPr>
          <p:cNvSpPr>
            <a:spLocks noGrp="1"/>
          </p:cNvSpPr>
          <p:nvPr>
            <p:ph type="sldNum" sz="quarter" idx="12"/>
          </p:nvPr>
        </p:nvSpPr>
        <p:spPr/>
        <p:txBody>
          <a:bodyPr/>
          <a:lstStyle/>
          <a:p>
            <a:fld id="{3AFC719D-C4A7-4544-876E-D411D11AF6C9}" type="slidenum">
              <a:rPr lang="en-US" smtClean="0"/>
              <a:t>29</a:t>
            </a:fld>
            <a:endParaRPr lang="en-US" dirty="0"/>
          </a:p>
        </p:txBody>
      </p:sp>
      <p:sp>
        <p:nvSpPr>
          <p:cNvPr id="6" name="Rectangle 4">
            <a:extLst>
              <a:ext uri="{FF2B5EF4-FFF2-40B4-BE49-F238E27FC236}">
                <a16:creationId xmlns:a16="http://schemas.microsoft.com/office/drawing/2014/main" id="{239038F2-C307-DC75-4AEA-316E0211A3AE}"/>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10">
            <a:extLst>
              <a:ext uri="{FF2B5EF4-FFF2-40B4-BE49-F238E27FC236}">
                <a16:creationId xmlns:a16="http://schemas.microsoft.com/office/drawing/2014/main" id="{C0C1C4CA-44D9-9691-E058-46CEB5C35DF2}"/>
              </a:ext>
            </a:extLst>
          </p:cNvPr>
          <p:cNvSpPr/>
          <p:nvPr/>
        </p:nvSpPr>
        <p:spPr>
          <a:xfrm>
            <a:off x="4401177" y="1868993"/>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1">
            <a:extLst>
              <a:ext uri="{FF2B5EF4-FFF2-40B4-BE49-F238E27FC236}">
                <a16:creationId xmlns:a16="http://schemas.microsoft.com/office/drawing/2014/main" id="{8DCAE5A5-11EC-16C5-5F5F-C5DF9E3B0859}"/>
              </a:ext>
            </a:extLst>
          </p:cNvPr>
          <p:cNvSpPr/>
          <p:nvPr/>
        </p:nvSpPr>
        <p:spPr>
          <a:xfrm>
            <a:off x="6315910" y="1868991"/>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2">
            <a:extLst>
              <a:ext uri="{FF2B5EF4-FFF2-40B4-BE49-F238E27FC236}">
                <a16:creationId xmlns:a16="http://schemas.microsoft.com/office/drawing/2014/main" id="{98C73641-C807-1985-E19A-CA79DA10785E}"/>
              </a:ext>
            </a:extLst>
          </p:cNvPr>
          <p:cNvSpPr/>
          <p:nvPr/>
        </p:nvSpPr>
        <p:spPr>
          <a:xfrm>
            <a:off x="8230644" y="1868990"/>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3">
            <a:extLst>
              <a:ext uri="{FF2B5EF4-FFF2-40B4-BE49-F238E27FC236}">
                <a16:creationId xmlns:a16="http://schemas.microsoft.com/office/drawing/2014/main" id="{8546D6DB-89F3-8B35-A9E8-670CED022928}"/>
              </a:ext>
            </a:extLst>
          </p:cNvPr>
          <p:cNvSpPr txBox="1"/>
          <p:nvPr/>
        </p:nvSpPr>
        <p:spPr>
          <a:xfrm>
            <a:off x="572430" y="1636954"/>
            <a:ext cx="2568332" cy="630942"/>
          </a:xfrm>
          <a:prstGeom prst="rect">
            <a:avLst/>
          </a:prstGeom>
          <a:noFill/>
        </p:spPr>
        <p:txBody>
          <a:bodyPr wrap="none" rtlCol="0">
            <a:spAutoFit/>
          </a:bodyPr>
          <a:lstStyle/>
          <a:p>
            <a:pPr algn="ctr"/>
            <a:r>
              <a:rPr lang="en-US" sz="2400" b="1" dirty="0">
                <a:solidFill>
                  <a:srgbClr val="6087CE"/>
                </a:solidFill>
              </a:rPr>
              <a:t>Early Stage</a:t>
            </a:r>
          </a:p>
          <a:p>
            <a:pPr algn="ctr"/>
            <a:r>
              <a:rPr lang="en-US" sz="1100" dirty="0">
                <a:solidFill>
                  <a:srgbClr val="6087CE"/>
                </a:solidFill>
              </a:rPr>
              <a:t>Graining Name Recognition, Early Growth</a:t>
            </a:r>
          </a:p>
        </p:txBody>
      </p:sp>
      <p:sp>
        <p:nvSpPr>
          <p:cNvPr id="11" name="TextBox 6">
            <a:extLst>
              <a:ext uri="{FF2B5EF4-FFF2-40B4-BE49-F238E27FC236}">
                <a16:creationId xmlns:a16="http://schemas.microsoft.com/office/drawing/2014/main" id="{0C35DE11-AC92-1958-1813-38A8A86CBCE8}"/>
              </a:ext>
            </a:extLst>
          </p:cNvPr>
          <p:cNvSpPr txBox="1"/>
          <p:nvPr/>
        </p:nvSpPr>
        <p:spPr>
          <a:xfrm>
            <a:off x="135286" y="2293880"/>
            <a:ext cx="1624165" cy="307777"/>
          </a:xfrm>
          <a:prstGeom prst="rect">
            <a:avLst/>
          </a:prstGeom>
          <a:noFill/>
        </p:spPr>
        <p:txBody>
          <a:bodyPr wrap="square">
            <a:spAutoFit/>
          </a:bodyPr>
          <a:lstStyle/>
          <a:p>
            <a:pPr algn="ctr"/>
            <a:r>
              <a:rPr lang="en-US" sz="1400" dirty="0">
                <a:solidFill>
                  <a:srgbClr val="6087CE"/>
                </a:solidFill>
              </a:rPr>
              <a:t>New Revenue:</a:t>
            </a:r>
          </a:p>
        </p:txBody>
      </p:sp>
      <p:sp>
        <p:nvSpPr>
          <p:cNvPr id="12" name="TextBox 7">
            <a:extLst>
              <a:ext uri="{FF2B5EF4-FFF2-40B4-BE49-F238E27FC236}">
                <a16:creationId xmlns:a16="http://schemas.microsoft.com/office/drawing/2014/main" id="{2E2DA353-8032-9A29-CBFC-5E2CAB8FA818}"/>
              </a:ext>
            </a:extLst>
          </p:cNvPr>
          <p:cNvSpPr txBox="1"/>
          <p:nvPr/>
        </p:nvSpPr>
        <p:spPr>
          <a:xfrm>
            <a:off x="2219510" y="2293880"/>
            <a:ext cx="1118086" cy="307777"/>
          </a:xfrm>
          <a:prstGeom prst="rect">
            <a:avLst/>
          </a:prstGeom>
          <a:noFill/>
        </p:spPr>
        <p:txBody>
          <a:bodyPr wrap="square">
            <a:spAutoFit/>
          </a:bodyPr>
          <a:lstStyle/>
          <a:p>
            <a:pPr algn="ctr"/>
            <a:r>
              <a:rPr lang="en-US" sz="1400" dirty="0">
                <a:solidFill>
                  <a:srgbClr val="6087CE"/>
                </a:solidFill>
              </a:rPr>
              <a:t>New Profit:</a:t>
            </a:r>
          </a:p>
        </p:txBody>
      </p:sp>
      <p:sp>
        <p:nvSpPr>
          <p:cNvPr id="13" name="TextBox 9">
            <a:extLst>
              <a:ext uri="{FF2B5EF4-FFF2-40B4-BE49-F238E27FC236}">
                <a16:creationId xmlns:a16="http://schemas.microsoft.com/office/drawing/2014/main" id="{2EE70FCE-698F-980C-DE5B-A5E0DD82F2B7}"/>
              </a:ext>
            </a:extLst>
          </p:cNvPr>
          <p:cNvSpPr txBox="1"/>
          <p:nvPr/>
        </p:nvSpPr>
        <p:spPr>
          <a:xfrm>
            <a:off x="129001" y="2539605"/>
            <a:ext cx="1588535" cy="400110"/>
          </a:xfrm>
          <a:prstGeom prst="rect">
            <a:avLst/>
          </a:prstGeom>
          <a:noFill/>
        </p:spPr>
        <p:txBody>
          <a:bodyPr wrap="square">
            <a:spAutoFit/>
          </a:bodyPr>
          <a:lstStyle/>
          <a:p>
            <a:pPr algn="ctr"/>
            <a:r>
              <a:rPr lang="en-US" sz="2000" b="1" dirty="0">
                <a:solidFill>
                  <a:srgbClr val="6087CE"/>
                </a:solidFill>
              </a:rPr>
              <a:t>$14.47M</a:t>
            </a:r>
            <a:endParaRPr lang="en-US" sz="2000" dirty="0"/>
          </a:p>
        </p:txBody>
      </p:sp>
      <p:sp>
        <p:nvSpPr>
          <p:cNvPr id="14" name="TextBox 14">
            <a:extLst>
              <a:ext uri="{FF2B5EF4-FFF2-40B4-BE49-F238E27FC236}">
                <a16:creationId xmlns:a16="http://schemas.microsoft.com/office/drawing/2014/main" id="{DBAF8120-09F6-4EB0-E666-C1CBDC5CF295}"/>
              </a:ext>
            </a:extLst>
          </p:cNvPr>
          <p:cNvSpPr txBox="1"/>
          <p:nvPr/>
        </p:nvSpPr>
        <p:spPr>
          <a:xfrm>
            <a:off x="1922550" y="2539605"/>
            <a:ext cx="1588535" cy="400110"/>
          </a:xfrm>
          <a:prstGeom prst="rect">
            <a:avLst/>
          </a:prstGeom>
          <a:noFill/>
        </p:spPr>
        <p:txBody>
          <a:bodyPr wrap="square">
            <a:spAutoFit/>
          </a:bodyPr>
          <a:lstStyle/>
          <a:p>
            <a:pPr algn="ctr"/>
            <a:r>
              <a:rPr lang="en-US" sz="2000" b="1" dirty="0">
                <a:solidFill>
                  <a:srgbClr val="6087CE"/>
                </a:solidFill>
              </a:rPr>
              <a:t>$3.75M</a:t>
            </a:r>
            <a:endParaRPr lang="en-US" sz="2000" dirty="0"/>
          </a:p>
        </p:txBody>
      </p:sp>
      <p:sp>
        <p:nvSpPr>
          <p:cNvPr id="15" name="TextBox 15">
            <a:extLst>
              <a:ext uri="{FF2B5EF4-FFF2-40B4-BE49-F238E27FC236}">
                <a16:creationId xmlns:a16="http://schemas.microsoft.com/office/drawing/2014/main" id="{5B374298-411A-3F68-B672-E1DC32DEA9AE}"/>
              </a:ext>
            </a:extLst>
          </p:cNvPr>
          <p:cNvSpPr txBox="1"/>
          <p:nvPr/>
        </p:nvSpPr>
        <p:spPr>
          <a:xfrm>
            <a:off x="781431" y="3151370"/>
            <a:ext cx="2132315" cy="630942"/>
          </a:xfrm>
          <a:prstGeom prst="rect">
            <a:avLst/>
          </a:prstGeom>
          <a:noFill/>
        </p:spPr>
        <p:txBody>
          <a:bodyPr wrap="none" rtlCol="0">
            <a:spAutoFit/>
          </a:bodyPr>
          <a:lstStyle/>
          <a:p>
            <a:pPr algn="ctr"/>
            <a:r>
              <a:rPr lang="en-US" sz="2400" b="1" dirty="0">
                <a:solidFill>
                  <a:srgbClr val="2F5597"/>
                </a:solidFill>
              </a:rPr>
              <a:t>Growth Stage</a:t>
            </a:r>
          </a:p>
          <a:p>
            <a:pPr algn="ctr"/>
            <a:r>
              <a:rPr lang="en-US" sz="1100" dirty="0">
                <a:solidFill>
                  <a:srgbClr val="2F5597"/>
                </a:solidFill>
              </a:rPr>
              <a:t>Strong Reputation, Strong Growth</a:t>
            </a:r>
          </a:p>
        </p:txBody>
      </p:sp>
      <p:sp>
        <p:nvSpPr>
          <p:cNvPr id="16" name="TextBox 16">
            <a:extLst>
              <a:ext uri="{FF2B5EF4-FFF2-40B4-BE49-F238E27FC236}">
                <a16:creationId xmlns:a16="http://schemas.microsoft.com/office/drawing/2014/main" id="{734215D0-1B81-9E25-D893-D1A81A7D90DE}"/>
              </a:ext>
            </a:extLst>
          </p:cNvPr>
          <p:cNvSpPr txBox="1"/>
          <p:nvPr/>
        </p:nvSpPr>
        <p:spPr>
          <a:xfrm>
            <a:off x="126277" y="3808296"/>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17" name="TextBox 17">
            <a:extLst>
              <a:ext uri="{FF2B5EF4-FFF2-40B4-BE49-F238E27FC236}">
                <a16:creationId xmlns:a16="http://schemas.microsoft.com/office/drawing/2014/main" id="{44D03DDF-E57A-E22B-A334-B0D6BAD568C1}"/>
              </a:ext>
            </a:extLst>
          </p:cNvPr>
          <p:cNvSpPr txBox="1"/>
          <p:nvPr/>
        </p:nvSpPr>
        <p:spPr>
          <a:xfrm>
            <a:off x="2210501" y="3808296"/>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18" name="TextBox 20">
            <a:extLst>
              <a:ext uri="{FF2B5EF4-FFF2-40B4-BE49-F238E27FC236}">
                <a16:creationId xmlns:a16="http://schemas.microsoft.com/office/drawing/2014/main" id="{2F96F890-CA85-53B4-4C86-B02186E9E89E}"/>
              </a:ext>
            </a:extLst>
          </p:cNvPr>
          <p:cNvSpPr txBox="1"/>
          <p:nvPr/>
        </p:nvSpPr>
        <p:spPr>
          <a:xfrm>
            <a:off x="119992" y="4054021"/>
            <a:ext cx="1588535" cy="400110"/>
          </a:xfrm>
          <a:prstGeom prst="rect">
            <a:avLst/>
          </a:prstGeom>
          <a:noFill/>
        </p:spPr>
        <p:txBody>
          <a:bodyPr wrap="square">
            <a:spAutoFit/>
          </a:bodyPr>
          <a:lstStyle/>
          <a:p>
            <a:pPr algn="ctr"/>
            <a:r>
              <a:rPr lang="en-US" sz="2000" b="1" dirty="0">
                <a:solidFill>
                  <a:srgbClr val="2F5597"/>
                </a:solidFill>
              </a:rPr>
              <a:t>$99.06M</a:t>
            </a:r>
            <a:endParaRPr lang="en-US" sz="2000" dirty="0">
              <a:solidFill>
                <a:srgbClr val="2F5597"/>
              </a:solidFill>
            </a:endParaRPr>
          </a:p>
        </p:txBody>
      </p:sp>
      <p:sp>
        <p:nvSpPr>
          <p:cNvPr id="19" name="TextBox 21">
            <a:extLst>
              <a:ext uri="{FF2B5EF4-FFF2-40B4-BE49-F238E27FC236}">
                <a16:creationId xmlns:a16="http://schemas.microsoft.com/office/drawing/2014/main" id="{BD5125C9-83DD-4D9F-DE79-D476BE3F058D}"/>
              </a:ext>
            </a:extLst>
          </p:cNvPr>
          <p:cNvSpPr txBox="1"/>
          <p:nvPr/>
        </p:nvSpPr>
        <p:spPr>
          <a:xfrm>
            <a:off x="1913541" y="4054021"/>
            <a:ext cx="1588535" cy="400110"/>
          </a:xfrm>
          <a:prstGeom prst="rect">
            <a:avLst/>
          </a:prstGeom>
          <a:noFill/>
        </p:spPr>
        <p:txBody>
          <a:bodyPr wrap="square">
            <a:spAutoFit/>
          </a:bodyPr>
          <a:lstStyle/>
          <a:p>
            <a:pPr algn="ctr"/>
            <a:r>
              <a:rPr lang="en-US" sz="2000" b="1" dirty="0">
                <a:solidFill>
                  <a:srgbClr val="2F5597"/>
                </a:solidFill>
              </a:rPr>
              <a:t>$26.86M</a:t>
            </a:r>
            <a:endParaRPr lang="en-US" sz="2000" dirty="0">
              <a:solidFill>
                <a:srgbClr val="2F5597"/>
              </a:solidFill>
            </a:endParaRPr>
          </a:p>
        </p:txBody>
      </p:sp>
      <p:sp>
        <p:nvSpPr>
          <p:cNvPr id="20" name="TextBox 22">
            <a:extLst>
              <a:ext uri="{FF2B5EF4-FFF2-40B4-BE49-F238E27FC236}">
                <a16:creationId xmlns:a16="http://schemas.microsoft.com/office/drawing/2014/main" id="{DEBB9E11-84A3-58F8-237D-4A265C29D49C}"/>
              </a:ext>
            </a:extLst>
          </p:cNvPr>
          <p:cNvSpPr txBox="1"/>
          <p:nvPr/>
        </p:nvSpPr>
        <p:spPr>
          <a:xfrm>
            <a:off x="729525" y="4771937"/>
            <a:ext cx="2254143" cy="630942"/>
          </a:xfrm>
          <a:prstGeom prst="rect">
            <a:avLst/>
          </a:prstGeom>
          <a:noFill/>
        </p:spPr>
        <p:txBody>
          <a:bodyPr wrap="none" rtlCol="0">
            <a:spAutoFit/>
          </a:bodyPr>
          <a:lstStyle/>
          <a:p>
            <a:pPr algn="ctr"/>
            <a:r>
              <a:rPr lang="en-US" sz="2400" b="1" dirty="0">
                <a:solidFill>
                  <a:srgbClr val="2F5597"/>
                </a:solidFill>
              </a:rPr>
              <a:t>Mature Stage</a:t>
            </a:r>
          </a:p>
          <a:p>
            <a:pPr algn="ctr"/>
            <a:r>
              <a:rPr lang="en-US" sz="1100" dirty="0">
                <a:solidFill>
                  <a:srgbClr val="2F5597"/>
                </a:solidFill>
              </a:rPr>
              <a:t>High Profitability, Market Saturation</a:t>
            </a:r>
          </a:p>
        </p:txBody>
      </p:sp>
      <p:sp>
        <p:nvSpPr>
          <p:cNvPr id="21" name="TextBox 23">
            <a:extLst>
              <a:ext uri="{FF2B5EF4-FFF2-40B4-BE49-F238E27FC236}">
                <a16:creationId xmlns:a16="http://schemas.microsoft.com/office/drawing/2014/main" id="{E4C2D887-78BC-455D-E84B-4706DBDF3CA1}"/>
              </a:ext>
            </a:extLst>
          </p:cNvPr>
          <p:cNvSpPr txBox="1"/>
          <p:nvPr/>
        </p:nvSpPr>
        <p:spPr>
          <a:xfrm>
            <a:off x="135286" y="5428863"/>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22" name="TextBox 24">
            <a:extLst>
              <a:ext uri="{FF2B5EF4-FFF2-40B4-BE49-F238E27FC236}">
                <a16:creationId xmlns:a16="http://schemas.microsoft.com/office/drawing/2014/main" id="{FC3AFD72-934E-C314-76C9-3BD3C3ADC5D7}"/>
              </a:ext>
            </a:extLst>
          </p:cNvPr>
          <p:cNvSpPr txBox="1"/>
          <p:nvPr/>
        </p:nvSpPr>
        <p:spPr>
          <a:xfrm>
            <a:off x="2219510" y="5428863"/>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23" name="TextBox 25">
            <a:extLst>
              <a:ext uri="{FF2B5EF4-FFF2-40B4-BE49-F238E27FC236}">
                <a16:creationId xmlns:a16="http://schemas.microsoft.com/office/drawing/2014/main" id="{AFC7E587-98BA-0E7B-D632-50ECCC546F0C}"/>
              </a:ext>
            </a:extLst>
          </p:cNvPr>
          <p:cNvSpPr txBox="1"/>
          <p:nvPr/>
        </p:nvSpPr>
        <p:spPr>
          <a:xfrm>
            <a:off x="129001" y="5674588"/>
            <a:ext cx="1588535" cy="400110"/>
          </a:xfrm>
          <a:prstGeom prst="rect">
            <a:avLst/>
          </a:prstGeom>
          <a:noFill/>
        </p:spPr>
        <p:txBody>
          <a:bodyPr wrap="square">
            <a:spAutoFit/>
          </a:bodyPr>
          <a:lstStyle/>
          <a:p>
            <a:pPr algn="ctr"/>
            <a:r>
              <a:rPr lang="en-US" sz="2000" b="1" dirty="0">
                <a:solidFill>
                  <a:srgbClr val="2F5597"/>
                </a:solidFill>
              </a:rPr>
              <a:t>$194.97M</a:t>
            </a:r>
            <a:endParaRPr lang="en-US" sz="2000" dirty="0">
              <a:solidFill>
                <a:srgbClr val="2F5597"/>
              </a:solidFill>
            </a:endParaRPr>
          </a:p>
        </p:txBody>
      </p:sp>
      <p:sp>
        <p:nvSpPr>
          <p:cNvPr id="24" name="TextBox 26">
            <a:extLst>
              <a:ext uri="{FF2B5EF4-FFF2-40B4-BE49-F238E27FC236}">
                <a16:creationId xmlns:a16="http://schemas.microsoft.com/office/drawing/2014/main" id="{CDADE326-124A-38EC-26DF-B19515A72278}"/>
              </a:ext>
            </a:extLst>
          </p:cNvPr>
          <p:cNvSpPr txBox="1"/>
          <p:nvPr/>
        </p:nvSpPr>
        <p:spPr>
          <a:xfrm>
            <a:off x="1922550" y="5674588"/>
            <a:ext cx="1588535" cy="400110"/>
          </a:xfrm>
          <a:prstGeom prst="rect">
            <a:avLst/>
          </a:prstGeom>
          <a:noFill/>
        </p:spPr>
        <p:txBody>
          <a:bodyPr wrap="square">
            <a:spAutoFit/>
          </a:bodyPr>
          <a:lstStyle/>
          <a:p>
            <a:pPr algn="ctr"/>
            <a:r>
              <a:rPr lang="en-US" sz="2000" b="1" dirty="0">
                <a:solidFill>
                  <a:srgbClr val="2F5597"/>
                </a:solidFill>
              </a:rPr>
              <a:t>$53.04M</a:t>
            </a:r>
            <a:endParaRPr lang="en-US" sz="2000" dirty="0">
              <a:solidFill>
                <a:srgbClr val="2F5597"/>
              </a:solidFill>
            </a:endParaRPr>
          </a:p>
        </p:txBody>
      </p:sp>
      <p:pic>
        <p:nvPicPr>
          <p:cNvPr id="25" name="Content Placeholder 24"/>
          <p:cNvPicPr>
            <a:picLocks noGrp="1"/>
          </p:cNvPicPr>
          <p:nvPr>
            <p:ph/>
          </p:nvPr>
        </p:nvPicPr>
        <p:blipFill>
          <a:blip r:embed="rId4" cstate="print"/>
          <a:stretch>
            <a:fillRect/>
          </a:stretch>
        </p:blipFill>
        <p:spPr>
          <a:xfrm>
            <a:off x="4078224" y="1472184"/>
            <a:ext cx="6364224" cy="4773168"/>
          </a:xfrm>
          <a:prstGeom prst="rect">
            <a:avLst/>
          </a:prstGeom>
        </p:spPr>
      </p:pic>
      <p:sp>
        <p:nvSpPr>
          <p:cNvPr id="28" name="Title 1">
            <a:extLst>
              <a:ext uri="{FF2B5EF4-FFF2-40B4-BE49-F238E27FC236}">
                <a16:creationId xmlns:a16="http://schemas.microsoft.com/office/drawing/2014/main" id="{CA693773-A419-39F7-AB65-4D6C926035DB}"/>
              </a:ext>
            </a:extLst>
          </p:cNvPr>
          <p:cNvSpPr txBox="1">
            <a:spLocks/>
          </p:cNvSpPr>
          <p:nvPr/>
        </p:nvSpPr>
        <p:spPr>
          <a:xfrm>
            <a:off x="295590" y="144962"/>
            <a:ext cx="10515600" cy="1325563"/>
          </a:xfrm>
          <a:prstGeom prst="rect">
            <a:avLst/>
          </a:prstGeom>
        </p:spPr>
        <p:txBody>
          <a:bodyPr vert="horz" lIns="91440" tIns="45720" rIns="91440" bIns="45720" rtlCol="0" anchor="ctr">
            <a:normAutofit/>
          </a:bodyPr>
          <a:lstStyle>
            <a:lvl1pPr algn="l" defTabSz="914411" rtl="0" eaLnBrk="1" latinLnBrk="0" hangingPunct="1">
              <a:lnSpc>
                <a:spcPct val="90000"/>
              </a:lnSpc>
              <a:spcBef>
                <a:spcPct val="0"/>
              </a:spcBef>
              <a:buNone/>
              <a:defRPr sz="4000" b="1" kern="1200" spc="150" baseline="0">
                <a:solidFill>
                  <a:schemeClr val="tx1"/>
                </a:solidFill>
                <a:latin typeface="Arial" panose="020B0604020202020204" pitchFamily="34" charset="0"/>
                <a:ea typeface="+mj-ea"/>
                <a:cs typeface="Arial" panose="020B0604020202020204" pitchFamily="34" charset="0"/>
              </a:defRPr>
            </a:lvl1pPr>
          </a:lstStyle>
          <a:p>
            <a:r>
              <a:rPr lang="en-US"/>
              <a:t>Far Lower Profitability Growth</a:t>
            </a:r>
            <a:endParaRPr lang="en-US" dirty="0"/>
          </a:p>
        </p:txBody>
      </p:sp>
    </p:spTree>
    <p:extLst>
      <p:ext uri="{BB962C8B-B14F-4D97-AF65-F5344CB8AC3E}">
        <p14:creationId xmlns:p14="http://schemas.microsoft.com/office/powerpoint/2010/main" val="40564910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9">
            <a:extLst>
              <a:ext uri="{FF2B5EF4-FFF2-40B4-BE49-F238E27FC236}">
                <a16:creationId xmlns:a16="http://schemas.microsoft.com/office/drawing/2014/main" id="{A1F948BD-D9F3-0E7A-A778-3B130A8365CE}"/>
              </a:ext>
            </a:extLst>
          </p:cNvPr>
          <p:cNvSpPr/>
          <p:nvPr/>
        </p:nvSpPr>
        <p:spPr>
          <a:xfrm>
            <a:off x="7554897" y="3022723"/>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CE020CCE-F739-8633-848E-AA7349974A46}"/>
              </a:ext>
            </a:extLst>
          </p:cNvPr>
          <p:cNvSpPr>
            <a:spLocks noGrp="1"/>
          </p:cNvSpPr>
          <p:nvPr>
            <p:ph type="title"/>
          </p:nvPr>
        </p:nvSpPr>
        <p:spPr>
          <a:xfrm>
            <a:off x="1553028" y="365125"/>
            <a:ext cx="10458459" cy="1325563"/>
          </a:xfrm>
        </p:spPr>
        <p:txBody>
          <a:bodyPr>
            <a:normAutofit/>
          </a:bodyPr>
          <a:lstStyle/>
          <a:p>
            <a:r>
              <a:rPr lang="en-US" sz="3600" b="1" dirty="0">
                <a:solidFill>
                  <a:schemeClr val="tx1">
                    <a:lumMod val="85000"/>
                    <a:lumOff val="15000"/>
                  </a:schemeClr>
                </a:solidFill>
                <a:latin typeface="Arial" panose="020B0604020202020204" pitchFamily="34" charset="0"/>
                <a:cs typeface="Arial" panose="020B0604020202020204" pitchFamily="34" charset="0"/>
              </a:rPr>
              <a:t>Estimated Financial Returns and Assumptions</a:t>
            </a:r>
          </a:p>
        </p:txBody>
      </p:sp>
      <p:sp>
        <p:nvSpPr>
          <p:cNvPr id="4" name="Footer Placeholder 3">
            <a:extLst>
              <a:ext uri="{FF2B5EF4-FFF2-40B4-BE49-F238E27FC236}">
                <a16:creationId xmlns:a16="http://schemas.microsoft.com/office/drawing/2014/main" id="{5507C855-B839-95B6-9EA2-093923967C6B}"/>
              </a:ext>
            </a:extLst>
          </p:cNvPr>
          <p:cNvSpPr>
            <a:spLocks noGrp="1"/>
          </p:cNvSpPr>
          <p:nvPr>
            <p:ph type="ftr" sz="quarter" idx="11"/>
          </p:nvPr>
        </p:nvSpPr>
        <p:spPr>
          <a:xfrm>
            <a:off x="4038602" y="6490145"/>
            <a:ext cx="4114800" cy="250380"/>
          </a:xfrm>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F7E7619F-9C66-420C-88E0-81D9A3B4FEB7}"/>
              </a:ext>
            </a:extLst>
          </p:cNvPr>
          <p:cNvSpPr>
            <a:spLocks noGrp="1"/>
          </p:cNvSpPr>
          <p:nvPr>
            <p:ph type="sldNum" sz="quarter" idx="12"/>
          </p:nvPr>
        </p:nvSpPr>
        <p:spPr>
          <a:xfrm>
            <a:off x="8610601" y="6490145"/>
            <a:ext cx="2743200" cy="250380"/>
          </a:xfrm>
        </p:spPr>
        <p:txBody>
          <a:bodyPr/>
          <a:lstStyle/>
          <a:p>
            <a:fld id="{3AFC719D-C4A7-4544-876E-D411D11AF6C9}" type="slidenum">
              <a:rPr lang="en-US" smtClean="0"/>
              <a:t>30</a:t>
            </a:fld>
            <a:endParaRPr lang="en-US" dirty="0"/>
          </a:p>
        </p:txBody>
      </p:sp>
      <p:sp>
        <p:nvSpPr>
          <p:cNvPr id="6" name="Rectangle 7">
            <a:extLst>
              <a:ext uri="{FF2B5EF4-FFF2-40B4-BE49-F238E27FC236}">
                <a16:creationId xmlns:a16="http://schemas.microsoft.com/office/drawing/2014/main" id="{55A48ACE-D370-6BA3-A39B-CF7D87E5C9A5}"/>
              </a:ext>
            </a:extLst>
          </p:cNvPr>
          <p:cNvSpPr/>
          <p:nvPr/>
        </p:nvSpPr>
        <p:spPr>
          <a:xfrm>
            <a:off x="7466120" y="1574676"/>
            <a:ext cx="4725880"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8">
            <a:extLst>
              <a:ext uri="{FF2B5EF4-FFF2-40B4-BE49-F238E27FC236}">
                <a16:creationId xmlns:a16="http://schemas.microsoft.com/office/drawing/2014/main" id="{99386F57-8E81-E6DF-1A01-623E3BB7AB0B}"/>
              </a:ext>
            </a:extLst>
          </p:cNvPr>
          <p:cNvSpPr/>
          <p:nvPr/>
        </p:nvSpPr>
        <p:spPr>
          <a:xfrm>
            <a:off x="7168718" y="1574676"/>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11">
            <a:extLst>
              <a:ext uri="{FF2B5EF4-FFF2-40B4-BE49-F238E27FC236}">
                <a16:creationId xmlns:a16="http://schemas.microsoft.com/office/drawing/2014/main" id="{7B828AB6-CD3A-4CD3-8950-2942DDBEAC0D}"/>
              </a:ext>
            </a:extLst>
          </p:cNvPr>
          <p:cNvSpPr txBox="1"/>
          <p:nvPr/>
        </p:nvSpPr>
        <p:spPr>
          <a:xfrm>
            <a:off x="8019782" y="1667584"/>
            <a:ext cx="3618555"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Patient Steerage Assumptions</a:t>
            </a:r>
          </a:p>
        </p:txBody>
      </p:sp>
      <p:sp>
        <p:nvSpPr>
          <p:cNvPr id="9" name="TextBox 12">
            <a:extLst>
              <a:ext uri="{FF2B5EF4-FFF2-40B4-BE49-F238E27FC236}">
                <a16:creationId xmlns:a16="http://schemas.microsoft.com/office/drawing/2014/main" id="{025AE6BF-C458-13D4-626E-DAD4C1439055}"/>
              </a:ext>
            </a:extLst>
          </p:cNvPr>
          <p:cNvSpPr txBox="1"/>
          <p:nvPr/>
        </p:nvSpPr>
        <p:spPr>
          <a:xfrm>
            <a:off x="7466120" y="2250333"/>
            <a:ext cx="4616389" cy="738664"/>
          </a:xfrm>
          <a:prstGeom prst="rect">
            <a:avLst/>
          </a:prstGeom>
          <a:noFill/>
        </p:spPr>
        <p:txBody>
          <a:bodyPr wrap="square" rtlCol="0">
            <a:spAutoFit/>
          </a:bodyPr>
          <a:lstStyle/>
          <a:p>
            <a:r>
              <a:rPr lang="en-US" sz="1050" dirty="0">
                <a:solidFill/>
              </a:rPr>
              <a:t>KBA currently estimates that Saint Luke's University Health Network has 32% inpatient market share, and 18% outpatient market compared to hospitals/clinics in the Luzerne, Carbon, Schuylkill, Lehigh, Northampton, Warren, Hunterdon, and </a:t>
            </a:r>
            <a:r>
              <a:rPr lang="en-US" sz="1050" dirty="0" err="1">
                <a:solidFill/>
              </a:rPr>
              <a:t>Bucks.</a:t>
            </a:r>
            <a:r>
              <a:rPr lang="en-US" sz="1050" dirty="0">
                <a:solidFill/>
              </a:rPr>
              <a:t> Within a community network, we would assume market share to be:</a:t>
            </a:r>
          </a:p>
        </p:txBody>
      </p:sp>
      <p:sp>
        <p:nvSpPr>
          <p:cNvPr id="10" name="TextBox 13">
            <a:extLst>
              <a:ext uri="{FF2B5EF4-FFF2-40B4-BE49-F238E27FC236}">
                <a16:creationId xmlns:a16="http://schemas.microsoft.com/office/drawing/2014/main" id="{179940AC-5161-4A7C-F820-720723177F99}"/>
              </a:ext>
            </a:extLst>
          </p:cNvPr>
          <p:cNvSpPr txBox="1"/>
          <p:nvPr/>
        </p:nvSpPr>
        <p:spPr>
          <a:xfrm>
            <a:off x="7785777" y="2987377"/>
            <a:ext cx="488916" cy="307777"/>
          </a:xfrm>
          <a:prstGeom prst="rect">
            <a:avLst/>
          </a:prstGeom>
          <a:noFill/>
        </p:spPr>
        <p:txBody>
          <a:bodyPr wrap="none" rtlCol="0">
            <a:spAutoFit/>
          </a:bodyPr>
          <a:lstStyle/>
          <a:p>
            <a:r>
              <a:rPr lang="en-US" sz="1400" b="1" dirty="0"/>
              <a:t>Low</a:t>
            </a:r>
          </a:p>
        </p:txBody>
      </p:sp>
      <p:sp>
        <p:nvSpPr>
          <p:cNvPr id="11" name="TextBox 14">
            <a:extLst>
              <a:ext uri="{FF2B5EF4-FFF2-40B4-BE49-F238E27FC236}">
                <a16:creationId xmlns:a16="http://schemas.microsoft.com/office/drawing/2014/main" id="{7AC10C26-8A4C-C6CF-D8A6-005227E091A5}"/>
              </a:ext>
            </a:extLst>
          </p:cNvPr>
          <p:cNvSpPr txBox="1"/>
          <p:nvPr/>
        </p:nvSpPr>
        <p:spPr>
          <a:xfrm>
            <a:off x="9529856" y="2975309"/>
            <a:ext cx="643509" cy="307777"/>
          </a:xfrm>
          <a:prstGeom prst="rect">
            <a:avLst/>
          </a:prstGeom>
          <a:noFill/>
        </p:spPr>
        <p:txBody>
          <a:bodyPr wrap="none" rtlCol="0">
            <a:spAutoFit/>
          </a:bodyPr>
          <a:lstStyle/>
          <a:p>
            <a:r>
              <a:rPr lang="en-US" sz="1400" b="1" dirty="0"/>
              <a:t>Target</a:t>
            </a:r>
          </a:p>
        </p:txBody>
      </p:sp>
      <p:sp>
        <p:nvSpPr>
          <p:cNvPr id="12" name="TextBox 15">
            <a:extLst>
              <a:ext uri="{FF2B5EF4-FFF2-40B4-BE49-F238E27FC236}">
                <a16:creationId xmlns:a16="http://schemas.microsoft.com/office/drawing/2014/main" id="{0D3F3B85-69EC-8FED-A956-FFB8BE6FE5D7}"/>
              </a:ext>
            </a:extLst>
          </p:cNvPr>
          <p:cNvSpPr txBox="1"/>
          <p:nvPr/>
        </p:nvSpPr>
        <p:spPr>
          <a:xfrm>
            <a:off x="11244106" y="2991243"/>
            <a:ext cx="524503" cy="307777"/>
          </a:xfrm>
          <a:prstGeom prst="rect">
            <a:avLst/>
          </a:prstGeom>
          <a:noFill/>
        </p:spPr>
        <p:txBody>
          <a:bodyPr wrap="none" rtlCol="0">
            <a:spAutoFit/>
          </a:bodyPr>
          <a:lstStyle/>
          <a:p>
            <a:r>
              <a:rPr lang="en-US" sz="1400" b="1" dirty="0"/>
              <a:t>High</a:t>
            </a:r>
          </a:p>
        </p:txBody>
      </p:sp>
      <p:sp>
        <p:nvSpPr>
          <p:cNvPr id="13" name="TextBox 16">
            <a:extLst>
              <a:ext uri="{FF2B5EF4-FFF2-40B4-BE49-F238E27FC236}">
                <a16:creationId xmlns:a16="http://schemas.microsoft.com/office/drawing/2014/main" id="{19FEE2C1-9161-C3CD-EE7F-6727C796DF0D}"/>
              </a:ext>
            </a:extLst>
          </p:cNvPr>
          <p:cNvSpPr txBox="1"/>
          <p:nvPr/>
        </p:nvSpPr>
        <p:spPr>
          <a:xfrm>
            <a:off x="7531093" y="3237256"/>
            <a:ext cx="1383712" cy="369332"/>
          </a:xfrm>
          <a:prstGeom prst="rect">
            <a:avLst/>
          </a:prstGeom>
          <a:noFill/>
        </p:spPr>
        <p:txBody>
          <a:bodyPr wrap="none" rtlCol="0">
            <a:spAutoFit/>
          </a:bodyPr>
          <a:lstStyle/>
          <a:p>
            <a:r>
              <a:rPr lang="en-US" dirty="0">
                <a:solidFill/>
              </a:rPr>
              <a:t>37%/25%</a:t>
            </a:r>
          </a:p>
        </p:txBody>
      </p:sp>
      <p:sp>
        <p:nvSpPr>
          <p:cNvPr id="14" name="TextBox 17">
            <a:extLst>
              <a:ext uri="{FF2B5EF4-FFF2-40B4-BE49-F238E27FC236}">
                <a16:creationId xmlns:a16="http://schemas.microsoft.com/office/drawing/2014/main" id="{1CC51BEE-0560-3D56-4AE8-86D704578774}"/>
              </a:ext>
            </a:extLst>
          </p:cNvPr>
          <p:cNvSpPr txBox="1"/>
          <p:nvPr/>
        </p:nvSpPr>
        <p:spPr>
          <a:xfrm>
            <a:off x="9358154" y="3237256"/>
            <a:ext cx="1383712" cy="369332"/>
          </a:xfrm>
          <a:prstGeom prst="rect">
            <a:avLst/>
          </a:prstGeom>
          <a:noFill/>
        </p:spPr>
        <p:txBody>
          <a:bodyPr wrap="none" rtlCol="0">
            <a:spAutoFit/>
          </a:bodyPr>
          <a:lstStyle/>
          <a:p>
            <a:r>
              <a:rPr lang="en-US" dirty="0">
                <a:solidFill/>
              </a:rPr>
              <a:t>42%/32%</a:t>
            </a:r>
          </a:p>
        </p:txBody>
      </p:sp>
      <p:sp>
        <p:nvSpPr>
          <p:cNvPr id="15" name="TextBox 18">
            <a:extLst>
              <a:ext uri="{FF2B5EF4-FFF2-40B4-BE49-F238E27FC236}">
                <a16:creationId xmlns:a16="http://schemas.microsoft.com/office/drawing/2014/main" id="{A17D3C89-20DF-71B2-E5D8-1DA9D1F926E7}"/>
              </a:ext>
            </a:extLst>
          </p:cNvPr>
          <p:cNvSpPr txBox="1"/>
          <p:nvPr/>
        </p:nvSpPr>
        <p:spPr>
          <a:xfrm>
            <a:off x="10996093" y="3237256"/>
            <a:ext cx="1383712" cy="369332"/>
          </a:xfrm>
          <a:prstGeom prst="rect">
            <a:avLst/>
          </a:prstGeom>
          <a:noFill/>
        </p:spPr>
        <p:txBody>
          <a:bodyPr wrap="none" rtlCol="0">
            <a:spAutoFit/>
          </a:bodyPr>
          <a:lstStyle/>
          <a:p>
            <a:r>
              <a:rPr lang="en-US" dirty="0">
                <a:solidFill/>
              </a:rPr>
              <a:t>50%/40%</a:t>
            </a:r>
          </a:p>
        </p:txBody>
      </p:sp>
      <p:sp>
        <p:nvSpPr>
          <p:cNvPr id="27" name="Rectangle 2">
            <a:extLst>
              <a:ext uri="{FF2B5EF4-FFF2-40B4-BE49-F238E27FC236}">
                <a16:creationId xmlns:a16="http://schemas.microsoft.com/office/drawing/2014/main" id="{E854312B-28D3-E83C-2C75-6E860911BB50}"/>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28" name="Title 1">
            <a:extLst>
              <a:ext uri="{FF2B5EF4-FFF2-40B4-BE49-F238E27FC236}">
                <a16:creationId xmlns:a16="http://schemas.microsoft.com/office/drawing/2014/main" id="{2DAB5DAF-375F-8C08-74DE-3B9B1A009F3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SINGLE-YEAR PROJECTION</a:t>
            </a:r>
          </a:p>
        </p:txBody>
      </p:sp>
      <p:pic>
        <p:nvPicPr>
          <p:cNvPr id="29" name="Content Placeholder 28"/>
          <p:cNvPicPr>
            <a:picLocks noGrp="1"/>
          </p:cNvPicPr>
          <p:nvPr>
            <p:ph/>
          </p:nvPr>
        </p:nvPicPr>
        <p:blipFill>
          <a:blip r:embed="rId2" cstate="print"/>
          <a:stretch>
            <a:fillRect/>
          </a:stretch>
        </p:blipFill>
        <p:spPr>
          <a:xfrm>
            <a:off x="1024128" y="1618488"/>
            <a:ext cx="6382512" cy="4553712"/>
          </a:xfrm>
          <a:prstGeom prst="rect">
            <a:avLst/>
          </a:prstGeom>
        </p:spPr>
      </p:pic>
      <p:sp>
        <p:nvSpPr>
          <p:cNvPr id="30" name="Rectangle 20">
            <a:extLst>
              <a:ext uri="{FF2B5EF4-FFF2-40B4-BE49-F238E27FC236}">
                <a16:creationId xmlns:a16="http://schemas.microsoft.com/office/drawing/2014/main" id="{FDC2F995-357C-5814-6547-D4D6DD545701}"/>
              </a:ext>
            </a:extLst>
          </p:cNvPr>
          <p:cNvSpPr/>
          <p:nvPr/>
        </p:nvSpPr>
        <p:spPr>
          <a:xfrm>
            <a:off x="7585106" y="5348162"/>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21">
            <a:extLst>
              <a:ext uri="{FF2B5EF4-FFF2-40B4-BE49-F238E27FC236}">
                <a16:creationId xmlns:a16="http://schemas.microsoft.com/office/drawing/2014/main" id="{3875C2B2-020C-AA84-1D9A-FE95E7533BBD}"/>
              </a:ext>
            </a:extLst>
          </p:cNvPr>
          <p:cNvSpPr/>
          <p:nvPr/>
        </p:nvSpPr>
        <p:spPr>
          <a:xfrm>
            <a:off x="7496329" y="4095424"/>
            <a:ext cx="4682971"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22">
            <a:extLst>
              <a:ext uri="{FF2B5EF4-FFF2-40B4-BE49-F238E27FC236}">
                <a16:creationId xmlns:a16="http://schemas.microsoft.com/office/drawing/2014/main" id="{9CACB197-6746-39E5-60AF-33DE17EE5AF2}"/>
              </a:ext>
            </a:extLst>
          </p:cNvPr>
          <p:cNvSpPr/>
          <p:nvPr/>
        </p:nvSpPr>
        <p:spPr>
          <a:xfrm>
            <a:off x="7198927" y="4095424"/>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23">
            <a:extLst>
              <a:ext uri="{FF2B5EF4-FFF2-40B4-BE49-F238E27FC236}">
                <a16:creationId xmlns:a16="http://schemas.microsoft.com/office/drawing/2014/main" id="{66309B43-7FF7-B425-9F01-95516FD4602A}"/>
              </a:ext>
            </a:extLst>
          </p:cNvPr>
          <p:cNvSpPr txBox="1"/>
          <p:nvPr/>
        </p:nvSpPr>
        <p:spPr>
          <a:xfrm>
            <a:off x="8049991" y="4188332"/>
            <a:ext cx="3932743"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Commercial Margin Assumptions</a:t>
            </a:r>
          </a:p>
        </p:txBody>
      </p:sp>
      <p:sp>
        <p:nvSpPr>
          <p:cNvPr id="34" name="TextBox 24">
            <a:extLst>
              <a:ext uri="{FF2B5EF4-FFF2-40B4-BE49-F238E27FC236}">
                <a16:creationId xmlns:a16="http://schemas.microsoft.com/office/drawing/2014/main" id="{B8DCCA67-38D9-2A17-4F45-0A9722B86700}"/>
              </a:ext>
            </a:extLst>
          </p:cNvPr>
          <p:cNvSpPr txBox="1"/>
          <p:nvPr/>
        </p:nvSpPr>
        <p:spPr>
          <a:xfrm>
            <a:off x="7496329" y="4771081"/>
            <a:ext cx="4616389" cy="577081"/>
          </a:xfrm>
          <a:prstGeom prst="rect">
            <a:avLst/>
          </a:prstGeom>
          <a:noFill/>
        </p:spPr>
        <p:txBody>
          <a:bodyPr wrap="square" rtlCol="0">
            <a:spAutoFit/>
          </a:bodyPr>
          <a:lstStyle/>
          <a:p>
            <a:r>
              <a:rPr lang="en-US" sz="1050" dirty="0">
                <a:solidFill/>
              </a:rPr>
              <a:t>KBA estimates DTE margins to be similar to the margin of other commercial plans (prices are lower but billing costs and self-payments are higher). We model DTE commercial margin as on target, below and above other commercial plans.</a:t>
            </a:r>
          </a:p>
        </p:txBody>
      </p:sp>
      <p:sp>
        <p:nvSpPr>
          <p:cNvPr id="35" name="TextBox 25">
            <a:extLst>
              <a:ext uri="{FF2B5EF4-FFF2-40B4-BE49-F238E27FC236}">
                <a16:creationId xmlns:a16="http://schemas.microsoft.com/office/drawing/2014/main" id="{C9AC82C0-B019-5539-65E4-41C9E823577B}"/>
              </a:ext>
            </a:extLst>
          </p:cNvPr>
          <p:cNvSpPr txBox="1"/>
          <p:nvPr/>
        </p:nvSpPr>
        <p:spPr>
          <a:xfrm>
            <a:off x="7694695" y="5300748"/>
            <a:ext cx="488916" cy="307777"/>
          </a:xfrm>
          <a:prstGeom prst="rect">
            <a:avLst/>
          </a:prstGeom>
          <a:noFill/>
        </p:spPr>
        <p:txBody>
          <a:bodyPr wrap="none" rtlCol="0">
            <a:spAutoFit/>
          </a:bodyPr>
          <a:lstStyle/>
          <a:p>
            <a:r>
              <a:rPr lang="en-US" sz="1400" b="1" dirty="0"/>
              <a:t>Low</a:t>
            </a:r>
          </a:p>
        </p:txBody>
      </p:sp>
      <p:sp>
        <p:nvSpPr>
          <p:cNvPr id="36" name="TextBox 26">
            <a:extLst>
              <a:ext uri="{FF2B5EF4-FFF2-40B4-BE49-F238E27FC236}">
                <a16:creationId xmlns:a16="http://schemas.microsoft.com/office/drawing/2014/main" id="{815EB384-04F9-5C9D-ABA0-2BAA47F0BA2F}"/>
              </a:ext>
            </a:extLst>
          </p:cNvPr>
          <p:cNvSpPr txBox="1"/>
          <p:nvPr/>
        </p:nvSpPr>
        <p:spPr>
          <a:xfrm>
            <a:off x="9560065" y="5300748"/>
            <a:ext cx="643509" cy="307777"/>
          </a:xfrm>
          <a:prstGeom prst="rect">
            <a:avLst/>
          </a:prstGeom>
          <a:noFill/>
        </p:spPr>
        <p:txBody>
          <a:bodyPr wrap="none" rtlCol="0">
            <a:spAutoFit/>
          </a:bodyPr>
          <a:lstStyle/>
          <a:p>
            <a:r>
              <a:rPr lang="en-US" sz="1400" b="1" dirty="0"/>
              <a:t>Target</a:t>
            </a:r>
          </a:p>
        </p:txBody>
      </p:sp>
      <p:sp>
        <p:nvSpPr>
          <p:cNvPr id="37" name="TextBox 27">
            <a:extLst>
              <a:ext uri="{FF2B5EF4-FFF2-40B4-BE49-F238E27FC236}">
                <a16:creationId xmlns:a16="http://schemas.microsoft.com/office/drawing/2014/main" id="{36C77A8A-C2FA-01CE-D03E-D3B8799A48F1}"/>
              </a:ext>
            </a:extLst>
          </p:cNvPr>
          <p:cNvSpPr txBox="1"/>
          <p:nvPr/>
        </p:nvSpPr>
        <p:spPr>
          <a:xfrm>
            <a:off x="11424088" y="5300748"/>
            <a:ext cx="524503" cy="307777"/>
          </a:xfrm>
          <a:prstGeom prst="rect">
            <a:avLst/>
          </a:prstGeom>
          <a:noFill/>
        </p:spPr>
        <p:txBody>
          <a:bodyPr wrap="none" rtlCol="0">
            <a:spAutoFit/>
          </a:bodyPr>
          <a:lstStyle/>
          <a:p>
            <a:r>
              <a:rPr lang="en-US" sz="1400" b="1" dirty="0"/>
              <a:t>High</a:t>
            </a:r>
          </a:p>
        </p:txBody>
      </p:sp>
      <p:sp>
        <p:nvSpPr>
          <p:cNvPr id="38" name="TextBox 28">
            <a:extLst>
              <a:ext uri="{FF2B5EF4-FFF2-40B4-BE49-F238E27FC236}">
                <a16:creationId xmlns:a16="http://schemas.microsoft.com/office/drawing/2014/main" id="{D65E0190-DD46-4DC6-8726-32FFA02EDD89}"/>
              </a:ext>
            </a:extLst>
          </p:cNvPr>
          <p:cNvSpPr txBox="1"/>
          <p:nvPr/>
        </p:nvSpPr>
        <p:spPr>
          <a:xfrm>
            <a:off x="7647246" y="5559601"/>
            <a:ext cx="1099083" cy="369332"/>
          </a:xfrm>
          <a:prstGeom prst="rect">
            <a:avLst/>
          </a:prstGeom>
          <a:noFill/>
        </p:spPr>
        <p:txBody>
          <a:bodyPr wrap="none" rtlCol="0">
            <a:spAutoFit/>
          </a:bodyPr>
          <a:lstStyle/>
          <a:p>
            <a:r>
              <a:rPr lang="en-US" dirty="0">
                <a:solidFill/>
              </a:rPr>
              <a:t>5% Below</a:t>
            </a:r>
          </a:p>
        </p:txBody>
      </p:sp>
      <p:sp>
        <p:nvSpPr>
          <p:cNvPr id="39" name="TextBox 29">
            <a:extLst>
              <a:ext uri="{FF2B5EF4-FFF2-40B4-BE49-F238E27FC236}">
                <a16:creationId xmlns:a16="http://schemas.microsoft.com/office/drawing/2014/main" id="{6BC1D210-D75A-27AF-1381-C5107A20B86C}"/>
              </a:ext>
            </a:extLst>
          </p:cNvPr>
          <p:cNvSpPr txBox="1"/>
          <p:nvPr/>
        </p:nvSpPr>
        <p:spPr>
          <a:xfrm>
            <a:off x="9567361" y="5571573"/>
            <a:ext cx="700833" cy="369332"/>
          </a:xfrm>
          <a:prstGeom prst="rect">
            <a:avLst/>
          </a:prstGeom>
          <a:noFill/>
        </p:spPr>
        <p:txBody>
          <a:bodyPr wrap="none" rtlCol="0">
            <a:spAutoFit/>
          </a:bodyPr>
          <a:lstStyle/>
          <a:p>
            <a:r>
              <a:rPr lang="en-US" dirty="0">
                <a:solidFill/>
              </a:rPr>
              <a:t>Same</a:t>
            </a:r>
          </a:p>
        </p:txBody>
      </p:sp>
      <p:sp>
        <p:nvSpPr>
          <p:cNvPr id="40" name="TextBox 30">
            <a:extLst>
              <a:ext uri="{FF2B5EF4-FFF2-40B4-BE49-F238E27FC236}">
                <a16:creationId xmlns:a16="http://schemas.microsoft.com/office/drawing/2014/main" id="{CFC46E4D-069A-8205-01CE-EDFC581CC3D6}"/>
              </a:ext>
            </a:extLst>
          </p:cNvPr>
          <p:cNvSpPr txBox="1"/>
          <p:nvPr/>
        </p:nvSpPr>
        <p:spPr>
          <a:xfrm>
            <a:off x="11011814" y="5560691"/>
            <a:ext cx="1112741" cy="369332"/>
          </a:xfrm>
          <a:prstGeom prst="rect">
            <a:avLst/>
          </a:prstGeom>
          <a:noFill/>
        </p:spPr>
        <p:txBody>
          <a:bodyPr wrap="none" rtlCol="0">
            <a:spAutoFit/>
          </a:bodyPr>
          <a:lstStyle/>
          <a:p>
            <a:r>
              <a:rPr lang="en-US" dirty="0">
                <a:solidFill/>
              </a:rPr>
              <a:t>5% Above</a:t>
            </a:r>
          </a:p>
        </p:txBody>
      </p:sp>
    </p:spTree>
    <p:extLst>
      <p:ext uri="{BB962C8B-B14F-4D97-AF65-F5344CB8AC3E}">
        <p14:creationId xmlns:p14="http://schemas.microsoft.com/office/powerpoint/2010/main" val="34709052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600" b="0" dirty="0">
                <a:solidFill>
                  <a:schemeClr val="bg1"/>
                </a:solidFill>
              </a:rPr>
              <a:t>FOUR-YEAR PROJECTIONS</a:t>
            </a:r>
          </a:p>
        </p:txBody>
      </p:sp>
      <p:graphicFrame>
        <p:nvGraphicFramePr>
          <p:cNvPr id="7" name="Table 6"/>
          <p:cNvGraphicFramePr>
            <a:graphicFrameLocks noGrp="1"/>
          </p:cNvGraphicFramePr>
          <p:nvPr/>
        </p:nvGraphicFramePr>
        <p:xfrm>
          <a:off x="6164661" y="25124"/>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870.6K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1,786.9K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2,978.2K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4,536.1K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563.4K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1,653.7K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2,876.2K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dirty="0">
                          <a:solidFill>
                            <a:srgbClr val="000000">
                              <a:alpha val="100000"/>
                            </a:srgbClr>
                          </a:solidFill>
                          <a:latin typeface="Arial"/>
                          <a:cs typeface="Arial"/>
                          <a:sym typeface="Arial"/>
                        </a:rPr>
                        <a:t>4,474.9K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8" name="Table 7"/>
          <p:cNvGraphicFramePr>
            <a:graphicFrameLocks noGrp="1"/>
          </p:cNvGraphicFramePr>
          <p:nvPr/>
        </p:nvGraphicFramePr>
        <p:xfrm>
          <a:off x="6164661" y="2311124"/>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1,191.3K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2,382.6K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3,940.4K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6,048.1K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892.5K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2,265.0K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3,863.6K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6,026.5K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9" name="Table 8"/>
          <p:cNvGraphicFramePr>
            <a:graphicFrameLocks noGrp="1"/>
          </p:cNvGraphicFramePr>
          <p:nvPr/>
        </p:nvGraphicFramePr>
        <p:xfrm>
          <a:off x="6164661" y="4597124"/>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595.6K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1,191.3K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1,970.2K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3,024.1K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281.2K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1,042.5K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1,841.8K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2,923.3K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10" name="Content Placeholder 9"/>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767221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32</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583404" y="3031902"/>
            <a:ext cx="6145216" cy="752041"/>
          </a:xfrm>
        </p:spPr>
        <p:txBody>
          <a:bodyPr>
            <a:noAutofit/>
          </a:bodyPr>
          <a:lstStyle/>
          <a:p>
            <a:pPr>
              <a:lnSpc>
                <a:spcPct val="100000"/>
              </a:lnSpc>
              <a:spcBef>
                <a:spcPts val="600"/>
              </a:spcBef>
            </a:pPr>
            <a:r>
              <a:rPr lang="en-US" sz="36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rPr>
              <a:t>NOTE:  Please see detailed financial analysis and assumptions used starting on page 23.  </a:t>
            </a:r>
          </a:p>
          <a:p>
            <a:pPr marL="285750" indent="-285750">
              <a:buFont typeface="Arial" panose="020B0604020202020204" pitchFamily="34" charset="0"/>
              <a:buChar char="•"/>
            </a:pPr>
            <a:r>
              <a:rPr lang="en-US" sz="1600" dirty="0">
                <a:solidFill/>
              </a:rPr>
              <a:t>Financial projections do not include 340B contribution margin, which could represent $136 PMPM by optimizing 340B through Rx plan design, SLUHN’s approved site(s) with network integration, and development of SLUHN’s proprietary PBM program.</a:t>
            </a:r>
            <a:r>
              <a:rPr lang="en-US" sz="1600" dirty="0">
                <a:highlight>
                  <a:srgbClr val="FFFF00"/>
                </a:highlight>
              </a:rPr>
              <a:t>   </a:t>
            </a:r>
          </a:p>
        </p:txBody>
      </p:sp>
      <p:graphicFrame>
        <p:nvGraphicFramePr>
          <p:cNvPr id="9" name="Table 8">
            <a:extLst>
              <a:ext uri="{FF2B5EF4-FFF2-40B4-BE49-F238E27FC236}">
                <a16:creationId xmlns:a16="http://schemas.microsoft.com/office/drawing/2014/main" id="{8FAAE60C-74C6-07CE-DA7C-A82799399200}"/>
              </a:ext>
            </a:extLst>
          </p:cNvPr>
          <p:cNvGraphicFramePr>
            <a:graphicFrameLocks noGrp="1"/>
          </p:cNvGraphicFramePr>
          <p:nvPr>
            <p:extLst>
              <p:ext uri="{D42A27DB-BD31-4B8C-83A1-F6EECF244321}">
                <p14:modId xmlns:p14="http://schemas.microsoft.com/office/powerpoint/2010/main" val="2662235478"/>
              </p:ext>
            </p:extLst>
          </p:nvPr>
        </p:nvGraphicFramePr>
        <p:xfrm>
          <a:off x="2131906" y="489238"/>
          <a:ext cx="9052560" cy="457200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a margin similar to other commercial plans and target patient steerage (32% ambulatory, 42% inpatient)..</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a margin similar to other commercial plans and target patient steerage (32% ambulatory, 42% inpatient)..</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a margin similar to other commercial plans and target patient steerage (32% ambulatory, 42% inpatient)..</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a margin similar to other commercial plans and target patient steerage (32% ambulatory, 42% inpatient)..</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a margin similar to other commercial plans and target patient steerage (32% ambulatory, 42% inpatient)..</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a margin similar to other commercial plans and target patient steerage (32% ambulatory, 42% inpatient)..</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a margin similar to other commercial plans and target patient steerage (32% ambulatory, 42% inpatient)..</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a margin similar to other commercial plans and target patient steerage (32% ambulatory, 42% inpatient)..</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291K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463K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172K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120K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-284K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$ 1,456K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377K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$ 2,317K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861K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223K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-101K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$ 2,911K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754K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$ 4,634K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$ 1,723K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$ 1,200K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446K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128K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$ 7,278K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$ 1,885K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$11,585K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$ 4,306K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$ 3,001K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$1,115K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815K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$29,114K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$ 7,541K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$46,340K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$17,226K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$12,003K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$4,462K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$4,252K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$58,228K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$15,082K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$92,680K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$34,452K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$24,006K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$8,924K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dirty="0">
                          <a:solidFill>
                            <a:srgbClr val="FFFFFF">
                              <a:alpha val="100000"/>
                            </a:srgbClr>
                          </a:solidFill>
                          <a:latin typeface="Arial"/>
                          <a:cs typeface="Arial"/>
                          <a:sym typeface="Arial"/>
                        </a:rPr>
                        <a:t>$8,834K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0268353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3E4D1330-6559-4480-ECC7-66909D09D0BD}"/>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Key Benefit Administrators</a:t>
            </a:r>
            <a:endParaRPr lang="en-US" dirty="0">
              <a:latin typeface="Arial" panose="020B0604020202020204" pitchFamily="34" charset="0"/>
              <a:cs typeface="Arial" panose="020B0604020202020204" pitchFamily="34" charset="0"/>
            </a:endParaRPr>
          </a:p>
        </p:txBody>
      </p:sp>
      <p:sp>
        <p:nvSpPr>
          <p:cNvPr id="3" name="Slide Number Placeholder 4">
            <a:extLst>
              <a:ext uri="{FF2B5EF4-FFF2-40B4-BE49-F238E27FC236}">
                <a16:creationId xmlns:a16="http://schemas.microsoft.com/office/drawing/2014/main" id="{FAD03FEC-C905-CEF4-1EA9-88A1334154D0}"/>
              </a:ext>
            </a:extLst>
          </p:cNvPr>
          <p:cNvSpPr>
            <a:spLocks noGrp="1"/>
          </p:cNvSpPr>
          <p:nvPr>
            <p:ph type="sldNum" sz="quarter" idx="12"/>
          </p:nvPr>
        </p:nvSpPr>
        <p:spPr/>
        <p:txBody>
          <a:bodyPr/>
          <a:lstStyle/>
          <a:p>
            <a:fld id="{3AFC719D-C4A7-4544-876E-D411D11AF6C9}" type="slidenum">
              <a:rPr lang="en-US" smtClean="0">
                <a:latin typeface="Arial" panose="020B0604020202020204" pitchFamily="34" charset="0"/>
                <a:cs typeface="Arial" panose="020B0604020202020204" pitchFamily="34" charset="0"/>
              </a:rPr>
              <a:t>33</a:t>
            </a:fld>
            <a:endParaRPr lang="en-US" dirty="0">
              <a:latin typeface="Arial" panose="020B0604020202020204" pitchFamily="34" charset="0"/>
              <a:cs typeface="Arial" panose="020B0604020202020204" pitchFamily="34" charset="0"/>
            </a:endParaRPr>
          </a:p>
        </p:txBody>
      </p:sp>
      <p:graphicFrame>
        <p:nvGraphicFramePr>
          <p:cNvPr id="4" name="Table 5">
            <a:extLst>
              <a:ext uri="{FF2B5EF4-FFF2-40B4-BE49-F238E27FC236}">
                <a16:creationId xmlns:a16="http://schemas.microsoft.com/office/drawing/2014/main" id="{176BAF2A-5136-E457-9AAC-D0878752F10C}"/>
              </a:ext>
            </a:extLst>
          </p:cNvPr>
          <p:cNvGraphicFramePr>
            <a:graphicFrameLocks noGrp="1"/>
          </p:cNvGraphicFramePr>
          <p:nvPr/>
        </p:nvGraphicFramePr>
        <p:xfrm>
          <a:off x="438153" y="362843"/>
          <a:ext cx="6972297" cy="132080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600" b="1" dirty="0">
                          <a:solidFill>
                            <a:schemeClr val="bg1"/>
                          </a:solidFill>
                        </a:rPr>
                        <a:t>Pre-DTE Cohort of 5,000 Members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600" dirty="0"/>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$ 5,822,400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$ 5,954,400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$ 2,780,100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$ 14,556,900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$ 1,508,128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$ 1,542,319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$ 720,106.3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$ 3,770,553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5" name="Straight Connector 13">
            <a:extLst>
              <a:ext uri="{FF2B5EF4-FFF2-40B4-BE49-F238E27FC236}">
                <a16:creationId xmlns:a16="http://schemas.microsoft.com/office/drawing/2014/main" id="{8EA958C5-E105-8A94-794A-7A8EB2DFEBDC}"/>
              </a:ext>
            </a:extLst>
          </p:cNvPr>
          <p:cNvCxnSpPr/>
          <p:nvPr/>
        </p:nvCxnSpPr>
        <p:spPr>
          <a:xfrm>
            <a:off x="336551" y="3314684"/>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6" name="Table 14">
            <a:extLst>
              <a:ext uri="{FF2B5EF4-FFF2-40B4-BE49-F238E27FC236}">
                <a16:creationId xmlns:a16="http://schemas.microsoft.com/office/drawing/2014/main" id="{FF3ACACB-7F38-7EAA-4BDF-1A816CA00AAE}"/>
              </a:ext>
            </a:extLst>
          </p:cNvPr>
          <p:cNvGraphicFramePr>
            <a:graphicFrameLocks noGrp="1"/>
          </p:cNvGraphicFramePr>
          <p:nvPr/>
        </p:nvGraphicFramePr>
        <p:xfrm>
          <a:off x="482600" y="3684017"/>
          <a:ext cx="6927847" cy="2225040"/>
        </p:xfrm>
        <a:graphic>
          <a:graphicData uri="http://schemas.openxmlformats.org/drawingml/2006/table">
            <a:tbl>
              <a:tblPr firstRow="1" bandRow="1">
                <a:tableStyleId>{5940675A-B579-460E-94D1-54222C63F5DA}</a:tableStyleId>
              </a:tblPr>
              <a:tblGrid>
                <a:gridCol w="5622925">
                  <a:extLst>
                    <a:ext uri="{9D8B030D-6E8A-4147-A177-3AD203B41FA5}">
                      <a16:colId xmlns:a16="http://schemas.microsoft.com/office/drawing/2014/main" val="1938271373"/>
                    </a:ext>
                  </a:extLst>
                </a:gridCol>
                <a:gridCol w="1304922">
                  <a:extLst>
                    <a:ext uri="{9D8B030D-6E8A-4147-A177-3AD203B41FA5}">
                      <a16:colId xmlns:a16="http://schemas.microsoft.com/office/drawing/2014/main" val="232002059"/>
                    </a:ext>
                  </a:extLst>
                </a:gridCol>
              </a:tblGrid>
              <a:tr h="370840">
                <a:tc>
                  <a:txBody>
                    <a:bodyPr/>
                    <a:lstStyle/>
                    <a:p>
                      <a:r>
                        <a:rPr lang="en-US" dirty="0"/>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$ 2,230,954</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dirty="0"/>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$ 60,000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dirty="0"/>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$ 2,290,954</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dirty="0">
                          <a:solidFill/>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-$ 150,000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dirty="0"/>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b="1" dirty="0"/>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b="1" dirty="0">
                          <a:solidFill>
                            <a:schemeClr val="accent6">
                              <a:lumMod val="75000"/>
                            </a:schemeClr>
                          </a:solidFill>
                        </a:rPr>
                        <a:t>$ 1,960,954</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7" name="Table 15">
            <a:extLst>
              <a:ext uri="{FF2B5EF4-FFF2-40B4-BE49-F238E27FC236}">
                <a16:creationId xmlns:a16="http://schemas.microsoft.com/office/drawing/2014/main" id="{32A51F3A-032C-30E2-F635-DD59B5A29A34}"/>
              </a:ext>
            </a:extLst>
          </p:cNvPr>
          <p:cNvGraphicFramePr>
            <a:graphicFrameLocks noGrp="1"/>
          </p:cNvGraphicFramePr>
          <p:nvPr/>
        </p:nvGraphicFramePr>
        <p:xfrm>
          <a:off x="438152" y="1832834"/>
          <a:ext cx="6972296" cy="100584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600" b="1" dirty="0">
                          <a:solidFill>
                            <a:schemeClr val="bg1"/>
                          </a:solidFill>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600" dirty="0"/>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$ 7,641,900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$ 10,585,600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$ 4,942,400</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$ 23,169,900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$ 1,979,418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$ 2,741,900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$ 1,280,189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$ 6,001,507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8" name="TextBox 1">
            <a:extLst>
              <a:ext uri="{FF2B5EF4-FFF2-40B4-BE49-F238E27FC236}">
                <a16:creationId xmlns:a16="http://schemas.microsoft.com/office/drawing/2014/main" id="{60820A86-1B9D-21A4-BBB6-DDFB73605882}"/>
              </a:ext>
            </a:extLst>
          </p:cNvPr>
          <p:cNvSpPr txBox="1"/>
          <p:nvPr/>
        </p:nvSpPr>
        <p:spPr>
          <a:xfrm>
            <a:off x="7772647" y="875949"/>
            <a:ext cx="4318001" cy="738664"/>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Assuming proportional revenues from market shares of 32% (inpatient) and 18% (outpatient)</a:t>
            </a:r>
          </a:p>
        </p:txBody>
      </p:sp>
      <p:sp>
        <p:nvSpPr>
          <p:cNvPr id="9" name="TextBox 2">
            <a:extLst>
              <a:ext uri="{FF2B5EF4-FFF2-40B4-BE49-F238E27FC236}">
                <a16:creationId xmlns:a16="http://schemas.microsoft.com/office/drawing/2014/main" id="{6CDBA057-BBD2-8F54-E977-26B782E37F88}"/>
              </a:ext>
            </a:extLst>
          </p:cNvPr>
          <p:cNvSpPr txBox="1"/>
          <p:nvPr/>
        </p:nvSpPr>
        <p:spPr>
          <a:xfrm>
            <a:off x="7772646" y="1399169"/>
            <a:ext cx="4318001" cy="523220"/>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Conservatively assuming a commercial margin of 25.9% (70% of the estimated commercial margin)</a:t>
            </a:r>
          </a:p>
        </p:txBody>
      </p:sp>
      <p:sp>
        <p:nvSpPr>
          <p:cNvPr id="10" name="TextBox 6">
            <a:extLst>
              <a:ext uri="{FF2B5EF4-FFF2-40B4-BE49-F238E27FC236}">
                <a16:creationId xmlns:a16="http://schemas.microsoft.com/office/drawing/2014/main" id="{C690F22E-C9CA-61DC-5584-149573110610}"/>
              </a:ext>
            </a:extLst>
          </p:cNvPr>
          <p:cNvSpPr txBox="1"/>
          <p:nvPr/>
        </p:nvSpPr>
        <p:spPr>
          <a:xfrm>
            <a:off x="7772646" y="2133704"/>
            <a:ext cx="4318001" cy="523220"/>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⁰ Assuming 42% market steerage based on KBA narrow network DTE experience</a:t>
            </a:r>
          </a:p>
        </p:txBody>
      </p:sp>
      <p:sp>
        <p:nvSpPr>
          <p:cNvPr id="11" name="TextBox 7">
            <a:extLst>
              <a:ext uri="{FF2B5EF4-FFF2-40B4-BE49-F238E27FC236}">
                <a16:creationId xmlns:a16="http://schemas.microsoft.com/office/drawing/2014/main" id="{A897897D-C568-B204-6568-514AD4B71A5C}"/>
              </a:ext>
            </a:extLst>
          </p:cNvPr>
          <p:cNvSpPr txBox="1"/>
          <p:nvPr/>
        </p:nvSpPr>
        <p:spPr>
          <a:xfrm>
            <a:off x="7772646" y="2690336"/>
            <a:ext cx="4318001" cy="1384995"/>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Conservatively assuming a commercial margin of 25.9%, with a 10 percentage-point reduction to reflect competitive-edge rates and a 10 percentage-point increase to reflect lower billing costs and better patient-responsibility collections because of the plan patient card.  </a:t>
            </a:r>
          </a:p>
        </p:txBody>
      </p:sp>
    </p:spTree>
    <p:extLst>
      <p:ext uri="{BB962C8B-B14F-4D97-AF65-F5344CB8AC3E}">
        <p14:creationId xmlns:p14="http://schemas.microsoft.com/office/powerpoint/2010/main" val="14198165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9B37791B-B040-4694-BFDC-8DD132D86E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5232400" y="1367673"/>
            <a:ext cx="6124575" cy="2665509"/>
          </a:xfrm>
        </p:spPr>
        <p:txBody>
          <a:bodyPr vert="horz" lIns="91440" tIns="45720" rIns="91440" bIns="45720" rtlCol="0" anchor="b">
            <a:normAutofit/>
          </a:bodyPr>
          <a:lstStyle/>
          <a:p>
            <a:pPr algn="r" defTabSz="914400"/>
            <a:r>
              <a:rPr lang="en-US" sz="6100" kern="1200" dirty="0">
                <a:solidFill>
                  <a:srgbClr val="244F9A"/>
                </a:solidFill>
                <a:latin typeface="+mj-lt"/>
                <a:ea typeface="+mj-ea"/>
                <a:cs typeface="+mj-cs"/>
              </a:rPr>
              <a:t>FINANCIAL PROJECTIONS &amp; ASSUMPTIONS</a:t>
            </a:r>
          </a:p>
        </p:txBody>
      </p:sp>
      <p:grpSp>
        <p:nvGrpSpPr>
          <p:cNvPr id="28" name="Group 27">
            <a:extLst>
              <a:ext uri="{FF2B5EF4-FFF2-40B4-BE49-F238E27FC236}">
                <a16:creationId xmlns:a16="http://schemas.microsoft.com/office/drawing/2014/main" id="{0DBA5192-D1D6-4385-9B20-7991E99218E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
            <a:ext cx="4581527" cy="6858002"/>
            <a:chOff x="-2" y="-1"/>
            <a:chExt cx="4581527" cy="6858002"/>
          </a:xfrm>
          <a:effectLst>
            <a:outerShdw blurRad="381000" dist="50800" algn="ctr" rotWithShape="0">
              <a:srgbClr val="000000">
                <a:alpha val="10000"/>
              </a:srgbClr>
            </a:outerShdw>
          </a:effectLst>
        </p:grpSpPr>
        <p:grpSp>
          <p:nvGrpSpPr>
            <p:cNvPr id="29" name="Group 28">
              <a:extLst>
                <a:ext uri="{FF2B5EF4-FFF2-40B4-BE49-F238E27FC236}">
                  <a16:creationId xmlns:a16="http://schemas.microsoft.com/office/drawing/2014/main" id="{49CFA8C3-E4AC-4EF8-8986-83C92DBF583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 y="-1"/>
              <a:ext cx="4572002" cy="6858002"/>
              <a:chOff x="-2" y="-1"/>
              <a:chExt cx="4572002" cy="6858002"/>
            </a:xfrm>
            <a:effectLst/>
          </p:grpSpPr>
          <p:sp>
            <p:nvSpPr>
              <p:cNvPr id="37" name="Freeform: Shape 36">
                <a:extLst>
                  <a:ext uri="{FF2B5EF4-FFF2-40B4-BE49-F238E27FC236}">
                    <a16:creationId xmlns:a16="http://schemas.microsoft.com/office/drawing/2014/main" id="{C939349E-97F2-4F20-99B2-B5BABDD5E5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8" name="Freeform: Shape 37">
                <a:extLst>
                  <a:ext uri="{FF2B5EF4-FFF2-40B4-BE49-F238E27FC236}">
                    <a16:creationId xmlns:a16="http://schemas.microsoft.com/office/drawing/2014/main" id="{6DF4F205-369D-432D-BE06-61DCFE9AB0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30" name="Group 29">
              <a:extLst>
                <a:ext uri="{FF2B5EF4-FFF2-40B4-BE49-F238E27FC236}">
                  <a16:creationId xmlns:a16="http://schemas.microsoft.com/office/drawing/2014/main" id="{1658D615-89F8-4EE3-A5C2-8B57E48744C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2"/>
              <a:chOff x="3697284" y="-1"/>
              <a:chExt cx="884241" cy="6858002"/>
            </a:xfrm>
          </p:grpSpPr>
          <p:grpSp>
            <p:nvGrpSpPr>
              <p:cNvPr id="31" name="Group 30">
                <a:extLst>
                  <a:ext uri="{FF2B5EF4-FFF2-40B4-BE49-F238E27FC236}">
                    <a16:creationId xmlns:a16="http://schemas.microsoft.com/office/drawing/2014/main" id="{4529F45F-9E0D-4469-B6FE-BFA23DC316E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1"/>
                <a:chOff x="3697284" y="-1"/>
                <a:chExt cx="884241" cy="6858001"/>
              </a:xfrm>
              <a:solidFill>
                <a:srgbClr val="FFFFFF"/>
              </a:solidFill>
              <a:effectLst/>
            </p:grpSpPr>
            <p:sp>
              <p:nvSpPr>
                <p:cNvPr id="35" name="Freeform: Shape 34">
                  <a:extLst>
                    <a:ext uri="{FF2B5EF4-FFF2-40B4-BE49-F238E27FC236}">
                      <a16:creationId xmlns:a16="http://schemas.microsoft.com/office/drawing/2014/main" id="{4D258C8B-77B4-43BA-8B2F-AB7C96C399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Freeform: Shape 35">
                  <a:extLst>
                    <a:ext uri="{FF2B5EF4-FFF2-40B4-BE49-F238E27FC236}">
                      <a16:creationId xmlns:a16="http://schemas.microsoft.com/office/drawing/2014/main" id="{867E9E24-BE8C-47FF-BCF1-3E4BDF64DE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32" name="Group 31">
                <a:extLst>
                  <a:ext uri="{FF2B5EF4-FFF2-40B4-BE49-F238E27FC236}">
                    <a16:creationId xmlns:a16="http://schemas.microsoft.com/office/drawing/2014/main" id="{BDD9DC28-AE74-45F4-8F16-49C6A59604F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0"/>
                <a:ext cx="884241" cy="6858001"/>
                <a:chOff x="3697284" y="-1"/>
                <a:chExt cx="884241" cy="6858001"/>
              </a:xfrm>
              <a:blipFill>
                <a:blip r:embed="rId2">
                  <a:alphaModFix amt="57000"/>
                </a:blip>
                <a:tile tx="0" ty="0" sx="100000" sy="100000" flip="none" algn="tl"/>
              </a:blipFill>
              <a:effectLst/>
            </p:grpSpPr>
            <p:sp>
              <p:nvSpPr>
                <p:cNvPr id="33" name="Freeform: Shape 32">
                  <a:extLst>
                    <a:ext uri="{FF2B5EF4-FFF2-40B4-BE49-F238E27FC236}">
                      <a16:creationId xmlns:a16="http://schemas.microsoft.com/office/drawing/2014/main" id="{6DDBBC55-F5AB-4776-B58D-648EECAB54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4" name="Freeform: Shape 33">
                  <a:extLst>
                    <a:ext uri="{FF2B5EF4-FFF2-40B4-BE49-F238E27FC236}">
                      <a16:creationId xmlns:a16="http://schemas.microsoft.com/office/drawing/2014/main" id="{30F7ABFF-600B-4509-83F7-177A4FE3DB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blipFill>
                  <a:blip r:embed="rId2">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grpSp>
      <p:sp>
        <p:nvSpPr>
          <p:cNvPr id="6"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8737600" y="466933"/>
            <a:ext cx="2635250" cy="707886"/>
          </a:xfrm>
        </p:spPr>
        <p:txBody>
          <a:bodyPr vert="horz" lIns="91440" tIns="45720" rIns="91440" bIns="45720" rtlCol="0" anchor="ctr">
            <a:normAutofit/>
          </a:bodyPr>
          <a:lstStyle/>
          <a:p>
            <a:pPr defTabSz="914400">
              <a:lnSpc>
                <a:spcPct val="90000"/>
              </a:lnSpc>
              <a:spcAft>
                <a:spcPts val="600"/>
              </a:spcAft>
            </a:pPr>
            <a:fld id="{3AFC719D-C4A7-4544-876E-D411D11AF6C9}" type="slidenum">
              <a:rPr lang="en-US" sz="4400">
                <a:solidFill>
                  <a:schemeClr val="bg1"/>
                </a:solidFill>
              </a:rPr>
              <a:pPr defTabSz="914400">
                <a:lnSpc>
                  <a:spcPct val="90000"/>
                </a:lnSpc>
                <a:spcAft>
                  <a:spcPts val="600"/>
                </a:spcAft>
              </a:pPr>
              <a:t>34</a:t>
            </a:fld>
            <a:endParaRPr lang="en-US" sz="4400" dirty="0">
              <a:solidFill>
                <a:schemeClr val="bg1"/>
              </a:solidFill>
            </a:endParaRPr>
          </a:p>
        </p:txBody>
      </p:sp>
      <p:pic>
        <p:nvPicPr>
          <p:cNvPr id="10" name="Graphic 9" descr="Upward trend">
            <a:extLst>
              <a:ext uri="{FF2B5EF4-FFF2-40B4-BE49-F238E27FC236}">
                <a16:creationId xmlns:a16="http://schemas.microsoft.com/office/drawing/2014/main" id="{5AD3A551-BDF6-660B-89E2-69C3F947037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5024" y="2387175"/>
            <a:ext cx="2663825" cy="2663825"/>
          </a:xfrm>
          <a:prstGeom prst="rect">
            <a:avLst/>
          </a:prstGeom>
        </p:spPr>
      </p:pic>
      <p:sp>
        <p:nvSpPr>
          <p:cNvPr id="3"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a:xfrm>
            <a:off x="7859713" y="6025942"/>
            <a:ext cx="3497262" cy="365125"/>
          </a:xfrm>
        </p:spPr>
        <p:txBody>
          <a:bodyPr vert="horz" lIns="91440" tIns="45720" rIns="91440" bIns="45720" rtlCol="0" anchor="ctr">
            <a:normAutofit/>
          </a:bodyPr>
          <a:lstStyle/>
          <a:p>
            <a:pPr algn="r" defTabSz="914400">
              <a:spcAft>
                <a:spcPts val="600"/>
              </a:spcAft>
            </a:pPr>
            <a:r>
              <a:rPr lang="en-US" sz="1000" kern="1200" dirty="0">
                <a:solidFill>
                  <a:schemeClr val="bg1">
                    <a:alpha val="60000"/>
                  </a:schemeClr>
                </a:solidFill>
                <a:latin typeface="+mn-lt"/>
                <a:ea typeface="+mn-ea"/>
                <a:cs typeface="+mn-cs"/>
              </a:rPr>
              <a:t>Key Benefit Administrators</a:t>
            </a:r>
          </a:p>
        </p:txBody>
      </p:sp>
    </p:spTree>
    <p:extLst>
      <p:ext uri="{BB962C8B-B14F-4D97-AF65-F5344CB8AC3E}">
        <p14:creationId xmlns:p14="http://schemas.microsoft.com/office/powerpoint/2010/main" val="26849719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474980" y="192960"/>
            <a:ext cx="11242040" cy="1325563"/>
          </a:xfrm>
        </p:spPr>
        <p:txBody>
          <a:bodyPr>
            <a:normAutofit/>
          </a:bodyPr>
          <a:lstStyle/>
          <a:p>
            <a:r>
              <a:rPr lang="en-US" sz="4000" b="1" dirty="0">
                <a:solidFill/>
                <a:latin typeface="+mn-lt"/>
                <a:cs typeface="Arial" panose="020B0604020202020204" pitchFamily="34" charset="0"/>
              </a:rPr>
              <a:t>Estimation of SLUHN’s 2021 Payer Mix</a:t>
            </a:r>
          </a:p>
        </p:txBody>
      </p:sp>
      <p:sp>
        <p:nvSpPr>
          <p:cNvPr id="3" name="Footer Placeholder 2">
            <a:extLst>
              <a:ext uri="{FF2B5EF4-FFF2-40B4-BE49-F238E27FC236}">
                <a16:creationId xmlns:a16="http://schemas.microsoft.com/office/drawing/2014/main" id="{F881BDBD-806B-1BF1-DC4C-DADBDE399686}"/>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E64A413-F33A-E029-FE1C-032E6F189EE6}"/>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graphicFrame>
        <p:nvGraphicFramePr>
          <p:cNvPr id="5"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3789913062"/>
              </p:ext>
            </p:extLst>
          </p:nvPr>
        </p:nvGraphicFramePr>
        <p:xfrm>
          <a:off x="243838" y="1690689"/>
          <a:ext cx="5516882" cy="2560320"/>
        </p:xfrm>
        <a:graphic>
          <a:graphicData uri="http://schemas.openxmlformats.org/drawingml/2006/table">
            <a:tbl>
              <a:tblPr firstRow="1" bandRow="1">
                <a:tableStyleId>{5C22544A-7EE6-4342-B048-85BDC9FD1C3A}</a:tableStyleId>
              </a:tblPr>
              <a:tblGrid>
                <a:gridCol w="1970375">
                  <a:extLst>
                    <a:ext uri="{9D8B030D-6E8A-4147-A177-3AD203B41FA5}">
                      <a16:colId xmlns:a16="http://schemas.microsoft.com/office/drawing/2014/main" val="1990432805"/>
                    </a:ext>
                  </a:extLst>
                </a:gridCol>
                <a:gridCol w="1072861">
                  <a:extLst>
                    <a:ext uri="{9D8B030D-6E8A-4147-A177-3AD203B41FA5}">
                      <a16:colId xmlns:a16="http://schemas.microsoft.com/office/drawing/2014/main" val="2178546237"/>
                    </a:ext>
                  </a:extLst>
                </a:gridCol>
                <a:gridCol w="1326330">
                  <a:extLst>
                    <a:ext uri="{9D8B030D-6E8A-4147-A177-3AD203B41FA5}">
                      <a16:colId xmlns:a16="http://schemas.microsoft.com/office/drawing/2014/main" val="3494448363"/>
                    </a:ext>
                  </a:extLst>
                </a:gridCol>
                <a:gridCol w="1147316">
                  <a:extLst>
                    <a:ext uri="{9D8B030D-6E8A-4147-A177-3AD203B41FA5}">
                      <a16:colId xmlns:a16="http://schemas.microsoft.com/office/drawing/2014/main" val="3564552567"/>
                    </a:ext>
                  </a:extLst>
                </a:gridCol>
              </a:tblGrid>
              <a:tr h="569290">
                <a:tc>
                  <a:txBody>
                    <a:bodyPr/>
                    <a:lstStyle/>
                    <a:p>
                      <a:r>
                        <a:rPr lang="en-US" sz="1400" dirty="0"/>
                        <a:t>Payer Group</a:t>
                      </a:r>
                    </a:p>
                  </a:txBody>
                  <a:tcPr/>
                </a:tc>
                <a:tc>
                  <a:txBody>
                    <a:bodyPr/>
                    <a:lstStyle/>
                    <a:p>
                      <a:r>
                        <a:rPr lang="en-US" sz="1400" dirty="0"/>
                        <a:t>Total Inpatient Days</a:t>
                      </a:r>
                    </a:p>
                  </a:txBody>
                  <a:tcPr/>
                </a:tc>
                <a:tc>
                  <a:txBody>
                    <a:bodyPr/>
                    <a:lstStyle/>
                    <a:p>
                      <a:r>
                        <a:rPr lang="en-US" sz="1400" dirty="0"/>
                        <a:t>Revenue</a:t>
                      </a:r>
                    </a:p>
                  </a:txBody>
                  <a:tcPr/>
                </a:tc>
                <a:tc>
                  <a:txBody>
                    <a:bodyPr/>
                    <a:lstStyle/>
                    <a:p>
                      <a:r>
                        <a:rPr lang="en-US" sz="1400" dirty="0"/>
                        <a:t>Payer Mix</a:t>
                      </a:r>
                    </a:p>
                  </a:txBody>
                  <a:tcPr/>
                </a:tc>
                <a:extLst>
                  <a:ext uri="{0D108BD9-81ED-4DB2-BD59-A6C34878D82A}">
                    <a16:rowId xmlns:a16="http://schemas.microsoft.com/office/drawing/2014/main" val="1397373735"/>
                  </a:ext>
                </a:extLst>
              </a:tr>
              <a:tr h="237204">
                <a:tc>
                  <a:txBody>
                    <a:bodyPr/>
                    <a:lstStyle/>
                    <a:p>
                      <a:r>
                        <a:rPr lang="en-US" sz="1400" dirty="0">
                          <a:solidFill/>
                        </a:rPr>
                        <a:t>All SLUHN</a:t>
                      </a:r>
                    </a:p>
                  </a:txBody>
                  <a:tcPr>
                    <a:solidFill>
                      <a:schemeClr val="accent3">
                        <a:lumMod val="20000"/>
                        <a:lumOff val="80000"/>
                      </a:schemeClr>
                    </a:solidFill>
                  </a:tcPr>
                </a:tc>
                <a:tc>
                  <a:txBody>
                    <a:bodyPr/>
                    <a:lstStyle/>
                    <a:p>
                      <a:pPr algn="ctr"/>
                      <a:r>
                        <a:rPr lang="en-US" sz="1400" dirty="0">
                          <a:solidFill>
                            <a:schemeClr val="accent1">
                              <a:lumMod val="75000"/>
                            </a:schemeClr>
                          </a:solidFill>
                        </a:rPr>
                        <a:t>316,301</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$2,393,180K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237204">
                <a:tc>
                  <a:txBody>
                    <a:bodyPr/>
                    <a:lstStyle/>
                    <a:p>
                      <a:r>
                        <a:rPr lang="en-US" sz="1400" dirty="0"/>
                        <a:t>Medicare</a:t>
                      </a:r>
                    </a:p>
                  </a:txBody>
                  <a:tcPr>
                    <a:solidFill>
                      <a:schemeClr val="accent3">
                        <a:lumMod val="20000"/>
                        <a:lumOff val="80000"/>
                      </a:schemeClr>
                    </a:solidFill>
                  </a:tcPr>
                </a:tc>
                <a:tc>
                  <a:txBody>
                    <a:bodyPr/>
                    <a:lstStyle/>
                    <a:p>
                      <a:pPr algn="ctr"/>
                      <a:r>
                        <a:rPr lang="en-US" sz="1400" dirty="0">
                          <a:solidFill>
                            <a:schemeClr val="accent1">
                              <a:lumMod val="75000"/>
                            </a:schemeClr>
                          </a:solidFill>
                        </a:rPr>
                        <a:t>103,307</a:t>
                      </a:r>
                    </a:p>
                  </a:txBody>
                  <a:tcPr anchor="ctr">
                    <a:solidFill>
                      <a:schemeClr val="accent3">
                        <a:lumMod val="20000"/>
                        <a:lumOff val="80000"/>
                      </a:schemeClr>
                    </a:solidFill>
                  </a:tcPr>
                </a:tc>
                <a:tc>
                  <a:txBody>
                    <a:bodyPr/>
                    <a:lstStyle/>
                    <a:p>
                      <a:pPr algn="ctr"/>
                      <a:r>
                        <a:rPr lang="en-US" sz="1400" dirty="0">
                          <a:solidFill>
                            <a:schemeClr val="accent4">
                              <a:lumMod val="75000"/>
                            </a:schemeClr>
                          </a:solidFill>
                        </a:rPr>
                        <a:t>$475,586K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32%</a:t>
                      </a:r>
                    </a:p>
                  </a:txBody>
                  <a:tcPr anchor="ctr">
                    <a:solidFill>
                      <a:schemeClr val="accent3">
                        <a:lumMod val="20000"/>
                        <a:lumOff val="80000"/>
                      </a:schemeClr>
                    </a:solidFill>
                  </a:tcPr>
                </a:tc>
                <a:extLst>
                  <a:ext uri="{0D108BD9-81ED-4DB2-BD59-A6C34878D82A}">
                    <a16:rowId xmlns:a16="http://schemas.microsoft.com/office/drawing/2014/main" val="1145544718"/>
                  </a:ext>
                </a:extLst>
              </a:tr>
              <a:tr h="237204">
                <a:tc>
                  <a:txBody>
                    <a:bodyPr/>
                    <a:lstStyle/>
                    <a:p>
                      <a:r>
                        <a:rPr lang="en-US" sz="1400" dirty="0"/>
                        <a:t>Medicaid</a:t>
                      </a:r>
                    </a:p>
                  </a:txBody>
                  <a:tcPr>
                    <a:solidFill>
                      <a:schemeClr val="accent3">
                        <a:lumMod val="20000"/>
                        <a:lumOff val="80000"/>
                      </a:schemeClr>
                    </a:solidFill>
                  </a:tcPr>
                </a:tc>
                <a:tc>
                  <a:txBody>
                    <a:bodyPr/>
                    <a:lstStyle/>
                    <a:p>
                      <a:pPr algn="ctr"/>
                      <a:r>
                        <a:rPr lang="en-US" sz="1400" dirty="0">
                          <a:solidFill>
                            <a:schemeClr val="accent1">
                              <a:lumMod val="75000"/>
                            </a:schemeClr>
                          </a:solidFill>
                        </a:rPr>
                        <a:t>19,760</a:t>
                      </a:r>
                    </a:p>
                  </a:txBody>
                  <a:tcPr anchor="ctr">
                    <a:solidFill>
                      <a:schemeClr val="accent3">
                        <a:lumMod val="20000"/>
                        <a:lumOff val="80000"/>
                      </a:schemeClr>
                    </a:solidFill>
                  </a:tcPr>
                </a:tc>
                <a:tc rowSpan="2">
                  <a:txBody>
                    <a:bodyPr/>
                    <a:lstStyle/>
                    <a:p>
                      <a:pPr algn="ctr"/>
                      <a:r>
                        <a:rPr lang="en-US" sz="1400" dirty="0">
                          <a:solidFill>
                            <a:schemeClr val="accent4">
                              <a:lumMod val="75000"/>
                            </a:schemeClr>
                          </a:solidFill>
                        </a:rPr>
                        <a:t>$225,955K</a:t>
                      </a:r>
                    </a:p>
                  </a:txBody>
                  <a:tcPr anchor="ctr">
                    <a:solidFill>
                      <a:schemeClr val="accent3">
                        <a:lumMod val="20000"/>
                        <a:lumOff val="80000"/>
                      </a:schemeClr>
                    </a:solidFill>
                  </a:tcPr>
                </a:tc>
                <a:tc rowSpan="2">
                  <a:txBody>
                    <a:bodyPr/>
                    <a:lstStyle/>
                    <a:p>
                      <a:pPr algn="ctr"/>
                      <a:r>
                        <a:rPr lang="en-US" sz="1400" dirty="0">
                          <a:solidFill>
                            <a:schemeClr val="accent2">
                              <a:lumMod val="75000"/>
                            </a:schemeClr>
                          </a:solidFill>
                        </a:rPr>
                        <a:t>6%</a:t>
                      </a:r>
                    </a:p>
                  </a:txBody>
                  <a:tcPr anchor="ctr">
                    <a:solidFill>
                      <a:schemeClr val="accent3">
                        <a:lumMod val="20000"/>
                        <a:lumOff val="80000"/>
                      </a:schemeClr>
                    </a:solidFill>
                  </a:tcPr>
                </a:tc>
                <a:extLst>
                  <a:ext uri="{0D108BD9-81ED-4DB2-BD59-A6C34878D82A}">
                    <a16:rowId xmlns:a16="http://schemas.microsoft.com/office/drawing/2014/main" val="680733009"/>
                  </a:ext>
                </a:extLst>
              </a:tr>
              <a:tr h="279964">
                <a:tc>
                  <a:txBody>
                    <a:bodyPr/>
                    <a:lstStyle/>
                    <a:p>
                      <a:r>
                        <a:rPr lang="en-US" sz="1400" dirty="0"/>
                        <a:t>Other Government Pay</a:t>
                      </a:r>
                    </a:p>
                  </a:txBody>
                  <a:tcPr>
                    <a:solidFill>
                      <a:schemeClr val="accent3">
                        <a:lumMod val="20000"/>
                        <a:lumOff val="80000"/>
                      </a:schemeClr>
                    </a:solidFill>
                  </a:tcPr>
                </a:tc>
                <a:tc>
                  <a:txBody>
                    <a:bodyPr/>
                    <a:lstStyle/>
                    <a:p>
                      <a:pPr algn="ctr"/>
                      <a:r>
                        <a:rPr lang="en-US" sz="1400" dirty="0">
                          <a:solidFill>
                            <a:schemeClr val="accent1">
                              <a:lumMod val="75000"/>
                            </a:schemeClr>
                          </a:solidFill>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237204">
                <a:tc>
                  <a:txBody>
                    <a:bodyPr/>
                    <a:lstStyle/>
                    <a:p>
                      <a:r>
                        <a:rPr lang="en-US" sz="1400" dirty="0"/>
                        <a:t>No-Pay, Charity Care</a:t>
                      </a:r>
                    </a:p>
                  </a:txBody>
                  <a:tcPr>
                    <a:solidFill>
                      <a:schemeClr val="accent3">
                        <a:lumMod val="20000"/>
                        <a:lumOff val="80000"/>
                      </a:schemeClr>
                    </a:solidFill>
                  </a:tcPr>
                </a:tc>
                <a:tc>
                  <a:txBody>
                    <a:bodyPr/>
                    <a:lstStyle/>
                    <a:p>
                      <a:pPr algn="ctr"/>
                      <a:r>
                        <a:rPr lang="en-US" sz="1400" dirty="0">
                          <a:solidFill>
                            <a:schemeClr val="accent2">
                              <a:lumMod val="75000"/>
                            </a:schemeClr>
                          </a:solidFill>
                        </a:rPr>
                        <a:t>12,842</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($102,024K)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4%</a:t>
                      </a:r>
                    </a:p>
                  </a:txBody>
                  <a:tcPr anchor="ctr">
                    <a:solidFill>
                      <a:schemeClr val="accent3">
                        <a:lumMod val="20000"/>
                        <a:lumOff val="80000"/>
                      </a:schemeClr>
                    </a:solidFill>
                  </a:tcPr>
                </a:tc>
                <a:extLst>
                  <a:ext uri="{0D108BD9-81ED-4DB2-BD59-A6C34878D82A}">
                    <a16:rowId xmlns:a16="http://schemas.microsoft.com/office/drawing/2014/main" val="1248958224"/>
                  </a:ext>
                </a:extLst>
              </a:tr>
              <a:tr h="237204">
                <a:tc>
                  <a:txBody>
                    <a:bodyPr/>
                    <a:lstStyle/>
                    <a:p>
                      <a:r>
                        <a:rPr lang="en-US" sz="1400" dirty="0"/>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180,392</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$1,693,393K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57%</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6"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Commercial/self pay is assumed to be the rest of the total payer mix share. </a:t>
            </a:r>
          </a:p>
        </p:txBody>
      </p:sp>
      <p:sp>
        <p:nvSpPr>
          <p:cNvPr id="7"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8" name="TextBox 11">
            <a:extLst>
              <a:ext uri="{FF2B5EF4-FFF2-40B4-BE49-F238E27FC236}">
                <a16:creationId xmlns:a16="http://schemas.microsoft.com/office/drawing/2014/main" id="{B06F8AA7-185E-8401-4C51-579C44EE0B64}"/>
              </a:ext>
            </a:extLst>
          </p:cNvPr>
          <p:cNvSpPr txBox="1"/>
          <p:nvPr/>
        </p:nvSpPr>
        <p:spPr>
          <a:xfrm>
            <a:off x="416560" y="4435821"/>
            <a:ext cx="5161280" cy="76944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rPr>
              <a:t>Values in blue are taken from the 2021 Medicare Provider Cost Report (</a:t>
            </a: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hlinkClick r:id="rId2"/>
              </a:rPr>
              <a:t>https://data.cms.gov/provider-compliance/cost-report/hospital-provider-cost-report/data</a:t>
            </a: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endParaRPr>
          </a:p>
        </p:txBody>
      </p:sp>
      <p:sp>
        <p:nvSpPr>
          <p:cNvPr id="10" name="Rectangle 16">
            <a:extLst>
              <a:ext uri="{FF2B5EF4-FFF2-40B4-BE49-F238E27FC236}">
                <a16:creationId xmlns:a16="http://schemas.microsoft.com/office/drawing/2014/main" id="{802290A3-B694-4505-9BF2-D6CD7AF07C8B}"/>
              </a:ext>
            </a:extLst>
          </p:cNvPr>
          <p:cNvSpPr/>
          <p:nvPr/>
        </p:nvSpPr>
        <p:spPr>
          <a:xfrm>
            <a:off x="675642" y="6276083"/>
            <a:ext cx="3362960" cy="43088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In other analysis, the outpatient payer mix is assumed to mirror the inpatient payer mix. </a:t>
            </a:r>
          </a:p>
        </p:txBody>
      </p:sp>
      <p:sp>
        <p:nvSpPr>
          <p:cNvPr id="11" name="TextBox 12">
            <a:extLst>
              <a:ext uri="{FF2B5EF4-FFF2-40B4-BE49-F238E27FC236}">
                <a16:creationId xmlns:a16="http://schemas.microsoft.com/office/drawing/2014/main" id="{4D7BD8F7-B0DB-8CCC-E477-F7ABE50AAD26}"/>
              </a:ext>
            </a:extLst>
          </p:cNvPr>
          <p:cNvSpPr txBox="1"/>
          <p:nvPr/>
        </p:nvSpPr>
        <p:spPr>
          <a:xfrm>
            <a:off x="416560" y="5101049"/>
            <a:ext cx="5161280"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accent4">
                    <a:lumMod val="75000"/>
                  </a:schemeClr>
                </a:solidFill>
                <a:effectLst/>
                <a:uLnTx/>
                <a:uFillTx/>
                <a:latin typeface="Arial" panose="020B0604020202020204" pitchFamily="34" charset="0"/>
                <a:cs typeface="Arial" panose="020B0604020202020204" pitchFamily="34" charset="0"/>
              </a:rPr>
              <a:t>Values in yellow are taken from Definitive Healthcare data. </a:t>
            </a:r>
          </a:p>
        </p:txBody>
      </p:sp>
    </p:spTree>
    <p:extLst>
      <p:ext uri="{BB962C8B-B14F-4D97-AF65-F5344CB8AC3E}">
        <p14:creationId xmlns:p14="http://schemas.microsoft.com/office/powerpoint/2010/main" val="8386315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p:txBody>
          <a:bodyPr/>
          <a:lstStyle/>
          <a:p>
            <a:r>
              <a:rPr lang="en-US" b="1" dirty="0">
                <a:latin typeface="+mn-lt"/>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2" y="1825625"/>
            <a:ext cx="10515600" cy="917575"/>
          </a:xfrm>
        </p:spPr>
        <p:txBody>
          <a:bodyPr/>
          <a:lstStyle/>
          <a:p>
            <a:pPr marL="0" indent="0">
              <a:buNone/>
            </a:pPr>
            <a:r>
              <a:rPr lang="en-US" dirty="0">
                <a:solidFill/>
                <a:latin typeface="Arial" panose="020B0604020202020204" pitchFamily="34" charset="0"/>
                <a:cs typeface="Arial" panose="020B0604020202020204" pitchFamily="34" charset="0"/>
              </a:rPr>
              <a:t>The RAND data for SLUHN estimates commercial insurance reimbursements at 233% of Medicare Rates</a:t>
            </a:r>
          </a:p>
        </p:txBody>
      </p:sp>
      <p:sp>
        <p:nvSpPr>
          <p:cNvPr id="4" name="Footer Placeholder 3">
            <a:extLst>
              <a:ext uri="{FF2B5EF4-FFF2-40B4-BE49-F238E27FC236}">
                <a16:creationId xmlns:a16="http://schemas.microsoft.com/office/drawing/2014/main" id="{AFDF3D97-D614-8EA4-3954-16EBCFCE0752}"/>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EDD4D069-E3A2-B95F-CBCE-DE712439D970}"/>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6" name="Content Placeholder 2">
            <a:extLst>
              <a:ext uri="{FF2B5EF4-FFF2-40B4-BE49-F238E27FC236}">
                <a16:creationId xmlns:a16="http://schemas.microsoft.com/office/drawing/2014/main" id="{18BFBD36-1E96-1E59-E3A7-CCEF02D0CF96}"/>
              </a:ext>
            </a:extLst>
          </p:cNvPr>
          <p:cNvSpPr txBox="1">
            <a:spLocks/>
          </p:cNvSpPr>
          <p:nvPr/>
        </p:nvSpPr>
        <p:spPr>
          <a:xfrm>
            <a:off x="838200" y="2970212"/>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7" name="TextBox 7">
            <a:extLst>
              <a:ext uri="{FF2B5EF4-FFF2-40B4-BE49-F238E27FC236}">
                <a16:creationId xmlns:a16="http://schemas.microsoft.com/office/drawing/2014/main" id="{85163DF1-EB5C-1C3C-A93D-5F16CEEC2B92}"/>
              </a:ext>
            </a:extLst>
          </p:cNvPr>
          <p:cNvSpPr txBox="1"/>
          <p:nvPr/>
        </p:nvSpPr>
        <p:spPr>
          <a:xfrm>
            <a:off x="838199" y="2878137"/>
            <a:ext cx="4742179"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CMS/Government pay was paying at commercial rates)</a:t>
            </a:r>
          </a:p>
        </p:txBody>
      </p:sp>
      <p:sp>
        <p:nvSpPr>
          <p:cNvPr id="8" name="TextBox 8">
            <a:extLst>
              <a:ext uri="{FF2B5EF4-FFF2-40B4-BE49-F238E27FC236}">
                <a16:creationId xmlns:a16="http://schemas.microsoft.com/office/drawing/2014/main" id="{020B90EA-11B9-6E81-60B7-F3AFEA7FC5A7}"/>
              </a:ext>
            </a:extLst>
          </p:cNvPr>
          <p:cNvSpPr txBox="1"/>
          <p:nvPr/>
        </p:nvSpPr>
        <p:spPr>
          <a:xfrm>
            <a:off x="6827522" y="2878137"/>
            <a:ext cx="4358640"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commercial pay was paying at Medicare rate)</a:t>
            </a:r>
          </a:p>
        </p:txBody>
      </p:sp>
      <p:graphicFrame>
        <p:nvGraphicFramePr>
          <p:cNvPr id="9" name="Table 10">
            <a:extLst>
              <a:ext uri="{FF2B5EF4-FFF2-40B4-BE49-F238E27FC236}">
                <a16:creationId xmlns:a16="http://schemas.microsoft.com/office/drawing/2014/main" id="{30CE50B1-E66B-B63F-C96E-A434E7ECFB6C}"/>
              </a:ext>
            </a:extLst>
          </p:cNvPr>
          <p:cNvGraphicFramePr>
            <a:graphicFrameLocks noGrp="1"/>
          </p:cNvGraphicFramePr>
          <p:nvPr/>
        </p:nvGraphicFramePr>
        <p:xfrm>
          <a:off x="1018541" y="4114799"/>
          <a:ext cx="3997958" cy="248920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r>
                        <a:rPr lang="en-US" dirty="0">
                          <a:solidFill/>
                        </a:rPr>
                        <a:t>1,693,393K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 at </a:t>
                      </a:r>
                      <a:r>
                        <a:rPr lang="en-US" sz="1800" kern="1200" dirty="0">
                          <a:solidFill>
                            <a:schemeClr val="tx1"/>
                          </a:solidFill>
                          <a:latin typeface="+mn-lt"/>
                          <a:ea typeface="+mn-ea"/>
                          <a:cs typeface="+mn-cs"/>
                        </a:rPr>
                        <a:t>233% current </a:t>
                      </a:r>
                      <a:r>
                        <a:rPr lang="en-US" dirty="0">
                          <a:solidFill>
                            <a:schemeClr val="tx1"/>
                          </a:solidFill>
                        </a:rPr>
                        <a:t>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1,631,785K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3,325,178</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2,095,506</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rPr>
                        <a:t>$1,229,671K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rPr>
                        <a:t>37%</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10" name="Table 11">
            <a:extLst>
              <a:ext uri="{FF2B5EF4-FFF2-40B4-BE49-F238E27FC236}">
                <a16:creationId xmlns:a16="http://schemas.microsoft.com/office/drawing/2014/main" id="{BB254502-CBB2-8520-631D-31E05AB0F371}"/>
              </a:ext>
            </a:extLst>
          </p:cNvPr>
          <p:cNvGraphicFramePr>
            <a:graphicFrameLocks noGrp="1"/>
          </p:cNvGraphicFramePr>
          <p:nvPr/>
        </p:nvGraphicFramePr>
        <p:xfrm>
          <a:off x="6611622" y="4079368"/>
          <a:ext cx="3997958" cy="249428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 </a:t>
                      </a:r>
                      <a:r>
                        <a:rPr lang="en-US" sz="1800" kern="1200" dirty="0">
                          <a:solidFill>
                            <a:schemeClr val="tx1"/>
                          </a:solidFill>
                          <a:latin typeface="+mn-lt"/>
                          <a:ea typeface="+mn-ea"/>
                          <a:cs typeface="+mn-cs"/>
                        </a:rPr>
                        <a:t>Divided by 233%</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r>
                        <a:rPr lang="en-US" dirty="0">
                          <a:solidFill/>
                        </a:rPr>
                        <a:t>728,028K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701,541</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1,429,569</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2,095,506</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rPr>
                        <a:t>$ -665,937</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rPr>
                        <a:t>-47%</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spTree>
    <p:extLst>
      <p:ext uri="{BB962C8B-B14F-4D97-AF65-F5344CB8AC3E}">
        <p14:creationId xmlns:p14="http://schemas.microsoft.com/office/powerpoint/2010/main" val="367918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901D12-C1AE-35E0-648B-28079C42FA93}"/>
              </a:ext>
            </a:extLst>
          </p:cNvPr>
          <p:cNvSpPr>
            <a:spLocks noGrp="1"/>
          </p:cNvSpPr>
          <p:nvPr>
            <p:ph idx="1"/>
          </p:nvPr>
        </p:nvSpPr>
        <p:spPr/>
        <p:txBody>
          <a:bodyPr/>
          <a:lstStyle/>
          <a:p>
            <a:r>
              <a:rPr lang="en-US" dirty="0"/>
              <a:t>KBA recommends targeting KBA DTE prices 10% below commercial rates (resulting in a roughly 10 percentage-point drop in DTE profit). </a:t>
            </a:r>
          </a:p>
          <a:p>
            <a:r>
              <a:rPr lang="en-US" dirty="0"/>
              <a:t>To compensate for this lower margin, KBA provides the following margin improvements: </a:t>
            </a:r>
          </a:p>
          <a:p>
            <a:pPr lvl="1"/>
            <a:r>
              <a:rPr lang="en-US" dirty="0"/>
              <a:t>Streamlined billing ensures no pre-authorization far friendlier billing practices than commercial insurance. </a:t>
            </a:r>
          </a:p>
          <a:p>
            <a:pPr lvl="1"/>
            <a:r>
              <a:rPr lang="en-US" dirty="0"/>
              <a:t>Patient cards allow patients a no-interest payment option for SLUHN patient-responsibility payments. This card also improves patient steerage towards SLUHN. </a:t>
            </a:r>
          </a:p>
        </p:txBody>
      </p:sp>
      <p:sp>
        <p:nvSpPr>
          <p:cNvPr id="4" name="Footer Placeholder 3">
            <a:extLst>
              <a:ext uri="{FF2B5EF4-FFF2-40B4-BE49-F238E27FC236}">
                <a16:creationId xmlns:a16="http://schemas.microsoft.com/office/drawing/2014/main" id="{35D0ADF5-30C5-5095-63DF-D52E615FB3BA}"/>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652BD5AE-A58A-2E79-45CA-3D54B0C09D84}"/>
              </a:ext>
            </a:extLst>
          </p:cNvPr>
          <p:cNvSpPr>
            <a:spLocks noGrp="1"/>
          </p:cNvSpPr>
          <p:nvPr>
            <p:ph type="sldNum" sz="quarter" idx="12"/>
          </p:nvPr>
        </p:nvSpPr>
        <p:spPr/>
        <p:txBody>
          <a:bodyPr/>
          <a:lstStyle/>
          <a:p>
            <a:fld id="{3AFC719D-C4A7-4544-876E-D411D11AF6C9}" type="slidenum">
              <a:rPr lang="en-US" smtClean="0"/>
              <a:t>37</a:t>
            </a:fld>
            <a:endParaRPr lang="en-US" dirty="0"/>
          </a:p>
        </p:txBody>
      </p:sp>
      <p:sp>
        <p:nvSpPr>
          <p:cNvPr id="6" name="Title 1">
            <a:extLst>
              <a:ext uri="{FF2B5EF4-FFF2-40B4-BE49-F238E27FC236}">
                <a16:creationId xmlns:a16="http://schemas.microsoft.com/office/drawing/2014/main" id="{E8700EF2-C9F1-4B5C-9D9E-B78A811EFC04}"/>
              </a:ext>
            </a:extLst>
          </p:cNvPr>
          <p:cNvSpPr>
            <a:spLocks noGrp="1"/>
          </p:cNvSpPr>
          <p:nvPr>
            <p:ph type="title"/>
          </p:nvPr>
        </p:nvSpPr>
        <p:spPr>
          <a:xfrm>
            <a:off x="838202" y="365125"/>
            <a:ext cx="10515600" cy="1325563"/>
          </a:xfrm>
        </p:spPr>
        <p:txBody>
          <a:bodyPr/>
          <a:lstStyle/>
          <a:p>
            <a:r>
              <a:rPr lang="en-US" b="1" dirty="0">
                <a:latin typeface="+mn-lt"/>
                <a:cs typeface="Arial" panose="020B0604020202020204" pitchFamily="34" charset="0"/>
              </a:rPr>
              <a:t>Modeling Prices and Commercial Margins</a:t>
            </a:r>
          </a:p>
        </p:txBody>
      </p:sp>
    </p:spTree>
    <p:extLst>
      <p:ext uri="{BB962C8B-B14F-4D97-AF65-F5344CB8AC3E}">
        <p14:creationId xmlns:p14="http://schemas.microsoft.com/office/powerpoint/2010/main" val="37124166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838200" y="-184997"/>
            <a:ext cx="10515600" cy="1325563"/>
          </a:xfrm>
        </p:spPr>
        <p:txBody>
          <a:bodyPr>
            <a:normAutofit/>
          </a:bodyPr>
          <a:lstStyle/>
          <a:p>
            <a:r>
              <a:rPr lang="en-US" sz="4000" b="1" dirty="0">
                <a:solidFill>
                  <a:schemeClr val="tx1">
                    <a:lumMod val="85000"/>
                    <a:lumOff val="15000"/>
                  </a:schemeClr>
                </a:solidFill>
                <a:latin typeface="Arial" panose="020B0604020202020204" pitchFamily="34" charset="0"/>
                <a:cs typeface="Arial" panose="020B0604020202020204" pitchFamily="34" charset="0"/>
              </a:rPr>
              <a:t>Estimating Market Share</a:t>
            </a:r>
          </a:p>
        </p:txBody>
      </p:sp>
      <p:sp>
        <p:nvSpPr>
          <p:cNvPr id="3" name="Footer Placeholder 3">
            <a:extLst>
              <a:ext uri="{FF2B5EF4-FFF2-40B4-BE49-F238E27FC236}">
                <a16:creationId xmlns:a16="http://schemas.microsoft.com/office/drawing/2014/main" id="{E092F34F-7748-D9DB-3EE4-D064EA0B844B}"/>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4">
            <a:extLst>
              <a:ext uri="{FF2B5EF4-FFF2-40B4-BE49-F238E27FC236}">
                <a16:creationId xmlns:a16="http://schemas.microsoft.com/office/drawing/2014/main" id="{D40FF682-D105-5BF8-1FB9-A89C8D2FA780}"/>
              </a:ext>
            </a:extLst>
          </p:cNvPr>
          <p:cNvSpPr>
            <a:spLocks noGrp="1"/>
          </p:cNvSpPr>
          <p:nvPr>
            <p:ph type="sldNum" sz="quarter" idx="12"/>
          </p:nvPr>
        </p:nvSpPr>
        <p:spPr/>
        <p:txBody>
          <a:bodyPr/>
          <a:lstStyle/>
          <a:p>
            <a:fld id="{3AFC719D-C4A7-4544-876E-D411D11AF6C9}" type="slidenum">
              <a:rPr lang="en-US" smtClean="0"/>
              <a:t>38</a:t>
            </a:fld>
            <a:endParaRPr lang="en-US" dirty="0"/>
          </a:p>
        </p:txBody>
      </p:sp>
      <p:sp>
        <p:nvSpPr>
          <p:cNvPr id="5" name="TextBox 9">
            <a:extLst>
              <a:ext uri="{FF2B5EF4-FFF2-40B4-BE49-F238E27FC236}">
                <a16:creationId xmlns:a16="http://schemas.microsoft.com/office/drawing/2014/main" id="{DD333F58-1E5B-D213-65EE-BB627B8B12A8}"/>
              </a:ext>
            </a:extLst>
          </p:cNvPr>
          <p:cNvSpPr txBox="1"/>
          <p:nvPr/>
        </p:nvSpPr>
        <p:spPr>
          <a:xfrm>
            <a:off x="838199" y="6164097"/>
            <a:ext cx="10515600" cy="507831"/>
          </a:xfrm>
          <a:prstGeom prst="rect">
            <a:avLst/>
          </a:prstGeom>
          <a:noFill/>
        </p:spPr>
        <p:txBody>
          <a:bodyPr wrap="square" rtlCol="0">
            <a:spAutoFit/>
          </a:bodyPr>
          <a:lstStyle/>
          <a:p>
            <a:r>
              <a:rPr lang="en-US" sz="900" dirty="0">
                <a:solidFill/>
                <a:latin typeface="Arial" panose="020B0604020202020204" pitchFamily="34" charset="0"/>
                <a:cs typeface="Arial" panose="020B0604020202020204" pitchFamily="34" charset="0"/>
              </a:rPr>
              <a:t>For outpatient market share, it is estimated that only 56.1% of local physicians are employed by area hospitals (Research from the Physician Advocacy Institute:  </a:t>
            </a:r>
            <a:r>
              <a:rPr lang="en-US" sz="900" dirty="0">
                <a:latin typeface="Arial" panose="020B0604020202020204" pitchFamily="34" charset="0"/>
                <a:cs typeface="Arial" panose="020B0604020202020204" pitchFamily="34" charset="0"/>
                <a:hlinkClick r:id="rId2"/>
              </a:rPr>
              <a:t>https://www.physiciansadvocacyinstitute.org/Portals/0/assets/docs/PAI-Research/PAI-Avalere%20Physician%20Employment%20Trends%20Study%202019-2023%20Final.pdf?ver=uGHF46u1GSeZgYXMKFyYvw%3d%3d</a:t>
            </a:r>
            <a:r>
              <a:rPr lang="en-US" sz="900" dirty="0">
                <a:latin typeface="Arial" panose="020B0604020202020204" pitchFamily="34" charset="0"/>
                <a:cs typeface="Arial" panose="020B0604020202020204" pitchFamily="34" charset="0"/>
              </a:rPr>
              <a:t>)</a:t>
            </a:r>
          </a:p>
        </p:txBody>
      </p:sp>
      <p:graphicFrame>
        <p:nvGraphicFramePr>
          <p:cNvPr id="6" name="Table 5"/>
          <p:cNvGraphicFramePr>
            <a:graphicFrameLocks noGrp="1"/>
          </p:cNvGraphicFramePr>
          <p:nvPr/>
        </p:nvGraphicFramePr>
        <p:xfrm>
          <a:off x="653844" y="816277"/>
          <a:ext cx="10884310" cy="5100477"/>
        </p:xfrm>
        <a:graphic>
          <a:graphicData uri="http://schemas.openxmlformats.org/drawingml/2006/table">
            <a:tbl>
              <a:tblPr/>
              <a:tblGrid>
                <a:gridCol w="3421482">
                  <a:extLst>
                    <a:ext uri="{9D8B030D-6E8A-4147-A177-3AD203B41FA5}">
                      <a16:colId xmlns:a16="http://schemas.microsoft.com/office/drawing/2014/main" val="20000"/>
                    </a:ext>
                  </a:extLst>
                </a:gridCol>
                <a:gridCol w="724012">
                  <a:extLst>
                    <a:ext uri="{9D8B030D-6E8A-4147-A177-3AD203B41FA5}">
                      <a16:colId xmlns:a16="http://schemas.microsoft.com/office/drawing/2014/main" val="20001"/>
                    </a:ext>
                  </a:extLst>
                </a:gridCol>
                <a:gridCol w="979887">
                  <a:extLst>
                    <a:ext uri="{9D8B030D-6E8A-4147-A177-3AD203B41FA5}">
                      <a16:colId xmlns:a16="http://schemas.microsoft.com/office/drawing/2014/main" val="20002"/>
                    </a:ext>
                  </a:extLst>
                </a:gridCol>
                <a:gridCol w="1042777">
                  <a:extLst>
                    <a:ext uri="{9D8B030D-6E8A-4147-A177-3AD203B41FA5}">
                      <a16:colId xmlns:a16="http://schemas.microsoft.com/office/drawing/2014/main" val="20003"/>
                    </a:ext>
                  </a:extLst>
                </a:gridCol>
                <a:gridCol w="2126789">
                  <a:extLst>
                    <a:ext uri="{9D8B030D-6E8A-4147-A177-3AD203B41FA5}">
                      <a16:colId xmlns:a16="http://schemas.microsoft.com/office/drawing/2014/main" val="20004"/>
                    </a:ext>
                  </a:extLst>
                </a:gridCol>
                <a:gridCol w="2589363">
                  <a:extLst>
                    <a:ext uri="{9D8B030D-6E8A-4147-A177-3AD203B41FA5}">
                      <a16:colId xmlns:a16="http://schemas.microsoft.com/office/drawing/2014/main" val="20005"/>
                    </a:ext>
                  </a:extLst>
                </a:gridCol>
              </a:tblGrid>
              <a:tr h="394435">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Hospital Name</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Number of Beds</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Total Charges</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Total Charges</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Percent of Market Total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Percent of Market Total (Assuming 56.1% of Physicians Employed by Hospitals)</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129172">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St Luke's Warren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92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  464,369.1K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$1,008,837.0K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129172">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St. Luke's Upper Bucks Campus</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86</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  522,787.0K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  748,428.8K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129172">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St Luke's Hospital Bethlehem</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783</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$4,431,459.5K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$4,512,769.9K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lang="en-US" sz="1000" b="0" i="0" u="none" cap="none" dirty="0">
                          <a:solidFill>
                            <a:schemeClr val="accent1"/>
                          </a:solidFill>
                          <a:latin typeface="Arial"/>
                          <a:cs typeface="Arial"/>
                          <a:sym typeface="Arial"/>
                        </a:rPr>
                        <a:t>20</a:t>
                      </a:r>
                      <a:r>
                        <a:rPr sz="1000" b="0" i="0" u="none" cap="none" dirty="0">
                          <a:solidFill>
                            <a:schemeClr val="accent1"/>
                          </a:solidFill>
                          <a:latin typeface="Arial"/>
                          <a:cs typeface="Arial"/>
                          <a:sym typeface="Arial"/>
                        </a:rPr>
                        <a:t>%</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8%</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129172">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Grand View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180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313,554.5K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459,480.3K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lang="en-US" sz="1000" b="0" i="0" u="none" cap="none" dirty="0">
                          <a:solidFill>
                            <a:schemeClr val="accent1"/>
                          </a:solidFill>
                          <a:latin typeface="Arial"/>
                          <a:cs typeface="Arial"/>
                          <a:sym typeface="Arial"/>
                        </a:rPr>
                        <a:t>2</a:t>
                      </a:r>
                      <a:r>
                        <a:rPr sz="1000" b="0" i="0" u="none" cap="none" dirty="0">
                          <a:solidFill>
                            <a:schemeClr val="accent1"/>
                          </a:solidFill>
                          <a:latin typeface="Arial"/>
                          <a:cs typeface="Arial"/>
                          <a:sym typeface="Arial"/>
                        </a:rPr>
                        <a:t>%</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129172">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St Luke's Hospital - Easton Campus</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29</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113,367.3K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  317,923.5K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lang="en-US" sz="1000" b="0" i="0" u="none" cap="none" dirty="0">
                          <a:solidFill>
                            <a:schemeClr val="accent1"/>
                          </a:solidFill>
                          <a:latin typeface="Arial"/>
                          <a:cs typeface="Arial"/>
                          <a:sym typeface="Arial"/>
                        </a:rPr>
                        <a:t>1</a:t>
                      </a:r>
                      <a:r>
                        <a:rPr sz="1000" b="0" i="0" u="none" cap="none" dirty="0">
                          <a:solidFill>
                            <a:schemeClr val="accent1"/>
                          </a:solidFill>
                          <a:latin typeface="Arial"/>
                          <a:cs typeface="Arial"/>
                          <a:sym typeface="Arial"/>
                        </a:rPr>
                        <a:t>%</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129172">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St Luke's Miners Memorial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49</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149,719.5K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428,768.3K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129172">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St Luke's Hospital - Anderson Campus</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193</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$1,295,917.8K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$1,620,203.3K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6%</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3%</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83039">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OSF Holy Family Medical Center</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15</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7,959.6K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107,751.2K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101682">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Ascension St Vincent Williamsport (FKA St Vincent Williamsport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16</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10,559.8K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84,780.5K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83039">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The Medical Center at Bowling Green</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318</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  803,256.9K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666,736.1K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4%</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83039">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TriStar Greenview Regional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118</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428,341.9K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641,858.8K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101682">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Merit Health River Region (FKA River Region Health System)</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155</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  648,085.0K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492,123.8K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3%</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83039">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Beartooth Billings Clinic</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10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    6,596.1K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24,644.3K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r h="83039">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Hunterdon Health (FKA Hunterdon Medical Center)</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184</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  393,935.6K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929,836.7K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4"/>
                  </a:ext>
                </a:extLst>
              </a:tr>
              <a:tr h="83039">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Hackettstown Medical Center</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95</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  419,072.8K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  451,745.3K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5"/>
                  </a:ext>
                </a:extLst>
              </a:tr>
              <a:tr h="83039">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Glens Falls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391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  378,756.5K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  714,562.5K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6"/>
                  </a:ext>
                </a:extLst>
              </a:tr>
              <a:tr h="83039">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Atrium Medical Center</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244</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563,010.9K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  556,450.0K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7"/>
                  </a:ext>
                </a:extLst>
              </a:tr>
              <a:tr h="135285">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Lehigh Valley Hospital - Schuylkill S Jackson Street</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118</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  244,006.4K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  346,134.4K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8"/>
                  </a:ext>
                </a:extLst>
              </a:tr>
              <a:tr h="112656">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Lehigh Valley Hospital - Schuylkill E Norwegian Street</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99</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117,895.3K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  181,742.1K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9"/>
                  </a:ext>
                </a:extLst>
              </a:tr>
              <a:tr h="83039">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Lower Bucks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105</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216,227.2K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  126,832.8K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0"/>
                  </a:ext>
                </a:extLst>
              </a:tr>
              <a:tr h="83039">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Lehigh Valley Hospital - Cedar Crest</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1,190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$6,447,851.8K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$8,433,644.8K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28%</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15%</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1"/>
                  </a:ext>
                </a:extLst>
              </a:tr>
              <a:tr h="83039">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Wilkes-Barre General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188</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764,343.4K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$1,091,258.7K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3%</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2"/>
                  </a:ext>
                </a:extLst>
              </a:tr>
              <a:tr h="83039">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Warren General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85</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63,831.1K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207,521.0K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3"/>
                  </a:ext>
                </a:extLst>
              </a:tr>
              <a:tr h="101682">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Lehigh Valley Hospital - Hazleton</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134</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263,046.6K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605,706.7K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4"/>
                  </a:ext>
                </a:extLst>
              </a:tr>
              <a:tr h="101682">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St Lukes Lehighton Campus</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68</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193,471.3K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288,155.6K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5"/>
                  </a:ext>
                </a:extLst>
              </a:tr>
              <a:tr h="83039">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Doylestown Hospital (AKA Doylestown Health)</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217</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593,232.7K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853,288.6K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3%</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6"/>
                  </a:ext>
                </a:extLst>
              </a:tr>
              <a:tr h="83039">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Geisinger Wyoming Valley Medical Center</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583</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$2,190,243.6K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$4,045,390.9K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10%</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7%</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8"/>
                  </a:ext>
                </a:extLst>
              </a:tr>
              <a:tr h="83039">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Rothman Orthopaedic Specialty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24</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63,808.3K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209,522.8K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9"/>
                  </a:ext>
                </a:extLst>
              </a:tr>
              <a:tr h="83039">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Geisinger St Lukes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60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184,744.4K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275,367.2K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0"/>
                  </a:ext>
                </a:extLst>
              </a:tr>
              <a:tr h="83039">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St Lukes Carbon Campus</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52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307,695.2K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371,559.4K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1"/>
                  </a:ext>
                </a:extLst>
              </a:tr>
              <a:tr h="101682">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Ascension Saint Thomas River Park (FKA River Park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56</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97,845.5K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245,030.4K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2"/>
                  </a:ext>
                </a:extLst>
              </a:tr>
              <a:tr h="83039">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Castleview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39</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63,429.8K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221,776.7K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3"/>
                  </a:ext>
                </a:extLst>
              </a:tr>
              <a:tr h="83039">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Warren Memorial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36</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46,268.2K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194,670.3K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4"/>
                  </a:ext>
                </a:extLst>
              </a:tr>
              <a:tr h="83039">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Memorial Hospital of Carbon County</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25</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9,924.9K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50,036.4K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5"/>
                  </a:ext>
                </a:extLst>
              </a:tr>
            </a:tbl>
          </a:graphicData>
        </a:graphic>
      </p:graphicFrame>
    </p:spTree>
    <p:extLst>
      <p:ext uri="{BB962C8B-B14F-4D97-AF65-F5344CB8AC3E}">
        <p14:creationId xmlns:p14="http://schemas.microsoft.com/office/powerpoint/2010/main" val="39030600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 y="1"/>
          <a:ext cx="12192001" cy="6858004"/>
        </p:xfrm>
        <a:graphic>
          <a:graphicData uri="http://schemas.openxmlformats.org/drawingml/2006/table">
            <a:tbl>
              <a:tblPr/>
              <a:tblGrid>
                <a:gridCol w="2023014">
                  <a:extLst>
                    <a:ext uri="{9D8B030D-6E8A-4147-A177-3AD203B41FA5}">
                      <a16:colId xmlns:a16="http://schemas.microsoft.com/office/drawing/2014/main" val="20000"/>
                    </a:ext>
                  </a:extLst>
                </a:gridCol>
                <a:gridCol w="1382450">
                  <a:extLst>
                    <a:ext uri="{9D8B030D-6E8A-4147-A177-3AD203B41FA5}">
                      <a16:colId xmlns:a16="http://schemas.microsoft.com/office/drawing/2014/main" val="20001"/>
                    </a:ext>
                  </a:extLst>
                </a:gridCol>
                <a:gridCol w="1768162">
                  <a:extLst>
                    <a:ext uri="{9D8B030D-6E8A-4147-A177-3AD203B41FA5}">
                      <a16:colId xmlns:a16="http://schemas.microsoft.com/office/drawing/2014/main" val="20002"/>
                    </a:ext>
                  </a:extLst>
                </a:gridCol>
                <a:gridCol w="1499734">
                  <a:extLst>
                    <a:ext uri="{9D8B030D-6E8A-4147-A177-3AD203B41FA5}">
                      <a16:colId xmlns:a16="http://schemas.microsoft.com/office/drawing/2014/main" val="20003"/>
                    </a:ext>
                  </a:extLst>
                </a:gridCol>
                <a:gridCol w="1626674">
                  <a:extLst>
                    <a:ext uri="{9D8B030D-6E8A-4147-A177-3AD203B41FA5}">
                      <a16:colId xmlns:a16="http://schemas.microsoft.com/office/drawing/2014/main" val="20004"/>
                    </a:ext>
                  </a:extLst>
                </a:gridCol>
                <a:gridCol w="1235941">
                  <a:extLst>
                    <a:ext uri="{9D8B030D-6E8A-4147-A177-3AD203B41FA5}">
                      <a16:colId xmlns:a16="http://schemas.microsoft.com/office/drawing/2014/main" val="20005"/>
                    </a:ext>
                  </a:extLst>
                </a:gridCol>
                <a:gridCol w="1651006">
                  <a:extLst>
                    <a:ext uri="{9D8B030D-6E8A-4147-A177-3AD203B41FA5}">
                      <a16:colId xmlns:a16="http://schemas.microsoft.com/office/drawing/2014/main" val="20006"/>
                    </a:ext>
                  </a:extLst>
                </a:gridCol>
                <a:gridCol w="1005020">
                  <a:extLst>
                    <a:ext uri="{9D8B030D-6E8A-4147-A177-3AD203B41FA5}">
                      <a16:colId xmlns:a16="http://schemas.microsoft.com/office/drawing/2014/main" val="20007"/>
                    </a:ext>
                  </a:extLst>
                </a:gridCol>
              </a:tblGrid>
              <a:tr h="232916">
                <a:tc gridSpan="8">
                  <a:txBody>
                    <a:bodyPr/>
                    <a:lstStyle/>
                    <a:p>
                      <a:pPr marL="63500" marR="63500" algn="ctr">
                        <a:lnSpc>
                          <a:spcPct val="100000"/>
                        </a:lnSpc>
                        <a:spcBef>
                          <a:spcPts val="500"/>
                        </a:spcBef>
                        <a:spcAft>
                          <a:spcPts val="500"/>
                        </a:spcAft>
                        <a:buNone/>
                      </a:pPr>
                      <a:r>
                        <a:rPr sz="1200" b="1" i="0" u="none" cap="none" dirty="0">
                          <a:solidFill>
                            <a:srgbClr val="000000">
                              <a:alpha val="100000"/>
                            </a:srgbClr>
                          </a:solidFill>
                          <a:latin typeface="Arial"/>
                          <a:cs typeface="Arial"/>
                          <a:sym typeface="Arial"/>
                        </a:rPr>
                        <a:t>Hospital Metrics</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628888">
                <a:tc>
                  <a:txBody>
                    <a:bodyPr/>
                    <a:lstStyle/>
                    <a:p>
                      <a:pPr marL="63500" marR="63500" algn="ctr">
                        <a:lnSpc>
                          <a:spcPct val="100000"/>
                        </a:lnSpc>
                        <a:spcBef>
                          <a:spcPts val="500"/>
                        </a:spcBef>
                        <a:spcAft>
                          <a:spcPts val="500"/>
                        </a:spcAft>
                        <a:buNone/>
                      </a:pPr>
                      <a:r>
                        <a:rPr sz="1200" b="1" i="0" u="none" cap="none" dirty="0">
                          <a:solidFill>
                            <a:srgbClr val="000000">
                              <a:alpha val="100000"/>
                            </a:srgbClr>
                          </a:solidFill>
                          <a:latin typeface="Arial"/>
                          <a:cs typeface="Arial"/>
                          <a:sym typeface="Arial"/>
                        </a:rPr>
                        <a:t>Metric</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Hospital Bethlehem</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Hospital - Anderson Campus</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Upper Bucks Campus</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Miners Memorial Hospital</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Warren Hospital</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Hospital - Easton Campus</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Grand View Hospital</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20384">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Total Hospital Days</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175,348</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50,266</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22,200</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10,032</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19,488</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4,553</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34,414</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extLst>
                  <a:ext uri="{0D108BD9-81ED-4DB2-BD59-A6C34878D82A}">
                    <a16:rowId xmlns:a16="http://schemas.microsoft.com/office/drawing/2014/main" val="10002"/>
                  </a:ext>
                </a:extLst>
              </a:tr>
              <a:tr h="220384">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Total Medicare Days</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52,829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15,729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6,831</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4,324</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8,271</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1,739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13,584</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03"/>
                  </a:ext>
                </a:extLst>
              </a:tr>
              <a:tr h="22038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Medicaid Days</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11,581</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4,726</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1,513</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653</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938</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04"/>
                  </a:ext>
                </a:extLst>
              </a:tr>
              <a:tr h="35839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Other Government Payer Days</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05"/>
                  </a:ext>
                </a:extLst>
              </a:tr>
              <a:tr h="22016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Inpatient Patient Revenue</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$602,108.1K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$191,795.8K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$60,120.5K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$27,847.82K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$63,154.19K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$14,624.38K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$95,947.68K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22045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Outpatient Patient Revenue</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$613,155.9K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$239,790.1K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$86,069.32K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$79,750.91K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$137,201.8K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$41,012.13K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$140,601K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7"/>
                  </a:ext>
                </a:extLst>
              </a:tr>
              <a:tr h="22016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Medicare Revenue</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$239,589.9K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$94,531.81K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$34,117.06K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$16,775.95K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$40,371.26K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$8,186.026K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$42,014.48K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8"/>
                  </a:ext>
                </a:extLst>
              </a:tr>
              <a:tr h="35839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Medicaid and Other Government-Pay Revenue</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$136,616.8K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$33,310.48K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$10,636.72K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$12,644.13K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$19,332.77K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$4,531.892K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$8,881.773K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9"/>
                  </a:ext>
                </a:extLst>
              </a:tr>
              <a:tr h="22016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Revenue</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$839,057.3K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$305,159.9K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$101,702.4K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$78,292.09K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$141,070.3K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$42,705.19K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$185,405.8K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10"/>
                  </a:ext>
                </a:extLst>
              </a:tr>
              <a:tr h="22042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Uncompensated Care</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$48,987.31K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$14,933.32K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$7,920.645K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$6,751.937K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$3,875.871K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$6,692.891K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$12,862.06K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1"/>
                  </a:ext>
                </a:extLst>
              </a:tr>
              <a:tr h="22042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Costs</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$507,803.4K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$152,854.5K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$57,209.3K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$24,434K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$45,493.67K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$13,401.86K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$120,788.3K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12"/>
                  </a:ext>
                </a:extLst>
              </a:tr>
              <a:tr h="22045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Outpatient Costs</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$517,120.8K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$191,104.2K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$81,901.61K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$69,974.36K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$98,834.53K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$37,583.72K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$177,002.2K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13"/>
                  </a:ext>
                </a:extLst>
              </a:tr>
              <a:tr h="221323">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Operating Expenses</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$1,024,924K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$343,958.6K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$139,110.9K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$94,408.36K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$144,328.2K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$50,985.57K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$297,790.4K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4"/>
                  </a:ext>
                </a:extLst>
              </a:tr>
              <a:tr h="22016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 Income</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$190,339.8K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$89,043.57K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$7,345.306K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$13,303.81K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$56,446.17K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$4,437.54K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$-61,488.33K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5"/>
                  </a:ext>
                </a:extLst>
              </a:tr>
              <a:tr h="35839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Medicare</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30.1%</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31.3%</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30.8%</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43.1%</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42.4%</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38.2%</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39.5%</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6"/>
                  </a:ext>
                </a:extLst>
              </a:tr>
              <a:tr h="35839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Medicaid</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6.6%</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9.4%</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6.8%</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2.7%</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7"/>
                  </a:ext>
                </a:extLst>
              </a:tr>
              <a:tr h="35839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Other Government-Pay</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8"/>
                  </a:ext>
                </a:extLst>
              </a:tr>
              <a:tr h="22038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Payer Mix Percent No Pay</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3.3%</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10.7%</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9"/>
                  </a:ext>
                </a:extLst>
              </a:tr>
              <a:tr h="35839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Commercial</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59.4%</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56.0%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57.3%</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48.9%</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52.3%</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52.6%</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20"/>
                  </a:ext>
                </a:extLst>
              </a:tr>
              <a:tr h="35839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Profit Margin</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40.2%</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42.9%</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32.4%</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35.7%</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48.4%</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29.5%</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2.0%</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23"/>
                  </a:ext>
                </a:extLst>
              </a:tr>
              <a:tr h="155532">
                <a:tc gridSpan="8">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1. Most data is taken from the CMS provider cost report</a:t>
                      </a:r>
                    </a:p>
                  </a:txBody>
                  <a:tcPr marL="0" marR="0" marT="9144" marB="9144" anchor="ctr">
                    <a:lnL w="0" cap="flat" cmpd="sng" algn="ctr">
                      <a:noFill/>
                      <a:prstDash val="solid"/>
                    </a:lnL>
                    <a:lnR w="0" cap="flat" cmpd="sng" algn="ctr">
                      <a:noFill/>
                      <a:prstDash val="solid"/>
                    </a:lnR>
                    <a:lnT w="19050" cap="flat" cmpd="sng" algn="ctr">
                      <a:no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155532">
                <a:tc gridSpan="8">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155532">
                <a:tc gridSpan="8">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3. Data with 'Estimated' in the title are derived from other data points.</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7"/>
                  </a:ext>
                </a:extLst>
              </a:tr>
              <a:tr h="155532">
                <a:tc gridSpan="8">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54E0CA3-8729-0C22-A99D-64AA84C3DC78}"/>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883DE4-3AC3-AC60-06C5-41C0EE69E332}"/>
              </a:ext>
            </a:extLst>
          </p:cNvPr>
          <p:cNvSpPr>
            <a:spLocks noGrp="1"/>
          </p:cNvSpPr>
          <p:nvPr>
            <p:ph type="title"/>
          </p:nvPr>
        </p:nvSpPr>
        <p:spPr>
          <a:xfrm>
            <a:off x="611635" y="389125"/>
            <a:ext cx="10955969" cy="1325563"/>
          </a:xfrm>
        </p:spPr>
        <p:txBody>
          <a:bodyPr/>
          <a:lstStyle/>
          <a:p>
            <a:r>
              <a:rPr lang="en-US" b="1" dirty="0">
                <a:latin typeface="Arial" panose="020B0604020202020204" pitchFamily="34" charset="0"/>
                <a:cs typeface="Arial" panose="020B0604020202020204" pitchFamily="34" charset="0"/>
              </a:rPr>
              <a:t>Estimating PMPY Spend (KBA Data)</a:t>
            </a:r>
          </a:p>
        </p:txBody>
      </p:sp>
      <p:graphicFrame>
        <p:nvGraphicFramePr>
          <p:cNvPr id="6" name="Content Placeholder 5">
            <a:extLst>
              <a:ext uri="{FF2B5EF4-FFF2-40B4-BE49-F238E27FC236}">
                <a16:creationId xmlns:a16="http://schemas.microsoft.com/office/drawing/2014/main" id="{3C07E302-CC45-B04C-2C2D-C436C7863084}"/>
              </a:ext>
            </a:extLst>
          </p:cNvPr>
          <p:cNvGraphicFramePr>
            <a:graphicFrameLocks noGrp="1"/>
          </p:cNvGraphicFramePr>
          <p:nvPr>
            <p:ph idx="1"/>
            <p:extLst>
              <p:ext uri="{D42A27DB-BD31-4B8C-83A1-F6EECF244321}">
                <p14:modId xmlns:p14="http://schemas.microsoft.com/office/powerpoint/2010/main" val="1246512063"/>
              </p:ext>
            </p:extLst>
          </p:nvPr>
        </p:nvGraphicFramePr>
        <p:xfrm>
          <a:off x="727045" y="2103813"/>
          <a:ext cx="10955969" cy="1977078"/>
        </p:xfrm>
        <a:graphic>
          <a:graphicData uri="http://schemas.openxmlformats.org/drawingml/2006/table">
            <a:tbl>
              <a:tblPr>
                <a:tableStyleId>{0E3FDE45-AF77-4B5C-9715-49D594BDF05E}</a:tableStyleId>
              </a:tblPr>
              <a:tblGrid>
                <a:gridCol w="1547010">
                  <a:extLst>
                    <a:ext uri="{9D8B030D-6E8A-4147-A177-3AD203B41FA5}">
                      <a16:colId xmlns:a16="http://schemas.microsoft.com/office/drawing/2014/main" val="3362999399"/>
                    </a:ext>
                  </a:extLst>
                </a:gridCol>
                <a:gridCol w="1623242">
                  <a:extLst>
                    <a:ext uri="{9D8B030D-6E8A-4147-A177-3AD203B41FA5}">
                      <a16:colId xmlns:a16="http://schemas.microsoft.com/office/drawing/2014/main" val="2451770454"/>
                    </a:ext>
                  </a:extLst>
                </a:gridCol>
                <a:gridCol w="1926454">
                  <a:extLst>
                    <a:ext uri="{9D8B030D-6E8A-4147-A177-3AD203B41FA5}">
                      <a16:colId xmlns:a16="http://schemas.microsoft.com/office/drawing/2014/main" val="502797257"/>
                    </a:ext>
                  </a:extLst>
                </a:gridCol>
                <a:gridCol w="1677880">
                  <a:extLst>
                    <a:ext uri="{9D8B030D-6E8A-4147-A177-3AD203B41FA5}">
                      <a16:colId xmlns:a16="http://schemas.microsoft.com/office/drawing/2014/main" val="922876968"/>
                    </a:ext>
                  </a:extLst>
                </a:gridCol>
                <a:gridCol w="1633491">
                  <a:extLst>
                    <a:ext uri="{9D8B030D-6E8A-4147-A177-3AD203B41FA5}">
                      <a16:colId xmlns:a16="http://schemas.microsoft.com/office/drawing/2014/main" val="182128588"/>
                    </a:ext>
                  </a:extLst>
                </a:gridCol>
                <a:gridCol w="2547892">
                  <a:extLst>
                    <a:ext uri="{9D8B030D-6E8A-4147-A177-3AD203B41FA5}">
                      <a16:colId xmlns:a16="http://schemas.microsoft.com/office/drawing/2014/main" val="3900443217"/>
                    </a:ext>
                  </a:extLst>
                </a:gridCol>
              </a:tblGrid>
              <a:tr h="620649">
                <a:tc>
                  <a:txBody>
                    <a:bodyPr/>
                    <a:lstStyle/>
                    <a:p>
                      <a:pPr algn="l" fontAlgn="b"/>
                      <a:r>
                        <a:rPr lang="en-US" sz="1400" u="none" strike="noStrike" dirty="0">
                          <a:effectLst/>
                        </a:rPr>
                        <a:t>Category</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Allowed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Paid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Member Years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Nationwide Average of Paid Claims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1" u="none" strike="noStrike" dirty="0">
                          <a:effectLst/>
                        </a:rPr>
                        <a:t>Adjusted to Bethlehem, PA Healthcare Rates</a:t>
                      </a:r>
                      <a:endParaRPr lang="en-US" sz="1400" b="1" i="0" u="none" strike="noStrike" dirty="0">
                        <a:solidFill>
                          <a:srgbClr val="000000"/>
                        </a:solidFill>
                        <a:effectLst/>
                        <a:latin typeface="Calibri" panose="020F0502020204030204" pitchFamily="34"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953059960"/>
                  </a:ext>
                </a:extLst>
              </a:tr>
              <a:tr h="452143">
                <a:tc>
                  <a:txBody>
                    <a:bodyPr/>
                    <a:lstStyle/>
                    <a:p>
                      <a:pPr algn="l" fontAlgn="b"/>
                      <a:r>
                        <a:rPr lang="en-US" sz="1400" u="none" strike="noStrike" dirty="0">
                          <a:effectLst/>
                        </a:rPr>
                        <a:t>Inpatient</a:t>
                      </a:r>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$ 561,766,609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$ 358,815,229 </a:t>
                      </a:r>
                    </a:p>
                  </a:txBody>
                  <a:tcPr marL="9525" marR="9525" marT="9525" marB="0" anchor="b"/>
                </a:tc>
                <a:tc rowSpan="3">
                  <a:txBody>
                    <a:bodyPr/>
                    <a:lstStyle/>
                    <a:p>
                      <a:pPr algn="ctr" fontAlgn="b"/>
                      <a:r>
                        <a:rPr lang="en-US" sz="1400" b="0" i="0" u="none" strike="noStrike" dirty="0">
                          <a:solidFill>
                            <a:srgbClr val="000000"/>
                          </a:solidFill>
                          <a:effectLst/>
                          <a:latin typeface="Calibri" panose="020F0502020204030204" pitchFamily="34" charset="0"/>
                        </a:rPr>
                        <a:t> 105,492 </a:t>
                      </a:r>
                    </a:p>
                    <a:p>
                      <a:pPr algn="ctr" fontAlgn="b"/>
                      <a:r>
                        <a:rPr lang="en-US" sz="1400" b="0" i="0" u="none" strike="noStrike" dirty="0">
                          <a:solidFill>
                            <a:srgbClr val="000000"/>
                          </a:solidFill>
                          <a:effectLst/>
                          <a:latin typeface="Calibri" panose="020F0502020204030204" pitchFamily="34" charset="0"/>
                        </a:rPr>
                        <a:t> </a:t>
                      </a:r>
                    </a:p>
                    <a:p>
                      <a:pPr algn="ctr" fontAlgn="b"/>
                      <a:endParaRPr lang="en-US" sz="1400" b="0" i="0" u="none" strike="noStrike" dirty="0">
                        <a:solidFill>
                          <a:srgbClr val="000000"/>
                        </a:solidFill>
                        <a:effectLst/>
                        <a:latin typeface="Calibri" panose="020F0502020204030204" pitchFamily="34" charset="0"/>
                      </a:endParaRPr>
                    </a:p>
                    <a:p>
                      <a:pPr algn="ctr" fontAlgn="b"/>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$ 3,401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$ 3,939</a:t>
                      </a:r>
                    </a:p>
                  </a:txBody>
                  <a:tcPr marL="9525" marR="9525" marT="9525" marB="0" anchor="b">
                    <a:solidFill>
                      <a:schemeClr val="accent1">
                        <a:lumMod val="20000"/>
                        <a:lumOff val="80000"/>
                      </a:schemeClr>
                    </a:solidFill>
                  </a:tcPr>
                </a:tc>
                <a:extLst>
                  <a:ext uri="{0D108BD9-81ED-4DB2-BD59-A6C34878D82A}">
                    <a16:rowId xmlns:a16="http://schemas.microsoft.com/office/drawing/2014/main" val="405929793"/>
                  </a:ext>
                </a:extLst>
              </a:tr>
              <a:tr h="452143">
                <a:tc>
                  <a:txBody>
                    <a:bodyPr/>
                    <a:lstStyle/>
                    <a:p>
                      <a:pPr algn="l" fontAlgn="b"/>
                      <a:r>
                        <a:rPr lang="en-US" sz="1400" u="none" strike="noStrike">
                          <a:effectLst/>
                        </a:rPr>
                        <a:t>OutPatient</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$ 1,223,989,466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$ 652,333,702 </a:t>
                      </a:r>
                    </a:p>
                  </a:txBody>
                  <a:tcPr marL="9525" marR="9525" marT="9525" marB="0" anchor="b"/>
                </a:tc>
                <a:tc vMerge="1">
                  <a:txBody>
                    <a:bodyPr/>
                    <a:lstStyle/>
                    <a:p>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$ 6,184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$ 6,616</a:t>
                      </a:r>
                    </a:p>
                  </a:txBody>
                  <a:tcPr marL="9525" marR="9525" marT="9525" marB="0" anchor="b">
                    <a:solidFill>
                      <a:schemeClr val="accent1">
                        <a:lumMod val="20000"/>
                        <a:lumOff val="80000"/>
                      </a:schemeClr>
                    </a:solidFill>
                  </a:tcPr>
                </a:tc>
                <a:extLst>
                  <a:ext uri="{0D108BD9-81ED-4DB2-BD59-A6C34878D82A}">
                    <a16:rowId xmlns:a16="http://schemas.microsoft.com/office/drawing/2014/main" val="1220429663"/>
                  </a:ext>
                </a:extLst>
              </a:tr>
              <a:tr h="452143">
                <a:tc>
                  <a:txBody>
                    <a:bodyPr/>
                    <a:lstStyle/>
                    <a:p>
                      <a:pPr algn="l" fontAlgn="b"/>
                      <a:r>
                        <a:rPr lang="en-US" sz="1400" u="none" strike="noStrike">
                          <a:effectLst/>
                        </a:rPr>
                        <a:t>Professional</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$ 549,353,224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$ 304,634,120 </a:t>
                      </a:r>
                    </a:p>
                  </a:txBody>
                  <a:tcPr marL="9525" marR="9525" marT="9525" marB="0" anchor="b"/>
                </a:tc>
                <a:tc vMerge="1">
                  <a:txBody>
                    <a:bodyPr/>
                    <a:lstStyle/>
                    <a:p>
                      <a:endParaRPr dirty="0"/>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$ 2,888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a:t>
                      </a:r>
                      <a:r>
                        <a:rPr lang="en-US" sz="1400" b="1" i="0" u="none" strike="noStrike">
                          <a:solidFill>
                            <a:srgbClr val="000000"/>
                          </a:solidFill>
                          <a:effectLst/>
                          <a:latin typeface="Calibri" panose="020F0502020204030204" pitchFamily="34" charset="0"/>
                        </a:rPr>
                        <a:t>$ 3,089</a:t>
                      </a:r>
                      <a:endParaRPr lang="en-US" sz="1400" b="1" i="0" u="none" strike="noStrike" dirty="0">
                        <a:solidFill>
                          <a:srgbClr val="000000"/>
                        </a:solidFill>
                        <a:effectLst/>
                        <a:latin typeface="Calibri" panose="020F0502020204030204" pitchFamily="34"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164641254"/>
                  </a:ext>
                </a:extLst>
              </a:tr>
            </a:tbl>
          </a:graphicData>
        </a:graphic>
      </p:graphicFrame>
      <p:sp>
        <p:nvSpPr>
          <p:cNvPr id="4" name="Footer Placeholder 3">
            <a:extLst>
              <a:ext uri="{FF2B5EF4-FFF2-40B4-BE49-F238E27FC236}">
                <a16:creationId xmlns:a16="http://schemas.microsoft.com/office/drawing/2014/main" id="{7BA580EB-C284-801F-0C01-7F0E0784CDF5}"/>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61D448FD-C0CB-66DA-9574-CB79C1BD7A9D}"/>
              </a:ext>
            </a:extLst>
          </p:cNvPr>
          <p:cNvSpPr>
            <a:spLocks noGrp="1"/>
          </p:cNvSpPr>
          <p:nvPr>
            <p:ph type="sldNum" sz="quarter" idx="12"/>
          </p:nvPr>
        </p:nvSpPr>
        <p:spPr/>
        <p:txBody>
          <a:bodyPr/>
          <a:lstStyle/>
          <a:p>
            <a:fld id="{3AFC719D-C4A7-4544-876E-D411D11AF6C9}" type="slidenum">
              <a:rPr lang="en-US" smtClean="0"/>
              <a:t>40</a:t>
            </a:fld>
            <a:endParaRPr lang="en-US" dirty="0"/>
          </a:p>
        </p:txBody>
      </p:sp>
      <p:sp>
        <p:nvSpPr>
          <p:cNvPr id="7" name="TextBox 6">
            <a:extLst>
              <a:ext uri="{FF2B5EF4-FFF2-40B4-BE49-F238E27FC236}">
                <a16:creationId xmlns:a16="http://schemas.microsoft.com/office/drawing/2014/main" id="{CD602C75-9647-2A81-5720-669FD6EEB5F4}"/>
              </a:ext>
            </a:extLst>
          </p:cNvPr>
          <p:cNvSpPr txBox="1"/>
          <p:nvPr/>
        </p:nvSpPr>
        <p:spPr>
          <a:xfrm>
            <a:off x="1012053" y="4583495"/>
            <a:ext cx="10555551" cy="1384995"/>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KBA utilizes its data warehouse with greater than $3B in yearly adjudicated charges to estimate PMPY spend by inpatient, outpatient and professional charges. Pharmacy and non-health-system charges are excluded.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Using the Milliman area adjustment factors by zip code, charges are standardized to local estimates.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These estimated charges are conservative as KBA claims average ~15% below the market average. </a:t>
            </a:r>
          </a:p>
        </p:txBody>
      </p:sp>
    </p:spTree>
    <p:extLst>
      <p:ext uri="{BB962C8B-B14F-4D97-AF65-F5344CB8AC3E}">
        <p14:creationId xmlns:p14="http://schemas.microsoft.com/office/powerpoint/2010/main" val="949441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75B7D0B-6778-5BAB-C7D4-9C15D73239FD}"/>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53670C-7BD0-B908-CA73-21D945CCB08B}"/>
              </a:ext>
            </a:extLst>
          </p:cNvPr>
          <p:cNvSpPr>
            <a:spLocks noGrp="1"/>
          </p:cNvSpPr>
          <p:nvPr>
            <p:ph type="title"/>
          </p:nvPr>
        </p:nvSpPr>
        <p:spPr/>
        <p:txBody>
          <a:bodyPr>
            <a:normAutofit/>
          </a:bodyPr>
          <a:lstStyle/>
          <a:p>
            <a:r>
              <a:rPr lang="en-US" sz="4000" b="1" dirty="0">
                <a:latin typeface="Arial" panose="020B0604020202020204" pitchFamily="34" charset="0"/>
                <a:cs typeface="Arial" panose="020B0604020202020204" pitchFamily="34" charset="0"/>
              </a:rPr>
              <a:t>Estimating Expected Steerage (KBA Data)</a:t>
            </a:r>
          </a:p>
        </p:txBody>
      </p:sp>
      <p:sp>
        <p:nvSpPr>
          <p:cNvPr id="4" name="Footer Placeholder 3">
            <a:extLst>
              <a:ext uri="{FF2B5EF4-FFF2-40B4-BE49-F238E27FC236}">
                <a16:creationId xmlns:a16="http://schemas.microsoft.com/office/drawing/2014/main" id="{7FE81BA0-6CC4-7AA2-91FB-5DA5805980DF}"/>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7A5BE937-4283-AC8F-5066-93360F2AD61D}"/>
              </a:ext>
            </a:extLst>
          </p:cNvPr>
          <p:cNvSpPr>
            <a:spLocks noGrp="1"/>
          </p:cNvSpPr>
          <p:nvPr>
            <p:ph type="sldNum" sz="quarter" idx="12"/>
          </p:nvPr>
        </p:nvSpPr>
        <p:spPr/>
        <p:txBody>
          <a:bodyPr/>
          <a:lstStyle/>
          <a:p>
            <a:fld id="{3AFC719D-C4A7-4544-876E-D411D11AF6C9}" type="slidenum">
              <a:rPr lang="en-US" smtClean="0"/>
              <a:t>41</a:t>
            </a:fld>
            <a:endParaRPr lang="en-US" dirty="0"/>
          </a:p>
        </p:txBody>
      </p:sp>
      <p:graphicFrame>
        <p:nvGraphicFramePr>
          <p:cNvPr id="6" name="Table 5">
            <a:extLst>
              <a:ext uri="{FF2B5EF4-FFF2-40B4-BE49-F238E27FC236}">
                <a16:creationId xmlns:a16="http://schemas.microsoft.com/office/drawing/2014/main" id="{A3BBF012-AA0D-5710-B532-CE355455856C}"/>
              </a:ext>
            </a:extLst>
          </p:cNvPr>
          <p:cNvGraphicFramePr>
            <a:graphicFrameLocks noGrp="1"/>
          </p:cNvGraphicFramePr>
          <p:nvPr>
            <p:extLst>
              <p:ext uri="{D42A27DB-BD31-4B8C-83A1-F6EECF244321}">
                <p14:modId xmlns:p14="http://schemas.microsoft.com/office/powerpoint/2010/main" val="2552478786"/>
              </p:ext>
            </p:extLst>
          </p:nvPr>
        </p:nvGraphicFramePr>
        <p:xfrm>
          <a:off x="629020" y="1690688"/>
          <a:ext cx="9282575" cy="4626660"/>
        </p:xfrm>
        <a:graphic>
          <a:graphicData uri="http://schemas.openxmlformats.org/drawingml/2006/table">
            <a:tbl>
              <a:tblPr/>
              <a:tblGrid>
                <a:gridCol w="1560295">
                  <a:extLst>
                    <a:ext uri="{9D8B030D-6E8A-4147-A177-3AD203B41FA5}">
                      <a16:colId xmlns:a16="http://schemas.microsoft.com/office/drawing/2014/main" val="2016668870"/>
                    </a:ext>
                  </a:extLst>
                </a:gridCol>
                <a:gridCol w="1770126">
                  <a:extLst>
                    <a:ext uri="{9D8B030D-6E8A-4147-A177-3AD203B41FA5}">
                      <a16:colId xmlns:a16="http://schemas.microsoft.com/office/drawing/2014/main" val="2087362137"/>
                    </a:ext>
                  </a:extLst>
                </a:gridCol>
                <a:gridCol w="1318786">
                  <a:extLst>
                    <a:ext uri="{9D8B030D-6E8A-4147-A177-3AD203B41FA5}">
                      <a16:colId xmlns:a16="http://schemas.microsoft.com/office/drawing/2014/main" val="1244890546"/>
                    </a:ext>
                  </a:extLst>
                </a:gridCol>
                <a:gridCol w="1806154">
                  <a:extLst>
                    <a:ext uri="{9D8B030D-6E8A-4147-A177-3AD203B41FA5}">
                      <a16:colId xmlns:a16="http://schemas.microsoft.com/office/drawing/2014/main" val="3152637151"/>
                    </a:ext>
                  </a:extLst>
                </a:gridCol>
                <a:gridCol w="1282758">
                  <a:extLst>
                    <a:ext uri="{9D8B030D-6E8A-4147-A177-3AD203B41FA5}">
                      <a16:colId xmlns:a16="http://schemas.microsoft.com/office/drawing/2014/main" val="663229898"/>
                    </a:ext>
                  </a:extLst>
                </a:gridCol>
                <a:gridCol w="1544456">
                  <a:extLst>
                    <a:ext uri="{9D8B030D-6E8A-4147-A177-3AD203B41FA5}">
                      <a16:colId xmlns:a16="http://schemas.microsoft.com/office/drawing/2014/main" val="1905754699"/>
                    </a:ext>
                  </a:extLst>
                </a:gridCol>
              </a:tblGrid>
              <a:tr h="322321">
                <a:tc>
                  <a:txBody>
                    <a:bodyPr/>
                    <a:lstStyle/>
                    <a:p>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gridSpan="4">
                  <a:txBody>
                    <a:bodyPr/>
                    <a:lstStyle/>
                    <a:p>
                      <a:r>
                        <a:rPr lang="en-US" sz="1600" b="1" u="sng" dirty="0">
                          <a:latin typeface="Arial" panose="020B0604020202020204" pitchFamily="34" charset="0"/>
                          <a:cs typeface="Arial" panose="020B0604020202020204" pitchFamily="34" charset="0"/>
                        </a:rPr>
                        <a:t>DTE Health Plan Tier 1 Utilization –  </a:t>
                      </a:r>
                      <a:r>
                        <a:rPr lang="en-US" sz="1600" b="1" u="sng" dirty="0">
                          <a:solidFill>
                            <a:schemeClr val="accent2"/>
                          </a:solidFill>
                          <a:latin typeface="Arial" panose="020B0604020202020204" pitchFamily="34" charset="0"/>
                          <a:cs typeface="Arial" panose="020B0604020202020204" pitchFamily="34" charset="0"/>
                        </a:rPr>
                        <a:t>Q1 2024</a:t>
                      </a:r>
                      <a:endParaRPr lang="en-US" sz="1600" dirty="0">
                        <a:solidFill>
                          <a:schemeClr val="accent2"/>
                        </a:solidFill>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23845498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Charges</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Discount Equivalent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978587454"/>
                  </a:ext>
                </a:extLst>
              </a:tr>
              <a:tr h="322321">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Charge to 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651634651"/>
                  </a:ext>
                </a:extLst>
              </a:tr>
              <a:tr h="322321">
                <a:tc>
                  <a:txBody>
                    <a:bodyPr/>
                    <a:lstStyle/>
                    <a:p>
                      <a:r>
                        <a:rPr lang="en-US" sz="1600" b="1" u="sng">
                          <a:latin typeface="Arial" panose="020B0604020202020204" pitchFamily="34" charset="0"/>
                          <a:cs typeface="Arial" panose="020B0604020202020204" pitchFamily="34" charset="0"/>
                        </a:rPr>
                        <a:t>Tier 1</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81.26%</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77.42%</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423413711"/>
                  </a:ext>
                </a:extLst>
              </a:tr>
              <a:tr h="564062">
                <a:tc>
                  <a:txBody>
                    <a:bodyPr/>
                    <a:lstStyle/>
                    <a:p>
                      <a:r>
                        <a:rPr lang="en-US" sz="1600" dirty="0">
                          <a:latin typeface="Arial" panose="020B0604020202020204" pitchFamily="34" charset="0"/>
                          <a:cs typeface="Arial" panose="020B0604020202020204" pitchFamily="34" charset="0"/>
                        </a:rPr>
                        <a:t>Current DTE Network #1</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17,913,805.69</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54.82%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6,907,327.88</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58.63%</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-61.44%</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1979987418"/>
                  </a:ext>
                </a:extLst>
              </a:tr>
              <a:tr h="564062">
                <a:tc>
                  <a:txBody>
                    <a:bodyPr/>
                    <a:lstStyle/>
                    <a:p>
                      <a:r>
                        <a:rPr lang="en-US" sz="1600" dirty="0">
                          <a:latin typeface="Arial" panose="020B0604020202020204" pitchFamily="34" charset="0"/>
                          <a:cs typeface="Arial" panose="020B0604020202020204" pitchFamily="34" charset="0"/>
                        </a:rPr>
                        <a:t>Current DTE Network #2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8,460,570.40</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78.37%</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3,280,571.45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77.62%</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-61.23%</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238957396"/>
                  </a:ext>
                </a:extLst>
              </a:tr>
              <a:tr h="564062">
                <a:tc>
                  <a:txBody>
                    <a:bodyPr/>
                    <a:lstStyle/>
                    <a:p>
                      <a:r>
                        <a:rPr lang="en-US" sz="1600" dirty="0">
                          <a:latin typeface="Arial" panose="020B0604020202020204" pitchFamily="34" charset="0"/>
                          <a:cs typeface="Arial" panose="020B0604020202020204" pitchFamily="34" charset="0"/>
                        </a:rPr>
                        <a:t>Current DTE Network #3</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629,748.27</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72.98%</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198,216.95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80.64%</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-68.52%</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512199195"/>
                  </a:ext>
                </a:extLst>
              </a:tr>
              <a:tr h="564062">
                <a:tc>
                  <a:txBody>
                    <a:bodyPr/>
                    <a:lstStyle/>
                    <a:p>
                      <a:r>
                        <a:rPr lang="en-US" sz="1600" dirty="0">
                          <a:latin typeface="Arial" panose="020B0604020202020204" pitchFamily="34" charset="0"/>
                          <a:cs typeface="Arial" panose="020B0604020202020204" pitchFamily="34" charset="0"/>
                        </a:rPr>
                        <a:t>Current DTE Network #4</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58,261,069.02</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96.15%</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12,968,046.77</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93.20%</a:t>
                      </a: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-77.74%</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6122587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85,265,193.38 </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23,354,163.05</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2643862706"/>
                  </a:ext>
                </a:extLst>
              </a:tr>
            </a:tbl>
          </a:graphicData>
        </a:graphic>
      </p:graphicFrame>
      <p:sp>
        <p:nvSpPr>
          <p:cNvPr id="7" name="Oval 6">
            <a:extLst>
              <a:ext uri="{FF2B5EF4-FFF2-40B4-BE49-F238E27FC236}">
                <a16:creationId xmlns:a16="http://schemas.microsoft.com/office/drawing/2014/main" id="{C6C12282-6958-DC81-53E7-8B55DA976476}"/>
              </a:ext>
            </a:extLst>
          </p:cNvPr>
          <p:cNvSpPr/>
          <p:nvPr/>
        </p:nvSpPr>
        <p:spPr>
          <a:xfrm>
            <a:off x="7338974" y="3119767"/>
            <a:ext cx="814428" cy="390525"/>
          </a:xfrm>
          <a:prstGeom prst="ellipse">
            <a:avLst/>
          </a:prstGeom>
          <a:noFill/>
          <a:ln w="381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Callout: Line 7">
            <a:extLst>
              <a:ext uri="{FF2B5EF4-FFF2-40B4-BE49-F238E27FC236}">
                <a16:creationId xmlns:a16="http://schemas.microsoft.com/office/drawing/2014/main" id="{C48E1780-AC25-9BD2-86FC-FF9298ADEAFD}"/>
              </a:ext>
            </a:extLst>
          </p:cNvPr>
          <p:cNvSpPr/>
          <p:nvPr/>
        </p:nvSpPr>
        <p:spPr>
          <a:xfrm>
            <a:off x="10022411" y="3047196"/>
            <a:ext cx="1863635" cy="1123406"/>
          </a:xfrm>
          <a:prstGeom prst="borderCallout1">
            <a:avLst>
              <a:gd name="adj1" fmla="val 10057"/>
              <a:gd name="adj2" fmla="val -3093"/>
              <a:gd name="adj3" fmla="val 17609"/>
              <a:gd name="adj4" fmla="val -95140"/>
            </a:avLst>
          </a:prstGeom>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cs typeface="Arial" panose="020B0604020202020204" pitchFamily="34" charset="0"/>
              </a:rPr>
              <a:t>DTE Steerage Impact on an EPO Plan Structure</a:t>
            </a:r>
          </a:p>
        </p:txBody>
      </p:sp>
    </p:spTree>
    <p:extLst>
      <p:ext uri="{BB962C8B-B14F-4D97-AF65-F5344CB8AC3E}">
        <p14:creationId xmlns:p14="http://schemas.microsoft.com/office/powerpoint/2010/main" val="36165022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3E4D1330-6559-4480-ECC7-66909D09D0BD}"/>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Key Benefit Administrators</a:t>
            </a:r>
            <a:endParaRPr lang="en-US" dirty="0">
              <a:latin typeface="Arial" panose="020B0604020202020204" pitchFamily="34" charset="0"/>
              <a:cs typeface="Arial" panose="020B0604020202020204" pitchFamily="34" charset="0"/>
            </a:endParaRPr>
          </a:p>
        </p:txBody>
      </p:sp>
      <p:sp>
        <p:nvSpPr>
          <p:cNvPr id="3" name="Slide Number Placeholder 4">
            <a:extLst>
              <a:ext uri="{FF2B5EF4-FFF2-40B4-BE49-F238E27FC236}">
                <a16:creationId xmlns:a16="http://schemas.microsoft.com/office/drawing/2014/main" id="{FAD03FEC-C905-CEF4-1EA9-88A1334154D0}"/>
              </a:ext>
            </a:extLst>
          </p:cNvPr>
          <p:cNvSpPr>
            <a:spLocks noGrp="1"/>
          </p:cNvSpPr>
          <p:nvPr>
            <p:ph type="sldNum" sz="quarter" idx="12"/>
          </p:nvPr>
        </p:nvSpPr>
        <p:spPr/>
        <p:txBody>
          <a:bodyPr/>
          <a:lstStyle/>
          <a:p>
            <a:fld id="{3AFC719D-C4A7-4544-876E-D411D11AF6C9}" type="slidenum">
              <a:rPr lang="en-US" smtClean="0">
                <a:latin typeface="Arial" panose="020B0604020202020204" pitchFamily="34" charset="0"/>
                <a:cs typeface="Arial" panose="020B0604020202020204" pitchFamily="34" charset="0"/>
              </a:rPr>
              <a:t>42</a:t>
            </a:fld>
            <a:endParaRPr lang="en-US" dirty="0">
              <a:latin typeface="Arial" panose="020B0604020202020204" pitchFamily="34" charset="0"/>
              <a:cs typeface="Arial" panose="020B0604020202020204" pitchFamily="34" charset="0"/>
            </a:endParaRPr>
          </a:p>
        </p:txBody>
      </p:sp>
      <p:graphicFrame>
        <p:nvGraphicFramePr>
          <p:cNvPr id="4" name="Table 5">
            <a:extLst>
              <a:ext uri="{FF2B5EF4-FFF2-40B4-BE49-F238E27FC236}">
                <a16:creationId xmlns:a16="http://schemas.microsoft.com/office/drawing/2014/main" id="{176BAF2A-5136-E457-9AAC-D0878752F10C}"/>
              </a:ext>
            </a:extLst>
          </p:cNvPr>
          <p:cNvGraphicFramePr>
            <a:graphicFrameLocks noGrp="1"/>
          </p:cNvGraphicFramePr>
          <p:nvPr/>
        </p:nvGraphicFramePr>
        <p:xfrm>
          <a:off x="438153" y="362843"/>
          <a:ext cx="6972297" cy="132080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600" b="1" dirty="0">
                          <a:solidFill>
                            <a:schemeClr val="bg1"/>
                          </a:solidFill>
                        </a:rPr>
                        <a:t>Pre-DTE Cohort of 5,000 Members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600" dirty="0"/>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$ 5,813,802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$ 5,356,579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$ 2,500,978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$ 13,671,359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$ 1,505,901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$ 1,387,470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$ 647,807.7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$ 3,541,179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5" name="Straight Connector 13">
            <a:extLst>
              <a:ext uri="{FF2B5EF4-FFF2-40B4-BE49-F238E27FC236}">
                <a16:creationId xmlns:a16="http://schemas.microsoft.com/office/drawing/2014/main" id="{8EA958C5-E105-8A94-794A-7A8EB2DFEBDC}"/>
              </a:ext>
            </a:extLst>
          </p:cNvPr>
          <p:cNvCxnSpPr/>
          <p:nvPr/>
        </p:nvCxnSpPr>
        <p:spPr>
          <a:xfrm>
            <a:off x="336551" y="3314684"/>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6" name="Table 14">
            <a:extLst>
              <a:ext uri="{FF2B5EF4-FFF2-40B4-BE49-F238E27FC236}">
                <a16:creationId xmlns:a16="http://schemas.microsoft.com/office/drawing/2014/main" id="{FF3ACACB-7F38-7EAA-4BDF-1A816CA00AAE}"/>
              </a:ext>
            </a:extLst>
          </p:cNvPr>
          <p:cNvGraphicFramePr>
            <a:graphicFrameLocks noGrp="1"/>
          </p:cNvGraphicFramePr>
          <p:nvPr/>
        </p:nvGraphicFramePr>
        <p:xfrm>
          <a:off x="482600" y="3684017"/>
          <a:ext cx="6927847" cy="2225040"/>
        </p:xfrm>
        <a:graphic>
          <a:graphicData uri="http://schemas.openxmlformats.org/drawingml/2006/table">
            <a:tbl>
              <a:tblPr firstRow="1" bandRow="1">
                <a:tableStyleId>{5940675A-B579-460E-94D1-54222C63F5DA}</a:tableStyleId>
              </a:tblPr>
              <a:tblGrid>
                <a:gridCol w="5622925">
                  <a:extLst>
                    <a:ext uri="{9D8B030D-6E8A-4147-A177-3AD203B41FA5}">
                      <a16:colId xmlns:a16="http://schemas.microsoft.com/office/drawing/2014/main" val="1938271373"/>
                    </a:ext>
                  </a:extLst>
                </a:gridCol>
                <a:gridCol w="1304922">
                  <a:extLst>
                    <a:ext uri="{9D8B030D-6E8A-4147-A177-3AD203B41FA5}">
                      <a16:colId xmlns:a16="http://schemas.microsoft.com/office/drawing/2014/main" val="232002059"/>
                    </a:ext>
                  </a:extLst>
                </a:gridCol>
              </a:tblGrid>
              <a:tr h="370840">
                <a:tc>
                  <a:txBody>
                    <a:bodyPr/>
                    <a:lstStyle/>
                    <a:p>
                      <a:r>
                        <a:rPr lang="en-US" dirty="0"/>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$ 9,765,906</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dirty="0"/>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$ 60,000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dirty="0"/>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$ 9,825,906</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dirty="0">
                          <a:solidFill/>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-$ 150,000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dirty="0"/>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b="1" dirty="0"/>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b="1" dirty="0">
                          <a:solidFill>
                            <a:schemeClr val="accent6">
                              <a:lumMod val="75000"/>
                            </a:schemeClr>
                          </a:solidFill>
                        </a:rPr>
                        <a:t>$ 9,495,906</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7" name="Table 15">
            <a:extLst>
              <a:ext uri="{FF2B5EF4-FFF2-40B4-BE49-F238E27FC236}">
                <a16:creationId xmlns:a16="http://schemas.microsoft.com/office/drawing/2014/main" id="{32A51F3A-032C-30E2-F635-DD59B5A29A34}"/>
              </a:ext>
            </a:extLst>
          </p:cNvPr>
          <p:cNvGraphicFramePr>
            <a:graphicFrameLocks noGrp="1"/>
          </p:cNvGraphicFramePr>
          <p:nvPr/>
        </p:nvGraphicFramePr>
        <p:xfrm>
          <a:off x="438152" y="1832834"/>
          <a:ext cx="6972296" cy="100584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600" b="1" dirty="0">
                          <a:solidFill>
                            <a:schemeClr val="bg1"/>
                          </a:solidFill>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600" dirty="0"/>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$ 14,010,150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$ 25,471,600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$ 11,892,650</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$ 51,374,400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$ 3,628,933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$ 6,597,698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$ 3,080,455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$ 13,307,085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8" name="TextBox 1">
            <a:extLst>
              <a:ext uri="{FF2B5EF4-FFF2-40B4-BE49-F238E27FC236}">
                <a16:creationId xmlns:a16="http://schemas.microsoft.com/office/drawing/2014/main" id="{60820A86-1B9D-21A4-BBB6-DDFB73605882}"/>
              </a:ext>
            </a:extLst>
          </p:cNvPr>
          <p:cNvSpPr txBox="1"/>
          <p:nvPr/>
        </p:nvSpPr>
        <p:spPr>
          <a:xfrm>
            <a:off x="7772647" y="875949"/>
            <a:ext cx="4318001" cy="738664"/>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Assuming proportional revenues from market shares of 32% (inpatient) and 16% (outpatient)</a:t>
            </a:r>
          </a:p>
        </p:txBody>
      </p:sp>
      <p:sp>
        <p:nvSpPr>
          <p:cNvPr id="9" name="TextBox 2">
            <a:extLst>
              <a:ext uri="{FF2B5EF4-FFF2-40B4-BE49-F238E27FC236}">
                <a16:creationId xmlns:a16="http://schemas.microsoft.com/office/drawing/2014/main" id="{6CDBA057-BBD2-8F54-E977-26B782E37F88}"/>
              </a:ext>
            </a:extLst>
          </p:cNvPr>
          <p:cNvSpPr txBox="1"/>
          <p:nvPr/>
        </p:nvSpPr>
        <p:spPr>
          <a:xfrm>
            <a:off x="7772646" y="1399169"/>
            <a:ext cx="4318001" cy="523220"/>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Conservatively assuming a commercial margin of 25.9% (70% of the observed commercial margin)</a:t>
            </a:r>
          </a:p>
        </p:txBody>
      </p:sp>
      <p:sp>
        <p:nvSpPr>
          <p:cNvPr id="10" name="TextBox 6">
            <a:extLst>
              <a:ext uri="{FF2B5EF4-FFF2-40B4-BE49-F238E27FC236}">
                <a16:creationId xmlns:a16="http://schemas.microsoft.com/office/drawing/2014/main" id="{C690F22E-C9CA-61DC-5584-149573110610}"/>
              </a:ext>
            </a:extLst>
          </p:cNvPr>
          <p:cNvSpPr txBox="1"/>
          <p:nvPr/>
        </p:nvSpPr>
        <p:spPr>
          <a:xfrm>
            <a:off x="7772646" y="2133704"/>
            <a:ext cx="4318001" cy="523220"/>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⁰ Assuming 77% market steerage based on KBA narrow network DTE experience</a:t>
            </a:r>
          </a:p>
        </p:txBody>
      </p:sp>
      <p:sp>
        <p:nvSpPr>
          <p:cNvPr id="11" name="TextBox 7">
            <a:extLst>
              <a:ext uri="{FF2B5EF4-FFF2-40B4-BE49-F238E27FC236}">
                <a16:creationId xmlns:a16="http://schemas.microsoft.com/office/drawing/2014/main" id="{A897897D-C568-B204-6568-514AD4B71A5C}"/>
              </a:ext>
            </a:extLst>
          </p:cNvPr>
          <p:cNvSpPr txBox="1"/>
          <p:nvPr/>
        </p:nvSpPr>
        <p:spPr>
          <a:xfrm>
            <a:off x="7772646" y="2690336"/>
            <a:ext cx="4318001" cy="1384995"/>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Conservatively assuming a commercial margin of 25.9%, with a 10 percentage-point reduction to reflect competitive-edge rates and a 10 percentage-point increase to reflect lower billing costs and better patient-responsibility collections because of the plan patient card.  </a:t>
            </a:r>
          </a:p>
        </p:txBody>
      </p:sp>
    </p:spTree>
    <p:extLst>
      <p:ext uri="{BB962C8B-B14F-4D97-AF65-F5344CB8AC3E}">
        <p14:creationId xmlns:p14="http://schemas.microsoft.com/office/powerpoint/2010/main" val="19500757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396562931"/>
              </p:ext>
            </p:extLst>
          </p:nvPr>
        </p:nvGraphicFramePr>
        <p:xfrm>
          <a:off x="0" y="0"/>
          <a:ext cx="12191998" cy="6858000"/>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1001168">
                <a:tc gridSpan="5">
                  <a:txBody>
                    <a:bodyPr/>
                    <a:lstStyle/>
                    <a:p>
                      <a:pPr marL="127000" marR="127000" algn="l">
                        <a:lnSpc>
                          <a:spcPct val="100000"/>
                        </a:lnSpc>
                        <a:spcBef>
                          <a:spcPts val="0"/>
                        </a:spcBef>
                        <a:spcAft>
                          <a:spcPts val="0"/>
                        </a:spcAft>
                        <a:buNone/>
                      </a:pPr>
                      <a:r>
                        <a:rPr sz="2000" b="1" i="0" u="none" cap="none" dirty="0">
                          <a:solidFill>
                            <a:srgbClr val="FFFFFF">
                              <a:alpha val="100000"/>
                            </a:srgbClr>
                          </a:solidFill>
                          <a:latin typeface="Arial"/>
                          <a:cs typeface="Arial"/>
                          <a:sym typeface="Arial"/>
                        </a:rPr>
                        <a:t>Target </a:t>
                      </a:r>
                      <a:r>
                        <a:rPr lang="en-US" sz="2000" b="1" i="0" u="none" cap="none" dirty="0">
                          <a:solidFill>
                            <a:srgbClr val="FFFFFF">
                              <a:alpha val="100000"/>
                            </a:srgbClr>
                          </a:solidFill>
                          <a:latin typeface="Arial"/>
                          <a:cs typeface="Arial"/>
                          <a:sym typeface="Arial"/>
                        </a:rPr>
                        <a:t>E</a:t>
                      </a:r>
                      <a:r>
                        <a:rPr sz="2000" b="1" i="0" u="none" cap="none" dirty="0">
                          <a:solidFill>
                            <a:srgbClr val="FFFFFF">
                              <a:alpha val="100000"/>
                            </a:srgbClr>
                          </a:solidFill>
                          <a:latin typeface="Arial"/>
                          <a:cs typeface="Arial"/>
                          <a:sym typeface="Arial"/>
                        </a:rPr>
                        <a:t>stimate </a:t>
                      </a:r>
                      <a:r>
                        <a:rPr lang="en-US" sz="2000" b="1" i="0" u="none" cap="none" dirty="0">
                          <a:solidFill>
                            <a:srgbClr val="FFFFFF">
                              <a:alpha val="100000"/>
                            </a:srgbClr>
                          </a:solidFill>
                          <a:latin typeface="Arial"/>
                          <a:cs typeface="Arial"/>
                          <a:sym typeface="Arial"/>
                        </a:rPr>
                        <a:t>W</a:t>
                      </a:r>
                      <a:r>
                        <a:rPr sz="2000" b="1" i="0" u="none" cap="none" dirty="0">
                          <a:solidFill>
                            <a:srgbClr val="FFFFFF">
                              <a:alpha val="100000"/>
                            </a:srgbClr>
                          </a:solidFill>
                          <a:latin typeface="Arial"/>
                          <a:cs typeface="Arial"/>
                          <a:sym typeface="Arial"/>
                        </a:rPr>
                        <a:t>ith a </a:t>
                      </a:r>
                      <a:r>
                        <a:rPr lang="en-US" sz="2000" b="1" i="0" u="none" cap="none" dirty="0">
                          <a:solidFill>
                            <a:srgbClr val="FFFFFF">
                              <a:alpha val="100000"/>
                            </a:srgbClr>
                          </a:solidFill>
                          <a:latin typeface="Arial"/>
                          <a:cs typeface="Arial"/>
                          <a:sym typeface="Arial"/>
                        </a:rPr>
                        <a:t>M</a:t>
                      </a:r>
                      <a:r>
                        <a:rPr sz="2000" b="1" i="0" u="none" cap="none" dirty="0">
                          <a:solidFill>
                            <a:srgbClr val="FFFFFF">
                              <a:alpha val="100000"/>
                            </a:srgbClr>
                          </a:solidFill>
                          <a:latin typeface="Arial"/>
                          <a:cs typeface="Arial"/>
                          <a:sym typeface="Arial"/>
                        </a:rPr>
                        <a:t>argin </a:t>
                      </a:r>
                      <a:r>
                        <a:rPr lang="en-US" sz="2000" b="1" i="0" u="none" cap="none" dirty="0">
                          <a:solidFill>
                            <a:srgbClr val="FFFFFF">
                              <a:alpha val="100000"/>
                            </a:srgbClr>
                          </a:solidFill>
                          <a:latin typeface="Arial"/>
                          <a:cs typeface="Arial"/>
                          <a:sym typeface="Arial"/>
                        </a:rPr>
                        <a:t>S</a:t>
                      </a:r>
                      <a:r>
                        <a:rPr sz="2000" b="1" i="0" u="none" cap="none" dirty="0">
                          <a:solidFill>
                            <a:srgbClr val="FFFFFF">
                              <a:alpha val="100000"/>
                            </a:srgbClr>
                          </a:solidFill>
                          <a:latin typeface="Arial"/>
                          <a:cs typeface="Arial"/>
                          <a:sym typeface="Arial"/>
                        </a:rPr>
                        <a:t>imilar to other </a:t>
                      </a:r>
                      <a:r>
                        <a:rPr lang="en-US" sz="2000" b="1" i="0" u="none" cap="none" dirty="0">
                          <a:solidFill>
                            <a:srgbClr val="FFFFFF">
                              <a:alpha val="100000"/>
                            </a:srgbClr>
                          </a:solidFill>
                          <a:latin typeface="Arial"/>
                          <a:cs typeface="Arial"/>
                          <a:sym typeface="Arial"/>
                        </a:rPr>
                        <a:t>C</a:t>
                      </a:r>
                      <a:r>
                        <a:rPr sz="2000" b="1" i="0" u="none" cap="none" dirty="0">
                          <a:solidFill>
                            <a:srgbClr val="FFFFFF">
                              <a:alpha val="100000"/>
                            </a:srgbClr>
                          </a:solidFill>
                          <a:latin typeface="Arial"/>
                          <a:cs typeface="Arial"/>
                          <a:sym typeface="Arial"/>
                        </a:rPr>
                        <a:t>ommercial </a:t>
                      </a:r>
                      <a:r>
                        <a:rPr lang="en-US" sz="2000" b="1" i="0" u="none" cap="none" dirty="0">
                          <a:solidFill>
                            <a:srgbClr val="FFFFFF">
                              <a:alpha val="100000"/>
                            </a:srgbClr>
                          </a:solidFill>
                          <a:latin typeface="Arial"/>
                          <a:cs typeface="Arial"/>
                          <a:sym typeface="Arial"/>
                        </a:rPr>
                        <a:t>P</a:t>
                      </a:r>
                      <a:r>
                        <a:rPr sz="2000" b="1" i="0" u="none" cap="none" dirty="0">
                          <a:solidFill>
                            <a:srgbClr val="FFFFFF">
                              <a:alpha val="100000"/>
                            </a:srgbClr>
                          </a:solidFill>
                          <a:latin typeface="Arial"/>
                          <a:cs typeface="Arial"/>
                          <a:sym typeface="Arial"/>
                        </a:rPr>
                        <a:t>lans and </a:t>
                      </a:r>
                      <a:r>
                        <a:rPr lang="en-US" sz="2000" b="1" i="0" u="none" cap="none" dirty="0">
                          <a:solidFill>
                            <a:srgbClr val="FFFFFF">
                              <a:alpha val="100000"/>
                            </a:srgbClr>
                          </a:solidFill>
                          <a:latin typeface="Arial"/>
                          <a:cs typeface="Arial"/>
                          <a:sym typeface="Arial"/>
                        </a:rPr>
                        <a:t>T</a:t>
                      </a:r>
                      <a:r>
                        <a:rPr sz="2000" b="1" i="0" u="none" cap="none" dirty="0">
                          <a:solidFill>
                            <a:srgbClr val="FFFFFF">
                              <a:alpha val="100000"/>
                            </a:srgbClr>
                          </a:solidFill>
                          <a:latin typeface="Arial"/>
                          <a:cs typeface="Arial"/>
                          <a:sym typeface="Arial"/>
                        </a:rPr>
                        <a:t>arget (77%) </a:t>
                      </a:r>
                      <a:r>
                        <a:rPr lang="en-US" sz="2000" b="1" i="0" u="none" cap="none" dirty="0">
                          <a:solidFill>
                            <a:srgbClr val="FFFFFF">
                              <a:alpha val="100000"/>
                            </a:srgbClr>
                          </a:solidFill>
                          <a:latin typeface="Arial"/>
                          <a:cs typeface="Arial"/>
                          <a:sym typeface="Arial"/>
                        </a:rPr>
                        <a:t>P</a:t>
                      </a:r>
                      <a:r>
                        <a:rPr sz="2000" b="1" i="0" u="none" cap="none" dirty="0">
                          <a:solidFill>
                            <a:srgbClr val="FFFFFF">
                              <a:alpha val="100000"/>
                            </a:srgbClr>
                          </a:solidFill>
                          <a:latin typeface="Arial"/>
                          <a:cs typeface="Arial"/>
                          <a:sym typeface="Arial"/>
                        </a:rPr>
                        <a:t>atient </a:t>
                      </a:r>
                      <a:r>
                        <a:rPr lang="en-US" sz="2000" b="1" i="0" u="none" cap="none" dirty="0">
                          <a:solidFill>
                            <a:srgbClr val="FFFFFF">
                              <a:alpha val="100000"/>
                            </a:srgbClr>
                          </a:solidFill>
                          <a:latin typeface="Arial"/>
                          <a:cs typeface="Arial"/>
                          <a:sym typeface="Arial"/>
                        </a:rPr>
                        <a:t>S</a:t>
                      </a:r>
                      <a:r>
                        <a:rPr sz="2000" b="1" i="0" u="none" cap="none" dirty="0">
                          <a:solidFill>
                            <a:srgbClr val="FFFFFF">
                              <a:alpha val="100000"/>
                            </a:srgbClr>
                          </a:solidFill>
                          <a:latin typeface="Arial"/>
                          <a:cs typeface="Arial"/>
                          <a:sym typeface="Arial"/>
                        </a:rPr>
                        <a:t>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a margin similar to other commercial plans and target (77%)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a margin similar to other commercial plans and target (77%)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a margin similar to other commercial plans and target (77%)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a margin similar to other commercial plans and target (77%)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375438">
                <a:tc gridSpan="5">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825964">
                <a:tc>
                  <a:txBody>
                    <a:bodyPr/>
                    <a:lstStyle/>
                    <a:p>
                      <a:pPr marL="127000" marR="127000" algn="l">
                        <a:lnSpc>
                          <a:spcPct val="100000"/>
                        </a:lnSpc>
                        <a:spcBef>
                          <a:spcPts val="0"/>
                        </a:spcBef>
                        <a:spcAft>
                          <a:spcPts val="0"/>
                        </a:spcAft>
                        <a:buNone/>
                      </a:pPr>
                      <a:r>
                        <a:rPr sz="1400" b="1" i="0" u="none" cap="none" dirty="0">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4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4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4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4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75438">
                <a:tc>
                  <a:txBody>
                    <a:bodyPr/>
                    <a:lstStyle/>
                    <a:p>
                      <a:pPr marL="127000" marR="127000" algn="l">
                        <a:lnSpc>
                          <a:spcPct val="100000"/>
                        </a:lnSpc>
                        <a:spcBef>
                          <a:spcPts val="0"/>
                        </a:spcBef>
                        <a:spcAft>
                          <a:spcPts val="0"/>
                        </a:spcAft>
                        <a:buNone/>
                      </a:pPr>
                      <a:r>
                        <a:rPr sz="1400" b="0" i="0" u="none" cap="none" dirty="0">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$1,367.1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$2,734.3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$13,671.4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$68,356.8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75438">
                <a:tc>
                  <a:txBody>
                    <a:bodyPr/>
                    <a:lstStyle/>
                    <a:p>
                      <a:pPr marL="127000" marR="127000" algn="l">
                        <a:lnSpc>
                          <a:spcPct val="100000"/>
                        </a:lnSpc>
                        <a:spcBef>
                          <a:spcPts val="0"/>
                        </a:spcBef>
                        <a:spcAft>
                          <a:spcPts val="0"/>
                        </a:spcAft>
                        <a:buNone/>
                      </a:pPr>
                      <a:r>
                        <a:rPr sz="1400" b="0" i="0" u="none" cap="none" dirty="0">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$354.1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$708.2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$3,541.2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$17,705.9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75438">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$5,137.4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$10,274.9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$51,374.4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$256,872.0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550642">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$3,770.3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$7,540.6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$37,703.0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$188,515.2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550642">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75438">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$1,330.7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$2,661.4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$13,307.1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$66,535.4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550642">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$976.6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$1,953.2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$9,765.9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$48,829.5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75438">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75438">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75438">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75438">
                <a:tc>
                  <a:txBody>
                    <a:bodyPr/>
                    <a:lstStyle/>
                    <a:p>
                      <a:pPr marL="127000" marR="1270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$652.6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$1,635.2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$9,495.9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$48,799.5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818828044"/>
              </p:ext>
            </p:extLst>
          </p:nvPr>
        </p:nvGraphicFramePr>
        <p:xfrm>
          <a:off x="0" y="0"/>
          <a:ext cx="12191998" cy="6867329"/>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600263">
                <a:tc gridSpan="5">
                  <a:txBody>
                    <a:bodyPr/>
                    <a:lstStyle/>
                    <a:p>
                      <a:pPr marL="127000" marR="127000" algn="l">
                        <a:lnSpc>
                          <a:spcPct val="100000"/>
                        </a:lnSpc>
                        <a:spcBef>
                          <a:spcPts val="0"/>
                        </a:spcBef>
                        <a:spcAft>
                          <a:spcPts val="0"/>
                        </a:spcAft>
                        <a:buNone/>
                      </a:pPr>
                      <a:r>
                        <a:rPr lang="en-US" sz="2000" b="1" i="0" u="none" cap="none" dirty="0">
                          <a:solidFill>
                            <a:srgbClr val="FFFFFF">
                              <a:alpha val="100000"/>
                            </a:srgbClr>
                          </a:solidFill>
                          <a:latin typeface="Arial"/>
                          <a:cs typeface="Arial"/>
                          <a:sym typeface="Arial"/>
                        </a:rPr>
                        <a:t>Target Estimate With a Margin Similar to other Commercial Plans and Target (77%)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a margin similar to other commercial plans and target (77%)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a margin similar to other commercial plans and target (77%)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a margin similar to other commercial plans and target (77%)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a margin similar to other commercial plans and target (77%)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25098">
                <a:tc gridSpan="5">
                  <a:txBody>
                    <a:bodyPr/>
                    <a:lstStyle/>
                    <a:p>
                      <a:pPr marL="127000" marR="127000" algn="l">
                        <a:lnSpc>
                          <a:spcPct val="100000"/>
                        </a:lnSpc>
                        <a:spcBef>
                          <a:spcPts val="0"/>
                        </a:spcBef>
                        <a:spcAft>
                          <a:spcPts val="0"/>
                        </a:spcAft>
                        <a:buNone/>
                      </a:pPr>
                      <a:r>
                        <a:rPr lang="en-US" sz="1400" b="1" i="0" u="none" cap="none" dirty="0">
                          <a:solidFill>
                            <a:srgbClr val="FFFFFF">
                              <a:alpha val="100000"/>
                            </a:srgbClr>
                          </a:solidFill>
                          <a:latin typeface="Arial"/>
                          <a:cs typeface="Arial"/>
                          <a:sym typeface="Arial"/>
                        </a:rPr>
                        <a:t>Estimates by service line, a</a:t>
                      </a:r>
                      <a:r>
                        <a:rPr sz="1400" b="1" i="0" u="none" cap="none" dirty="0">
                          <a:solidFill>
                            <a:srgbClr val="FFFFFF">
                              <a:alpha val="100000"/>
                            </a:srgbClr>
                          </a:solidFill>
                          <a:latin typeface="Arial"/>
                          <a:cs typeface="Arial"/>
                          <a:sym typeface="Arial"/>
                        </a:rPr>
                        <a:t>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495217">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dirty="0">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$1,162.8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$5,813.8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$29,069.0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2509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$301.2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$7,529.5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2509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$1,401.0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$2,802.0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$14,010.1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$70,050.8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2509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$362.9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$3,628.9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$18,144.7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$819.6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$1,639.3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$8,196.3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$40,981.7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$212.3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$424.6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$2,123.0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$10,615.2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$535.7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$1,071.3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$5,356.6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$26,782.9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$277.5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$1,387.5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$6,937.4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2509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$2,547.2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$5,094.3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$25,471.6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$127,358.0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2509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$1,319.5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$6,597.7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$32,988.5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$2,011.5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$4,023.0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$20,115.0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$100,575.1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$521.0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$1,042.0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$5,210.2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$26,051.1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$250.1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$500.2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$2,501.0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$12,504.9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$3,239.0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$1,189.3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$2,378.5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$11,892.6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$59,463.2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2509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$308.0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$616.1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$3,080.5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$15,402.3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$939.2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$1,878.3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$9,391.7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$46,958.4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$243.3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$486.5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$2,432.6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$12,163.2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225098">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$652.6</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$1,635.2</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$9,495.9</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dirty="0">
                          <a:solidFill>
                            <a:srgbClr val="000000">
                              <a:alpha val="100000"/>
                            </a:srgbClr>
                          </a:solidFill>
                          <a:latin typeface="Arial"/>
                          <a:cs typeface="Arial"/>
                          <a:sym typeface="Arial"/>
                        </a:rPr>
                        <a:t>$48,799.5</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596887310"/>
              </p:ext>
            </p:extLst>
          </p:nvPr>
        </p:nvGraphicFramePr>
        <p:xfrm>
          <a:off x="0" y="0"/>
          <a:ext cx="12191998" cy="6858004"/>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1512794">
                <a:tc gridSpan="5">
                  <a:txBody>
                    <a:bodyPr/>
                    <a:lstStyle/>
                    <a:p>
                      <a:pPr marL="127000" marR="127000" algn="l">
                        <a:lnSpc>
                          <a:spcPct val="100000"/>
                        </a:lnSpc>
                        <a:spcBef>
                          <a:spcPts val="0"/>
                        </a:spcBef>
                        <a:spcAft>
                          <a:spcPts val="0"/>
                        </a:spcAft>
                        <a:buNone/>
                      </a:pPr>
                      <a:r>
                        <a:rPr sz="2000" b="1" i="0" u="none" cap="none" dirty="0">
                          <a:solidFill>
                            <a:srgbClr val="FFFFFF">
                              <a:alpha val="100000"/>
                            </a:srgbClr>
                          </a:solidFill>
                          <a:latin typeface="Arial"/>
                          <a:cs typeface="Arial"/>
                          <a:sym typeface="Arial"/>
                        </a:rPr>
                        <a:t>High </a:t>
                      </a:r>
                      <a:r>
                        <a:rPr lang="en-US" sz="2000" b="1" i="0" u="none" cap="none" dirty="0">
                          <a:solidFill>
                            <a:srgbClr val="FFFFFF">
                              <a:alpha val="100000"/>
                            </a:srgbClr>
                          </a:solidFill>
                          <a:latin typeface="Arial"/>
                          <a:cs typeface="Arial"/>
                          <a:sym typeface="Arial"/>
                        </a:rPr>
                        <a:t>E</a:t>
                      </a:r>
                      <a:r>
                        <a:rPr sz="2000" b="1" i="0" u="none" cap="none" dirty="0">
                          <a:solidFill>
                            <a:srgbClr val="FFFFFF">
                              <a:alpha val="100000"/>
                            </a:srgbClr>
                          </a:solidFill>
                          <a:latin typeface="Arial"/>
                          <a:cs typeface="Arial"/>
                          <a:sym typeface="Arial"/>
                        </a:rPr>
                        <a:t>stimate </a:t>
                      </a:r>
                      <a:r>
                        <a:rPr lang="en-US" sz="2000" b="1" i="0" u="none" cap="none" dirty="0">
                          <a:solidFill>
                            <a:srgbClr val="FFFFFF">
                              <a:alpha val="100000"/>
                            </a:srgbClr>
                          </a:solidFill>
                          <a:latin typeface="Arial"/>
                          <a:cs typeface="Arial"/>
                          <a:sym typeface="Arial"/>
                        </a:rPr>
                        <a:t>W</a:t>
                      </a:r>
                      <a:r>
                        <a:rPr sz="2000" b="1" i="0" u="none" cap="none" dirty="0">
                          <a:solidFill>
                            <a:srgbClr val="FFFFFF">
                              <a:alpha val="100000"/>
                            </a:srgbClr>
                          </a:solidFill>
                          <a:latin typeface="Arial"/>
                          <a:cs typeface="Arial"/>
                          <a:sym typeface="Arial"/>
                        </a:rPr>
                        <a:t>ith 5 </a:t>
                      </a:r>
                      <a:r>
                        <a:rPr lang="en-US" sz="2000" b="1" i="0" u="none" cap="none" dirty="0">
                          <a:solidFill>
                            <a:srgbClr val="FFFFFF">
                              <a:alpha val="100000"/>
                            </a:srgbClr>
                          </a:solidFill>
                          <a:latin typeface="Arial"/>
                          <a:cs typeface="Arial"/>
                          <a:sym typeface="Arial"/>
                        </a:rPr>
                        <a:t>P</a:t>
                      </a:r>
                      <a:r>
                        <a:rPr sz="2000" b="1" i="0" u="none" cap="none" dirty="0">
                          <a:solidFill>
                            <a:srgbClr val="FFFFFF">
                              <a:alpha val="100000"/>
                            </a:srgbClr>
                          </a:solidFill>
                          <a:latin typeface="Arial"/>
                          <a:cs typeface="Arial"/>
                          <a:sym typeface="Arial"/>
                        </a:rPr>
                        <a:t>ercentage-</a:t>
                      </a:r>
                      <a:r>
                        <a:rPr lang="en-US" sz="2000" b="1" i="0" u="none" cap="none" dirty="0">
                          <a:solidFill>
                            <a:srgbClr val="FFFFFF">
                              <a:alpha val="100000"/>
                            </a:srgbClr>
                          </a:solidFill>
                          <a:latin typeface="Arial"/>
                          <a:cs typeface="Arial"/>
                          <a:sym typeface="Arial"/>
                        </a:rPr>
                        <a:t>P</a:t>
                      </a:r>
                      <a:r>
                        <a:rPr sz="2000" b="1" i="0" u="none" cap="none" dirty="0">
                          <a:solidFill>
                            <a:srgbClr val="FFFFFF">
                              <a:alpha val="100000"/>
                            </a:srgbClr>
                          </a:solidFill>
                          <a:latin typeface="Arial"/>
                          <a:cs typeface="Arial"/>
                          <a:sym typeface="Arial"/>
                        </a:rPr>
                        <a:t>oint </a:t>
                      </a:r>
                      <a:r>
                        <a:rPr lang="en-US" sz="2000" b="1" i="0" u="none" cap="none" dirty="0">
                          <a:solidFill>
                            <a:srgbClr val="FFFFFF">
                              <a:alpha val="100000"/>
                            </a:srgbClr>
                          </a:solidFill>
                          <a:latin typeface="Arial"/>
                          <a:cs typeface="Arial"/>
                          <a:sym typeface="Arial"/>
                        </a:rPr>
                        <a:t>M</a:t>
                      </a:r>
                      <a:r>
                        <a:rPr sz="2000" b="1" i="0" u="none" cap="none" dirty="0">
                          <a:solidFill>
                            <a:srgbClr val="FFFFFF">
                              <a:alpha val="100000"/>
                            </a:srgbClr>
                          </a:solidFill>
                          <a:latin typeface="Arial"/>
                          <a:cs typeface="Arial"/>
                          <a:sym typeface="Arial"/>
                        </a:rPr>
                        <a:t>argin </a:t>
                      </a:r>
                      <a:r>
                        <a:rPr lang="en-US" sz="2000" b="1" i="0" u="none" cap="none" dirty="0">
                          <a:solidFill>
                            <a:srgbClr val="FFFFFF">
                              <a:alpha val="100000"/>
                            </a:srgbClr>
                          </a:solidFill>
                          <a:latin typeface="Arial"/>
                          <a:cs typeface="Arial"/>
                          <a:sym typeface="Arial"/>
                        </a:rPr>
                        <a:t>I</a:t>
                      </a:r>
                      <a:r>
                        <a:rPr sz="2000" b="1" i="0" u="none" cap="none" dirty="0">
                          <a:solidFill>
                            <a:srgbClr val="FFFFFF">
                              <a:alpha val="100000"/>
                            </a:srgbClr>
                          </a:solidFill>
                          <a:latin typeface="Arial"/>
                          <a:cs typeface="Arial"/>
                          <a:sym typeface="Arial"/>
                        </a:rPr>
                        <a:t>mprovement </a:t>
                      </a:r>
                      <a:r>
                        <a:rPr lang="en-US" sz="2000" b="1" i="0" u="none" cap="none" dirty="0">
                          <a:solidFill>
                            <a:srgbClr val="FFFFFF">
                              <a:alpha val="100000"/>
                            </a:srgbClr>
                          </a:solidFill>
                          <a:latin typeface="Arial"/>
                          <a:cs typeface="Arial"/>
                          <a:sym typeface="Arial"/>
                        </a:rPr>
                        <a:t>O</a:t>
                      </a:r>
                      <a:r>
                        <a:rPr sz="2000" b="1" i="0" u="none" cap="none" dirty="0">
                          <a:solidFill>
                            <a:srgbClr val="FFFFFF">
                              <a:alpha val="100000"/>
                            </a:srgbClr>
                          </a:solidFill>
                          <a:latin typeface="Arial"/>
                          <a:cs typeface="Arial"/>
                          <a:sym typeface="Arial"/>
                        </a:rPr>
                        <a:t>ver </a:t>
                      </a:r>
                      <a:r>
                        <a:rPr lang="en-US" sz="2000" b="1" i="0" u="none" cap="none" dirty="0">
                          <a:solidFill>
                            <a:srgbClr val="FFFFFF">
                              <a:alpha val="100000"/>
                            </a:srgbClr>
                          </a:solidFill>
                          <a:latin typeface="Arial"/>
                          <a:cs typeface="Arial"/>
                          <a:sym typeface="Arial"/>
                        </a:rPr>
                        <a:t>C</a:t>
                      </a:r>
                      <a:r>
                        <a:rPr sz="2000" b="1" i="0" u="none" cap="none" dirty="0">
                          <a:solidFill>
                            <a:srgbClr val="FFFFFF">
                              <a:alpha val="100000"/>
                            </a:srgbClr>
                          </a:solidFill>
                          <a:latin typeface="Arial"/>
                          <a:cs typeface="Arial"/>
                          <a:sym typeface="Arial"/>
                        </a:rPr>
                        <a:t>ommercial </a:t>
                      </a:r>
                      <a:r>
                        <a:rPr lang="en-US" sz="2000" b="1" i="0" u="none" cap="none" dirty="0">
                          <a:solidFill>
                            <a:srgbClr val="FFFFFF">
                              <a:alpha val="100000"/>
                            </a:srgbClr>
                          </a:solidFill>
                          <a:latin typeface="Arial"/>
                          <a:cs typeface="Arial"/>
                          <a:sym typeface="Arial"/>
                        </a:rPr>
                        <a:t>P</a:t>
                      </a:r>
                      <a:r>
                        <a:rPr sz="2000" b="1" i="0" u="none" cap="none" dirty="0">
                          <a:solidFill>
                            <a:srgbClr val="FFFFFF">
                              <a:alpha val="100000"/>
                            </a:srgbClr>
                          </a:solidFill>
                          <a:latin typeface="Arial"/>
                          <a:cs typeface="Arial"/>
                          <a:sym typeface="Arial"/>
                        </a:rPr>
                        <a:t>lans and </a:t>
                      </a:r>
                      <a:r>
                        <a:rPr lang="en-US" sz="2000" b="1" i="0" u="none" cap="none" dirty="0">
                          <a:solidFill>
                            <a:srgbClr val="FFFFFF">
                              <a:alpha val="100000"/>
                            </a:srgbClr>
                          </a:solidFill>
                          <a:latin typeface="Arial"/>
                          <a:cs typeface="Arial"/>
                          <a:sym typeface="Arial"/>
                        </a:rPr>
                        <a:t>H</a:t>
                      </a:r>
                      <a:r>
                        <a:rPr sz="2000" b="1" i="0" u="none" cap="none" dirty="0">
                          <a:solidFill>
                            <a:srgbClr val="FFFFFF">
                              <a:alpha val="100000"/>
                            </a:srgbClr>
                          </a:solidFill>
                          <a:latin typeface="Arial"/>
                          <a:cs typeface="Arial"/>
                          <a:sym typeface="Arial"/>
                        </a:rPr>
                        <a:t>igh (85%) </a:t>
                      </a:r>
                      <a:r>
                        <a:rPr lang="en-US" sz="2000" b="1" i="0" u="none" cap="none" dirty="0">
                          <a:solidFill>
                            <a:srgbClr val="FFFFFF">
                              <a:alpha val="100000"/>
                            </a:srgbClr>
                          </a:solidFill>
                          <a:latin typeface="Arial"/>
                          <a:cs typeface="Arial"/>
                          <a:sym typeface="Arial"/>
                        </a:rPr>
                        <a:t>P</a:t>
                      </a:r>
                      <a:r>
                        <a:rPr sz="2000" b="1" i="0" u="none" cap="none" dirty="0">
                          <a:solidFill>
                            <a:srgbClr val="FFFFFF">
                              <a:alpha val="100000"/>
                            </a:srgbClr>
                          </a:solidFill>
                          <a:latin typeface="Arial"/>
                          <a:cs typeface="Arial"/>
                          <a:sym typeface="Arial"/>
                        </a:rPr>
                        <a:t>atient </a:t>
                      </a:r>
                      <a:r>
                        <a:rPr lang="en-US" sz="2000" b="1" i="0" u="none" cap="none" dirty="0">
                          <a:solidFill>
                            <a:srgbClr val="FFFFFF">
                              <a:alpha val="100000"/>
                            </a:srgbClr>
                          </a:solidFill>
                          <a:latin typeface="Arial"/>
                          <a:cs typeface="Arial"/>
                          <a:sym typeface="Arial"/>
                        </a:rPr>
                        <a:t>S</a:t>
                      </a:r>
                      <a:r>
                        <a:rPr sz="2000" b="1" i="0" u="none" cap="none" dirty="0">
                          <a:solidFill>
                            <a:srgbClr val="FFFFFF">
                              <a:alpha val="100000"/>
                            </a:srgbClr>
                          </a:solidFill>
                          <a:latin typeface="Arial"/>
                          <a:cs typeface="Arial"/>
                          <a:sym typeface="Arial"/>
                        </a:rPr>
                        <a:t>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with 5 percentage-point margin improvement over commercial plans and high (85%)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with 5 percentage-point margin improvement over commercial plans and high (85%)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with 5 percentage-point margin improvement over commercial plans and high (85%)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with 5 percentage-point margin improvement over commercial plans and high (85%)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378199">
                <a:tc gridSpan="5">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832037">
                <a:tc>
                  <a:txBody>
                    <a:bodyPr/>
                    <a:lstStyle/>
                    <a:p>
                      <a:pPr marL="127000" marR="127000" algn="l">
                        <a:lnSpc>
                          <a:spcPct val="100000"/>
                        </a:lnSpc>
                        <a:spcBef>
                          <a:spcPts val="0"/>
                        </a:spcBef>
                        <a:spcAft>
                          <a:spcPts val="0"/>
                        </a:spcAft>
                        <a:buNone/>
                      </a:pPr>
                      <a:r>
                        <a:rPr sz="1600" b="1" i="0" u="none" cap="none" dirty="0">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6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6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6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6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$1,367.1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$2,734.3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$13,671.4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$68,356.8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$354.1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$708.2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$3,541.2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$17,705.9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$5,671.2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$11,342.4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$56,712.0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$283,560.0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554691">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$4,304.1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$8,608.1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$43,040.6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$215,203.2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$1,752.5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$3,505.0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$17,525.2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$87,626.2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554691">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$1,398.4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$2,796.8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$13,984.1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$69,920.3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78199">
                <a:tc>
                  <a:txBody>
                    <a:bodyPr/>
                    <a:lstStyle/>
                    <a:p>
                      <a:pPr marL="127000" marR="127000" algn="l">
                        <a:lnSpc>
                          <a:spcPct val="100000"/>
                        </a:lnSpc>
                        <a:spcBef>
                          <a:spcPts val="0"/>
                        </a:spcBef>
                        <a:spcAft>
                          <a:spcPts val="0"/>
                        </a:spcAft>
                        <a:buNone/>
                      </a:pPr>
                      <a:r>
                        <a:rPr sz="16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1" i="0" u="none" cap="none">
                          <a:solidFill>
                            <a:srgbClr val="000000">
                              <a:alpha val="100000"/>
                            </a:srgbClr>
                          </a:solidFill>
                          <a:latin typeface="Arial"/>
                          <a:cs typeface="Arial"/>
                          <a:sym typeface="Arial"/>
                        </a:rPr>
                        <a:t>$1,074.4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1" i="0" u="none" cap="none">
                          <a:solidFill>
                            <a:srgbClr val="000000">
                              <a:alpha val="100000"/>
                            </a:srgbClr>
                          </a:solidFill>
                          <a:latin typeface="Arial"/>
                          <a:cs typeface="Arial"/>
                          <a:sym typeface="Arial"/>
                        </a:rPr>
                        <a:t>$2,478.8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1" i="0" u="none" cap="none">
                          <a:solidFill>
                            <a:srgbClr val="000000">
                              <a:alpha val="100000"/>
                            </a:srgbClr>
                          </a:solidFill>
                          <a:latin typeface="Arial"/>
                          <a:cs typeface="Arial"/>
                          <a:sym typeface="Arial"/>
                        </a:rPr>
                        <a:t>$13,714.1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1" i="0" u="none" cap="none" dirty="0">
                          <a:solidFill>
                            <a:srgbClr val="000000">
                              <a:alpha val="100000"/>
                            </a:srgbClr>
                          </a:solidFill>
                          <a:latin typeface="Arial"/>
                          <a:cs typeface="Arial"/>
                          <a:sym typeface="Arial"/>
                        </a:rPr>
                        <a:t>$69,890.3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94473534"/>
              </p:ext>
            </p:extLst>
          </p:nvPr>
        </p:nvGraphicFramePr>
        <p:xfrm>
          <a:off x="0" y="0"/>
          <a:ext cx="12191998" cy="6857992"/>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890649">
                <a:tc gridSpan="5">
                  <a:txBody>
                    <a:bodyPr/>
                    <a:lstStyle/>
                    <a:p>
                      <a:pPr marL="127000" marR="127000" algn="l">
                        <a:lnSpc>
                          <a:spcPct val="100000"/>
                        </a:lnSpc>
                        <a:spcBef>
                          <a:spcPts val="0"/>
                        </a:spcBef>
                        <a:spcAft>
                          <a:spcPts val="0"/>
                        </a:spcAft>
                        <a:buNone/>
                      </a:pPr>
                      <a:r>
                        <a:rPr lang="en-US" sz="2000" b="1" i="0" u="none" cap="none" dirty="0">
                          <a:solidFill>
                            <a:srgbClr val="FFFFFF">
                              <a:alpha val="100000"/>
                            </a:srgbClr>
                          </a:solidFill>
                          <a:latin typeface="Arial"/>
                          <a:cs typeface="Arial"/>
                          <a:sym typeface="Arial"/>
                        </a:rPr>
                        <a:t>High Estimate With 5 Percentage-Point Margin Improvement Over Commercial Plans and High (85%)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with 5 percentage-point margin improvement over commercial plans and high (85%)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with 5 percentage-point margin improvement over commercial plans and high (85%)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with 5 percentage-point margin improvement over commercial plans and high (85%)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with 5 percentage-point margin improvement over commercial plans and high (85%)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222662">
                <a:tc gridSpan="5">
                  <a:txBody>
                    <a:bodyPr/>
                    <a:lstStyle/>
                    <a:p>
                      <a:pPr marL="127000" marR="127000" algn="l">
                        <a:lnSpc>
                          <a:spcPct val="100000"/>
                        </a:lnSpc>
                        <a:spcBef>
                          <a:spcPts val="0"/>
                        </a:spcBef>
                        <a:spcAft>
                          <a:spcPts val="0"/>
                        </a:spcAft>
                        <a:buNone/>
                      </a:pPr>
                      <a:r>
                        <a:rPr lang="en-US" sz="1400" b="1" i="0" u="none" cap="none" dirty="0">
                          <a:solidFill>
                            <a:srgbClr val="FFFFFF">
                              <a:alpha val="100000"/>
                            </a:srgbClr>
                          </a:solidFill>
                          <a:latin typeface="Arial"/>
                          <a:cs typeface="Arial"/>
                          <a:sym typeface="Arial"/>
                        </a:rPr>
                        <a:t>Estimates by service line, 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89857">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$1,162.8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$5,813.8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$29,069.0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$301.2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$7,529.5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$1,546.6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$3,093.2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$15,465.8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$77,328.8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$477.9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$955.9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$4,779.3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$23,896.3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$965.2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$1,930.4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$9,651.9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$48,259.7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$327.3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$654.7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$3,273.4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$16,366.8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$535.7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$1,071.3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$5,356.6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$26,782.9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$277.5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$1,387.5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$6,937.4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$2,811.8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$5,623.6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$28,118.0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$140,590.0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$868.9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$1,737.8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$8,689.1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$43,445.4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$2,276.1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$4,552.3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$22,761.4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$113,807.1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$730.2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$1,460.3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$7,301.6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$36,508.0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$250.1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$500.2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$2,501.0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$12,504.9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$3,239.0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$1,312.8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$2,625.7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$13,128.2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$65,641.2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$405.7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$811.4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$4,056.9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$20,284.6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$1,062.7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$2,125.5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$10,627.3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$53,136.4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$340.9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$681.8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$3,409.1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$17,045.5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441577898"/>
              </p:ext>
            </p:extLst>
          </p:nvPr>
        </p:nvGraphicFramePr>
        <p:xfrm>
          <a:off x="0" y="0"/>
          <a:ext cx="12191998" cy="6858004"/>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1512794">
                <a:tc gridSpan="5">
                  <a:txBody>
                    <a:bodyPr/>
                    <a:lstStyle/>
                    <a:p>
                      <a:pPr marL="127000" marR="127000" algn="l">
                        <a:lnSpc>
                          <a:spcPct val="100000"/>
                        </a:lnSpc>
                        <a:spcBef>
                          <a:spcPts val="0"/>
                        </a:spcBef>
                        <a:spcAft>
                          <a:spcPts val="0"/>
                        </a:spcAft>
                        <a:buNone/>
                      </a:pPr>
                      <a:r>
                        <a:rPr sz="2000" b="1" i="0" u="none" cap="none" dirty="0">
                          <a:solidFill>
                            <a:srgbClr val="FFFFFF">
                              <a:alpha val="100000"/>
                            </a:srgbClr>
                          </a:solidFill>
                          <a:latin typeface="Arial"/>
                          <a:cs typeface="Arial"/>
                          <a:sym typeface="Arial"/>
                        </a:rPr>
                        <a:t>Low </a:t>
                      </a:r>
                      <a:r>
                        <a:rPr lang="en-US" sz="2000" b="1" i="0" u="none" cap="none" dirty="0">
                          <a:solidFill>
                            <a:srgbClr val="FFFFFF">
                              <a:alpha val="100000"/>
                            </a:srgbClr>
                          </a:solidFill>
                          <a:latin typeface="Arial"/>
                          <a:cs typeface="Arial"/>
                          <a:sym typeface="Arial"/>
                        </a:rPr>
                        <a:t>E</a:t>
                      </a:r>
                      <a:r>
                        <a:rPr sz="2000" b="1" i="0" u="none" cap="none" dirty="0">
                          <a:solidFill>
                            <a:srgbClr val="FFFFFF">
                              <a:alpha val="100000"/>
                            </a:srgbClr>
                          </a:solidFill>
                          <a:latin typeface="Arial"/>
                          <a:cs typeface="Arial"/>
                          <a:sym typeface="Arial"/>
                        </a:rPr>
                        <a:t>stimate </a:t>
                      </a:r>
                      <a:r>
                        <a:rPr lang="en-US" sz="2000" b="1" i="0" u="none" cap="none" dirty="0">
                          <a:solidFill>
                            <a:srgbClr val="FFFFFF">
                              <a:alpha val="100000"/>
                            </a:srgbClr>
                          </a:solidFill>
                          <a:latin typeface="Arial"/>
                          <a:cs typeface="Arial"/>
                          <a:sym typeface="Arial"/>
                        </a:rPr>
                        <a:t>W</a:t>
                      </a:r>
                      <a:r>
                        <a:rPr sz="2000" b="1" i="0" u="none" cap="none" dirty="0">
                          <a:solidFill>
                            <a:srgbClr val="FFFFFF">
                              <a:alpha val="100000"/>
                            </a:srgbClr>
                          </a:solidFill>
                          <a:latin typeface="Arial"/>
                          <a:cs typeface="Arial"/>
                          <a:sym typeface="Arial"/>
                        </a:rPr>
                        <a:t>ith 5 </a:t>
                      </a:r>
                      <a:r>
                        <a:rPr lang="en-US" sz="2000" b="1" i="0" u="none" cap="none" dirty="0">
                          <a:solidFill>
                            <a:srgbClr val="FFFFFF">
                              <a:alpha val="100000"/>
                            </a:srgbClr>
                          </a:solidFill>
                          <a:latin typeface="Arial"/>
                          <a:cs typeface="Arial"/>
                          <a:sym typeface="Arial"/>
                        </a:rPr>
                        <a:t>P</a:t>
                      </a:r>
                      <a:r>
                        <a:rPr sz="2000" b="1" i="0" u="none" cap="none" dirty="0">
                          <a:solidFill>
                            <a:srgbClr val="FFFFFF">
                              <a:alpha val="100000"/>
                            </a:srgbClr>
                          </a:solidFill>
                          <a:latin typeface="Arial"/>
                          <a:cs typeface="Arial"/>
                          <a:sym typeface="Arial"/>
                        </a:rPr>
                        <a:t>ercentage-</a:t>
                      </a:r>
                      <a:r>
                        <a:rPr lang="en-US" sz="2000" b="1" i="0" u="none" cap="none" dirty="0">
                          <a:solidFill>
                            <a:srgbClr val="FFFFFF">
                              <a:alpha val="100000"/>
                            </a:srgbClr>
                          </a:solidFill>
                          <a:latin typeface="Arial"/>
                          <a:cs typeface="Arial"/>
                          <a:sym typeface="Arial"/>
                        </a:rPr>
                        <a:t>P</a:t>
                      </a:r>
                      <a:r>
                        <a:rPr sz="2000" b="1" i="0" u="none" cap="none" dirty="0">
                          <a:solidFill>
                            <a:srgbClr val="FFFFFF">
                              <a:alpha val="100000"/>
                            </a:srgbClr>
                          </a:solidFill>
                          <a:latin typeface="Arial"/>
                          <a:cs typeface="Arial"/>
                          <a:sym typeface="Arial"/>
                        </a:rPr>
                        <a:t>oint </a:t>
                      </a:r>
                      <a:r>
                        <a:rPr lang="en-US" sz="2000" b="1" i="0" u="none" cap="none" dirty="0">
                          <a:solidFill>
                            <a:srgbClr val="FFFFFF">
                              <a:alpha val="100000"/>
                            </a:srgbClr>
                          </a:solidFill>
                          <a:latin typeface="Arial"/>
                          <a:cs typeface="Arial"/>
                          <a:sym typeface="Arial"/>
                        </a:rPr>
                        <a:t>M</a:t>
                      </a:r>
                      <a:r>
                        <a:rPr sz="2000" b="1" i="0" u="none" cap="none" dirty="0">
                          <a:solidFill>
                            <a:srgbClr val="FFFFFF">
                              <a:alpha val="100000"/>
                            </a:srgbClr>
                          </a:solidFill>
                          <a:latin typeface="Arial"/>
                          <a:cs typeface="Arial"/>
                          <a:sym typeface="Arial"/>
                        </a:rPr>
                        <a:t>argin </a:t>
                      </a:r>
                      <a:r>
                        <a:rPr lang="en-US" sz="2000" b="1" i="0" u="none" cap="none" dirty="0">
                          <a:solidFill>
                            <a:srgbClr val="FFFFFF">
                              <a:alpha val="100000"/>
                            </a:srgbClr>
                          </a:solidFill>
                          <a:latin typeface="Arial"/>
                          <a:cs typeface="Arial"/>
                          <a:sym typeface="Arial"/>
                        </a:rPr>
                        <a:t>D</a:t>
                      </a:r>
                      <a:r>
                        <a:rPr sz="2000" b="1" i="0" u="none" cap="none" dirty="0">
                          <a:solidFill>
                            <a:srgbClr val="FFFFFF">
                              <a:alpha val="100000"/>
                            </a:srgbClr>
                          </a:solidFill>
                          <a:latin typeface="Arial"/>
                          <a:cs typeface="Arial"/>
                          <a:sym typeface="Arial"/>
                        </a:rPr>
                        <a:t>ecrease </a:t>
                      </a:r>
                      <a:r>
                        <a:rPr lang="en-US" sz="2000" b="1" i="0" u="none" cap="none" dirty="0">
                          <a:solidFill>
                            <a:srgbClr val="FFFFFF">
                              <a:alpha val="100000"/>
                            </a:srgbClr>
                          </a:solidFill>
                          <a:latin typeface="Arial"/>
                          <a:cs typeface="Arial"/>
                          <a:sym typeface="Arial"/>
                        </a:rPr>
                        <a:t>O</a:t>
                      </a:r>
                      <a:r>
                        <a:rPr sz="2000" b="1" i="0" u="none" cap="none" dirty="0">
                          <a:solidFill>
                            <a:srgbClr val="FFFFFF">
                              <a:alpha val="100000"/>
                            </a:srgbClr>
                          </a:solidFill>
                          <a:latin typeface="Arial"/>
                          <a:cs typeface="Arial"/>
                          <a:sym typeface="Arial"/>
                        </a:rPr>
                        <a:t>ver </a:t>
                      </a:r>
                      <a:r>
                        <a:rPr lang="en-US" sz="2000" b="1" i="0" u="none" cap="none" dirty="0">
                          <a:solidFill>
                            <a:srgbClr val="FFFFFF">
                              <a:alpha val="100000"/>
                            </a:srgbClr>
                          </a:solidFill>
                          <a:latin typeface="Arial"/>
                          <a:cs typeface="Arial"/>
                          <a:sym typeface="Arial"/>
                        </a:rPr>
                        <a:t>C</a:t>
                      </a:r>
                      <a:r>
                        <a:rPr sz="2000" b="1" i="0" u="none" cap="none" dirty="0">
                          <a:solidFill>
                            <a:srgbClr val="FFFFFF">
                              <a:alpha val="100000"/>
                            </a:srgbClr>
                          </a:solidFill>
                          <a:latin typeface="Arial"/>
                          <a:cs typeface="Arial"/>
                          <a:sym typeface="Arial"/>
                        </a:rPr>
                        <a:t>ommercial </a:t>
                      </a:r>
                      <a:r>
                        <a:rPr lang="en-US" sz="2000" b="1" i="0" u="none" cap="none" dirty="0">
                          <a:solidFill>
                            <a:srgbClr val="FFFFFF">
                              <a:alpha val="100000"/>
                            </a:srgbClr>
                          </a:solidFill>
                          <a:latin typeface="Arial"/>
                          <a:cs typeface="Arial"/>
                          <a:sym typeface="Arial"/>
                        </a:rPr>
                        <a:t>P</a:t>
                      </a:r>
                      <a:r>
                        <a:rPr sz="2000" b="1" i="0" u="none" cap="none" dirty="0">
                          <a:solidFill>
                            <a:srgbClr val="FFFFFF">
                              <a:alpha val="100000"/>
                            </a:srgbClr>
                          </a:solidFill>
                          <a:latin typeface="Arial"/>
                          <a:cs typeface="Arial"/>
                          <a:sym typeface="Arial"/>
                        </a:rPr>
                        <a:t>lans and </a:t>
                      </a:r>
                      <a:r>
                        <a:rPr lang="en-US" sz="2000" b="1" i="0" u="none" cap="none" dirty="0">
                          <a:solidFill>
                            <a:srgbClr val="FFFFFF">
                              <a:alpha val="100000"/>
                            </a:srgbClr>
                          </a:solidFill>
                          <a:latin typeface="Arial"/>
                          <a:cs typeface="Arial"/>
                          <a:sym typeface="Arial"/>
                        </a:rPr>
                        <a:t>L</a:t>
                      </a:r>
                      <a:r>
                        <a:rPr sz="2000" b="1" i="0" u="none" cap="none" dirty="0">
                          <a:solidFill>
                            <a:srgbClr val="FFFFFF">
                              <a:alpha val="100000"/>
                            </a:srgbClr>
                          </a:solidFill>
                          <a:latin typeface="Arial"/>
                          <a:cs typeface="Arial"/>
                          <a:sym typeface="Arial"/>
                        </a:rPr>
                        <a:t>ow (70%) </a:t>
                      </a:r>
                      <a:r>
                        <a:rPr lang="en-US" sz="2000" b="1" i="0" u="none" cap="none" dirty="0">
                          <a:solidFill>
                            <a:srgbClr val="FFFFFF">
                              <a:alpha val="100000"/>
                            </a:srgbClr>
                          </a:solidFill>
                          <a:latin typeface="Arial"/>
                          <a:cs typeface="Arial"/>
                          <a:sym typeface="Arial"/>
                        </a:rPr>
                        <a:t>P</a:t>
                      </a:r>
                      <a:r>
                        <a:rPr sz="2000" b="1" i="0" u="none" cap="none" dirty="0">
                          <a:solidFill>
                            <a:srgbClr val="FFFFFF">
                              <a:alpha val="100000"/>
                            </a:srgbClr>
                          </a:solidFill>
                          <a:latin typeface="Arial"/>
                          <a:cs typeface="Arial"/>
                          <a:sym typeface="Arial"/>
                        </a:rPr>
                        <a:t>atient </a:t>
                      </a:r>
                      <a:r>
                        <a:rPr lang="en-US" sz="2000" b="1" i="0" u="none" cap="none" dirty="0">
                          <a:solidFill>
                            <a:srgbClr val="FFFFFF">
                              <a:alpha val="100000"/>
                            </a:srgbClr>
                          </a:solidFill>
                          <a:latin typeface="Arial"/>
                          <a:cs typeface="Arial"/>
                          <a:sym typeface="Arial"/>
                        </a:rPr>
                        <a:t>S</a:t>
                      </a:r>
                      <a:r>
                        <a:rPr sz="2000" b="1" i="0" u="none" cap="none" dirty="0">
                          <a:solidFill>
                            <a:srgbClr val="FFFFFF">
                              <a:alpha val="100000"/>
                            </a:srgbClr>
                          </a:solidFill>
                          <a:latin typeface="Arial"/>
                          <a:cs typeface="Arial"/>
                          <a:sym typeface="Arial"/>
                        </a:rPr>
                        <a:t>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with 5 percentage-point margin decrease over commercial plans and low (70%)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with 5 percentage-point margin decrease over commercial plans and low (70%)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with 5 percentage-point margin decrease over commercial plans and low (70%)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with 5 percentage-point margin decrease over commercial plans and low (70%)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378199">
                <a:tc gridSpan="5">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832037">
                <a:tc>
                  <a:txBody>
                    <a:bodyPr/>
                    <a:lstStyle/>
                    <a:p>
                      <a:pPr marL="127000" marR="127000" algn="l">
                        <a:lnSpc>
                          <a:spcPct val="100000"/>
                        </a:lnSpc>
                        <a:spcBef>
                          <a:spcPts val="0"/>
                        </a:spcBef>
                        <a:spcAft>
                          <a:spcPts val="0"/>
                        </a:spcAft>
                        <a:buNone/>
                      </a:pPr>
                      <a:r>
                        <a:rPr sz="1600" b="1" i="0" u="none" cap="none" dirty="0">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6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6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6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6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$1,367.1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$2,734.3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$13,671.4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$68,356.8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$354.1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$708.2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$3,541.2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$17,705.9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$4,670.4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$9,340.8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$46,704.0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$233,520.0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554691">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$3,303.3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$6,606.5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$33,032.6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$165,163.2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$976.2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$1,952.4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$9,762.2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$48,810.8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554691">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$622.1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$1,244.2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$6,221.0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$31,104.9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78199">
                <a:tc>
                  <a:txBody>
                    <a:bodyPr/>
                    <a:lstStyle/>
                    <a:p>
                      <a:pPr marL="127000" marR="127000" algn="l">
                        <a:lnSpc>
                          <a:spcPct val="100000"/>
                        </a:lnSpc>
                        <a:spcBef>
                          <a:spcPts val="0"/>
                        </a:spcBef>
                        <a:spcAft>
                          <a:spcPts val="0"/>
                        </a:spcAft>
                        <a:buNone/>
                      </a:pPr>
                      <a:r>
                        <a:rPr sz="16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1" i="0" u="none" cap="none">
                          <a:solidFill>
                            <a:srgbClr val="000000">
                              <a:alpha val="100000"/>
                            </a:srgbClr>
                          </a:solidFill>
                          <a:latin typeface="Arial"/>
                          <a:cs typeface="Arial"/>
                          <a:sym typeface="Arial"/>
                        </a:rPr>
                        <a:t>$298.1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1" i="0" u="none" cap="none">
                          <a:solidFill>
                            <a:srgbClr val="000000">
                              <a:alpha val="100000"/>
                            </a:srgbClr>
                          </a:solidFill>
                          <a:latin typeface="Arial"/>
                          <a:cs typeface="Arial"/>
                          <a:sym typeface="Arial"/>
                        </a:rPr>
                        <a:t>$926.2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1" i="0" u="none" cap="none">
                          <a:solidFill>
                            <a:srgbClr val="000000">
                              <a:alpha val="100000"/>
                            </a:srgbClr>
                          </a:solidFill>
                          <a:latin typeface="Arial"/>
                          <a:cs typeface="Arial"/>
                          <a:sym typeface="Arial"/>
                        </a:rPr>
                        <a:t>$5,951.0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1" i="0" u="none" cap="none" dirty="0">
                          <a:solidFill>
                            <a:srgbClr val="000000">
                              <a:alpha val="100000"/>
                            </a:srgbClr>
                          </a:solidFill>
                          <a:latin typeface="Arial"/>
                          <a:cs typeface="Arial"/>
                          <a:sym typeface="Arial"/>
                        </a:rPr>
                        <a:t>$31,074.9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2500104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35387176"/>
              </p:ext>
            </p:extLst>
          </p:nvPr>
        </p:nvGraphicFramePr>
        <p:xfrm>
          <a:off x="0" y="0"/>
          <a:ext cx="12191998" cy="6857992"/>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890649">
                <a:tc gridSpan="5">
                  <a:txBody>
                    <a:bodyPr/>
                    <a:lstStyle/>
                    <a:p>
                      <a:pPr marL="127000" marR="127000" algn="l">
                        <a:lnSpc>
                          <a:spcPct val="100000"/>
                        </a:lnSpc>
                        <a:spcBef>
                          <a:spcPts val="0"/>
                        </a:spcBef>
                        <a:spcAft>
                          <a:spcPts val="0"/>
                        </a:spcAft>
                        <a:buNone/>
                      </a:pPr>
                      <a:r>
                        <a:rPr lang="en-US" sz="2000" b="1" i="0" u="none" cap="none" dirty="0">
                          <a:solidFill>
                            <a:srgbClr val="FFFFFF">
                              <a:alpha val="100000"/>
                            </a:srgbClr>
                          </a:solidFill>
                          <a:latin typeface="Arial"/>
                          <a:cs typeface="Arial"/>
                          <a:sym typeface="Arial"/>
                        </a:rPr>
                        <a:t>Low Estimate With 5 Percentage-Point Margin Decrease Over Commercial Plans and Low (70%)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with 5 percentage-point margin decrease over commercial plans and low (70%)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with 5 percentage-point margin decrease over commercial plans and low (70%)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with 5 percentage-point margin decrease over commercial plans and low (70%)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with 5 percentage-point margin decrease over commercial plans and low (70%)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222662">
                <a:tc gridSpan="5">
                  <a:txBody>
                    <a:bodyPr/>
                    <a:lstStyle/>
                    <a:p>
                      <a:pPr marL="127000" marR="127000" algn="l">
                        <a:lnSpc>
                          <a:spcPct val="100000"/>
                        </a:lnSpc>
                        <a:spcBef>
                          <a:spcPts val="0"/>
                        </a:spcBef>
                        <a:spcAft>
                          <a:spcPts val="0"/>
                        </a:spcAft>
                        <a:buNone/>
                      </a:pPr>
                      <a:r>
                        <a:rPr lang="en-US" sz="1400" b="1" i="0" u="none" cap="none" dirty="0">
                          <a:solidFill>
                            <a:srgbClr val="FFFFFF">
                              <a:alpha val="100000"/>
                            </a:srgbClr>
                          </a:solidFill>
                          <a:latin typeface="Arial"/>
                          <a:cs typeface="Arial"/>
                          <a:sym typeface="Arial"/>
                        </a:rPr>
                        <a:t>Estimates by service line, 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89857">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$1,162.8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$5,813.8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$29,069.0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$301.2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$7,529.5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$1,273.7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$2,547.3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$12,736.5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$63,682.5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$532.4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$2,662.2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$13,311.0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$1,384.5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$6,922.7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$34,613.5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$115.6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$231.3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$1,156.3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$5,781.5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$535.7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$1,071.3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$5,356.6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$26,782.9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$277.5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$1,387.5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$6,937.4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$2,315.6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$4,631.2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$23,156.0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$115,780.0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$484.0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$968.0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$4,840.1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$24,200.5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$1,779.9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$3,559.9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$17,799.4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$88,997.1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$345.3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$690.5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$3,452.6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$17,263.2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$250.1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$500.2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$2,501.0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$12,504.9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$3,239.0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$1,081.2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$2,162.3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$10,811.5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$54,057.5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$452.0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$2,259.8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$11,299.2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$831.1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$1,662.1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$8,310.5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$41,552.6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$161.2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$322.4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$8,060.2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Incremental Revenues and Margin</a:t>
            </a:r>
          </a:p>
          <a:p>
            <a:pPr marL="285753" indent="-285753">
              <a:spcAft>
                <a:spcPts val="200"/>
              </a:spcAft>
              <a:buFont typeface="Wingdings" panose="05000000000000000000" pitchFamily="2" charset="2"/>
              <a:buChar char="§"/>
            </a:pPr>
            <a:r>
              <a:rPr lang="en-US" sz="1500" spc="70" dirty="0">
                <a:latin typeface="+mj-lt"/>
              </a:rPr>
              <a:t>Branding &amp; Messaging</a:t>
            </a:r>
          </a:p>
          <a:p>
            <a:pPr marL="285753" indent="-285753">
              <a:spcAft>
                <a:spcPts val="200"/>
              </a:spcAft>
              <a:buFont typeface="Wingdings" panose="05000000000000000000" pitchFamily="2" charset="2"/>
              <a:buChar char="§"/>
            </a:pPr>
            <a:r>
              <a:rPr lang="en-US" sz="1500" spc="70" dirty="0">
                <a:latin typeface="+mj-lt"/>
              </a:rPr>
              <a:t>Benefit Plan Integration</a:t>
            </a:r>
          </a:p>
          <a:p>
            <a:pPr marL="285753" indent="-285753">
              <a:spcAft>
                <a:spcPts val="200"/>
              </a:spcAft>
              <a:buFont typeface="Wingdings" panose="05000000000000000000" pitchFamily="2" charset="2"/>
              <a:buChar char="§"/>
            </a:pPr>
            <a:r>
              <a:rPr lang="en-US" sz="1500" spc="70" dirty="0">
                <a:latin typeface="+mj-lt"/>
              </a:rPr>
              <a:t>Network Steerage</a:t>
            </a:r>
          </a:p>
          <a:p>
            <a:pPr marL="285753" indent="-285753">
              <a:spcAft>
                <a:spcPts val="200"/>
              </a:spcAft>
              <a:buFont typeface="Wingdings" panose="05000000000000000000" pitchFamily="2" charset="2"/>
              <a:buChar char="§"/>
            </a:pPr>
            <a:r>
              <a:rPr lang="en-US" sz="1500" spc="70" dirty="0">
                <a:latin typeface="+mj-lt"/>
              </a:rPr>
              <a:t>Direct Employer/Member Access</a:t>
            </a:r>
          </a:p>
          <a:p>
            <a:pPr marL="285753" indent="-285753">
              <a:spcAft>
                <a:spcPts val="200"/>
              </a:spcAft>
              <a:buFont typeface="Wingdings" panose="05000000000000000000" pitchFamily="2" charset="2"/>
              <a:buChar char="§"/>
            </a:pPr>
            <a:r>
              <a:rPr lang="en-US" sz="1500" spc="70" dirty="0">
                <a:latin typeface="+mj-lt"/>
              </a:rPr>
              <a:t>Referral Authorization</a:t>
            </a:r>
          </a:p>
          <a:p>
            <a:pPr marL="285753" indent="-285753">
              <a:spcAft>
                <a:spcPts val="200"/>
              </a:spcAft>
              <a:buFont typeface="Wingdings" panose="05000000000000000000" pitchFamily="2" charset="2"/>
              <a:buChar char="§"/>
            </a:pPr>
            <a:r>
              <a:rPr lang="en-US" sz="1500" spc="70" dirty="0">
                <a:latin typeface="+mj-lt"/>
              </a:rPr>
              <a:t>Plan Transparency</a:t>
            </a:r>
          </a:p>
          <a:p>
            <a:pPr marL="285753" indent="-285753">
              <a:spcAft>
                <a:spcPts val="200"/>
              </a:spcAft>
              <a:buFont typeface="Wingdings" panose="05000000000000000000" pitchFamily="2" charset="2"/>
              <a:buChar char="§"/>
            </a:pPr>
            <a:r>
              <a:rPr lang="en-US" sz="1500" spc="70" dirty="0">
                <a:latin typeface="+mj-lt"/>
              </a:rPr>
              <a:t>Direct Access to Members</a:t>
            </a:r>
          </a:p>
        </p:txBody>
      </p:sp>
      <p:sp>
        <p:nvSpPr>
          <p:cNvPr id="15"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SLUHN’s DTE</a:t>
            </a:r>
          </a:p>
        </p:txBody>
      </p:sp>
      <p:sp>
        <p:nvSpPr>
          <p:cNvPr id="13"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Full TPA Administration</a:t>
            </a:r>
          </a:p>
          <a:p>
            <a:pPr marL="285753" indent="-285753">
              <a:spcAft>
                <a:spcPts val="200"/>
              </a:spcAft>
              <a:buFont typeface="Wingdings" panose="05000000000000000000" pitchFamily="2" charset="2"/>
              <a:buChar char="§"/>
            </a:pPr>
            <a:r>
              <a:rPr lang="en-US" sz="1500" spc="70" dirty="0">
                <a:latin typeface="+mj-lt"/>
              </a:rPr>
              <a:t>Stop-Loss Administration</a:t>
            </a:r>
          </a:p>
          <a:p>
            <a:pPr marL="285753" indent="-285753">
              <a:spcAft>
                <a:spcPts val="200"/>
              </a:spcAft>
              <a:buFont typeface="Wingdings" panose="05000000000000000000" pitchFamily="2" charset="2"/>
              <a:buChar char="§"/>
            </a:pPr>
            <a:r>
              <a:rPr lang="en-US" sz="1500" spc="70" dirty="0">
                <a:latin typeface="+mj-lt"/>
              </a:rPr>
              <a:t>True Transparency &amp; Analytics</a:t>
            </a:r>
          </a:p>
          <a:p>
            <a:pPr marL="285753" indent="-285753">
              <a:spcAft>
                <a:spcPts val="200"/>
              </a:spcAft>
              <a:buFont typeface="Wingdings" panose="05000000000000000000" pitchFamily="2" charset="2"/>
              <a:buChar char="§"/>
            </a:pPr>
            <a:r>
              <a:rPr lang="en-US" sz="1500" spc="70" dirty="0">
                <a:latin typeface="+mj-lt"/>
              </a:rPr>
              <a:t>Population Health  Management</a:t>
            </a:r>
          </a:p>
          <a:p>
            <a:pPr marL="285753" indent="-285753">
              <a:spcAft>
                <a:spcPts val="200"/>
              </a:spcAft>
              <a:buFont typeface="Wingdings" panose="05000000000000000000" pitchFamily="2" charset="2"/>
              <a:buChar char="§"/>
            </a:pPr>
            <a:r>
              <a:rPr lang="en-US" sz="1500" spc="70" dirty="0">
                <a:latin typeface="+mj-lt"/>
              </a:rPr>
              <a:t>Utilization &amp; Case Management</a:t>
            </a:r>
          </a:p>
          <a:p>
            <a:pPr marL="285753" indent="-285753">
              <a:spcAft>
                <a:spcPts val="200"/>
              </a:spcAft>
              <a:buFont typeface="Wingdings" panose="05000000000000000000" pitchFamily="2" charset="2"/>
              <a:buChar char="§"/>
            </a:pPr>
            <a:r>
              <a:rPr lang="en-US" sz="1500" spc="70" dirty="0">
                <a:latin typeface="+mj-lt"/>
              </a:rPr>
              <a:t>Sales &amp; Marketing</a:t>
            </a:r>
          </a:p>
          <a:p>
            <a:pPr marL="285753" indent="-285753">
              <a:spcAft>
                <a:spcPts val="200"/>
              </a:spcAft>
              <a:buFont typeface="Wingdings" panose="05000000000000000000" pitchFamily="2" charset="2"/>
              <a:buChar char="§"/>
            </a:pPr>
            <a:r>
              <a:rPr lang="en-US" sz="1500" spc="70" dirty="0">
                <a:latin typeface="+mj-lt"/>
              </a:rPr>
              <a:t>Transparent PBM</a:t>
            </a:r>
          </a:p>
          <a:p>
            <a:pPr marL="285753" indent="-285753">
              <a:spcAft>
                <a:spcPts val="200"/>
              </a:spcAft>
              <a:buFont typeface="Wingdings" panose="05000000000000000000" pitchFamily="2" charset="2"/>
              <a:buChar char="§"/>
            </a:pPr>
            <a:r>
              <a:rPr lang="en-US" sz="1500" spc="70" dirty="0">
                <a:latin typeface="+mj-lt"/>
              </a:rPr>
              <a:t>Website &amp; Mobile App</a:t>
            </a:r>
          </a:p>
          <a:p>
            <a:pPr marL="285753" indent="-285753">
              <a:spcAft>
                <a:spcPts val="200"/>
              </a:spcAft>
              <a:buFont typeface="Wingdings" panose="05000000000000000000" pitchFamily="2" charset="2"/>
              <a:buChar char="§"/>
            </a:pPr>
            <a:r>
              <a:rPr lang="en-US" sz="1500" spc="70" dirty="0">
                <a:latin typeface="+mj-lt"/>
              </a:rPr>
              <a:t>Customizable options &amp;  plans</a:t>
            </a:r>
          </a:p>
        </p:txBody>
      </p:sp>
      <p:sp>
        <p:nvSpPr>
          <p:cNvPr id="8"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Reduced Out of Pocket</a:t>
            </a:r>
          </a:p>
          <a:p>
            <a:pPr marL="285753" indent="-285753">
              <a:spcAft>
                <a:spcPts val="200"/>
              </a:spcAft>
              <a:buFont typeface="Wingdings" panose="05000000000000000000" pitchFamily="2" charset="2"/>
              <a:buChar char="§"/>
            </a:pPr>
            <a:r>
              <a:rPr lang="en-US" sz="1500" spc="70" dirty="0">
                <a:latin typeface="+mj-lt"/>
              </a:rPr>
              <a:t>Improved Health</a:t>
            </a:r>
          </a:p>
          <a:p>
            <a:pPr marL="285753" indent="-285753">
              <a:spcAft>
                <a:spcPts val="200"/>
              </a:spcAft>
              <a:buFont typeface="Wingdings" panose="05000000000000000000" pitchFamily="2" charset="2"/>
              <a:buChar char="§"/>
            </a:pPr>
            <a:r>
              <a:rPr lang="en-US" sz="1500" spc="70" dirty="0">
                <a:latin typeface="+mj-lt"/>
              </a:rPr>
              <a:t>Better Coordination of Health</a:t>
            </a:r>
          </a:p>
          <a:p>
            <a:pPr marL="285753" indent="-285753">
              <a:spcAft>
                <a:spcPts val="200"/>
              </a:spcAft>
              <a:buFont typeface="Wingdings" panose="05000000000000000000" pitchFamily="2" charset="2"/>
              <a:buChar char="§"/>
            </a:pPr>
            <a:r>
              <a:rPr lang="en-US" sz="1500" spc="70" dirty="0">
                <a:latin typeface="+mj-lt"/>
              </a:rPr>
              <a:t>Direct Access to the Best Medical Providers</a:t>
            </a:r>
          </a:p>
        </p:txBody>
      </p:sp>
      <p:sp>
        <p:nvSpPr>
          <p:cNvPr id="9"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Key Benefit Administrators</a:t>
            </a:r>
          </a:p>
        </p:txBody>
      </p:sp>
      <p:sp>
        <p:nvSpPr>
          <p:cNvPr id="12"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Employee</a:t>
            </a:r>
          </a:p>
        </p:txBody>
      </p:sp>
      <p:sp>
        <p:nvSpPr>
          <p:cNvPr id="14"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Reduced Spend</a:t>
            </a:r>
          </a:p>
          <a:p>
            <a:pPr marL="285753" indent="-285753">
              <a:spcAft>
                <a:spcPts val="200"/>
              </a:spcAft>
              <a:buFont typeface="Wingdings" panose="05000000000000000000" pitchFamily="2" charset="2"/>
              <a:buChar char="§"/>
            </a:pPr>
            <a:r>
              <a:rPr lang="en-US" sz="1500" spc="70" dirty="0">
                <a:latin typeface="+mj-lt"/>
              </a:rPr>
              <a:t>“At The Table” with SLUHN</a:t>
            </a:r>
          </a:p>
          <a:p>
            <a:pPr marL="285753" indent="-285753">
              <a:spcAft>
                <a:spcPts val="200"/>
              </a:spcAft>
              <a:buFont typeface="Wingdings" panose="05000000000000000000" pitchFamily="2" charset="2"/>
              <a:buChar char="§"/>
            </a:pPr>
            <a:r>
              <a:rPr lang="en-US" sz="1500" spc="70" dirty="0">
                <a:latin typeface="+mj-lt"/>
              </a:rPr>
              <a:t>Incentivized Gain Share Potential</a:t>
            </a:r>
          </a:p>
          <a:p>
            <a:pPr marL="285753" indent="-285753">
              <a:spcAft>
                <a:spcPts val="200"/>
              </a:spcAft>
              <a:buFont typeface="Wingdings" panose="05000000000000000000" pitchFamily="2" charset="2"/>
              <a:buChar char="§"/>
            </a:pPr>
            <a:r>
              <a:rPr lang="en-US" sz="1500" spc="70" dirty="0">
                <a:latin typeface="+mj-lt"/>
              </a:rPr>
              <a:t>Improved Analytics</a:t>
            </a:r>
          </a:p>
          <a:p>
            <a:pPr marL="285753" indent="-285753">
              <a:spcAft>
                <a:spcPts val="200"/>
              </a:spcAft>
              <a:buFont typeface="Wingdings" panose="05000000000000000000" pitchFamily="2" charset="2"/>
              <a:buChar char="§"/>
            </a:pPr>
            <a:r>
              <a:rPr lang="en-US" sz="1500" spc="70" dirty="0">
                <a:latin typeface="+mj-lt"/>
              </a:rPr>
              <a:t>Lower Stop-Loss</a:t>
            </a:r>
          </a:p>
          <a:p>
            <a:pPr marL="285753" indent="-285753">
              <a:spcAft>
                <a:spcPts val="200"/>
              </a:spcAft>
              <a:buFont typeface="Wingdings" panose="05000000000000000000" pitchFamily="2" charset="2"/>
              <a:buChar char="§"/>
            </a:pPr>
            <a:r>
              <a:rPr lang="en-US" sz="1500" spc="70" dirty="0">
                <a:latin typeface="+mj-lt"/>
              </a:rPr>
              <a:t>Stabilization </a:t>
            </a:r>
          </a:p>
          <a:p>
            <a:pPr marL="285753" indent="-285753">
              <a:spcAft>
                <a:spcPts val="200"/>
              </a:spcAft>
              <a:buFont typeface="Wingdings" panose="05000000000000000000" pitchFamily="2" charset="2"/>
              <a:buChar char="§"/>
            </a:pPr>
            <a:r>
              <a:rPr lang="en-US" sz="1500" spc="70" dirty="0">
                <a:latin typeface="+mj-lt"/>
              </a:rPr>
              <a:t>Healthier Population</a:t>
            </a:r>
          </a:p>
        </p:txBody>
      </p:sp>
      <p:sp>
        <p:nvSpPr>
          <p:cNvPr id="20"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Employer</a:t>
            </a:r>
          </a:p>
        </p:txBody>
      </p:sp>
      <p:sp>
        <p:nvSpPr>
          <p:cNvPr id="21"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Arial" panose="020B0604020202020204" pitchFamily="34" charset="0"/>
                <a:cs typeface="Arial" panose="020B0604020202020204" pitchFamily="34" charset="0"/>
              </a:rPr>
              <a:t>COLLABORATION OF STAKEHOLDERS</a:t>
            </a:r>
          </a:p>
        </p:txBody>
      </p:sp>
      <p:sp>
        <p:nvSpPr>
          <p:cNvPr id="2"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dirty="0"/>
              <a:t>Key Benefit Administrators</a:t>
            </a:r>
          </a:p>
        </p:txBody>
      </p:sp>
      <p:sp>
        <p:nvSpPr>
          <p:cNvPr id="23"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mtClean="0"/>
              <a:t>49</a:t>
            </a:fld>
            <a:endParaRPr lang="en-US" dirty="0"/>
          </a:p>
        </p:txBody>
      </p:sp>
    </p:spTree>
    <p:extLst>
      <p:ext uri="{BB962C8B-B14F-4D97-AF65-F5344CB8AC3E}">
        <p14:creationId xmlns:p14="http://schemas.microsoft.com/office/powerpoint/2010/main" val="31441921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RESPONSBILITIES</a:t>
            </a:r>
          </a:p>
        </p:txBody>
      </p:sp>
      <p:graphicFrame>
        <p:nvGraphicFramePr>
          <p:cNvPr id="5"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3347937976"/>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rPr>
                        <a:t>SERVICES &amp; ADMINISTRATIVE SYSTEMS PROVIDED BY:</a:t>
                      </a:r>
                      <a:endParaRPr lang="en-US" sz="1400" spc="3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SLUHN</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rPr>
                        <a:t>KBA Operations</a:t>
                      </a:r>
                      <a:endPar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Gain Share Calculations &amp; Distribution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effectLst/>
                        </a:rPr>
                        <a:t>Facilitate program communication and engagement with SLUHN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6"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50</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PRE-IMPLEMENTATION</a:t>
            </a:r>
          </a:p>
        </p:txBody>
      </p:sp>
      <p:pic>
        <p:nvPicPr>
          <p:cNvPr id="23558"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75"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51</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graphicFrame>
        <p:nvGraphicFramePr>
          <p:cNvPr id="4"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1976902650"/>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54222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IMPLEMENTATION</a:t>
            </a:r>
          </a:p>
        </p:txBody>
      </p:sp>
      <p:pic>
        <p:nvPicPr>
          <p:cNvPr id="23558"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75"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288350433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52</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BB9A266-2718-4687-903B-B87AB1E45652}"/>
              </a:ext>
            </a:extLst>
          </p:cNvPr>
          <p:cNvSpPr>
            <a:spLocks noGrp="1"/>
          </p:cNvSpPr>
          <p:nvPr>
            <p:ph type="title"/>
          </p:nvPr>
        </p:nvSpPr>
        <p:spPr>
          <a:xfrm>
            <a:off x="532266" y="560444"/>
            <a:ext cx="6850224" cy="782540"/>
          </a:xfrm>
        </p:spPr>
        <p:txBody>
          <a:bodyPr/>
          <a:lstStyle/>
          <a:p>
            <a:r>
              <a:rPr lang="en-US" dirty="0">
                <a:solidFill>
                  <a:schemeClr val="bg1"/>
                </a:solidFill>
              </a:rPr>
              <a:t>A Partner You Can Trust</a:t>
            </a:r>
          </a:p>
        </p:txBody>
      </p:sp>
      <p:sp>
        <p:nvSpPr>
          <p:cNvPr id="3"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dirty="0">
                <a:solidFill>
                  <a:schemeClr val="bg1"/>
                </a:solidFill>
              </a:rPr>
              <a:t>Key Benefit Administrators</a:t>
            </a:r>
          </a:p>
        </p:txBody>
      </p:sp>
      <p:sp>
        <p:nvSpPr>
          <p:cNvPr id="4"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mtClean="0">
                <a:solidFill>
                  <a:schemeClr val="bg1"/>
                </a:solidFill>
              </a:rPr>
              <a:t>53</a:t>
            </a:fld>
            <a:endParaRPr lang="en-US" dirty="0">
              <a:solidFill>
                <a:schemeClr val="bg1"/>
              </a:solidFill>
            </a:endParaRPr>
          </a:p>
        </p:txBody>
      </p:sp>
      <p:grpSp>
        <p:nvGrpSpPr>
          <p:cNvPr id="27" name="Group 26">
            <a:extLst>
              <a:ext uri="{FF2B5EF4-FFF2-40B4-BE49-F238E27FC236}">
                <a16:creationId xmlns:a16="http://schemas.microsoft.com/office/drawing/2014/main" id="{CE5A4C1D-715F-46F5-A80B-647078B97ADE}"/>
              </a:ext>
            </a:extLst>
          </p:cNvPr>
          <p:cNvGrpSpPr/>
          <p:nvPr/>
        </p:nvGrpSpPr>
        <p:grpSpPr>
          <a:xfrm>
            <a:off x="667280" y="3021140"/>
            <a:ext cx="10857442" cy="1200329"/>
            <a:chOff x="908754" y="2695500"/>
            <a:chExt cx="10558665" cy="1200329"/>
          </a:xfrm>
        </p:grpSpPr>
        <p:sp>
          <p:nvSpPr>
            <p:cNvPr id="22" name="Rectangle 21">
              <a:extLst>
                <a:ext uri="{FF2B5EF4-FFF2-40B4-BE49-F238E27FC236}">
                  <a16:creationId xmlns:a16="http://schemas.microsoft.com/office/drawing/2014/main" id="{E53A35DC-3649-45F8-BE1C-71234D1F47FC}"/>
                </a:ext>
              </a:extLst>
            </p:cNvPr>
            <p:cNvSpPr/>
            <p:nvPr/>
          </p:nvSpPr>
          <p:spPr>
            <a:xfrm>
              <a:off x="908754" y="2695500"/>
              <a:ext cx="2058812" cy="646331"/>
            </a:xfrm>
            <a:prstGeom prst="rect">
              <a:avLst/>
            </a:prstGeom>
          </p:spPr>
          <p:txBody>
            <a:bodyPr wrap="square">
              <a:spAutoFit/>
            </a:bodyPr>
            <a:lstStyle/>
            <a:p>
              <a:r>
                <a:rPr lang="en-US" b="1" dirty="0">
                  <a:solidFill>
                    <a:schemeClr val="bg1"/>
                  </a:solidFill>
                </a:rPr>
                <a:t>OUR OBJECTIVES ARE ALIGNED</a:t>
              </a:r>
            </a:p>
          </p:txBody>
        </p:sp>
        <p:sp>
          <p:nvSpPr>
            <p:cNvPr id="24" name="Rectangle 23">
              <a:extLst>
                <a:ext uri="{FF2B5EF4-FFF2-40B4-BE49-F238E27FC236}">
                  <a16:creationId xmlns:a16="http://schemas.microsoft.com/office/drawing/2014/main" id="{9BB7B37B-58E4-4EF5-8BCD-B5AFD3FF7576}"/>
                </a:ext>
              </a:extLst>
            </p:cNvPr>
            <p:cNvSpPr/>
            <p:nvPr/>
          </p:nvSpPr>
          <p:spPr>
            <a:xfrm>
              <a:off x="3464860" y="2695500"/>
              <a:ext cx="2096575" cy="646331"/>
            </a:xfrm>
            <a:prstGeom prst="rect">
              <a:avLst/>
            </a:prstGeom>
          </p:spPr>
          <p:txBody>
            <a:bodyPr wrap="square">
              <a:spAutoFit/>
            </a:bodyPr>
            <a:lstStyle/>
            <a:p>
              <a:r>
                <a:rPr lang="en-US" b="1" dirty="0">
                  <a:solidFill>
                    <a:schemeClr val="bg1"/>
                  </a:solidFill>
                </a:rPr>
                <a:t>WE KNOW THE </a:t>
              </a:r>
            </a:p>
            <a:p>
              <a:r>
                <a:rPr lang="en-US" b="1" dirty="0">
                  <a:solidFill>
                    <a:schemeClr val="bg1"/>
                  </a:solidFill>
                </a:rPr>
                <a:t>MARKET</a:t>
              </a:r>
            </a:p>
          </p:txBody>
        </p:sp>
        <p:sp>
          <p:nvSpPr>
            <p:cNvPr id="25" name="Rectangle 24">
              <a:extLst>
                <a:ext uri="{FF2B5EF4-FFF2-40B4-BE49-F238E27FC236}">
                  <a16:creationId xmlns:a16="http://schemas.microsoft.com/office/drawing/2014/main" id="{712D71E1-CFC6-401F-B564-C6DB174E5C25}"/>
                </a:ext>
              </a:extLst>
            </p:cNvPr>
            <p:cNvSpPr/>
            <p:nvPr/>
          </p:nvSpPr>
          <p:spPr>
            <a:xfrm>
              <a:off x="6105045" y="2695500"/>
              <a:ext cx="1861517" cy="646331"/>
            </a:xfrm>
            <a:prstGeom prst="rect">
              <a:avLst/>
            </a:prstGeom>
          </p:spPr>
          <p:txBody>
            <a:bodyPr wrap="square">
              <a:spAutoFit/>
            </a:bodyPr>
            <a:lstStyle/>
            <a:p>
              <a:r>
                <a:rPr lang="en-US" b="1" dirty="0">
                  <a:solidFill>
                    <a:schemeClr val="bg1"/>
                  </a:solidFill>
                </a:rPr>
                <a:t>COMPLETELY TRANSPARENT</a:t>
              </a:r>
            </a:p>
          </p:txBody>
        </p:sp>
        <p:sp>
          <p:nvSpPr>
            <p:cNvPr id="26" name="Rectangle 25">
              <a:extLst>
                <a:ext uri="{FF2B5EF4-FFF2-40B4-BE49-F238E27FC236}">
                  <a16:creationId xmlns:a16="http://schemas.microsoft.com/office/drawing/2014/main" id="{3219F81E-41A2-4D21-B41F-E66CCE1EAA9D}"/>
                </a:ext>
              </a:extLst>
            </p:cNvPr>
            <p:cNvSpPr/>
            <p:nvPr/>
          </p:nvSpPr>
          <p:spPr>
            <a:xfrm>
              <a:off x="9062157" y="2695500"/>
              <a:ext cx="2405262" cy="1200329"/>
            </a:xfrm>
            <a:prstGeom prst="rect">
              <a:avLst/>
            </a:prstGeom>
          </p:spPr>
          <p:txBody>
            <a:bodyPr wrap="square">
              <a:spAutoFit/>
            </a:bodyPr>
            <a:lstStyle/>
            <a:p>
              <a:r>
                <a:rPr lang="en-US" b="1" dirty="0">
                  <a:solidFill>
                    <a:schemeClr val="bg1"/>
                  </a:solidFill>
                </a:rPr>
                <a:t>WE HAVE THE SOPHISTICATION AND INFRASTRUCTURE TO EFFECTIVELY COMPETE</a:t>
              </a:r>
            </a:p>
          </p:txBody>
        </p:sp>
      </p:grpSp>
      <p:cxnSp>
        <p:nvCxnSpPr>
          <p:cNvPr id="29"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3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38"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42"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48"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8"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646331"/>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dirty="0">
                <a:solidFill>
                  <a:schemeClr val="bg1"/>
                </a:solidFill>
                <a:latin typeface="Arial" panose="020B0604020202020204" pitchFamily="34" charset="0"/>
                <a:cs typeface="Arial" panose="020B0604020202020204" pitchFamily="34" charset="0"/>
              </a:rPr>
              <a:t>Derek Moore, Senior Vice President – KBA</a:t>
            </a:r>
          </a:p>
          <a:p>
            <a:pPr algn="ctr"/>
            <a:r>
              <a:rPr lang="en-US" dirty="0">
                <a:solidFill>
                  <a:schemeClr val="bg1"/>
                </a:solidFill>
                <a:latin typeface="Arial" panose="020B0604020202020204" pitchFamily="34"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Custom 3">
      <a:dk1>
        <a:srgbClr val="5B5B5B"/>
      </a:dk1>
      <a:lt1>
        <a:sysClr val="window" lastClr="FFFFFF"/>
      </a:lt1>
      <a:dk2>
        <a:srgbClr val="323F4F"/>
      </a:dk2>
      <a:lt2>
        <a:srgbClr val="E7E6E6"/>
      </a:lt2>
      <a:accent1>
        <a:srgbClr val="DBA660"/>
      </a:accent1>
      <a:accent2>
        <a:srgbClr val="44A1C4"/>
      </a:accent2>
      <a:accent3>
        <a:srgbClr val="FFE699"/>
      </a:accent3>
      <a:accent4>
        <a:srgbClr val="935E1B"/>
      </a:accent4>
      <a:accent5>
        <a:srgbClr val="2D6B83"/>
      </a:accent5>
      <a:accent6>
        <a:srgbClr val="80734D"/>
      </a:accent6>
      <a:hlink>
        <a:srgbClr val="9FA0A6"/>
      </a:hlink>
      <a:folHlink>
        <a:srgbClr val="A4CD88"/>
      </a:folHlink>
    </a:clrScheme>
    <a:fontScheme name="Custom 1">
      <a:majorFont>
        <a:latin typeface="Aileron"/>
        <a:ea typeface=""/>
        <a:cs typeface=""/>
      </a:majorFont>
      <a:minorFont>
        <a:latin typeface="Aileron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3.xml><?xml version="1.0" encoding="utf-8"?>
<ds:datastoreItem xmlns:ds="http://schemas.openxmlformats.org/officeDocument/2006/customXml" ds:itemID="{56F5604B-F201-4300-A086-2482203EA6B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45473</TotalTime>
  <Words>7095</Words>
  <Application>Microsoft Office PowerPoint</Application>
  <PresentationFormat>Widescreen</PresentationFormat>
  <Paragraphs>2137</Paragraphs>
  <Slides>53</Slides>
  <Notes>3</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53</vt:i4>
      </vt:variant>
    </vt:vector>
  </HeadingPairs>
  <TitlesOfParts>
    <vt:vector size="64" baseType="lpstr">
      <vt:lpstr>Aileron</vt:lpstr>
      <vt:lpstr>Aileron Light</vt:lpstr>
      <vt:lpstr>Aptos Narrow</vt:lpstr>
      <vt:lpstr>Arial</vt:lpstr>
      <vt:lpstr>Arial Black</vt:lpstr>
      <vt:lpstr>Calibri</vt:lpstr>
      <vt:lpstr>Calibri Light</vt:lpstr>
      <vt:lpstr>Century Gothic</vt:lpstr>
      <vt:lpstr>Wingdings</vt:lpstr>
      <vt:lpstr>Office Theme</vt:lpstr>
      <vt:lpstr>2_Office Theme</vt:lpstr>
      <vt:lpstr>PowerPoint Presentation</vt:lpstr>
      <vt:lpstr>PowerPoint Presentation</vt:lpstr>
      <vt:lpstr>Healthcare Leader in Private Labeled DTE Plans</vt:lpstr>
      <vt:lpstr>Direct-to-Employer Strategy: Only Available to Premier Health Systems</vt:lpstr>
      <vt:lpstr>SLUHN Advantage: Strong Brand Quality</vt:lpstr>
      <vt:lpstr>SLUHN Advantage: Best-in-Area Patient Access</vt:lpstr>
      <vt:lpstr>SLUHN Advantage: Leading Care Quality</vt:lpstr>
      <vt:lpstr>SLUHN Advantage: Care at Value Pricing</vt:lpstr>
      <vt:lpstr>Direct-to-Employer (DTE)  Your plan focused on Your relationship with Employers</vt:lpstr>
      <vt:lpstr>Every $1 of Care</vt:lpstr>
      <vt:lpstr>Direct-to-Employer Strategy: Increased Capture of Commercial Market Share</vt:lpstr>
      <vt:lpstr>Direct-to-Employer Strategy: Powerful Employer Value</vt:lpstr>
      <vt:lpstr>Significant Opportunity for SLUHN</vt:lpstr>
      <vt:lpstr>Plan Potential Growth Paths</vt:lpstr>
      <vt:lpstr>Growing Powerful, Lasting Profitability</vt:lpstr>
      <vt:lpstr>Estimated Financial Returns and Assumptions</vt:lpstr>
      <vt:lpstr>FOUR-YEAR PROJECTIONS</vt:lpstr>
      <vt:lpstr>SLUHN NETWORK </vt:lpstr>
      <vt:lpstr>PowerPoint Presentation</vt:lpstr>
      <vt:lpstr>SINGLE YEAR SUMMARY</vt:lpstr>
      <vt:lpstr>the missing piece to population health success</vt:lpstr>
      <vt:lpstr>PowerPoint Presentation</vt:lpstr>
      <vt:lpstr>Transparent PBM Integration </vt:lpstr>
      <vt:lpstr>STOP-LOSS INSURANCE</vt:lpstr>
      <vt:lpstr>DTE  PROGRAM MARKETING  &amp; SALES</vt:lpstr>
      <vt:lpstr>Complete Sales Distribution System</vt:lpstr>
      <vt:lpstr>Complete Marketing System</vt:lpstr>
      <vt:lpstr>Modeling for Community-Based Plan</vt:lpstr>
      <vt:lpstr>PowerPoint Presentation</vt:lpstr>
      <vt:lpstr>Estimated Financial Returns and Assumptions</vt:lpstr>
      <vt:lpstr>FOUR-YEAR PROJECTIONS</vt:lpstr>
      <vt:lpstr>SINGLE YEAR SUMMARY</vt:lpstr>
      <vt:lpstr>PowerPoint Presentation</vt:lpstr>
      <vt:lpstr>FINANCIAL PROJECTIONS &amp; ASSUMPTIONS</vt:lpstr>
      <vt:lpstr>Estimation of SLUHN’s 2021 Payer Mix</vt:lpstr>
      <vt:lpstr>Estimation of Margin for Commercial vs. Government Pay</vt:lpstr>
      <vt:lpstr>Modeling Prices and Commercial Margins</vt:lpstr>
      <vt:lpstr>Estimating Market Share</vt:lpstr>
      <vt:lpstr>PowerPoint Presentation</vt:lpstr>
      <vt:lpstr>Estimating PMPY Spend (KBA Data)</vt:lpstr>
      <vt:lpstr>Estimating Expected Steerage (KBA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ROLES &amp; RESPONSBILITIES</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107</cp:revision>
  <cp:lastPrinted>2023-07-13T10:24:43Z</cp:lastPrinted>
  <dcterms:created xsi:type="dcterms:W3CDTF">2021-01-20T14:12:11Z</dcterms:created>
  <dcterms:modified xsi:type="dcterms:W3CDTF">2024-09-25T02:04:04Z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