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Lst>
  <p:notesMasterIdLst>
    <p:notesMasterId r:id="rId45"/>
  </p:notesMasterIdLst>
  <p:sldIdLst>
    <p:sldId id="577" r:id="rId5"/>
    <p:sldId id="549" r:id="rId6"/>
    <p:sldId id="580" r:id="rId7"/>
    <p:sldId id="581" r:id="rId8"/>
    <p:sldId id="499" r:id="rId9"/>
    <p:sldId id="548" r:id="rId10"/>
    <p:sldId id="582" r:id="rId11"/>
    <p:sldId id="458" r:id="rId12"/>
    <p:sldId id="446" r:id="rId13"/>
    <p:sldId id="461" r:id="rId14"/>
    <p:sldId id="462" r:id="rId15"/>
    <p:sldId id="469" r:id="rId16"/>
    <p:sldId id="336" r:id="rId17"/>
    <p:sldId id="337" r:id="rId18"/>
    <p:sldId id="583" r:id="rId19"/>
    <p:sldId id="579" r:id="rId20"/>
    <p:sldId id="597" r:id="rId21"/>
    <p:sldId id="589" r:id="rId22"/>
    <p:sldId id="584" r:id="rId23"/>
    <p:sldId id="571" r:id="rId24"/>
    <p:sldId id="585" r:id="rId25"/>
    <p:sldId id="546" r:id="rId26"/>
    <p:sldId id="536" r:id="rId27"/>
    <p:sldId id="574" r:id="rId28"/>
    <p:sldId id="586" r:id="rId29"/>
    <p:sldId id="572" r:id="rId30"/>
    <p:sldId id="587" r:id="rId31"/>
    <p:sldId id="256" r:id="rId32"/>
    <p:sldId id="588" r:id="rId33"/>
    <p:sldId id="590" r:id="rId34"/>
    <p:sldId id="591" r:id="rId35"/>
    <p:sldId id="594" r:id="rId36"/>
    <p:sldId id="595" r:id="rId37"/>
    <p:sldId id="592" r:id="rId38"/>
    <p:sldId id="593" r:id="rId39"/>
    <p:sldId id="596" r:id="rId40"/>
    <p:sldId id="326" r:id="rId41"/>
    <p:sldId id="491" r:id="rId42"/>
    <p:sldId id="454" r:id="rId43"/>
    <p:sldId id="472" r:id="rId44"/>
  </p:sldIdLst>
  <p:sldSz cx="12192000" cy="6858000"/>
  <p:notesSz cx="7315200" cy="9601200"/>
  <p:custDataLst>
    <p:tags r:id="rId4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5A11"/>
    <a:srgbClr val="F424AA"/>
    <a:srgbClr val="E23440"/>
    <a:srgbClr val="027587"/>
    <a:srgbClr val="7F7F7F"/>
    <a:srgbClr val="00467F"/>
    <a:srgbClr val="58A5DA"/>
    <a:srgbClr val="30589B"/>
    <a:srgbClr val="4468A5"/>
    <a:srgbClr val="59CA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varScale="1">
        <p:scale>
          <a:sx n="95" d="100"/>
          <a:sy n="95" d="100"/>
        </p:scale>
        <p:origin x="870" y="90"/>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F8B1FFAE-A19D-4DD0-B5F0-3DCE4855B29E}"/>
    <pc:docChg chg="undo custSel addSld delSld modSld sldOrd">
      <pc:chgData name="Taylor Davis" userId="5c9e72a0-c39f-4aa1-9d7d-64125e78cbe6" providerId="ADAL" clId="{F8B1FFAE-A19D-4DD0-B5F0-3DCE4855B29E}" dt="2024-08-18T01:48:41.415" v="364" actId="20577"/>
      <pc:docMkLst>
        <pc:docMk/>
      </pc:docMkLst>
      <pc:sldChg chg="addSp modSp mod ord">
        <pc:chgData name="Taylor Davis" userId="5c9e72a0-c39f-4aa1-9d7d-64125e78cbe6" providerId="ADAL" clId="{F8B1FFAE-A19D-4DD0-B5F0-3DCE4855B29E}" dt="2024-08-18T01:43:19.030" v="220"/>
        <pc:sldMkLst>
          <pc:docMk/>
          <pc:sldMk cId="0" sldId="256"/>
        </pc:sldMkLst>
        <pc:graphicFrameChg chg="add mod modGraphic">
          <ac:chgData name="Taylor Davis" userId="5c9e72a0-c39f-4aa1-9d7d-64125e78cbe6" providerId="ADAL" clId="{F8B1FFAE-A19D-4DD0-B5F0-3DCE4855B29E}" dt="2024-08-18T01:43:19.030" v="220"/>
          <ac:graphicFrameMkLst>
            <pc:docMk/>
            <pc:sldMk cId="0" sldId="256"/>
            <ac:graphicFrameMk id="2" creationId="{F11A0CA4-D2B6-179C-B405-123C8205BAA3}"/>
          </ac:graphicFrameMkLst>
        </pc:graphicFrameChg>
      </pc:sldChg>
      <pc:sldChg chg="modSp mod">
        <pc:chgData name="Taylor Davis" userId="5c9e72a0-c39f-4aa1-9d7d-64125e78cbe6" providerId="ADAL" clId="{F8B1FFAE-A19D-4DD0-B5F0-3DCE4855B29E}" dt="2024-08-18T01:41:42.603" v="106" actId="313"/>
        <pc:sldMkLst>
          <pc:docMk/>
          <pc:sldMk cId="3958060990" sldId="458"/>
        </pc:sldMkLst>
        <pc:spChg chg="mod">
          <ac:chgData name="Taylor Davis" userId="5c9e72a0-c39f-4aa1-9d7d-64125e78cbe6" providerId="ADAL" clId="{F8B1FFAE-A19D-4DD0-B5F0-3DCE4855B29E}" dt="2024-08-18T01:41:42.603" v="106" actId="313"/>
          <ac:spMkLst>
            <pc:docMk/>
            <pc:sldMk cId="3958060990" sldId="458"/>
            <ac:spMk id="5" creationId="{F78CFBEA-CEF2-471A-842D-8314716A34E9}"/>
          </ac:spMkLst>
        </pc:spChg>
      </pc:sldChg>
      <pc:sldChg chg="modSp mod">
        <pc:chgData name="Taylor Davis" userId="5c9e72a0-c39f-4aa1-9d7d-64125e78cbe6" providerId="ADAL" clId="{F8B1FFAE-A19D-4DD0-B5F0-3DCE4855B29E}" dt="2024-08-18T01:41:47.639" v="108" actId="313"/>
        <pc:sldMkLst>
          <pc:docMk/>
          <pc:sldMk cId="902706633" sldId="461"/>
        </pc:sldMkLst>
        <pc:spChg chg="mod">
          <ac:chgData name="Taylor Davis" userId="5c9e72a0-c39f-4aa1-9d7d-64125e78cbe6" providerId="ADAL" clId="{F8B1FFAE-A19D-4DD0-B5F0-3DCE4855B29E}" dt="2024-08-18T01:41:45.946" v="107" actId="313"/>
          <ac:spMkLst>
            <pc:docMk/>
            <pc:sldMk cId="902706633" sldId="461"/>
            <ac:spMk id="9" creationId="{CA0477AD-A883-49D0-84C0-1846E555302E}"/>
          </ac:spMkLst>
        </pc:spChg>
        <pc:spChg chg="mod">
          <ac:chgData name="Taylor Davis" userId="5c9e72a0-c39f-4aa1-9d7d-64125e78cbe6" providerId="ADAL" clId="{F8B1FFAE-A19D-4DD0-B5F0-3DCE4855B29E}" dt="2024-08-18T01:41:47.639" v="108" actId="313"/>
          <ac:spMkLst>
            <pc:docMk/>
            <pc:sldMk cId="902706633" sldId="461"/>
            <ac:spMk id="10" creationId="{97E1BE5C-BB73-4F75-AB8A-06D533303EDE}"/>
          </ac:spMkLst>
        </pc:spChg>
      </pc:sldChg>
      <pc:sldChg chg="modSp mod">
        <pc:chgData name="Taylor Davis" userId="5c9e72a0-c39f-4aa1-9d7d-64125e78cbe6" providerId="ADAL" clId="{F8B1FFAE-A19D-4DD0-B5F0-3DCE4855B29E}" dt="2024-08-18T01:41:51.382" v="110" actId="313"/>
        <pc:sldMkLst>
          <pc:docMk/>
          <pc:sldMk cId="3804806607" sldId="462"/>
        </pc:sldMkLst>
        <pc:spChg chg="mod">
          <ac:chgData name="Taylor Davis" userId="5c9e72a0-c39f-4aa1-9d7d-64125e78cbe6" providerId="ADAL" clId="{F8B1FFAE-A19D-4DD0-B5F0-3DCE4855B29E}" dt="2024-08-18T01:41:51.382" v="110" actId="313"/>
          <ac:spMkLst>
            <pc:docMk/>
            <pc:sldMk cId="3804806607" sldId="462"/>
            <ac:spMk id="5" creationId="{2FF25A3A-C156-4EF4-AAF0-4C022A00A18A}"/>
          </ac:spMkLst>
        </pc:spChg>
      </pc:sldChg>
      <pc:sldChg chg="modSp mod">
        <pc:chgData name="Taylor Davis" userId="5c9e72a0-c39f-4aa1-9d7d-64125e78cbe6" providerId="ADAL" clId="{F8B1FFAE-A19D-4DD0-B5F0-3DCE4855B29E}" dt="2024-08-18T01:41:52.723" v="111" actId="313"/>
        <pc:sldMkLst>
          <pc:docMk/>
          <pc:sldMk cId="2680122054" sldId="469"/>
        </pc:sldMkLst>
        <pc:spChg chg="mod">
          <ac:chgData name="Taylor Davis" userId="5c9e72a0-c39f-4aa1-9d7d-64125e78cbe6" providerId="ADAL" clId="{F8B1FFAE-A19D-4DD0-B5F0-3DCE4855B29E}" dt="2024-08-18T01:41:52.723" v="111" actId="313"/>
          <ac:spMkLst>
            <pc:docMk/>
            <pc:sldMk cId="2680122054" sldId="469"/>
            <ac:spMk id="2" creationId="{EE4CC181-8C0A-4FE1-B12F-4C934443F672}"/>
          </ac:spMkLst>
        </pc:spChg>
      </pc:sldChg>
      <pc:sldChg chg="addSp delSp modSp mod">
        <pc:chgData name="Taylor Davis" userId="5c9e72a0-c39f-4aa1-9d7d-64125e78cbe6" providerId="ADAL" clId="{F8B1FFAE-A19D-4DD0-B5F0-3DCE4855B29E}" dt="2024-08-18T01:45:15.191" v="249" actId="20577"/>
        <pc:sldMkLst>
          <pc:docMk/>
          <pc:sldMk cId="2203540903" sldId="499"/>
        </pc:sldMkLst>
        <pc:spChg chg="mod">
          <ac:chgData name="Taylor Davis" userId="5c9e72a0-c39f-4aa1-9d7d-64125e78cbe6" providerId="ADAL" clId="{F8B1FFAE-A19D-4DD0-B5F0-3DCE4855B29E}" dt="2024-08-18T01:45:15.191" v="249" actId="20577"/>
          <ac:spMkLst>
            <pc:docMk/>
            <pc:sldMk cId="2203540903" sldId="499"/>
            <ac:spMk id="9" creationId="{AB8821D0-DEDE-002D-E87D-13E033D5D75F}"/>
          </ac:spMkLst>
        </pc:spChg>
        <pc:graphicFrameChg chg="add mod modGraphic">
          <ac:chgData name="Taylor Davis" userId="5c9e72a0-c39f-4aa1-9d7d-64125e78cbe6" providerId="ADAL" clId="{F8B1FFAE-A19D-4DD0-B5F0-3DCE4855B29E}" dt="2024-08-18T01:41:39.118" v="105" actId="313"/>
          <ac:graphicFrameMkLst>
            <pc:docMk/>
            <pc:sldMk cId="2203540903" sldId="499"/>
            <ac:graphicFrameMk id="6" creationId="{21FA2BEE-6CEA-6AC5-F892-48B7EF3E06C7}"/>
          </ac:graphicFrameMkLst>
        </pc:graphicFrameChg>
        <pc:picChg chg="del">
          <ac:chgData name="Taylor Davis" userId="5c9e72a0-c39f-4aa1-9d7d-64125e78cbe6" providerId="ADAL" clId="{F8B1FFAE-A19D-4DD0-B5F0-3DCE4855B29E}" dt="2024-08-17T14:21:53.137" v="23" actId="478"/>
          <ac:picMkLst>
            <pc:docMk/>
            <pc:sldMk cId="2203540903" sldId="499"/>
            <ac:picMk id="2" creationId="{F156B909-05C2-E261-19DB-5B7A9C2F758B}"/>
          </ac:picMkLst>
        </pc:picChg>
      </pc:sldChg>
      <pc:sldChg chg="modSp mod">
        <pc:chgData name="Taylor Davis" userId="5c9e72a0-c39f-4aa1-9d7d-64125e78cbe6" providerId="ADAL" clId="{F8B1FFAE-A19D-4DD0-B5F0-3DCE4855B29E}" dt="2024-08-18T01:48:41.415" v="364" actId="20577"/>
        <pc:sldMkLst>
          <pc:docMk/>
          <pc:sldMk cId="1419816550" sldId="536"/>
        </pc:sldMkLst>
        <pc:spChg chg="mod">
          <ac:chgData name="Taylor Davis" userId="5c9e72a0-c39f-4aa1-9d7d-64125e78cbe6" providerId="ADAL" clId="{F8B1FFAE-A19D-4DD0-B5F0-3DCE4855B29E}" dt="2024-08-18T01:48:41.415" v="364" actId="20577"/>
          <ac:spMkLst>
            <pc:docMk/>
            <pc:sldMk cId="1419816550" sldId="536"/>
            <ac:spMk id="7" creationId="{C690F22E-C9CA-61DC-5584-149573110610}"/>
          </ac:spMkLst>
        </pc:spChg>
        <pc:graphicFrameChg chg="modGraphic">
          <ac:chgData name="Taylor Davis" userId="5c9e72a0-c39f-4aa1-9d7d-64125e78cbe6" providerId="ADAL" clId="{F8B1FFAE-A19D-4DD0-B5F0-3DCE4855B29E}" dt="2024-08-18T01:41:54.650" v="112" actId="313"/>
          <ac:graphicFrameMkLst>
            <pc:docMk/>
            <pc:sldMk cId="1419816550" sldId="536"/>
            <ac:graphicFrameMk id="6" creationId="{176BAF2A-5136-E457-9AAC-D0878752F10C}"/>
          </ac:graphicFrameMkLst>
        </pc:graphicFrameChg>
        <pc:graphicFrameChg chg="modGraphic">
          <ac:chgData name="Taylor Davis" userId="5c9e72a0-c39f-4aa1-9d7d-64125e78cbe6" providerId="ADAL" clId="{F8B1FFAE-A19D-4DD0-B5F0-3DCE4855B29E}" dt="2024-08-18T01:41:55.483" v="113" actId="313"/>
          <ac:graphicFrameMkLst>
            <pc:docMk/>
            <pc:sldMk cId="1419816550" sldId="536"/>
            <ac:graphicFrameMk id="16" creationId="{32A51F3A-032C-30E2-F635-DD59B5A29A34}"/>
          </ac:graphicFrameMkLst>
        </pc:graphicFrameChg>
      </pc:sldChg>
      <pc:sldChg chg="addSp delSp modSp mod">
        <pc:chgData name="Taylor Davis" userId="5c9e72a0-c39f-4aa1-9d7d-64125e78cbe6" providerId="ADAL" clId="{F8B1FFAE-A19D-4DD0-B5F0-3DCE4855B29E}" dt="2024-08-17T14:20:29.565" v="22" actId="1076"/>
        <pc:sldMkLst>
          <pc:docMk/>
          <pc:sldMk cId="315794589" sldId="548"/>
        </pc:sldMkLst>
        <pc:picChg chg="add del">
          <ac:chgData name="Taylor Davis" userId="5c9e72a0-c39f-4aa1-9d7d-64125e78cbe6" providerId="ADAL" clId="{F8B1FFAE-A19D-4DD0-B5F0-3DCE4855B29E}" dt="2024-08-17T14:20:17.625" v="17" actId="478"/>
          <ac:picMkLst>
            <pc:docMk/>
            <pc:sldMk cId="315794589" sldId="548"/>
            <ac:picMk id="2" creationId="{34260373-93DD-C051-5A2C-4C5642C9EE93}"/>
          </ac:picMkLst>
        </pc:picChg>
        <pc:picChg chg="add del mod">
          <ac:chgData name="Taylor Davis" userId="5c9e72a0-c39f-4aa1-9d7d-64125e78cbe6" providerId="ADAL" clId="{F8B1FFAE-A19D-4DD0-B5F0-3DCE4855B29E}" dt="2024-08-17T14:12:59.373" v="7"/>
          <ac:picMkLst>
            <pc:docMk/>
            <pc:sldMk cId="315794589" sldId="548"/>
            <ac:picMk id="6" creationId="{6E371A6A-27F0-1316-9F27-0A59529FF6B9}"/>
          </ac:picMkLst>
        </pc:picChg>
        <pc:picChg chg="add mod">
          <ac:chgData name="Taylor Davis" userId="5c9e72a0-c39f-4aa1-9d7d-64125e78cbe6" providerId="ADAL" clId="{F8B1FFAE-A19D-4DD0-B5F0-3DCE4855B29E}" dt="2024-08-17T14:20:29.565" v="22" actId="1076"/>
          <ac:picMkLst>
            <pc:docMk/>
            <pc:sldMk cId="315794589" sldId="548"/>
            <ac:picMk id="10" creationId="{BBD96C2F-A3C4-509B-1A2C-70886931B735}"/>
          </ac:picMkLst>
        </pc:picChg>
      </pc:sldChg>
      <pc:sldChg chg="modSp mod">
        <pc:chgData name="Taylor Davis" userId="5c9e72a0-c39f-4aa1-9d7d-64125e78cbe6" providerId="ADAL" clId="{F8B1FFAE-A19D-4DD0-B5F0-3DCE4855B29E}" dt="2024-08-18T01:43:33.925" v="222" actId="20577"/>
        <pc:sldMkLst>
          <pc:docMk/>
          <pc:sldMk cId="263972108" sldId="549"/>
        </pc:sldMkLst>
        <pc:spChg chg="mod">
          <ac:chgData name="Taylor Davis" userId="5c9e72a0-c39f-4aa1-9d7d-64125e78cbe6" providerId="ADAL" clId="{F8B1FFAE-A19D-4DD0-B5F0-3DCE4855B29E}" dt="2024-08-18T01:43:33.925" v="222" actId="20577"/>
          <ac:spMkLst>
            <pc:docMk/>
            <pc:sldMk cId="263972108" sldId="549"/>
            <ac:spMk id="9" creationId="{553571B1-9896-47E3-8ADF-78C38648412E}"/>
          </ac:spMkLst>
        </pc:spChg>
      </pc:sldChg>
      <pc:sldChg chg="addSp modSp mod">
        <pc:chgData name="Taylor Davis" userId="5c9e72a0-c39f-4aa1-9d7d-64125e78cbe6" providerId="ADAL" clId="{F8B1FFAE-A19D-4DD0-B5F0-3DCE4855B29E}" dt="2024-08-17T14:31:49.702" v="47" actId="20577"/>
        <pc:sldMkLst>
          <pc:docMk/>
          <pc:sldMk cId="0" sldId="571"/>
        </pc:sldMkLst>
        <pc:graphicFrameChg chg="add mod modGraphic">
          <ac:chgData name="Taylor Davis" userId="5c9e72a0-c39f-4aa1-9d7d-64125e78cbe6" providerId="ADAL" clId="{F8B1FFAE-A19D-4DD0-B5F0-3DCE4855B29E}" dt="2024-08-17T14:31:49.702" v="47" actId="20577"/>
          <ac:graphicFrameMkLst>
            <pc:docMk/>
            <pc:sldMk cId="0" sldId="571"/>
            <ac:graphicFrameMk id="2" creationId="{C82909A6-3793-08D6-C913-2A917E7AE3AE}"/>
          </ac:graphicFrameMkLst>
        </pc:graphicFrameChg>
      </pc:sldChg>
      <pc:sldChg chg="addSp modSp mod">
        <pc:chgData name="Taylor Davis" userId="5c9e72a0-c39f-4aa1-9d7d-64125e78cbe6" providerId="ADAL" clId="{F8B1FFAE-A19D-4DD0-B5F0-3DCE4855B29E}" dt="2024-08-18T01:43:19.030" v="220"/>
        <pc:sldMkLst>
          <pc:docMk/>
          <pc:sldMk cId="0" sldId="572"/>
        </pc:sldMkLst>
        <pc:graphicFrameChg chg="add mod modGraphic">
          <ac:chgData name="Taylor Davis" userId="5c9e72a0-c39f-4aa1-9d7d-64125e78cbe6" providerId="ADAL" clId="{F8B1FFAE-A19D-4DD0-B5F0-3DCE4855B29E}" dt="2024-08-18T01:43:19.030" v="220"/>
          <ac:graphicFrameMkLst>
            <pc:docMk/>
            <pc:sldMk cId="0" sldId="572"/>
            <ac:graphicFrameMk id="2" creationId="{04B91B00-103B-A906-EBAA-733B906FA836}"/>
          </ac:graphicFrameMkLst>
        </pc:graphicFrameChg>
      </pc:sldChg>
      <pc:sldChg chg="del">
        <pc:chgData name="Taylor Davis" userId="5c9e72a0-c39f-4aa1-9d7d-64125e78cbe6" providerId="ADAL" clId="{F8B1FFAE-A19D-4DD0-B5F0-3DCE4855B29E}" dt="2024-08-17T14:32:48.817" v="49" actId="47"/>
        <pc:sldMkLst>
          <pc:docMk/>
          <pc:sldMk cId="0" sldId="573"/>
        </pc:sldMkLst>
      </pc:sldChg>
      <pc:sldChg chg="addSp modSp mod">
        <pc:chgData name="Taylor Davis" userId="5c9e72a0-c39f-4aa1-9d7d-64125e78cbe6" providerId="ADAL" clId="{F8B1FFAE-A19D-4DD0-B5F0-3DCE4855B29E}" dt="2024-08-18T01:43:19.030" v="220"/>
        <pc:sldMkLst>
          <pc:docMk/>
          <pc:sldMk cId="1064222983" sldId="574"/>
        </pc:sldMkLst>
        <pc:graphicFrameChg chg="add mod modGraphic">
          <ac:chgData name="Taylor Davis" userId="5c9e72a0-c39f-4aa1-9d7d-64125e78cbe6" providerId="ADAL" clId="{F8B1FFAE-A19D-4DD0-B5F0-3DCE4855B29E}" dt="2024-08-18T01:43:19.030" v="220"/>
          <ac:graphicFrameMkLst>
            <pc:docMk/>
            <pc:sldMk cId="1064222983" sldId="574"/>
            <ac:graphicFrameMk id="2" creationId="{24B19CB6-F619-92EA-011B-2BD82D2D79EE}"/>
          </ac:graphicFrameMkLst>
        </pc:graphicFrameChg>
      </pc:sldChg>
      <pc:sldChg chg="del">
        <pc:chgData name="Taylor Davis" userId="5c9e72a0-c39f-4aa1-9d7d-64125e78cbe6" providerId="ADAL" clId="{F8B1FFAE-A19D-4DD0-B5F0-3DCE4855B29E}" dt="2024-08-17T14:32:48.817" v="49" actId="47"/>
        <pc:sldMkLst>
          <pc:docMk/>
          <pc:sldMk cId="3790917938" sldId="575"/>
        </pc:sldMkLst>
      </pc:sldChg>
      <pc:sldChg chg="del">
        <pc:chgData name="Taylor Davis" userId="5c9e72a0-c39f-4aa1-9d7d-64125e78cbe6" providerId="ADAL" clId="{F8B1FFAE-A19D-4DD0-B5F0-3DCE4855B29E}" dt="2024-08-17T14:32:48.817" v="49" actId="47"/>
        <pc:sldMkLst>
          <pc:docMk/>
          <pc:sldMk cId="250010407" sldId="576"/>
        </pc:sldMkLst>
      </pc:sldChg>
      <pc:sldChg chg="modSp mod">
        <pc:chgData name="Taylor Davis" userId="5c9e72a0-c39f-4aa1-9d7d-64125e78cbe6" providerId="ADAL" clId="{F8B1FFAE-A19D-4DD0-B5F0-3DCE4855B29E}" dt="2024-08-18T01:46:53.070" v="308" actId="20577"/>
        <pc:sldMkLst>
          <pc:docMk/>
          <pc:sldMk cId="3372743309" sldId="579"/>
        </pc:sldMkLst>
        <pc:spChg chg="mod">
          <ac:chgData name="Taylor Davis" userId="5c9e72a0-c39f-4aa1-9d7d-64125e78cbe6" providerId="ADAL" clId="{F8B1FFAE-A19D-4DD0-B5F0-3DCE4855B29E}" dt="2024-08-18T01:46:53.070" v="308" actId="20577"/>
          <ac:spMkLst>
            <pc:docMk/>
            <pc:sldMk cId="3372743309" sldId="579"/>
            <ac:spMk id="11" creationId="{802290A3-B694-4505-9BF2-D6CD7AF07C8B}"/>
          </ac:spMkLst>
        </pc:spChg>
        <pc:graphicFrameChg chg="modGraphic">
          <ac:chgData name="Taylor Davis" userId="5c9e72a0-c39f-4aa1-9d7d-64125e78cbe6" providerId="ADAL" clId="{F8B1FFAE-A19D-4DD0-B5F0-3DCE4855B29E}" dt="2024-08-18T01:46:37.545" v="277" actId="20577"/>
          <ac:graphicFrameMkLst>
            <pc:docMk/>
            <pc:sldMk cId="3372743309" sldId="579"/>
            <ac:graphicFrameMk id="5" creationId="{713AD275-CC86-F2BC-8594-AECC0B66117F}"/>
          </ac:graphicFrameMkLst>
        </pc:graphicFrameChg>
      </pc:sldChg>
      <pc:sldChg chg="modSp mod">
        <pc:chgData name="Taylor Davis" userId="5c9e72a0-c39f-4aa1-9d7d-64125e78cbe6" providerId="ADAL" clId="{F8B1FFAE-A19D-4DD0-B5F0-3DCE4855B29E}" dt="2024-08-18T01:44:02.021" v="243" actId="20577"/>
        <pc:sldMkLst>
          <pc:docMk/>
          <pc:sldMk cId="1234179566" sldId="580"/>
        </pc:sldMkLst>
        <pc:spChg chg="mod">
          <ac:chgData name="Taylor Davis" userId="5c9e72a0-c39f-4aa1-9d7d-64125e78cbe6" providerId="ADAL" clId="{F8B1FFAE-A19D-4DD0-B5F0-3DCE4855B29E}" dt="2024-08-18T01:44:02.021" v="243" actId="20577"/>
          <ac:spMkLst>
            <pc:docMk/>
            <pc:sldMk cId="1234179566" sldId="580"/>
            <ac:spMk id="6" creationId="{869C0219-52DA-48A1-B7B2-E6F8C4FBD3C3}"/>
          </ac:spMkLst>
        </pc:spChg>
      </pc:sldChg>
      <pc:sldChg chg="addSp modSp mod">
        <pc:chgData name="Taylor Davis" userId="5c9e72a0-c39f-4aa1-9d7d-64125e78cbe6" providerId="ADAL" clId="{F8B1FFAE-A19D-4DD0-B5F0-3DCE4855B29E}" dt="2024-08-18T01:44:29.703" v="245" actId="20577"/>
        <pc:sldMkLst>
          <pc:docMk/>
          <pc:sldMk cId="1527749340" sldId="581"/>
        </pc:sldMkLst>
        <pc:spChg chg="mod">
          <ac:chgData name="Taylor Davis" userId="5c9e72a0-c39f-4aa1-9d7d-64125e78cbe6" providerId="ADAL" clId="{F8B1FFAE-A19D-4DD0-B5F0-3DCE4855B29E}" dt="2024-08-18T01:44:29.703" v="245" actId="20577"/>
          <ac:spMkLst>
            <pc:docMk/>
            <pc:sldMk cId="1527749340" sldId="581"/>
            <ac:spMk id="13" creationId="{025AE6BF-C458-13D4-626E-DAD4C1439055}"/>
          </ac:spMkLst>
        </pc:spChg>
        <pc:spChg chg="mod">
          <ac:chgData name="Taylor Davis" userId="5c9e72a0-c39f-4aa1-9d7d-64125e78cbe6" providerId="ADAL" clId="{F8B1FFAE-A19D-4DD0-B5F0-3DCE4855B29E}" dt="2024-08-17T14:19:54.349" v="15" actId="1076"/>
          <ac:spMkLst>
            <pc:docMk/>
            <pc:sldMk cId="1527749340" sldId="581"/>
            <ac:spMk id="33" creationId="{376A62E0-771C-54FE-B757-DC2BCD4ECC0D}"/>
          </ac:spMkLst>
        </pc:spChg>
        <pc:spChg chg="mod">
          <ac:chgData name="Taylor Davis" userId="5c9e72a0-c39f-4aa1-9d7d-64125e78cbe6" providerId="ADAL" clId="{F8B1FFAE-A19D-4DD0-B5F0-3DCE4855B29E}" dt="2024-08-17T14:19:59.198" v="16" actId="1076"/>
          <ac:spMkLst>
            <pc:docMk/>
            <pc:sldMk cId="1527749340" sldId="581"/>
            <ac:spMk id="34" creationId="{E8334A4D-A904-88CB-EA92-AD56511A56D6}"/>
          </ac:spMkLst>
        </pc:spChg>
        <pc:picChg chg="add mod ord">
          <ac:chgData name="Taylor Davis" userId="5c9e72a0-c39f-4aa1-9d7d-64125e78cbe6" providerId="ADAL" clId="{F8B1FFAE-A19D-4DD0-B5F0-3DCE4855B29E}" dt="2024-08-17T14:19:51.293" v="14" actId="167"/>
          <ac:picMkLst>
            <pc:docMk/>
            <pc:sldMk cId="1527749340" sldId="581"/>
            <ac:picMk id="10" creationId="{CDC0C6C2-0502-5F8F-266D-2F79E43896DC}"/>
          </ac:picMkLst>
        </pc:picChg>
      </pc:sldChg>
      <pc:sldChg chg="modSp add mod">
        <pc:chgData name="Taylor Davis" userId="5c9e72a0-c39f-4aa1-9d7d-64125e78cbe6" providerId="ADAL" clId="{F8B1FFAE-A19D-4DD0-B5F0-3DCE4855B29E}" dt="2024-08-18T01:43:19.030" v="220"/>
        <pc:sldMkLst>
          <pc:docMk/>
          <pc:sldMk cId="1757329688" sldId="586"/>
        </pc:sldMkLst>
        <pc:graphicFrameChg chg="mod modGraphic">
          <ac:chgData name="Taylor Davis" userId="5c9e72a0-c39f-4aa1-9d7d-64125e78cbe6" providerId="ADAL" clId="{F8B1FFAE-A19D-4DD0-B5F0-3DCE4855B29E}" dt="2024-08-18T01:43:19.030" v="220"/>
          <ac:graphicFrameMkLst>
            <pc:docMk/>
            <pc:sldMk cId="1757329688" sldId="586"/>
            <ac:graphicFrameMk id="2" creationId="{24B19CB6-F619-92EA-011B-2BD82D2D79EE}"/>
          </ac:graphicFrameMkLst>
        </pc:graphicFrameChg>
      </pc:sldChg>
      <pc:sldChg chg="add del">
        <pc:chgData name="Taylor Davis" userId="5c9e72a0-c39f-4aa1-9d7d-64125e78cbe6" providerId="ADAL" clId="{F8B1FFAE-A19D-4DD0-B5F0-3DCE4855B29E}" dt="2024-08-17T14:34:30.415" v="65"/>
        <pc:sldMkLst>
          <pc:docMk/>
          <pc:sldMk cId="2976491874" sldId="586"/>
        </pc:sldMkLst>
      </pc:sldChg>
      <pc:sldChg chg="add del">
        <pc:chgData name="Taylor Davis" userId="5c9e72a0-c39f-4aa1-9d7d-64125e78cbe6" providerId="ADAL" clId="{F8B1FFAE-A19D-4DD0-B5F0-3DCE4855B29E}" dt="2024-08-17T14:34:28.402" v="64"/>
        <pc:sldMkLst>
          <pc:docMk/>
          <pc:sldMk cId="730934351" sldId="587"/>
        </pc:sldMkLst>
      </pc:sldChg>
      <pc:sldChg chg="modSp add mod">
        <pc:chgData name="Taylor Davis" userId="5c9e72a0-c39f-4aa1-9d7d-64125e78cbe6" providerId="ADAL" clId="{F8B1FFAE-A19D-4DD0-B5F0-3DCE4855B29E}" dt="2024-08-18T01:43:19.030" v="220"/>
        <pc:sldMkLst>
          <pc:docMk/>
          <pc:sldMk cId="1831031829" sldId="587"/>
        </pc:sldMkLst>
        <pc:graphicFrameChg chg="mod modGraphic">
          <ac:chgData name="Taylor Davis" userId="5c9e72a0-c39f-4aa1-9d7d-64125e78cbe6" providerId="ADAL" clId="{F8B1FFAE-A19D-4DD0-B5F0-3DCE4855B29E}" dt="2024-08-18T01:43:19.030" v="220"/>
          <ac:graphicFrameMkLst>
            <pc:docMk/>
            <pc:sldMk cId="1831031829" sldId="587"/>
            <ac:graphicFrameMk id="2" creationId="{04B91B00-103B-A906-EBAA-733B906FA836}"/>
          </ac:graphicFrameMkLst>
        </pc:graphicFrameChg>
      </pc:sldChg>
      <pc:sldChg chg="add del">
        <pc:chgData name="Taylor Davis" userId="5c9e72a0-c39f-4aa1-9d7d-64125e78cbe6" providerId="ADAL" clId="{F8B1FFAE-A19D-4DD0-B5F0-3DCE4855B29E}" dt="2024-08-17T14:34:27.930" v="63"/>
        <pc:sldMkLst>
          <pc:docMk/>
          <pc:sldMk cId="1168532954" sldId="588"/>
        </pc:sldMkLst>
      </pc:sldChg>
      <pc:sldChg chg="modSp add mod">
        <pc:chgData name="Taylor Davis" userId="5c9e72a0-c39f-4aa1-9d7d-64125e78cbe6" providerId="ADAL" clId="{F8B1FFAE-A19D-4DD0-B5F0-3DCE4855B29E}" dt="2024-08-18T01:43:19.030" v="220"/>
        <pc:sldMkLst>
          <pc:docMk/>
          <pc:sldMk cId="3692785024" sldId="588"/>
        </pc:sldMkLst>
        <pc:graphicFrameChg chg="mod modGraphic">
          <ac:chgData name="Taylor Davis" userId="5c9e72a0-c39f-4aa1-9d7d-64125e78cbe6" providerId="ADAL" clId="{F8B1FFAE-A19D-4DD0-B5F0-3DCE4855B29E}" dt="2024-08-18T01:43:19.030" v="220"/>
          <ac:graphicFrameMkLst>
            <pc:docMk/>
            <pc:sldMk cId="3692785024" sldId="588"/>
            <ac:graphicFrameMk id="2" creationId="{F11A0CA4-D2B6-179C-B405-123C8205BAA3}"/>
          </ac:graphicFrameMkLst>
        </pc:graphicFrameChg>
      </pc:sldChg>
    </pc:docChg>
  </pc:docChgLst>
  <pc:docChgLst>
    <pc:chgData name="Taylor Davis" userId="5c9e72a0-c39f-4aa1-9d7d-64125e78cbe6" providerId="ADAL" clId="{0971E92B-6CF9-4753-BA80-96B707AF07F2}"/>
    <pc:docChg chg="undo custSel modSld">
      <pc:chgData name="Taylor Davis" userId="5c9e72a0-c39f-4aa1-9d7d-64125e78cbe6" providerId="ADAL" clId="{0971E92B-6CF9-4753-BA80-96B707AF07F2}" dt="2024-09-10T23:49:13.204" v="4" actId="1076"/>
      <pc:docMkLst>
        <pc:docMk/>
      </pc:docMkLst>
      <pc:sldChg chg="addSp delSp modSp mod">
        <pc:chgData name="Taylor Davis" userId="5c9e72a0-c39f-4aa1-9d7d-64125e78cbe6" providerId="ADAL" clId="{0971E92B-6CF9-4753-BA80-96B707AF07F2}" dt="2024-09-10T23:49:13.204" v="4" actId="1076"/>
        <pc:sldMkLst>
          <pc:docMk/>
          <pc:sldMk cId="2203540903" sldId="499"/>
        </pc:sldMkLst>
        <pc:graphicFrameChg chg="add del mod">
          <ac:chgData name="Taylor Davis" userId="5c9e72a0-c39f-4aa1-9d7d-64125e78cbe6" providerId="ADAL" clId="{0971E92B-6CF9-4753-BA80-96B707AF07F2}" dt="2024-09-10T23:49:13.204" v="4" actId="1076"/>
          <ac:graphicFrameMkLst>
            <pc:docMk/>
            <pc:sldMk cId="2203540903" sldId="499"/>
            <ac:graphicFrameMk id="2" creationId="{33F20683-2452-949E-C1B7-9A220E287531}"/>
          </ac:graphicFrameMkLst>
        </pc:graphicFrameChg>
        <pc:graphicFrameChg chg="del">
          <ac:chgData name="Taylor Davis" userId="5c9e72a0-c39f-4aa1-9d7d-64125e78cbe6" providerId="ADAL" clId="{0971E92B-6CF9-4753-BA80-96B707AF07F2}" dt="2024-09-10T23:49:09.741" v="3" actId="478"/>
          <ac:graphicFrameMkLst>
            <pc:docMk/>
            <pc:sldMk cId="2203540903" sldId="499"/>
            <ac:graphicFrameMk id="6" creationId="{21FA2BEE-6CEA-6AC5-F892-48B7EF3E06C7}"/>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image" Target="../media/image16.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image" Target="../media/image16.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JH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Just Health’s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Just Health</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JH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Just Health</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Just Health’s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9/9/2024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9/9/2024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9/9/2024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9/9/2024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9/9/2024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9/9/2024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9/9/2024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9/9/2024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9/9/2024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9/9/2024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9/9/2024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9/9/2024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9/9/2024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5.jpeg"/><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image" Target="../media/image19.png"/><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jpeg"/><Relationship Id="rId4" Type="http://schemas.openxmlformats.org/officeDocument/2006/relationships/image" Target="../media/image21.png"/><Relationship Id="rId9"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0.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0.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jpeg"/><Relationship Id="rId1" Type="http://schemas.openxmlformats.org/officeDocument/2006/relationships/slideLayout" Target="../slideLayouts/slideLayout6.xml"/><Relationship Id="rId6" Type="http://schemas.openxmlformats.org/officeDocument/2006/relationships/image" Target="../media/image38.svg"/><Relationship Id="rId11" Type="http://schemas.openxmlformats.org/officeDocument/2006/relationships/image" Target="../media/image33.pn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August 19,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1026" name="Picture 2">
            <a:extLst>
              <a:ext uri="{FF2B5EF4-FFF2-40B4-BE49-F238E27FC236}">
                <a16:creationId xmlns:a16="http://schemas.microsoft.com/office/drawing/2014/main" id="{A8BF4670-4F3C-F2CA-4FB8-36B431830A8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437" b="22647"/>
          <a:stretch/>
        </p:blipFill>
        <p:spPr bwMode="auto">
          <a:xfrm>
            <a:off x="981075" y="1904135"/>
            <a:ext cx="11210925" cy="495386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EF21D31F-A4FE-48B7-B80D-F205765D6D4A}"/>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153402" y="435520"/>
            <a:ext cx="4004259" cy="1740982"/>
          </a:xfrm>
          <a:prstGeom prst="rect">
            <a:avLst/>
          </a:prstGeom>
        </p:spPr>
      </p:pic>
    </p:spTree>
    <p:extLst>
      <p:ext uri="{BB962C8B-B14F-4D97-AF65-F5344CB8AC3E}">
        <p14:creationId xmlns:p14="http://schemas.microsoft.com/office/powerpoint/2010/main" val="636727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Market Leader in Private-Labeled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a:alphaModFix amt="35000"/>
            <a:duotone>
              <a:schemeClr val="bg2">
                <a:shade val="45000"/>
                <a:satMod val="135000"/>
              </a:schemeClr>
              <a:prstClr val="white"/>
            </a:duotone>
            <a:extLst>
              <a:ext uri="{28A0092B-C50C-407E-A947-70E740481C1C}">
                <a14:useLocalDpi xmlns:a14="http://schemas.microsoft.com/office/drawing/2010/main" val="0"/>
              </a:ext>
            </a:extLst>
          </a:blip>
          <a:srcRect t="10741" b="7912"/>
          <a:stretch/>
        </p:blipFill>
        <p:spPr bwMode="auto">
          <a:xfrm>
            <a:off x="-5594" y="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B4D036B-CF91-40EF-88B5-63D0260D0147}"/>
              </a:ext>
            </a:extLst>
          </p:cNvPr>
          <p:cNvSpPr>
            <a:spLocks noGrp="1"/>
          </p:cNvSpPr>
          <p:nvPr>
            <p:ph type="title"/>
          </p:nvPr>
        </p:nvSpPr>
        <p:spPr>
          <a:xfrm>
            <a:off x="561975" y="320684"/>
            <a:ext cx="10515600" cy="1325563"/>
          </a:xfrm>
        </p:spPr>
        <p:txBody>
          <a:bodyPr>
            <a:normAutofit/>
          </a:bodyPr>
          <a:lstStyle/>
          <a:p>
            <a:r>
              <a:rPr lang="en-US" sz="3600" dirty="0">
                <a:solidFill>
                  <a:schemeClr val="tx1">
                    <a:lumMod val="75000"/>
                    <a:lumOff val="25000"/>
                  </a:schemeClr>
                </a:solidFill>
              </a:rPr>
              <a:t>Key Incentive Plan (KIP) Profit Generation Opportunities for Just Health</a:t>
            </a:r>
          </a:p>
        </p:txBody>
      </p:sp>
      <p:sp>
        <p:nvSpPr>
          <p:cNvPr id="25"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3</a:t>
            </a:fld>
            <a:endParaRPr lang="en-US" dirty="0"/>
          </a:p>
        </p:txBody>
      </p:sp>
      <p:sp>
        <p:nvSpPr>
          <p:cNvPr id="5"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p>
        </p:txBody>
      </p:sp>
      <p:grpSp>
        <p:nvGrpSpPr>
          <p:cNvPr id="12" name="Group 11">
            <a:extLst>
              <a:ext uri="{FF2B5EF4-FFF2-40B4-BE49-F238E27FC236}">
                <a16:creationId xmlns:a16="http://schemas.microsoft.com/office/drawing/2014/main" id="{757FA25C-8EB6-4C31-9C3C-8A0215C1E657}"/>
              </a:ext>
            </a:extLst>
          </p:cNvPr>
          <p:cNvGrpSpPr/>
          <p:nvPr/>
        </p:nvGrpSpPr>
        <p:grpSpPr>
          <a:xfrm>
            <a:off x="740621" y="3205513"/>
            <a:ext cx="10705161" cy="2145203"/>
            <a:chOff x="539823" y="2622568"/>
            <a:chExt cx="3840480" cy="2145203"/>
          </a:xfrm>
        </p:grpSpPr>
        <p:sp>
          <p:nvSpPr>
            <p:cNvPr id="6" name="Rectangle 5">
              <a:extLst>
                <a:ext uri="{FF2B5EF4-FFF2-40B4-BE49-F238E27FC236}">
                  <a16:creationId xmlns:a16="http://schemas.microsoft.com/office/drawing/2014/main" id="{869C0219-52DA-48A1-B7B2-E6F8C4FBD3C3}"/>
                </a:ext>
              </a:extLst>
            </p:cNvPr>
            <p:cNvSpPr/>
            <p:nvPr/>
          </p:nvSpPr>
          <p:spPr>
            <a:xfrm>
              <a:off x="539823" y="2622568"/>
              <a:ext cx="1920240" cy="2145203"/>
            </a:xfrm>
            <a:prstGeom prst="rect">
              <a:avLst/>
            </a:prstGeom>
          </p:spPr>
          <p:txBody>
            <a:bodyPr wrap="square">
              <a:spAutoFit/>
            </a:bodyPr>
            <a:lstStyle/>
            <a:p>
              <a:pPr algn="ctr" defTabSz="914411">
                <a:lnSpc>
                  <a:spcPct val="90000"/>
                </a:lnSpc>
                <a:spcAft>
                  <a:spcPts val="1200"/>
                </a:spcAft>
                <a:buClr>
                  <a:schemeClr val="tx1"/>
                </a:buClr>
              </a:pPr>
              <a:r>
                <a:rPr lang="en-US" b="1" dirty="0"/>
                <a:t>Patient Steerage</a:t>
              </a:r>
            </a:p>
            <a:p>
              <a:pPr algn="ctr" defTabSz="914411">
                <a:lnSpc>
                  <a:spcPct val="90000"/>
                </a:lnSpc>
                <a:spcAft>
                  <a:spcPts val="1200"/>
                </a:spcAft>
                <a:buClr>
                  <a:schemeClr val="tx1"/>
                </a:buClr>
              </a:pPr>
              <a:r>
                <a:rPr lang="en-US" dirty="0"/>
                <a:t>Covered members of the Key Incentive Plan are more likely to seek services with Just Health than they would be in a standard PPO plan because they receive indemnity benefits and the financing credit card. </a:t>
              </a:r>
            </a:p>
            <a:p>
              <a:pPr algn="ctr" defTabSz="914411">
                <a:lnSpc>
                  <a:spcPct val="90000"/>
                </a:lnSpc>
                <a:spcAft>
                  <a:spcPts val="1200"/>
                </a:spcAft>
                <a:buClr>
                  <a:schemeClr val="tx1"/>
                </a:buClr>
              </a:pPr>
              <a:r>
                <a:rPr lang="en-US" dirty="0"/>
                <a:t>These incentives increase </a:t>
              </a:r>
              <a:r>
                <a:rPr lang="en-US" dirty="0" err="1"/>
                <a:t>CarePoint’s</a:t>
              </a:r>
              <a:r>
                <a:rPr lang="en-US" dirty="0"/>
                <a:t> commercial market share and commercial profit within this plan.</a:t>
              </a:r>
            </a:p>
          </p:txBody>
        </p:sp>
        <p:sp>
          <p:nvSpPr>
            <p:cNvPr id="7" name="Rectangle 6">
              <a:extLst>
                <a:ext uri="{FF2B5EF4-FFF2-40B4-BE49-F238E27FC236}">
                  <a16:creationId xmlns:a16="http://schemas.microsoft.com/office/drawing/2014/main" id="{8FCD729A-32AD-4303-8BA6-9EBD13F93D1C}"/>
                </a:ext>
              </a:extLst>
            </p:cNvPr>
            <p:cNvSpPr/>
            <p:nvPr/>
          </p:nvSpPr>
          <p:spPr>
            <a:xfrm>
              <a:off x="2460063" y="2622568"/>
              <a:ext cx="1920240" cy="2145203"/>
            </a:xfrm>
            <a:prstGeom prst="rect">
              <a:avLst/>
            </a:prstGeom>
          </p:spPr>
          <p:txBody>
            <a:bodyPr wrap="square">
              <a:spAutoFit/>
            </a:bodyPr>
            <a:lstStyle/>
            <a:p>
              <a:pPr algn="ctr" defTabSz="914411">
                <a:lnSpc>
                  <a:spcPct val="90000"/>
                </a:lnSpc>
                <a:spcAft>
                  <a:spcPts val="1200"/>
                </a:spcAft>
                <a:buClr>
                  <a:schemeClr val="tx1"/>
                </a:buClr>
              </a:pPr>
              <a:r>
                <a:rPr lang="en-US" b="1" dirty="0"/>
                <a:t>Increased Margin</a:t>
              </a:r>
            </a:p>
            <a:p>
              <a:pPr algn="ctr" defTabSz="914411">
                <a:lnSpc>
                  <a:spcPct val="90000"/>
                </a:lnSpc>
                <a:spcAft>
                  <a:spcPts val="1200"/>
                </a:spcAft>
                <a:buClr>
                  <a:schemeClr val="tx1"/>
                </a:buClr>
              </a:pPr>
              <a:r>
                <a:rPr lang="en-US" dirty="0"/>
                <a:t>Because of the partnership between Key Benefits, and because patients have a financing path for medical costs, Just Health can expect higher realized revenue per patient from members of the Key Incentive Plan. </a:t>
              </a:r>
            </a:p>
            <a:p>
              <a:pPr algn="ctr" defTabSz="914411">
                <a:lnSpc>
                  <a:spcPct val="90000"/>
                </a:lnSpc>
                <a:spcAft>
                  <a:spcPts val="1200"/>
                </a:spcAft>
                <a:buClr>
                  <a:schemeClr val="tx1"/>
                </a:buClr>
              </a:pPr>
              <a:r>
                <a:rPr lang="en-US" dirty="0"/>
                <a:t>This partnership increases Just Health’s realized revenue per patient and lowers collection costs. </a:t>
              </a:r>
            </a:p>
          </p:txBody>
        </p:sp>
      </p:grpSp>
      <p:cxnSp>
        <p:nvCxnSpPr>
          <p:cNvPr id="14"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1</a:t>
            </a:r>
          </a:p>
        </p:txBody>
      </p:sp>
      <p:sp>
        <p:nvSpPr>
          <p:cNvPr id="20"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t>2</a:t>
            </a:r>
          </a:p>
        </p:txBody>
      </p:sp>
    </p:spTree>
    <p:extLst>
      <p:ext uri="{BB962C8B-B14F-4D97-AF65-F5344CB8AC3E}">
        <p14:creationId xmlns:p14="http://schemas.microsoft.com/office/powerpoint/2010/main" val="1234179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graph on a screen&#10;&#10;Description automatically generated">
            <a:extLst>
              <a:ext uri="{FF2B5EF4-FFF2-40B4-BE49-F238E27FC236}">
                <a16:creationId xmlns:a16="http://schemas.microsoft.com/office/drawing/2014/main" id="{CABF90EA-3F81-155C-3AD9-289A4C11FA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4297" y="1867639"/>
            <a:ext cx="6559339" cy="4591537"/>
          </a:xfrm>
          <a:prstGeom prst="rect">
            <a:avLst/>
          </a:prstGeom>
        </p:spPr>
      </p:pic>
      <p:sp>
        <p:nvSpPr>
          <p:cNvPr id="20" name="Rectangle 19">
            <a:extLst>
              <a:ext uri="{FF2B5EF4-FFF2-40B4-BE49-F238E27FC236}">
                <a16:creationId xmlns:a16="http://schemas.microsoft.com/office/drawing/2014/main" id="{A1F948BD-D9F3-0E7A-A778-3B130A8365CE}"/>
              </a:ext>
            </a:extLst>
          </p:cNvPr>
          <p:cNvSpPr/>
          <p:nvPr/>
        </p:nvSpPr>
        <p:spPr>
          <a:xfrm>
            <a:off x="7554897" y="3022723"/>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1553028" y="365125"/>
            <a:ext cx="10458459" cy="1325563"/>
          </a:xfrm>
        </p:spPr>
        <p:txBody>
          <a:bodyPr>
            <a:normAutofit/>
          </a:bodyPr>
          <a:lstStyle/>
          <a:p>
            <a:r>
              <a:rPr lang="en-US" sz="3600" b="1" dirty="0">
                <a:solidFill>
                  <a:schemeClr val="tx1">
                    <a:lumMod val="85000"/>
                    <a:lumOff val="15000"/>
                  </a:schemeClr>
                </a:solidFill>
                <a:latin typeface="Arial" panose="020B0604020202020204" pitchFamily="34" charset="0"/>
                <a:cs typeface="Arial" panose="020B0604020202020204" pitchFamily="34" charset="0"/>
              </a:rPr>
              <a:t>Estimated Financial Returns and Assumptions</a:t>
            </a:r>
          </a:p>
        </p:txBody>
      </p:sp>
      <p:sp>
        <p:nvSpPr>
          <p:cNvPr id="4" name="Footer Placeholder 3">
            <a:extLst>
              <a:ext uri="{FF2B5EF4-FFF2-40B4-BE49-F238E27FC236}">
                <a16:creationId xmlns:a16="http://schemas.microsoft.com/office/drawing/2014/main" id="{5507C855-B839-95B6-9EA2-093923967C6B}"/>
              </a:ext>
            </a:extLst>
          </p:cNvPr>
          <p:cNvSpPr>
            <a:spLocks noGrp="1"/>
          </p:cNvSpPr>
          <p:nvPr>
            <p:ph type="ftr" sz="quarter" idx="11"/>
          </p:nvPr>
        </p:nvSpPr>
        <p:spPr>
          <a:xfrm>
            <a:off x="4038602" y="6490145"/>
            <a:ext cx="4114800" cy="250380"/>
          </a:xfrm>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7E7619F-9C66-420C-88E0-81D9A3B4FEB7}"/>
              </a:ext>
            </a:extLst>
          </p:cNvPr>
          <p:cNvSpPr>
            <a:spLocks noGrp="1"/>
          </p:cNvSpPr>
          <p:nvPr>
            <p:ph type="sldNum" sz="quarter" idx="12"/>
          </p:nvPr>
        </p:nvSpPr>
        <p:spPr>
          <a:xfrm>
            <a:off x="8610601" y="6490145"/>
            <a:ext cx="2743200" cy="250380"/>
          </a:xfrm>
        </p:spPr>
        <p:txBody>
          <a:bodyPr/>
          <a:lstStyle/>
          <a:p>
            <a:fld id="{3AFC719D-C4A7-4544-876E-D411D11AF6C9}" type="slidenum">
              <a:rPr lang="en-US" smtClean="0"/>
              <a:t>4</a:t>
            </a:fld>
            <a:endParaRPr lang="en-US" dirty="0"/>
          </a:p>
        </p:txBody>
      </p:sp>
      <p:sp>
        <p:nvSpPr>
          <p:cNvPr id="8" name="Rectangle 7">
            <a:extLst>
              <a:ext uri="{FF2B5EF4-FFF2-40B4-BE49-F238E27FC236}">
                <a16:creationId xmlns:a16="http://schemas.microsoft.com/office/drawing/2014/main" id="{55A48ACE-D370-6BA3-A39B-CF7D87E5C9A5}"/>
              </a:ext>
            </a:extLst>
          </p:cNvPr>
          <p:cNvSpPr/>
          <p:nvPr/>
        </p:nvSpPr>
        <p:spPr>
          <a:xfrm>
            <a:off x="7466120" y="1574676"/>
            <a:ext cx="4725880"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9386F57-8E81-E6DF-1A01-623E3BB7AB0B}"/>
              </a:ext>
            </a:extLst>
          </p:cNvPr>
          <p:cNvSpPr/>
          <p:nvPr/>
        </p:nvSpPr>
        <p:spPr>
          <a:xfrm>
            <a:off x="7168718" y="1574676"/>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B828AB6-CD3A-4CD3-8950-2942DDBEAC0D}"/>
              </a:ext>
            </a:extLst>
          </p:cNvPr>
          <p:cNvSpPr txBox="1"/>
          <p:nvPr/>
        </p:nvSpPr>
        <p:spPr>
          <a:xfrm>
            <a:off x="8019782" y="1667584"/>
            <a:ext cx="3618555"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Patient Steerage Assumptions</a:t>
            </a:r>
          </a:p>
        </p:txBody>
      </p:sp>
      <p:sp>
        <p:nvSpPr>
          <p:cNvPr id="13" name="TextBox 12">
            <a:extLst>
              <a:ext uri="{FF2B5EF4-FFF2-40B4-BE49-F238E27FC236}">
                <a16:creationId xmlns:a16="http://schemas.microsoft.com/office/drawing/2014/main" id="{025AE6BF-C458-13D4-626E-DAD4C1439055}"/>
              </a:ext>
            </a:extLst>
          </p:cNvPr>
          <p:cNvSpPr txBox="1"/>
          <p:nvPr/>
        </p:nvSpPr>
        <p:spPr>
          <a:xfrm>
            <a:off x="7466120" y="2250333"/>
            <a:ext cx="4616389" cy="577081"/>
          </a:xfrm>
          <a:prstGeom prst="rect">
            <a:avLst/>
          </a:prstGeom>
          <a:noFill/>
        </p:spPr>
        <p:txBody>
          <a:bodyPr wrap="square" rtlCol="0">
            <a:spAutoFit/>
          </a:bodyPr>
          <a:lstStyle/>
          <a:p>
            <a:r>
              <a:rPr lang="en-US" sz="1050" dirty="0">
                <a:solidFill/>
              </a:rPr>
              <a:t>KBA currently estimates that Just Health has 21% inpatient market share, and 13% outpatient market compared to hospitals/clinics in Union, Essex and Hudson Counties. We expect within-KIP steerage to increase to (inpatient/outpatient):</a:t>
            </a:r>
          </a:p>
        </p:txBody>
      </p:sp>
      <p:sp>
        <p:nvSpPr>
          <p:cNvPr id="14" name="TextBox 13">
            <a:extLst>
              <a:ext uri="{FF2B5EF4-FFF2-40B4-BE49-F238E27FC236}">
                <a16:creationId xmlns:a16="http://schemas.microsoft.com/office/drawing/2014/main" id="{179940AC-5161-4A7C-F820-720723177F99}"/>
              </a:ext>
            </a:extLst>
          </p:cNvPr>
          <p:cNvSpPr txBox="1"/>
          <p:nvPr/>
        </p:nvSpPr>
        <p:spPr>
          <a:xfrm>
            <a:off x="7785777" y="2987377"/>
            <a:ext cx="488916" cy="307777"/>
          </a:xfrm>
          <a:prstGeom prst="rect">
            <a:avLst/>
          </a:prstGeom>
          <a:noFill/>
        </p:spPr>
        <p:txBody>
          <a:bodyPr wrap="none" rtlCol="0">
            <a:spAutoFit/>
          </a:bodyPr>
          <a:lstStyle/>
          <a:p>
            <a:r>
              <a:rPr lang="en-US" sz="1400" b="1" dirty="0"/>
              <a:t>Low</a:t>
            </a:r>
          </a:p>
        </p:txBody>
      </p:sp>
      <p:sp>
        <p:nvSpPr>
          <p:cNvPr id="15" name="TextBox 14">
            <a:extLst>
              <a:ext uri="{FF2B5EF4-FFF2-40B4-BE49-F238E27FC236}">
                <a16:creationId xmlns:a16="http://schemas.microsoft.com/office/drawing/2014/main" id="{7AC10C26-8A4C-C6CF-D8A6-005227E091A5}"/>
              </a:ext>
            </a:extLst>
          </p:cNvPr>
          <p:cNvSpPr txBox="1"/>
          <p:nvPr/>
        </p:nvSpPr>
        <p:spPr>
          <a:xfrm>
            <a:off x="9529856" y="2975309"/>
            <a:ext cx="643509" cy="307777"/>
          </a:xfrm>
          <a:prstGeom prst="rect">
            <a:avLst/>
          </a:prstGeom>
          <a:noFill/>
        </p:spPr>
        <p:txBody>
          <a:bodyPr wrap="none" rtlCol="0">
            <a:spAutoFit/>
          </a:bodyPr>
          <a:lstStyle/>
          <a:p>
            <a:r>
              <a:rPr lang="en-US" sz="1400" b="1" dirty="0"/>
              <a:t>Target</a:t>
            </a:r>
          </a:p>
        </p:txBody>
      </p:sp>
      <p:sp>
        <p:nvSpPr>
          <p:cNvPr id="16" name="TextBox 15">
            <a:extLst>
              <a:ext uri="{FF2B5EF4-FFF2-40B4-BE49-F238E27FC236}">
                <a16:creationId xmlns:a16="http://schemas.microsoft.com/office/drawing/2014/main" id="{0D3F3B85-69EC-8FED-A956-FFB8BE6FE5D7}"/>
              </a:ext>
            </a:extLst>
          </p:cNvPr>
          <p:cNvSpPr txBox="1"/>
          <p:nvPr/>
        </p:nvSpPr>
        <p:spPr>
          <a:xfrm>
            <a:off x="11244106" y="2991243"/>
            <a:ext cx="524503" cy="307777"/>
          </a:xfrm>
          <a:prstGeom prst="rect">
            <a:avLst/>
          </a:prstGeom>
          <a:noFill/>
        </p:spPr>
        <p:txBody>
          <a:bodyPr wrap="none" rtlCol="0">
            <a:spAutoFit/>
          </a:bodyPr>
          <a:lstStyle/>
          <a:p>
            <a:r>
              <a:rPr lang="en-US" sz="1400" b="1" dirty="0"/>
              <a:t>High</a:t>
            </a:r>
          </a:p>
        </p:txBody>
      </p:sp>
      <p:sp>
        <p:nvSpPr>
          <p:cNvPr id="17" name="TextBox 16">
            <a:extLst>
              <a:ext uri="{FF2B5EF4-FFF2-40B4-BE49-F238E27FC236}">
                <a16:creationId xmlns:a16="http://schemas.microsoft.com/office/drawing/2014/main" id="{19FEE2C1-9161-C3CD-EE7F-6727C796DF0D}"/>
              </a:ext>
            </a:extLst>
          </p:cNvPr>
          <p:cNvSpPr txBox="1"/>
          <p:nvPr/>
        </p:nvSpPr>
        <p:spPr>
          <a:xfrm>
            <a:off x="7531093" y="3237256"/>
            <a:ext cx="1383712" cy="369332"/>
          </a:xfrm>
          <a:prstGeom prst="rect">
            <a:avLst/>
          </a:prstGeom>
          <a:noFill/>
        </p:spPr>
        <p:txBody>
          <a:bodyPr wrap="none" rtlCol="0">
            <a:spAutoFit/>
          </a:bodyPr>
          <a:lstStyle/>
          <a:p>
            <a:r>
              <a:rPr lang="en-US" dirty="0">
                <a:solidFill/>
              </a:rPr>
              <a:t>25%/15%</a:t>
            </a:r>
          </a:p>
        </p:txBody>
      </p:sp>
      <p:sp>
        <p:nvSpPr>
          <p:cNvPr id="18" name="TextBox 17">
            <a:extLst>
              <a:ext uri="{FF2B5EF4-FFF2-40B4-BE49-F238E27FC236}">
                <a16:creationId xmlns:a16="http://schemas.microsoft.com/office/drawing/2014/main" id="{1CC51BEE-0560-3D56-4AE8-86D704578774}"/>
              </a:ext>
            </a:extLst>
          </p:cNvPr>
          <p:cNvSpPr txBox="1"/>
          <p:nvPr/>
        </p:nvSpPr>
        <p:spPr>
          <a:xfrm>
            <a:off x="9358154" y="3237256"/>
            <a:ext cx="1383712" cy="369332"/>
          </a:xfrm>
          <a:prstGeom prst="rect">
            <a:avLst/>
          </a:prstGeom>
          <a:noFill/>
        </p:spPr>
        <p:txBody>
          <a:bodyPr wrap="none" rtlCol="0">
            <a:spAutoFit/>
          </a:bodyPr>
          <a:lstStyle/>
          <a:p>
            <a:r>
              <a:rPr lang="en-US" dirty="0">
                <a:solidFill/>
              </a:rPr>
              <a:t>27.5%/17.5%</a:t>
            </a:r>
          </a:p>
        </p:txBody>
      </p:sp>
      <p:sp>
        <p:nvSpPr>
          <p:cNvPr id="19" name="TextBox 18">
            <a:extLst>
              <a:ext uri="{FF2B5EF4-FFF2-40B4-BE49-F238E27FC236}">
                <a16:creationId xmlns:a16="http://schemas.microsoft.com/office/drawing/2014/main" id="{A17D3C89-20DF-71B2-E5D8-1DA9D1F926E7}"/>
              </a:ext>
            </a:extLst>
          </p:cNvPr>
          <p:cNvSpPr txBox="1"/>
          <p:nvPr/>
        </p:nvSpPr>
        <p:spPr>
          <a:xfrm>
            <a:off x="10996093" y="3237256"/>
            <a:ext cx="1383712" cy="369332"/>
          </a:xfrm>
          <a:prstGeom prst="rect">
            <a:avLst/>
          </a:prstGeom>
          <a:noFill/>
        </p:spPr>
        <p:txBody>
          <a:bodyPr wrap="none" rtlCol="0">
            <a:spAutoFit/>
          </a:bodyPr>
          <a:lstStyle/>
          <a:p>
            <a:r>
              <a:rPr lang="en-US" dirty="0">
                <a:solidFill/>
              </a:rPr>
              <a:t>30%/22%</a:t>
            </a:r>
          </a:p>
        </p:txBody>
      </p:sp>
      <p:sp>
        <p:nvSpPr>
          <p:cNvPr id="21" name="Rectangle 20">
            <a:extLst>
              <a:ext uri="{FF2B5EF4-FFF2-40B4-BE49-F238E27FC236}">
                <a16:creationId xmlns:a16="http://schemas.microsoft.com/office/drawing/2014/main" id="{620CA171-241C-9006-DA4D-7174E70B2EF3}"/>
              </a:ext>
            </a:extLst>
          </p:cNvPr>
          <p:cNvSpPr/>
          <p:nvPr/>
        </p:nvSpPr>
        <p:spPr>
          <a:xfrm>
            <a:off x="7597806" y="5348162"/>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D8E1912-BAE3-A76F-55A7-754D206BC471}"/>
              </a:ext>
            </a:extLst>
          </p:cNvPr>
          <p:cNvSpPr/>
          <p:nvPr/>
        </p:nvSpPr>
        <p:spPr>
          <a:xfrm>
            <a:off x="7509029" y="4095424"/>
            <a:ext cx="4682971" cy="585927"/>
          </a:xfrm>
          <a:prstGeom prst="rect">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2B9ED21-8D89-315C-4C9C-403AA9B2666A}"/>
              </a:ext>
            </a:extLst>
          </p:cNvPr>
          <p:cNvSpPr/>
          <p:nvPr/>
        </p:nvSpPr>
        <p:spPr>
          <a:xfrm>
            <a:off x="7211627" y="4095424"/>
            <a:ext cx="594804" cy="585927"/>
          </a:xfrm>
          <a:prstGeom prst="ellipse">
            <a:avLst/>
          </a:prstGeom>
          <a:solidFill>
            <a:srgbClr val="3058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50E697A-C380-A6EE-50AE-8B3DED34929F}"/>
              </a:ext>
            </a:extLst>
          </p:cNvPr>
          <p:cNvSpPr txBox="1"/>
          <p:nvPr/>
        </p:nvSpPr>
        <p:spPr>
          <a:xfrm>
            <a:off x="8062691" y="4188332"/>
            <a:ext cx="3932743" cy="400110"/>
          </a:xfrm>
          <a:prstGeom prst="rect">
            <a:avLst/>
          </a:prstGeom>
          <a:no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Commercial Margin Assumptions</a:t>
            </a:r>
          </a:p>
        </p:txBody>
      </p:sp>
      <p:sp>
        <p:nvSpPr>
          <p:cNvPr id="25" name="TextBox 24">
            <a:extLst>
              <a:ext uri="{FF2B5EF4-FFF2-40B4-BE49-F238E27FC236}">
                <a16:creationId xmlns:a16="http://schemas.microsoft.com/office/drawing/2014/main" id="{32C9D62D-25B0-6CD9-8AD7-E6855B1B1B26}"/>
              </a:ext>
            </a:extLst>
          </p:cNvPr>
          <p:cNvSpPr txBox="1"/>
          <p:nvPr/>
        </p:nvSpPr>
        <p:spPr>
          <a:xfrm>
            <a:off x="7509029" y="4771081"/>
            <a:ext cx="4616389" cy="577081"/>
          </a:xfrm>
          <a:prstGeom prst="rect">
            <a:avLst/>
          </a:prstGeom>
          <a:noFill/>
        </p:spPr>
        <p:txBody>
          <a:bodyPr wrap="square" rtlCol="0">
            <a:spAutoFit/>
          </a:bodyPr>
          <a:lstStyle/>
          <a:p>
            <a:r>
              <a:rPr lang="en-US" sz="1050" dirty="0">
                <a:solidFill/>
              </a:rPr>
              <a:t>KBA observes a Just Health 41.8% commercial margin</a:t>
            </a:r>
            <a:r>
              <a:rPr lang="en-US" sz="1050" dirty="0"/>
              <a:t>. We estimate that this margin will improve for patients covered by the KIP plan through higher collections as follows:</a:t>
            </a:r>
            <a:endParaRPr lang="en-US" sz="1050" dirty="0">
              <a:solidFill/>
            </a:endParaRPr>
          </a:p>
        </p:txBody>
      </p:sp>
      <p:sp>
        <p:nvSpPr>
          <p:cNvPr id="26" name="TextBox 25">
            <a:extLst>
              <a:ext uri="{FF2B5EF4-FFF2-40B4-BE49-F238E27FC236}">
                <a16:creationId xmlns:a16="http://schemas.microsoft.com/office/drawing/2014/main" id="{A76920ED-352E-9285-CC83-BDA6AB18978D}"/>
              </a:ext>
            </a:extLst>
          </p:cNvPr>
          <p:cNvSpPr txBox="1"/>
          <p:nvPr/>
        </p:nvSpPr>
        <p:spPr>
          <a:xfrm>
            <a:off x="7707395" y="5300748"/>
            <a:ext cx="488916" cy="307777"/>
          </a:xfrm>
          <a:prstGeom prst="rect">
            <a:avLst/>
          </a:prstGeom>
          <a:noFill/>
        </p:spPr>
        <p:txBody>
          <a:bodyPr wrap="none" rtlCol="0">
            <a:spAutoFit/>
          </a:bodyPr>
          <a:lstStyle/>
          <a:p>
            <a:r>
              <a:rPr lang="en-US" sz="1400" b="1" dirty="0"/>
              <a:t>Low</a:t>
            </a:r>
          </a:p>
        </p:txBody>
      </p:sp>
      <p:sp>
        <p:nvSpPr>
          <p:cNvPr id="27" name="TextBox 26">
            <a:extLst>
              <a:ext uri="{FF2B5EF4-FFF2-40B4-BE49-F238E27FC236}">
                <a16:creationId xmlns:a16="http://schemas.microsoft.com/office/drawing/2014/main" id="{2559AB8C-6F23-81D3-4546-DE75EBD91879}"/>
              </a:ext>
            </a:extLst>
          </p:cNvPr>
          <p:cNvSpPr txBox="1"/>
          <p:nvPr/>
        </p:nvSpPr>
        <p:spPr>
          <a:xfrm>
            <a:off x="9532571" y="5300748"/>
            <a:ext cx="643509" cy="307777"/>
          </a:xfrm>
          <a:prstGeom prst="rect">
            <a:avLst/>
          </a:prstGeom>
          <a:noFill/>
        </p:spPr>
        <p:txBody>
          <a:bodyPr wrap="none" rtlCol="0">
            <a:spAutoFit/>
          </a:bodyPr>
          <a:lstStyle/>
          <a:p>
            <a:r>
              <a:rPr lang="en-US" sz="1400" b="1" dirty="0"/>
              <a:t>Target</a:t>
            </a:r>
          </a:p>
        </p:txBody>
      </p:sp>
      <p:sp>
        <p:nvSpPr>
          <p:cNvPr id="28" name="TextBox 27">
            <a:extLst>
              <a:ext uri="{FF2B5EF4-FFF2-40B4-BE49-F238E27FC236}">
                <a16:creationId xmlns:a16="http://schemas.microsoft.com/office/drawing/2014/main" id="{314AFF5C-ABDA-A82B-40C8-14E2DB160036}"/>
              </a:ext>
            </a:extLst>
          </p:cNvPr>
          <p:cNvSpPr txBox="1"/>
          <p:nvPr/>
        </p:nvSpPr>
        <p:spPr>
          <a:xfrm>
            <a:off x="11336305" y="5300748"/>
            <a:ext cx="524503" cy="307777"/>
          </a:xfrm>
          <a:prstGeom prst="rect">
            <a:avLst/>
          </a:prstGeom>
          <a:noFill/>
        </p:spPr>
        <p:txBody>
          <a:bodyPr wrap="none" rtlCol="0">
            <a:spAutoFit/>
          </a:bodyPr>
          <a:lstStyle/>
          <a:p>
            <a:r>
              <a:rPr lang="en-US" sz="1400" b="1" dirty="0"/>
              <a:t>High</a:t>
            </a:r>
          </a:p>
        </p:txBody>
      </p:sp>
      <p:sp>
        <p:nvSpPr>
          <p:cNvPr id="29" name="TextBox 28">
            <a:extLst>
              <a:ext uri="{FF2B5EF4-FFF2-40B4-BE49-F238E27FC236}">
                <a16:creationId xmlns:a16="http://schemas.microsoft.com/office/drawing/2014/main" id="{2C03026B-6D1E-F7B1-9995-7D9DC1019C60}"/>
              </a:ext>
            </a:extLst>
          </p:cNvPr>
          <p:cNvSpPr txBox="1"/>
          <p:nvPr/>
        </p:nvSpPr>
        <p:spPr>
          <a:xfrm>
            <a:off x="7659946" y="5559601"/>
            <a:ext cx="758541" cy="369332"/>
          </a:xfrm>
          <a:prstGeom prst="rect">
            <a:avLst/>
          </a:prstGeom>
          <a:noFill/>
        </p:spPr>
        <p:txBody>
          <a:bodyPr wrap="none" rtlCol="0">
            <a:spAutoFit/>
          </a:bodyPr>
          <a:lstStyle/>
          <a:p>
            <a:r>
              <a:rPr lang="en-US" dirty="0">
                <a:solidFill/>
              </a:rPr>
              <a:t>40.5%</a:t>
            </a:r>
          </a:p>
        </p:txBody>
      </p:sp>
      <p:sp>
        <p:nvSpPr>
          <p:cNvPr id="30" name="TextBox 29">
            <a:extLst>
              <a:ext uri="{FF2B5EF4-FFF2-40B4-BE49-F238E27FC236}">
                <a16:creationId xmlns:a16="http://schemas.microsoft.com/office/drawing/2014/main" id="{9C64CEEB-E16A-926D-5DF0-DC8275443A40}"/>
              </a:ext>
            </a:extLst>
          </p:cNvPr>
          <p:cNvSpPr txBox="1"/>
          <p:nvPr/>
        </p:nvSpPr>
        <p:spPr>
          <a:xfrm>
            <a:off x="9539867" y="5571573"/>
            <a:ext cx="758541" cy="369332"/>
          </a:xfrm>
          <a:prstGeom prst="rect">
            <a:avLst/>
          </a:prstGeom>
          <a:noFill/>
        </p:spPr>
        <p:txBody>
          <a:bodyPr wrap="none" rtlCol="0">
            <a:spAutoFit/>
          </a:bodyPr>
          <a:lstStyle/>
          <a:p>
            <a:r>
              <a:rPr lang="en-US" dirty="0">
                <a:solidFill/>
              </a:rPr>
              <a:t>45.5%</a:t>
            </a:r>
          </a:p>
        </p:txBody>
      </p:sp>
      <p:sp>
        <p:nvSpPr>
          <p:cNvPr id="31" name="TextBox 30">
            <a:extLst>
              <a:ext uri="{FF2B5EF4-FFF2-40B4-BE49-F238E27FC236}">
                <a16:creationId xmlns:a16="http://schemas.microsoft.com/office/drawing/2014/main" id="{716000A2-AFB1-117D-BFF0-2BDA3EA8A77D}"/>
              </a:ext>
            </a:extLst>
          </p:cNvPr>
          <p:cNvSpPr txBox="1"/>
          <p:nvPr/>
        </p:nvSpPr>
        <p:spPr>
          <a:xfrm>
            <a:off x="11288856" y="5571573"/>
            <a:ext cx="758541" cy="369332"/>
          </a:xfrm>
          <a:prstGeom prst="rect">
            <a:avLst/>
          </a:prstGeom>
          <a:noFill/>
        </p:spPr>
        <p:txBody>
          <a:bodyPr wrap="none" rtlCol="0">
            <a:spAutoFit/>
          </a:bodyPr>
          <a:lstStyle/>
          <a:p>
            <a:r>
              <a:rPr lang="en-US" dirty="0">
                <a:solidFill/>
              </a:rPr>
              <a:t>50.5%</a:t>
            </a:r>
          </a:p>
        </p:txBody>
      </p:sp>
      <p:sp>
        <p:nvSpPr>
          <p:cNvPr id="3" name="Rectangle 2">
            <a:extLst>
              <a:ext uri="{FF2B5EF4-FFF2-40B4-BE49-F238E27FC236}">
                <a16:creationId xmlns:a16="http://schemas.microsoft.com/office/drawing/2014/main" id="{E854312B-28D3-E83C-2C75-6E860911BB50}"/>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2DAB5DAF-375F-8C08-74DE-3B9B1A009F39}"/>
              </a:ext>
            </a:extLst>
          </p:cNvPr>
          <p:cNvSpPr txBox="1">
            <a:spLocks/>
          </p:cNvSpPr>
          <p:nvPr/>
        </p:nvSpPr>
        <p:spPr>
          <a:xfrm rot="16200000">
            <a:off x="-2814764" y="2993452"/>
            <a:ext cx="6553884"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latin typeface="Arial" panose="020B0604020202020204" pitchFamily="34" charset="0"/>
                <a:cs typeface="Arial" panose="020B0604020202020204" pitchFamily="34" charset="0"/>
              </a:rPr>
              <a:t>SINGLE-YEAR PROJECTION</a:t>
            </a:r>
          </a:p>
        </p:txBody>
      </p:sp>
      <p:sp>
        <p:nvSpPr>
          <p:cNvPr id="33" name="TextBox 32">
            <a:extLst>
              <a:ext uri="{FF2B5EF4-FFF2-40B4-BE49-F238E27FC236}">
                <a16:creationId xmlns:a16="http://schemas.microsoft.com/office/drawing/2014/main" id="{376A62E0-771C-54FE-B757-DC2BCD4ECC0D}"/>
              </a:ext>
            </a:extLst>
          </p:cNvPr>
          <p:cNvSpPr txBox="1"/>
          <p:nvPr/>
        </p:nvSpPr>
        <p:spPr>
          <a:xfrm>
            <a:off x="1720130" y="1969785"/>
            <a:ext cx="4034181" cy="307777"/>
          </a:xfrm>
          <a:prstGeom prst="rect">
            <a:avLst/>
          </a:prstGeom>
          <a:solidFill>
            <a:schemeClr val="bg1"/>
          </a:solidFill>
        </p:spPr>
        <p:txBody>
          <a:bodyPr wrap="none" rtlCol="0">
            <a:spAutoFit/>
          </a:bodyPr>
          <a:lstStyle/>
          <a:p>
            <a:r>
              <a:rPr lang="en-US" sz="1400" b="1" dirty="0"/>
              <a:t>Net Margin Growth by Number of KIP Covered Lives</a:t>
            </a:r>
          </a:p>
        </p:txBody>
      </p:sp>
      <p:sp>
        <p:nvSpPr>
          <p:cNvPr id="34" name="TextBox 33">
            <a:extLst>
              <a:ext uri="{FF2B5EF4-FFF2-40B4-BE49-F238E27FC236}">
                <a16:creationId xmlns:a16="http://schemas.microsoft.com/office/drawing/2014/main" id="{E8334A4D-A904-88CB-EA92-AD56511A56D6}"/>
              </a:ext>
            </a:extLst>
          </p:cNvPr>
          <p:cNvSpPr txBox="1"/>
          <p:nvPr/>
        </p:nvSpPr>
        <p:spPr>
          <a:xfrm>
            <a:off x="3737220" y="5697011"/>
            <a:ext cx="1814920" cy="261610"/>
          </a:xfrm>
          <a:prstGeom prst="rect">
            <a:avLst/>
          </a:prstGeom>
          <a:solidFill>
            <a:schemeClr val="bg1"/>
          </a:solidFill>
        </p:spPr>
        <p:txBody>
          <a:bodyPr wrap="none" rtlCol="0">
            <a:spAutoFit/>
          </a:bodyPr>
          <a:lstStyle/>
          <a:p>
            <a:r>
              <a:rPr lang="en-US" sz="1100" b="1" dirty="0"/>
              <a:t>Total KIP Covered Members</a:t>
            </a:r>
          </a:p>
        </p:txBody>
      </p:sp>
    </p:spTree>
    <p:extLst>
      <p:ext uri="{BB962C8B-B14F-4D97-AF65-F5344CB8AC3E}">
        <p14:creationId xmlns:p14="http://schemas.microsoft.com/office/powerpoint/2010/main" val="1527749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1" y="5433068"/>
            <a:ext cx="10881335"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rPr>
              <a:t>NOTE:  Please see detailed financial analysis and assumptions used starting on page 15.  </a:t>
            </a:r>
          </a:p>
          <a:p>
            <a:pPr marL="285750" indent="-285750">
              <a:buFont typeface="Arial" panose="020B0604020202020204" pitchFamily="34" charset="0"/>
              <a:buChar char="•"/>
            </a:pPr>
            <a:r>
              <a:rPr lang="en-US" sz="1600" dirty="0">
                <a:solidFill/>
              </a:rPr>
              <a:t>Financial projections do not include 340B contribution margin, which could represent $136 PMPM by optimizing 340B through Rx plan design, JH’s approved site(s) with network integration, and development of JH’s proprietary PBM program.</a:t>
            </a:r>
            <a:r>
              <a:rPr lang="en-US" sz="1600" dirty="0">
                <a:highlight>
                  <a:srgbClr val="FFFF00"/>
                </a:highlight>
              </a:rPr>
              <a:t>   </a:t>
            </a:r>
          </a:p>
        </p:txBody>
      </p:sp>
      <p:graphicFrame>
        <p:nvGraphicFramePr>
          <p:cNvPr id="2" name="Content Placeholder 2">
            <a:extLst>
              <a:ext uri="{FF2B5EF4-FFF2-40B4-BE49-F238E27FC236}">
                <a16:creationId xmlns:a16="http://schemas.microsoft.com/office/drawing/2014/main" id="{33F20683-2452-949E-C1B7-9A220E287531}"/>
              </a:ext>
            </a:extLst>
          </p:cNvPr>
          <p:cNvGraphicFramePr>
            <a:graphicFrameLocks noGrp="1"/>
          </p:cNvGraphicFramePr>
          <p:nvPr>
            <p:extLst>
              <p:ext uri="{D42A27DB-BD31-4B8C-83A1-F6EECF244321}">
                <p14:modId xmlns:p14="http://schemas.microsoft.com/office/powerpoint/2010/main" val="3658070999"/>
              </p:ext>
            </p:extLst>
          </p:nvPr>
        </p:nvGraphicFramePr>
        <p:xfrm>
          <a:off x="2005978" y="593935"/>
          <a:ext cx="9052560" cy="457200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KIP</a:t>
                      </a:r>
                      <a:r>
                        <a:rPr sz="2000" b="1" i="0" u="none" cap="none" dirty="0">
                          <a:solidFill>
                            <a:srgbClr val="FFFFFF">
                              <a:alpha val="100000"/>
                            </a:srgbClr>
                          </a:solidFill>
                          <a:latin typeface="Arial"/>
                          <a:cs typeface="Arial"/>
                          <a:sym typeface="Arial"/>
                        </a:rPr>
                        <a:t>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dirty="0">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dirty="0">
                          <a:solidFill>
                            <a:srgbClr val="000000">
                              <a:alpha val="100000"/>
                            </a:srgbClr>
                          </a:solidFill>
                          <a:latin typeface="Arial"/>
                          <a:cs typeface="Arial"/>
                          <a:sym typeface="Arial"/>
                        </a:rPr>
                        <a:t>Pre-</a:t>
                      </a: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dirty="0">
                          <a:solidFill>
                            <a:srgbClr val="000000">
                              <a:alpha val="100000"/>
                            </a:srgbClr>
                          </a:solidFill>
                          <a:latin typeface="Arial"/>
                          <a:cs typeface="Arial"/>
                          <a:sym typeface="Arial"/>
                        </a:rPr>
                        <a:t>Pre-</a:t>
                      </a: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dirty="0">
                          <a:solidFill>
                            <a:srgbClr val="000000">
                              <a:alpha val="100000"/>
                            </a:srgbClr>
                          </a:solidFill>
                          <a:latin typeface="Arial"/>
                          <a:cs typeface="Arial"/>
                          <a:sym typeface="Arial"/>
                        </a:rPr>
                        <a:t>Net Margin Less </a:t>
                      </a:r>
                      <a:r>
                        <a:rPr lang="en-US" sz="1200" b="1" i="0" u="none" cap="none" dirty="0">
                          <a:solidFill>
                            <a:srgbClr val="000000">
                              <a:alpha val="100000"/>
                            </a:srgbClr>
                          </a:solidFill>
                          <a:latin typeface="Arial"/>
                          <a:cs typeface="Arial"/>
                          <a:sym typeface="Arial"/>
                        </a:rPr>
                        <a:t>KIP</a:t>
                      </a:r>
                      <a:r>
                        <a:rPr sz="1200" b="1" i="0" u="none" cap="none" dirty="0">
                          <a:solidFill>
                            <a:srgbClr val="000000">
                              <a:alpha val="100000"/>
                            </a:srgbClr>
                          </a:solidFill>
                          <a:latin typeface="Arial"/>
                          <a:cs typeface="Arial"/>
                          <a:sym typeface="Arial"/>
                        </a:rPr>
                        <a:t>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$ 1,174K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$ 1,597K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422K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$ 2,349K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$ 3,193K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$ 1,453K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301K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$ 5,872K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$ 2,085K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$ 7,983K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$ 2,110K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$ 3,633K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$ 1,548K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$ 1,248K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$ 8,341K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$31,930K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$ 8,441K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$ 6,191K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$ 5,981K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$46,978K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$16,682K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$63,861K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$16,883K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dirty="0">
                          <a:solidFill>
                            <a:srgbClr val="FFFFFF">
                              <a:alpha val="100000"/>
                            </a:srgbClr>
                          </a:solidFill>
                          <a:latin typeface="Arial"/>
                          <a:cs typeface="Arial"/>
                          <a:sym typeface="Arial"/>
                        </a:rPr>
                        <a:t>$12,291K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136DF45-D5B0-585C-20C8-45741BA6198C}"/>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3F05FC98-89A0-63E0-1CBF-EF829E318F6F}"/>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7" name="Rectangle 6">
            <a:extLst>
              <a:ext uri="{FF2B5EF4-FFF2-40B4-BE49-F238E27FC236}">
                <a16:creationId xmlns:a16="http://schemas.microsoft.com/office/drawing/2014/main" id="{DEBD79AC-6896-6E13-B0EE-8405AC1D8926}"/>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600" b="0" dirty="0">
                <a:solidFill>
                  <a:schemeClr val="bg1"/>
                </a:solidFill>
              </a:rPr>
              <a:t>FOUR-YEAR PROJECTIONS</a:t>
            </a:r>
          </a:p>
        </p:txBody>
      </p:sp>
      <p:pic>
        <p:nvPicPr>
          <p:cNvPr id="5" name="Picture 4" descr="A graph with a blue line&#10;&#10;Description automatically generated">
            <a:extLst>
              <a:ext uri="{FF2B5EF4-FFF2-40B4-BE49-F238E27FC236}">
                <a16:creationId xmlns:a16="http://schemas.microsoft.com/office/drawing/2014/main" id="{75F40652-4CB6-7787-9E8F-821729C07E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8818" y="0"/>
            <a:ext cx="9144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7</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1834495"/>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2,500</a:t>
            </a:r>
            <a:r>
              <a:rPr lang="en-US" spc="200" dirty="0">
                <a:latin typeface="+mj-lt"/>
                <a:cs typeface="+mj-cs"/>
              </a:rPr>
              <a:t>+</a:t>
            </a:r>
            <a:r>
              <a:rPr lang="en-US" sz="1800" spc="200" dirty="0">
                <a:latin typeface="+mj-lt"/>
                <a:cs typeface="+mj-cs"/>
              </a:rPr>
              <a:t> Employers       410,000</a:t>
            </a:r>
            <a:r>
              <a:rPr lang="en-US" sz="1800" spc="200" dirty="0">
                <a:latin typeface="+mj-lt"/>
                <a:cs typeface="+mj-cs"/>
                <a:sym typeface="Wingdings" panose="05000000000000000000" pitchFamily="2" charset="2"/>
              </a:rPr>
              <a:t>+ Employees       630,000+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22151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22065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extLst>
              <p:ext uri="{D42A27DB-BD31-4B8C-83A1-F6EECF244321}">
                <p14:modId xmlns:p14="http://schemas.microsoft.com/office/powerpoint/2010/main" val="1271611868"/>
              </p:ext>
            </p:extLst>
          </p:nvPr>
        </p:nvGraphicFramePr>
        <p:xfrm>
          <a:off x="4889297" y="2699749"/>
          <a:ext cx="6949427" cy="2913283"/>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endParaRPr lang="en-US" sz="1100" b="1"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Commercial Employers Headquartered in Union, Essex or Hudson Counties</a:t>
                      </a:r>
                    </a:p>
                  </a:txBody>
                  <a:tcPr marL="9525" marR="9525" marT="9525" marB="0" anchor="b">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1,468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597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417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230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64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54</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endParaRPr lang="en-US" sz="1100" b="1"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Estimated Employees of Above Employers</a:t>
                      </a:r>
                    </a:p>
                  </a:txBody>
                  <a:tcPr marL="9525" marR="9525" marT="9525" marB="0" anchor="b">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110,100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89,550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125,100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161,000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128,000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486,000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endParaRPr lang="en-US" sz="1100" b="1"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Estimated Members of Above Employers</a:t>
                      </a:r>
                    </a:p>
                  </a:txBody>
                  <a:tcPr marL="9525" marR="9525" marT="9525" marB="0" anchor="b">
                    <a:lnL>
                      <a:noFill/>
                    </a:lnL>
                    <a:lnR>
                      <a:noFill/>
                    </a:lnR>
                    <a:lnT>
                      <a:noFill/>
                    </a:lnT>
                    <a:lnB>
                      <a:noFill/>
                    </a:lnB>
                    <a:no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154,140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125,370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175,140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225,400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highlight>
                            <a:srgbClr val="FBE5D6"/>
                          </a:highlight>
                          <a:latin typeface="Aptos Narrow" panose="020B0004020202020204" pitchFamily="34" charset="0"/>
                        </a:rPr>
                        <a:t>179,200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680,400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sp>
        <p:nvSpPr>
          <p:cNvPr id="16"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600" dirty="0">
                <a:solidFill>
                  <a:srgbClr val="000B2E"/>
                </a:solidFill>
                <a:latin typeface="Arial" panose="020B0604020202020204" pitchFamily="34" charset="0"/>
                <a:cs typeface="Arial" panose="020B0604020202020204" pitchFamily="34" charset="0"/>
              </a:rPr>
              <a:t>Significant Opportunity for </a:t>
            </a:r>
            <a:r>
              <a:rPr lang="en-US" sz="3600" dirty="0">
                <a:solidFill>
                  <a:srgbClr val="000B2E"/>
                </a:solidFill>
              </a:rPr>
              <a:t>Plan Growth</a:t>
            </a:r>
            <a:br>
              <a:rPr lang="en-US" sz="3600" dirty="0">
                <a:solidFill>
                  <a:srgbClr val="000B2E"/>
                </a:solidFill>
              </a:rPr>
            </a:br>
            <a:r>
              <a:rPr lang="en-US" sz="2400" dirty="0">
                <a:solidFill>
                  <a:srgbClr val="000B2E"/>
                </a:solidFill>
              </a:rPr>
              <a:t>Researched for Union, Essex and Hudson Counties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4D9A8BB4-8EB2-782A-EDD5-8538A2A8CF98}"/>
              </a:ext>
            </a:extLst>
          </p:cNvPr>
          <p:cNvPicPr>
            <a:picLocks noChangeAspect="1"/>
          </p:cNvPicPr>
          <p:nvPr/>
        </p:nvPicPr>
        <p:blipFill>
          <a:blip r:embed="rId2"/>
          <a:stretch>
            <a:fillRect/>
          </a:stretch>
        </p:blipFill>
        <p:spPr>
          <a:xfrm>
            <a:off x="12700" y="2734221"/>
            <a:ext cx="4556861" cy="3406884"/>
          </a:xfrm>
          <a:prstGeom prst="rect">
            <a:avLst/>
          </a:prstGeom>
        </p:spPr>
      </p:pic>
    </p:spTree>
    <p:extLst>
      <p:ext uri="{BB962C8B-B14F-4D97-AF65-F5344CB8AC3E}">
        <p14:creationId xmlns:p14="http://schemas.microsoft.com/office/powerpoint/2010/main" val="3412855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8</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and JH’s clinical leadership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KBA’s KIP strategy positions Just Health to grow commercial market share by reducing per-employee plan costs even further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Just Health can demonstrate greater completion rates for Standards of Care for the Chronically Ill, driving better care &amp; cost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JH’s managed care processes to KBA’s patented care management programs will turbocharge results – Positioning JH as a transformational population health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2170444" y="5369550"/>
            <a:ext cx="9490980" cy="424732"/>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Just Health </a:t>
            </a:r>
            <a:r>
              <a:rPr lang="en-US" sz="2400" b="1" cap="small" dirty="0">
                <a:solidFill>
                  <a:srgbClr val="000B2E"/>
                </a:solidFill>
              </a:rPr>
              <a:t>CAN PROMOTE THESE RESULTS FROM DAY ONE!!</a:t>
            </a:r>
          </a:p>
        </p:txBody>
      </p:sp>
      <p:pic>
        <p:nvPicPr>
          <p:cNvPr id="10"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9</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WITH EPIC EHR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2050"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evidence-based standards of care for 27 chronic conditions</a:t>
            </a:r>
            <a:r>
              <a:rPr lang="en-US" spc="120" dirty="0">
                <a:solidFill>
                  <a:srgbClr val="FFFFFF"/>
                </a:solidFill>
                <a:latin typeface="Calibri" panose="020F0502020204030204" pitchFamily="34" charset="0"/>
              </a:rPr>
              <a:t> directly into Epic.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10</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JH’s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JH’s 340B drug pricing program</a:t>
            </a:r>
          </a:p>
          <a:p>
            <a:pPr marL="285753" indent="-285753">
              <a:spcBef>
                <a:spcPts val="600"/>
              </a:spcBef>
              <a:buFont typeface="Wingdings" panose="05000000000000000000" pitchFamily="2" charset="2"/>
              <a:buChar char="§"/>
            </a:pPr>
            <a:r>
              <a:rPr lang="en-US" sz="2000" dirty="0">
                <a:solidFill>
                  <a:schemeClr val="bg1"/>
                </a:solidFill>
              </a:rPr>
              <a:t>Allows JH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KIP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KIP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11</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KIP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KIP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KIP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12</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2963207957"/>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13</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14</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25757" y="3179851"/>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r>
              <a:rPr lang="en-US" sz="4800" dirty="0">
                <a:latin typeface="+mj-lt"/>
                <a:cs typeface="+mj-cs"/>
              </a:rPr>
              <a:t>:</a:t>
            </a:r>
            <a:br>
              <a:rPr lang="en-US" sz="4800" dirty="0">
                <a:latin typeface="+mj-lt"/>
                <a:cs typeface="+mj-cs"/>
              </a:rPr>
            </a:br>
            <a:br>
              <a:rPr lang="en-US" sz="4800" dirty="0">
                <a:latin typeface="+mj-lt"/>
                <a:cs typeface="+mj-cs"/>
              </a:rPr>
            </a:br>
            <a:r>
              <a:rPr lang="en-US" sz="4800" dirty="0">
                <a:latin typeface="+mj-lt"/>
                <a:cs typeface="+mj-cs"/>
              </a:rPr>
              <a:t>ESTIMATING CAREPOINT MARKET SHARE AND MARGIN</a:t>
            </a:r>
            <a:endParaRPr lang="en-US" sz="4800" kern="1200" dirty="0">
              <a:solidFill>
                <a:schemeClr val="tx1"/>
              </a:solidFill>
              <a:latin typeface="+mj-lt"/>
              <a:ea typeface="+mj-ea"/>
              <a:cs typeface="+mj-cs"/>
            </a:endParaRPr>
          </a:p>
        </p:txBody>
      </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15</a:t>
            </a:fld>
            <a:endParaRPr lang="en-US"/>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3576" y="1550862"/>
            <a:ext cx="3756276" cy="3756276"/>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83751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JH’s 2022 Inpatient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1231392371"/>
              </p:ext>
            </p:extLst>
          </p:nvPr>
        </p:nvGraphicFramePr>
        <p:xfrm>
          <a:off x="243838" y="2042381"/>
          <a:ext cx="5648960" cy="2398090"/>
        </p:xfrm>
        <a:graphic>
          <a:graphicData uri="http://schemas.openxmlformats.org/drawingml/2006/table">
            <a:tbl>
              <a:tblPr firstRow="1" bandRow="1">
                <a:tableStyleId>{5C22544A-7EE6-4342-B048-85BDC9FD1C3A}</a:tableStyleId>
              </a:tblPr>
              <a:tblGrid>
                <a:gridCol w="2504617">
                  <a:extLst>
                    <a:ext uri="{9D8B030D-6E8A-4147-A177-3AD203B41FA5}">
                      <a16:colId xmlns:a16="http://schemas.microsoft.com/office/drawing/2014/main" val="1990432805"/>
                    </a:ext>
                  </a:extLst>
                </a:gridCol>
                <a:gridCol w="1685947">
                  <a:extLst>
                    <a:ext uri="{9D8B030D-6E8A-4147-A177-3AD203B41FA5}">
                      <a16:colId xmlns:a16="http://schemas.microsoft.com/office/drawing/2014/main" val="3494448363"/>
                    </a:ext>
                  </a:extLst>
                </a:gridCol>
                <a:gridCol w="145839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of Just Health (Inpatient)</a:t>
                      </a:r>
                    </a:p>
                  </a:txBody>
                  <a:tcPr>
                    <a:solidFill>
                      <a:schemeClr val="accent3">
                        <a:lumMod val="20000"/>
                        <a:lumOff val="80000"/>
                      </a:schemeClr>
                    </a:solidFill>
                  </a:tcPr>
                </a:tc>
                <a:tc>
                  <a:txBody>
                    <a:bodyPr/>
                    <a:lstStyle/>
                    <a:p>
                      <a:pPr algn="ctr"/>
                      <a:r>
                        <a:rPr lang="en-US" sz="1400" dirty="0">
                          <a:solidFill>
                            <a:schemeClr val="tx1"/>
                          </a:solidFill>
                        </a:rPr>
                        <a:t>$3,974,908K</a:t>
                      </a:r>
                    </a:p>
                  </a:txBody>
                  <a:tcPr anchor="ctr">
                    <a:solidFill>
                      <a:schemeClr val="accent3">
                        <a:lumMod val="20000"/>
                        <a:lumOff val="80000"/>
                      </a:schemeClr>
                    </a:solidFill>
                  </a:tcPr>
                </a:tc>
                <a:tc>
                  <a:txBody>
                    <a:bodyPr/>
                    <a:lstStyle/>
                    <a:p>
                      <a:pPr algn="ctr"/>
                      <a:r>
                        <a:rPr lang="en-US" sz="1400" dirty="0">
                          <a:solidFill>
                            <a:schemeClr val="tx1"/>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tx1"/>
                          </a:solidFill>
                        </a:rPr>
                        <a:t>$946,794K</a:t>
                      </a:r>
                    </a:p>
                  </a:txBody>
                  <a:tcPr anchor="ctr">
                    <a:solidFill>
                      <a:schemeClr val="accent3">
                        <a:lumMod val="20000"/>
                        <a:lumOff val="80000"/>
                      </a:schemeClr>
                    </a:solidFill>
                  </a:tcPr>
                </a:tc>
                <a:tc>
                  <a:txBody>
                    <a:bodyPr/>
                    <a:lstStyle/>
                    <a:p>
                      <a:pPr algn="ctr"/>
                      <a:r>
                        <a:rPr lang="en-US" sz="1400" dirty="0">
                          <a:solidFill>
                            <a:schemeClr val="tx1"/>
                          </a:solidFill>
                        </a:rPr>
                        <a:t>33%</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rowSpan="2">
                  <a:txBody>
                    <a:bodyPr/>
                    <a:lstStyle/>
                    <a:p>
                      <a:pPr algn="ctr"/>
                      <a:r>
                        <a:rPr lang="en-US" sz="1400" dirty="0">
                          <a:solidFill>
                            <a:schemeClr val="tx1"/>
                          </a:solidFill>
                        </a:rPr>
                        <a:t>$807,090K</a:t>
                      </a:r>
                    </a:p>
                  </a:txBody>
                  <a:tcPr anchor="ctr">
                    <a:solidFill>
                      <a:schemeClr val="accent3">
                        <a:lumMod val="20000"/>
                        <a:lumOff val="80000"/>
                      </a:schemeClr>
                    </a:solidFill>
                  </a:tcPr>
                </a:tc>
                <a:tc rowSpan="2">
                  <a:txBody>
                    <a:bodyPr/>
                    <a:lstStyle/>
                    <a:p>
                      <a:pPr algn="ctr"/>
                      <a:r>
                        <a:rPr lang="en-US" sz="1400" dirty="0">
                          <a:solidFill>
                            <a:schemeClr val="tx1"/>
                          </a:solidFill>
                        </a:rPr>
                        <a:t>28%</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tx1"/>
                          </a:solidFill>
                        </a:rPr>
                        <a:t>$275,769K</a:t>
                      </a:r>
                    </a:p>
                  </a:txBody>
                  <a:tcPr anchor="ctr">
                    <a:solidFill>
                      <a:schemeClr val="accent3">
                        <a:lumMod val="20000"/>
                        <a:lumOff val="80000"/>
                      </a:schemeClr>
                    </a:solidFill>
                  </a:tcPr>
                </a:tc>
                <a:tc>
                  <a:txBody>
                    <a:bodyPr/>
                    <a:lstStyle/>
                    <a:p>
                      <a:pPr algn="ctr"/>
                      <a:r>
                        <a:rPr lang="en-US" sz="1400" dirty="0">
                          <a:solidFill>
                            <a:schemeClr val="tx1"/>
                          </a:solidFill>
                        </a:rPr>
                        <a:t>7%</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tx1"/>
                          </a:solidFill>
                        </a:rPr>
                        <a:t>$2,221,022K</a:t>
                      </a:r>
                    </a:p>
                  </a:txBody>
                  <a:tcPr anchor="ctr">
                    <a:solidFill>
                      <a:schemeClr val="accent3">
                        <a:lumMod val="20000"/>
                        <a:lumOff val="80000"/>
                      </a:schemeClr>
                    </a:solidFill>
                  </a:tcPr>
                </a:tc>
                <a:tc>
                  <a:txBody>
                    <a:bodyPr/>
                    <a:lstStyle/>
                    <a:p>
                      <a:pPr algn="ctr"/>
                      <a:r>
                        <a:rPr lang="en-US" sz="1400" dirty="0">
                          <a:solidFill>
                            <a:schemeClr val="tx1"/>
                          </a:solidFill>
                        </a:rPr>
                        <a:t>32%</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2042380"/>
            <a:ext cx="5648960" cy="95410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rgbClr val="ED7D31">
                    <a:lumMod val="75000"/>
                  </a:srgbClr>
                </a:solidFill>
                <a:latin typeface="Arial" panose="020B0604020202020204" pitchFamily="34" charset="0"/>
                <a:cs typeface="Arial" panose="020B0604020202020204" pitchFamily="34" charset="0"/>
              </a:rPr>
              <a:t>Payer mix estimates were received directly from Just Health</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rgbClr val="ED7D31">
                    <a:lumMod val="75000"/>
                  </a:srgbClr>
                </a:solidFill>
                <a:latin typeface="Arial" panose="020B0604020202020204" pitchFamily="34" charset="0"/>
                <a:cs typeface="Arial" panose="020B0604020202020204" pitchFamily="34" charset="0"/>
              </a:rPr>
              <a:t>Payer mix, in this context, identifies the percentage of care costs allocated to serving each population.  </a:t>
            </a:r>
          </a:p>
        </p:txBody>
      </p:sp>
      <p:sp>
        <p:nvSpPr>
          <p:cNvPr id="7" name="TextBox 9">
            <a:extLst>
              <a:ext uri="{FF2B5EF4-FFF2-40B4-BE49-F238E27FC236}">
                <a16:creationId xmlns:a16="http://schemas.microsoft.com/office/drawing/2014/main" id="{ED0A6F50-C6BE-E59F-38A2-EFFA0AEF9616}"/>
              </a:ext>
            </a:extLst>
          </p:cNvPr>
          <p:cNvSpPr txBox="1"/>
          <p:nvPr/>
        </p:nvSpPr>
        <p:spPr>
          <a:xfrm>
            <a:off x="6431282" y="3384096"/>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Revenue by Group</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Key </a:t>
            </a:r>
            <a:r>
              <a:rPr lang="en-US" sz="1400" dirty="0">
                <a:solidFill>
                  <a:srgbClr val="ED7D31">
                    <a:lumMod val="75000"/>
                  </a:srgbClr>
                </a:solidFill>
                <a:latin typeface="Arial" panose="020B0604020202020204" pitchFamily="34" charset="0"/>
                <a:cs typeface="Arial" panose="020B0604020202020204" pitchFamily="34" charset="0"/>
              </a:rPr>
              <a:t>Benefits utilizes the RAND (version 5) estimate of the pricing difference between Medicare and commercial insurance rates. Medicaid and other government programs are estimated to be at the same rate as Medicaid. </a:t>
            </a:r>
            <a:endPar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endParaRPr>
          </a:p>
        </p:txBody>
      </p:sp>
      <p:sp>
        <p:nvSpPr>
          <p:cNvPr id="11" name="Rectangle 16">
            <a:extLst>
              <a:ext uri="{FF2B5EF4-FFF2-40B4-BE49-F238E27FC236}">
                <a16:creationId xmlns:a16="http://schemas.microsoft.com/office/drawing/2014/main" id="{802290A3-B694-4505-9BF2-D6CD7AF07C8B}"/>
              </a:ext>
            </a:extLst>
          </p:cNvPr>
          <p:cNvSpPr/>
          <p:nvPr/>
        </p:nvSpPr>
        <p:spPr>
          <a:xfrm>
            <a:off x="675641" y="5088116"/>
            <a:ext cx="4901193" cy="5341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Arial" panose="020B0604020202020204" pitchFamily="34" charset="0"/>
                <a:cs typeface="Arial" panose="020B0604020202020204" pitchFamily="34" charset="0"/>
              </a:rPr>
              <a:t>In the following models, </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outpatient payer mix is assumed to mirror the inpatient payer mix. </a:t>
            </a:r>
          </a:p>
        </p:txBody>
      </p:sp>
    </p:spTree>
    <p:extLst>
      <p:ext uri="{BB962C8B-B14F-4D97-AF65-F5344CB8AC3E}">
        <p14:creationId xmlns:p14="http://schemas.microsoft.com/office/powerpoint/2010/main" val="3372743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b="1" dirty="0">
                <a:solidFill/>
                <a:latin typeface="+mn-lt"/>
                <a:cs typeface="Arial" panose="020B0604020202020204" pitchFamily="34" charset="0"/>
              </a:rPr>
              <a:t>Estimation of JH’s 2022 Inpatient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974492160"/>
              </p:ext>
            </p:extLst>
          </p:nvPr>
        </p:nvGraphicFramePr>
        <p:xfrm>
          <a:off x="243838" y="2042381"/>
          <a:ext cx="5648960" cy="2398090"/>
        </p:xfrm>
        <a:graphic>
          <a:graphicData uri="http://schemas.openxmlformats.org/drawingml/2006/table">
            <a:tbl>
              <a:tblPr firstRow="1" bandRow="1">
                <a:tableStyleId>{5C22544A-7EE6-4342-B048-85BDC9FD1C3A}</a:tableStyleId>
              </a:tblPr>
              <a:tblGrid>
                <a:gridCol w="2504617">
                  <a:extLst>
                    <a:ext uri="{9D8B030D-6E8A-4147-A177-3AD203B41FA5}">
                      <a16:colId xmlns:a16="http://schemas.microsoft.com/office/drawing/2014/main" val="1990432805"/>
                    </a:ext>
                  </a:extLst>
                </a:gridCol>
                <a:gridCol w="1685947">
                  <a:extLst>
                    <a:ext uri="{9D8B030D-6E8A-4147-A177-3AD203B41FA5}">
                      <a16:colId xmlns:a16="http://schemas.microsoft.com/office/drawing/2014/main" val="3494448363"/>
                    </a:ext>
                  </a:extLst>
                </a:gridCol>
                <a:gridCol w="145839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solidFill/>
                        </a:rPr>
                        <a:t>All of Just Health (Inpatient)</a:t>
                      </a:r>
                    </a:p>
                  </a:txBody>
                  <a:tcPr>
                    <a:solidFill>
                      <a:schemeClr val="accent3">
                        <a:lumMod val="20000"/>
                        <a:lumOff val="80000"/>
                      </a:schemeClr>
                    </a:solidFill>
                  </a:tcPr>
                </a:tc>
                <a:tc>
                  <a:txBody>
                    <a:bodyPr/>
                    <a:lstStyle/>
                    <a:p>
                      <a:pPr algn="ctr"/>
                      <a:r>
                        <a:rPr lang="en-US" sz="1400" dirty="0">
                          <a:solidFill>
                            <a:schemeClr val="tx1"/>
                          </a:solidFill>
                        </a:rPr>
                        <a:t>$3,974,908K</a:t>
                      </a:r>
                    </a:p>
                  </a:txBody>
                  <a:tcPr anchor="ctr">
                    <a:solidFill>
                      <a:schemeClr val="accent3">
                        <a:lumMod val="20000"/>
                        <a:lumOff val="80000"/>
                      </a:schemeClr>
                    </a:solidFill>
                  </a:tcPr>
                </a:tc>
                <a:tc>
                  <a:txBody>
                    <a:bodyPr/>
                    <a:lstStyle/>
                    <a:p>
                      <a:pPr algn="ctr"/>
                      <a:r>
                        <a:rPr lang="en-US" sz="1400" dirty="0">
                          <a:solidFill>
                            <a:schemeClr val="tx1"/>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rowSpan="3">
                  <a:txBody>
                    <a:bodyPr/>
                    <a:lstStyle/>
                    <a:p>
                      <a:pPr algn="ctr"/>
                      <a:r>
                        <a:rPr lang="en-US" sz="1400" dirty="0">
                          <a:solidFill>
                            <a:schemeClr val="tx1"/>
                          </a:solidFill>
                        </a:rPr>
                        <a:t>$2,038,409</a:t>
                      </a:r>
                    </a:p>
                  </a:txBody>
                  <a:tcPr anchor="ctr">
                    <a:solidFill>
                      <a:schemeClr val="accent3">
                        <a:lumMod val="20000"/>
                        <a:lumOff val="80000"/>
                      </a:schemeClr>
                    </a:solidFill>
                  </a:tcPr>
                </a:tc>
                <a:tc rowSpan="3">
                  <a:txBody>
                    <a:bodyPr/>
                    <a:lstStyle/>
                    <a:p>
                      <a:pPr algn="ctr"/>
                      <a:r>
                        <a:rPr lang="en-US" sz="1400" dirty="0">
                          <a:solidFill>
                            <a:schemeClr val="tx1"/>
                          </a:solidFill>
                        </a:rPr>
                        <a:t>55%</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vMerge="1">
                  <a:txBody>
                    <a:bodyPr/>
                    <a:lstStyle/>
                    <a:p>
                      <a:endParaRPr dirty="0"/>
                    </a:p>
                  </a:txBody>
                  <a:tcPr anchor="ctr">
                    <a:solidFill>
                      <a:schemeClr val="accent3">
                        <a:lumMod val="20000"/>
                        <a:lumOff val="80000"/>
                      </a:schemeClr>
                    </a:solidFill>
                  </a:tcPr>
                </a:tc>
                <a:tc vMerge="1">
                  <a:txBody>
                    <a:bodyPr/>
                    <a:lstStyle/>
                    <a:p>
                      <a:endParaRPr dirty="0"/>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tx1"/>
                          </a:solidFill>
                        </a:rPr>
                        <a:t>$0</a:t>
                      </a:r>
                    </a:p>
                  </a:txBody>
                  <a:tcPr anchor="ctr">
                    <a:solidFill>
                      <a:schemeClr val="accent3">
                        <a:lumMod val="20000"/>
                        <a:lumOff val="80000"/>
                      </a:schemeClr>
                    </a:solidFill>
                  </a:tcPr>
                </a:tc>
                <a:tc>
                  <a:txBody>
                    <a:bodyPr/>
                    <a:lstStyle/>
                    <a:p>
                      <a:pPr algn="ctr"/>
                      <a:r>
                        <a:rPr lang="en-US" sz="1400" dirty="0">
                          <a:solidFill>
                            <a:schemeClr val="tx1"/>
                          </a:solidFill>
                        </a:rPr>
                        <a:t>20%</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tx1"/>
                          </a:solidFill>
                        </a:rPr>
                        <a:t>$1,936,493K</a:t>
                      </a:r>
                    </a:p>
                  </a:txBody>
                  <a:tcPr anchor="ctr">
                    <a:solidFill>
                      <a:schemeClr val="accent3">
                        <a:lumMod val="20000"/>
                        <a:lumOff val="80000"/>
                      </a:schemeClr>
                    </a:solidFill>
                  </a:tcPr>
                </a:tc>
                <a:tc>
                  <a:txBody>
                    <a:bodyPr/>
                    <a:lstStyle/>
                    <a:p>
                      <a:pPr algn="ctr"/>
                      <a:r>
                        <a:rPr lang="en-US" sz="1400" dirty="0">
                          <a:solidFill>
                            <a:schemeClr val="tx1"/>
                          </a:solidFill>
                        </a:rPr>
                        <a:t>25%</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2042380"/>
            <a:ext cx="5648960" cy="95410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rgbClr val="ED7D31">
                    <a:lumMod val="75000"/>
                  </a:srgbClr>
                </a:solidFill>
                <a:latin typeface="Arial" panose="020B0604020202020204" pitchFamily="34" charset="0"/>
                <a:cs typeface="Arial" panose="020B0604020202020204" pitchFamily="34" charset="0"/>
              </a:rPr>
              <a:t>Payer mix estimates were received directly from Just Health</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rgbClr val="ED7D31">
                    <a:lumMod val="75000"/>
                  </a:srgbClr>
                </a:solidFill>
                <a:latin typeface="Arial" panose="020B0604020202020204" pitchFamily="34" charset="0"/>
                <a:cs typeface="Arial" panose="020B0604020202020204" pitchFamily="34" charset="0"/>
              </a:rPr>
              <a:t>Payer mix, in this context, identifies the percentage of care costs allocated to serving each population.  </a:t>
            </a:r>
          </a:p>
        </p:txBody>
      </p:sp>
      <p:sp>
        <p:nvSpPr>
          <p:cNvPr id="7" name="TextBox 9">
            <a:extLst>
              <a:ext uri="{FF2B5EF4-FFF2-40B4-BE49-F238E27FC236}">
                <a16:creationId xmlns:a16="http://schemas.microsoft.com/office/drawing/2014/main" id="{ED0A6F50-C6BE-E59F-38A2-EFFA0AEF9616}"/>
              </a:ext>
            </a:extLst>
          </p:cNvPr>
          <p:cNvSpPr txBox="1"/>
          <p:nvPr/>
        </p:nvSpPr>
        <p:spPr>
          <a:xfrm>
            <a:off x="6431282" y="3384096"/>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Revenue by Group</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Key </a:t>
            </a:r>
            <a:r>
              <a:rPr lang="en-US" sz="1400" dirty="0">
                <a:solidFill>
                  <a:srgbClr val="ED7D31">
                    <a:lumMod val="75000"/>
                  </a:srgbClr>
                </a:solidFill>
                <a:latin typeface="Arial" panose="020B0604020202020204" pitchFamily="34" charset="0"/>
                <a:cs typeface="Arial" panose="020B0604020202020204" pitchFamily="34" charset="0"/>
              </a:rPr>
              <a:t>Benefits utilizes the RAND (version 5) estimate of the pricing difference between Medicare and commercial insurance rates. Medicaid and other government programs are estimated to be at the same rate as Medicaid. </a:t>
            </a:r>
            <a:endPar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endParaRPr>
          </a:p>
        </p:txBody>
      </p:sp>
      <p:sp>
        <p:nvSpPr>
          <p:cNvPr id="11" name="Rectangle 16">
            <a:extLst>
              <a:ext uri="{FF2B5EF4-FFF2-40B4-BE49-F238E27FC236}">
                <a16:creationId xmlns:a16="http://schemas.microsoft.com/office/drawing/2014/main" id="{802290A3-B694-4505-9BF2-D6CD7AF07C8B}"/>
              </a:ext>
            </a:extLst>
          </p:cNvPr>
          <p:cNvSpPr/>
          <p:nvPr/>
        </p:nvSpPr>
        <p:spPr>
          <a:xfrm>
            <a:off x="675641" y="5088116"/>
            <a:ext cx="4901193" cy="53419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Arial" panose="020B0604020202020204" pitchFamily="34" charset="0"/>
                <a:cs typeface="Arial" panose="020B0604020202020204" pitchFamily="34" charset="0"/>
              </a:rPr>
              <a:t>In the following models, </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outpatient payer mix is assumed to mirror the inpatient payer mix. </a:t>
            </a:r>
          </a:p>
        </p:txBody>
      </p:sp>
    </p:spTree>
    <p:extLst>
      <p:ext uri="{BB962C8B-B14F-4D97-AF65-F5344CB8AC3E}">
        <p14:creationId xmlns:p14="http://schemas.microsoft.com/office/powerpoint/2010/main" val="4292002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b="1"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solidFill/>
                <a:latin typeface="Arial" panose="020B0604020202020204" pitchFamily="34" charset="0"/>
                <a:cs typeface="Arial" panose="020B0604020202020204" pitchFamily="34" charset="0"/>
              </a:rPr>
              <a:t>The RAND data for JH estimates commercial insurance reimbursements at 247%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1,936,494K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sz="1800" kern="1200" dirty="0">
                          <a:solidFill>
                            <a:schemeClr val="tx1"/>
                          </a:solidFill>
                          <a:latin typeface="+mn-lt"/>
                          <a:ea typeface="+mn-ea"/>
                          <a:cs typeface="+mn-cs"/>
                        </a:rPr>
                        <a:t>247%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5,034,883K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6,971,377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4,058,966</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$2,912,411K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42%</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a:t>
                      </a:r>
                      <a:r>
                        <a:rPr lang="en-US" sz="1800" kern="1200" dirty="0">
                          <a:solidFill>
                            <a:schemeClr val="tx1"/>
                          </a:solidFill>
                          <a:latin typeface="+mn-lt"/>
                          <a:ea typeface="+mn-ea"/>
                          <a:cs typeface="+mn-cs"/>
                        </a:rPr>
                        <a:t>Divided by 247%</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solidFill/>
                        </a:rPr>
                        <a:t>784,005K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2,038,414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2,822,420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solidFill/>
                        </a:rPr>
                        <a:t>4,058,966</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rPr>
                        <a:t>$ -1,236,546</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rPr>
                        <a:t>-44%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1631485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normAutofit/>
          </a:bodyPr>
          <a:lstStyle/>
          <a:p>
            <a:r>
              <a:rPr lang="en-US" sz="4000" b="1" dirty="0">
                <a:solidFill>
                  <a:schemeClr val="tx1">
                    <a:lumMod val="85000"/>
                    <a:lumOff val="15000"/>
                  </a:schemeClr>
                </a:solidFill>
                <a:latin typeface="Arial" panose="020B0604020202020204" pitchFamily="34" charset="0"/>
                <a:cs typeface="Arial" panose="020B0604020202020204" pitchFamily="34" charset="0"/>
              </a:rPr>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19</a:t>
            </a:fld>
            <a:endParaRPr lang="en-US" dirty="0"/>
          </a:p>
        </p:txBody>
      </p:sp>
      <p:sp>
        <p:nvSpPr>
          <p:cNvPr id="10" name="TextBox 9">
            <a:extLst>
              <a:ext uri="{FF2B5EF4-FFF2-40B4-BE49-F238E27FC236}">
                <a16:creationId xmlns:a16="http://schemas.microsoft.com/office/drawing/2014/main" id="{DD333F58-1E5B-D213-65EE-BB627B8B12A8}"/>
              </a:ext>
            </a:extLst>
          </p:cNvPr>
          <p:cNvSpPr txBox="1"/>
          <p:nvPr/>
        </p:nvSpPr>
        <p:spPr>
          <a:xfrm>
            <a:off x="726173" y="5861686"/>
            <a:ext cx="10515600" cy="507831"/>
          </a:xfrm>
          <a:prstGeom prst="rect">
            <a:avLst/>
          </a:prstGeom>
          <a:noFill/>
        </p:spPr>
        <p:txBody>
          <a:bodyPr wrap="square" rtlCol="0">
            <a:spAutoFit/>
          </a:bodyPr>
          <a:lstStyle/>
          <a:p>
            <a:r>
              <a:rPr lang="en-US" sz="900" dirty="0">
                <a:solidFill/>
                <a:latin typeface="Arial" panose="020B0604020202020204" pitchFamily="34" charset="0"/>
                <a:cs typeface="Arial" panose="020B0604020202020204" pitchFamily="34" charset="0"/>
              </a:rPr>
              <a:t>For outpatient market share, it is estimated that only 56.1% of local physicians are employed by area hospitals (Research from the Physician Advocacy Institute:  </a:t>
            </a:r>
            <a:r>
              <a:rPr lang="en-US" sz="900" dirty="0">
                <a:latin typeface="Arial" panose="020B0604020202020204" pitchFamily="34" charset="0"/>
                <a:cs typeface="Arial" panose="020B0604020202020204" pitchFamily="34" charset="0"/>
                <a:hlinkClick r:id="rId2"/>
              </a:rPr>
              <a:t>https://www.physiciansadvocacyinstitute.org/Portals/0/assets/docs/PAI-Research/PAI-Avalere%20Physician%20Employment%20Trends%20Study%202019-2023%20Final.pdf?ver=uGHF46u1GSeZgYXMKFyYvw%3d%3d</a:t>
            </a:r>
            <a:r>
              <a:rPr lang="en-US" sz="900" dirty="0">
                <a:latin typeface="Arial" panose="020B0604020202020204" pitchFamily="34" charset="0"/>
                <a:cs typeface="Arial" panose="020B0604020202020204" pitchFamily="34" charset="0"/>
              </a:rPr>
              <a:t>)</a:t>
            </a:r>
          </a:p>
        </p:txBody>
      </p:sp>
      <p:graphicFrame>
        <p:nvGraphicFramePr>
          <p:cNvPr id="3" name="Content Placeholder 2">
            <a:extLst>
              <a:ext uri="{FF2B5EF4-FFF2-40B4-BE49-F238E27FC236}">
                <a16:creationId xmlns:a16="http://schemas.microsoft.com/office/drawing/2014/main" id="{8DE0229A-E7A5-B958-209A-C590990F5982}"/>
              </a:ext>
            </a:extLst>
          </p:cNvPr>
          <p:cNvGraphicFramePr>
            <a:graphicFrameLocks noGrp="1"/>
          </p:cNvGraphicFramePr>
          <p:nvPr/>
        </p:nvGraphicFramePr>
        <p:xfrm>
          <a:off x="241300" y="996314"/>
          <a:ext cx="11371006" cy="4642481"/>
        </p:xfrm>
        <a:graphic>
          <a:graphicData uri="http://schemas.openxmlformats.org/drawingml/2006/table">
            <a:tbl>
              <a:tblPr/>
              <a:tblGrid>
                <a:gridCol w="33528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854200">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gridCol w="1206500">
                  <a:extLst>
                    <a:ext uri="{9D8B030D-6E8A-4147-A177-3AD203B41FA5}">
                      <a16:colId xmlns:a16="http://schemas.microsoft.com/office/drawing/2014/main" val="20004"/>
                    </a:ext>
                  </a:extLst>
                </a:gridCol>
                <a:gridCol w="2252406">
                  <a:extLst>
                    <a:ext uri="{9D8B030D-6E8A-4147-A177-3AD203B41FA5}">
                      <a16:colId xmlns:a16="http://schemas.microsoft.com/office/drawing/2014/main" val="20005"/>
                    </a:ext>
                  </a:extLst>
                </a:gridCol>
              </a:tblGrid>
              <a:tr h="833265">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Hospital Name</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Number of Beds</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Percent of Market Total (Assuming 56.1% of Physicians Employed by Hospitals)</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38076">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Bayonne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131</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  959,388.1K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  656,339.4K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6%</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38076">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Hoboken University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117</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$1,016,197.5K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  834,022.0K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6%</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38076">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Christ Hospital</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178</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$1,376,371.1K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1" i="0" u="none" cap="none">
                          <a:solidFill>
                            <a:schemeClr val="accent1"/>
                          </a:solidFill>
                          <a:latin typeface="Arial"/>
                          <a:cs typeface="Arial"/>
                          <a:sym typeface="Arial"/>
                        </a:rPr>
                        <a:t>$1,033,594.9K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chemeClr val="accent1"/>
                          </a:solidFill>
                          <a:latin typeface="Arial"/>
                          <a:cs typeface="Arial"/>
                          <a:sym typeface="Arial"/>
                        </a:rPr>
                        <a:t>8%</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dirty="0">
                          <a:solidFill>
                            <a:schemeClr val="accent1"/>
                          </a:solidFill>
                          <a:latin typeface="Arial"/>
                          <a:cs typeface="Arial"/>
                          <a:sym typeface="Arial"/>
                        </a:rPr>
                        <a:t>5%</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Carewell Health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159</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359,576.8K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145,263.6K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Cooperman Barnabas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557</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$2,212,144.8K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$1,176,346.7K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Hackensack Meridian Health, Mountainside Medical</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185</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652,366.6K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655,269.5K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Palisades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186</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491,093.8K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366,514.0K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Robert Wood Johnson University Hospital At Rahway</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527,462.1K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318,400.3K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Hudson Regional Hospital</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353,205.1K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418,896.0K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Saint Michael's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147</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443,958.1K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470,001.9K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The University Hospital</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351</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$1,785,402.9K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868,377.5K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Clara Maass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280</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884,145.6K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506,465.8K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Newark Beth Israel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$1,881,348.4K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803,991.3K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Trinitas Regional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220</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716,322.7K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764,446.5K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Jersey City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296</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$1,166,831.2K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755,410.2K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23807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Overlook Medical Center</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443</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$1,449,425.7K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$1,541,202.4K</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8%</a:t>
                      </a:r>
                    </a:p>
                  </a:txBody>
                  <a:tcPr marL="0" marR="0" marT="27432" marB="27432"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2418634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ontent Placeholder 2">
            <a:extLst>
              <a:ext uri="{FF2B5EF4-FFF2-40B4-BE49-F238E27FC236}">
                <a16:creationId xmlns:a16="http://schemas.microsoft.com/office/drawing/2014/main" id="{1A925D0B-00A4-B83B-7967-B4F4526383A1}"/>
              </a:ext>
            </a:extLst>
          </p:cNvPr>
          <p:cNvGraphicFramePr>
            <a:graphicFrameLocks noGrp="1"/>
          </p:cNvGraphicFramePr>
          <p:nvPr>
            <p:extLst>
              <p:ext uri="{D42A27DB-BD31-4B8C-83A1-F6EECF244321}">
                <p14:modId xmlns:p14="http://schemas.microsoft.com/office/powerpoint/2010/main" val="2425123809"/>
              </p:ext>
            </p:extLst>
          </p:nvPr>
        </p:nvGraphicFramePr>
        <p:xfrm>
          <a:off x="0" y="0"/>
          <a:ext cx="12192000" cy="6857998"/>
        </p:xfrm>
        <a:graphic>
          <a:graphicData uri="http://schemas.openxmlformats.org/drawingml/2006/table">
            <a:tbl>
              <a:tblPr/>
              <a:tblGrid>
                <a:gridCol w="4408383">
                  <a:extLst>
                    <a:ext uri="{9D8B030D-6E8A-4147-A177-3AD203B41FA5}">
                      <a16:colId xmlns:a16="http://schemas.microsoft.com/office/drawing/2014/main" val="20000"/>
                    </a:ext>
                  </a:extLst>
                </a:gridCol>
                <a:gridCol w="2921331">
                  <a:extLst>
                    <a:ext uri="{9D8B030D-6E8A-4147-A177-3AD203B41FA5}">
                      <a16:colId xmlns:a16="http://schemas.microsoft.com/office/drawing/2014/main" val="20001"/>
                    </a:ext>
                  </a:extLst>
                </a:gridCol>
                <a:gridCol w="2310234">
                  <a:extLst>
                    <a:ext uri="{9D8B030D-6E8A-4147-A177-3AD203B41FA5}">
                      <a16:colId xmlns:a16="http://schemas.microsoft.com/office/drawing/2014/main" val="20002"/>
                    </a:ext>
                  </a:extLst>
                </a:gridCol>
                <a:gridCol w="2552052">
                  <a:extLst>
                    <a:ext uri="{9D8B030D-6E8A-4147-A177-3AD203B41FA5}">
                      <a16:colId xmlns:a16="http://schemas.microsoft.com/office/drawing/2014/main" val="20003"/>
                    </a:ext>
                  </a:extLst>
                </a:gridCol>
              </a:tblGrid>
              <a:tr h="324545">
                <a:tc gridSpan="4">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16079">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Christ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Hoboken University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Bayonne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92622">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Inpatient Patient Revenue</a:t>
                      </a:r>
                      <a:r>
                        <a:rPr lang="en-US" sz="1000" b="0" i="0" u="none" cap="none" dirty="0">
                          <a:solidFill>
                            <a:srgbClr val="000000">
                              <a:alpha val="100000"/>
                            </a:srgbClr>
                          </a:solidFill>
                          <a:latin typeface="Arial"/>
                          <a:cs typeface="Arial"/>
                          <a:sym typeface="Arial"/>
                        </a:rPr>
                        <a:t> (2021)</a:t>
                      </a:r>
                      <a:endParaRPr sz="1000" b="0" i="0" u="non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$1,612,274K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$1,168,373K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$1,194,261K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92622">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Outpatient Patient Revenue</a:t>
                      </a:r>
                      <a:r>
                        <a:rPr lang="en-US" sz="1000" b="0" i="0" u="none" cap="none" dirty="0">
                          <a:solidFill>
                            <a:srgbClr val="000000">
                              <a:alpha val="100000"/>
                            </a:srgbClr>
                          </a:solidFill>
                          <a:latin typeface="Arial"/>
                          <a:cs typeface="Arial"/>
                          <a:sym typeface="Arial"/>
                        </a:rPr>
                        <a:t> (2021)</a:t>
                      </a:r>
                      <a:endParaRPr sz="1000" b="0" i="0" u="none" cap="none" dirty="0">
                        <a:solidFill>
                          <a:srgbClr val="000000">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$1,476,876K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$1,304,860K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$1,146,504K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292622">
                <a:tc>
                  <a:txBody>
                    <a:bodyPr/>
                    <a:lstStyle/>
                    <a:p>
                      <a:pPr marL="63500" marR="63500" algn="l">
                        <a:lnSpc>
                          <a:spcPct val="100000"/>
                        </a:lnSpc>
                        <a:spcBef>
                          <a:spcPts val="500"/>
                        </a:spcBef>
                        <a:spcAft>
                          <a:spcPts val="500"/>
                        </a:spcAft>
                        <a:buNone/>
                      </a:pPr>
                      <a:r>
                        <a:rPr lang="en-US" sz="1000" b="0" i="0" u="none" cap="none" dirty="0">
                          <a:solidFill>
                            <a:srgbClr val="000000">
                              <a:alpha val="100000"/>
                            </a:srgbClr>
                          </a:solidFill>
                          <a:latin typeface="Arial"/>
                          <a:cs typeface="Arial"/>
                          <a:sym typeface="Arial"/>
                        </a:rPr>
                        <a:t>Estimated</a:t>
                      </a:r>
                      <a:r>
                        <a:rPr sz="1000" b="0" i="0" u="none" cap="none" dirty="0">
                          <a:solidFill>
                            <a:srgbClr val="000000">
                              <a:alpha val="100000"/>
                            </a:srgbClr>
                          </a:solidFill>
                          <a:latin typeface="Arial"/>
                          <a:cs typeface="Arial"/>
                          <a:sym typeface="Arial"/>
                        </a:rPr>
                        <a:t>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$318,002.8K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$230,448.3K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$235,554.4K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29262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$508,804.5K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$368,717.3K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$376,887K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292622">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$785,466.9K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$569,207.3K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$581,819.4K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29262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$1,649,666K</a:t>
                      </a:r>
                    </a:p>
                  </a:txBody>
                  <a:tcPr marL="0" marR="0" marT="63500" marB="63500" anchor="ctr">
                    <a:lnL w="0" cap="flat" cmpd="sng" algn="ctr">
                      <a:noFill/>
                      <a:prstDash val="solid"/>
                    </a:lnL>
                    <a:lnR w="0" cap="flat" cmpd="sng" algn="ctr">
                      <a:noFill/>
                      <a:prstDash val="solid"/>
                    </a:lnR>
                    <a:lnT w="2540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$1,191,943K</a:t>
                      </a:r>
                    </a:p>
                  </a:txBody>
                  <a:tcPr marL="0" marR="0" marT="63500" marB="63500" anchor="ctr">
                    <a:lnL w="0" cap="flat" cmpd="sng" algn="ctr">
                      <a:noFill/>
                      <a:prstDash val="solid"/>
                    </a:lnL>
                    <a:lnR w="0" cap="flat" cmpd="sng" algn="ctr">
                      <a:noFill/>
                      <a:prstDash val="solid"/>
                    </a:lnR>
                    <a:lnT w="2540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$1,217,358K</a:t>
                      </a:r>
                    </a:p>
                  </a:txBody>
                  <a:tcPr marL="0" marR="0" marT="63500" marB="63500" anchor="ctr">
                    <a:lnL w="0" cap="flat" cmpd="sng" algn="ctr">
                      <a:noFill/>
                      <a:prstDash val="solid"/>
                    </a:lnL>
                    <a:lnR w="0" cap="flat" cmpd="sng" algn="ctr">
                      <a:noFill/>
                      <a:prstDash val="solid"/>
                    </a:lnR>
                    <a:lnT w="2540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29262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$1,511,127K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$1,331,183K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$1,168,678K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292622">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Estimated Total Costs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$3,160,793K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$2,523,126K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$2,386,035K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29262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$-53,726K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$-35,185K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$-28,404.22K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292622">
                <a:tc>
                  <a:txBody>
                    <a:bodyPr/>
                    <a:lstStyle/>
                    <a:p>
                      <a:pPr marL="63500" marR="63500" algn="l">
                        <a:lnSpc>
                          <a:spcPct val="100000"/>
                        </a:lnSpc>
                        <a:spcBef>
                          <a:spcPts val="500"/>
                        </a:spcBef>
                        <a:spcAft>
                          <a:spcPts val="500"/>
                        </a:spcAft>
                        <a:buNone/>
                      </a:pPr>
                      <a:r>
                        <a:rPr lang="en-US" sz="1000" b="0" i="0" u="none" cap="none" dirty="0">
                          <a:solidFill>
                            <a:srgbClr val="000000">
                              <a:alpha val="100000"/>
                            </a:srgbClr>
                          </a:solidFill>
                          <a:latin typeface="Arial"/>
                          <a:cs typeface="Arial"/>
                          <a:sym typeface="Arial"/>
                        </a:rPr>
                        <a:t>Just Health Reported</a:t>
                      </a:r>
                      <a:r>
                        <a:rPr sz="1000" b="0" i="0" u="none" cap="none" dirty="0">
                          <a:solidFill>
                            <a:srgbClr val="000000">
                              <a:alpha val="100000"/>
                            </a:srgbClr>
                          </a:solidFill>
                          <a:latin typeface="Arial"/>
                          <a:cs typeface="Arial"/>
                          <a:sym typeface="Arial"/>
                        </a:rPr>
                        <a:t>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292622">
                <a:tc>
                  <a:txBody>
                    <a:bodyPr/>
                    <a:lstStyle/>
                    <a:p>
                      <a:pPr marL="63500" marR="63500" algn="l">
                        <a:lnSpc>
                          <a:spcPct val="100000"/>
                        </a:lnSpc>
                        <a:spcBef>
                          <a:spcPts val="500"/>
                        </a:spcBef>
                        <a:spcAft>
                          <a:spcPts val="500"/>
                        </a:spcAft>
                        <a:buNone/>
                      </a:pPr>
                      <a:r>
                        <a:rPr lang="en-US" sz="1000" b="0" i="0" u="none" cap="none" dirty="0">
                          <a:solidFill>
                            <a:srgbClr val="000000">
                              <a:alpha val="100000"/>
                            </a:srgbClr>
                          </a:solidFill>
                          <a:latin typeface="Arial"/>
                          <a:cs typeface="Arial"/>
                          <a:sym typeface="Arial"/>
                        </a:rPr>
                        <a:t>Just Health Reported </a:t>
                      </a:r>
                      <a:r>
                        <a:rPr sz="1000" b="0" i="0" u="none" cap="none" dirty="0">
                          <a:solidFill>
                            <a:srgbClr val="000000">
                              <a:alpha val="100000"/>
                            </a:srgbClr>
                          </a:solidFill>
                          <a:latin typeface="Arial"/>
                          <a:cs typeface="Arial"/>
                          <a:sym typeface="Arial"/>
                        </a:rPr>
                        <a:t>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292622">
                <a:tc>
                  <a:txBody>
                    <a:bodyPr/>
                    <a:lstStyle/>
                    <a:p>
                      <a:pPr marL="63500" marR="63500" algn="l">
                        <a:lnSpc>
                          <a:spcPct val="100000"/>
                        </a:lnSpc>
                        <a:spcBef>
                          <a:spcPts val="500"/>
                        </a:spcBef>
                        <a:spcAft>
                          <a:spcPts val="500"/>
                        </a:spcAft>
                        <a:buNone/>
                      </a:pPr>
                      <a:r>
                        <a:rPr lang="en-US" sz="1000" b="0" i="0" u="none" cap="none" dirty="0">
                          <a:solidFill>
                            <a:srgbClr val="000000">
                              <a:alpha val="100000"/>
                            </a:srgbClr>
                          </a:solidFill>
                          <a:latin typeface="Arial"/>
                          <a:cs typeface="Arial"/>
                          <a:sym typeface="Arial"/>
                        </a:rPr>
                        <a:t>Just Health Reported </a:t>
                      </a:r>
                      <a:r>
                        <a:rPr sz="1000" b="0" i="0" u="none" cap="none" dirty="0">
                          <a:solidFill>
                            <a:srgbClr val="000000">
                              <a:alpha val="100000"/>
                            </a:srgbClr>
                          </a:solidFill>
                          <a:latin typeface="Arial"/>
                          <a:cs typeface="Arial"/>
                          <a:sym typeface="Arial"/>
                        </a:rPr>
                        <a:t>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292622">
                <a:tc>
                  <a:txBody>
                    <a:bodyPr/>
                    <a:lstStyle/>
                    <a:p>
                      <a:pPr marL="63500" marR="63500" algn="l">
                        <a:lnSpc>
                          <a:spcPct val="100000"/>
                        </a:lnSpc>
                        <a:spcBef>
                          <a:spcPts val="500"/>
                        </a:spcBef>
                        <a:spcAft>
                          <a:spcPts val="500"/>
                        </a:spcAft>
                        <a:buNone/>
                      </a:pPr>
                      <a:r>
                        <a:rPr lang="en-US" sz="1000" b="0" i="0" u="none" cap="none" dirty="0">
                          <a:solidFill>
                            <a:srgbClr val="000000">
                              <a:alpha val="100000"/>
                            </a:srgbClr>
                          </a:solidFill>
                          <a:latin typeface="Arial"/>
                          <a:cs typeface="Arial"/>
                          <a:sym typeface="Arial"/>
                        </a:rPr>
                        <a:t>Just Health Reported  </a:t>
                      </a:r>
                      <a:r>
                        <a:rPr sz="1000" b="0" i="0" u="none" cap="none" dirty="0">
                          <a:solidFill>
                            <a:srgbClr val="000000">
                              <a:alpha val="100000"/>
                            </a:srgbClr>
                          </a:solidFill>
                          <a:latin typeface="Arial"/>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292622">
                <a:tc>
                  <a:txBody>
                    <a:bodyPr/>
                    <a:lstStyle/>
                    <a:p>
                      <a:pPr marL="63500" marR="63500" algn="l">
                        <a:lnSpc>
                          <a:spcPct val="100000"/>
                        </a:lnSpc>
                        <a:spcBef>
                          <a:spcPts val="500"/>
                        </a:spcBef>
                        <a:spcAft>
                          <a:spcPts val="500"/>
                        </a:spcAft>
                        <a:buNone/>
                      </a:pPr>
                      <a:r>
                        <a:rPr lang="en-US" sz="1000" b="0" i="0" u="none" cap="none" dirty="0">
                          <a:solidFill>
                            <a:srgbClr val="000000">
                              <a:alpha val="100000"/>
                            </a:srgbClr>
                          </a:solidFill>
                          <a:latin typeface="Arial"/>
                          <a:cs typeface="Arial"/>
                          <a:sym typeface="Arial"/>
                        </a:rPr>
                        <a:t>Just Health Reported </a:t>
                      </a:r>
                      <a:r>
                        <a:rPr sz="1000" b="0" i="0" u="none" cap="none" dirty="0">
                          <a:solidFill>
                            <a:srgbClr val="000000">
                              <a:alpha val="100000"/>
                            </a:srgbClr>
                          </a:solidFill>
                          <a:latin typeface="Arial"/>
                          <a:cs typeface="Arial"/>
                          <a:sym typeface="Arial"/>
                        </a:rPr>
                        <a:t>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25.0%</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29262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41.7%</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21"/>
                  </a:ext>
                </a:extLst>
              </a:tr>
              <a:tr h="29262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Market Share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8.5%</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2"/>
                  </a:ext>
                </a:extLst>
              </a:tr>
              <a:tr h="29262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Market Share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26070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26070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2</a:t>
                      </a:r>
                      <a:r>
                        <a:rPr lang="en-US" sz="800" b="0" i="0" u="none" cap="none" dirty="0">
                          <a:solidFill>
                            <a:srgbClr val="666666">
                              <a:alpha val="100000"/>
                            </a:srgbClr>
                          </a:solidFill>
                          <a:latin typeface="Arial"/>
                          <a:cs typeface="Arial"/>
                          <a:sym typeface="Arial"/>
                        </a:rPr>
                        <a:t>. Payer mix estimates were received directly from Just Health. </a:t>
                      </a:r>
                      <a:endParaRPr sz="800" b="0" i="0" u="none" cap="none" dirty="0">
                        <a:solidFill>
                          <a:srgbClr val="666666">
                            <a:alpha val="100000"/>
                          </a:srgbClr>
                        </a:solidFill>
                        <a:latin typeface="Arial"/>
                        <a:cs typeface="Arial"/>
                        <a:sym typeface="Arial"/>
                      </a:endParaRP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26070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260700">
                <a:tc gridSpan="4">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4836549" y="3312285"/>
            <a:ext cx="6092786" cy="2127287"/>
          </a:xfrm>
        </p:spPr>
        <p:txBody>
          <a:bodyPr vert="horz" lIns="91440" tIns="45720" rIns="91440" bIns="45720" rtlCol="0" anchor="b">
            <a:normAutofit fontScale="90000"/>
          </a:bodyPr>
          <a:lstStyle/>
          <a:p>
            <a:pPr defTabSz="914400"/>
            <a:r>
              <a:rPr lang="en-US" sz="4800" kern="1200" dirty="0">
                <a:solidFill>
                  <a:schemeClr val="tx1"/>
                </a:solidFill>
                <a:latin typeface="+mj-lt"/>
                <a:ea typeface="+mj-ea"/>
                <a:cs typeface="+mj-cs"/>
              </a:rPr>
              <a:t>FINANCIAL PROJECTIONS &amp; ASSUMPTIONS:</a:t>
            </a:r>
            <a:br>
              <a:rPr lang="en-US" sz="4800" kern="1200" dirty="0">
                <a:solidFill>
                  <a:schemeClr val="tx1"/>
                </a:solidFill>
                <a:latin typeface="+mj-lt"/>
                <a:ea typeface="+mj-ea"/>
                <a:cs typeface="+mj-cs"/>
              </a:rPr>
            </a:br>
            <a:br>
              <a:rPr lang="en-US" sz="4800" kern="1200" dirty="0">
                <a:solidFill>
                  <a:schemeClr val="tx1"/>
                </a:solidFill>
                <a:latin typeface="+mj-lt"/>
                <a:ea typeface="+mj-ea"/>
                <a:cs typeface="+mj-cs"/>
              </a:rPr>
            </a:br>
            <a:r>
              <a:rPr lang="en-US" sz="4800" kern="1200" dirty="0">
                <a:solidFill>
                  <a:schemeClr val="tx1"/>
                </a:solidFill>
                <a:latin typeface="+mj-lt"/>
                <a:ea typeface="+mj-ea"/>
                <a:cs typeface="+mj-cs"/>
              </a:rPr>
              <a:t>ESTIMATING KIP RETURNS</a:t>
            </a:r>
          </a:p>
        </p:txBody>
      </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364091" y="0"/>
            <a:ext cx="826383" cy="680018"/>
          </a:xfrm>
        </p:spPr>
        <p:txBody>
          <a:bodyPr vert="horz" lIns="91440" tIns="45720" rIns="91440" bIns="45720" rtlCol="0" anchor="ctr">
            <a:normAutofit/>
          </a:bodyPr>
          <a:lstStyle/>
          <a:p>
            <a:pPr algn="ctr" defTabSz="914400">
              <a:spcAft>
                <a:spcPts val="600"/>
              </a:spcAft>
            </a:pPr>
            <a:fld id="{3AFC719D-C4A7-4544-876E-D411D11AF6C9}" type="slidenum">
              <a:rPr lang="en-US"/>
              <a:pPr algn="ctr" defTabSz="914400">
                <a:spcAft>
                  <a:spcPts val="600"/>
                </a:spcAft>
              </a:pPr>
              <a:t>21</a:t>
            </a:fld>
            <a:endParaRPr lang="en-US"/>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2899" y="2355650"/>
            <a:ext cx="3756276" cy="3756276"/>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6825444" y="6144656"/>
            <a:ext cx="4114800" cy="713344"/>
          </a:xfrm>
        </p:spPr>
        <p:txBody>
          <a:bodyPr vert="horz" lIns="91440" tIns="45720" rIns="91440" bIns="45720" rtlCol="0" anchor="ctr">
            <a:normAutofit/>
          </a:bodyPr>
          <a:lstStyle/>
          <a:p>
            <a:pPr algn="r" defTabSz="914400">
              <a:spcAft>
                <a:spcPts val="600"/>
              </a:spcAft>
            </a:pPr>
            <a:r>
              <a:rPr lang="en-US" kern="1200">
                <a:solidFill>
                  <a:schemeClr val="tx1">
                    <a:tint val="75000"/>
                  </a:schemeClr>
                </a:solidFill>
                <a:latin typeface="+mn-lt"/>
                <a:ea typeface="+mn-ea"/>
                <a:cs typeface="+mn-cs"/>
              </a:rPr>
              <a:t>Key Benefit Administrators</a:t>
            </a:r>
          </a:p>
        </p:txBody>
      </p:sp>
    </p:spTree>
    <p:extLst>
      <p:ext uri="{BB962C8B-B14F-4D97-AF65-F5344CB8AC3E}">
        <p14:creationId xmlns:p14="http://schemas.microsoft.com/office/powerpoint/2010/main" val="2318743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a:xfrm>
            <a:off x="611635" y="389125"/>
            <a:ext cx="10955969" cy="1325563"/>
          </a:xfrm>
        </p:spPr>
        <p:txBody>
          <a:bodyPr/>
          <a:lstStyle/>
          <a:p>
            <a:r>
              <a:rPr lang="en-US" b="1" dirty="0">
                <a:latin typeface="Arial" panose="020B0604020202020204" pitchFamily="34" charset="0"/>
                <a:cs typeface="Arial" panose="020B0604020202020204" pitchFamily="34" charset="0"/>
              </a:rPr>
              <a:t>Estimating PMPY Spend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1027289305"/>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solidFill/>
                          <a:effectLst/>
                        </a:rPr>
                        <a:t>Adjusted to Union, Essex and Hudson Counties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$ 7049</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$ 3877</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$ 3292</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22</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23</a:t>
            </a:fld>
            <a:endParaRPr lang="en-US" dirty="0">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443702311"/>
              </p:ext>
            </p:extLst>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Pre-KIP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$ 7,258,861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$ 2,425,903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$ 2,059,859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$ 11,744,624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$ 2,342,672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$ 782,918.5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$ 664,784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$ 3,790,375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14"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2219722370"/>
              </p:ext>
            </p:extLst>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$ 2,958,659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$ 3,018,659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$ 2,688,659</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16"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42541373"/>
              </p:ext>
            </p:extLst>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KIP</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$ 9,692,375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$ 3,392,375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$ 2,880,500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$ 15,965,250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$ 4,097,284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$ 1,434,068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$ 1,217,682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$ 6,749,034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2" name="TextBox 1">
            <a:extLst>
              <a:ext uri="{FF2B5EF4-FFF2-40B4-BE49-F238E27FC236}">
                <a16:creationId xmlns:a16="http://schemas.microsoft.com/office/drawing/2014/main" id="{60820A86-1B9D-21A4-BBB6-DDFB73605882}"/>
              </a:ext>
            </a:extLst>
          </p:cNvPr>
          <p:cNvSpPr txBox="1"/>
          <p:nvPr/>
        </p:nvSpPr>
        <p:spPr>
          <a:xfrm>
            <a:off x="7772647" y="875949"/>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21% (inpatient) and 13% (outpatient)</a:t>
            </a:r>
          </a:p>
        </p:txBody>
      </p:sp>
      <p:sp>
        <p:nvSpPr>
          <p:cNvPr id="3"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32.3% (0.8% of the observed commercial margin)</a:t>
            </a:r>
          </a:p>
        </p:txBody>
      </p:sp>
      <p:sp>
        <p:nvSpPr>
          <p:cNvPr id="7"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⁰ Assuming improved market steerage to </a:t>
            </a:r>
            <a:r>
              <a:rPr lang="en-US" sz="1400">
                <a:solidFill/>
                <a:latin typeface="Arial" panose="020B0604020202020204" pitchFamily="34" charset="0"/>
                <a:cs typeface="Arial" panose="020B0604020202020204" pitchFamily="34" charset="0"/>
              </a:rPr>
              <a:t>Just Health of 27%/17% </a:t>
            </a:r>
            <a:endParaRPr lang="en-US" sz="1400" dirty="0">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EAB8CE47-A435-F8DD-4B0D-F8F07262484B}"/>
              </a:ext>
            </a:extLst>
          </p:cNvPr>
          <p:cNvSpPr txBox="1"/>
          <p:nvPr/>
        </p:nvSpPr>
        <p:spPr>
          <a:xfrm>
            <a:off x="7772646" y="2690336"/>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a commercial margin of 42.3%, with a 10 percentage-point increase to reflect lower billing costs and higher patient payments. </a:t>
            </a:r>
          </a:p>
        </p:txBody>
      </p:sp>
    </p:spTree>
    <p:extLst>
      <p:ext uri="{BB962C8B-B14F-4D97-AF65-F5344CB8AC3E}">
        <p14:creationId xmlns:p14="http://schemas.microsoft.com/office/powerpoint/2010/main" val="1419816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a:extLst>
              <a:ext uri="{FF2B5EF4-FFF2-40B4-BE49-F238E27FC236}">
                <a16:creationId xmlns:a16="http://schemas.microsoft.com/office/drawing/2014/main" id="{24B19CB6-F619-92EA-011B-2BD82D2D79EE}"/>
              </a:ext>
            </a:extLst>
          </p:cNvPr>
          <p:cNvGraphicFramePr>
            <a:graphicFrameLocks noGrp="1"/>
          </p:cNvGraphicFramePr>
          <p:nvPr>
            <p:extLst>
              <p:ext uri="{D42A27DB-BD31-4B8C-83A1-F6EECF244321}">
                <p14:modId xmlns:p14="http://schemas.microsoft.com/office/powerpoint/2010/main" val="4284375600"/>
              </p:ext>
            </p:extLst>
          </p:nvPr>
        </p:nvGraphicFramePr>
        <p:xfrm>
          <a:off x="0" y="0"/>
          <a:ext cx="12192002" cy="6858003"/>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591623">
                <a:tc gridSpan="6">
                  <a:txBody>
                    <a:bodyPr/>
                    <a:lstStyle/>
                    <a:p>
                      <a:pPr marL="127000" marR="127000" algn="l">
                        <a:lnSpc>
                          <a:spcPct val="100000"/>
                        </a:lnSpc>
                        <a:spcBef>
                          <a:spcPts val="1000"/>
                        </a:spcBef>
                        <a:spcAft>
                          <a:spcPts val="1000"/>
                        </a:spcAft>
                        <a:buNone/>
                      </a:pPr>
                      <a:r>
                        <a:rPr sz="1600" b="1" i="0" u="none" cap="none" dirty="0">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555401">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700289">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501069">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$1,174.5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$2,348.9</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$11,744.6</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$23,489.2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$46,978.5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501069">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$379.0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$758.1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$3,790.4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$7,580.7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$15,161.5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501069">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$3,193.1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$15,965.2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$31,930.5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$63,861.0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501069">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$422.1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$844.1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$4,220.6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$8,441.3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$16,882.5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501069">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$674.9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$1,349.8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$6,749.0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$13,498.1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$26,996.1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501069">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$591.7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$2,958.7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$5,917.3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$11,834.6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501069">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501069">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501069">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501069">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Net Margin Less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$-28.1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$273.7</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$2,688.7</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$5,707.3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$11,744.6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a:extLst>
              <a:ext uri="{FF2B5EF4-FFF2-40B4-BE49-F238E27FC236}">
                <a16:creationId xmlns:a16="http://schemas.microsoft.com/office/drawing/2014/main" id="{24B19CB6-F619-92EA-011B-2BD82D2D79EE}"/>
              </a:ext>
            </a:extLst>
          </p:cNvPr>
          <p:cNvGraphicFramePr>
            <a:graphicFrameLocks noGrp="1"/>
          </p:cNvGraphicFramePr>
          <p:nvPr>
            <p:extLst>
              <p:ext uri="{D42A27DB-BD31-4B8C-83A1-F6EECF244321}">
                <p14:modId xmlns:p14="http://schemas.microsoft.com/office/powerpoint/2010/main" val="770246346"/>
              </p:ext>
            </p:extLst>
          </p:nvPr>
        </p:nvGraphicFramePr>
        <p:xfrm>
          <a:off x="0" y="0"/>
          <a:ext cx="12192002" cy="675030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1600" b="1" i="0" u="none" cap="none" dirty="0">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$29,035.4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$2,342.7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$4,685.3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$9,370.7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$969.2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$1,938.5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$9,692.4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$19,384.8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$38,769.5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$409.7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$4,097.3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$8,194.6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$16,389.1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$243.4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$486.7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$2,433.5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$4,867.0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$9,734.1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$175.5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$350.9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$1,754.6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$3,509.2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$7,018.4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$242.6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$485.2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$2,425.9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$4,851.8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$9,703.6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$78.3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$156.6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$782.9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$1,565.8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$3,131.7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$339.2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$678.5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$3,392.4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$6,784.8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$13,569.5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$143.4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$286.8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$1,434.1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$2,868.1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$5,736.3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$96.6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$193.3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$966.5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$1,932.9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$3,865.9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$130.2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$651.1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$1,302.3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$2,604.6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$206.0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$412.0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$2,059.9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$4,119.7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$8,239.4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$66.5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$664.8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$1,329.6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$2,659.1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$288.1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$576.1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$2,880.5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$5,761.0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$11,522.0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$1,217.7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$2,435.4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$4,870.7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$1,641.3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$3,282.6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$552.9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$1,105.8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$2,211.6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17573296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a:extLst>
              <a:ext uri="{FF2B5EF4-FFF2-40B4-BE49-F238E27FC236}">
                <a16:creationId xmlns:a16="http://schemas.microsoft.com/office/drawing/2014/main" id="{04B91B00-103B-A906-EBAA-733B906FA836}"/>
              </a:ext>
            </a:extLst>
          </p:cNvPr>
          <p:cNvGraphicFramePr>
            <a:graphicFrameLocks noGrp="1"/>
          </p:cNvGraphicFramePr>
          <p:nvPr>
            <p:extLst>
              <p:ext uri="{D42A27DB-BD31-4B8C-83A1-F6EECF244321}">
                <p14:modId xmlns:p14="http://schemas.microsoft.com/office/powerpoint/2010/main" val="463530581"/>
              </p:ext>
            </p:extLst>
          </p:nvPr>
        </p:nvGraphicFramePr>
        <p:xfrm>
          <a:off x="0" y="0"/>
          <a:ext cx="12192002" cy="6858003"/>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591623">
                <a:tc gridSpan="6">
                  <a:txBody>
                    <a:bodyPr/>
                    <a:lstStyle/>
                    <a:p>
                      <a:pPr marL="127000" marR="127000" algn="l">
                        <a:lnSpc>
                          <a:spcPct val="100000"/>
                        </a:lnSpc>
                        <a:spcBef>
                          <a:spcPts val="1000"/>
                        </a:spcBef>
                        <a:spcAft>
                          <a:spcPts val="1000"/>
                        </a:spcAft>
                        <a:buNone/>
                      </a:pPr>
                      <a:r>
                        <a:rPr sz="1600" b="1" i="0" u="none" cap="none" dirty="0">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55401">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700289">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501069">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$1,331.1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$2,662.2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$13,311.1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$26,622.3</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$53,244.6</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501069">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$429.6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$4,295.9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$8,591.9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$17,183.8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501069">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$1,845.9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$3,691.9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$18,459.4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$36,918.8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$73,837.6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501069">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$1,029.7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$5,148.3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$10,296.5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$20,593.0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501069">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$872.6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$1,745.3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$8,726.4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$17,452.7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$34,905.5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501069">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$886.1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$4,430.4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$8,860.8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$17,721.7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501069">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501069">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501069">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501069">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Net Margin Less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$119.0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$568.1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$4,160.4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$8,650.8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$17,631.7</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a:extLst>
              <a:ext uri="{FF2B5EF4-FFF2-40B4-BE49-F238E27FC236}">
                <a16:creationId xmlns:a16="http://schemas.microsoft.com/office/drawing/2014/main" id="{04B91B00-103B-A906-EBAA-733B906FA836}"/>
              </a:ext>
            </a:extLst>
          </p:cNvPr>
          <p:cNvGraphicFramePr>
            <a:graphicFrameLocks noGrp="1"/>
          </p:cNvGraphicFramePr>
          <p:nvPr>
            <p:extLst>
              <p:ext uri="{D42A27DB-BD31-4B8C-83A1-F6EECF244321}">
                <p14:modId xmlns:p14="http://schemas.microsoft.com/office/powerpoint/2010/main" val="3372086136"/>
              </p:ext>
            </p:extLst>
          </p:nvPr>
        </p:nvGraphicFramePr>
        <p:xfrm>
          <a:off x="0" y="0"/>
          <a:ext cx="12192002" cy="6858007"/>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515402">
                <a:tc gridSpan="6">
                  <a:txBody>
                    <a:bodyPr/>
                    <a:lstStyle/>
                    <a:p>
                      <a:pPr marL="127000" marR="127000" algn="l">
                        <a:lnSpc>
                          <a:spcPct val="100000"/>
                        </a:lnSpc>
                        <a:spcBef>
                          <a:spcPts val="1000"/>
                        </a:spcBef>
                        <a:spcAft>
                          <a:spcPts val="1000"/>
                        </a:spcAft>
                        <a:buNone/>
                      </a:pPr>
                      <a:r>
                        <a:rPr sz="1600" b="1" i="0" u="none" cap="none" dirty="0">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353418">
                <a:tc gridSpan="6">
                  <a:txBody>
                    <a:bodyPr/>
                    <a:lstStyle/>
                    <a:p>
                      <a:pPr marL="127000" marR="127000" algn="l">
                        <a:lnSpc>
                          <a:spcPct val="100000"/>
                        </a:lnSpc>
                        <a:spcBef>
                          <a:spcPts val="1000"/>
                        </a:spcBef>
                        <a:spcAft>
                          <a:spcPts val="1000"/>
                        </a:spcAft>
                        <a:buNone/>
                      </a:pPr>
                      <a:r>
                        <a:rPr sz="1400" b="1" i="0" u="none" cap="none" dirty="0">
                          <a:solidFill>
                            <a:srgbClr val="FFFFFF">
                              <a:alpha val="100000"/>
                            </a:srgbClr>
                          </a:solidFill>
                          <a:latin typeface="Arial"/>
                          <a:cs typeface="Arial"/>
                          <a:sym typeface="Arial"/>
                        </a:rPr>
                        <a:t>All values in thousands of dollars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79639">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0608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$29,035.4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0608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$2,342.7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$4,685.3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$9,370.7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$1,057.3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$2,114.7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$10,573.5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$21,147.0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$42,294.0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$499.8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$999.7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$4,998.4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$9,996.9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$19,993.8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$662.9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$3,314.6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$6,629.3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$13,258.6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$265.6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$531.2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$2,655.8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$5,311.5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$10,623.1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0608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$399.2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$798.5</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$3,992.4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$7,984.9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$15,969.7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0608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$257.7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$1,288.5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$5,153.9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$426.5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$4,264.7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$8,529.4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$17,058.8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$201.6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$403.2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$2,016.1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$4,032.1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$8,064.3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$54.5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$272.3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$544.5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$727.6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$1,455.2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$2,910.3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0608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$206.0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$412.0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$2,059.9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$4,119.7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$8,239.4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0608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$66.5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$664.8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$1,329.6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$2,659.1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$724.2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$3,621.2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$7,242.4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$14,484.8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$171.2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$1,711.9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$3,423.7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$6,847.4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$156.1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$312.3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$1,561.3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$3,122.7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$6,245.4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$104.7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$209.4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$1,047.1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$2,094.2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$4,188.3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18310318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a:extLst>
              <a:ext uri="{FF2B5EF4-FFF2-40B4-BE49-F238E27FC236}">
                <a16:creationId xmlns:a16="http://schemas.microsoft.com/office/drawing/2014/main" id="{F11A0CA4-D2B6-179C-B405-123C8205BAA3}"/>
              </a:ext>
            </a:extLst>
          </p:cNvPr>
          <p:cNvGraphicFramePr>
            <a:graphicFrameLocks noGrp="1"/>
          </p:cNvGraphicFramePr>
          <p:nvPr>
            <p:extLst>
              <p:ext uri="{D42A27DB-BD31-4B8C-83A1-F6EECF244321}">
                <p14:modId xmlns:p14="http://schemas.microsoft.com/office/powerpoint/2010/main" val="362408241"/>
              </p:ext>
            </p:extLst>
          </p:nvPr>
        </p:nvGraphicFramePr>
        <p:xfrm>
          <a:off x="0" y="0"/>
          <a:ext cx="12192002" cy="6858003"/>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591623">
                <a:tc gridSpan="6">
                  <a:txBody>
                    <a:bodyPr/>
                    <a:lstStyle/>
                    <a:p>
                      <a:pPr marL="127000" marR="127000" algn="l">
                        <a:lnSpc>
                          <a:spcPct val="100000"/>
                        </a:lnSpc>
                        <a:spcBef>
                          <a:spcPts val="1000"/>
                        </a:spcBef>
                        <a:spcAft>
                          <a:spcPts val="1000"/>
                        </a:spcAft>
                        <a:buNone/>
                      </a:pPr>
                      <a:r>
                        <a:rPr sz="1600" b="1" i="0" u="none" cap="none" dirty="0">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55401">
                <a:tc gridSpan="6">
                  <a:txBody>
                    <a:bodyPr/>
                    <a:lstStyle/>
                    <a:p>
                      <a:pPr marL="127000" marR="127000" algn="l">
                        <a:lnSpc>
                          <a:spcPct val="100000"/>
                        </a:lnSpc>
                        <a:spcBef>
                          <a:spcPts val="1000"/>
                        </a:spcBef>
                        <a:spcAft>
                          <a:spcPts val="1000"/>
                        </a:spcAft>
                        <a:buNone/>
                      </a:pPr>
                      <a:r>
                        <a:rPr sz="1400" b="1" i="0" u="none" cap="none" dirty="0">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700289">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501069">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$1,331.1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$2,662.2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$13,311.1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$26,622.3</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$53,244.6</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501069">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$429.6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$4,295.9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$8,591.9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$17,183.8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501069">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$14,188.0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$28,376.0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$56,752.0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501069">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$87.7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$175.4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$876.9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$1,753.7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$3,507.4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501069">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$1,057.7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$5,288.3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$10,576.7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$21,153.3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501069">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$198.5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$992.4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$1,984.8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$3,969.6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501069">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501069">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501069">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501069">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Net Margin Less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$-224.8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$-119.5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$722.4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$1,774.8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$3,879.6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a:extLst>
              <a:ext uri="{FF2B5EF4-FFF2-40B4-BE49-F238E27FC236}">
                <a16:creationId xmlns:a16="http://schemas.microsoft.com/office/drawing/2014/main" id="{F11A0CA4-D2B6-179C-B405-123C8205BAA3}"/>
              </a:ext>
            </a:extLst>
          </p:cNvPr>
          <p:cNvGraphicFramePr>
            <a:graphicFrameLocks noGrp="1"/>
          </p:cNvGraphicFramePr>
          <p:nvPr>
            <p:extLst>
              <p:ext uri="{D42A27DB-BD31-4B8C-83A1-F6EECF244321}">
                <p14:modId xmlns:p14="http://schemas.microsoft.com/office/powerpoint/2010/main" val="717681312"/>
              </p:ext>
            </p:extLst>
          </p:nvPr>
        </p:nvGraphicFramePr>
        <p:xfrm>
          <a:off x="0" y="0"/>
          <a:ext cx="12192002" cy="6750304"/>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1600" b="1" i="0" u="none" cap="none" dirty="0">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dirty="0">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$29,035.4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$2,342.7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$4,685.3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$9,370.7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$1,762.2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$8,811.2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$17,622.5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$35,245.0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$328.4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$656.8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$3,284.2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$6,568.5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$13,137.0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$155.2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$1,552.4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$3,104.8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$6,209.6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$188.3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$941.6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$1,883.1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$3,766.3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$399.2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$798.5</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$3,992.4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$7,984.9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$15,969.7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$1,288.5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$5,153.9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$2,907.8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$5,815.5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$11,631.0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$216.8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$1,083.8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$2,167.6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$4,335.3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$-1,084.7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$-2,169.4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$-4,338.7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$-204.7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$-409.3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$-818.7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$206.0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$412.0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$2,059.9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$4,119.7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$8,239.4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$66.5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$664.8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$1,329.6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$2,659.1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$493.8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$2,469.0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$4,938.0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$9,876.0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a:t>
                      </a:r>
                      <a:r>
                        <a:rPr lang="en-US" sz="1100" b="0" i="0" u="none" cap="none" dirty="0">
                          <a:solidFill>
                            <a:srgbClr val="000000">
                              <a:alpha val="100000"/>
                            </a:srgbClr>
                          </a:solidFill>
                          <a:latin typeface="Arial"/>
                          <a:cs typeface="Arial"/>
                          <a:sym typeface="Arial"/>
                        </a:rPr>
                        <a:t>Group</a:t>
                      </a:r>
                      <a:r>
                        <a:rPr sz="1100" b="0" i="0" u="none" cap="none" dirty="0">
                          <a:solidFill>
                            <a:srgbClr val="000000">
                              <a:alpha val="100000"/>
                            </a:srgbClr>
                          </a:solidFill>
                          <a:latin typeface="Arial"/>
                          <a:cs typeface="Arial"/>
                          <a:sym typeface="Arial"/>
                        </a:rPr>
                        <a:t>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$920.3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$1,840.6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$3,681.1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$818.3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$1,636.6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$255.5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$511.0</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$1,022.0</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36927850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Key Benefit Administrators</a:t>
            </a:r>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latin typeface="Arial" panose="020B0604020202020204" pitchFamily="34" charset="0"/>
                <a:cs typeface="Arial" panose="020B0604020202020204" pitchFamily="34" charset="0"/>
              </a:rPr>
              <a:t>30</a:t>
            </a:fld>
            <a:endParaRPr lang="en-US" dirty="0">
              <a:latin typeface="Arial" panose="020B0604020202020204" pitchFamily="34" charset="0"/>
              <a:cs typeface="Arial" panose="020B0604020202020204" pitchFamily="34" charset="0"/>
            </a:endParaRPr>
          </a:p>
        </p:txBody>
      </p:sp>
      <p:graphicFrame>
        <p:nvGraphicFramePr>
          <p:cNvPr id="6"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Pre-KIP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$ 7,258,861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$ 2,425,903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$ 2,059,859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$ 11,744,624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$ 2,577,636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$ 861,443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$ 731,459.9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$ 4,170,538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14"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$ 3,095,277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$ 3,155,277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solidFill/>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$ 2,825,277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16"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KIP</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$ 9,692,375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$ 3,392,375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$ 2,880,500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$ 15,965,250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$ 4,411,018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$ 1,543,876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$ 1,310,921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$ 7,265,816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9" name="TextBox 8">
            <a:extLst>
              <a:ext uri="{FF2B5EF4-FFF2-40B4-BE49-F238E27FC236}">
                <a16:creationId xmlns:a16="http://schemas.microsoft.com/office/drawing/2014/main" id="{BBAA69A9-5CA0-E12F-7379-053DBA81B2AF}"/>
              </a:ext>
            </a:extLst>
          </p:cNvPr>
          <p:cNvSpPr txBox="1"/>
          <p:nvPr/>
        </p:nvSpPr>
        <p:spPr>
          <a:xfrm>
            <a:off x="7772647" y="875949"/>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proportional revenues from market shares of 21% (inpatient) and 13% (outpatient)</a:t>
            </a:r>
          </a:p>
        </p:txBody>
      </p:sp>
      <p:sp>
        <p:nvSpPr>
          <p:cNvPr id="10" name="TextBox 9">
            <a:extLst>
              <a:ext uri="{FF2B5EF4-FFF2-40B4-BE49-F238E27FC236}">
                <a16:creationId xmlns:a16="http://schemas.microsoft.com/office/drawing/2014/main" id="{253DED55-4CAA-D0FE-B42D-F191BFCC0A1C}"/>
              </a:ext>
            </a:extLst>
          </p:cNvPr>
          <p:cNvSpPr txBox="1"/>
          <p:nvPr/>
        </p:nvSpPr>
        <p:spPr>
          <a:xfrm>
            <a:off x="7772646" y="1399169"/>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Conservatively assuming a commercial margin of 35.5% (80% of the observed commercial margin)</a:t>
            </a:r>
          </a:p>
        </p:txBody>
      </p:sp>
      <p:sp>
        <p:nvSpPr>
          <p:cNvPr id="11" name="TextBox 10">
            <a:extLst>
              <a:ext uri="{FF2B5EF4-FFF2-40B4-BE49-F238E27FC236}">
                <a16:creationId xmlns:a16="http://schemas.microsoft.com/office/drawing/2014/main" id="{79EEAA4C-20B5-C261-1B75-70DA48CBA49B}"/>
              </a:ext>
            </a:extLst>
          </p:cNvPr>
          <p:cNvSpPr txBox="1"/>
          <p:nvPr/>
        </p:nvSpPr>
        <p:spPr>
          <a:xfrm>
            <a:off x="7772646" y="2133704"/>
            <a:ext cx="4318001" cy="523220"/>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⁰ Assuming improved market steerage to Just Health of 27% inpatient/17% outpatient </a:t>
            </a:r>
          </a:p>
        </p:txBody>
      </p:sp>
      <p:sp>
        <p:nvSpPr>
          <p:cNvPr id="12" name="TextBox 11">
            <a:extLst>
              <a:ext uri="{FF2B5EF4-FFF2-40B4-BE49-F238E27FC236}">
                <a16:creationId xmlns:a16="http://schemas.microsoft.com/office/drawing/2014/main" id="{403AF23B-AA36-A333-BB84-CD0AFF163642}"/>
              </a:ext>
            </a:extLst>
          </p:cNvPr>
          <p:cNvSpPr txBox="1"/>
          <p:nvPr/>
        </p:nvSpPr>
        <p:spPr>
          <a:xfrm>
            <a:off x="7772646" y="2690336"/>
            <a:ext cx="4318001" cy="738664"/>
          </a:xfrm>
          <a:prstGeom prst="rect">
            <a:avLst/>
          </a:prstGeom>
          <a:noFill/>
        </p:spPr>
        <p:txBody>
          <a:bodyPr wrap="square">
            <a:spAutoFit/>
          </a:bodyPr>
          <a:lstStyle/>
          <a:p>
            <a:r>
              <a:rPr lang="en-US" sz="1400" dirty="0">
                <a:solidFill/>
                <a:latin typeface="Arial" panose="020B0604020202020204" pitchFamily="34" charset="0"/>
                <a:cs typeface="Arial" panose="020B0604020202020204" pitchFamily="34" charset="0"/>
              </a:rPr>
              <a:t>* Assuming a commercial margin of 45.5%, with a 10 percentage-point increase to reflect lower billing costs and higher patient payments. </a:t>
            </a:r>
          </a:p>
        </p:txBody>
      </p:sp>
    </p:spTree>
    <p:extLst>
      <p:ext uri="{BB962C8B-B14F-4D97-AF65-F5344CB8AC3E}">
        <p14:creationId xmlns:p14="http://schemas.microsoft.com/office/powerpoint/2010/main" val="39072171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2">
            <a:extLst>
              <a:ext uri="{FF2B5EF4-FFF2-40B4-BE49-F238E27FC236}">
                <a16:creationId xmlns:a16="http://schemas.microsoft.com/office/drawing/2014/main" id="{FDCFC8A3-D765-D3CD-7611-3203B2768BB5}"/>
              </a:ext>
            </a:extLst>
          </p:cNvPr>
          <p:cNvGraphicFramePr>
            <a:graphicFrameLocks noGrp="1"/>
          </p:cNvGraphicFramePr>
          <p:nvPr>
            <p:extLst>
              <p:ext uri="{D42A27DB-BD31-4B8C-83A1-F6EECF244321}">
                <p14:modId xmlns:p14="http://schemas.microsoft.com/office/powerpoint/2010/main" val="3696453262"/>
              </p:ext>
            </p:extLst>
          </p:nvPr>
        </p:nvGraphicFramePr>
        <p:xfrm>
          <a:off x="0" y="0"/>
          <a:ext cx="12192002" cy="6471093"/>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558245">
                <a:tc gridSpan="6">
                  <a:txBody>
                    <a:bodyPr/>
                    <a:lstStyle/>
                    <a:p>
                      <a:pPr marL="127000" marR="127000" algn="l">
                        <a:lnSpc>
                          <a:spcPct val="100000"/>
                        </a:lnSpc>
                        <a:spcBef>
                          <a:spcPts val="1000"/>
                        </a:spcBef>
                        <a:spcAft>
                          <a:spcPts val="1000"/>
                        </a:spcAft>
                        <a:buNone/>
                      </a:pPr>
                      <a:r>
                        <a:rPr sz="1600" b="1" i="0" u="none" cap="none" dirty="0">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524067">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660781">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7280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$1,174.5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$2,348.9</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$11,744.6</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$23,489.2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$46,978.5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47280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$417.1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$834.1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$4,170.5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$8,341.1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$16,682.2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47280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$3,193.1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$15,965.2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$31,930.5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$63,861.0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47280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$422.1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$844.1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$4,220.6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$8,441.3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$16,882.5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47280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$726.6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$7,265.8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$14,531.6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$29,063.3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47280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$309.5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$619.1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$3,095.3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$6,190.6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$12,381.1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47280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47280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47280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47280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Net Margin Less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$-14.5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$301.1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$2,825.3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$5,980.6</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$12,291.1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extLst>
      <p:ext uri="{BB962C8B-B14F-4D97-AF65-F5344CB8AC3E}">
        <p14:creationId xmlns:p14="http://schemas.microsoft.com/office/powerpoint/2010/main" val="2507458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2">
            <a:extLst>
              <a:ext uri="{FF2B5EF4-FFF2-40B4-BE49-F238E27FC236}">
                <a16:creationId xmlns:a16="http://schemas.microsoft.com/office/drawing/2014/main" id="{FDCFC8A3-D765-D3CD-7611-3203B2768BB5}"/>
              </a:ext>
            </a:extLst>
          </p:cNvPr>
          <p:cNvGraphicFramePr>
            <a:graphicFrameLocks noGrp="1"/>
          </p:cNvGraphicFramePr>
          <p:nvPr>
            <p:extLst>
              <p:ext uri="{D42A27DB-BD31-4B8C-83A1-F6EECF244321}">
                <p14:modId xmlns:p14="http://schemas.microsoft.com/office/powerpoint/2010/main" val="2510585537"/>
              </p:ext>
            </p:extLst>
          </p:nvPr>
        </p:nvGraphicFramePr>
        <p:xfrm>
          <a:off x="0" y="0"/>
          <a:ext cx="12192002" cy="6858007"/>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515402">
                <a:tc gridSpan="6">
                  <a:txBody>
                    <a:bodyPr/>
                    <a:lstStyle/>
                    <a:p>
                      <a:pPr marL="127000" marR="127000" algn="l">
                        <a:lnSpc>
                          <a:spcPct val="100000"/>
                        </a:lnSpc>
                        <a:spcBef>
                          <a:spcPts val="1000"/>
                        </a:spcBef>
                        <a:spcAft>
                          <a:spcPts val="1000"/>
                        </a:spcAft>
                        <a:buNone/>
                      </a:pPr>
                      <a:r>
                        <a:rPr sz="1600" b="1" i="0" u="none" cap="none" dirty="0">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Target Estimate With 6.5% Steerage to Just Health and a 10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353418">
                <a:tc gridSpan="6">
                  <a:txBody>
                    <a:bodyPr/>
                    <a:lstStyle/>
                    <a:p>
                      <a:pPr marL="127000" marR="127000" algn="l">
                        <a:lnSpc>
                          <a:spcPct val="100000"/>
                        </a:lnSpc>
                        <a:spcBef>
                          <a:spcPts val="1000"/>
                        </a:spcBef>
                        <a:spcAft>
                          <a:spcPts val="1000"/>
                        </a:spcAft>
                        <a:buNone/>
                      </a:pPr>
                      <a:r>
                        <a:rPr sz="1400" b="1" i="0" u="none" cap="none" dirty="0">
                          <a:solidFill>
                            <a:srgbClr val="FFFFFF">
                              <a:alpha val="100000"/>
                            </a:srgbClr>
                          </a:solidFill>
                          <a:latin typeface="Arial"/>
                          <a:cs typeface="Arial"/>
                          <a:sym typeface="Arial"/>
                        </a:rPr>
                        <a:t>All values in thousands of dollars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479639">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0608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$29,035.4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0608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$2,577.6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$5,155.3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$10,310.5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$969.2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$1,938.5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$9,692.4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$19,384.8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$38,769.5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$882.2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$4,411.0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$8,822.0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$17,644.1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$243.4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$486.7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$2,433.5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$4,867.0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$9,734.1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$183.3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$366.7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$1,833.4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$3,666.8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$7,333.5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0608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$242.6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$485.2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$2,425.9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$4,851.8</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$9,703.6</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0608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$86.1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$172.3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$861.4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$1,722.9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$3,445.8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$339.2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$678.5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$3,392.4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$6,784.8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$13,569.5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$154.4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$1,543.9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$3,087.8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$6,175.5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$96.6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$193.3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$966.5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$1,932.9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$3,865.9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$136.5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$682.4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$1,364.9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$2,729.7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0608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$206.0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$412.0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$2,059.9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$4,119.7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$8,239.4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0608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$146.3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$1,462.9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$2,925.8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$288.1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$576.1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$2,880.5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$5,761.0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$11,522.0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$262.2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$1,310.9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$2,621.8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$5,243.7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$820.6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$1,641.3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$3,282.6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0608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$115.9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$579.5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$1,158.9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$2,317.8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3233613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2">
            <a:extLst>
              <a:ext uri="{FF2B5EF4-FFF2-40B4-BE49-F238E27FC236}">
                <a16:creationId xmlns:a16="http://schemas.microsoft.com/office/drawing/2014/main" id="{93733169-3A0D-25D3-C7B2-8CBDEF0E64AC}"/>
              </a:ext>
            </a:extLst>
          </p:cNvPr>
          <p:cNvGraphicFramePr>
            <a:graphicFrameLocks noGrp="1"/>
          </p:cNvGraphicFramePr>
          <p:nvPr>
            <p:extLst>
              <p:ext uri="{D42A27DB-BD31-4B8C-83A1-F6EECF244321}">
                <p14:modId xmlns:p14="http://schemas.microsoft.com/office/powerpoint/2010/main" val="992727555"/>
              </p:ext>
            </p:extLst>
          </p:nvPr>
        </p:nvGraphicFramePr>
        <p:xfrm>
          <a:off x="0" y="0"/>
          <a:ext cx="12192002" cy="6857998"/>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624546">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52483">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696609">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9843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$1,331.1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$2,662.2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$13,311.1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$26,622.3</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$53,244.6</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49843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$472.7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$945.4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$4,726.8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$9,453.6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$18,907.3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49843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$1,845.9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$3,691.9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$18,459.4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$36,918.8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$73,837.6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49843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$1,029.7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$5,148.3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$10,296.5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$20,593.0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49843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$932.4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$1,864.8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$9,323.9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$18,647.8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$37,295.5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49843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$459.7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$919.4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$4,597.1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$9,194.1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$18,388.3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498436">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498436">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498436">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498436">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Net Margin Less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$135.7</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$601.4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$4,327.1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$8,984.1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$18,298.3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extLst>
      <p:ext uri="{BB962C8B-B14F-4D97-AF65-F5344CB8AC3E}">
        <p14:creationId xmlns:p14="http://schemas.microsoft.com/office/powerpoint/2010/main" val="26768600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2">
            <a:extLst>
              <a:ext uri="{FF2B5EF4-FFF2-40B4-BE49-F238E27FC236}">
                <a16:creationId xmlns:a16="http://schemas.microsoft.com/office/drawing/2014/main" id="{93733169-3A0D-25D3-C7B2-8CBDEF0E64AC}"/>
              </a:ext>
            </a:extLst>
          </p:cNvPr>
          <p:cNvGraphicFramePr>
            <a:graphicFrameLocks noGrp="1"/>
          </p:cNvGraphicFramePr>
          <p:nvPr>
            <p:extLst>
              <p:ext uri="{D42A27DB-BD31-4B8C-83A1-F6EECF244321}">
                <p14:modId xmlns:p14="http://schemas.microsoft.com/office/powerpoint/2010/main" val="1901011594"/>
              </p:ext>
            </p:extLst>
          </p:nvPr>
        </p:nvGraphicFramePr>
        <p:xfrm>
          <a:off x="0" y="0"/>
          <a:ext cx="12192002" cy="6906768"/>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High Estimate With 9% Steerage to Just Health and a 15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$29,035.4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$2,577.6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$5,155.3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$10,310.5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$1,057.3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$2,114.7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$10,573.5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$21,147.0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$42,294.0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$534.1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$1,068.1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$5,340.7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$10,681.4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$21,362.8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$662.9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$3,314.6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$6,629.3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$13,258.6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$276.3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$552.6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$2,763.1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$5,526.1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$11,052.2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$399.2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$798.5</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$3,992.4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$7,984.9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$15,969.7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$2,835.4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$5,670.9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$426.5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$852.9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$4,264.7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$8,529.4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$17,058.8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$430.8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$2,154.1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$4,308.2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$8,616.4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$54.5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$272.3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$544.5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$147.3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$736.4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$1,472.8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$2,945.6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$206.0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$412.0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$2,059.9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$4,119.7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$8,239.4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$146.3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$731.5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$1,462.9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$2,925.8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$362.1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$724.2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$3,621.2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$7,242.4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$14,484.8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$365.8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$1,829.1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$3,658.2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$7,316.3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$156.1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$312.3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$1,561.3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$3,122.7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$6,245.4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$109.8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$219.5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$1,097.6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$2,195.2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$4,390.5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36301988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a:extLst>
              <a:ext uri="{FF2B5EF4-FFF2-40B4-BE49-F238E27FC236}">
                <a16:creationId xmlns:a16="http://schemas.microsoft.com/office/drawing/2014/main" id="{4119D35C-AC34-737C-EDB8-B7E6F5C40F49}"/>
              </a:ext>
            </a:extLst>
          </p:cNvPr>
          <p:cNvGraphicFramePr>
            <a:graphicFrameLocks noGrp="1"/>
          </p:cNvGraphicFramePr>
          <p:nvPr>
            <p:extLst>
              <p:ext uri="{D42A27DB-BD31-4B8C-83A1-F6EECF244321}">
                <p14:modId xmlns:p14="http://schemas.microsoft.com/office/powerpoint/2010/main" val="1090532757"/>
              </p:ext>
            </p:extLst>
          </p:nvPr>
        </p:nvGraphicFramePr>
        <p:xfrm>
          <a:off x="0" y="0"/>
          <a:ext cx="12192002" cy="6857998"/>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624546">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52483">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696609">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9843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$1,331.1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$2,662.2</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$13,311.1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$26,622.3</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$53,244.6</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498436">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$472.7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$945.4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$4,726.8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$9,453.6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$18,907.3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49843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$2,837.6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$14,188.0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$28,376.0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$56,752.0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49843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$87.7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$175.4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$876.9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$1,753.7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$3,507.4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49843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$574.8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$1,149.5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$5,747.6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$11,495.2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$22,990.3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498436">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$204.2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$1,020.8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$2,041.5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$4,083.1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498436">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498436">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Implementation Fee (One-Time)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498436">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498436">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Net Margin Less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$-221.9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$-113.8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$750.8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a:solidFill>
                            <a:srgbClr val="000000">
                              <a:alpha val="100000"/>
                            </a:srgbClr>
                          </a:solidFill>
                          <a:latin typeface="Arial"/>
                          <a:cs typeface="Arial"/>
                          <a:sym typeface="Arial"/>
                        </a:rPr>
                        <a:t>$1,831.5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$3,993.1</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extLst>
      <p:ext uri="{BB962C8B-B14F-4D97-AF65-F5344CB8AC3E}">
        <p14:creationId xmlns:p14="http://schemas.microsoft.com/office/powerpoint/2010/main" val="33801733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a:extLst>
              <a:ext uri="{FF2B5EF4-FFF2-40B4-BE49-F238E27FC236}">
                <a16:creationId xmlns:a16="http://schemas.microsoft.com/office/drawing/2014/main" id="{4119D35C-AC34-737C-EDB8-B7E6F5C40F49}"/>
              </a:ext>
            </a:extLst>
          </p:cNvPr>
          <p:cNvGraphicFramePr>
            <a:graphicFrameLocks noGrp="1"/>
          </p:cNvGraphicFramePr>
          <p:nvPr>
            <p:extLst>
              <p:ext uri="{D42A27DB-BD31-4B8C-83A1-F6EECF244321}">
                <p14:modId xmlns:p14="http://schemas.microsoft.com/office/powerpoint/2010/main" val="3931593776"/>
              </p:ext>
            </p:extLst>
          </p:nvPr>
        </p:nvGraphicFramePr>
        <p:xfrm>
          <a:off x="0" y="0"/>
          <a:ext cx="12192002" cy="6858006"/>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544452">
                <a:tc gridSpan="6">
                  <a:txBody>
                    <a:bodyPr/>
                    <a:lstStyle/>
                    <a:p>
                      <a:pPr marL="127000" marR="127000" algn="l">
                        <a:lnSpc>
                          <a:spcPct val="100000"/>
                        </a:lnSpc>
                        <a:spcBef>
                          <a:spcPts val="1000"/>
                        </a:spcBef>
                        <a:spcAft>
                          <a:spcPts val="1000"/>
                        </a:spcAft>
                        <a:buNone/>
                      </a:pPr>
                      <a:r>
                        <a:rPr sz="1800" b="1" i="0" u="none" cap="none" dirty="0">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Low Estimate With 4% Steerage to Just Health and a 5 Percentage-Point Improved Margin for KIP Patients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351800">
                <a:tc gridSpan="6">
                  <a:txBody>
                    <a:bodyPr/>
                    <a:lstStyle/>
                    <a:p>
                      <a:pPr marL="127000" marR="127000" algn="l">
                        <a:lnSpc>
                          <a:spcPct val="100000"/>
                        </a:lnSpc>
                        <a:spcBef>
                          <a:spcPts val="1000"/>
                        </a:spcBef>
                        <a:spcAft>
                          <a:spcPts val="1000"/>
                        </a:spcAft>
                        <a:buNone/>
                      </a:pPr>
                      <a:r>
                        <a:rPr sz="1400" b="1" i="0" u="none" cap="none" dirty="0">
                          <a:solidFill>
                            <a:srgbClr val="FFFFFF">
                              <a:alpha val="100000"/>
                            </a:srgbClr>
                          </a:solidFill>
                          <a:latin typeface="Arial"/>
                          <a:cs typeface="Arial"/>
                          <a:sym typeface="Arial"/>
                        </a:rPr>
                        <a:t>All values in thousands of dollars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77442">
                <a:tc>
                  <a:txBody>
                    <a:bodyPr/>
                    <a:lstStyle/>
                    <a:p>
                      <a:pPr marL="127000" marR="127000" algn="l">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Metric</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5000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10000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dirty="0">
                          <a:solidFill>
                            <a:srgbClr val="000000">
                              <a:alpha val="100000"/>
                            </a:srgbClr>
                          </a:solidFill>
                          <a:latin typeface="Arial"/>
                          <a:cs typeface="Arial"/>
                          <a:sym typeface="Arial"/>
                        </a:rPr>
                        <a:t>20000 </a:t>
                      </a:r>
                      <a:r>
                        <a:rPr lang="en-US" sz="1100" b="1" i="0" u="none" cap="none" dirty="0">
                          <a:solidFill>
                            <a:srgbClr val="000000">
                              <a:alpha val="100000"/>
                            </a:srgbClr>
                          </a:solidFill>
                          <a:latin typeface="Arial"/>
                          <a:cs typeface="Arial"/>
                          <a:sym typeface="Arial"/>
                        </a:rPr>
                        <a:t>KIP</a:t>
                      </a:r>
                      <a:r>
                        <a:rPr sz="1100" b="1" i="0" u="none" cap="none" dirty="0">
                          <a:solidFill>
                            <a:srgbClr val="000000">
                              <a:alpha val="100000"/>
                            </a:srgbClr>
                          </a:solidFill>
                          <a:latin typeface="Arial"/>
                          <a:cs typeface="Arial"/>
                          <a:sym typeface="Arial"/>
                        </a:rPr>
                        <a:t> Covered Lives</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04684">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$7,258.9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$14,517.7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$29,035.4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04684">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$2,577.6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$5,155.3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$10,310.5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0468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$881.1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$1,762.2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$8,811.2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$17,622.5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$35,245.0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30468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$356.9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$713.9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$3,569.5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$7,138.9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$14,277.8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0468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$155.2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$310.5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$1,552.4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$3,104.8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$6,209.6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0468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Inpatient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$99.2</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$198.4</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$991.8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$1,983.6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$3,967.3</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04684">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$399.2</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$798.5</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$3,992.4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$7,984.9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$15,969.7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04684">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$283.5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$1,417.7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$2,835.4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$5,670.9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0468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$2,907.8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$5,815.5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$11,631.0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30468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$117.8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$235.6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$1,177.9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$2,355.9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$4,711.7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0468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$-1,084.7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$-2,169.4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$-4,338.7</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0468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Outpatient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$-24.0</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$-48.0</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$-239.8</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$-479.6</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$-959.1</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04684">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$206.0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$412.0</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$2,059.9</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$4,119.7</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$8,239.4</a:t>
                      </a:r>
                    </a:p>
                  </a:txBody>
                  <a:tcPr marL="0" marR="0" marT="64008" marB="64008"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04684">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Pre-</a:t>
                      </a: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$146.3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$731.5</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$1,462.9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$2,925.8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0468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$493.8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$2,469.0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$4,938.0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$9,876.0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30468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$1,000.2</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$2,000.4</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$4,000.8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0468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Revenue</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$40.9</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$81.8</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$409.1</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$818.3</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$1,636.6</a:t>
                      </a:r>
                    </a:p>
                  </a:txBody>
                  <a:tcPr marL="0" marR="0" marT="64008" marB="64008"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04684">
                <a:tc>
                  <a:txBody>
                    <a:bodyPr/>
                    <a:lstStyle/>
                    <a:p>
                      <a:pPr marL="127000" marR="127000" algn="l">
                        <a:lnSpc>
                          <a:spcPct val="100000"/>
                        </a:lnSpc>
                        <a:spcBef>
                          <a:spcPts val="1000"/>
                        </a:spcBef>
                        <a:spcAft>
                          <a:spcPts val="1000"/>
                        </a:spcAft>
                        <a:buNone/>
                      </a:pPr>
                      <a:r>
                        <a:rPr lang="en-US" sz="1100" b="0" i="0" u="none" cap="none" dirty="0">
                          <a:solidFill>
                            <a:srgbClr val="000000">
                              <a:alpha val="100000"/>
                            </a:srgbClr>
                          </a:solidFill>
                          <a:latin typeface="Arial"/>
                          <a:cs typeface="Arial"/>
                          <a:sym typeface="Arial"/>
                        </a:rPr>
                        <a:t>KIP</a:t>
                      </a:r>
                      <a:r>
                        <a:rPr sz="1100" b="0" i="0" u="none" cap="none" dirty="0">
                          <a:solidFill>
                            <a:srgbClr val="000000">
                              <a:alpha val="100000"/>
                            </a:srgbClr>
                          </a:solidFill>
                          <a:latin typeface="Arial"/>
                          <a:cs typeface="Arial"/>
                          <a:sym typeface="Arial"/>
                        </a:rPr>
                        <a:t> Group Incremental Professional Margin</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$53.7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$268.7</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a:solidFill>
                            <a:srgbClr val="000000">
                              <a:alpha val="100000"/>
                            </a:srgbClr>
                          </a:solidFill>
                          <a:latin typeface="Arial"/>
                          <a:cs typeface="Arial"/>
                          <a:sym typeface="Arial"/>
                        </a:rPr>
                        <a:t>$537.5</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$1,074.9</a:t>
                      </a:r>
                    </a:p>
                  </a:txBody>
                  <a:tcPr marL="0" marR="0" marT="64008" marB="64008"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11790102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37</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3164975361"/>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graphicFrame>
        <p:nvGraphicFramePr>
          <p:cNvPr id="5" name="Diagram 4">
            <a:extLst>
              <a:ext uri="{FF2B5EF4-FFF2-40B4-BE49-F238E27FC236}">
                <a16:creationId xmlns:a16="http://schemas.microsoft.com/office/drawing/2014/main" id="{8E6E34C3-E019-4EEA-855C-769086D79D48}"/>
              </a:ext>
            </a:extLst>
          </p:cNvPr>
          <p:cNvGraphicFramePr/>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38</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39</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40</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49873</TotalTime>
  <Words>6302</Words>
  <Application>Microsoft Office PowerPoint</Application>
  <PresentationFormat>Widescreen</PresentationFormat>
  <Paragraphs>1918</Paragraphs>
  <Slides>40</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Aptos Narrow</vt:lpstr>
      <vt:lpstr>Arial</vt:lpstr>
      <vt:lpstr>Calibri</vt:lpstr>
      <vt:lpstr>Calibri Light</vt:lpstr>
      <vt:lpstr>Century Gothic</vt:lpstr>
      <vt:lpstr>Wingdings</vt:lpstr>
      <vt:lpstr>Office Theme</vt:lpstr>
      <vt:lpstr>PowerPoint Presentation</vt:lpstr>
      <vt:lpstr>Market Leader in Private-Labeled Plans</vt:lpstr>
      <vt:lpstr>Key Incentive Plan (KIP) Profit Generation Opportunities for Just Health</vt:lpstr>
      <vt:lpstr>Estimated Financial Returns and Assumptions</vt:lpstr>
      <vt:lpstr>SINGLE YEAR SUMMARY</vt:lpstr>
      <vt:lpstr>FOUR-YEAR PROJECTIONS</vt:lpstr>
      <vt:lpstr>Significant Opportunity for Plan Growth Researched for Union, Essex and Hudson Counties</vt:lpstr>
      <vt:lpstr>the missing piece to population health success</vt:lpstr>
      <vt:lpstr>PowerPoint Presentation</vt:lpstr>
      <vt:lpstr>Transparent PBM Integration </vt:lpstr>
      <vt:lpstr>STOP-LOSS INSURANCE</vt:lpstr>
      <vt:lpstr>KIP  PROGRAM MARKETING  &amp; SALES</vt:lpstr>
      <vt:lpstr>Complete Sales Distribution System</vt:lpstr>
      <vt:lpstr>Complete Marketing System</vt:lpstr>
      <vt:lpstr>FINANCIAL PROJECTIONS &amp; ASSUMPTIONS:  ESTIMATING CAREPOINT MARKET SHARE AND MARGIN</vt:lpstr>
      <vt:lpstr>Estimation of JH’s 2022 Inpatient Payer Mix</vt:lpstr>
      <vt:lpstr>Estimation of JH’s 2022 Inpatient Payer Mix</vt:lpstr>
      <vt:lpstr>Estimation of Margin for Commercial vs. Government Pay</vt:lpstr>
      <vt:lpstr>Estimating Market Share</vt:lpstr>
      <vt:lpstr>PowerPoint Presentation</vt:lpstr>
      <vt:lpstr>FINANCIAL PROJECTIONS &amp; ASSUMPTIONS:  ESTIMATING KIP RETURNS</vt:lpstr>
      <vt:lpstr>Estimating PMPY Spend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PRE-IMPLEMENTATION</vt:lpstr>
      <vt:lpstr>IMPLEMENTATION</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110</cp:revision>
  <cp:lastPrinted>2023-07-13T10:24:43Z</cp:lastPrinted>
  <dcterms:created xsi:type="dcterms:W3CDTF">2021-01-20T14:12:11Z</dcterms:created>
  <dcterms:modified xsi:type="dcterms:W3CDTF">2024-09-10T23:49:20Z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