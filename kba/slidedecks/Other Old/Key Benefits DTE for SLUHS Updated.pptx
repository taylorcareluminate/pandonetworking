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3.xml" ContentType="application/vnd.openxmlformats-officedocument.presentationml.tags+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44" r:id="rId4"/>
    <p:sldMasterId id="2147483768" r:id="rId5"/>
  </p:sldMasterIdLst>
  <p:notesMasterIdLst>
    <p:notesMasterId r:id="rId48"/>
  </p:notesMasterIdLst>
  <p:sldIdLst>
    <p:sldId id="488" r:id="rId6"/>
    <p:sldId id="549" r:id="rId7"/>
    <p:sldId id="487" r:id="rId8"/>
    <p:sldId id="518" r:id="rId9"/>
    <p:sldId id="520" r:id="rId10"/>
    <p:sldId id="466" r:id="rId11"/>
    <p:sldId id="517" r:id="rId12"/>
    <p:sldId id="519" r:id="rId13"/>
    <p:sldId id="548" r:id="rId14"/>
    <p:sldId id="521" r:id="rId15"/>
    <p:sldId id="267" r:id="rId16"/>
    <p:sldId id="259" r:id="rId17"/>
    <p:sldId id="263" r:id="rId18"/>
    <p:sldId id="265" r:id="rId19"/>
    <p:sldId id="456" r:id="rId20"/>
    <p:sldId id="489" r:id="rId21"/>
    <p:sldId id="499" r:id="rId22"/>
    <p:sldId id="458" r:id="rId23"/>
    <p:sldId id="446" r:id="rId24"/>
    <p:sldId id="461" r:id="rId25"/>
    <p:sldId id="462" r:id="rId26"/>
    <p:sldId id="469" r:id="rId27"/>
    <p:sldId id="336" r:id="rId28"/>
    <p:sldId id="337" r:id="rId29"/>
    <p:sldId id="501" r:id="rId30"/>
    <p:sldId id="524" r:id="rId31"/>
    <p:sldId id="525" r:id="rId32"/>
    <p:sldId id="527" r:id="rId33"/>
    <p:sldId id="535" r:id="rId34"/>
    <p:sldId id="546" r:id="rId35"/>
    <p:sldId id="547" r:id="rId36"/>
    <p:sldId id="536" r:id="rId37"/>
    <p:sldId id="550" r:id="rId38"/>
    <p:sldId id="551" r:id="rId39"/>
    <p:sldId id="256" r:id="rId40"/>
    <p:sldId id="552" r:id="rId41"/>
    <p:sldId id="498" r:id="rId42"/>
    <p:sldId id="325" r:id="rId43"/>
    <p:sldId id="326" r:id="rId44"/>
    <p:sldId id="491" r:id="rId45"/>
    <p:sldId id="454" r:id="rId46"/>
    <p:sldId id="472" r:id="rId47"/>
  </p:sldIdLst>
  <p:sldSz cx="12192000" cy="6858000"/>
  <p:notesSz cx="7315200" cy="9601200"/>
  <p:custDataLst>
    <p:tags r:id="rId49"/>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ill, Jack" initials="HJ" lastIdx="1" clrIdx="0">
    <p:extLst>
      <p:ext uri="{19B8F6BF-5375-455C-9EA6-DF929625EA0E}">
        <p15:presenceInfo xmlns:p15="http://schemas.microsoft.com/office/powerpoint/2012/main" userId="S::Jack.Hill@ahdi.com::a2532604-23e3-4156-966c-b672b0683ed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CD8B9"/>
    <a:srgbClr val="59CAE8"/>
    <a:srgbClr val="30589B"/>
    <a:srgbClr val="843C0C"/>
    <a:srgbClr val="01A050"/>
    <a:srgbClr val="6A8C98"/>
    <a:srgbClr val="244F9A"/>
    <a:srgbClr val="254F96"/>
    <a:srgbClr val="61A606"/>
    <a:srgbClr val="019CA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214" autoAdjust="0"/>
    <p:restoredTop sz="94660"/>
  </p:normalViewPr>
  <p:slideViewPr>
    <p:cSldViewPr snapToGrid="0">
      <p:cViewPr>
        <p:scale>
          <a:sx n="50" d="100"/>
          <a:sy n="50" d="100"/>
        </p:scale>
        <p:origin x="2586" y="1344"/>
      </p:cViewPr>
      <p:guideLst/>
    </p:cSldViewPr>
  </p:slideViewPr>
  <p:notesTextViewPr>
    <p:cViewPr>
      <p:scale>
        <a:sx n="3" d="2"/>
        <a:sy n="3" d="2"/>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commentAuthors" Target="commentAuthors.xml"/><Relationship Id="rId55" Type="http://schemas.microsoft.com/office/2016/11/relationships/changesInfo" Target="changesInfos/changesInfo1.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theme" Target="theme/theme1.xml"/><Relationship Id="rId5" Type="http://schemas.openxmlformats.org/officeDocument/2006/relationships/slideMaster" Target="slideMasters/slideMaster2.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notesMaster" Target="notesMasters/notesMaster1.xml"/><Relationship Id="rId8" Type="http://schemas.openxmlformats.org/officeDocument/2006/relationships/slide" Target="slides/slide3.xml"/><Relationship Id="rId51"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tags" Target="tags/tag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ylor Davis" userId="5c9e72a0-c39f-4aa1-9d7d-64125e78cbe6" providerId="ADAL" clId="{29C15169-5B66-4AD6-A452-38A1991A7E6A}"/>
    <pc:docChg chg="modSld">
      <pc:chgData name="Taylor Davis" userId="5c9e72a0-c39f-4aa1-9d7d-64125e78cbe6" providerId="ADAL" clId="{29C15169-5B66-4AD6-A452-38A1991A7E6A}" dt="2024-09-10T13:36:11.514" v="3" actId="1582"/>
      <pc:docMkLst>
        <pc:docMk/>
      </pc:docMkLst>
      <pc:sldChg chg="addSp modSp mod">
        <pc:chgData name="Taylor Davis" userId="5c9e72a0-c39f-4aa1-9d7d-64125e78cbe6" providerId="ADAL" clId="{29C15169-5B66-4AD6-A452-38A1991A7E6A}" dt="2024-09-10T13:36:11.514" v="3" actId="1582"/>
        <pc:sldMkLst>
          <pc:docMk/>
          <pc:sldMk cId="0" sldId="535"/>
        </pc:sldMkLst>
        <pc:spChg chg="add mod">
          <ac:chgData name="Taylor Davis" userId="5c9e72a0-c39f-4aa1-9d7d-64125e78cbe6" providerId="ADAL" clId="{29C15169-5B66-4AD6-A452-38A1991A7E6A}" dt="2024-09-10T13:36:11.514" v="3" actId="1582"/>
          <ac:spMkLst>
            <pc:docMk/>
            <pc:sldMk cId="0" sldId="535"/>
            <ac:spMk id="2" creationId="{A1B7988D-1E03-5753-2FC9-AA4D8B6E7A05}"/>
          </ac:spMkLst>
        </pc:spChg>
      </pc:sldChg>
    </pc:docChg>
  </pc:docChgLst>
  <pc:docChgLst>
    <pc:chgData name="Taylor Davis" userId="5c9e72a0-c39f-4aa1-9d7d-64125e78cbe6" providerId="ADAL" clId="{2C43CE98-EACD-4871-B0C2-D2B1FB239F7E}"/>
    <pc:docChg chg="undo custSel addSld delSld modSld">
      <pc:chgData name="Taylor Davis" userId="5c9e72a0-c39f-4aa1-9d7d-64125e78cbe6" providerId="ADAL" clId="{2C43CE98-EACD-4871-B0C2-D2B1FB239F7E}" dt="2024-07-28T01:56:52.203" v="1309" actId="13926"/>
      <pc:docMkLst>
        <pc:docMk/>
      </pc:docMkLst>
      <pc:sldChg chg="modSp add del mod">
        <pc:chgData name="Taylor Davis" userId="5c9e72a0-c39f-4aa1-9d7d-64125e78cbe6" providerId="ADAL" clId="{2C43CE98-EACD-4871-B0C2-D2B1FB239F7E}" dt="2024-07-28T01:46:39.176" v="1135" actId="403"/>
        <pc:sldMkLst>
          <pc:docMk/>
          <pc:sldMk cId="0" sldId="256"/>
        </pc:sldMkLst>
        <pc:graphicFrameChg chg="mod modGraphic">
          <ac:chgData name="Taylor Davis" userId="5c9e72a0-c39f-4aa1-9d7d-64125e78cbe6" providerId="ADAL" clId="{2C43CE98-EACD-4871-B0C2-D2B1FB239F7E}" dt="2024-07-28T01:46:39.176" v="1135" actId="403"/>
          <ac:graphicFrameMkLst>
            <pc:docMk/>
            <pc:sldMk cId="0" sldId="256"/>
            <ac:graphicFrameMk id="2" creationId="{00000000-0000-0000-0000-000000000000}"/>
          </ac:graphicFrameMkLst>
        </pc:graphicFrameChg>
      </pc:sldChg>
      <pc:sldChg chg="modSp mod">
        <pc:chgData name="Taylor Davis" userId="5c9e72a0-c39f-4aa1-9d7d-64125e78cbe6" providerId="ADAL" clId="{2C43CE98-EACD-4871-B0C2-D2B1FB239F7E}" dt="2024-07-28T01:53:36.157" v="1240" actId="20577"/>
        <pc:sldMkLst>
          <pc:docMk/>
          <pc:sldMk cId="413337631" sldId="259"/>
        </pc:sldMkLst>
        <pc:graphicFrameChg chg="mod modGraphic">
          <ac:chgData name="Taylor Davis" userId="5c9e72a0-c39f-4aa1-9d7d-64125e78cbe6" providerId="ADAL" clId="{2C43CE98-EACD-4871-B0C2-D2B1FB239F7E}" dt="2024-07-28T01:53:36.157" v="1240" actId="20577"/>
          <ac:graphicFrameMkLst>
            <pc:docMk/>
            <pc:sldMk cId="413337631" sldId="259"/>
            <ac:graphicFrameMk id="7" creationId="{F5DFB184-5687-810D-E027-F824D29970B6}"/>
          </ac:graphicFrameMkLst>
        </pc:graphicFrameChg>
      </pc:sldChg>
      <pc:sldChg chg="modSp mod">
        <pc:chgData name="Taylor Davis" userId="5c9e72a0-c39f-4aa1-9d7d-64125e78cbe6" providerId="ADAL" clId="{2C43CE98-EACD-4871-B0C2-D2B1FB239F7E}" dt="2024-07-28T01:56:52.203" v="1309" actId="13926"/>
        <pc:sldMkLst>
          <pc:docMk/>
          <pc:sldMk cId="2256184360" sldId="265"/>
        </pc:sldMkLst>
        <pc:graphicFrameChg chg="modGraphic">
          <ac:chgData name="Taylor Davis" userId="5c9e72a0-c39f-4aa1-9d7d-64125e78cbe6" providerId="ADAL" clId="{2C43CE98-EACD-4871-B0C2-D2B1FB239F7E}" dt="2024-07-28T01:56:52.203" v="1309" actId="13926"/>
          <ac:graphicFrameMkLst>
            <pc:docMk/>
            <pc:sldMk cId="2256184360" sldId="265"/>
            <ac:graphicFrameMk id="4" creationId="{AFA2A0DF-5447-9DFA-147E-C70145DBB6EE}"/>
          </ac:graphicFrameMkLst>
        </pc:graphicFrameChg>
      </pc:sldChg>
      <pc:sldChg chg="addSp delSp modSp mod">
        <pc:chgData name="Taylor Davis" userId="5c9e72a0-c39f-4aa1-9d7d-64125e78cbe6" providerId="ADAL" clId="{2C43CE98-EACD-4871-B0C2-D2B1FB239F7E}" dt="2024-07-28T01:22:26.593" v="828" actId="6549"/>
        <pc:sldMkLst>
          <pc:docMk/>
          <pc:sldMk cId="2203540903" sldId="499"/>
        </pc:sldMkLst>
        <pc:graphicFrameChg chg="add mod modGraphic">
          <ac:chgData name="Taylor Davis" userId="5c9e72a0-c39f-4aa1-9d7d-64125e78cbe6" providerId="ADAL" clId="{2C43CE98-EACD-4871-B0C2-D2B1FB239F7E}" dt="2024-07-28T01:22:26.593" v="828" actId="6549"/>
          <ac:graphicFrameMkLst>
            <pc:docMk/>
            <pc:sldMk cId="2203540903" sldId="499"/>
            <ac:graphicFrameMk id="2" creationId="{9044144D-BDD9-407D-D37E-C03EE39A20CC}"/>
          </ac:graphicFrameMkLst>
        </pc:graphicFrameChg>
        <pc:graphicFrameChg chg="del">
          <ac:chgData name="Taylor Davis" userId="5c9e72a0-c39f-4aa1-9d7d-64125e78cbe6" providerId="ADAL" clId="{2C43CE98-EACD-4871-B0C2-D2B1FB239F7E}" dt="2024-07-28T01:22:18.484" v="825" actId="478"/>
          <ac:graphicFrameMkLst>
            <pc:docMk/>
            <pc:sldMk cId="2203540903" sldId="499"/>
            <ac:graphicFrameMk id="6" creationId="{F7A81C79-4BB4-41D9-ACA4-AFBAF7A7BC0D}"/>
          </ac:graphicFrameMkLst>
        </pc:graphicFrameChg>
      </pc:sldChg>
      <pc:sldChg chg="addSp delSp modSp mod">
        <pc:chgData name="Taylor Davis" userId="5c9e72a0-c39f-4aa1-9d7d-64125e78cbe6" providerId="ADAL" clId="{2C43CE98-EACD-4871-B0C2-D2B1FB239F7E}" dt="2024-07-28T01:18:41.963" v="821" actId="20577"/>
        <pc:sldMkLst>
          <pc:docMk/>
          <pc:sldMk cId="3531208169" sldId="519"/>
        </pc:sldMkLst>
        <pc:spChg chg="mod">
          <ac:chgData name="Taylor Davis" userId="5c9e72a0-c39f-4aa1-9d7d-64125e78cbe6" providerId="ADAL" clId="{2C43CE98-EACD-4871-B0C2-D2B1FB239F7E}" dt="2024-07-28T01:18:41.963" v="821" actId="20577"/>
          <ac:spMkLst>
            <pc:docMk/>
            <pc:sldMk cId="3531208169" sldId="519"/>
            <ac:spMk id="16" creationId="{5CD262C4-7EB6-BACC-2D76-818773A77342}"/>
          </ac:spMkLst>
        </pc:spChg>
        <pc:picChg chg="del">
          <ac:chgData name="Taylor Davis" userId="5c9e72a0-c39f-4aa1-9d7d-64125e78cbe6" providerId="ADAL" clId="{2C43CE98-EACD-4871-B0C2-D2B1FB239F7E}" dt="2024-07-28T01:17:58.211" v="812" actId="478"/>
          <ac:picMkLst>
            <pc:docMk/>
            <pc:sldMk cId="3531208169" sldId="519"/>
            <ac:picMk id="3" creationId="{268F1165-3DA3-CD69-49B7-333E376B8FFD}"/>
          </ac:picMkLst>
        </pc:picChg>
        <pc:picChg chg="add mod">
          <ac:chgData name="Taylor Davis" userId="5c9e72a0-c39f-4aa1-9d7d-64125e78cbe6" providerId="ADAL" clId="{2C43CE98-EACD-4871-B0C2-D2B1FB239F7E}" dt="2024-07-28T01:18:06.941" v="818" actId="14100"/>
          <ac:picMkLst>
            <pc:docMk/>
            <pc:sldMk cId="3531208169" sldId="519"/>
            <ac:picMk id="8" creationId="{9A72AA95-996B-623F-8583-200C97A3C2B8}"/>
          </ac:picMkLst>
        </pc:picChg>
      </pc:sldChg>
      <pc:sldChg chg="modSp mod">
        <pc:chgData name="Taylor Davis" userId="5c9e72a0-c39f-4aa1-9d7d-64125e78cbe6" providerId="ADAL" clId="{2C43CE98-EACD-4871-B0C2-D2B1FB239F7E}" dt="2024-07-28T01:31:27.745" v="1052" actId="1036"/>
        <pc:sldMkLst>
          <pc:docMk/>
          <pc:sldMk cId="1147401429" sldId="524"/>
        </pc:sldMkLst>
        <pc:spChg chg="mod">
          <ac:chgData name="Taylor Davis" userId="5c9e72a0-c39f-4aa1-9d7d-64125e78cbe6" providerId="ADAL" clId="{2C43CE98-EACD-4871-B0C2-D2B1FB239F7E}" dt="2024-07-28T01:31:27.745" v="1052" actId="1036"/>
          <ac:spMkLst>
            <pc:docMk/>
            <pc:sldMk cId="1147401429" sldId="524"/>
            <ac:spMk id="8" creationId="{E107289D-24BF-1E88-2683-BA2979EC32B6}"/>
          </ac:spMkLst>
        </pc:spChg>
        <pc:graphicFrameChg chg="modGraphic">
          <ac:chgData name="Taylor Davis" userId="5c9e72a0-c39f-4aa1-9d7d-64125e78cbe6" providerId="ADAL" clId="{2C43CE98-EACD-4871-B0C2-D2B1FB239F7E}" dt="2024-07-28T01:27:26.651" v="924" actId="20577"/>
          <ac:graphicFrameMkLst>
            <pc:docMk/>
            <pc:sldMk cId="1147401429" sldId="524"/>
            <ac:graphicFrameMk id="5" creationId="{713AD275-CC86-F2BC-8594-AECC0B66117F}"/>
          </ac:graphicFrameMkLst>
        </pc:graphicFrameChg>
      </pc:sldChg>
      <pc:sldChg chg="modSp mod">
        <pc:chgData name="Taylor Davis" userId="5c9e72a0-c39f-4aa1-9d7d-64125e78cbe6" providerId="ADAL" clId="{2C43CE98-EACD-4871-B0C2-D2B1FB239F7E}" dt="2024-07-28T01:31:07.610" v="1043" actId="20577"/>
        <pc:sldMkLst>
          <pc:docMk/>
          <pc:sldMk cId="36791873" sldId="525"/>
        </pc:sldMkLst>
        <pc:graphicFrameChg chg="modGraphic">
          <ac:chgData name="Taylor Davis" userId="5c9e72a0-c39f-4aa1-9d7d-64125e78cbe6" providerId="ADAL" clId="{2C43CE98-EACD-4871-B0C2-D2B1FB239F7E}" dt="2024-07-28T01:29:48.014" v="977" actId="20577"/>
          <ac:graphicFrameMkLst>
            <pc:docMk/>
            <pc:sldMk cId="36791873" sldId="525"/>
            <ac:graphicFrameMk id="9" creationId="{30CE50B1-E66B-B63F-C96E-A434E7ECFB6C}"/>
          </ac:graphicFrameMkLst>
        </pc:graphicFrameChg>
        <pc:graphicFrameChg chg="modGraphic">
          <ac:chgData name="Taylor Davis" userId="5c9e72a0-c39f-4aa1-9d7d-64125e78cbe6" providerId="ADAL" clId="{2C43CE98-EACD-4871-B0C2-D2B1FB239F7E}" dt="2024-07-28T01:31:07.610" v="1043" actId="20577"/>
          <ac:graphicFrameMkLst>
            <pc:docMk/>
            <pc:sldMk cId="36791873" sldId="525"/>
            <ac:graphicFrameMk id="10" creationId="{BB254502-CBB2-8520-631D-31E05AB0F371}"/>
          </ac:graphicFrameMkLst>
        </pc:graphicFrameChg>
      </pc:sldChg>
      <pc:sldChg chg="modSp mod">
        <pc:chgData name="Taylor Davis" userId="5c9e72a0-c39f-4aa1-9d7d-64125e78cbe6" providerId="ADAL" clId="{2C43CE98-EACD-4871-B0C2-D2B1FB239F7E}" dt="2024-07-28T01:09:20.316" v="424" actId="20577"/>
        <pc:sldMkLst>
          <pc:docMk/>
          <pc:sldMk cId="3034923006" sldId="527"/>
        </pc:sldMkLst>
        <pc:spChg chg="mod">
          <ac:chgData name="Taylor Davis" userId="5c9e72a0-c39f-4aa1-9d7d-64125e78cbe6" providerId="ADAL" clId="{2C43CE98-EACD-4871-B0C2-D2B1FB239F7E}" dt="2024-07-28T01:09:04.999" v="423" actId="20577"/>
          <ac:spMkLst>
            <pc:docMk/>
            <pc:sldMk cId="3034923006" sldId="527"/>
            <ac:spMk id="10" creationId="{DD333F58-1E5B-D213-65EE-BB627B8B12A8}"/>
          </ac:spMkLst>
        </pc:spChg>
        <pc:graphicFrameChg chg="mod modGraphic">
          <ac:chgData name="Taylor Davis" userId="5c9e72a0-c39f-4aa1-9d7d-64125e78cbe6" providerId="ADAL" clId="{2C43CE98-EACD-4871-B0C2-D2B1FB239F7E}" dt="2024-07-28T01:09:20.316" v="424" actId="20577"/>
          <ac:graphicFrameMkLst>
            <pc:docMk/>
            <pc:sldMk cId="3034923006" sldId="527"/>
            <ac:graphicFrameMk id="7" creationId="{4E8EAD19-4774-4C90-71AE-EC2459799810}"/>
          </ac:graphicFrameMkLst>
        </pc:graphicFrameChg>
      </pc:sldChg>
      <pc:sldChg chg="addSp delSp modSp mod">
        <pc:chgData name="Taylor Davis" userId="5c9e72a0-c39f-4aa1-9d7d-64125e78cbe6" providerId="ADAL" clId="{2C43CE98-EACD-4871-B0C2-D2B1FB239F7E}" dt="2024-07-28T01:17:19.117" v="811" actId="20577"/>
        <pc:sldMkLst>
          <pc:docMk/>
          <pc:sldMk cId="0" sldId="535"/>
        </pc:sldMkLst>
        <pc:spChg chg="add del mod">
          <ac:chgData name="Taylor Davis" userId="5c9e72a0-c39f-4aa1-9d7d-64125e78cbe6" providerId="ADAL" clId="{2C43CE98-EACD-4871-B0C2-D2B1FB239F7E}" dt="2024-07-28T01:13:41.805" v="627" actId="478"/>
          <ac:spMkLst>
            <pc:docMk/>
            <pc:sldMk cId="0" sldId="535"/>
            <ac:spMk id="4" creationId="{EB6E0238-7C9A-3A86-031D-5603C032B22C}"/>
          </ac:spMkLst>
        </pc:spChg>
        <pc:graphicFrameChg chg="del">
          <ac:chgData name="Taylor Davis" userId="5c9e72a0-c39f-4aa1-9d7d-64125e78cbe6" providerId="ADAL" clId="{2C43CE98-EACD-4871-B0C2-D2B1FB239F7E}" dt="2024-07-28T01:11:34.186" v="425" actId="478"/>
          <ac:graphicFrameMkLst>
            <pc:docMk/>
            <pc:sldMk cId="0" sldId="535"/>
            <ac:graphicFrameMk id="2" creationId="{00000000-0000-0000-0000-000000000000}"/>
          </ac:graphicFrameMkLst>
        </pc:graphicFrameChg>
        <pc:graphicFrameChg chg="add mod modGraphic">
          <ac:chgData name="Taylor Davis" userId="5c9e72a0-c39f-4aa1-9d7d-64125e78cbe6" providerId="ADAL" clId="{2C43CE98-EACD-4871-B0C2-D2B1FB239F7E}" dt="2024-07-28T01:17:19.117" v="811" actId="20577"/>
          <ac:graphicFrameMkLst>
            <pc:docMk/>
            <pc:sldMk cId="0" sldId="535"/>
            <ac:graphicFrameMk id="3" creationId="{415132D4-67E4-39DF-32CA-C066E2D592A6}"/>
          </ac:graphicFrameMkLst>
        </pc:graphicFrameChg>
      </pc:sldChg>
      <pc:sldChg chg="modSp mod">
        <pc:chgData name="Taylor Davis" userId="5c9e72a0-c39f-4aa1-9d7d-64125e78cbe6" providerId="ADAL" clId="{2C43CE98-EACD-4871-B0C2-D2B1FB239F7E}" dt="2024-07-28T01:42:01.808" v="1100" actId="20577"/>
        <pc:sldMkLst>
          <pc:docMk/>
          <pc:sldMk cId="1419816550" sldId="536"/>
        </pc:sldMkLst>
        <pc:spChg chg="mod">
          <ac:chgData name="Taylor Davis" userId="5c9e72a0-c39f-4aa1-9d7d-64125e78cbe6" providerId="ADAL" clId="{2C43CE98-EACD-4871-B0C2-D2B1FB239F7E}" dt="2024-07-28T01:33:24.087" v="1057" actId="20577"/>
          <ac:spMkLst>
            <pc:docMk/>
            <pc:sldMk cId="1419816550" sldId="536"/>
            <ac:spMk id="2" creationId="{60820A86-1B9D-21A4-BBB6-DDFB73605882}"/>
          </ac:spMkLst>
        </pc:spChg>
        <pc:graphicFrameChg chg="mod">
          <ac:chgData name="Taylor Davis" userId="5c9e72a0-c39f-4aa1-9d7d-64125e78cbe6" providerId="ADAL" clId="{2C43CE98-EACD-4871-B0C2-D2B1FB239F7E}" dt="2024-07-28T01:34:50.778" v="1060"/>
          <ac:graphicFrameMkLst>
            <pc:docMk/>
            <pc:sldMk cId="1419816550" sldId="536"/>
            <ac:graphicFrameMk id="6" creationId="{176BAF2A-5136-E457-9AAC-D0878752F10C}"/>
          </ac:graphicFrameMkLst>
        </pc:graphicFrameChg>
        <pc:graphicFrameChg chg="modGraphic">
          <ac:chgData name="Taylor Davis" userId="5c9e72a0-c39f-4aa1-9d7d-64125e78cbe6" providerId="ADAL" clId="{2C43CE98-EACD-4871-B0C2-D2B1FB239F7E}" dt="2024-07-28T01:42:01.808" v="1100" actId="20577"/>
          <ac:graphicFrameMkLst>
            <pc:docMk/>
            <pc:sldMk cId="1419816550" sldId="536"/>
            <ac:graphicFrameMk id="15" creationId="{FF3ACACB-7F38-7EAA-4BDF-1A816CA00AAE}"/>
          </ac:graphicFrameMkLst>
        </pc:graphicFrameChg>
        <pc:graphicFrameChg chg="mod">
          <ac:chgData name="Taylor Davis" userId="5c9e72a0-c39f-4aa1-9d7d-64125e78cbe6" providerId="ADAL" clId="{2C43CE98-EACD-4871-B0C2-D2B1FB239F7E}" dt="2024-07-28T01:35:21.564" v="1064"/>
          <ac:graphicFrameMkLst>
            <pc:docMk/>
            <pc:sldMk cId="1419816550" sldId="536"/>
            <ac:graphicFrameMk id="16" creationId="{32A51F3A-032C-30E2-F635-DD59B5A29A34}"/>
          </ac:graphicFrameMkLst>
        </pc:graphicFrameChg>
      </pc:sldChg>
      <pc:sldChg chg="del">
        <pc:chgData name="Taylor Davis" userId="5c9e72a0-c39f-4aa1-9d7d-64125e78cbe6" providerId="ADAL" clId="{2C43CE98-EACD-4871-B0C2-D2B1FB239F7E}" dt="2024-07-28T01:42:30.483" v="1101" actId="47"/>
        <pc:sldMkLst>
          <pc:docMk/>
          <pc:sldMk cId="0" sldId="538"/>
        </pc:sldMkLst>
      </pc:sldChg>
      <pc:sldChg chg="del">
        <pc:chgData name="Taylor Davis" userId="5c9e72a0-c39f-4aa1-9d7d-64125e78cbe6" providerId="ADAL" clId="{2C43CE98-EACD-4871-B0C2-D2B1FB239F7E}" dt="2024-07-28T01:42:30.483" v="1101" actId="47"/>
        <pc:sldMkLst>
          <pc:docMk/>
          <pc:sldMk cId="48855742" sldId="539"/>
        </pc:sldMkLst>
      </pc:sldChg>
      <pc:sldChg chg="addSp delSp modSp mod">
        <pc:chgData name="Taylor Davis" userId="5c9e72a0-c39f-4aa1-9d7d-64125e78cbe6" providerId="ADAL" clId="{2C43CE98-EACD-4871-B0C2-D2B1FB239F7E}" dt="2024-07-28T01:21:23.286" v="824" actId="1076"/>
        <pc:sldMkLst>
          <pc:docMk/>
          <pc:sldMk cId="315794589" sldId="548"/>
        </pc:sldMkLst>
        <pc:picChg chg="add mod">
          <ac:chgData name="Taylor Davis" userId="5c9e72a0-c39f-4aa1-9d7d-64125e78cbe6" providerId="ADAL" clId="{2C43CE98-EACD-4871-B0C2-D2B1FB239F7E}" dt="2024-07-28T01:21:23.286" v="824" actId="1076"/>
          <ac:picMkLst>
            <pc:docMk/>
            <pc:sldMk cId="315794589" sldId="548"/>
            <ac:picMk id="5" creationId="{183CA821-A5B2-4B00-C9C9-101D44E93A49}"/>
          </ac:picMkLst>
        </pc:picChg>
        <pc:picChg chg="del">
          <ac:chgData name="Taylor Davis" userId="5c9e72a0-c39f-4aa1-9d7d-64125e78cbe6" providerId="ADAL" clId="{2C43CE98-EACD-4871-B0C2-D2B1FB239F7E}" dt="2024-07-28T01:21:19.694" v="822" actId="478"/>
          <ac:picMkLst>
            <pc:docMk/>
            <pc:sldMk cId="315794589" sldId="548"/>
            <ac:picMk id="6" creationId="{58C5DFCF-5E73-5931-CFE0-0178434497D7}"/>
          </ac:picMkLst>
        </pc:picChg>
      </pc:sldChg>
      <pc:sldChg chg="modSp add mod">
        <pc:chgData name="Taylor Davis" userId="5c9e72a0-c39f-4aa1-9d7d-64125e78cbe6" providerId="ADAL" clId="{2C43CE98-EACD-4871-B0C2-D2B1FB239F7E}" dt="2024-07-28T01:45:34.924" v="1123" actId="20577"/>
        <pc:sldMkLst>
          <pc:docMk/>
          <pc:sldMk cId="0" sldId="550"/>
        </pc:sldMkLst>
        <pc:graphicFrameChg chg="mod modGraphic">
          <ac:chgData name="Taylor Davis" userId="5c9e72a0-c39f-4aa1-9d7d-64125e78cbe6" providerId="ADAL" clId="{2C43CE98-EACD-4871-B0C2-D2B1FB239F7E}" dt="2024-07-28T01:45:34.924" v="1123" actId="20577"/>
          <ac:graphicFrameMkLst>
            <pc:docMk/>
            <pc:sldMk cId="0" sldId="550"/>
            <ac:graphicFrameMk id="2" creationId="{00000000-0000-0000-0000-000000000000}"/>
          </ac:graphicFrameMkLst>
        </pc:graphicFrameChg>
      </pc:sldChg>
      <pc:sldChg chg="del">
        <pc:chgData name="Taylor Davis" userId="5c9e72a0-c39f-4aa1-9d7d-64125e78cbe6" providerId="ADAL" clId="{2C43CE98-EACD-4871-B0C2-D2B1FB239F7E}" dt="2024-07-28T01:42:30.483" v="1101" actId="47"/>
        <pc:sldMkLst>
          <pc:docMk/>
          <pc:sldMk cId="1179748723" sldId="550"/>
        </pc:sldMkLst>
      </pc:sldChg>
      <pc:sldChg chg="modSp add mod">
        <pc:chgData name="Taylor Davis" userId="5c9e72a0-c39f-4aa1-9d7d-64125e78cbe6" providerId="ADAL" clId="{2C43CE98-EACD-4871-B0C2-D2B1FB239F7E}" dt="2024-07-28T01:46:03.275" v="1129" actId="14100"/>
        <pc:sldMkLst>
          <pc:docMk/>
          <pc:sldMk cId="3886177265" sldId="551"/>
        </pc:sldMkLst>
        <pc:graphicFrameChg chg="mod modGraphic">
          <ac:chgData name="Taylor Davis" userId="5c9e72a0-c39f-4aa1-9d7d-64125e78cbe6" providerId="ADAL" clId="{2C43CE98-EACD-4871-B0C2-D2B1FB239F7E}" dt="2024-07-28T01:46:03.275" v="1129" actId="14100"/>
          <ac:graphicFrameMkLst>
            <pc:docMk/>
            <pc:sldMk cId="3886177265" sldId="551"/>
            <ac:graphicFrameMk id="2" creationId="{00000000-0000-0000-0000-000000000000}"/>
          </ac:graphicFrameMkLst>
        </pc:graphicFrameChg>
      </pc:sldChg>
      <pc:sldChg chg="modSp add mod">
        <pc:chgData name="Taylor Davis" userId="5c9e72a0-c39f-4aa1-9d7d-64125e78cbe6" providerId="ADAL" clId="{2C43CE98-EACD-4871-B0C2-D2B1FB239F7E}" dt="2024-07-28T01:47:07.938" v="1140" actId="3064"/>
        <pc:sldMkLst>
          <pc:docMk/>
          <pc:sldMk cId="598962484" sldId="552"/>
        </pc:sldMkLst>
        <pc:graphicFrameChg chg="modGraphic">
          <ac:chgData name="Taylor Davis" userId="5c9e72a0-c39f-4aa1-9d7d-64125e78cbe6" providerId="ADAL" clId="{2C43CE98-EACD-4871-B0C2-D2B1FB239F7E}" dt="2024-07-28T01:47:07.938" v="1140" actId="3064"/>
          <ac:graphicFrameMkLst>
            <pc:docMk/>
            <pc:sldMk cId="598962484" sldId="552"/>
            <ac:graphicFrameMk id="2" creationId="{00000000-0000-0000-0000-000000000000}"/>
          </ac:graphicFrameMkLst>
        </pc:graphicFrameChg>
      </pc:sldChg>
    </pc:docChg>
  </pc:docChgLst>
</pc:chgInfo>
</file>

<file path=ppt/diagrams/_rels/data2.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28.png"/><Relationship Id="rId1" Type="http://schemas.openxmlformats.org/officeDocument/2006/relationships/image" Target="../media/image27.jpeg"/></Relationships>
</file>

<file path=ppt/diagrams/_rels/drawing2.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28.png"/><Relationship Id="rId1" Type="http://schemas.openxmlformats.org/officeDocument/2006/relationships/image" Target="../media/image27.jpeg"/></Relationships>
</file>

<file path=ppt/diagrams/colors1.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C7552FD-62D0-4C89-AB2B-72AE9D7341CF}" type="doc">
      <dgm:prSet loTypeId="urn:microsoft.com/office/officeart/2005/8/layout/venn2" loCatId="relationship" qsTypeId="urn:microsoft.com/office/officeart/2005/8/quickstyle/3d1#1" qsCatId="3D" csTypeId="urn:microsoft.com/office/officeart/2005/8/colors/accent1_3" csCatId="accent1" phldr="1"/>
      <dgm:spPr/>
      <dgm:t>
        <a:bodyPr/>
        <a:lstStyle/>
        <a:p>
          <a:endParaRPr lang="en-US"/>
        </a:p>
      </dgm:t>
    </dgm:pt>
    <dgm:pt modelId="{95724BCE-4D84-45F0-853F-F17C772D0584}">
      <dgm:prSet phldrT="[Text]" custT="1"/>
      <dgm:spPr>
        <a:solidFill>
          <a:srgbClr val="61A606"/>
        </a:solidFill>
      </dgm:spPr>
      <dgm:t>
        <a:bodyPr/>
        <a:lstStyle/>
        <a:p>
          <a:r>
            <a:rPr lang="en-US" sz="1200" b="1" dirty="0"/>
            <a:t>Out of Network</a:t>
          </a:r>
        </a:p>
      </dgm:t>
    </dgm:pt>
    <dgm:pt modelId="{C4069396-DBC4-441D-858D-6F1FB8AB3335}" type="parTrans" cxnId="{EDE789B6-DE86-481F-A7CA-05566DD34C7E}">
      <dgm:prSet/>
      <dgm:spPr/>
      <dgm:t>
        <a:bodyPr/>
        <a:lstStyle/>
        <a:p>
          <a:endParaRPr lang="en-US" sz="1200" b="1"/>
        </a:p>
      </dgm:t>
    </dgm:pt>
    <dgm:pt modelId="{B7AFCCD7-67D9-4F40-93BA-B7F5FA89153B}" type="sibTrans" cxnId="{EDE789B6-DE86-481F-A7CA-05566DD34C7E}">
      <dgm:prSet/>
      <dgm:spPr/>
      <dgm:t>
        <a:bodyPr/>
        <a:lstStyle/>
        <a:p>
          <a:endParaRPr lang="en-US" sz="1200" b="1"/>
        </a:p>
      </dgm:t>
    </dgm:pt>
    <dgm:pt modelId="{569713F0-CA36-4804-9BAC-B1D988D414E1}">
      <dgm:prSet phldrT="[Text]" custT="1"/>
      <dgm:spPr>
        <a:solidFill>
          <a:srgbClr val="244F9A"/>
        </a:solidFill>
      </dgm:spPr>
      <dgm:t>
        <a:bodyPr/>
        <a:lstStyle/>
        <a:p>
          <a:r>
            <a:rPr lang="en-US" sz="1200" b="1" dirty="0"/>
            <a:t>Friends &amp; Family (Contracted)</a:t>
          </a:r>
        </a:p>
      </dgm:t>
    </dgm:pt>
    <dgm:pt modelId="{C2ABEC94-DF33-4E2B-8072-2FB520905D00}" type="parTrans" cxnId="{FBE4C505-B914-4ED7-A279-063D711FC2A4}">
      <dgm:prSet/>
      <dgm:spPr/>
      <dgm:t>
        <a:bodyPr/>
        <a:lstStyle/>
        <a:p>
          <a:endParaRPr lang="en-US" sz="1200" b="1"/>
        </a:p>
      </dgm:t>
    </dgm:pt>
    <dgm:pt modelId="{7F7B88C7-943C-4452-A6E8-0E402C95A08B}" type="sibTrans" cxnId="{FBE4C505-B914-4ED7-A279-063D711FC2A4}">
      <dgm:prSet/>
      <dgm:spPr/>
      <dgm:t>
        <a:bodyPr/>
        <a:lstStyle/>
        <a:p>
          <a:endParaRPr lang="en-US" sz="1200" b="1"/>
        </a:p>
      </dgm:t>
    </dgm:pt>
    <dgm:pt modelId="{1E65235D-8651-4890-AE0B-49DC383A1E91}">
      <dgm:prSet phldrT="[Text]" custT="1"/>
      <dgm:spPr>
        <a:solidFill>
          <a:srgbClr val="59CAE8"/>
        </a:solidFill>
      </dgm:spPr>
      <dgm:t>
        <a:bodyPr/>
        <a:lstStyle/>
        <a:p>
          <a:endParaRPr lang="en-US" sz="1200" b="1" dirty="0">
            <a:effectLst>
              <a:outerShdw blurRad="38100" dist="38100" dir="2700000" algn="tl">
                <a:srgbClr val="000000">
                  <a:alpha val="43137"/>
                </a:srgbClr>
              </a:outerShdw>
            </a:effectLst>
          </a:endParaRPr>
        </a:p>
      </dgm:t>
    </dgm:pt>
    <dgm:pt modelId="{EBC95944-0EC3-46F4-9FEF-8988CFF8C43A}" type="parTrans" cxnId="{C483DC75-E93F-42FC-9F22-8AEF775BA916}">
      <dgm:prSet/>
      <dgm:spPr/>
      <dgm:t>
        <a:bodyPr/>
        <a:lstStyle/>
        <a:p>
          <a:endParaRPr lang="en-US" sz="1200" b="1"/>
        </a:p>
      </dgm:t>
    </dgm:pt>
    <dgm:pt modelId="{61F457D8-374A-49D4-900E-947546529662}" type="sibTrans" cxnId="{C483DC75-E93F-42FC-9F22-8AEF775BA916}">
      <dgm:prSet/>
      <dgm:spPr/>
      <dgm:t>
        <a:bodyPr/>
        <a:lstStyle/>
        <a:p>
          <a:endParaRPr lang="en-US" sz="1200" b="1"/>
        </a:p>
      </dgm:t>
    </dgm:pt>
    <dgm:pt modelId="{ECE6B814-0FC3-4C58-9174-74C36EF10323}">
      <dgm:prSet phldrT="[Text]" custT="1"/>
      <dgm:spPr>
        <a:solidFill>
          <a:srgbClr val="019CA5"/>
        </a:solidFill>
      </dgm:spPr>
      <dgm:t>
        <a:bodyPr/>
        <a:lstStyle/>
        <a:p>
          <a:r>
            <a:rPr lang="en-US" sz="1200" b="1" dirty="0"/>
            <a:t>Wrap Network (Rented)</a:t>
          </a:r>
        </a:p>
      </dgm:t>
    </dgm:pt>
    <dgm:pt modelId="{86D68A84-8990-42F1-BDC0-9D23A1F134C4}" type="sibTrans" cxnId="{249B36A5-1CF8-4FAF-92A3-07C95195B8A7}">
      <dgm:prSet/>
      <dgm:spPr/>
      <dgm:t>
        <a:bodyPr/>
        <a:lstStyle/>
        <a:p>
          <a:endParaRPr lang="en-US" sz="1200" b="1"/>
        </a:p>
      </dgm:t>
    </dgm:pt>
    <dgm:pt modelId="{93698D8B-DBC4-4A38-ACF6-A3FD1A770EC5}" type="parTrans" cxnId="{249B36A5-1CF8-4FAF-92A3-07C95195B8A7}">
      <dgm:prSet/>
      <dgm:spPr/>
      <dgm:t>
        <a:bodyPr/>
        <a:lstStyle/>
        <a:p>
          <a:endParaRPr lang="en-US" sz="1200" b="1"/>
        </a:p>
      </dgm:t>
    </dgm:pt>
    <dgm:pt modelId="{B48E91E1-A56E-40AF-9FB7-1CF2ACB11A26}" type="pres">
      <dgm:prSet presAssocID="{CC7552FD-62D0-4C89-AB2B-72AE9D7341CF}" presName="Name0" presStyleCnt="0">
        <dgm:presLayoutVars>
          <dgm:chMax val="7"/>
          <dgm:resizeHandles val="exact"/>
        </dgm:presLayoutVars>
      </dgm:prSet>
      <dgm:spPr/>
    </dgm:pt>
    <dgm:pt modelId="{51B4B7A6-5CC6-4D2B-A008-C2393CCE8E1A}" type="pres">
      <dgm:prSet presAssocID="{CC7552FD-62D0-4C89-AB2B-72AE9D7341CF}" presName="comp1" presStyleCnt="0"/>
      <dgm:spPr/>
    </dgm:pt>
    <dgm:pt modelId="{2137BF38-EED7-40B6-AE30-314765FAF99B}" type="pres">
      <dgm:prSet presAssocID="{CC7552FD-62D0-4C89-AB2B-72AE9D7341CF}" presName="circle1" presStyleLbl="node1" presStyleIdx="0" presStyleCnt="4"/>
      <dgm:spPr/>
    </dgm:pt>
    <dgm:pt modelId="{DF426F85-4C8C-4ED2-8675-11BFB0838EC8}" type="pres">
      <dgm:prSet presAssocID="{CC7552FD-62D0-4C89-AB2B-72AE9D7341CF}" presName="c1text" presStyleLbl="node1" presStyleIdx="0" presStyleCnt="4">
        <dgm:presLayoutVars>
          <dgm:bulletEnabled val="1"/>
        </dgm:presLayoutVars>
      </dgm:prSet>
      <dgm:spPr/>
    </dgm:pt>
    <dgm:pt modelId="{C6723F7F-022F-4FCC-B6E2-7067916A4B10}" type="pres">
      <dgm:prSet presAssocID="{CC7552FD-62D0-4C89-AB2B-72AE9D7341CF}" presName="comp2" presStyleCnt="0"/>
      <dgm:spPr/>
    </dgm:pt>
    <dgm:pt modelId="{68806E35-FB05-408F-AFBC-163227E8487B}" type="pres">
      <dgm:prSet presAssocID="{CC7552FD-62D0-4C89-AB2B-72AE9D7341CF}" presName="circle2" presStyleLbl="node1" presStyleIdx="1" presStyleCnt="4"/>
      <dgm:spPr/>
    </dgm:pt>
    <dgm:pt modelId="{0B6A6A60-FE79-4554-9C37-549CA04643BE}" type="pres">
      <dgm:prSet presAssocID="{CC7552FD-62D0-4C89-AB2B-72AE9D7341CF}" presName="c2text" presStyleLbl="node1" presStyleIdx="1" presStyleCnt="4">
        <dgm:presLayoutVars>
          <dgm:bulletEnabled val="1"/>
        </dgm:presLayoutVars>
      </dgm:prSet>
      <dgm:spPr/>
    </dgm:pt>
    <dgm:pt modelId="{6FD52F53-EBEF-48E2-8A07-24379F9A581F}" type="pres">
      <dgm:prSet presAssocID="{CC7552FD-62D0-4C89-AB2B-72AE9D7341CF}" presName="comp3" presStyleCnt="0"/>
      <dgm:spPr/>
    </dgm:pt>
    <dgm:pt modelId="{EBC66B5F-74A7-4C59-9CEC-5E7379E73E3B}" type="pres">
      <dgm:prSet presAssocID="{CC7552FD-62D0-4C89-AB2B-72AE9D7341CF}" presName="circle3" presStyleLbl="node1" presStyleIdx="2" presStyleCnt="4"/>
      <dgm:spPr/>
    </dgm:pt>
    <dgm:pt modelId="{F4A2D7CC-0825-42DF-BF52-41782C7F5FD9}" type="pres">
      <dgm:prSet presAssocID="{CC7552FD-62D0-4C89-AB2B-72AE9D7341CF}" presName="c3text" presStyleLbl="node1" presStyleIdx="2" presStyleCnt="4">
        <dgm:presLayoutVars>
          <dgm:bulletEnabled val="1"/>
        </dgm:presLayoutVars>
      </dgm:prSet>
      <dgm:spPr/>
    </dgm:pt>
    <dgm:pt modelId="{28E403A5-F99B-4FAC-89FC-A846539584D0}" type="pres">
      <dgm:prSet presAssocID="{CC7552FD-62D0-4C89-AB2B-72AE9D7341CF}" presName="comp4" presStyleCnt="0"/>
      <dgm:spPr/>
    </dgm:pt>
    <dgm:pt modelId="{F92C6764-1AFD-4DFF-B75E-6422C5503855}" type="pres">
      <dgm:prSet presAssocID="{CC7552FD-62D0-4C89-AB2B-72AE9D7341CF}" presName="circle4" presStyleLbl="node1" presStyleIdx="3" presStyleCnt="4" custLinFactNeighborX="805" custLinFactNeighborY="1231"/>
      <dgm:spPr/>
    </dgm:pt>
    <dgm:pt modelId="{D63BE29E-2BB7-44DC-AA3E-8ABC2E4D12DA}" type="pres">
      <dgm:prSet presAssocID="{CC7552FD-62D0-4C89-AB2B-72AE9D7341CF}" presName="c4text" presStyleLbl="node1" presStyleIdx="3" presStyleCnt="4">
        <dgm:presLayoutVars>
          <dgm:bulletEnabled val="1"/>
        </dgm:presLayoutVars>
      </dgm:prSet>
      <dgm:spPr/>
    </dgm:pt>
  </dgm:ptLst>
  <dgm:cxnLst>
    <dgm:cxn modelId="{FBE4C505-B914-4ED7-A279-063D711FC2A4}" srcId="{CC7552FD-62D0-4C89-AB2B-72AE9D7341CF}" destId="{569713F0-CA36-4804-9BAC-B1D988D414E1}" srcOrd="2" destOrd="0" parTransId="{C2ABEC94-DF33-4E2B-8072-2FB520905D00}" sibTransId="{7F7B88C7-943C-4452-A6E8-0E402C95A08B}"/>
    <dgm:cxn modelId="{F2B3A710-39AB-4C98-A65E-5BAFADE8822C}" type="presOf" srcId="{1E65235D-8651-4890-AE0B-49DC383A1E91}" destId="{F92C6764-1AFD-4DFF-B75E-6422C5503855}" srcOrd="0" destOrd="0" presId="urn:microsoft.com/office/officeart/2005/8/layout/venn2"/>
    <dgm:cxn modelId="{AB7ABC15-C91B-4510-987C-DC7E28931CDF}" type="presOf" srcId="{ECE6B814-0FC3-4C58-9174-74C36EF10323}" destId="{68806E35-FB05-408F-AFBC-163227E8487B}" srcOrd="0" destOrd="0" presId="urn:microsoft.com/office/officeart/2005/8/layout/venn2"/>
    <dgm:cxn modelId="{0DECDB18-FC83-4AD8-8CE5-199CE52396EB}" type="presOf" srcId="{ECE6B814-0FC3-4C58-9174-74C36EF10323}" destId="{0B6A6A60-FE79-4554-9C37-549CA04643BE}" srcOrd="1" destOrd="0" presId="urn:microsoft.com/office/officeart/2005/8/layout/venn2"/>
    <dgm:cxn modelId="{14418032-6613-4832-B925-ADD3CB109AC1}" type="presOf" srcId="{95724BCE-4D84-45F0-853F-F17C772D0584}" destId="{DF426F85-4C8C-4ED2-8675-11BFB0838EC8}" srcOrd="1" destOrd="0" presId="urn:microsoft.com/office/officeart/2005/8/layout/venn2"/>
    <dgm:cxn modelId="{402ECC72-BF1F-4D94-9E07-E240E3CDC58B}" type="presOf" srcId="{569713F0-CA36-4804-9BAC-B1D988D414E1}" destId="{EBC66B5F-74A7-4C59-9CEC-5E7379E73E3B}" srcOrd="0" destOrd="0" presId="urn:microsoft.com/office/officeart/2005/8/layout/venn2"/>
    <dgm:cxn modelId="{C8818974-6CAA-4CB2-8EE8-57F21A36CA14}" type="presOf" srcId="{569713F0-CA36-4804-9BAC-B1D988D414E1}" destId="{F4A2D7CC-0825-42DF-BF52-41782C7F5FD9}" srcOrd="1" destOrd="0" presId="urn:microsoft.com/office/officeart/2005/8/layout/venn2"/>
    <dgm:cxn modelId="{C483DC75-E93F-42FC-9F22-8AEF775BA916}" srcId="{CC7552FD-62D0-4C89-AB2B-72AE9D7341CF}" destId="{1E65235D-8651-4890-AE0B-49DC383A1E91}" srcOrd="3" destOrd="0" parTransId="{EBC95944-0EC3-46F4-9FEF-8988CFF8C43A}" sibTransId="{61F457D8-374A-49D4-900E-947546529662}"/>
    <dgm:cxn modelId="{A6A7605A-1F39-45EF-BF83-BA2406EE7A18}" type="presOf" srcId="{95724BCE-4D84-45F0-853F-F17C772D0584}" destId="{2137BF38-EED7-40B6-AE30-314765FAF99B}" srcOrd="0" destOrd="0" presId="urn:microsoft.com/office/officeart/2005/8/layout/venn2"/>
    <dgm:cxn modelId="{E2740696-3283-48CE-B97D-9876EDC46B7F}" type="presOf" srcId="{1E65235D-8651-4890-AE0B-49DC383A1E91}" destId="{D63BE29E-2BB7-44DC-AA3E-8ABC2E4D12DA}" srcOrd="1" destOrd="0" presId="urn:microsoft.com/office/officeart/2005/8/layout/venn2"/>
    <dgm:cxn modelId="{249B36A5-1CF8-4FAF-92A3-07C95195B8A7}" srcId="{CC7552FD-62D0-4C89-AB2B-72AE9D7341CF}" destId="{ECE6B814-0FC3-4C58-9174-74C36EF10323}" srcOrd="1" destOrd="0" parTransId="{93698D8B-DBC4-4A38-ACF6-A3FD1A770EC5}" sibTransId="{86D68A84-8990-42F1-BDC0-9D23A1F134C4}"/>
    <dgm:cxn modelId="{248A33AF-5C9C-44CD-83DB-FBE3BC11E892}" type="presOf" srcId="{CC7552FD-62D0-4C89-AB2B-72AE9D7341CF}" destId="{B48E91E1-A56E-40AF-9FB7-1CF2ACB11A26}" srcOrd="0" destOrd="0" presId="urn:microsoft.com/office/officeart/2005/8/layout/venn2"/>
    <dgm:cxn modelId="{EDE789B6-DE86-481F-A7CA-05566DD34C7E}" srcId="{CC7552FD-62D0-4C89-AB2B-72AE9D7341CF}" destId="{95724BCE-4D84-45F0-853F-F17C772D0584}" srcOrd="0" destOrd="0" parTransId="{C4069396-DBC4-441D-858D-6F1FB8AB3335}" sibTransId="{B7AFCCD7-67D9-4F40-93BA-B7F5FA89153B}"/>
    <dgm:cxn modelId="{5BD9092F-1A66-4F0A-AF1E-25AF0EE8FD30}" type="presParOf" srcId="{B48E91E1-A56E-40AF-9FB7-1CF2ACB11A26}" destId="{51B4B7A6-5CC6-4D2B-A008-C2393CCE8E1A}" srcOrd="0" destOrd="0" presId="urn:microsoft.com/office/officeart/2005/8/layout/venn2"/>
    <dgm:cxn modelId="{2F863CF6-5E37-43DF-912A-4A5621BA5BF0}" type="presParOf" srcId="{51B4B7A6-5CC6-4D2B-A008-C2393CCE8E1A}" destId="{2137BF38-EED7-40B6-AE30-314765FAF99B}" srcOrd="0" destOrd="0" presId="urn:microsoft.com/office/officeart/2005/8/layout/venn2"/>
    <dgm:cxn modelId="{975CD106-737C-48C1-9A8D-9501AD23E7A8}" type="presParOf" srcId="{51B4B7A6-5CC6-4D2B-A008-C2393CCE8E1A}" destId="{DF426F85-4C8C-4ED2-8675-11BFB0838EC8}" srcOrd="1" destOrd="0" presId="urn:microsoft.com/office/officeart/2005/8/layout/venn2"/>
    <dgm:cxn modelId="{9D0C7BE2-1A22-4D14-8173-13BB6F5F499A}" type="presParOf" srcId="{B48E91E1-A56E-40AF-9FB7-1CF2ACB11A26}" destId="{C6723F7F-022F-4FCC-B6E2-7067916A4B10}" srcOrd="1" destOrd="0" presId="urn:microsoft.com/office/officeart/2005/8/layout/venn2"/>
    <dgm:cxn modelId="{0FB070D9-1CF8-45D8-910F-51CDC89BD66C}" type="presParOf" srcId="{C6723F7F-022F-4FCC-B6E2-7067916A4B10}" destId="{68806E35-FB05-408F-AFBC-163227E8487B}" srcOrd="0" destOrd="0" presId="urn:microsoft.com/office/officeart/2005/8/layout/venn2"/>
    <dgm:cxn modelId="{E874FD9E-42DD-4775-BD14-98A78C0E358F}" type="presParOf" srcId="{C6723F7F-022F-4FCC-B6E2-7067916A4B10}" destId="{0B6A6A60-FE79-4554-9C37-549CA04643BE}" srcOrd="1" destOrd="0" presId="urn:microsoft.com/office/officeart/2005/8/layout/venn2"/>
    <dgm:cxn modelId="{533F2428-7D48-425A-84B9-BD8EE9858991}" type="presParOf" srcId="{B48E91E1-A56E-40AF-9FB7-1CF2ACB11A26}" destId="{6FD52F53-EBEF-48E2-8A07-24379F9A581F}" srcOrd="2" destOrd="0" presId="urn:microsoft.com/office/officeart/2005/8/layout/venn2"/>
    <dgm:cxn modelId="{D6C94450-97EC-46B7-8F51-45063118571E}" type="presParOf" srcId="{6FD52F53-EBEF-48E2-8A07-24379F9A581F}" destId="{EBC66B5F-74A7-4C59-9CEC-5E7379E73E3B}" srcOrd="0" destOrd="0" presId="urn:microsoft.com/office/officeart/2005/8/layout/venn2"/>
    <dgm:cxn modelId="{83345C35-304E-4D9D-A9F4-F8721176DD23}" type="presParOf" srcId="{6FD52F53-EBEF-48E2-8A07-24379F9A581F}" destId="{F4A2D7CC-0825-42DF-BF52-41782C7F5FD9}" srcOrd="1" destOrd="0" presId="urn:microsoft.com/office/officeart/2005/8/layout/venn2"/>
    <dgm:cxn modelId="{AC46EE94-CB6F-43B3-84C8-F82373D89B41}" type="presParOf" srcId="{B48E91E1-A56E-40AF-9FB7-1CF2ACB11A26}" destId="{28E403A5-F99B-4FAC-89FC-A846539584D0}" srcOrd="3" destOrd="0" presId="urn:microsoft.com/office/officeart/2005/8/layout/venn2"/>
    <dgm:cxn modelId="{0E30E2C5-34DC-4093-889B-5B1D03CBEB01}" type="presParOf" srcId="{28E403A5-F99B-4FAC-89FC-A846539584D0}" destId="{F92C6764-1AFD-4DFF-B75E-6422C5503855}" srcOrd="0" destOrd="0" presId="urn:microsoft.com/office/officeart/2005/8/layout/venn2"/>
    <dgm:cxn modelId="{5C9EDED6-C0C0-452F-9674-0BA712F0109C}" type="presParOf" srcId="{28E403A5-F99B-4FAC-89FC-A846539584D0}" destId="{D63BE29E-2BB7-44DC-AA3E-8ABC2E4D12DA}" srcOrd="1" destOrd="0" presId="urn:microsoft.com/office/officeart/2005/8/layout/venn2"/>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D150493-506C-4796-9188-B229C3F673EE}" type="doc">
      <dgm:prSet loTypeId="urn:microsoft.com/office/officeart/2005/8/layout/bList2" loCatId="list" qsTypeId="urn:microsoft.com/office/officeart/2005/8/quickstyle/simple1" qsCatId="simple" csTypeId="urn:microsoft.com/office/officeart/2005/8/colors/accent1_2" csCatId="accent1" phldr="1"/>
      <dgm:spPr/>
      <dgm:t>
        <a:bodyPr/>
        <a:lstStyle/>
        <a:p>
          <a:endParaRPr lang="en-US"/>
        </a:p>
      </dgm:t>
    </dgm:pt>
    <dgm:pt modelId="{D23E581B-AA16-403B-8AF5-1BB3E719881C}">
      <dgm:prSet phldrT="[Text]" custT="1"/>
      <dgm:spPr>
        <a:solidFill>
          <a:srgbClr val="59CAE8"/>
        </a:solidFill>
        <a:ln>
          <a:solidFill>
            <a:srgbClr val="59CAE8"/>
          </a:solidFill>
        </a:ln>
      </dgm:spPr>
      <dgm:t>
        <a:bodyPr/>
        <a:lstStyle/>
        <a:p>
          <a:r>
            <a:rPr lang="en-US" sz="2200" b="1" dirty="0"/>
            <a:t>BROKER DEVELOPMENT</a:t>
          </a:r>
        </a:p>
      </dgm:t>
    </dgm:pt>
    <dgm:pt modelId="{B1EFF21B-7CA5-4F93-B9E5-5284C3F28E15}" type="parTrans" cxnId="{2F92E761-FCD0-4BDD-A76B-9C732D3383BD}">
      <dgm:prSet/>
      <dgm:spPr/>
      <dgm:t>
        <a:bodyPr/>
        <a:lstStyle/>
        <a:p>
          <a:endParaRPr lang="en-US"/>
        </a:p>
      </dgm:t>
    </dgm:pt>
    <dgm:pt modelId="{1A5DEF5B-E65A-4FF8-AF95-9D9360F04B85}" type="sibTrans" cxnId="{2F92E761-FCD0-4BDD-A76B-9C732D3383BD}">
      <dgm:prSet/>
      <dgm:spPr/>
      <dgm:t>
        <a:bodyPr/>
        <a:lstStyle/>
        <a:p>
          <a:endParaRPr lang="en-US"/>
        </a:p>
      </dgm:t>
    </dgm:pt>
    <dgm:pt modelId="{7FF46690-C008-4C6D-8B8B-295F75E0DB90}">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Identification of Key Distribution Agents</a:t>
          </a:r>
        </a:p>
      </dgm:t>
    </dgm:pt>
    <dgm:pt modelId="{8D0C7DC4-BF81-461E-AD4F-3807C09AE856}" type="parTrans" cxnId="{F91C5992-82A2-4E51-88AD-3B34B316A11D}">
      <dgm:prSet/>
      <dgm:spPr/>
      <dgm:t>
        <a:bodyPr/>
        <a:lstStyle/>
        <a:p>
          <a:endParaRPr lang="en-US"/>
        </a:p>
      </dgm:t>
    </dgm:pt>
    <dgm:pt modelId="{B3C1D7E9-AE25-4261-B242-F121DEE18B6F}" type="sibTrans" cxnId="{F91C5992-82A2-4E51-88AD-3B34B316A11D}">
      <dgm:prSet/>
      <dgm:spPr/>
      <dgm:t>
        <a:bodyPr/>
        <a:lstStyle/>
        <a:p>
          <a:endParaRPr lang="en-US"/>
        </a:p>
      </dgm:t>
    </dgm:pt>
    <dgm:pt modelId="{8D4A55D0-1681-418C-B4D4-503419A60283}">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Training and Development</a:t>
          </a:r>
        </a:p>
      </dgm:t>
    </dgm:pt>
    <dgm:pt modelId="{011C8C61-B114-4F8E-977C-29D521EDD73E}" type="parTrans" cxnId="{C7F2A021-2EC4-4FB9-98C4-91297D552460}">
      <dgm:prSet/>
      <dgm:spPr/>
      <dgm:t>
        <a:bodyPr/>
        <a:lstStyle/>
        <a:p>
          <a:endParaRPr lang="en-US"/>
        </a:p>
      </dgm:t>
    </dgm:pt>
    <dgm:pt modelId="{FAFC1358-B61D-4F1C-8954-5762C6025450}" type="sibTrans" cxnId="{C7F2A021-2EC4-4FB9-98C4-91297D552460}">
      <dgm:prSet/>
      <dgm:spPr/>
      <dgm:t>
        <a:bodyPr/>
        <a:lstStyle/>
        <a:p>
          <a:endParaRPr lang="en-US"/>
        </a:p>
      </dgm:t>
    </dgm:pt>
    <dgm:pt modelId="{137481BD-655E-4B21-9249-6EBB92970AA3}">
      <dgm:prSet phldrT="[Text]" custT="1"/>
      <dgm:spPr>
        <a:solidFill>
          <a:srgbClr val="59CAE8"/>
        </a:solidFill>
        <a:ln>
          <a:solidFill>
            <a:srgbClr val="59CAE8"/>
          </a:solidFill>
        </a:ln>
      </dgm:spPr>
      <dgm:t>
        <a:bodyPr/>
        <a:lstStyle/>
        <a:p>
          <a:r>
            <a:rPr lang="en-US" sz="2200" b="1" dirty="0"/>
            <a:t>DIRECT SALES</a:t>
          </a:r>
        </a:p>
      </dgm:t>
    </dgm:pt>
    <dgm:pt modelId="{ACB6711E-EC99-4F64-AEE7-58413CCAC090}" type="parTrans" cxnId="{BE4C9AF1-D175-4190-956C-E575898133B0}">
      <dgm:prSet/>
      <dgm:spPr/>
      <dgm:t>
        <a:bodyPr/>
        <a:lstStyle/>
        <a:p>
          <a:endParaRPr lang="en-US"/>
        </a:p>
      </dgm:t>
    </dgm:pt>
    <dgm:pt modelId="{6DA4AAFE-429F-489B-91ED-08FB3BF54110}" type="sibTrans" cxnId="{BE4C9AF1-D175-4190-956C-E575898133B0}">
      <dgm:prSet/>
      <dgm:spPr/>
      <dgm:t>
        <a:bodyPr/>
        <a:lstStyle/>
        <a:p>
          <a:endParaRPr lang="en-US"/>
        </a:p>
      </dgm:t>
    </dgm:pt>
    <dgm:pt modelId="{F7F7C9CC-CBF7-4EC6-A201-AF42BC40F2A0}">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Identification of Key Targets</a:t>
          </a:r>
        </a:p>
      </dgm:t>
    </dgm:pt>
    <dgm:pt modelId="{9087CC11-EF03-4DA5-ABF7-19F2B693FB4C}" type="parTrans" cxnId="{E3215492-455E-4EA7-919D-4D44F840E9C9}">
      <dgm:prSet/>
      <dgm:spPr/>
      <dgm:t>
        <a:bodyPr/>
        <a:lstStyle/>
        <a:p>
          <a:endParaRPr lang="en-US"/>
        </a:p>
      </dgm:t>
    </dgm:pt>
    <dgm:pt modelId="{43B95110-FECF-4DEB-82CB-554B129E2221}" type="sibTrans" cxnId="{E3215492-455E-4EA7-919D-4D44F840E9C9}">
      <dgm:prSet/>
      <dgm:spPr/>
      <dgm:t>
        <a:bodyPr/>
        <a:lstStyle/>
        <a:p>
          <a:endParaRPr lang="en-US"/>
        </a:p>
      </dgm:t>
    </dgm:pt>
    <dgm:pt modelId="{EF258820-A04A-4B12-9D99-F238EA304160}">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Working with SLUHN on Specific Employers</a:t>
          </a:r>
        </a:p>
      </dgm:t>
    </dgm:pt>
    <dgm:pt modelId="{A7BE2C5B-83D4-42C4-A4B2-538C9CC1DDC3}" type="parTrans" cxnId="{4A2F2F51-3B2B-4AB0-8F0E-60C80B592AE5}">
      <dgm:prSet/>
      <dgm:spPr/>
      <dgm:t>
        <a:bodyPr/>
        <a:lstStyle/>
        <a:p>
          <a:endParaRPr lang="en-US"/>
        </a:p>
      </dgm:t>
    </dgm:pt>
    <dgm:pt modelId="{1D731E4C-0D14-463F-B6A4-B4F760D2ECA9}" type="sibTrans" cxnId="{4A2F2F51-3B2B-4AB0-8F0E-60C80B592AE5}">
      <dgm:prSet/>
      <dgm:spPr/>
      <dgm:t>
        <a:bodyPr/>
        <a:lstStyle/>
        <a:p>
          <a:endParaRPr lang="en-US"/>
        </a:p>
      </dgm:t>
    </dgm:pt>
    <dgm:pt modelId="{8AA02574-A625-4CCB-B607-53FB332909CE}">
      <dgm:prSet phldrT="[Text]"/>
      <dgm:spPr>
        <a:solidFill>
          <a:srgbClr val="59CAE8"/>
        </a:solidFill>
        <a:ln>
          <a:solidFill>
            <a:srgbClr val="59CAE8"/>
          </a:solidFill>
        </a:ln>
      </dgm:spPr>
      <dgm:t>
        <a:bodyPr/>
        <a:lstStyle/>
        <a:p>
          <a:r>
            <a:rPr lang="en-US" b="1" dirty="0"/>
            <a:t>SALES ADMINISTRATION</a:t>
          </a:r>
        </a:p>
      </dgm:t>
    </dgm:pt>
    <dgm:pt modelId="{03E4F07C-7651-4A84-978A-18980E54788A}" type="parTrans" cxnId="{04823003-2C67-4DC4-A96A-9D1D87D33B2A}">
      <dgm:prSet/>
      <dgm:spPr/>
      <dgm:t>
        <a:bodyPr/>
        <a:lstStyle/>
        <a:p>
          <a:endParaRPr lang="en-US"/>
        </a:p>
      </dgm:t>
    </dgm:pt>
    <dgm:pt modelId="{A59D420A-0509-48A4-84B8-BD859CBDE972}" type="sibTrans" cxnId="{04823003-2C67-4DC4-A96A-9D1D87D33B2A}">
      <dgm:prSet/>
      <dgm:spPr/>
      <dgm:t>
        <a:bodyPr/>
        <a:lstStyle/>
        <a:p>
          <a:endParaRPr lang="en-US"/>
        </a:p>
      </dgm:t>
    </dgm:pt>
    <dgm:pt modelId="{8F0095CA-0C27-493A-9874-D794A8A73536}">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Quote System</a:t>
          </a:r>
        </a:p>
      </dgm:t>
    </dgm:pt>
    <dgm:pt modelId="{CDC7246F-F150-4E81-9FFD-97B9BE41076B}" type="parTrans" cxnId="{A94A4D77-D410-4172-B3AA-E2ACA791F98F}">
      <dgm:prSet/>
      <dgm:spPr/>
      <dgm:t>
        <a:bodyPr/>
        <a:lstStyle/>
        <a:p>
          <a:endParaRPr lang="en-US"/>
        </a:p>
      </dgm:t>
    </dgm:pt>
    <dgm:pt modelId="{510451AB-9983-4AEA-8022-D0BC130E6092}" type="sibTrans" cxnId="{A94A4D77-D410-4172-B3AA-E2ACA791F98F}">
      <dgm:prSet/>
      <dgm:spPr/>
      <dgm:t>
        <a:bodyPr/>
        <a:lstStyle/>
        <a:p>
          <a:endParaRPr lang="en-US"/>
        </a:p>
      </dgm:t>
    </dgm:pt>
    <dgm:pt modelId="{A6159738-FDC8-4527-9EE7-E748F5F180C4}">
      <dgm:prSet phldrT="[Text]"/>
      <dgm:spPr>
        <a:solidFill>
          <a:schemeClr val="lt1">
            <a:hueOff val="0"/>
            <a:satOff val="0"/>
            <a:lumOff val="0"/>
            <a:alpha val="80000"/>
          </a:schemeClr>
        </a:solidFill>
        <a:ln>
          <a:solidFill>
            <a:schemeClr val="bg1">
              <a:lumMod val="65000"/>
            </a:schemeClr>
          </a:solidFill>
        </a:ln>
      </dgm:spPr>
      <dgm:t>
        <a:bodyPr tIns="91440"/>
        <a:lstStyle/>
        <a:p>
          <a:pPr marL="228600" indent="0">
            <a:lnSpc>
              <a:spcPct val="100000"/>
            </a:lnSpc>
            <a:spcAft>
              <a:spcPts val="300"/>
            </a:spcAft>
          </a:pPr>
          <a:endParaRPr lang="en-US" sz="2100" b="0" dirty="0"/>
        </a:p>
      </dgm:t>
    </dgm:pt>
    <dgm:pt modelId="{A32F0CB0-B068-4A83-8EE1-38AABA44839F}" type="parTrans" cxnId="{8B104222-6399-4A64-A215-E3EBB8CBBCE9}">
      <dgm:prSet/>
      <dgm:spPr/>
      <dgm:t>
        <a:bodyPr/>
        <a:lstStyle/>
        <a:p>
          <a:endParaRPr lang="en-US"/>
        </a:p>
      </dgm:t>
    </dgm:pt>
    <dgm:pt modelId="{56F68E1F-8354-4732-BE63-FD4638DDCC41}" type="sibTrans" cxnId="{8B104222-6399-4A64-A215-E3EBB8CBBCE9}">
      <dgm:prSet/>
      <dgm:spPr/>
      <dgm:t>
        <a:bodyPr/>
        <a:lstStyle/>
        <a:p>
          <a:endParaRPr lang="en-US"/>
        </a:p>
      </dgm:t>
    </dgm:pt>
    <dgm:pt modelId="{55B6DA3F-4BB5-419B-93D9-A3F482FE7CD2}">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Quote Evaluation</a:t>
          </a:r>
        </a:p>
      </dgm:t>
    </dgm:pt>
    <dgm:pt modelId="{040046BF-2D82-47BD-903B-6D20E5A82A2F}" type="parTrans" cxnId="{3942E9C9-D4D9-4DE8-814F-990DD7368247}">
      <dgm:prSet/>
      <dgm:spPr/>
      <dgm:t>
        <a:bodyPr/>
        <a:lstStyle/>
        <a:p>
          <a:endParaRPr lang="en-US"/>
        </a:p>
      </dgm:t>
    </dgm:pt>
    <dgm:pt modelId="{67C7D3C6-55FB-420A-8BE3-EEF7B8227D00}" type="sibTrans" cxnId="{3942E9C9-D4D9-4DE8-814F-990DD7368247}">
      <dgm:prSet/>
      <dgm:spPr/>
      <dgm:t>
        <a:bodyPr/>
        <a:lstStyle/>
        <a:p>
          <a:endParaRPr lang="en-US"/>
        </a:p>
      </dgm:t>
    </dgm:pt>
    <dgm:pt modelId="{18F7CD44-01BC-420F-8F77-B2F834061C56}">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Compensation</a:t>
          </a:r>
        </a:p>
      </dgm:t>
    </dgm:pt>
    <dgm:pt modelId="{626F4F01-D67C-46BF-BE55-EDE98335CEFB}" type="parTrans" cxnId="{8162C5E1-8299-4C0D-976A-C6AE3B6A2219}">
      <dgm:prSet/>
      <dgm:spPr/>
      <dgm:t>
        <a:bodyPr/>
        <a:lstStyle/>
        <a:p>
          <a:endParaRPr lang="en-US"/>
        </a:p>
      </dgm:t>
    </dgm:pt>
    <dgm:pt modelId="{D05D3DF4-0111-4D0B-86E5-ADEE05D7B77E}" type="sibTrans" cxnId="{8162C5E1-8299-4C0D-976A-C6AE3B6A2219}">
      <dgm:prSet/>
      <dgm:spPr/>
      <dgm:t>
        <a:bodyPr/>
        <a:lstStyle/>
        <a:p>
          <a:endParaRPr lang="en-US"/>
        </a:p>
      </dgm:t>
    </dgm:pt>
    <dgm:pt modelId="{B1FA3D48-7F41-4C46-99D6-6C8591F4198C}">
      <dgm:prSet phldrT="[Text]"/>
      <dgm:spPr>
        <a:solidFill>
          <a:schemeClr val="lt1">
            <a:hueOff val="0"/>
            <a:satOff val="0"/>
            <a:lumOff val="0"/>
            <a:alpha val="80000"/>
          </a:schemeClr>
        </a:solidFill>
        <a:ln>
          <a:solidFill>
            <a:schemeClr val="bg1">
              <a:lumMod val="65000"/>
            </a:schemeClr>
          </a:solidFill>
        </a:ln>
      </dgm:spPr>
      <dgm:t>
        <a:bodyPr tIns="91440"/>
        <a:lstStyle/>
        <a:p>
          <a:pPr marL="114300" indent="0">
            <a:lnSpc>
              <a:spcPct val="100000"/>
            </a:lnSpc>
            <a:spcAft>
              <a:spcPts val="300"/>
            </a:spcAft>
          </a:pPr>
          <a:endParaRPr lang="en-US" sz="1500" b="0" dirty="0"/>
        </a:p>
      </dgm:t>
    </dgm:pt>
    <dgm:pt modelId="{012C922E-7A6C-43B7-A753-53C75D0CB07F}" type="parTrans" cxnId="{EBF30808-A408-4F9D-B9C2-E5FC4507A989}">
      <dgm:prSet/>
      <dgm:spPr/>
      <dgm:t>
        <a:bodyPr/>
        <a:lstStyle/>
        <a:p>
          <a:endParaRPr lang="en-US"/>
        </a:p>
      </dgm:t>
    </dgm:pt>
    <dgm:pt modelId="{4E6B45C1-37A8-43E1-8B00-EA4364BA9A53}" type="sibTrans" cxnId="{EBF30808-A408-4F9D-B9C2-E5FC4507A989}">
      <dgm:prSet/>
      <dgm:spPr/>
      <dgm:t>
        <a:bodyPr/>
        <a:lstStyle/>
        <a:p>
          <a:endParaRPr lang="en-US"/>
        </a:p>
      </dgm:t>
    </dgm:pt>
    <dgm:pt modelId="{52909B4C-F1D6-4114-81F2-43FEC7AE2687}">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Meet and Greet</a:t>
          </a:r>
        </a:p>
      </dgm:t>
    </dgm:pt>
    <dgm:pt modelId="{1E4615D3-4B3A-437B-A9CD-82E4CFF8FA93}" type="parTrans" cxnId="{E5A01246-CF50-42C5-A8E0-61A3D4EDFDAD}">
      <dgm:prSet/>
      <dgm:spPr/>
      <dgm:t>
        <a:bodyPr/>
        <a:lstStyle/>
        <a:p>
          <a:endParaRPr lang="en-US"/>
        </a:p>
      </dgm:t>
    </dgm:pt>
    <dgm:pt modelId="{7A8627E2-A1BB-4202-B6A1-492AAA800E1E}" type="sibTrans" cxnId="{E5A01246-CF50-42C5-A8E0-61A3D4EDFDAD}">
      <dgm:prSet/>
      <dgm:spPr/>
      <dgm:t>
        <a:bodyPr/>
        <a:lstStyle/>
        <a:p>
          <a:endParaRPr lang="en-US"/>
        </a:p>
      </dgm:t>
    </dgm:pt>
    <dgm:pt modelId="{EEE8F098-CBAA-4FDF-AD53-BB2438D100F7}">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Sales Process</a:t>
          </a:r>
        </a:p>
      </dgm:t>
    </dgm:pt>
    <dgm:pt modelId="{6B7527E6-8507-4045-9B6E-9CF72FEF5E95}" type="parTrans" cxnId="{51B92CD5-97D5-40B6-AB85-7E46EB3A8DAD}">
      <dgm:prSet/>
      <dgm:spPr/>
      <dgm:t>
        <a:bodyPr/>
        <a:lstStyle/>
        <a:p>
          <a:endParaRPr lang="en-US"/>
        </a:p>
      </dgm:t>
    </dgm:pt>
    <dgm:pt modelId="{CE2375D9-47D1-49B0-BEE1-C3E70E7CB9E2}" type="sibTrans" cxnId="{51B92CD5-97D5-40B6-AB85-7E46EB3A8DAD}">
      <dgm:prSet/>
      <dgm:spPr/>
      <dgm:t>
        <a:bodyPr/>
        <a:lstStyle/>
        <a:p>
          <a:endParaRPr lang="en-US"/>
        </a:p>
      </dgm:t>
    </dgm:pt>
    <dgm:pt modelId="{B27D0194-626B-4B7E-B215-FC4ADD64CF06}">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Closing</a:t>
          </a:r>
        </a:p>
      </dgm:t>
    </dgm:pt>
    <dgm:pt modelId="{E7D0C996-3A46-456D-A675-0CF24ACD7493}" type="parTrans" cxnId="{496A7FEB-F9F3-49B2-87F8-A7DB503158A7}">
      <dgm:prSet/>
      <dgm:spPr/>
      <dgm:t>
        <a:bodyPr/>
        <a:lstStyle/>
        <a:p>
          <a:endParaRPr lang="en-US"/>
        </a:p>
      </dgm:t>
    </dgm:pt>
    <dgm:pt modelId="{592F40CC-5F5B-4E86-86DB-EDED83B9F5A5}" type="sibTrans" cxnId="{496A7FEB-F9F3-49B2-87F8-A7DB503158A7}">
      <dgm:prSet/>
      <dgm:spPr/>
      <dgm:t>
        <a:bodyPr/>
        <a:lstStyle/>
        <a:p>
          <a:endParaRPr lang="en-US"/>
        </a:p>
      </dgm:t>
    </dgm:pt>
    <dgm:pt modelId="{5E564713-3E5C-4216-AC76-2C8D569707A1}">
      <dgm:prSet phldrT="[Text]"/>
      <dgm:spPr>
        <a:solidFill>
          <a:schemeClr val="lt1">
            <a:hueOff val="0"/>
            <a:satOff val="0"/>
            <a:lumOff val="0"/>
            <a:alpha val="80000"/>
          </a:schemeClr>
        </a:solidFill>
        <a:ln>
          <a:solidFill>
            <a:schemeClr val="bg1">
              <a:lumMod val="65000"/>
            </a:schemeClr>
          </a:solidFill>
        </a:ln>
      </dgm:spPr>
      <dgm:t>
        <a:bodyPr tIns="91440"/>
        <a:lstStyle/>
        <a:p>
          <a:pPr marL="228600" indent="0">
            <a:lnSpc>
              <a:spcPct val="100000"/>
            </a:lnSpc>
            <a:spcAft>
              <a:spcPts val="300"/>
            </a:spcAft>
          </a:pPr>
          <a:endParaRPr lang="en-US" sz="2100" b="0" dirty="0"/>
        </a:p>
      </dgm:t>
    </dgm:pt>
    <dgm:pt modelId="{0C8DA182-D421-4374-AA69-62A4033F8D61}" type="parTrans" cxnId="{D5EF1BE8-567B-4AEB-9931-155FFDAC15D1}">
      <dgm:prSet/>
      <dgm:spPr/>
      <dgm:t>
        <a:bodyPr/>
        <a:lstStyle/>
        <a:p>
          <a:endParaRPr lang="en-US"/>
        </a:p>
      </dgm:t>
    </dgm:pt>
    <dgm:pt modelId="{C594015F-2B43-47FD-9E44-22D00FC6EB48}" type="sibTrans" cxnId="{D5EF1BE8-567B-4AEB-9931-155FFDAC15D1}">
      <dgm:prSet/>
      <dgm:spPr/>
      <dgm:t>
        <a:bodyPr/>
        <a:lstStyle/>
        <a:p>
          <a:endParaRPr lang="en-US"/>
        </a:p>
      </dgm:t>
    </dgm:pt>
    <dgm:pt modelId="{885332B7-7246-4244-A0D2-975A33F31079}">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Stop Loss Negotiations</a:t>
          </a:r>
        </a:p>
      </dgm:t>
    </dgm:pt>
    <dgm:pt modelId="{E7FAEC81-7510-4FBC-A43B-11CC7AE943EB}" type="parTrans" cxnId="{0DED00E9-39A7-4A66-81CF-9E58BACE546B}">
      <dgm:prSet/>
      <dgm:spPr/>
      <dgm:t>
        <a:bodyPr/>
        <a:lstStyle/>
        <a:p>
          <a:endParaRPr lang="en-US"/>
        </a:p>
      </dgm:t>
    </dgm:pt>
    <dgm:pt modelId="{505CD4CE-5097-4B20-85CF-86C38AD5B674}" type="sibTrans" cxnId="{0DED00E9-39A7-4A66-81CF-9E58BACE546B}">
      <dgm:prSet/>
      <dgm:spPr/>
      <dgm:t>
        <a:bodyPr/>
        <a:lstStyle/>
        <a:p>
          <a:endParaRPr lang="en-US"/>
        </a:p>
      </dgm:t>
    </dgm:pt>
    <dgm:pt modelId="{EBA74B6E-E441-4C94-B40D-344355E6A2AD}">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Reporting &amp; Analysis</a:t>
          </a:r>
        </a:p>
      </dgm:t>
    </dgm:pt>
    <dgm:pt modelId="{EE185816-4FAD-4377-95BE-CE8785110CA3}" type="parTrans" cxnId="{A69873B0-FF94-42FA-85D6-2178D30F5661}">
      <dgm:prSet/>
      <dgm:spPr/>
      <dgm:t>
        <a:bodyPr/>
        <a:lstStyle/>
        <a:p>
          <a:endParaRPr lang="en-US"/>
        </a:p>
      </dgm:t>
    </dgm:pt>
    <dgm:pt modelId="{2A50F865-EFF3-4244-97F8-F727D47A77B6}" type="sibTrans" cxnId="{A69873B0-FF94-42FA-85D6-2178D30F5661}">
      <dgm:prSet/>
      <dgm:spPr/>
      <dgm:t>
        <a:bodyPr/>
        <a:lstStyle/>
        <a:p>
          <a:endParaRPr lang="en-US"/>
        </a:p>
      </dgm:t>
    </dgm:pt>
    <dgm:pt modelId="{D640020A-77D2-41B3-8CF5-C70AAC2AA6DC}">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Proposal Development</a:t>
          </a:r>
        </a:p>
      </dgm:t>
    </dgm:pt>
    <dgm:pt modelId="{F724F9CA-A993-42BD-9A69-1207E54E7E56}" type="parTrans" cxnId="{AF9CDED6-0EC7-4744-8E01-7561E759F175}">
      <dgm:prSet/>
      <dgm:spPr/>
      <dgm:t>
        <a:bodyPr/>
        <a:lstStyle/>
        <a:p>
          <a:endParaRPr lang="en-US"/>
        </a:p>
      </dgm:t>
    </dgm:pt>
    <dgm:pt modelId="{8E45483F-4EE1-46BA-9F55-8EF02F57610E}" type="sibTrans" cxnId="{AF9CDED6-0EC7-4744-8E01-7561E759F175}">
      <dgm:prSet/>
      <dgm:spPr/>
      <dgm:t>
        <a:bodyPr/>
        <a:lstStyle/>
        <a:p>
          <a:endParaRPr lang="en-US"/>
        </a:p>
      </dgm:t>
    </dgm:pt>
    <dgm:pt modelId="{02E691F9-88D3-4BD2-83C9-F0036F6DAFD4}" type="pres">
      <dgm:prSet presAssocID="{FD150493-506C-4796-9188-B229C3F673EE}" presName="diagram" presStyleCnt="0">
        <dgm:presLayoutVars>
          <dgm:dir/>
          <dgm:animLvl val="lvl"/>
          <dgm:resizeHandles val="exact"/>
        </dgm:presLayoutVars>
      </dgm:prSet>
      <dgm:spPr/>
    </dgm:pt>
    <dgm:pt modelId="{58D04B40-D6D0-4E84-B95B-18F2C07DF5B9}" type="pres">
      <dgm:prSet presAssocID="{D23E581B-AA16-403B-8AF5-1BB3E719881C}" presName="compNode" presStyleCnt="0"/>
      <dgm:spPr/>
    </dgm:pt>
    <dgm:pt modelId="{3F010C22-B439-4BEC-A07A-60ED666B2E08}" type="pres">
      <dgm:prSet presAssocID="{D23E581B-AA16-403B-8AF5-1BB3E719881C}" presName="childRect" presStyleLbl="bgAcc1" presStyleIdx="0" presStyleCnt="3" custScaleY="106070">
        <dgm:presLayoutVars>
          <dgm:bulletEnabled val="1"/>
        </dgm:presLayoutVars>
      </dgm:prSet>
      <dgm:spPr/>
    </dgm:pt>
    <dgm:pt modelId="{5F2862EE-15F0-400F-BA0C-7A5864BA0266}" type="pres">
      <dgm:prSet presAssocID="{D23E581B-AA16-403B-8AF5-1BB3E719881C}" presName="parentText" presStyleLbl="node1" presStyleIdx="0" presStyleCnt="0">
        <dgm:presLayoutVars>
          <dgm:chMax val="0"/>
          <dgm:bulletEnabled val="1"/>
        </dgm:presLayoutVars>
      </dgm:prSet>
      <dgm:spPr/>
    </dgm:pt>
    <dgm:pt modelId="{CBD6250E-21D7-41DA-B5C6-ED9529780301}" type="pres">
      <dgm:prSet presAssocID="{D23E581B-AA16-403B-8AF5-1BB3E719881C}" presName="parentRect" presStyleLbl="alignNode1" presStyleIdx="0" presStyleCnt="3"/>
      <dgm:spPr/>
    </dgm:pt>
    <dgm:pt modelId="{C9DDB7FA-A0FA-4D6A-949B-B117078ADD34}" type="pres">
      <dgm:prSet presAssocID="{D23E581B-AA16-403B-8AF5-1BB3E719881C}" presName="adorn" presStyleLbl="fgAccFollowNode1" presStyleIdx="0" presStyleCnt="3"/>
      <dgm:spPr>
        <a:blipFill>
          <a:blip xmlns:r="http://schemas.openxmlformats.org/officeDocument/2006/relationships" r:embed="rId1" cstate="screen">
            <a:extLst>
              <a:ext uri="{28A0092B-C50C-407E-A947-70E740481C1C}">
                <a14:useLocalDpi xmlns:a14="http://schemas.microsoft.com/office/drawing/2010/main"/>
              </a:ext>
            </a:extLst>
          </a:blip>
          <a:stretch>
            <a:fillRect/>
          </a:stretch>
        </a:blipFill>
      </dgm:spPr>
    </dgm:pt>
    <dgm:pt modelId="{E77E4508-34B4-407E-AA04-E065337321D5}" type="pres">
      <dgm:prSet presAssocID="{1A5DEF5B-E65A-4FF8-AF95-9D9360F04B85}" presName="sibTrans" presStyleLbl="sibTrans2D1" presStyleIdx="0" presStyleCnt="0"/>
      <dgm:spPr/>
    </dgm:pt>
    <dgm:pt modelId="{9DA3E70E-BD71-4D3F-B533-03B38D4C3DF0}" type="pres">
      <dgm:prSet presAssocID="{137481BD-655E-4B21-9249-6EBB92970AA3}" presName="compNode" presStyleCnt="0"/>
      <dgm:spPr/>
    </dgm:pt>
    <dgm:pt modelId="{8C4E3136-41AF-48D5-891D-C7A5263CF655}" type="pres">
      <dgm:prSet presAssocID="{137481BD-655E-4B21-9249-6EBB92970AA3}" presName="childRect" presStyleLbl="bgAcc1" presStyleIdx="1" presStyleCnt="3" custScaleY="106070">
        <dgm:presLayoutVars>
          <dgm:bulletEnabled val="1"/>
        </dgm:presLayoutVars>
      </dgm:prSet>
      <dgm:spPr/>
    </dgm:pt>
    <dgm:pt modelId="{87CDE648-3631-45A2-81CB-A378391DE746}" type="pres">
      <dgm:prSet presAssocID="{137481BD-655E-4B21-9249-6EBB92970AA3}" presName="parentText" presStyleLbl="node1" presStyleIdx="0" presStyleCnt="0">
        <dgm:presLayoutVars>
          <dgm:chMax val="0"/>
          <dgm:bulletEnabled val="1"/>
        </dgm:presLayoutVars>
      </dgm:prSet>
      <dgm:spPr/>
    </dgm:pt>
    <dgm:pt modelId="{79A312E4-6849-4D68-ADD1-B772AC6F907C}" type="pres">
      <dgm:prSet presAssocID="{137481BD-655E-4B21-9249-6EBB92970AA3}" presName="parentRect" presStyleLbl="alignNode1" presStyleIdx="1" presStyleCnt="3"/>
      <dgm:spPr/>
    </dgm:pt>
    <dgm:pt modelId="{59AE0CE5-CBA7-420A-835A-5F5591837FE8}" type="pres">
      <dgm:prSet presAssocID="{137481BD-655E-4B21-9249-6EBB92970AA3}" presName="adorn" presStyleLbl="fgAccFollowNode1" presStyleIdx="1" presStyleCnt="3"/>
      <dgm:spPr>
        <a:blipFill>
          <a:blip xmlns:r="http://schemas.openxmlformats.org/officeDocument/2006/relationships" r:embed="rId2" cstate="screen">
            <a:extLst>
              <a:ext uri="{28A0092B-C50C-407E-A947-70E740481C1C}">
                <a14:useLocalDpi xmlns:a14="http://schemas.microsoft.com/office/drawing/2010/main"/>
              </a:ext>
            </a:extLst>
          </a:blip>
          <a:stretch>
            <a:fillRect/>
          </a:stretch>
        </a:blipFill>
      </dgm:spPr>
    </dgm:pt>
    <dgm:pt modelId="{D3E0BD9C-A15C-4128-8A3E-11E4925B5449}" type="pres">
      <dgm:prSet presAssocID="{6DA4AAFE-429F-489B-91ED-08FB3BF54110}" presName="sibTrans" presStyleLbl="sibTrans2D1" presStyleIdx="0" presStyleCnt="0"/>
      <dgm:spPr/>
    </dgm:pt>
    <dgm:pt modelId="{FEE7CB4D-9AA0-4FA3-ACBC-9D2E9B793FB1}" type="pres">
      <dgm:prSet presAssocID="{8AA02574-A625-4CCB-B607-53FB332909CE}" presName="compNode" presStyleCnt="0"/>
      <dgm:spPr/>
    </dgm:pt>
    <dgm:pt modelId="{35B06EAE-30F4-4745-ACED-5452905F1416}" type="pres">
      <dgm:prSet presAssocID="{8AA02574-A625-4CCB-B607-53FB332909CE}" presName="childRect" presStyleLbl="bgAcc1" presStyleIdx="2" presStyleCnt="3" custScaleY="106070">
        <dgm:presLayoutVars>
          <dgm:bulletEnabled val="1"/>
        </dgm:presLayoutVars>
      </dgm:prSet>
      <dgm:spPr/>
    </dgm:pt>
    <dgm:pt modelId="{9E8AA967-F63D-4462-B3DF-2E61DCE37D82}" type="pres">
      <dgm:prSet presAssocID="{8AA02574-A625-4CCB-B607-53FB332909CE}" presName="parentText" presStyleLbl="node1" presStyleIdx="0" presStyleCnt="0">
        <dgm:presLayoutVars>
          <dgm:chMax val="0"/>
          <dgm:bulletEnabled val="1"/>
        </dgm:presLayoutVars>
      </dgm:prSet>
      <dgm:spPr/>
    </dgm:pt>
    <dgm:pt modelId="{A8558B5A-0979-484B-BD3E-256476C68F9A}" type="pres">
      <dgm:prSet presAssocID="{8AA02574-A625-4CCB-B607-53FB332909CE}" presName="parentRect" presStyleLbl="alignNode1" presStyleIdx="2" presStyleCnt="3"/>
      <dgm:spPr/>
    </dgm:pt>
    <dgm:pt modelId="{1AE27240-F06A-48BF-83C8-82D83CBD609C}" type="pres">
      <dgm:prSet presAssocID="{8AA02574-A625-4CCB-B607-53FB332909CE}" presName="adorn" presStyleLbl="fgAccFollowNode1" presStyleIdx="2" presStyleCnt="3"/>
      <dgm:spPr>
        <a:blipFill>
          <a:blip xmlns:r="http://schemas.openxmlformats.org/officeDocument/2006/relationships" r:embed="rId3" cstate="screen">
            <a:extLst>
              <a:ext uri="{28A0092B-C50C-407E-A947-70E740481C1C}">
                <a14:useLocalDpi xmlns:a14="http://schemas.microsoft.com/office/drawing/2010/main"/>
              </a:ext>
            </a:extLst>
          </a:blip>
          <a:stretch>
            <a:fillRect/>
          </a:stretch>
        </a:blipFill>
      </dgm:spPr>
    </dgm:pt>
  </dgm:ptLst>
  <dgm:cxnLst>
    <dgm:cxn modelId="{04823003-2C67-4DC4-A96A-9D1D87D33B2A}" srcId="{FD150493-506C-4796-9188-B229C3F673EE}" destId="{8AA02574-A625-4CCB-B607-53FB332909CE}" srcOrd="2" destOrd="0" parTransId="{03E4F07C-7651-4A84-978A-18980E54788A}" sibTransId="{A59D420A-0509-48A4-84B8-BD859CBDE972}"/>
    <dgm:cxn modelId="{7B42FE03-BD6F-43D6-BBCC-B71496222048}" type="presOf" srcId="{18F7CD44-01BC-420F-8F77-B2F834061C56}" destId="{3F010C22-B439-4BEC-A07A-60ED666B2E08}" srcOrd="0" destOrd="3" presId="urn:microsoft.com/office/officeart/2005/8/layout/bList2"/>
    <dgm:cxn modelId="{54060E05-1455-499C-A6BB-E47A1C8EFC1A}" type="presOf" srcId="{B1FA3D48-7F41-4C46-99D6-6C8591F4198C}" destId="{8C4E3136-41AF-48D5-891D-C7A5263CF655}" srcOrd="0" destOrd="5" presId="urn:microsoft.com/office/officeart/2005/8/layout/bList2"/>
    <dgm:cxn modelId="{EBF30808-A408-4F9D-B9C2-E5FC4507A989}" srcId="{137481BD-655E-4B21-9249-6EBB92970AA3}" destId="{B1FA3D48-7F41-4C46-99D6-6C8591F4198C}" srcOrd="5" destOrd="0" parTransId="{012C922E-7A6C-43B7-A753-53C75D0CB07F}" sibTransId="{4E6B45C1-37A8-43E1-8B00-EA4364BA9A53}"/>
    <dgm:cxn modelId="{3D9A0B09-6AB4-485F-8CF6-E2667BD0F39D}" type="presOf" srcId="{EEE8F098-CBAA-4FDF-AD53-BB2438D100F7}" destId="{8C4E3136-41AF-48D5-891D-C7A5263CF655}" srcOrd="0" destOrd="3" presId="urn:microsoft.com/office/officeart/2005/8/layout/bList2"/>
    <dgm:cxn modelId="{6D174311-286B-4901-9809-DB185CC1A3A7}" type="presOf" srcId="{52909B4C-F1D6-4114-81F2-43FEC7AE2687}" destId="{8C4E3136-41AF-48D5-891D-C7A5263CF655}" srcOrd="0" destOrd="2" presId="urn:microsoft.com/office/officeart/2005/8/layout/bList2"/>
    <dgm:cxn modelId="{C7F2A021-2EC4-4FB9-98C4-91297D552460}" srcId="{D23E581B-AA16-403B-8AF5-1BB3E719881C}" destId="{8D4A55D0-1681-418C-B4D4-503419A60283}" srcOrd="1" destOrd="0" parTransId="{011C8C61-B114-4F8E-977C-29D521EDD73E}" sibTransId="{FAFC1358-B61D-4F1C-8954-5762C6025450}"/>
    <dgm:cxn modelId="{8B104222-6399-4A64-A215-E3EBB8CBBCE9}" srcId="{8AA02574-A625-4CCB-B607-53FB332909CE}" destId="{A6159738-FDC8-4527-9EE7-E748F5F180C4}" srcOrd="4" destOrd="0" parTransId="{A32F0CB0-B068-4A83-8EE1-38AABA44839F}" sibTransId="{56F68E1F-8354-4732-BE63-FD4638DDCC41}"/>
    <dgm:cxn modelId="{7B680F26-15C7-4ECC-9BE4-0E8E90993F89}" type="presOf" srcId="{D640020A-77D2-41B3-8CF5-C70AAC2AA6DC}" destId="{35B06EAE-30F4-4745-ACED-5452905F1416}" srcOrd="0" destOrd="1" presId="urn:microsoft.com/office/officeart/2005/8/layout/bList2"/>
    <dgm:cxn modelId="{7E2CEC2B-6FA7-4859-8C81-1D70C53CD08B}" type="presOf" srcId="{885332B7-7246-4244-A0D2-975A33F31079}" destId="{35B06EAE-30F4-4745-ACED-5452905F1416}" srcOrd="0" destOrd="2" presId="urn:microsoft.com/office/officeart/2005/8/layout/bList2"/>
    <dgm:cxn modelId="{67E03231-DB0E-4277-AB75-FBA53D566E93}" type="presOf" srcId="{6DA4AAFE-429F-489B-91ED-08FB3BF54110}" destId="{D3E0BD9C-A15C-4128-8A3E-11E4925B5449}" srcOrd="0" destOrd="0" presId="urn:microsoft.com/office/officeart/2005/8/layout/bList2"/>
    <dgm:cxn modelId="{83C4A231-D186-4969-BA3D-B7D11C49A7DB}" type="presOf" srcId="{FD150493-506C-4796-9188-B229C3F673EE}" destId="{02E691F9-88D3-4BD2-83C9-F0036F6DAFD4}" srcOrd="0" destOrd="0" presId="urn:microsoft.com/office/officeart/2005/8/layout/bList2"/>
    <dgm:cxn modelId="{2F92E761-FCD0-4BDD-A76B-9C732D3383BD}" srcId="{FD150493-506C-4796-9188-B229C3F673EE}" destId="{D23E581B-AA16-403B-8AF5-1BB3E719881C}" srcOrd="0" destOrd="0" parTransId="{B1EFF21B-7CA5-4F93-B9E5-5284C3F28E15}" sibTransId="{1A5DEF5B-E65A-4FF8-AF95-9D9360F04B85}"/>
    <dgm:cxn modelId="{6F5B0544-A529-4966-AB26-9F11B7AE40CA}" type="presOf" srcId="{137481BD-655E-4B21-9249-6EBB92970AA3}" destId="{79A312E4-6849-4D68-ADD1-B772AC6F907C}" srcOrd="1" destOrd="0" presId="urn:microsoft.com/office/officeart/2005/8/layout/bList2"/>
    <dgm:cxn modelId="{E5A01246-CF50-42C5-A8E0-61A3D4EDFDAD}" srcId="{137481BD-655E-4B21-9249-6EBB92970AA3}" destId="{52909B4C-F1D6-4114-81F2-43FEC7AE2687}" srcOrd="2" destOrd="0" parTransId="{1E4615D3-4B3A-437B-A9CD-82E4CFF8FA93}" sibTransId="{7A8627E2-A1BB-4202-B6A1-492AAA800E1E}"/>
    <dgm:cxn modelId="{338AA666-5CD1-4B0E-8D79-42A1DB196BFE}" type="presOf" srcId="{8D4A55D0-1681-418C-B4D4-503419A60283}" destId="{3F010C22-B439-4BEC-A07A-60ED666B2E08}" srcOrd="0" destOrd="1" presId="urn:microsoft.com/office/officeart/2005/8/layout/bList2"/>
    <dgm:cxn modelId="{FA50D26E-BC2C-4CD7-B6FF-610BE97ECCDC}" type="presOf" srcId="{EBA74B6E-E441-4C94-B40D-344355E6A2AD}" destId="{35B06EAE-30F4-4745-ACED-5452905F1416}" srcOrd="0" destOrd="3" presId="urn:microsoft.com/office/officeart/2005/8/layout/bList2"/>
    <dgm:cxn modelId="{4A2F2F51-3B2B-4AB0-8F0E-60C80B592AE5}" srcId="{137481BD-655E-4B21-9249-6EBB92970AA3}" destId="{EF258820-A04A-4B12-9D99-F238EA304160}" srcOrd="1" destOrd="0" parTransId="{A7BE2C5B-83D4-42C4-A4B2-538C9CC1DDC3}" sibTransId="{1D731E4C-0D14-463F-B6A4-B4F760D2ECA9}"/>
    <dgm:cxn modelId="{A94A4D77-D410-4172-B3AA-E2ACA791F98F}" srcId="{8AA02574-A625-4CCB-B607-53FB332909CE}" destId="{8F0095CA-0C27-493A-9874-D794A8A73536}" srcOrd="0" destOrd="0" parTransId="{CDC7246F-F150-4E81-9FFD-97B9BE41076B}" sibTransId="{510451AB-9983-4AEA-8022-D0BC130E6092}"/>
    <dgm:cxn modelId="{EEE04859-9D6F-4F7C-A816-0425AD38F258}" type="presOf" srcId="{D23E581B-AA16-403B-8AF5-1BB3E719881C}" destId="{CBD6250E-21D7-41DA-B5C6-ED9529780301}" srcOrd="1" destOrd="0" presId="urn:microsoft.com/office/officeart/2005/8/layout/bList2"/>
    <dgm:cxn modelId="{C3C9F559-4F82-4941-A725-E9BCE191CFCA}" type="presOf" srcId="{5E564713-3E5C-4216-AC76-2C8D569707A1}" destId="{35B06EAE-30F4-4745-ACED-5452905F1416}" srcOrd="0" destOrd="5" presId="urn:microsoft.com/office/officeart/2005/8/layout/bList2"/>
    <dgm:cxn modelId="{49843980-F694-4D65-86B3-4D28E75D1CAD}" type="presOf" srcId="{137481BD-655E-4B21-9249-6EBB92970AA3}" destId="{87CDE648-3631-45A2-81CB-A378391DE746}" srcOrd="0" destOrd="0" presId="urn:microsoft.com/office/officeart/2005/8/layout/bList2"/>
    <dgm:cxn modelId="{BAD32D88-086B-4163-8EEE-CFA5FBE13314}" type="presOf" srcId="{F7F7C9CC-CBF7-4EC6-A201-AF42BC40F2A0}" destId="{8C4E3136-41AF-48D5-891D-C7A5263CF655}" srcOrd="0" destOrd="0" presId="urn:microsoft.com/office/officeart/2005/8/layout/bList2"/>
    <dgm:cxn modelId="{E3215492-455E-4EA7-919D-4D44F840E9C9}" srcId="{137481BD-655E-4B21-9249-6EBB92970AA3}" destId="{F7F7C9CC-CBF7-4EC6-A201-AF42BC40F2A0}" srcOrd="0" destOrd="0" parTransId="{9087CC11-EF03-4DA5-ABF7-19F2B693FB4C}" sibTransId="{43B95110-FECF-4DEB-82CB-554B129E2221}"/>
    <dgm:cxn modelId="{F91C5992-82A2-4E51-88AD-3B34B316A11D}" srcId="{D23E581B-AA16-403B-8AF5-1BB3E719881C}" destId="{7FF46690-C008-4C6D-8B8B-295F75E0DB90}" srcOrd="0" destOrd="0" parTransId="{8D0C7DC4-BF81-461E-AD4F-3807C09AE856}" sibTransId="{B3C1D7E9-AE25-4261-B242-F121DEE18B6F}"/>
    <dgm:cxn modelId="{4223F69E-8990-4F1E-B5FB-EA7DF1360CD2}" type="presOf" srcId="{EF258820-A04A-4B12-9D99-F238EA304160}" destId="{8C4E3136-41AF-48D5-891D-C7A5263CF655}" srcOrd="0" destOrd="1" presId="urn:microsoft.com/office/officeart/2005/8/layout/bList2"/>
    <dgm:cxn modelId="{92EAACA0-EC69-4A7A-A0D6-B767ABABFD4D}" type="presOf" srcId="{8AA02574-A625-4CCB-B607-53FB332909CE}" destId="{9E8AA967-F63D-4462-B3DF-2E61DCE37D82}" srcOrd="0" destOrd="0" presId="urn:microsoft.com/office/officeart/2005/8/layout/bList2"/>
    <dgm:cxn modelId="{A32D6DAF-29BD-4DA0-8A68-C96BC152DC95}" type="presOf" srcId="{B27D0194-626B-4B7E-B215-FC4ADD64CF06}" destId="{8C4E3136-41AF-48D5-891D-C7A5263CF655}" srcOrd="0" destOrd="4" presId="urn:microsoft.com/office/officeart/2005/8/layout/bList2"/>
    <dgm:cxn modelId="{00FED3AF-57A0-4536-AF96-3C7ACD6762BC}" type="presOf" srcId="{A6159738-FDC8-4527-9EE7-E748F5F180C4}" destId="{35B06EAE-30F4-4745-ACED-5452905F1416}" srcOrd="0" destOrd="4" presId="urn:microsoft.com/office/officeart/2005/8/layout/bList2"/>
    <dgm:cxn modelId="{A69873B0-FF94-42FA-85D6-2178D30F5661}" srcId="{8AA02574-A625-4CCB-B607-53FB332909CE}" destId="{EBA74B6E-E441-4C94-B40D-344355E6A2AD}" srcOrd="3" destOrd="0" parTransId="{EE185816-4FAD-4377-95BE-CE8785110CA3}" sibTransId="{2A50F865-EFF3-4244-97F8-F727D47A77B6}"/>
    <dgm:cxn modelId="{2B3431C1-9B14-46D0-BBBE-04A6E3263EF3}" type="presOf" srcId="{55B6DA3F-4BB5-419B-93D9-A3F482FE7CD2}" destId="{3F010C22-B439-4BEC-A07A-60ED666B2E08}" srcOrd="0" destOrd="2" presId="urn:microsoft.com/office/officeart/2005/8/layout/bList2"/>
    <dgm:cxn modelId="{3942E9C9-D4D9-4DE8-814F-990DD7368247}" srcId="{D23E581B-AA16-403B-8AF5-1BB3E719881C}" destId="{55B6DA3F-4BB5-419B-93D9-A3F482FE7CD2}" srcOrd="2" destOrd="0" parTransId="{040046BF-2D82-47BD-903B-6D20E5A82A2F}" sibTransId="{67C7D3C6-55FB-420A-8BE3-EEF7B8227D00}"/>
    <dgm:cxn modelId="{51B92CD5-97D5-40B6-AB85-7E46EB3A8DAD}" srcId="{137481BD-655E-4B21-9249-6EBB92970AA3}" destId="{EEE8F098-CBAA-4FDF-AD53-BB2438D100F7}" srcOrd="3" destOrd="0" parTransId="{6B7527E6-8507-4045-9B6E-9CF72FEF5E95}" sibTransId="{CE2375D9-47D1-49B0-BEE1-C3E70E7CB9E2}"/>
    <dgm:cxn modelId="{AF9CDED6-0EC7-4744-8E01-7561E759F175}" srcId="{8AA02574-A625-4CCB-B607-53FB332909CE}" destId="{D640020A-77D2-41B3-8CF5-C70AAC2AA6DC}" srcOrd="1" destOrd="0" parTransId="{F724F9CA-A993-42BD-9A69-1207E54E7E56}" sibTransId="{8E45483F-4EE1-46BA-9F55-8EF02F57610E}"/>
    <dgm:cxn modelId="{FB851ADA-FDC3-4AC9-B5D1-634F1680EA45}" type="presOf" srcId="{D23E581B-AA16-403B-8AF5-1BB3E719881C}" destId="{5F2862EE-15F0-400F-BA0C-7A5864BA0266}" srcOrd="0" destOrd="0" presId="urn:microsoft.com/office/officeart/2005/8/layout/bList2"/>
    <dgm:cxn modelId="{8162C5E1-8299-4C0D-976A-C6AE3B6A2219}" srcId="{D23E581B-AA16-403B-8AF5-1BB3E719881C}" destId="{18F7CD44-01BC-420F-8F77-B2F834061C56}" srcOrd="3" destOrd="0" parTransId="{626F4F01-D67C-46BF-BE55-EDE98335CEFB}" sibTransId="{D05D3DF4-0111-4D0B-86E5-ADEE05D7B77E}"/>
    <dgm:cxn modelId="{D5EF1BE8-567B-4AEB-9931-155FFDAC15D1}" srcId="{8AA02574-A625-4CCB-B607-53FB332909CE}" destId="{5E564713-3E5C-4216-AC76-2C8D569707A1}" srcOrd="5" destOrd="0" parTransId="{0C8DA182-D421-4374-AA69-62A4033F8D61}" sibTransId="{C594015F-2B43-47FD-9E44-22D00FC6EB48}"/>
    <dgm:cxn modelId="{0DED00E9-39A7-4A66-81CF-9E58BACE546B}" srcId="{8AA02574-A625-4CCB-B607-53FB332909CE}" destId="{885332B7-7246-4244-A0D2-975A33F31079}" srcOrd="2" destOrd="0" parTransId="{E7FAEC81-7510-4FBC-A43B-11CC7AE943EB}" sibTransId="{505CD4CE-5097-4B20-85CF-86C38AD5B674}"/>
    <dgm:cxn modelId="{AECB39EB-1DBA-434A-8146-CF9B196B8451}" type="presOf" srcId="{8F0095CA-0C27-493A-9874-D794A8A73536}" destId="{35B06EAE-30F4-4745-ACED-5452905F1416}" srcOrd="0" destOrd="0" presId="urn:microsoft.com/office/officeart/2005/8/layout/bList2"/>
    <dgm:cxn modelId="{496A7FEB-F9F3-49B2-87F8-A7DB503158A7}" srcId="{137481BD-655E-4B21-9249-6EBB92970AA3}" destId="{B27D0194-626B-4B7E-B215-FC4ADD64CF06}" srcOrd="4" destOrd="0" parTransId="{E7D0C996-3A46-456D-A675-0CF24ACD7493}" sibTransId="{592F40CC-5F5B-4E86-86DB-EDED83B9F5A5}"/>
    <dgm:cxn modelId="{A3AD3BED-9760-4A23-A6A8-1FADD02C6B08}" type="presOf" srcId="{1A5DEF5B-E65A-4FF8-AF95-9D9360F04B85}" destId="{E77E4508-34B4-407E-AA04-E065337321D5}" srcOrd="0" destOrd="0" presId="urn:microsoft.com/office/officeart/2005/8/layout/bList2"/>
    <dgm:cxn modelId="{758129EF-89A9-4155-9DEC-39FAD16AFE4C}" type="presOf" srcId="{7FF46690-C008-4C6D-8B8B-295F75E0DB90}" destId="{3F010C22-B439-4BEC-A07A-60ED666B2E08}" srcOrd="0" destOrd="0" presId="urn:microsoft.com/office/officeart/2005/8/layout/bList2"/>
    <dgm:cxn modelId="{9E65D2EF-C724-4A4E-A250-0CDA6B8D3B0C}" type="presOf" srcId="{8AA02574-A625-4CCB-B607-53FB332909CE}" destId="{A8558B5A-0979-484B-BD3E-256476C68F9A}" srcOrd="1" destOrd="0" presId="urn:microsoft.com/office/officeart/2005/8/layout/bList2"/>
    <dgm:cxn modelId="{BE4C9AF1-D175-4190-956C-E575898133B0}" srcId="{FD150493-506C-4796-9188-B229C3F673EE}" destId="{137481BD-655E-4B21-9249-6EBB92970AA3}" srcOrd="1" destOrd="0" parTransId="{ACB6711E-EC99-4F64-AEE7-58413CCAC090}" sibTransId="{6DA4AAFE-429F-489B-91ED-08FB3BF54110}"/>
    <dgm:cxn modelId="{B5885EA0-DA88-4518-B897-8E4982D27502}" type="presParOf" srcId="{02E691F9-88D3-4BD2-83C9-F0036F6DAFD4}" destId="{58D04B40-D6D0-4E84-B95B-18F2C07DF5B9}" srcOrd="0" destOrd="0" presId="urn:microsoft.com/office/officeart/2005/8/layout/bList2"/>
    <dgm:cxn modelId="{0CC27C19-DFA1-4B50-89B5-9D9EF36DF7F7}" type="presParOf" srcId="{58D04B40-D6D0-4E84-B95B-18F2C07DF5B9}" destId="{3F010C22-B439-4BEC-A07A-60ED666B2E08}" srcOrd="0" destOrd="0" presId="urn:microsoft.com/office/officeart/2005/8/layout/bList2"/>
    <dgm:cxn modelId="{902D026E-25F8-4507-85F1-8886A8485D85}" type="presParOf" srcId="{58D04B40-D6D0-4E84-B95B-18F2C07DF5B9}" destId="{5F2862EE-15F0-400F-BA0C-7A5864BA0266}" srcOrd="1" destOrd="0" presId="urn:microsoft.com/office/officeart/2005/8/layout/bList2"/>
    <dgm:cxn modelId="{200FCB12-E1A4-4B3E-91D1-228A8C46AB54}" type="presParOf" srcId="{58D04B40-D6D0-4E84-B95B-18F2C07DF5B9}" destId="{CBD6250E-21D7-41DA-B5C6-ED9529780301}" srcOrd="2" destOrd="0" presId="urn:microsoft.com/office/officeart/2005/8/layout/bList2"/>
    <dgm:cxn modelId="{7012B8A7-875F-46B3-8C5A-A9BD60F7D309}" type="presParOf" srcId="{58D04B40-D6D0-4E84-B95B-18F2C07DF5B9}" destId="{C9DDB7FA-A0FA-4D6A-949B-B117078ADD34}" srcOrd="3" destOrd="0" presId="urn:microsoft.com/office/officeart/2005/8/layout/bList2"/>
    <dgm:cxn modelId="{BC40FDAD-F912-41AF-8C81-6A33BE58279A}" type="presParOf" srcId="{02E691F9-88D3-4BD2-83C9-F0036F6DAFD4}" destId="{E77E4508-34B4-407E-AA04-E065337321D5}" srcOrd="1" destOrd="0" presId="urn:microsoft.com/office/officeart/2005/8/layout/bList2"/>
    <dgm:cxn modelId="{FF99F07A-CF7A-4B8D-99C8-32ABC0973A79}" type="presParOf" srcId="{02E691F9-88D3-4BD2-83C9-F0036F6DAFD4}" destId="{9DA3E70E-BD71-4D3F-B533-03B38D4C3DF0}" srcOrd="2" destOrd="0" presId="urn:microsoft.com/office/officeart/2005/8/layout/bList2"/>
    <dgm:cxn modelId="{293E5CD8-2971-4070-8F9A-C3CF67512C00}" type="presParOf" srcId="{9DA3E70E-BD71-4D3F-B533-03B38D4C3DF0}" destId="{8C4E3136-41AF-48D5-891D-C7A5263CF655}" srcOrd="0" destOrd="0" presId="urn:microsoft.com/office/officeart/2005/8/layout/bList2"/>
    <dgm:cxn modelId="{03C40921-D762-4C86-9E2B-9930035E07F1}" type="presParOf" srcId="{9DA3E70E-BD71-4D3F-B533-03B38D4C3DF0}" destId="{87CDE648-3631-45A2-81CB-A378391DE746}" srcOrd="1" destOrd="0" presId="urn:microsoft.com/office/officeart/2005/8/layout/bList2"/>
    <dgm:cxn modelId="{B22706E5-299E-4A4D-BE8A-BEA92B369AC1}" type="presParOf" srcId="{9DA3E70E-BD71-4D3F-B533-03B38D4C3DF0}" destId="{79A312E4-6849-4D68-ADD1-B772AC6F907C}" srcOrd="2" destOrd="0" presId="urn:microsoft.com/office/officeart/2005/8/layout/bList2"/>
    <dgm:cxn modelId="{BA59C74A-96C1-4D66-B62F-0D9FD3E10D2E}" type="presParOf" srcId="{9DA3E70E-BD71-4D3F-B533-03B38D4C3DF0}" destId="{59AE0CE5-CBA7-420A-835A-5F5591837FE8}" srcOrd="3" destOrd="0" presId="urn:microsoft.com/office/officeart/2005/8/layout/bList2"/>
    <dgm:cxn modelId="{D569563E-4821-4932-9DEE-077AF6C7AC8D}" type="presParOf" srcId="{02E691F9-88D3-4BD2-83C9-F0036F6DAFD4}" destId="{D3E0BD9C-A15C-4128-8A3E-11E4925B5449}" srcOrd="3" destOrd="0" presId="urn:microsoft.com/office/officeart/2005/8/layout/bList2"/>
    <dgm:cxn modelId="{BA380A69-4FA1-47AC-9025-058A2CE8BDB0}" type="presParOf" srcId="{02E691F9-88D3-4BD2-83C9-F0036F6DAFD4}" destId="{FEE7CB4D-9AA0-4FA3-ACBC-9D2E9B793FB1}" srcOrd="4" destOrd="0" presId="urn:microsoft.com/office/officeart/2005/8/layout/bList2"/>
    <dgm:cxn modelId="{7816995C-B8DE-43A8-95DC-F6E98D106E71}" type="presParOf" srcId="{FEE7CB4D-9AA0-4FA3-ACBC-9D2E9B793FB1}" destId="{35B06EAE-30F4-4745-ACED-5452905F1416}" srcOrd="0" destOrd="0" presId="urn:microsoft.com/office/officeart/2005/8/layout/bList2"/>
    <dgm:cxn modelId="{282DD5D8-A007-4939-9EE0-EB47E62C0F7D}" type="presParOf" srcId="{FEE7CB4D-9AA0-4FA3-ACBC-9D2E9B793FB1}" destId="{9E8AA967-F63D-4462-B3DF-2E61DCE37D82}" srcOrd="1" destOrd="0" presId="urn:microsoft.com/office/officeart/2005/8/layout/bList2"/>
    <dgm:cxn modelId="{D9AD3E0C-08BA-47EA-993B-0B017926FEC1}" type="presParOf" srcId="{FEE7CB4D-9AA0-4FA3-ACBC-9D2E9B793FB1}" destId="{A8558B5A-0979-484B-BD3E-256476C68F9A}" srcOrd="2" destOrd="0" presId="urn:microsoft.com/office/officeart/2005/8/layout/bList2"/>
    <dgm:cxn modelId="{AB163A00-5796-4F8F-85A5-9EA91057261F}" type="presParOf" srcId="{FEE7CB4D-9AA0-4FA3-ACBC-9D2E9B793FB1}" destId="{1AE27240-F06A-48BF-83C8-82D83CBD609C}" srcOrd="3" destOrd="0" presId="urn:microsoft.com/office/officeart/2005/8/layout/b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1EB95AC-B718-49BE-B9F7-7B46D03A9070}" type="doc">
      <dgm:prSet loTypeId="urn:microsoft.com/office/officeart/2005/8/layout/chevron2" loCatId="list" qsTypeId="urn:microsoft.com/office/officeart/2005/8/quickstyle/simple1" qsCatId="simple" csTypeId="urn:microsoft.com/office/officeart/2005/8/colors/colorful3" csCatId="colorful" phldr="1"/>
      <dgm:spPr>
        <a:scene3d>
          <a:camera prst="orthographicFront">
            <a:rot lat="0" lon="0" rev="0"/>
          </a:camera>
          <a:lightRig rig="balanced" dir="t">
            <a:rot lat="0" lon="0" rev="8700000"/>
          </a:lightRig>
        </a:scene3d>
      </dgm:spPr>
      <dgm:t>
        <a:bodyPr/>
        <a:lstStyle/>
        <a:p>
          <a:endParaRPr lang="en-US"/>
        </a:p>
      </dgm:t>
    </dgm:pt>
    <dgm:pt modelId="{47BCB690-E656-418C-B55B-B79A4FCE6245}">
      <dgm:prSet phldrT="[Text]" custT="1"/>
      <dgm:spPr>
        <a:scene3d>
          <a:camera prst="orthographicFront">
            <a:rot lat="0" lon="0" rev="0"/>
          </a:camera>
          <a:lightRig rig="balanced" dir="t">
            <a:rot lat="0" lon="0" rev="8700000"/>
          </a:lightRig>
        </a:scene3d>
        <a:sp3d>
          <a:bevelT w="190500" h="38100"/>
        </a:sp3d>
      </dgm:spPr>
      <dgm:t>
        <a:bodyPr/>
        <a:lstStyle/>
        <a:p>
          <a:r>
            <a:rPr lang="en-US" sz="2000" dirty="0"/>
            <a:t>PROVIDER FILE</a:t>
          </a:r>
        </a:p>
      </dgm:t>
    </dgm:pt>
    <dgm:pt modelId="{21485E53-BF3D-4432-8067-935595586B0F}" type="parTrans" cxnId="{8A02C773-1A4A-4225-AE5B-19BBABCA0546}">
      <dgm:prSet/>
      <dgm:spPr/>
      <dgm:t>
        <a:bodyPr/>
        <a:lstStyle/>
        <a:p>
          <a:endParaRPr lang="en-US" sz="2000"/>
        </a:p>
      </dgm:t>
    </dgm:pt>
    <dgm:pt modelId="{8E928878-0D2F-4A4F-888D-4D1DC978E21E}" type="sibTrans" cxnId="{8A02C773-1A4A-4225-AE5B-19BBABCA0546}">
      <dgm:prSet/>
      <dgm:spPr/>
      <dgm:t>
        <a:bodyPr/>
        <a:lstStyle/>
        <a:p>
          <a:endParaRPr lang="en-US" sz="2000"/>
        </a:p>
      </dgm:t>
    </dgm:pt>
    <dgm:pt modelId="{F23082BA-6E41-4A1F-B1B1-BB53C7ABA883}">
      <dgm:prSet phldrT="[Text]" custT="1"/>
      <dgm:spPr>
        <a:scene3d>
          <a:camera prst="orthographicFront">
            <a:rot lat="0" lon="0" rev="0"/>
          </a:camera>
          <a:lightRig rig="balanced" dir="t">
            <a:rot lat="0" lon="0" rev="8700000"/>
          </a:lightRig>
        </a:scene3d>
        <a:sp3d>
          <a:bevelT w="190500" h="38100"/>
        </a:sp3d>
      </dgm:spPr>
      <dgm:t>
        <a:bodyPr/>
        <a:lstStyle/>
        <a:p>
          <a:r>
            <a:rPr lang="en-US" sz="2000" dirty="0"/>
            <a:t>To Determine Gaps in Medical Service Delivery</a:t>
          </a:r>
        </a:p>
      </dgm:t>
    </dgm:pt>
    <dgm:pt modelId="{92C3D120-BAFB-4E00-B475-B58E77B980C1}" type="parTrans" cxnId="{9060E8D6-14D8-45D4-94F6-5D26D3CC4E2E}">
      <dgm:prSet/>
      <dgm:spPr/>
      <dgm:t>
        <a:bodyPr/>
        <a:lstStyle/>
        <a:p>
          <a:endParaRPr lang="en-US" sz="2000"/>
        </a:p>
      </dgm:t>
    </dgm:pt>
    <dgm:pt modelId="{465CAD08-1732-4D98-964A-5E10FDE2D8CB}" type="sibTrans" cxnId="{9060E8D6-14D8-45D4-94F6-5D26D3CC4E2E}">
      <dgm:prSet/>
      <dgm:spPr/>
      <dgm:t>
        <a:bodyPr/>
        <a:lstStyle/>
        <a:p>
          <a:endParaRPr lang="en-US" sz="2000"/>
        </a:p>
      </dgm:t>
    </dgm:pt>
    <dgm:pt modelId="{8FF7F8DE-0085-4489-85EA-475C2622F1F3}">
      <dgm:prSet phldrT="[Text]" custT="1"/>
      <dgm:spPr>
        <a:solidFill>
          <a:srgbClr val="244F9A"/>
        </a:solidFill>
        <a:ln>
          <a:solidFill>
            <a:srgbClr val="6A3085"/>
          </a:solidFill>
        </a:ln>
        <a:scene3d>
          <a:camera prst="orthographicFront">
            <a:rot lat="0" lon="0" rev="0"/>
          </a:camera>
          <a:lightRig rig="balanced" dir="t">
            <a:rot lat="0" lon="0" rev="8700000"/>
          </a:lightRig>
        </a:scene3d>
        <a:sp3d>
          <a:bevelT w="190500" h="38100"/>
        </a:sp3d>
      </dgm:spPr>
      <dgm:t>
        <a:bodyPr/>
        <a:lstStyle/>
        <a:p>
          <a:r>
            <a:rPr lang="en-US" sz="2000" dirty="0"/>
            <a:t>PRICING</a:t>
          </a:r>
        </a:p>
      </dgm:t>
    </dgm:pt>
    <dgm:pt modelId="{78703D96-49FE-4F74-BBE0-39D3C04B358D}" type="parTrans" cxnId="{1BA4842A-4C22-4B8F-A09D-47DDB89E291B}">
      <dgm:prSet/>
      <dgm:spPr/>
      <dgm:t>
        <a:bodyPr/>
        <a:lstStyle/>
        <a:p>
          <a:endParaRPr lang="en-US" sz="2000"/>
        </a:p>
      </dgm:t>
    </dgm:pt>
    <dgm:pt modelId="{62E82B07-65F9-4D6F-8234-7C637FD1F21F}" type="sibTrans" cxnId="{1BA4842A-4C22-4B8F-A09D-47DDB89E291B}">
      <dgm:prSet/>
      <dgm:spPr/>
      <dgm:t>
        <a:bodyPr/>
        <a:lstStyle/>
        <a:p>
          <a:endParaRPr lang="en-US" sz="2000"/>
        </a:p>
      </dgm:t>
    </dgm:pt>
    <dgm:pt modelId="{11EC91AA-3CFF-4ADD-AA31-272D003909E3}">
      <dgm:prSet phldrT="[Text]" custT="1"/>
      <dgm:spPr>
        <a:scene3d>
          <a:camera prst="orthographicFront">
            <a:rot lat="0" lon="0" rev="0"/>
          </a:camera>
          <a:lightRig rig="balanced" dir="t">
            <a:rot lat="0" lon="0" rev="8700000"/>
          </a:lightRig>
        </a:scene3d>
        <a:sp3d>
          <a:bevelT w="190500" h="38100"/>
        </a:sp3d>
      </dgm:spPr>
      <dgm:t>
        <a:bodyPr/>
        <a:lstStyle/>
        <a:p>
          <a:r>
            <a:rPr lang="en-US" sz="2000" dirty="0"/>
            <a:t>To Dial in Competitive Stop-Loss Rates and SLUHN’s Net Revenues/Margins</a:t>
          </a:r>
        </a:p>
      </dgm:t>
    </dgm:pt>
    <dgm:pt modelId="{71667140-5D68-4DDA-853E-B4B81BBDF37E}" type="parTrans" cxnId="{EE804DF4-6270-48F2-9F5E-5D86BEB84224}">
      <dgm:prSet/>
      <dgm:spPr/>
      <dgm:t>
        <a:bodyPr/>
        <a:lstStyle/>
        <a:p>
          <a:endParaRPr lang="en-US" sz="2000"/>
        </a:p>
      </dgm:t>
    </dgm:pt>
    <dgm:pt modelId="{98D4B22A-FE0F-4782-B365-D2B118F43F7B}" type="sibTrans" cxnId="{EE804DF4-6270-48F2-9F5E-5D86BEB84224}">
      <dgm:prSet/>
      <dgm:spPr/>
      <dgm:t>
        <a:bodyPr/>
        <a:lstStyle/>
        <a:p>
          <a:endParaRPr lang="en-US" sz="2000"/>
        </a:p>
      </dgm:t>
    </dgm:pt>
    <dgm:pt modelId="{885E5002-0CF3-4E48-8AF2-CFDE3D9C5F95}">
      <dgm:prSet phldrT="[Text]" custT="1"/>
      <dgm:spPr>
        <a:scene3d>
          <a:camera prst="orthographicFront">
            <a:rot lat="0" lon="0" rev="0"/>
          </a:camera>
          <a:lightRig rig="balanced" dir="t">
            <a:rot lat="0" lon="0" rev="8700000"/>
          </a:lightRig>
        </a:scene3d>
        <a:sp3d>
          <a:bevelT w="190500" h="38100"/>
        </a:sp3d>
      </dgm:spPr>
      <dgm:t>
        <a:bodyPr/>
        <a:lstStyle/>
        <a:p>
          <a:r>
            <a:rPr lang="en-US" sz="2000" dirty="0"/>
            <a:t>Other Key Providers to Potentially Contract with on Behalf of SLUHN</a:t>
          </a:r>
        </a:p>
      </dgm:t>
    </dgm:pt>
    <dgm:pt modelId="{07951373-8690-4CF3-80AA-9EE02677643E}" type="parTrans" cxnId="{267E981E-83E8-4C0D-BB69-6B487689D409}">
      <dgm:prSet/>
      <dgm:spPr/>
      <dgm:t>
        <a:bodyPr/>
        <a:lstStyle/>
        <a:p>
          <a:endParaRPr lang="en-US"/>
        </a:p>
      </dgm:t>
    </dgm:pt>
    <dgm:pt modelId="{403B5D3A-5EA7-4D99-AA1B-EF659D635465}" type="sibTrans" cxnId="{267E981E-83E8-4C0D-BB69-6B487689D409}">
      <dgm:prSet/>
      <dgm:spPr/>
      <dgm:t>
        <a:bodyPr/>
        <a:lstStyle/>
        <a:p>
          <a:endParaRPr lang="en-US"/>
        </a:p>
      </dgm:t>
    </dgm:pt>
    <dgm:pt modelId="{23191ED5-1888-4BB0-9F9A-309AED5CED4E}">
      <dgm:prSet phldrT="[Text]" custT="1"/>
      <dgm:spPr>
        <a:scene3d>
          <a:camera prst="orthographicFront">
            <a:rot lat="0" lon="0" rev="0"/>
          </a:camera>
          <a:lightRig rig="balanced" dir="t">
            <a:rot lat="0" lon="0" rev="8700000"/>
          </a:lightRig>
        </a:scene3d>
        <a:sp3d>
          <a:bevelT w="190500" h="38100"/>
        </a:sp3d>
      </dgm:spPr>
      <dgm:t>
        <a:bodyPr/>
        <a:lstStyle/>
        <a:p>
          <a:r>
            <a:rPr lang="en-US" sz="2000" dirty="0"/>
            <a:t>Wrap Network to Cover All Other Provider Types</a:t>
          </a:r>
        </a:p>
      </dgm:t>
    </dgm:pt>
    <dgm:pt modelId="{0A0CA7F0-53C9-4FC2-BC2C-EDE139D4D9C8}" type="parTrans" cxnId="{81AA961E-5D70-45AE-9F1B-573FDECD21C7}">
      <dgm:prSet/>
      <dgm:spPr/>
      <dgm:t>
        <a:bodyPr/>
        <a:lstStyle/>
        <a:p>
          <a:endParaRPr lang="en-US"/>
        </a:p>
      </dgm:t>
    </dgm:pt>
    <dgm:pt modelId="{9F6230AE-2605-4E3D-A7D9-6B64831FBD6F}" type="sibTrans" cxnId="{81AA961E-5D70-45AE-9F1B-573FDECD21C7}">
      <dgm:prSet/>
      <dgm:spPr/>
      <dgm:t>
        <a:bodyPr/>
        <a:lstStyle/>
        <a:p>
          <a:endParaRPr lang="en-US"/>
        </a:p>
      </dgm:t>
    </dgm:pt>
    <dgm:pt modelId="{16E133FC-BA70-43F5-8C55-AFF6DC83BF5E}">
      <dgm:prSet phldrT="[Text]" custT="1"/>
      <dgm:spPr>
        <a:scene3d>
          <a:camera prst="orthographicFront">
            <a:rot lat="0" lon="0" rev="0"/>
          </a:camera>
          <a:lightRig rig="balanced" dir="t">
            <a:rot lat="0" lon="0" rev="8700000"/>
          </a:lightRig>
        </a:scene3d>
        <a:sp3d>
          <a:bevelT w="190500" h="38100"/>
        </a:sp3d>
      </dgm:spPr>
      <dgm:t>
        <a:bodyPr/>
        <a:lstStyle/>
        <a:p>
          <a:r>
            <a:rPr lang="en-US" sz="2000" dirty="0"/>
            <a:t>Actuarial Evaluation Compared to the Market</a:t>
          </a:r>
        </a:p>
      </dgm:t>
    </dgm:pt>
    <dgm:pt modelId="{A9A7716D-DA07-4969-B9E2-56090C4EA54A}" type="parTrans" cxnId="{7370C76C-6808-4562-9788-BC084F7259FA}">
      <dgm:prSet/>
      <dgm:spPr/>
      <dgm:t>
        <a:bodyPr/>
        <a:lstStyle/>
        <a:p>
          <a:endParaRPr lang="en-US"/>
        </a:p>
      </dgm:t>
    </dgm:pt>
    <dgm:pt modelId="{771E70D2-8F9D-4C66-9CF5-E0513F394A68}" type="sibTrans" cxnId="{7370C76C-6808-4562-9788-BC084F7259FA}">
      <dgm:prSet/>
      <dgm:spPr/>
      <dgm:t>
        <a:bodyPr/>
        <a:lstStyle/>
        <a:p>
          <a:endParaRPr lang="en-US"/>
        </a:p>
      </dgm:t>
    </dgm:pt>
    <dgm:pt modelId="{F08F3DDB-C1F5-4A86-8DFF-07C39C5A038C}" type="pres">
      <dgm:prSet presAssocID="{51EB95AC-B718-49BE-B9F7-7B46D03A9070}" presName="linearFlow" presStyleCnt="0">
        <dgm:presLayoutVars>
          <dgm:dir/>
          <dgm:animLvl val="lvl"/>
          <dgm:resizeHandles val="exact"/>
        </dgm:presLayoutVars>
      </dgm:prSet>
      <dgm:spPr/>
    </dgm:pt>
    <dgm:pt modelId="{A460E43C-7A3B-40A7-856C-577CDE509837}" type="pres">
      <dgm:prSet presAssocID="{47BCB690-E656-418C-B55B-B79A4FCE6245}" presName="composite" presStyleCnt="0"/>
      <dgm:spPr/>
    </dgm:pt>
    <dgm:pt modelId="{EF8C66CE-B1D9-43FD-91B0-9A298E99D806}" type="pres">
      <dgm:prSet presAssocID="{47BCB690-E656-418C-B55B-B79A4FCE6245}" presName="parentText" presStyleLbl="alignNode1" presStyleIdx="0" presStyleCnt="2">
        <dgm:presLayoutVars>
          <dgm:chMax val="1"/>
          <dgm:bulletEnabled val="1"/>
        </dgm:presLayoutVars>
      </dgm:prSet>
      <dgm:spPr/>
    </dgm:pt>
    <dgm:pt modelId="{7C07DD5C-F3F7-413D-935A-CCBA7C6C1E36}" type="pres">
      <dgm:prSet presAssocID="{47BCB690-E656-418C-B55B-B79A4FCE6245}" presName="descendantText" presStyleLbl="alignAcc1" presStyleIdx="0" presStyleCnt="2">
        <dgm:presLayoutVars>
          <dgm:bulletEnabled val="1"/>
        </dgm:presLayoutVars>
      </dgm:prSet>
      <dgm:spPr/>
    </dgm:pt>
    <dgm:pt modelId="{53111215-410F-4929-AE9A-3D7A22F3D43A}" type="pres">
      <dgm:prSet presAssocID="{8E928878-0D2F-4A4F-888D-4D1DC978E21E}" presName="sp" presStyleCnt="0"/>
      <dgm:spPr/>
    </dgm:pt>
    <dgm:pt modelId="{204CEF18-7407-4A94-A5D8-6E37733B43AA}" type="pres">
      <dgm:prSet presAssocID="{8FF7F8DE-0085-4489-85EA-475C2622F1F3}" presName="composite" presStyleCnt="0"/>
      <dgm:spPr/>
    </dgm:pt>
    <dgm:pt modelId="{1FCF5A5E-7DF9-412A-B101-D83967D7DE65}" type="pres">
      <dgm:prSet presAssocID="{8FF7F8DE-0085-4489-85EA-475C2622F1F3}" presName="parentText" presStyleLbl="alignNode1" presStyleIdx="1" presStyleCnt="2">
        <dgm:presLayoutVars>
          <dgm:chMax val="1"/>
          <dgm:bulletEnabled val="1"/>
        </dgm:presLayoutVars>
      </dgm:prSet>
      <dgm:spPr/>
    </dgm:pt>
    <dgm:pt modelId="{FE1F4B02-EB68-4CAB-8CF0-3D5AB6A01850}" type="pres">
      <dgm:prSet presAssocID="{8FF7F8DE-0085-4489-85EA-475C2622F1F3}" presName="descendantText" presStyleLbl="alignAcc1" presStyleIdx="1" presStyleCnt="2">
        <dgm:presLayoutVars>
          <dgm:bulletEnabled val="1"/>
        </dgm:presLayoutVars>
      </dgm:prSet>
      <dgm:spPr/>
    </dgm:pt>
  </dgm:ptLst>
  <dgm:cxnLst>
    <dgm:cxn modelId="{8F734B10-A13F-4999-98E5-AA65E975BC8C}" type="presOf" srcId="{16E133FC-BA70-43F5-8C55-AFF6DC83BF5E}" destId="{FE1F4B02-EB68-4CAB-8CF0-3D5AB6A01850}" srcOrd="0" destOrd="1" presId="urn:microsoft.com/office/officeart/2005/8/layout/chevron2"/>
    <dgm:cxn modelId="{81AA961E-5D70-45AE-9F1B-573FDECD21C7}" srcId="{47BCB690-E656-418C-B55B-B79A4FCE6245}" destId="{23191ED5-1888-4BB0-9F9A-309AED5CED4E}" srcOrd="2" destOrd="0" parTransId="{0A0CA7F0-53C9-4FC2-BC2C-EDE139D4D9C8}" sibTransId="{9F6230AE-2605-4E3D-A7D9-6B64831FBD6F}"/>
    <dgm:cxn modelId="{267E981E-83E8-4C0D-BB69-6B487689D409}" srcId="{47BCB690-E656-418C-B55B-B79A4FCE6245}" destId="{885E5002-0CF3-4E48-8AF2-CFDE3D9C5F95}" srcOrd="1" destOrd="0" parTransId="{07951373-8690-4CF3-80AA-9EE02677643E}" sibTransId="{403B5D3A-5EA7-4D99-AA1B-EF659D635465}"/>
    <dgm:cxn modelId="{DEECD01F-E20C-420F-AEDD-9769ED623BAE}" type="presOf" srcId="{51EB95AC-B718-49BE-B9F7-7B46D03A9070}" destId="{F08F3DDB-C1F5-4A86-8DFF-07C39C5A038C}" srcOrd="0" destOrd="0" presId="urn:microsoft.com/office/officeart/2005/8/layout/chevron2"/>
    <dgm:cxn modelId="{1BA4842A-4C22-4B8F-A09D-47DDB89E291B}" srcId="{51EB95AC-B718-49BE-B9F7-7B46D03A9070}" destId="{8FF7F8DE-0085-4489-85EA-475C2622F1F3}" srcOrd="1" destOrd="0" parTransId="{78703D96-49FE-4F74-BBE0-39D3C04B358D}" sibTransId="{62E82B07-65F9-4D6F-8234-7C637FD1F21F}"/>
    <dgm:cxn modelId="{C8539135-8F05-4137-93E2-F6781FDF29CD}" type="presOf" srcId="{23191ED5-1888-4BB0-9F9A-309AED5CED4E}" destId="{7C07DD5C-F3F7-413D-935A-CCBA7C6C1E36}" srcOrd="0" destOrd="2" presId="urn:microsoft.com/office/officeart/2005/8/layout/chevron2"/>
    <dgm:cxn modelId="{37B0893D-B99A-4826-8404-BA4A45B0DFA8}" type="presOf" srcId="{8FF7F8DE-0085-4489-85EA-475C2622F1F3}" destId="{1FCF5A5E-7DF9-412A-B101-D83967D7DE65}" srcOrd="0" destOrd="0" presId="urn:microsoft.com/office/officeart/2005/8/layout/chevron2"/>
    <dgm:cxn modelId="{B732B44B-EF99-46A3-8EF5-A98E2D80FB87}" type="presOf" srcId="{885E5002-0CF3-4E48-8AF2-CFDE3D9C5F95}" destId="{7C07DD5C-F3F7-413D-935A-CCBA7C6C1E36}" srcOrd="0" destOrd="1" presId="urn:microsoft.com/office/officeart/2005/8/layout/chevron2"/>
    <dgm:cxn modelId="{7370C76C-6808-4562-9788-BC084F7259FA}" srcId="{8FF7F8DE-0085-4489-85EA-475C2622F1F3}" destId="{16E133FC-BA70-43F5-8C55-AFF6DC83BF5E}" srcOrd="1" destOrd="0" parTransId="{A9A7716D-DA07-4969-B9E2-56090C4EA54A}" sibTransId="{771E70D2-8F9D-4C66-9CF5-E0513F394A68}"/>
    <dgm:cxn modelId="{8A02C773-1A4A-4225-AE5B-19BBABCA0546}" srcId="{51EB95AC-B718-49BE-B9F7-7B46D03A9070}" destId="{47BCB690-E656-418C-B55B-B79A4FCE6245}" srcOrd="0" destOrd="0" parTransId="{21485E53-BF3D-4432-8067-935595586B0F}" sibTransId="{8E928878-0D2F-4A4F-888D-4D1DC978E21E}"/>
    <dgm:cxn modelId="{CB455777-21A2-410E-866F-7E7844CFE53F}" type="presOf" srcId="{47BCB690-E656-418C-B55B-B79A4FCE6245}" destId="{EF8C66CE-B1D9-43FD-91B0-9A298E99D806}" srcOrd="0" destOrd="0" presId="urn:microsoft.com/office/officeart/2005/8/layout/chevron2"/>
    <dgm:cxn modelId="{9060E8D6-14D8-45D4-94F6-5D26D3CC4E2E}" srcId="{47BCB690-E656-418C-B55B-B79A4FCE6245}" destId="{F23082BA-6E41-4A1F-B1B1-BB53C7ABA883}" srcOrd="0" destOrd="0" parTransId="{92C3D120-BAFB-4E00-B475-B58E77B980C1}" sibTransId="{465CAD08-1732-4D98-964A-5E10FDE2D8CB}"/>
    <dgm:cxn modelId="{0BFFBFD7-1BD2-4E12-A146-CEA4E68A364B}" type="presOf" srcId="{11EC91AA-3CFF-4ADD-AA31-272D003909E3}" destId="{FE1F4B02-EB68-4CAB-8CF0-3D5AB6A01850}" srcOrd="0" destOrd="0" presId="urn:microsoft.com/office/officeart/2005/8/layout/chevron2"/>
    <dgm:cxn modelId="{305855E5-C74A-4663-BCA6-E1E4E74132D9}" type="presOf" srcId="{F23082BA-6E41-4A1F-B1B1-BB53C7ABA883}" destId="{7C07DD5C-F3F7-413D-935A-CCBA7C6C1E36}" srcOrd="0" destOrd="0" presId="urn:microsoft.com/office/officeart/2005/8/layout/chevron2"/>
    <dgm:cxn modelId="{EE804DF4-6270-48F2-9F5E-5D86BEB84224}" srcId="{8FF7F8DE-0085-4489-85EA-475C2622F1F3}" destId="{11EC91AA-3CFF-4ADD-AA31-272D003909E3}" srcOrd="0" destOrd="0" parTransId="{71667140-5D68-4DDA-853E-B4B81BBDF37E}" sibTransId="{98D4B22A-FE0F-4782-B365-D2B118F43F7B}"/>
    <dgm:cxn modelId="{AD0A8861-8976-4B98-B46F-1831317A4D43}" type="presParOf" srcId="{F08F3DDB-C1F5-4A86-8DFF-07C39C5A038C}" destId="{A460E43C-7A3B-40A7-856C-577CDE509837}" srcOrd="0" destOrd="0" presId="urn:microsoft.com/office/officeart/2005/8/layout/chevron2"/>
    <dgm:cxn modelId="{37EF18C4-C04F-42DE-B94C-8DF03E8CB139}" type="presParOf" srcId="{A460E43C-7A3B-40A7-856C-577CDE509837}" destId="{EF8C66CE-B1D9-43FD-91B0-9A298E99D806}" srcOrd="0" destOrd="0" presId="urn:microsoft.com/office/officeart/2005/8/layout/chevron2"/>
    <dgm:cxn modelId="{F155F96C-4EBD-49B3-B0B7-6B749C57E951}" type="presParOf" srcId="{A460E43C-7A3B-40A7-856C-577CDE509837}" destId="{7C07DD5C-F3F7-413D-935A-CCBA7C6C1E36}" srcOrd="1" destOrd="0" presId="urn:microsoft.com/office/officeart/2005/8/layout/chevron2"/>
    <dgm:cxn modelId="{79B363EE-151A-4824-9B91-0773C63E07D1}" type="presParOf" srcId="{F08F3DDB-C1F5-4A86-8DFF-07C39C5A038C}" destId="{53111215-410F-4929-AE9A-3D7A22F3D43A}" srcOrd="1" destOrd="0" presId="urn:microsoft.com/office/officeart/2005/8/layout/chevron2"/>
    <dgm:cxn modelId="{97ED0AEB-B87E-4DED-A727-EEBE18CF44C9}" type="presParOf" srcId="{F08F3DDB-C1F5-4A86-8DFF-07C39C5A038C}" destId="{204CEF18-7407-4A94-A5D8-6E37733B43AA}" srcOrd="2" destOrd="0" presId="urn:microsoft.com/office/officeart/2005/8/layout/chevron2"/>
    <dgm:cxn modelId="{811C3B02-6064-4A5E-876F-78E8E2D45824}" type="presParOf" srcId="{204CEF18-7407-4A94-A5D8-6E37733B43AA}" destId="{1FCF5A5E-7DF9-412A-B101-D83967D7DE65}" srcOrd="0" destOrd="0" presId="urn:microsoft.com/office/officeart/2005/8/layout/chevron2"/>
    <dgm:cxn modelId="{673F51CA-3789-4836-87D2-93CB813B9F2A}" type="presParOf" srcId="{204CEF18-7407-4A94-A5D8-6E37733B43AA}" destId="{FE1F4B02-EB68-4CAB-8CF0-3D5AB6A01850}"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75857B3-F10A-3A4D-A2C9-BEF46A178372}" type="doc">
      <dgm:prSet loTypeId="urn:microsoft.com/office/officeart/2009/3/layout/StepUpProcess" loCatId="process" qsTypeId="urn:microsoft.com/office/officeart/2005/8/quickstyle/simple1" qsCatId="simple" csTypeId="urn:microsoft.com/office/officeart/2005/8/colors/accent1_3" csCatId="accent1" phldr="1"/>
      <dgm:spPr/>
      <dgm:t>
        <a:bodyPr/>
        <a:lstStyle/>
        <a:p>
          <a:endParaRPr lang="en-US"/>
        </a:p>
      </dgm:t>
    </dgm:pt>
    <dgm:pt modelId="{F5213418-7B8D-FE42-BB8D-9ED790F1F229}">
      <dgm:prSet phldrT="[Text]"/>
      <dgm:spPr/>
      <dgm:t>
        <a:bodyPr/>
        <a:lstStyle/>
        <a:p>
          <a:r>
            <a:rPr lang="en-US" b="1" dirty="0">
              <a:solidFill>
                <a:srgbClr val="000B2E"/>
              </a:solidFill>
            </a:rPr>
            <a:t>MONTH 1</a:t>
          </a:r>
        </a:p>
        <a:p>
          <a:r>
            <a:rPr lang="en-US" b="0" dirty="0"/>
            <a:t>Agreement &amp; Project Scope</a:t>
          </a:r>
        </a:p>
      </dgm:t>
    </dgm:pt>
    <dgm:pt modelId="{9DF97D3B-8FDE-1941-877F-C93610802B66}" type="parTrans" cxnId="{E719DAB5-073E-4647-88AC-B2BC93AD7BA4}">
      <dgm:prSet/>
      <dgm:spPr/>
      <dgm:t>
        <a:bodyPr/>
        <a:lstStyle/>
        <a:p>
          <a:endParaRPr lang="en-US" b="1"/>
        </a:p>
      </dgm:t>
    </dgm:pt>
    <dgm:pt modelId="{006D824C-9578-134B-90CE-18E5A593B00E}" type="sibTrans" cxnId="{E719DAB5-073E-4647-88AC-B2BC93AD7BA4}">
      <dgm:prSet/>
      <dgm:spPr/>
      <dgm:t>
        <a:bodyPr/>
        <a:lstStyle/>
        <a:p>
          <a:endParaRPr lang="en-US" b="1"/>
        </a:p>
      </dgm:t>
    </dgm:pt>
    <dgm:pt modelId="{436C2DFF-FC8F-6245-A7DB-4708073EC4A1}">
      <dgm:prSet phldrT="[Text]"/>
      <dgm:spPr/>
      <dgm:t>
        <a:bodyPr/>
        <a:lstStyle/>
        <a:p>
          <a:r>
            <a:rPr lang="en-US" b="1" dirty="0">
              <a:solidFill>
                <a:srgbClr val="000B2E"/>
              </a:solidFill>
            </a:rPr>
            <a:t>MONTH 1-6</a:t>
          </a:r>
        </a:p>
        <a:p>
          <a:r>
            <a:rPr lang="en-US" b="0" dirty="0"/>
            <a:t>Implementation</a:t>
          </a:r>
        </a:p>
        <a:p>
          <a:r>
            <a:rPr lang="en-US" b="0" dirty="0"/>
            <a:t>Market Outreach begins in Month 3</a:t>
          </a:r>
        </a:p>
        <a:p>
          <a:endParaRPr lang="en-US" b="0" dirty="0"/>
        </a:p>
      </dgm:t>
    </dgm:pt>
    <dgm:pt modelId="{2E56DBD1-74B0-4640-939F-DBB53814ABC4}" type="parTrans" cxnId="{4AE933AE-806A-574B-903E-37EED7A432CD}">
      <dgm:prSet/>
      <dgm:spPr/>
      <dgm:t>
        <a:bodyPr/>
        <a:lstStyle/>
        <a:p>
          <a:endParaRPr lang="en-US" b="1"/>
        </a:p>
      </dgm:t>
    </dgm:pt>
    <dgm:pt modelId="{FBB42B92-FDFF-AF44-923C-BD5D2B5DE5B6}" type="sibTrans" cxnId="{4AE933AE-806A-574B-903E-37EED7A432CD}">
      <dgm:prSet/>
      <dgm:spPr/>
      <dgm:t>
        <a:bodyPr/>
        <a:lstStyle/>
        <a:p>
          <a:endParaRPr lang="en-US" b="1"/>
        </a:p>
      </dgm:t>
    </dgm:pt>
    <dgm:pt modelId="{242EFE72-A7E7-8647-84E0-E41410AA3ACF}">
      <dgm:prSet phldrT="[Text]"/>
      <dgm:spPr/>
      <dgm:t>
        <a:bodyPr/>
        <a:lstStyle/>
        <a:p>
          <a:r>
            <a:rPr lang="en-US" b="1" dirty="0">
              <a:solidFill>
                <a:srgbClr val="000B2E"/>
              </a:solidFill>
            </a:rPr>
            <a:t>MONTH 3-6</a:t>
          </a:r>
        </a:p>
        <a:p>
          <a:r>
            <a:rPr lang="en-US" b="0" dirty="0"/>
            <a:t>Sales &amp; Mkg.</a:t>
          </a:r>
        </a:p>
        <a:p>
          <a:r>
            <a:rPr lang="en-US" b="0" dirty="0"/>
            <a:t>Hire Sales Executive</a:t>
          </a:r>
        </a:p>
      </dgm:t>
    </dgm:pt>
    <dgm:pt modelId="{D9B6A2EC-2BDF-5A4E-9509-2AF847C113C2}" type="parTrans" cxnId="{625FB806-21A7-F94D-9D04-87A1EDD21099}">
      <dgm:prSet/>
      <dgm:spPr/>
      <dgm:t>
        <a:bodyPr/>
        <a:lstStyle/>
        <a:p>
          <a:endParaRPr lang="en-US" b="1"/>
        </a:p>
      </dgm:t>
    </dgm:pt>
    <dgm:pt modelId="{4B906FD7-82E7-7C44-B493-74C84F6E8B56}" type="sibTrans" cxnId="{625FB806-21A7-F94D-9D04-87A1EDD21099}">
      <dgm:prSet/>
      <dgm:spPr/>
      <dgm:t>
        <a:bodyPr/>
        <a:lstStyle/>
        <a:p>
          <a:endParaRPr lang="en-US" b="1"/>
        </a:p>
      </dgm:t>
    </dgm:pt>
    <dgm:pt modelId="{EC8EE670-6387-644E-B1F6-D3D60F07DCBC}">
      <dgm:prSet/>
      <dgm:spPr/>
      <dgm:t>
        <a:bodyPr/>
        <a:lstStyle/>
        <a:p>
          <a:r>
            <a:rPr lang="en-US" b="1" dirty="0">
              <a:solidFill>
                <a:srgbClr val="000B2E"/>
              </a:solidFill>
            </a:rPr>
            <a:t>MONTH 6 TO 8</a:t>
          </a:r>
        </a:p>
        <a:p>
          <a:r>
            <a:rPr lang="en-US" b="1" dirty="0">
              <a:solidFill>
                <a:srgbClr val="000B2E"/>
              </a:solidFill>
            </a:rPr>
            <a:t>GO LIVE!!</a:t>
          </a:r>
        </a:p>
      </dgm:t>
    </dgm:pt>
    <dgm:pt modelId="{3751126E-7A05-E04C-B6A7-9683DCF88FF8}" type="parTrans" cxnId="{DA4FB979-7504-014F-8E71-A42784194ABF}">
      <dgm:prSet/>
      <dgm:spPr/>
      <dgm:t>
        <a:bodyPr/>
        <a:lstStyle/>
        <a:p>
          <a:endParaRPr lang="en-US" b="1"/>
        </a:p>
      </dgm:t>
    </dgm:pt>
    <dgm:pt modelId="{76894B11-0BAB-B649-B337-881DADDA80B0}" type="sibTrans" cxnId="{DA4FB979-7504-014F-8E71-A42784194ABF}">
      <dgm:prSet/>
      <dgm:spPr/>
      <dgm:t>
        <a:bodyPr/>
        <a:lstStyle/>
        <a:p>
          <a:endParaRPr lang="en-US" b="1"/>
        </a:p>
      </dgm:t>
    </dgm:pt>
    <dgm:pt modelId="{9500A708-F18B-44DC-BB96-0E6D9DB43890}" type="pres">
      <dgm:prSet presAssocID="{F75857B3-F10A-3A4D-A2C9-BEF46A178372}" presName="rootnode" presStyleCnt="0">
        <dgm:presLayoutVars>
          <dgm:chMax/>
          <dgm:chPref/>
          <dgm:dir/>
          <dgm:animLvl val="lvl"/>
        </dgm:presLayoutVars>
      </dgm:prSet>
      <dgm:spPr/>
    </dgm:pt>
    <dgm:pt modelId="{FAFE92F7-602C-4A84-BB77-CD24C855B722}" type="pres">
      <dgm:prSet presAssocID="{F5213418-7B8D-FE42-BB8D-9ED790F1F229}" presName="composite" presStyleCnt="0"/>
      <dgm:spPr/>
    </dgm:pt>
    <dgm:pt modelId="{D24B72F3-991D-4D26-9463-0028447AF8D0}" type="pres">
      <dgm:prSet presAssocID="{F5213418-7B8D-FE42-BB8D-9ED790F1F229}" presName="LShape" presStyleLbl="alignNode1" presStyleIdx="0" presStyleCnt="7"/>
      <dgm:spPr>
        <a:solidFill>
          <a:srgbClr val="244F9A"/>
        </a:solidFill>
      </dgm:spPr>
    </dgm:pt>
    <dgm:pt modelId="{6EB3AA31-421F-4B20-8208-0825BF70090F}" type="pres">
      <dgm:prSet presAssocID="{F5213418-7B8D-FE42-BB8D-9ED790F1F229}" presName="ParentText" presStyleLbl="revTx" presStyleIdx="0" presStyleCnt="4">
        <dgm:presLayoutVars>
          <dgm:chMax val="0"/>
          <dgm:chPref val="0"/>
          <dgm:bulletEnabled val="1"/>
        </dgm:presLayoutVars>
      </dgm:prSet>
      <dgm:spPr/>
    </dgm:pt>
    <dgm:pt modelId="{4B9E1A38-3040-4C60-B94E-F33823D540F9}" type="pres">
      <dgm:prSet presAssocID="{F5213418-7B8D-FE42-BB8D-9ED790F1F229}" presName="Triangle" presStyleLbl="alignNode1" presStyleIdx="1" presStyleCnt="7"/>
      <dgm:spPr>
        <a:solidFill>
          <a:srgbClr val="244F9A">
            <a:alpha val="80000"/>
          </a:srgbClr>
        </a:solidFill>
      </dgm:spPr>
    </dgm:pt>
    <dgm:pt modelId="{95B64B29-91C6-430C-B5C4-265DB74CF7B4}" type="pres">
      <dgm:prSet presAssocID="{006D824C-9578-134B-90CE-18E5A593B00E}" presName="sibTrans" presStyleCnt="0"/>
      <dgm:spPr/>
    </dgm:pt>
    <dgm:pt modelId="{725D0832-B1E8-4F6F-A3C2-BF8DCF1DD948}" type="pres">
      <dgm:prSet presAssocID="{006D824C-9578-134B-90CE-18E5A593B00E}" presName="space" presStyleCnt="0"/>
      <dgm:spPr/>
    </dgm:pt>
    <dgm:pt modelId="{E07D9642-9AC8-4EB7-B901-FEF05DF1BC3B}" type="pres">
      <dgm:prSet presAssocID="{436C2DFF-FC8F-6245-A7DB-4708073EC4A1}" presName="composite" presStyleCnt="0"/>
      <dgm:spPr/>
    </dgm:pt>
    <dgm:pt modelId="{F7636A15-31BC-483D-A19B-F594F97B4CB7}" type="pres">
      <dgm:prSet presAssocID="{436C2DFF-FC8F-6245-A7DB-4708073EC4A1}" presName="LShape" presStyleLbl="alignNode1" presStyleIdx="2" presStyleCnt="7"/>
      <dgm:spPr>
        <a:solidFill>
          <a:srgbClr val="244F9A">
            <a:alpha val="80000"/>
          </a:srgbClr>
        </a:solidFill>
      </dgm:spPr>
    </dgm:pt>
    <dgm:pt modelId="{55D54D3E-74C0-4BF4-9694-114A266E7DAC}" type="pres">
      <dgm:prSet presAssocID="{436C2DFF-FC8F-6245-A7DB-4708073EC4A1}" presName="ParentText" presStyleLbl="revTx" presStyleIdx="1" presStyleCnt="4">
        <dgm:presLayoutVars>
          <dgm:chMax val="0"/>
          <dgm:chPref val="0"/>
          <dgm:bulletEnabled val="1"/>
        </dgm:presLayoutVars>
      </dgm:prSet>
      <dgm:spPr/>
    </dgm:pt>
    <dgm:pt modelId="{E2E1B3D5-626C-4984-B966-96AB737EB32D}" type="pres">
      <dgm:prSet presAssocID="{436C2DFF-FC8F-6245-A7DB-4708073EC4A1}" presName="Triangle" presStyleLbl="alignNode1" presStyleIdx="3" presStyleCnt="7"/>
      <dgm:spPr>
        <a:solidFill>
          <a:srgbClr val="244F9A">
            <a:alpha val="60000"/>
          </a:srgbClr>
        </a:solidFill>
      </dgm:spPr>
    </dgm:pt>
    <dgm:pt modelId="{2EAEE5A0-B074-4A93-8279-7600764CD028}" type="pres">
      <dgm:prSet presAssocID="{FBB42B92-FDFF-AF44-923C-BD5D2B5DE5B6}" presName="sibTrans" presStyleCnt="0"/>
      <dgm:spPr/>
    </dgm:pt>
    <dgm:pt modelId="{10F5B5E3-6AAB-49E5-A7BA-45959CE0CB13}" type="pres">
      <dgm:prSet presAssocID="{FBB42B92-FDFF-AF44-923C-BD5D2B5DE5B6}" presName="space" presStyleCnt="0"/>
      <dgm:spPr/>
    </dgm:pt>
    <dgm:pt modelId="{EE304BD9-C951-4C45-A4B8-B99F5FAB7C24}" type="pres">
      <dgm:prSet presAssocID="{242EFE72-A7E7-8647-84E0-E41410AA3ACF}" presName="composite" presStyleCnt="0"/>
      <dgm:spPr/>
    </dgm:pt>
    <dgm:pt modelId="{A88D8255-18CE-4518-9174-DEB3D03C550D}" type="pres">
      <dgm:prSet presAssocID="{242EFE72-A7E7-8647-84E0-E41410AA3ACF}" presName="LShape" presStyleLbl="alignNode1" presStyleIdx="4" presStyleCnt="7"/>
      <dgm:spPr>
        <a:solidFill>
          <a:srgbClr val="244F9A">
            <a:alpha val="60000"/>
          </a:srgbClr>
        </a:solidFill>
      </dgm:spPr>
    </dgm:pt>
    <dgm:pt modelId="{598D4C6B-62CE-4CE4-91E9-7E9EB1E1C398}" type="pres">
      <dgm:prSet presAssocID="{242EFE72-A7E7-8647-84E0-E41410AA3ACF}" presName="ParentText" presStyleLbl="revTx" presStyleIdx="2" presStyleCnt="4">
        <dgm:presLayoutVars>
          <dgm:chMax val="0"/>
          <dgm:chPref val="0"/>
          <dgm:bulletEnabled val="1"/>
        </dgm:presLayoutVars>
      </dgm:prSet>
      <dgm:spPr/>
    </dgm:pt>
    <dgm:pt modelId="{C472BF19-FDA3-4EC5-AD0C-1C04B1D94EC9}" type="pres">
      <dgm:prSet presAssocID="{242EFE72-A7E7-8647-84E0-E41410AA3ACF}" presName="Triangle" presStyleLbl="alignNode1" presStyleIdx="5" presStyleCnt="7"/>
      <dgm:spPr>
        <a:solidFill>
          <a:srgbClr val="244F9A">
            <a:alpha val="40000"/>
          </a:srgbClr>
        </a:solidFill>
      </dgm:spPr>
    </dgm:pt>
    <dgm:pt modelId="{2095D891-25AC-413C-8D3D-B5069B04412E}" type="pres">
      <dgm:prSet presAssocID="{4B906FD7-82E7-7C44-B493-74C84F6E8B56}" presName="sibTrans" presStyleCnt="0"/>
      <dgm:spPr/>
    </dgm:pt>
    <dgm:pt modelId="{318181AA-42DB-46D0-9070-BBDA59A39E82}" type="pres">
      <dgm:prSet presAssocID="{4B906FD7-82E7-7C44-B493-74C84F6E8B56}" presName="space" presStyleCnt="0"/>
      <dgm:spPr/>
    </dgm:pt>
    <dgm:pt modelId="{33F07F37-AE67-4554-9495-80AF9B84232B}" type="pres">
      <dgm:prSet presAssocID="{EC8EE670-6387-644E-B1F6-D3D60F07DCBC}" presName="composite" presStyleCnt="0"/>
      <dgm:spPr/>
    </dgm:pt>
    <dgm:pt modelId="{67966FFF-E62A-4DBC-B29D-25E2B05997AB}" type="pres">
      <dgm:prSet presAssocID="{EC8EE670-6387-644E-B1F6-D3D60F07DCBC}" presName="LShape" presStyleLbl="alignNode1" presStyleIdx="6" presStyleCnt="7"/>
      <dgm:spPr>
        <a:solidFill>
          <a:srgbClr val="244F9A">
            <a:alpha val="40000"/>
          </a:srgbClr>
        </a:solidFill>
      </dgm:spPr>
    </dgm:pt>
    <dgm:pt modelId="{8247AD9B-A3F5-425E-903D-1FEBBA4D2840}" type="pres">
      <dgm:prSet presAssocID="{EC8EE670-6387-644E-B1F6-D3D60F07DCBC}" presName="ParentText" presStyleLbl="revTx" presStyleIdx="3" presStyleCnt="4">
        <dgm:presLayoutVars>
          <dgm:chMax val="0"/>
          <dgm:chPref val="0"/>
          <dgm:bulletEnabled val="1"/>
        </dgm:presLayoutVars>
      </dgm:prSet>
      <dgm:spPr/>
    </dgm:pt>
  </dgm:ptLst>
  <dgm:cxnLst>
    <dgm:cxn modelId="{625FB806-21A7-F94D-9D04-87A1EDD21099}" srcId="{F75857B3-F10A-3A4D-A2C9-BEF46A178372}" destId="{242EFE72-A7E7-8647-84E0-E41410AA3ACF}" srcOrd="2" destOrd="0" parTransId="{D9B6A2EC-2BDF-5A4E-9509-2AF847C113C2}" sibTransId="{4B906FD7-82E7-7C44-B493-74C84F6E8B56}"/>
    <dgm:cxn modelId="{078A184F-154A-4B82-90D5-AFD40FC655EE}" type="presOf" srcId="{436C2DFF-FC8F-6245-A7DB-4708073EC4A1}" destId="{55D54D3E-74C0-4BF4-9694-114A266E7DAC}" srcOrd="0" destOrd="0" presId="urn:microsoft.com/office/officeart/2009/3/layout/StepUpProcess"/>
    <dgm:cxn modelId="{5C50C957-1A43-43AB-B9FF-37ECD87D303E}" type="presOf" srcId="{F75857B3-F10A-3A4D-A2C9-BEF46A178372}" destId="{9500A708-F18B-44DC-BB96-0E6D9DB43890}" srcOrd="0" destOrd="0" presId="urn:microsoft.com/office/officeart/2009/3/layout/StepUpProcess"/>
    <dgm:cxn modelId="{DA4FB979-7504-014F-8E71-A42784194ABF}" srcId="{F75857B3-F10A-3A4D-A2C9-BEF46A178372}" destId="{EC8EE670-6387-644E-B1F6-D3D60F07DCBC}" srcOrd="3" destOrd="0" parTransId="{3751126E-7A05-E04C-B6A7-9683DCF88FF8}" sibTransId="{76894B11-0BAB-B649-B337-881DADDA80B0}"/>
    <dgm:cxn modelId="{4AE933AE-806A-574B-903E-37EED7A432CD}" srcId="{F75857B3-F10A-3A4D-A2C9-BEF46A178372}" destId="{436C2DFF-FC8F-6245-A7DB-4708073EC4A1}" srcOrd="1" destOrd="0" parTransId="{2E56DBD1-74B0-4640-939F-DBB53814ABC4}" sibTransId="{FBB42B92-FDFF-AF44-923C-BD5D2B5DE5B6}"/>
    <dgm:cxn modelId="{E719DAB5-073E-4647-88AC-B2BC93AD7BA4}" srcId="{F75857B3-F10A-3A4D-A2C9-BEF46A178372}" destId="{F5213418-7B8D-FE42-BB8D-9ED790F1F229}" srcOrd="0" destOrd="0" parTransId="{9DF97D3B-8FDE-1941-877F-C93610802B66}" sibTransId="{006D824C-9578-134B-90CE-18E5A593B00E}"/>
    <dgm:cxn modelId="{4A732ED1-444F-4045-88BD-959FEF7735ED}" type="presOf" srcId="{EC8EE670-6387-644E-B1F6-D3D60F07DCBC}" destId="{8247AD9B-A3F5-425E-903D-1FEBBA4D2840}" srcOrd="0" destOrd="0" presId="urn:microsoft.com/office/officeart/2009/3/layout/StepUpProcess"/>
    <dgm:cxn modelId="{61049AE5-6223-4D82-92EB-9AC71ABD3EBB}" type="presOf" srcId="{F5213418-7B8D-FE42-BB8D-9ED790F1F229}" destId="{6EB3AA31-421F-4B20-8208-0825BF70090F}" srcOrd="0" destOrd="0" presId="urn:microsoft.com/office/officeart/2009/3/layout/StepUpProcess"/>
    <dgm:cxn modelId="{94D35EFE-98A6-4303-88CE-AD93F8262D2C}" type="presOf" srcId="{242EFE72-A7E7-8647-84E0-E41410AA3ACF}" destId="{598D4C6B-62CE-4CE4-91E9-7E9EB1E1C398}" srcOrd="0" destOrd="0" presId="urn:microsoft.com/office/officeart/2009/3/layout/StepUpProcess"/>
    <dgm:cxn modelId="{10E040AC-37AA-4150-BA7B-FD29B01D2D5F}" type="presParOf" srcId="{9500A708-F18B-44DC-BB96-0E6D9DB43890}" destId="{FAFE92F7-602C-4A84-BB77-CD24C855B722}" srcOrd="0" destOrd="0" presId="urn:microsoft.com/office/officeart/2009/3/layout/StepUpProcess"/>
    <dgm:cxn modelId="{F0D311F0-1CA1-4F58-84E1-FF7B3E7ED30E}" type="presParOf" srcId="{FAFE92F7-602C-4A84-BB77-CD24C855B722}" destId="{D24B72F3-991D-4D26-9463-0028447AF8D0}" srcOrd="0" destOrd="0" presId="urn:microsoft.com/office/officeart/2009/3/layout/StepUpProcess"/>
    <dgm:cxn modelId="{3FF027DC-A329-4FB6-8046-3B3E1921B50D}" type="presParOf" srcId="{FAFE92F7-602C-4A84-BB77-CD24C855B722}" destId="{6EB3AA31-421F-4B20-8208-0825BF70090F}" srcOrd="1" destOrd="0" presId="urn:microsoft.com/office/officeart/2009/3/layout/StepUpProcess"/>
    <dgm:cxn modelId="{D68934AB-78C0-494F-855E-EED8CDC062E9}" type="presParOf" srcId="{FAFE92F7-602C-4A84-BB77-CD24C855B722}" destId="{4B9E1A38-3040-4C60-B94E-F33823D540F9}" srcOrd="2" destOrd="0" presId="urn:microsoft.com/office/officeart/2009/3/layout/StepUpProcess"/>
    <dgm:cxn modelId="{1DFA7715-BB73-4EAC-9DE6-8B6063DADB35}" type="presParOf" srcId="{9500A708-F18B-44DC-BB96-0E6D9DB43890}" destId="{95B64B29-91C6-430C-B5C4-265DB74CF7B4}" srcOrd="1" destOrd="0" presId="urn:microsoft.com/office/officeart/2009/3/layout/StepUpProcess"/>
    <dgm:cxn modelId="{EA25C0D4-A114-4D76-83CD-A48C60F77BD0}" type="presParOf" srcId="{95B64B29-91C6-430C-B5C4-265DB74CF7B4}" destId="{725D0832-B1E8-4F6F-A3C2-BF8DCF1DD948}" srcOrd="0" destOrd="0" presId="urn:microsoft.com/office/officeart/2009/3/layout/StepUpProcess"/>
    <dgm:cxn modelId="{18F99E03-D030-4DEA-A408-CEFFFEFF2F10}" type="presParOf" srcId="{9500A708-F18B-44DC-BB96-0E6D9DB43890}" destId="{E07D9642-9AC8-4EB7-B901-FEF05DF1BC3B}" srcOrd="2" destOrd="0" presId="urn:microsoft.com/office/officeart/2009/3/layout/StepUpProcess"/>
    <dgm:cxn modelId="{77769D1F-0BDD-4E72-931D-E6C38B33D623}" type="presParOf" srcId="{E07D9642-9AC8-4EB7-B901-FEF05DF1BC3B}" destId="{F7636A15-31BC-483D-A19B-F594F97B4CB7}" srcOrd="0" destOrd="0" presId="urn:microsoft.com/office/officeart/2009/3/layout/StepUpProcess"/>
    <dgm:cxn modelId="{6C63D3BB-C919-45C6-8F7C-8677870EA096}" type="presParOf" srcId="{E07D9642-9AC8-4EB7-B901-FEF05DF1BC3B}" destId="{55D54D3E-74C0-4BF4-9694-114A266E7DAC}" srcOrd="1" destOrd="0" presId="urn:microsoft.com/office/officeart/2009/3/layout/StepUpProcess"/>
    <dgm:cxn modelId="{17FEFD49-5D94-4B34-98CE-2AC13A7F5A76}" type="presParOf" srcId="{E07D9642-9AC8-4EB7-B901-FEF05DF1BC3B}" destId="{E2E1B3D5-626C-4984-B966-96AB737EB32D}" srcOrd="2" destOrd="0" presId="urn:microsoft.com/office/officeart/2009/3/layout/StepUpProcess"/>
    <dgm:cxn modelId="{09D4BC6A-3E60-444F-BDFA-FFA1138C5FBA}" type="presParOf" srcId="{9500A708-F18B-44DC-BB96-0E6D9DB43890}" destId="{2EAEE5A0-B074-4A93-8279-7600764CD028}" srcOrd="3" destOrd="0" presId="urn:microsoft.com/office/officeart/2009/3/layout/StepUpProcess"/>
    <dgm:cxn modelId="{4DCE9832-F2F6-408E-B653-6FCC7F66895F}" type="presParOf" srcId="{2EAEE5A0-B074-4A93-8279-7600764CD028}" destId="{10F5B5E3-6AAB-49E5-A7BA-45959CE0CB13}" srcOrd="0" destOrd="0" presId="urn:microsoft.com/office/officeart/2009/3/layout/StepUpProcess"/>
    <dgm:cxn modelId="{F7E2350E-9887-4B0E-B80F-B3DE21C7CC55}" type="presParOf" srcId="{9500A708-F18B-44DC-BB96-0E6D9DB43890}" destId="{EE304BD9-C951-4C45-A4B8-B99F5FAB7C24}" srcOrd="4" destOrd="0" presId="urn:microsoft.com/office/officeart/2009/3/layout/StepUpProcess"/>
    <dgm:cxn modelId="{CD206FD3-14D0-4AD5-BCCE-0DA09866B14E}" type="presParOf" srcId="{EE304BD9-C951-4C45-A4B8-B99F5FAB7C24}" destId="{A88D8255-18CE-4518-9174-DEB3D03C550D}" srcOrd="0" destOrd="0" presId="urn:microsoft.com/office/officeart/2009/3/layout/StepUpProcess"/>
    <dgm:cxn modelId="{989EF61B-DEFE-4F5A-8F99-D5F9B21CBE30}" type="presParOf" srcId="{EE304BD9-C951-4C45-A4B8-B99F5FAB7C24}" destId="{598D4C6B-62CE-4CE4-91E9-7E9EB1E1C398}" srcOrd="1" destOrd="0" presId="urn:microsoft.com/office/officeart/2009/3/layout/StepUpProcess"/>
    <dgm:cxn modelId="{A45C9F72-6650-40FB-AE43-EEBE086FED41}" type="presParOf" srcId="{EE304BD9-C951-4C45-A4B8-B99F5FAB7C24}" destId="{C472BF19-FDA3-4EC5-AD0C-1C04B1D94EC9}" srcOrd="2" destOrd="0" presId="urn:microsoft.com/office/officeart/2009/3/layout/StepUpProcess"/>
    <dgm:cxn modelId="{CD634433-040B-472D-AA9B-60257E77B3FB}" type="presParOf" srcId="{9500A708-F18B-44DC-BB96-0E6D9DB43890}" destId="{2095D891-25AC-413C-8D3D-B5069B04412E}" srcOrd="5" destOrd="0" presId="urn:microsoft.com/office/officeart/2009/3/layout/StepUpProcess"/>
    <dgm:cxn modelId="{E3BF9A38-CA67-41AE-AC55-CAB3725E0DE2}" type="presParOf" srcId="{2095D891-25AC-413C-8D3D-B5069B04412E}" destId="{318181AA-42DB-46D0-9070-BBDA59A39E82}" srcOrd="0" destOrd="0" presId="urn:microsoft.com/office/officeart/2009/3/layout/StepUpProcess"/>
    <dgm:cxn modelId="{E72B43F2-E09B-4E8B-AECB-64D97433BB8B}" type="presParOf" srcId="{9500A708-F18B-44DC-BB96-0E6D9DB43890}" destId="{33F07F37-AE67-4554-9495-80AF9B84232B}" srcOrd="6" destOrd="0" presId="urn:microsoft.com/office/officeart/2009/3/layout/StepUpProcess"/>
    <dgm:cxn modelId="{E0C915BC-9E17-4265-87BA-E1A4BB45FDBC}" type="presParOf" srcId="{33F07F37-AE67-4554-9495-80AF9B84232B}" destId="{67966FFF-E62A-4DBC-B29D-25E2B05997AB}" srcOrd="0" destOrd="0" presId="urn:microsoft.com/office/officeart/2009/3/layout/StepUpProcess"/>
    <dgm:cxn modelId="{C0168929-E9ED-48FF-B23F-832B0F0E60B3}" type="presParOf" srcId="{33F07F37-AE67-4554-9495-80AF9B84232B}" destId="{8247AD9B-A3F5-425E-903D-1FEBBA4D2840}" srcOrd="1" destOrd="0" presId="urn:microsoft.com/office/officeart/2009/3/layout/StepUpProcess"/>
  </dgm:cxnLst>
  <dgm:bg>
    <a:solidFill>
      <a:schemeClr val="bg1"/>
    </a:solidFill>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37BF38-EED7-40B6-AE30-314765FAF99B}">
      <dsp:nvSpPr>
        <dsp:cNvPr id="0" name=""/>
        <dsp:cNvSpPr/>
      </dsp:nvSpPr>
      <dsp:spPr>
        <a:xfrm>
          <a:off x="0" y="1066800"/>
          <a:ext cx="3718560" cy="3718560"/>
        </a:xfrm>
        <a:prstGeom prst="ellipse">
          <a:avLst/>
        </a:prstGeom>
        <a:solidFill>
          <a:srgbClr val="61A606"/>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b="1" kern="1200" dirty="0"/>
            <a:t>Out of Network</a:t>
          </a:r>
        </a:p>
      </dsp:txBody>
      <dsp:txXfrm>
        <a:off x="1339425" y="1252728"/>
        <a:ext cx="1039709" cy="557784"/>
      </dsp:txXfrm>
    </dsp:sp>
    <dsp:sp modelId="{68806E35-FB05-408F-AFBC-163227E8487B}">
      <dsp:nvSpPr>
        <dsp:cNvPr id="0" name=""/>
        <dsp:cNvSpPr/>
      </dsp:nvSpPr>
      <dsp:spPr>
        <a:xfrm>
          <a:off x="371855" y="1810511"/>
          <a:ext cx="2974848" cy="2974848"/>
        </a:xfrm>
        <a:prstGeom prst="ellipse">
          <a:avLst/>
        </a:prstGeom>
        <a:solidFill>
          <a:srgbClr val="019CA5"/>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b="1" kern="1200" dirty="0"/>
            <a:t>Wrap Network (Rented)</a:t>
          </a:r>
        </a:p>
      </dsp:txBody>
      <dsp:txXfrm>
        <a:off x="1339425" y="1989002"/>
        <a:ext cx="1039709" cy="535472"/>
      </dsp:txXfrm>
    </dsp:sp>
    <dsp:sp modelId="{EBC66B5F-74A7-4C59-9CEC-5E7379E73E3B}">
      <dsp:nvSpPr>
        <dsp:cNvPr id="0" name=""/>
        <dsp:cNvSpPr/>
      </dsp:nvSpPr>
      <dsp:spPr>
        <a:xfrm>
          <a:off x="743711" y="2554223"/>
          <a:ext cx="2231136" cy="2231136"/>
        </a:xfrm>
        <a:prstGeom prst="ellipse">
          <a:avLst/>
        </a:prstGeom>
        <a:solidFill>
          <a:srgbClr val="244F9A"/>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b="1" kern="1200" dirty="0"/>
            <a:t>Friends &amp; Family (Contracted)</a:t>
          </a:r>
        </a:p>
      </dsp:txBody>
      <dsp:txXfrm>
        <a:off x="1339425" y="2721559"/>
        <a:ext cx="1039709" cy="502005"/>
      </dsp:txXfrm>
    </dsp:sp>
    <dsp:sp modelId="{F92C6764-1AFD-4DFF-B75E-6422C5503855}">
      <dsp:nvSpPr>
        <dsp:cNvPr id="0" name=""/>
        <dsp:cNvSpPr/>
      </dsp:nvSpPr>
      <dsp:spPr>
        <a:xfrm>
          <a:off x="1127541" y="3316246"/>
          <a:ext cx="1487424" cy="1487424"/>
        </a:xfrm>
        <a:prstGeom prst="ellipse">
          <a:avLst/>
        </a:prstGeom>
        <a:solidFill>
          <a:srgbClr val="59CAE8"/>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endParaRPr lang="en-US" sz="1200" b="1" kern="1200" dirty="0">
            <a:effectLst>
              <a:outerShdw blurRad="38100" dist="38100" dir="2700000" algn="tl">
                <a:srgbClr val="000000">
                  <a:alpha val="43137"/>
                </a:srgbClr>
              </a:outerShdw>
            </a:effectLst>
          </a:endParaRPr>
        </a:p>
      </dsp:txBody>
      <dsp:txXfrm>
        <a:off x="1345369" y="3688102"/>
        <a:ext cx="1051767" cy="74371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F010C22-B439-4BEC-A07A-60ED666B2E08}">
      <dsp:nvSpPr>
        <dsp:cNvPr id="0" name=""/>
        <dsp:cNvSpPr/>
      </dsp:nvSpPr>
      <dsp:spPr>
        <a:xfrm>
          <a:off x="7242" y="681733"/>
          <a:ext cx="3127976" cy="2476700"/>
        </a:xfrm>
        <a:prstGeom prst="round2SameRect">
          <a:avLst>
            <a:gd name="adj1" fmla="val 8000"/>
            <a:gd name="adj2" fmla="val 0"/>
          </a:avLst>
        </a:prstGeom>
        <a:solidFill>
          <a:schemeClr val="lt1">
            <a:hueOff val="0"/>
            <a:satOff val="0"/>
            <a:lumOff val="0"/>
            <a:alpha val="80000"/>
          </a:schemeClr>
        </a:solidFill>
        <a:ln w="12700" cap="flat" cmpd="sng" algn="ctr">
          <a:solidFill>
            <a:schemeClr val="bg1">
              <a:lumMod val="6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91440" rIns="22860" bIns="22860" numCol="1" spcCol="1270" anchor="t" anchorCtr="0">
          <a:noAutofit/>
        </a:bodyPr>
        <a:lstStyle/>
        <a:p>
          <a:pPr marL="285750" lvl="1" indent="-228600" algn="l" defTabSz="800100">
            <a:lnSpc>
              <a:spcPct val="100000"/>
            </a:lnSpc>
            <a:spcBef>
              <a:spcPct val="0"/>
            </a:spcBef>
            <a:spcAft>
              <a:spcPts val="300"/>
            </a:spcAft>
            <a:buChar char="•"/>
          </a:pPr>
          <a:r>
            <a:rPr lang="en-US" sz="1800" b="0" kern="1200" dirty="0"/>
            <a:t>Identification of Key Distribution Agents</a:t>
          </a:r>
        </a:p>
        <a:p>
          <a:pPr marL="285750" lvl="1" indent="-228600" algn="l" defTabSz="800100">
            <a:lnSpc>
              <a:spcPct val="100000"/>
            </a:lnSpc>
            <a:spcBef>
              <a:spcPct val="0"/>
            </a:spcBef>
            <a:spcAft>
              <a:spcPts val="300"/>
            </a:spcAft>
            <a:buChar char="•"/>
          </a:pPr>
          <a:r>
            <a:rPr lang="en-US" sz="1800" b="0" kern="1200" dirty="0"/>
            <a:t>Training and Development</a:t>
          </a:r>
        </a:p>
        <a:p>
          <a:pPr marL="285750" lvl="1" indent="-228600" algn="l" defTabSz="800100">
            <a:lnSpc>
              <a:spcPct val="100000"/>
            </a:lnSpc>
            <a:spcBef>
              <a:spcPct val="0"/>
            </a:spcBef>
            <a:spcAft>
              <a:spcPts val="300"/>
            </a:spcAft>
            <a:buChar char="•"/>
          </a:pPr>
          <a:r>
            <a:rPr lang="en-US" sz="1800" b="0" kern="1200" dirty="0"/>
            <a:t>Quote Evaluation</a:t>
          </a:r>
        </a:p>
        <a:p>
          <a:pPr marL="285750" lvl="1" indent="-228600" algn="l" defTabSz="800100">
            <a:lnSpc>
              <a:spcPct val="100000"/>
            </a:lnSpc>
            <a:spcBef>
              <a:spcPct val="0"/>
            </a:spcBef>
            <a:spcAft>
              <a:spcPts val="300"/>
            </a:spcAft>
            <a:buChar char="•"/>
          </a:pPr>
          <a:r>
            <a:rPr lang="en-US" sz="1800" b="0" kern="1200" dirty="0"/>
            <a:t>Compensation</a:t>
          </a:r>
        </a:p>
      </dsp:txBody>
      <dsp:txXfrm>
        <a:off x="65274" y="739765"/>
        <a:ext cx="3011912" cy="2418668"/>
      </dsp:txXfrm>
    </dsp:sp>
    <dsp:sp modelId="{CBD6250E-21D7-41DA-B5C6-ED9529780301}">
      <dsp:nvSpPr>
        <dsp:cNvPr id="0" name=""/>
        <dsp:cNvSpPr/>
      </dsp:nvSpPr>
      <dsp:spPr>
        <a:xfrm>
          <a:off x="7242" y="3087567"/>
          <a:ext cx="3127976" cy="1004036"/>
        </a:xfrm>
        <a:prstGeom prst="rect">
          <a:avLst/>
        </a:prstGeom>
        <a:solidFill>
          <a:srgbClr val="59CAE8"/>
        </a:solidFill>
        <a:ln w="12700" cap="flat" cmpd="sng" algn="ctr">
          <a:solidFill>
            <a:srgbClr val="59CAE8"/>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0" rIns="27940" bIns="0" numCol="1" spcCol="1270" anchor="ctr" anchorCtr="0">
          <a:noAutofit/>
        </a:bodyPr>
        <a:lstStyle/>
        <a:p>
          <a:pPr marL="0" lvl="0" indent="0" algn="l" defTabSz="977900">
            <a:lnSpc>
              <a:spcPct val="90000"/>
            </a:lnSpc>
            <a:spcBef>
              <a:spcPct val="0"/>
            </a:spcBef>
            <a:spcAft>
              <a:spcPct val="35000"/>
            </a:spcAft>
            <a:buNone/>
          </a:pPr>
          <a:r>
            <a:rPr lang="en-US" sz="2200" b="1" kern="1200" dirty="0"/>
            <a:t>BROKER DEVELOPMENT</a:t>
          </a:r>
        </a:p>
      </dsp:txBody>
      <dsp:txXfrm>
        <a:off x="7242" y="3087567"/>
        <a:ext cx="2202800" cy="1004036"/>
      </dsp:txXfrm>
    </dsp:sp>
    <dsp:sp modelId="{C9DDB7FA-A0FA-4D6A-949B-B117078ADD34}">
      <dsp:nvSpPr>
        <dsp:cNvPr id="0" name=""/>
        <dsp:cNvSpPr/>
      </dsp:nvSpPr>
      <dsp:spPr>
        <a:xfrm>
          <a:off x="2298527" y="3247049"/>
          <a:ext cx="1094791" cy="1094791"/>
        </a:xfrm>
        <a:prstGeom prst="ellipse">
          <a:avLst/>
        </a:prstGeom>
        <a:blipFill>
          <a:blip xmlns:r="http://schemas.openxmlformats.org/officeDocument/2006/relationships" r:embed="rId1" cstate="screen">
            <a:extLst>
              <a:ext uri="{28A0092B-C50C-407E-A947-70E740481C1C}">
                <a14:useLocalDpi xmlns:a14="http://schemas.microsoft.com/office/drawing/2010/main"/>
              </a:ext>
            </a:extLst>
          </a:blip>
          <a:stretch>
            <a:fillRect/>
          </a:stretch>
        </a:blip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C4E3136-41AF-48D5-891D-C7A5263CF655}">
      <dsp:nvSpPr>
        <dsp:cNvPr id="0" name=""/>
        <dsp:cNvSpPr/>
      </dsp:nvSpPr>
      <dsp:spPr>
        <a:xfrm>
          <a:off x="3664547" y="681733"/>
          <a:ext cx="3127976" cy="2476700"/>
        </a:xfrm>
        <a:prstGeom prst="round2SameRect">
          <a:avLst>
            <a:gd name="adj1" fmla="val 8000"/>
            <a:gd name="adj2" fmla="val 0"/>
          </a:avLst>
        </a:prstGeom>
        <a:solidFill>
          <a:schemeClr val="lt1">
            <a:hueOff val="0"/>
            <a:satOff val="0"/>
            <a:lumOff val="0"/>
            <a:alpha val="80000"/>
          </a:schemeClr>
        </a:solidFill>
        <a:ln w="12700" cap="flat" cmpd="sng" algn="ctr">
          <a:solidFill>
            <a:schemeClr val="bg1">
              <a:lumMod val="6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91440" rIns="22860" bIns="22860" numCol="1" spcCol="1270" anchor="t" anchorCtr="0">
          <a:noAutofit/>
        </a:bodyPr>
        <a:lstStyle/>
        <a:p>
          <a:pPr marL="285750" lvl="1" indent="-228600" algn="l" defTabSz="800100">
            <a:lnSpc>
              <a:spcPct val="100000"/>
            </a:lnSpc>
            <a:spcBef>
              <a:spcPct val="0"/>
            </a:spcBef>
            <a:spcAft>
              <a:spcPts val="300"/>
            </a:spcAft>
            <a:buChar char="•"/>
          </a:pPr>
          <a:r>
            <a:rPr lang="en-US" sz="1800" b="0" kern="1200" dirty="0"/>
            <a:t>Identification of Key Targets</a:t>
          </a:r>
        </a:p>
        <a:p>
          <a:pPr marL="285750" lvl="1" indent="-228600" algn="l" defTabSz="800100">
            <a:lnSpc>
              <a:spcPct val="100000"/>
            </a:lnSpc>
            <a:spcBef>
              <a:spcPct val="0"/>
            </a:spcBef>
            <a:spcAft>
              <a:spcPts val="300"/>
            </a:spcAft>
            <a:buChar char="•"/>
          </a:pPr>
          <a:r>
            <a:rPr lang="en-US" sz="1800" b="0" kern="1200" dirty="0"/>
            <a:t>Working with SLUHN on Specific Employers</a:t>
          </a:r>
        </a:p>
        <a:p>
          <a:pPr marL="285750" lvl="1" indent="-228600" algn="l" defTabSz="800100">
            <a:lnSpc>
              <a:spcPct val="100000"/>
            </a:lnSpc>
            <a:spcBef>
              <a:spcPct val="0"/>
            </a:spcBef>
            <a:spcAft>
              <a:spcPts val="300"/>
            </a:spcAft>
            <a:buChar char="•"/>
          </a:pPr>
          <a:r>
            <a:rPr lang="en-US" sz="1800" b="0" kern="1200" dirty="0"/>
            <a:t>Meet and Greet</a:t>
          </a:r>
        </a:p>
        <a:p>
          <a:pPr marL="285750" lvl="1" indent="-228600" algn="l" defTabSz="800100">
            <a:lnSpc>
              <a:spcPct val="100000"/>
            </a:lnSpc>
            <a:spcBef>
              <a:spcPct val="0"/>
            </a:spcBef>
            <a:spcAft>
              <a:spcPts val="300"/>
            </a:spcAft>
            <a:buChar char="•"/>
          </a:pPr>
          <a:r>
            <a:rPr lang="en-US" sz="1800" b="0" kern="1200" dirty="0"/>
            <a:t>Sales Process</a:t>
          </a:r>
        </a:p>
        <a:p>
          <a:pPr marL="285750" lvl="1" indent="-228600" algn="l" defTabSz="800100">
            <a:lnSpc>
              <a:spcPct val="100000"/>
            </a:lnSpc>
            <a:spcBef>
              <a:spcPct val="0"/>
            </a:spcBef>
            <a:spcAft>
              <a:spcPts val="300"/>
            </a:spcAft>
            <a:buChar char="•"/>
          </a:pPr>
          <a:r>
            <a:rPr lang="en-US" sz="1800" b="0" kern="1200" dirty="0"/>
            <a:t>Closing</a:t>
          </a:r>
        </a:p>
        <a:p>
          <a:pPr marL="114300" lvl="1" indent="0" algn="l" defTabSz="666750">
            <a:lnSpc>
              <a:spcPct val="100000"/>
            </a:lnSpc>
            <a:spcBef>
              <a:spcPct val="0"/>
            </a:spcBef>
            <a:spcAft>
              <a:spcPts val="300"/>
            </a:spcAft>
            <a:buChar char="•"/>
          </a:pPr>
          <a:endParaRPr lang="en-US" sz="1500" b="0" kern="1200" dirty="0"/>
        </a:p>
      </dsp:txBody>
      <dsp:txXfrm>
        <a:off x="3722579" y="739765"/>
        <a:ext cx="3011912" cy="2418668"/>
      </dsp:txXfrm>
    </dsp:sp>
    <dsp:sp modelId="{79A312E4-6849-4D68-ADD1-B772AC6F907C}">
      <dsp:nvSpPr>
        <dsp:cNvPr id="0" name=""/>
        <dsp:cNvSpPr/>
      </dsp:nvSpPr>
      <dsp:spPr>
        <a:xfrm>
          <a:off x="3664547" y="3087567"/>
          <a:ext cx="3127976" cy="1004036"/>
        </a:xfrm>
        <a:prstGeom prst="rect">
          <a:avLst/>
        </a:prstGeom>
        <a:solidFill>
          <a:srgbClr val="59CAE8"/>
        </a:solidFill>
        <a:ln w="12700" cap="flat" cmpd="sng" algn="ctr">
          <a:solidFill>
            <a:srgbClr val="59CAE8"/>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0" rIns="27940" bIns="0" numCol="1" spcCol="1270" anchor="ctr" anchorCtr="0">
          <a:noAutofit/>
        </a:bodyPr>
        <a:lstStyle/>
        <a:p>
          <a:pPr marL="0" lvl="0" indent="0" algn="l" defTabSz="977900">
            <a:lnSpc>
              <a:spcPct val="90000"/>
            </a:lnSpc>
            <a:spcBef>
              <a:spcPct val="0"/>
            </a:spcBef>
            <a:spcAft>
              <a:spcPct val="35000"/>
            </a:spcAft>
            <a:buNone/>
          </a:pPr>
          <a:r>
            <a:rPr lang="en-US" sz="2200" b="1" kern="1200" dirty="0"/>
            <a:t>DIRECT SALES</a:t>
          </a:r>
        </a:p>
      </dsp:txBody>
      <dsp:txXfrm>
        <a:off x="3664547" y="3087567"/>
        <a:ext cx="2202800" cy="1004036"/>
      </dsp:txXfrm>
    </dsp:sp>
    <dsp:sp modelId="{59AE0CE5-CBA7-420A-835A-5F5591837FE8}">
      <dsp:nvSpPr>
        <dsp:cNvPr id="0" name=""/>
        <dsp:cNvSpPr/>
      </dsp:nvSpPr>
      <dsp:spPr>
        <a:xfrm>
          <a:off x="5955832" y="3247049"/>
          <a:ext cx="1094791" cy="1094791"/>
        </a:xfrm>
        <a:prstGeom prst="ellipse">
          <a:avLst/>
        </a:prstGeom>
        <a:blipFill>
          <a:blip xmlns:r="http://schemas.openxmlformats.org/officeDocument/2006/relationships" r:embed="rId2" cstate="screen">
            <a:extLst>
              <a:ext uri="{28A0092B-C50C-407E-A947-70E740481C1C}">
                <a14:useLocalDpi xmlns:a14="http://schemas.microsoft.com/office/drawing/2010/main"/>
              </a:ext>
            </a:extLst>
          </a:blip>
          <a:stretch>
            <a:fillRect/>
          </a:stretch>
        </a:blip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5B06EAE-30F4-4745-ACED-5452905F1416}">
      <dsp:nvSpPr>
        <dsp:cNvPr id="0" name=""/>
        <dsp:cNvSpPr/>
      </dsp:nvSpPr>
      <dsp:spPr>
        <a:xfrm>
          <a:off x="7321852" y="681733"/>
          <a:ext cx="3127976" cy="2476700"/>
        </a:xfrm>
        <a:prstGeom prst="round2SameRect">
          <a:avLst>
            <a:gd name="adj1" fmla="val 8000"/>
            <a:gd name="adj2" fmla="val 0"/>
          </a:avLst>
        </a:prstGeom>
        <a:solidFill>
          <a:schemeClr val="lt1">
            <a:hueOff val="0"/>
            <a:satOff val="0"/>
            <a:lumOff val="0"/>
            <a:alpha val="80000"/>
          </a:schemeClr>
        </a:solidFill>
        <a:ln w="12700" cap="flat" cmpd="sng" algn="ctr">
          <a:solidFill>
            <a:schemeClr val="bg1">
              <a:lumMod val="6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91440" rIns="22860" bIns="22860" numCol="1" spcCol="1270" anchor="t" anchorCtr="0">
          <a:noAutofit/>
        </a:bodyPr>
        <a:lstStyle/>
        <a:p>
          <a:pPr marL="285750" lvl="1" indent="-228600" algn="l" defTabSz="800100">
            <a:lnSpc>
              <a:spcPct val="100000"/>
            </a:lnSpc>
            <a:spcBef>
              <a:spcPct val="0"/>
            </a:spcBef>
            <a:spcAft>
              <a:spcPts val="300"/>
            </a:spcAft>
            <a:buChar char="•"/>
          </a:pPr>
          <a:r>
            <a:rPr lang="en-US" sz="1800" b="0" kern="1200" dirty="0"/>
            <a:t>Quote System</a:t>
          </a:r>
        </a:p>
        <a:p>
          <a:pPr marL="285750" lvl="1" indent="-228600" algn="l" defTabSz="800100">
            <a:lnSpc>
              <a:spcPct val="100000"/>
            </a:lnSpc>
            <a:spcBef>
              <a:spcPct val="0"/>
            </a:spcBef>
            <a:spcAft>
              <a:spcPts val="300"/>
            </a:spcAft>
            <a:buChar char="•"/>
          </a:pPr>
          <a:r>
            <a:rPr lang="en-US" sz="1800" b="0" kern="1200" dirty="0"/>
            <a:t>Proposal Development</a:t>
          </a:r>
        </a:p>
        <a:p>
          <a:pPr marL="285750" lvl="1" indent="-228600" algn="l" defTabSz="800100">
            <a:lnSpc>
              <a:spcPct val="100000"/>
            </a:lnSpc>
            <a:spcBef>
              <a:spcPct val="0"/>
            </a:spcBef>
            <a:spcAft>
              <a:spcPts val="300"/>
            </a:spcAft>
            <a:buChar char="•"/>
          </a:pPr>
          <a:r>
            <a:rPr lang="en-US" sz="1800" b="0" kern="1200" dirty="0"/>
            <a:t>Stop Loss Negotiations</a:t>
          </a:r>
        </a:p>
        <a:p>
          <a:pPr marL="285750" lvl="1" indent="-228600" algn="l" defTabSz="800100">
            <a:lnSpc>
              <a:spcPct val="100000"/>
            </a:lnSpc>
            <a:spcBef>
              <a:spcPct val="0"/>
            </a:spcBef>
            <a:spcAft>
              <a:spcPts val="300"/>
            </a:spcAft>
            <a:buChar char="•"/>
          </a:pPr>
          <a:r>
            <a:rPr lang="en-US" sz="1800" b="0" kern="1200" dirty="0"/>
            <a:t>Reporting &amp; Analysis</a:t>
          </a:r>
        </a:p>
        <a:p>
          <a:pPr marL="228600" lvl="1" indent="0" algn="l" defTabSz="933450">
            <a:lnSpc>
              <a:spcPct val="100000"/>
            </a:lnSpc>
            <a:spcBef>
              <a:spcPct val="0"/>
            </a:spcBef>
            <a:spcAft>
              <a:spcPts val="300"/>
            </a:spcAft>
            <a:buChar char="•"/>
          </a:pPr>
          <a:endParaRPr lang="en-US" sz="2100" b="0" kern="1200" dirty="0"/>
        </a:p>
        <a:p>
          <a:pPr marL="228600" lvl="1" indent="0" algn="l" defTabSz="933450">
            <a:lnSpc>
              <a:spcPct val="100000"/>
            </a:lnSpc>
            <a:spcBef>
              <a:spcPct val="0"/>
            </a:spcBef>
            <a:spcAft>
              <a:spcPts val="300"/>
            </a:spcAft>
            <a:buChar char="•"/>
          </a:pPr>
          <a:endParaRPr lang="en-US" sz="2100" b="0" kern="1200" dirty="0"/>
        </a:p>
      </dsp:txBody>
      <dsp:txXfrm>
        <a:off x="7379884" y="739765"/>
        <a:ext cx="3011912" cy="2418668"/>
      </dsp:txXfrm>
    </dsp:sp>
    <dsp:sp modelId="{A8558B5A-0979-484B-BD3E-256476C68F9A}">
      <dsp:nvSpPr>
        <dsp:cNvPr id="0" name=""/>
        <dsp:cNvSpPr/>
      </dsp:nvSpPr>
      <dsp:spPr>
        <a:xfrm>
          <a:off x="7321852" y="3087567"/>
          <a:ext cx="3127976" cy="1004036"/>
        </a:xfrm>
        <a:prstGeom prst="rect">
          <a:avLst/>
        </a:prstGeom>
        <a:solidFill>
          <a:srgbClr val="59CAE8"/>
        </a:solidFill>
        <a:ln w="12700" cap="flat" cmpd="sng" algn="ctr">
          <a:solidFill>
            <a:srgbClr val="59CAE8"/>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0" rIns="27940" bIns="0" numCol="1" spcCol="1270" anchor="ctr" anchorCtr="0">
          <a:noAutofit/>
        </a:bodyPr>
        <a:lstStyle/>
        <a:p>
          <a:pPr marL="0" lvl="0" indent="0" algn="l" defTabSz="977900">
            <a:lnSpc>
              <a:spcPct val="90000"/>
            </a:lnSpc>
            <a:spcBef>
              <a:spcPct val="0"/>
            </a:spcBef>
            <a:spcAft>
              <a:spcPct val="35000"/>
            </a:spcAft>
            <a:buNone/>
          </a:pPr>
          <a:r>
            <a:rPr lang="en-US" sz="2200" b="1" kern="1200" dirty="0"/>
            <a:t>SALES ADMINISTRATION</a:t>
          </a:r>
        </a:p>
      </dsp:txBody>
      <dsp:txXfrm>
        <a:off x="7321852" y="3087567"/>
        <a:ext cx="2202800" cy="1004036"/>
      </dsp:txXfrm>
    </dsp:sp>
    <dsp:sp modelId="{1AE27240-F06A-48BF-83C8-82D83CBD609C}">
      <dsp:nvSpPr>
        <dsp:cNvPr id="0" name=""/>
        <dsp:cNvSpPr/>
      </dsp:nvSpPr>
      <dsp:spPr>
        <a:xfrm>
          <a:off x="9613138" y="3247049"/>
          <a:ext cx="1094791" cy="1094791"/>
        </a:xfrm>
        <a:prstGeom prst="ellipse">
          <a:avLst/>
        </a:prstGeom>
        <a:blipFill>
          <a:blip xmlns:r="http://schemas.openxmlformats.org/officeDocument/2006/relationships" r:embed="rId3" cstate="screen">
            <a:extLst>
              <a:ext uri="{28A0092B-C50C-407E-A947-70E740481C1C}">
                <a14:useLocalDpi xmlns:a14="http://schemas.microsoft.com/office/drawing/2010/main"/>
              </a:ext>
            </a:extLst>
          </a:blip>
          <a:stretch>
            <a:fillRect/>
          </a:stretch>
        </a:blip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8C66CE-B1D9-43FD-91B0-9A298E99D806}">
      <dsp:nvSpPr>
        <dsp:cNvPr id="0" name=""/>
        <dsp:cNvSpPr/>
      </dsp:nvSpPr>
      <dsp:spPr>
        <a:xfrm rot="5400000">
          <a:off x="-311272" y="313505"/>
          <a:ext cx="2075147" cy="1452603"/>
        </a:xfrm>
        <a:prstGeom prst="chevron">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PROVIDER FILE</a:t>
          </a:r>
        </a:p>
      </dsp:txBody>
      <dsp:txXfrm rot="-5400000">
        <a:off x="1" y="728535"/>
        <a:ext cx="1452603" cy="622544"/>
      </dsp:txXfrm>
    </dsp:sp>
    <dsp:sp modelId="{7C07DD5C-F3F7-413D-935A-CCBA7C6C1E36}">
      <dsp:nvSpPr>
        <dsp:cNvPr id="0" name=""/>
        <dsp:cNvSpPr/>
      </dsp:nvSpPr>
      <dsp:spPr>
        <a:xfrm rot="5400000">
          <a:off x="3574368" y="-2119531"/>
          <a:ext cx="1348845" cy="5592375"/>
        </a:xfrm>
        <a:prstGeom prst="round2Same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r>
            <a:rPr lang="en-US" sz="2000" kern="1200" dirty="0"/>
            <a:t>To Determine Gaps in Medical Service Delivery</a:t>
          </a:r>
        </a:p>
        <a:p>
          <a:pPr marL="228600" lvl="1" indent="-228600" algn="l" defTabSz="889000">
            <a:lnSpc>
              <a:spcPct val="90000"/>
            </a:lnSpc>
            <a:spcBef>
              <a:spcPct val="0"/>
            </a:spcBef>
            <a:spcAft>
              <a:spcPct val="15000"/>
            </a:spcAft>
            <a:buChar char="•"/>
          </a:pPr>
          <a:r>
            <a:rPr lang="en-US" sz="2000" kern="1200" dirty="0"/>
            <a:t>Other Key Providers to Potentially Contract with on Behalf of SLUHN</a:t>
          </a:r>
        </a:p>
        <a:p>
          <a:pPr marL="228600" lvl="1" indent="-228600" algn="l" defTabSz="889000">
            <a:lnSpc>
              <a:spcPct val="90000"/>
            </a:lnSpc>
            <a:spcBef>
              <a:spcPct val="0"/>
            </a:spcBef>
            <a:spcAft>
              <a:spcPct val="15000"/>
            </a:spcAft>
            <a:buChar char="•"/>
          </a:pPr>
          <a:r>
            <a:rPr lang="en-US" sz="2000" kern="1200" dirty="0"/>
            <a:t>Wrap Network to Cover All Other Provider Types</a:t>
          </a:r>
        </a:p>
      </dsp:txBody>
      <dsp:txXfrm rot="-5400000">
        <a:off x="1452604" y="68078"/>
        <a:ext cx="5526530" cy="1217155"/>
      </dsp:txXfrm>
    </dsp:sp>
    <dsp:sp modelId="{1FCF5A5E-7DF9-412A-B101-D83967D7DE65}">
      <dsp:nvSpPr>
        <dsp:cNvPr id="0" name=""/>
        <dsp:cNvSpPr/>
      </dsp:nvSpPr>
      <dsp:spPr>
        <a:xfrm rot="5400000">
          <a:off x="-311272" y="2101215"/>
          <a:ext cx="2075147" cy="1452603"/>
        </a:xfrm>
        <a:prstGeom prst="chevron">
          <a:avLst/>
        </a:prstGeom>
        <a:solidFill>
          <a:srgbClr val="244F9A"/>
        </a:solidFill>
        <a:ln w="12700" cap="flat" cmpd="sng" algn="ctr">
          <a:solidFill>
            <a:srgbClr val="6A3085"/>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PRICING</a:t>
          </a:r>
        </a:p>
      </dsp:txBody>
      <dsp:txXfrm rot="-5400000">
        <a:off x="1" y="2516245"/>
        <a:ext cx="1452603" cy="622544"/>
      </dsp:txXfrm>
    </dsp:sp>
    <dsp:sp modelId="{FE1F4B02-EB68-4CAB-8CF0-3D5AB6A01850}">
      <dsp:nvSpPr>
        <dsp:cNvPr id="0" name=""/>
        <dsp:cNvSpPr/>
      </dsp:nvSpPr>
      <dsp:spPr>
        <a:xfrm rot="5400000">
          <a:off x="3574368" y="-331821"/>
          <a:ext cx="1348845" cy="5592375"/>
        </a:xfrm>
        <a:prstGeom prst="round2SameRect">
          <a:avLst/>
        </a:prstGeom>
        <a:solidFill>
          <a:schemeClr val="lt1">
            <a:alpha val="90000"/>
            <a:hueOff val="0"/>
            <a:satOff val="0"/>
            <a:lumOff val="0"/>
            <a:alphaOff val="0"/>
          </a:schemeClr>
        </a:solidFill>
        <a:ln w="12700" cap="flat" cmpd="sng" algn="ctr">
          <a:solidFill>
            <a:schemeClr val="accent3">
              <a:hueOff val="2710599"/>
              <a:satOff val="100000"/>
              <a:lumOff val="-14706"/>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r>
            <a:rPr lang="en-US" sz="2000" kern="1200" dirty="0"/>
            <a:t>To Dial in Competitive Stop-Loss Rates and SLUHN’s Net Revenues/Margins</a:t>
          </a:r>
        </a:p>
        <a:p>
          <a:pPr marL="228600" lvl="1" indent="-228600" algn="l" defTabSz="889000">
            <a:lnSpc>
              <a:spcPct val="90000"/>
            </a:lnSpc>
            <a:spcBef>
              <a:spcPct val="0"/>
            </a:spcBef>
            <a:spcAft>
              <a:spcPct val="15000"/>
            </a:spcAft>
            <a:buChar char="•"/>
          </a:pPr>
          <a:r>
            <a:rPr lang="en-US" sz="2000" kern="1200" dirty="0"/>
            <a:t>Actuarial Evaluation Compared to the Market</a:t>
          </a:r>
        </a:p>
      </dsp:txBody>
      <dsp:txXfrm rot="-5400000">
        <a:off x="1452604" y="1855788"/>
        <a:ext cx="5526530" cy="121715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4B72F3-991D-4D26-9463-0028447AF8D0}">
      <dsp:nvSpPr>
        <dsp:cNvPr id="0" name=""/>
        <dsp:cNvSpPr/>
      </dsp:nvSpPr>
      <dsp:spPr>
        <a:xfrm rot="5400000">
          <a:off x="332041" y="1572155"/>
          <a:ext cx="990861" cy="1648771"/>
        </a:xfrm>
        <a:prstGeom prst="corner">
          <a:avLst>
            <a:gd name="adj1" fmla="val 16120"/>
            <a:gd name="adj2" fmla="val 16110"/>
          </a:avLst>
        </a:prstGeom>
        <a:solidFill>
          <a:srgbClr val="244F9A"/>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EB3AA31-421F-4B20-8208-0825BF70090F}">
      <dsp:nvSpPr>
        <dsp:cNvPr id="0" name=""/>
        <dsp:cNvSpPr/>
      </dsp:nvSpPr>
      <dsp:spPr>
        <a:xfrm>
          <a:off x="166642" y="2064782"/>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1</a:t>
          </a:r>
        </a:p>
        <a:p>
          <a:pPr marL="0" lvl="0" indent="0" algn="l" defTabSz="577850">
            <a:lnSpc>
              <a:spcPct val="90000"/>
            </a:lnSpc>
            <a:spcBef>
              <a:spcPct val="0"/>
            </a:spcBef>
            <a:spcAft>
              <a:spcPct val="35000"/>
            </a:spcAft>
            <a:buNone/>
          </a:pPr>
          <a:r>
            <a:rPr lang="en-US" sz="1300" b="0" kern="1200" dirty="0"/>
            <a:t>Agreement &amp; Project Scope</a:t>
          </a:r>
        </a:p>
      </dsp:txBody>
      <dsp:txXfrm>
        <a:off x="166642" y="2064782"/>
        <a:ext cx="1488520" cy="1304775"/>
      </dsp:txXfrm>
    </dsp:sp>
    <dsp:sp modelId="{4B9E1A38-3040-4C60-B94E-F33823D540F9}">
      <dsp:nvSpPr>
        <dsp:cNvPr id="0" name=""/>
        <dsp:cNvSpPr/>
      </dsp:nvSpPr>
      <dsp:spPr>
        <a:xfrm>
          <a:off x="1374309" y="1450770"/>
          <a:ext cx="280852" cy="280852"/>
        </a:xfrm>
        <a:prstGeom prst="triangle">
          <a:avLst>
            <a:gd name="adj" fmla="val 100000"/>
          </a:avLst>
        </a:prstGeom>
        <a:solidFill>
          <a:srgbClr val="244F9A">
            <a:alpha val="80000"/>
          </a:srgbClr>
        </a:solidFill>
        <a:ln w="12700" cap="flat" cmpd="sng" algn="ctr">
          <a:solidFill>
            <a:schemeClr val="accent1">
              <a:shade val="80000"/>
              <a:hueOff val="58214"/>
              <a:satOff val="-1043"/>
              <a:lumOff val="443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7636A15-31BC-483D-A19B-F594F97B4CB7}">
      <dsp:nvSpPr>
        <dsp:cNvPr id="0" name=""/>
        <dsp:cNvSpPr/>
      </dsp:nvSpPr>
      <dsp:spPr>
        <a:xfrm rot="5400000">
          <a:off x="2154281" y="1121239"/>
          <a:ext cx="990861" cy="1648771"/>
        </a:xfrm>
        <a:prstGeom prst="corner">
          <a:avLst>
            <a:gd name="adj1" fmla="val 16120"/>
            <a:gd name="adj2" fmla="val 16110"/>
          </a:avLst>
        </a:prstGeom>
        <a:solidFill>
          <a:srgbClr val="244F9A">
            <a:alpha val="80000"/>
          </a:srgbClr>
        </a:solidFill>
        <a:ln w="12700" cap="flat" cmpd="sng" algn="ctr">
          <a:solidFill>
            <a:schemeClr val="accent1">
              <a:shade val="80000"/>
              <a:hueOff val="116428"/>
              <a:satOff val="-2085"/>
              <a:lumOff val="886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5D54D3E-74C0-4BF4-9694-114A266E7DAC}">
      <dsp:nvSpPr>
        <dsp:cNvPr id="0" name=""/>
        <dsp:cNvSpPr/>
      </dsp:nvSpPr>
      <dsp:spPr>
        <a:xfrm>
          <a:off x="1988882" y="1613867"/>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1-6</a:t>
          </a:r>
        </a:p>
        <a:p>
          <a:pPr marL="0" lvl="0" indent="0" algn="l" defTabSz="577850">
            <a:lnSpc>
              <a:spcPct val="90000"/>
            </a:lnSpc>
            <a:spcBef>
              <a:spcPct val="0"/>
            </a:spcBef>
            <a:spcAft>
              <a:spcPct val="35000"/>
            </a:spcAft>
            <a:buNone/>
          </a:pPr>
          <a:r>
            <a:rPr lang="en-US" sz="1300" b="0" kern="1200" dirty="0"/>
            <a:t>Implementation</a:t>
          </a:r>
        </a:p>
        <a:p>
          <a:pPr marL="0" lvl="0" indent="0" algn="l" defTabSz="577850">
            <a:lnSpc>
              <a:spcPct val="90000"/>
            </a:lnSpc>
            <a:spcBef>
              <a:spcPct val="0"/>
            </a:spcBef>
            <a:spcAft>
              <a:spcPct val="35000"/>
            </a:spcAft>
            <a:buNone/>
          </a:pPr>
          <a:r>
            <a:rPr lang="en-US" sz="1300" b="0" kern="1200" dirty="0"/>
            <a:t>Market Outreach begins in Month 3</a:t>
          </a:r>
        </a:p>
        <a:p>
          <a:pPr marL="0" lvl="0" indent="0" algn="l" defTabSz="577850">
            <a:lnSpc>
              <a:spcPct val="90000"/>
            </a:lnSpc>
            <a:spcBef>
              <a:spcPct val="0"/>
            </a:spcBef>
            <a:spcAft>
              <a:spcPct val="35000"/>
            </a:spcAft>
            <a:buNone/>
          </a:pPr>
          <a:endParaRPr lang="en-US" sz="1300" b="0" kern="1200" dirty="0"/>
        </a:p>
      </dsp:txBody>
      <dsp:txXfrm>
        <a:off x="1988882" y="1613867"/>
        <a:ext cx="1488520" cy="1304775"/>
      </dsp:txXfrm>
    </dsp:sp>
    <dsp:sp modelId="{E2E1B3D5-626C-4984-B966-96AB737EB32D}">
      <dsp:nvSpPr>
        <dsp:cNvPr id="0" name=""/>
        <dsp:cNvSpPr/>
      </dsp:nvSpPr>
      <dsp:spPr>
        <a:xfrm>
          <a:off x="3196549" y="999855"/>
          <a:ext cx="280852" cy="280852"/>
        </a:xfrm>
        <a:prstGeom prst="triangle">
          <a:avLst>
            <a:gd name="adj" fmla="val 100000"/>
          </a:avLst>
        </a:prstGeom>
        <a:solidFill>
          <a:srgbClr val="244F9A">
            <a:alpha val="60000"/>
          </a:srgbClr>
        </a:solidFill>
        <a:ln w="12700" cap="flat" cmpd="sng" algn="ctr">
          <a:solidFill>
            <a:schemeClr val="accent1">
              <a:shade val="80000"/>
              <a:hueOff val="174641"/>
              <a:satOff val="-3128"/>
              <a:lumOff val="1329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88D8255-18CE-4518-9174-DEB3D03C550D}">
      <dsp:nvSpPr>
        <dsp:cNvPr id="0" name=""/>
        <dsp:cNvSpPr/>
      </dsp:nvSpPr>
      <dsp:spPr>
        <a:xfrm rot="5400000">
          <a:off x="3976521" y="670324"/>
          <a:ext cx="990861" cy="1648771"/>
        </a:xfrm>
        <a:prstGeom prst="corner">
          <a:avLst>
            <a:gd name="adj1" fmla="val 16120"/>
            <a:gd name="adj2" fmla="val 16110"/>
          </a:avLst>
        </a:prstGeom>
        <a:solidFill>
          <a:srgbClr val="244F9A">
            <a:alpha val="60000"/>
          </a:srgbClr>
        </a:solidFill>
        <a:ln w="12700" cap="flat" cmpd="sng" algn="ctr">
          <a:solidFill>
            <a:schemeClr val="accent1">
              <a:shade val="80000"/>
              <a:hueOff val="232855"/>
              <a:satOff val="-4171"/>
              <a:lumOff val="1772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98D4C6B-62CE-4CE4-91E9-7E9EB1E1C398}">
      <dsp:nvSpPr>
        <dsp:cNvPr id="0" name=""/>
        <dsp:cNvSpPr/>
      </dsp:nvSpPr>
      <dsp:spPr>
        <a:xfrm>
          <a:off x="3811121" y="1162952"/>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3-6</a:t>
          </a:r>
        </a:p>
        <a:p>
          <a:pPr marL="0" lvl="0" indent="0" algn="l" defTabSz="577850">
            <a:lnSpc>
              <a:spcPct val="90000"/>
            </a:lnSpc>
            <a:spcBef>
              <a:spcPct val="0"/>
            </a:spcBef>
            <a:spcAft>
              <a:spcPct val="35000"/>
            </a:spcAft>
            <a:buNone/>
          </a:pPr>
          <a:r>
            <a:rPr lang="en-US" sz="1300" b="0" kern="1200" dirty="0"/>
            <a:t>Sales &amp; Mkg.</a:t>
          </a:r>
        </a:p>
        <a:p>
          <a:pPr marL="0" lvl="0" indent="0" algn="l" defTabSz="577850">
            <a:lnSpc>
              <a:spcPct val="90000"/>
            </a:lnSpc>
            <a:spcBef>
              <a:spcPct val="0"/>
            </a:spcBef>
            <a:spcAft>
              <a:spcPct val="35000"/>
            </a:spcAft>
            <a:buNone/>
          </a:pPr>
          <a:r>
            <a:rPr lang="en-US" sz="1300" b="0" kern="1200" dirty="0"/>
            <a:t>Hire Sales Executive</a:t>
          </a:r>
        </a:p>
      </dsp:txBody>
      <dsp:txXfrm>
        <a:off x="3811121" y="1162952"/>
        <a:ext cx="1488520" cy="1304775"/>
      </dsp:txXfrm>
    </dsp:sp>
    <dsp:sp modelId="{C472BF19-FDA3-4EC5-AD0C-1C04B1D94EC9}">
      <dsp:nvSpPr>
        <dsp:cNvPr id="0" name=""/>
        <dsp:cNvSpPr/>
      </dsp:nvSpPr>
      <dsp:spPr>
        <a:xfrm>
          <a:off x="5018789" y="548940"/>
          <a:ext cx="280852" cy="280852"/>
        </a:xfrm>
        <a:prstGeom prst="triangle">
          <a:avLst>
            <a:gd name="adj" fmla="val 100000"/>
          </a:avLst>
        </a:prstGeom>
        <a:solidFill>
          <a:srgbClr val="244F9A">
            <a:alpha val="40000"/>
          </a:srgbClr>
        </a:solidFill>
        <a:ln w="12700" cap="flat" cmpd="sng" algn="ctr">
          <a:solidFill>
            <a:schemeClr val="accent1">
              <a:shade val="80000"/>
              <a:hueOff val="291069"/>
              <a:satOff val="-5213"/>
              <a:lumOff val="2215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7966FFF-E62A-4DBC-B29D-25E2B05997AB}">
      <dsp:nvSpPr>
        <dsp:cNvPr id="0" name=""/>
        <dsp:cNvSpPr/>
      </dsp:nvSpPr>
      <dsp:spPr>
        <a:xfrm rot="5400000">
          <a:off x="5798761" y="219409"/>
          <a:ext cx="990861" cy="1648771"/>
        </a:xfrm>
        <a:prstGeom prst="corner">
          <a:avLst>
            <a:gd name="adj1" fmla="val 16120"/>
            <a:gd name="adj2" fmla="val 16110"/>
          </a:avLst>
        </a:prstGeom>
        <a:solidFill>
          <a:srgbClr val="244F9A">
            <a:alpha val="40000"/>
          </a:srgbClr>
        </a:solidFill>
        <a:ln w="12700" cap="flat" cmpd="sng" algn="ctr">
          <a:solidFill>
            <a:schemeClr val="accent1">
              <a:shade val="80000"/>
              <a:hueOff val="349283"/>
              <a:satOff val="-6256"/>
              <a:lumOff val="2658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247AD9B-A3F5-425E-903D-1FEBBA4D2840}">
      <dsp:nvSpPr>
        <dsp:cNvPr id="0" name=""/>
        <dsp:cNvSpPr/>
      </dsp:nvSpPr>
      <dsp:spPr>
        <a:xfrm>
          <a:off x="5633361" y="712037"/>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6 TO 8</a:t>
          </a:r>
        </a:p>
        <a:p>
          <a:pPr marL="0" lvl="0" indent="0" algn="l" defTabSz="577850">
            <a:lnSpc>
              <a:spcPct val="90000"/>
            </a:lnSpc>
            <a:spcBef>
              <a:spcPct val="0"/>
            </a:spcBef>
            <a:spcAft>
              <a:spcPct val="35000"/>
            </a:spcAft>
            <a:buNone/>
          </a:pPr>
          <a:r>
            <a:rPr lang="en-US" sz="1300" b="1" kern="1200" dirty="0">
              <a:solidFill>
                <a:srgbClr val="000B2E"/>
              </a:solidFill>
            </a:rPr>
            <a:t>GO LIVE!!</a:t>
          </a:r>
        </a:p>
      </dsp:txBody>
      <dsp:txXfrm>
        <a:off x="5633361" y="712037"/>
        <a:ext cx="1488520" cy="1304775"/>
      </dsp:txXfrm>
    </dsp:sp>
  </dsp:spTree>
</dsp:drawing>
</file>

<file path=ppt/diagrams/layout1.xml><?xml version="1.0" encoding="utf-8"?>
<dgm:layoutDef xmlns:dgm="http://schemas.openxmlformats.org/drawingml/2006/diagram" xmlns:a="http://schemas.openxmlformats.org/drawingml/2006/main" uniqueId="urn:microsoft.com/office/officeart/2005/8/layout/venn2">
  <dgm:title val=""/>
  <dgm:desc val=""/>
  <dgm:catLst>
    <dgm:cat type="relationship" pri="30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resizeHandles val="exact"/>
    </dgm:varLst>
    <dgm:alg type="composite">
      <dgm:param type="ar" val="1"/>
    </dgm:alg>
    <dgm:shape xmlns:r="http://schemas.openxmlformats.org/officeDocument/2006/relationships" r:blip="">
      <dgm:adjLst/>
    </dgm:shape>
    <dgm:presOf/>
    <dgm:choose name="Name1">
      <dgm:if name="Name2" axis="ch" ptType="node" func="cnt" op="lte" val="3">
        <dgm:constrLst>
          <dgm:constr type="w" for="ch" forName="comp1" refType="w"/>
          <dgm:constr type="h" for="ch" forName="comp1" refType="w" refFor="ch" refForName="comp1"/>
          <dgm:constr type="w" for="ch" forName="comp2" refType="w" fact="0.75"/>
          <dgm:constr type="h" for="ch" forName="comp2" refType="w" refFor="ch" refForName="comp2"/>
          <dgm:constr type="ctrX" for="ch" forName="comp2" refType="ctrX" refFor="ch" refForName="comp1"/>
          <dgm:constr type="b" for="ch" forName="comp2" refType="b" refFor="ch" refForName="comp1"/>
          <dgm:constr type="w" for="ch" forName="comp3" refType="w" fact="0.5"/>
          <dgm:constr type="h" for="ch" forName="comp3" refType="w" refFor="ch" refForName="comp3"/>
          <dgm:constr type="ctrX" for="ch" forName="comp3" refType="ctrX" refFor="ch" refForName="comp1"/>
          <dgm:constr type="b" for="ch" forName="comp3" refType="b" refFor="ch" refForName="comp1"/>
          <dgm:constr type="primFontSz" for="des" ptType="node" op="equ" val="65"/>
        </dgm:constrLst>
      </dgm:if>
      <dgm:if name="Name3" axis="ch" ptType="node" func="cnt" op="equ" val="4">
        <dgm:constrLst>
          <dgm:constr type="w" for="ch" forName="comp1" refType="w"/>
          <dgm:constr type="h" for="ch" forName="comp1" refType="w" refFor="ch" refForName="comp1"/>
          <dgm:constr type="w" for="ch" forName="comp2" refType="w" fact="0.8"/>
          <dgm:constr type="h" for="ch" forName="comp2" refType="w" refFor="ch" refForName="comp2"/>
          <dgm:constr type="ctrX" for="ch" forName="comp2" refType="ctrX" refFor="ch" refForName="comp1"/>
          <dgm:constr type="b" for="ch" forName="comp2" refType="b" refFor="ch" refForName="comp1"/>
          <dgm:constr type="w" for="ch" forName="comp3" refType="w" fact="0.6"/>
          <dgm:constr type="h" for="ch" forName="comp3" refType="w" refFor="ch" refForName="comp3"/>
          <dgm:constr type="ctrX" for="ch" forName="comp3" refType="ctrX" refFor="ch" refForName="comp1"/>
          <dgm:constr type="b" for="ch" forName="comp3" refType="b" refFor="ch" refForName="comp1"/>
          <dgm:constr type="w" for="ch" forName="comp4" refType="w" fact="0.4"/>
          <dgm:constr type="h" for="ch" forName="comp4" refType="w" refFor="ch" refForName="comp4"/>
          <dgm:constr type="ctrX" for="ch" forName="comp4" refType="ctrX" refFor="ch" refForName="comp1"/>
          <dgm:constr type="b" for="ch" forName="comp4" refType="b" refFor="ch" refForName="comp1"/>
          <dgm:constr type="primFontSz" for="des" ptType="node" op="equ" val="65"/>
        </dgm:constrLst>
      </dgm:if>
      <dgm:else name="Name4">
        <dgm:constrLst>
          <dgm:constr type="w" for="ch" forName="comp1" refType="w"/>
          <dgm:constr type="h" for="ch" forName="comp1" refType="w" refFor="ch" refForName="comp1"/>
          <dgm:constr type="w" for="ch" forName="comp2" refType="w" fact="0.85"/>
          <dgm:constr type="h" for="ch" forName="comp2" refType="w" refFor="ch" refForName="comp2"/>
          <dgm:constr type="ctrX" for="ch" forName="comp2" refType="ctrX" refFor="ch" refForName="comp1"/>
          <dgm:constr type="b" for="ch" forName="comp2" refType="b" refFor="ch" refForName="comp1"/>
          <dgm:constr type="w" for="ch" forName="comp3" refType="w" fact="0.7"/>
          <dgm:constr type="h" for="ch" forName="comp3" refType="w" refFor="ch" refForName="comp3"/>
          <dgm:constr type="ctrX" for="ch" forName="comp3" refType="ctrX" refFor="ch" refForName="comp1"/>
          <dgm:constr type="b" for="ch" forName="comp3" refType="b" refFor="ch" refForName="comp1"/>
          <dgm:constr type="w" for="ch" forName="comp4" refType="w" fact="0.55"/>
          <dgm:constr type="h" for="ch" forName="comp4" refType="w" refFor="ch" refForName="comp4"/>
          <dgm:constr type="ctrX" for="ch" forName="comp4" refType="ctrX" refFor="ch" refForName="comp1"/>
          <dgm:constr type="b" for="ch" forName="comp4" refType="b" refFor="ch" refForName="comp1"/>
          <dgm:constr type="w" for="ch" forName="comp5" refType="w" fact="0.4"/>
          <dgm:constr type="h" for="ch" forName="comp5" refType="w" refFor="ch" refForName="comp5"/>
          <dgm:constr type="ctrX" for="ch" forName="comp5" refType="ctrX" refFor="ch" refForName="comp1"/>
          <dgm:constr type="b" for="ch" forName="comp5" refType="b" refFor="ch" refForName="comp1"/>
          <dgm:constr type="w" for="ch" forName="comp6" refType="w" fact="0.25"/>
          <dgm:constr type="h" for="ch" forName="comp6" refType="w" refFor="ch" refForName="comp6"/>
          <dgm:constr type="ctrX" for="ch" forName="comp6" refType="ctrX" refFor="ch" refForName="comp1"/>
          <dgm:constr type="b" for="ch" forName="comp6" refType="b" refFor="ch" refForName="comp1"/>
          <dgm:constr type="w" for="ch" forName="comp7" refType="w" fact="0.15"/>
          <dgm:constr type="h" for="ch" forName="comp7" refType="w" refFor="ch" refForName="comp7"/>
          <dgm:constr type="ctrX" for="ch" forName="comp7" refType="ctrX" refFor="ch" refForName="comp1"/>
          <dgm:constr type="b" for="ch" forName="comp7" refType="b" refFor="ch" refForName="comp1"/>
          <dgm:constr type="primFontSz" for="des" ptType="node" op="equ" val="65"/>
        </dgm:constrLst>
      </dgm:else>
    </dgm:choose>
    <dgm:ruleLst/>
    <dgm:choose name="Name5">
      <dgm:if name="Name6" axis="ch" ptType="node" func="cnt" op="gte" val="1">
        <dgm:layoutNode name="comp1">
          <dgm:alg type="composite"/>
          <dgm:shape xmlns:r="http://schemas.openxmlformats.org/officeDocument/2006/relationships" r:blip="">
            <dgm:adjLst/>
          </dgm:shape>
          <dgm:presOf/>
          <dgm:choose name="Name7">
            <dgm:if name="Name8" axis="ch" ptType="node" func="cnt" op="equ" val="1">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5"/>
                <dgm:constr type="w" for="ch" forName="c1text" refType="w" refFor="ch" refForName="circle1" fact="0.70711"/>
                <dgm:constr type="h" for="ch" forName="c1text" refType="h" refFor="ch" refForName="circle1" fact="0.5"/>
              </dgm:constrLst>
            </dgm:if>
            <dgm:if name="Name9" axis="ch" ptType="node" func="cnt" op="equ" val="2">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6"/>
                <dgm:constr type="w" for="ch" forName="c1text" refType="w" refFor="ch" refForName="circle1" fact="0.525"/>
                <dgm:constr type="h" for="ch" forName="c1text" refType="h" refFor="ch" refForName="circle1" fact="0.17"/>
              </dgm:constrLst>
            </dgm:if>
            <dgm:if name="Name10" axis="ch" ptType="node" func="cnt" op="equ" val="3">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3495"/>
                <dgm:constr type="h" for="ch" forName="c1text" refType="h" refFor="ch" refForName="circle1" fact="0.15"/>
              </dgm:constrLst>
            </dgm:if>
            <dgm:if name="Name11" axis="ch" ptType="node" func="cnt" op="equ" val="4">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2796"/>
                <dgm:constr type="h" for="ch" forName="c1text" refType="h" refFor="ch" refForName="circle1" fact="0.15"/>
              </dgm:constrLst>
            </dgm:if>
            <dgm:if name="Name12" axis="ch" ptType="node" func="cnt" op="gte" val="5">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
                <dgm:constr type="w" for="ch" forName="c1text" refType="w" refFor="ch" refForName="circle1" fact="0.375"/>
                <dgm:constr type="h" for="ch" forName="c1text" refType="h" refFor="ch" refForName="circle1" fact="0.1"/>
              </dgm:constrLst>
            </dgm:if>
            <dgm:else name="Name13"/>
          </dgm:choose>
          <dgm:ruleLst/>
          <dgm:layoutNode name="circle1" styleLbl="node1">
            <dgm:alg type="sp"/>
            <dgm:shape xmlns:r="http://schemas.openxmlformats.org/officeDocument/2006/relationships" type="ellipse" r:blip="">
              <dgm:adjLst/>
            </dgm:shape>
            <dgm:presOf axis="ch desOrSelf" ptType="node node" st="1 1" cnt="1 0"/>
            <dgm:constrLst>
              <dgm:constr type="h" refType="w"/>
            </dgm:constrLst>
            <dgm:ruleLst/>
          </dgm:layoutNode>
          <dgm:layoutNode name="c1text">
            <dgm:varLst>
              <dgm:bulletEnabled val="1"/>
            </dgm:varLst>
            <dgm:alg type="tx"/>
            <dgm:shape xmlns:r="http://schemas.openxmlformats.org/officeDocument/2006/relationships" type="rect" r:blip="" hideGeom="1">
              <dgm:adjLst/>
            </dgm:shape>
            <dgm:presOf axis="ch desOrSelf" ptType="node node" st="1 1" cnt="1 0"/>
            <dgm:constrLst/>
            <dgm:ruleLst>
              <dgm:rule type="primFontSz" val="5" fact="NaN" max="NaN"/>
            </dgm:ruleLst>
          </dgm:layoutNode>
        </dgm:layoutNode>
      </dgm:if>
      <dgm:else name="Name14"/>
    </dgm:choose>
    <dgm:choose name="Name15">
      <dgm:if name="Name16" axis="ch" ptType="node" func="cnt" op="gte" val="2">
        <dgm:layoutNode name="comp2">
          <dgm:alg type="composite"/>
          <dgm:shape xmlns:r="http://schemas.openxmlformats.org/officeDocument/2006/relationships" r:blip="">
            <dgm:adjLst/>
          </dgm:shape>
          <dgm:presOf/>
          <dgm:choose name="Name17">
            <dgm:if name="Name18" axis="ch" ptType="node" func="cnt" op="equ" val="2">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5"/>
                <dgm:constr type="w" for="ch" forName="c2text" refType="w" refFor="ch" refForName="circle2" fact="0.70711"/>
                <dgm:constr type="h" for="ch" forName="c2text" refType="h" refFor="ch" refForName="circle2" fact="0.5"/>
              </dgm:constrLst>
            </dgm:if>
            <dgm:if name="Name19" axis="ch" ptType="node" func="cnt" op="equ" val="3">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625"/>
                <dgm:constr type="w" for="ch" forName="c2text" refType="w" refFor="ch" refForName="circle2" fact="0.466"/>
                <dgm:constr type="h" for="ch" forName="c2text" refType="h" refFor="ch" refForName="circle2" fact="0.1875"/>
              </dgm:constrLst>
            </dgm:if>
            <dgm:if name="Name20" axis="ch" ptType="node" func="cnt" op="equ" val="4">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
                <dgm:constr type="w" for="ch" forName="c2text" refType="w" refFor="ch" refForName="circle2" fact="0.3495"/>
                <dgm:constr type="h" for="ch" forName="c2text" refType="h" refFor="ch" refForName="circle2" fact="0.18"/>
              </dgm:constrLst>
            </dgm:if>
            <dgm:if name="Name21" axis="ch" ptType="node" func="cnt" op="gte" val="5">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15"/>
                <dgm:constr type="w" for="ch" forName="c2text" refType="w" refFor="ch" refForName="circle2" fact="0.43125"/>
                <dgm:constr type="h" for="ch" forName="c2text" refType="h" refFor="ch" refForName="circle2" fact="0.115"/>
              </dgm:constrLst>
            </dgm:if>
            <dgm:else name="Name22"/>
          </dgm:choose>
          <dgm:ruleLst/>
          <dgm:layoutNode name="circle2" styleLbl="node1">
            <dgm:alg type="sp"/>
            <dgm:shape xmlns:r="http://schemas.openxmlformats.org/officeDocument/2006/relationships" type="ellipse" r:blip="">
              <dgm:adjLst/>
            </dgm:shape>
            <dgm:presOf axis="ch desOrSelf" ptType="node node" st="2 1" cnt="1 0"/>
            <dgm:constrLst>
              <dgm:constr type="h" refType="w"/>
            </dgm:constrLst>
            <dgm:ruleLst/>
          </dgm:layoutNode>
          <dgm:layoutNode name="c2text">
            <dgm:varLst>
              <dgm:bulletEnabled val="1"/>
            </dgm:varLst>
            <dgm:alg type="tx"/>
            <dgm:shape xmlns:r="http://schemas.openxmlformats.org/officeDocument/2006/relationships" type="rect" r:blip="" hideGeom="1">
              <dgm:adjLst/>
            </dgm:shape>
            <dgm:presOf axis="ch desOrSelf" ptType="node node" st="2 1" cnt="1 0"/>
            <dgm:constrLst/>
            <dgm:ruleLst>
              <dgm:rule type="primFontSz" val="5" fact="NaN" max="NaN"/>
            </dgm:ruleLst>
          </dgm:layoutNode>
        </dgm:layoutNode>
      </dgm:if>
      <dgm:else name="Name23"/>
    </dgm:choose>
    <dgm:choose name="Name24">
      <dgm:if name="Name25" axis="ch" ptType="node" func="cnt" op="gte" val="3">
        <dgm:layoutNode name="comp3">
          <dgm:alg type="composite"/>
          <dgm:shape xmlns:r="http://schemas.openxmlformats.org/officeDocument/2006/relationships" r:blip="">
            <dgm:adjLst/>
          </dgm:shape>
          <dgm:presOf/>
          <dgm:choose name="Name26">
            <dgm:if name="Name27" axis="ch" ptType="node" func="cnt" op="equ" val="3">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5"/>
                <dgm:constr type="w" for="ch" forName="c3text" refType="w" refFor="ch" refForName="circle3" fact="0.70711"/>
                <dgm:constr type="h" for="ch" forName="c3text" refType="h" refFor="ch" refForName="circle3" fact="0.5"/>
              </dgm:constrLst>
            </dgm:if>
            <dgm:if name="Name28" axis="ch" ptType="node" func="cnt" op="equ" val="4">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875"/>
                <dgm:constr type="w" for="ch" forName="c3text" refType="w" refFor="ch" refForName="circle3" fact="0.466"/>
                <dgm:constr type="h" for="ch" forName="c3text" refType="h" refFor="ch" refForName="circle3" fact="0.225"/>
              </dgm:constrLst>
            </dgm:if>
            <dgm:if name="Name29" axis="ch" ptType="node" func="cnt" op="gte" val="5">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38"/>
                <dgm:constr type="w" for="ch" forName="c3text" refType="w" refFor="ch" refForName="circle3" fact="0.5175"/>
                <dgm:constr type="h" for="ch" forName="c3text" refType="h" refFor="ch" refForName="circle3" fact="0.138"/>
              </dgm:constrLst>
            </dgm:if>
            <dgm:else name="Name30"/>
          </dgm:choose>
          <dgm:ruleLst/>
          <dgm:layoutNode name="circle3" styleLbl="node1">
            <dgm:alg type="sp"/>
            <dgm:shape xmlns:r="http://schemas.openxmlformats.org/officeDocument/2006/relationships" type="ellipse" r:blip="">
              <dgm:adjLst/>
            </dgm:shape>
            <dgm:presOf axis="ch desOrSelf" ptType="node node" st="3 1" cnt="1 0"/>
            <dgm:constrLst>
              <dgm:constr type="h" refType="w"/>
            </dgm:constrLst>
            <dgm:ruleLst/>
          </dgm:layoutNode>
          <dgm:layoutNode name="c3text">
            <dgm:varLst>
              <dgm:bulletEnabled val="1"/>
            </dgm:varLst>
            <dgm:alg type="tx"/>
            <dgm:shape xmlns:r="http://schemas.openxmlformats.org/officeDocument/2006/relationships" type="rect" r:blip="" hideGeom="1">
              <dgm:adjLst/>
            </dgm:shape>
            <dgm:presOf axis="ch desOrSelf" ptType="node node" st="3 1" cnt="1 0"/>
            <dgm:constrLst/>
            <dgm:ruleLst>
              <dgm:rule type="primFontSz" val="5" fact="NaN" max="NaN"/>
            </dgm:ruleLst>
          </dgm:layoutNode>
        </dgm:layoutNode>
      </dgm:if>
      <dgm:else name="Name31"/>
    </dgm:choose>
    <dgm:choose name="Name32">
      <dgm:if name="Name33" axis="ch" ptType="node" func="cnt" op="gte" val="4">
        <dgm:layoutNode name="comp4">
          <dgm:alg type="composite"/>
          <dgm:shape xmlns:r="http://schemas.openxmlformats.org/officeDocument/2006/relationships" r:blip="">
            <dgm:adjLst/>
          </dgm:shape>
          <dgm:presOf/>
          <dgm:choose name="Name34">
            <dgm:if name="Name35" axis="ch" ptType="node" func="cnt" op="equ" val="4">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5"/>
                <dgm:constr type="w" for="ch" forName="c4text" refType="w" refFor="ch" refForName="circle4" fact="0.70711"/>
                <dgm:constr type="h" for="ch" forName="c4text" refType="h" refFor="ch" refForName="circle4" fact="0.5"/>
              </dgm:constrLst>
            </dgm:if>
            <dgm:if name="Name36" axis="ch" ptType="node" func="cnt" op="gte" val="5">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18"/>
                <dgm:constr type="w" for="ch" forName="c4text" refType="w" refFor="ch" refForName="circle4" fact="0.54"/>
                <dgm:constr type="h" for="ch" forName="c4text" refType="h" refFor="ch" refForName="circle4" fact="0.18"/>
              </dgm:constrLst>
            </dgm:if>
            <dgm:else name="Name37"/>
          </dgm:choose>
          <dgm:ruleLst/>
          <dgm:layoutNode name="circle4" styleLbl="node1">
            <dgm:alg type="sp"/>
            <dgm:shape xmlns:r="http://schemas.openxmlformats.org/officeDocument/2006/relationships" type="ellipse" r:blip="">
              <dgm:adjLst/>
            </dgm:shape>
            <dgm:presOf axis="ch desOrSelf" ptType="node node" st="4 1" cnt="1 0"/>
            <dgm:constrLst>
              <dgm:constr type="h" refType="w"/>
            </dgm:constrLst>
            <dgm:ruleLst/>
          </dgm:layoutNode>
          <dgm:layoutNode name="c4text">
            <dgm:varLst>
              <dgm:bulletEnabled val="1"/>
            </dgm:varLst>
            <dgm:alg type="tx"/>
            <dgm:shape xmlns:r="http://schemas.openxmlformats.org/officeDocument/2006/relationships" type="rect" r:blip="" hideGeom="1">
              <dgm:adjLst/>
            </dgm:shape>
            <dgm:presOf axis="ch desOrSelf" ptType="node node" st="4 1" cnt="1 0"/>
            <dgm:constrLst/>
            <dgm:ruleLst>
              <dgm:rule type="primFontSz" val="5" fact="NaN" max="NaN"/>
            </dgm:ruleLst>
          </dgm:layoutNode>
        </dgm:layoutNode>
      </dgm:if>
      <dgm:else name="Name38"/>
    </dgm:choose>
    <dgm:choose name="Name39">
      <dgm:if name="Name40" axis="ch" ptType="node" func="cnt" op="gte" val="5">
        <dgm:layoutNode name="comp5">
          <dgm:alg type="composite"/>
          <dgm:shape xmlns:r="http://schemas.openxmlformats.org/officeDocument/2006/relationships" r:blip="">
            <dgm:adjLst/>
          </dgm:shape>
          <dgm:presOf/>
          <dgm:choose name="Name41">
            <dgm:if name="Name42" axis="ch" ptType="node" func="cnt" op="equ" val="5">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5"/>
                <dgm:constr type="w" for="ch" forName="c5text" refType="w" refFor="ch" refForName="circle5" fact="0.70711"/>
                <dgm:constr type="h" for="ch" forName="c5text" refType="h" refFor="ch" refForName="circle5" fact="0.5"/>
              </dgm:constrLst>
            </dgm:if>
            <dgm:if name="Name43" axis="ch" ptType="node" func="cnt" op="gte" val="6">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25"/>
                <dgm:constr type="w" for="ch" forName="c5text" refType="w" refFor="ch" refForName="circle5" fact="0.65"/>
                <dgm:constr type="h" for="ch" forName="c5text" refType="h" refFor="ch" refForName="circle5" fact="0.25"/>
              </dgm:constrLst>
            </dgm:if>
            <dgm:else name="Name44"/>
          </dgm:choose>
          <dgm:ruleLst/>
          <dgm:layoutNode name="circle5" styleLbl="node1">
            <dgm:alg type="sp"/>
            <dgm:shape xmlns:r="http://schemas.openxmlformats.org/officeDocument/2006/relationships" type="ellipse" r:blip="">
              <dgm:adjLst/>
            </dgm:shape>
            <dgm:presOf axis="ch desOrSelf" ptType="node node" st="5 1" cnt="1 0"/>
            <dgm:constrLst>
              <dgm:constr type="h" refType="w"/>
            </dgm:constrLst>
            <dgm:ruleLst/>
          </dgm:layoutNode>
          <dgm:layoutNode name="c5text">
            <dgm:varLst>
              <dgm:bulletEnabled val="1"/>
            </dgm:varLst>
            <dgm:alg type="tx"/>
            <dgm:shape xmlns:r="http://schemas.openxmlformats.org/officeDocument/2006/relationships" type="rect" r:blip="" hideGeom="1">
              <dgm:adjLst/>
            </dgm:shape>
            <dgm:presOf axis="ch desOrSelf" ptType="node node" st="5 1" cnt="1 0"/>
            <dgm:constrLst/>
            <dgm:ruleLst>
              <dgm:rule type="primFontSz" val="5" fact="NaN" max="NaN"/>
            </dgm:ruleLst>
          </dgm:layoutNode>
        </dgm:layoutNode>
      </dgm:if>
      <dgm:else name="Name45"/>
    </dgm:choose>
    <dgm:choose name="Name46">
      <dgm:if name="Name47" axis="ch" ptType="node" func="cnt" op="gte" val="6">
        <dgm:layoutNode name="comp6">
          <dgm:alg type="composite"/>
          <dgm:shape xmlns:r="http://schemas.openxmlformats.org/officeDocument/2006/relationships" r:blip="">
            <dgm:adjLst/>
          </dgm:shape>
          <dgm:presOf/>
          <dgm:choose name="Name48">
            <dgm:if name="Name49" axis="ch" ptType="node" func="cnt" op="equ" val="6">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5"/>
                <dgm:constr type="w" for="ch" forName="c6text" refType="w" refFor="ch" refForName="circle6" fact="0.70711"/>
                <dgm:constr type="h" for="ch" forName="c6text" refType="h" refFor="ch" refForName="circle6" fact="0.5"/>
              </dgm:constrLst>
            </dgm:if>
            <dgm:if name="Name50" axis="ch" ptType="node" func="cnt" op="gte" val="7">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27"/>
                <dgm:constr type="w" for="ch" forName="c6text" refType="w" refFor="ch" refForName="circle6" fact="0.68"/>
                <dgm:constr type="h" for="ch" forName="c6text" refType="h" refFor="ch" refForName="circle6" fact="0.241"/>
              </dgm:constrLst>
            </dgm:if>
            <dgm:else name="Name51"/>
          </dgm:choose>
          <dgm:ruleLst/>
          <dgm:layoutNode name="circle6" styleLbl="node1">
            <dgm:alg type="sp"/>
            <dgm:shape xmlns:r="http://schemas.openxmlformats.org/officeDocument/2006/relationships" type="ellipse" r:blip="">
              <dgm:adjLst/>
            </dgm:shape>
            <dgm:presOf axis="ch desOrSelf" ptType="node node" st="6 1" cnt="1 0"/>
            <dgm:constrLst>
              <dgm:constr type="h" refType="w"/>
            </dgm:constrLst>
            <dgm:ruleLst/>
          </dgm:layoutNode>
          <dgm:layoutNode name="c6text">
            <dgm:varLst>
              <dgm:bulletEnabled val="1"/>
            </dgm:varLst>
            <dgm:alg type="tx"/>
            <dgm:shape xmlns:r="http://schemas.openxmlformats.org/officeDocument/2006/relationships" type="rect" r:blip="" hideGeom="1">
              <dgm:adjLst/>
            </dgm:shape>
            <dgm:presOf axis="ch desOrSelf" ptType="node node" st="6 1" cnt="1 0"/>
            <dgm:constrLst/>
            <dgm:ruleLst>
              <dgm:rule type="primFontSz" val="5" fact="NaN" max="NaN"/>
            </dgm:ruleLst>
          </dgm:layoutNode>
        </dgm:layoutNode>
      </dgm:if>
      <dgm:else name="Name52"/>
    </dgm:choose>
    <dgm:choose name="Name53">
      <dgm:if name="Name54" axis="ch" ptType="node" func="cnt" op="gte" val="7">
        <dgm:layoutNode name="comp7">
          <dgm:alg type="composite"/>
          <dgm:shape xmlns:r="http://schemas.openxmlformats.org/officeDocument/2006/relationships" r:blip="">
            <dgm:adjLst/>
          </dgm:shape>
          <dgm:presOf/>
          <dgm:constrLst>
            <dgm:constr type="w" for="ch" forName="circle7" refType="w"/>
            <dgm:constr type="h" for="ch" forName="circle7" refType="h"/>
            <dgm:constr type="ctrX" for="ch" forName="circle7" refType="w" fact="0.5"/>
            <dgm:constr type="ctrY" for="ch" forName="circle7" refType="h" fact="0.5"/>
            <dgm:constr type="ctrX" for="ch" forName="c7text" refType="w" fact="0.5"/>
            <dgm:constr type="ctrY" for="ch" forName="c7text" refType="h" fact="0.5"/>
            <dgm:constr type="w" for="ch" forName="c7text" refType="w" refFor="ch" refForName="circle7" fact="0.70711"/>
            <dgm:constr type="h" for="ch" forName="c7text" refType="h" refFor="ch" refForName="circle7" fact="0.5"/>
          </dgm:constrLst>
          <dgm:ruleLst/>
          <dgm:layoutNode name="circle7" styleLbl="node1">
            <dgm:alg type="sp"/>
            <dgm:shape xmlns:r="http://schemas.openxmlformats.org/officeDocument/2006/relationships" type="ellipse" r:blip="">
              <dgm:adjLst/>
            </dgm:shape>
            <dgm:presOf axis="ch desOrSelf" ptType="node node" st="7 1" cnt="1 0"/>
            <dgm:constrLst>
              <dgm:constr type="h" refType="w"/>
            </dgm:constrLst>
            <dgm:ruleLst/>
          </dgm:layoutNode>
          <dgm:layoutNode name="c7text">
            <dgm:varLst>
              <dgm:bulletEnabled val="1"/>
            </dgm:varLst>
            <dgm:alg type="tx"/>
            <dgm:shape xmlns:r="http://schemas.openxmlformats.org/officeDocument/2006/relationships" type="rect" r:blip="" hideGeom="1">
              <dgm:adjLst/>
            </dgm:shape>
            <dgm:presOf axis="ch desOrSelf" ptType="node node" st="7 1" cnt="1 0"/>
            <dgm:constrLst/>
            <dgm:ruleLst>
              <dgm:rule type="primFontSz" val="5" fact="NaN" max="NaN"/>
            </dgm:ruleLst>
          </dgm:layoutNode>
        </dgm:layoutNode>
      </dgm:if>
      <dgm:else name="Name55"/>
    </dgm:choose>
  </dgm:layoutNode>
</dgm:layoutDef>
</file>

<file path=ppt/diagrams/layout2.xml><?xml version="1.0" encoding="utf-8"?>
<dgm:layoutDef xmlns:dgm="http://schemas.openxmlformats.org/drawingml/2006/diagram" xmlns:a="http://schemas.openxmlformats.org/drawingml/2006/main" uniqueId="urn:microsoft.com/office/officeart/2005/8/layout/bList2">
  <dgm:title val=""/>
  <dgm:desc val=""/>
  <dgm:catLst>
    <dgm:cat type="list" pri="7000"/>
    <dgm:cat type="convert" pri="16000"/>
    <dgm:cat type="picture" pri="28000"/>
    <dgm:cat type="pictureconvert" pri="28000"/>
  </dgm:catLst>
  <dgm:sampData useDef="1">
    <dgm:dataModel>
      <dgm:pt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dir/>
      <dgm:animLvl val="lvl"/>
      <dgm:resizeHandles val="exact"/>
    </dgm:varLst>
    <dgm:choose name="Name0">
      <dgm:if name="Name1" axis="self"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compNode" refType="w"/>
      <dgm:constr type="w" for="ch" ptType="sibTrans" refType="w" refFor="ch" refForName="compNode" op="equ" fact="0.08"/>
      <dgm:constr type="sp" refType="w" refFor="ch" refForName="compNode" op="equ" fact="0.16"/>
      <dgm:constr type="primFontSz" for="des" forName="parentText" op="equ" val="65"/>
      <dgm:constr type="primFontSz" for="des" forName="childRect" op="equ" val="65"/>
    </dgm:constrLst>
    <dgm:ruleLst/>
    <dgm:forEach name="nodesForEach" axis="ch" ptType="node">
      <dgm:layoutNode name="compNode">
        <dgm:alg type="composite">
          <dgm:param type="ar" val="0.943"/>
        </dgm:alg>
        <dgm:shape xmlns:r="http://schemas.openxmlformats.org/officeDocument/2006/relationships" r:blip="">
          <dgm:adjLst/>
        </dgm:shape>
        <dgm:presOf/>
        <dgm:choose name="Name3">
          <dgm:if name="Name4" axis="self" func="var" arg="dir" op="equ" val="norm">
            <dgm:constrLst>
              <dgm:constr type="w" val="1"/>
              <dgm:constr type="h" refType="w" fact="1.06"/>
              <dgm:constr type="h" for="ch" forName="childRect" refType="h" fact="0.65"/>
              <dgm:constr type="w" for="ch" forName="childRect" refType="w" fact="0.923"/>
              <dgm:constr type="l" for="ch" forName="childRect"/>
              <dgm:constr type="t" for="ch" forName="childRect"/>
              <dgm:constr type="w" for="ch" forName="parentText" refType="w" fact="0.65"/>
              <dgm:constr type="h" for="ch" forName="parentText" refType="h" refFor="ch" refForName="childRect" fact="0.43"/>
              <dgm:constr type="l" for="ch" forName="parentText"/>
              <dgm:constr type="t" for="ch" forName="parentText" refType="h" refFor="ch" refForName="childRect"/>
              <dgm:constr type="w" for="ch" forName="parentRect" refType="w" fact="0.923"/>
              <dgm:constr type="h" for="ch" forName="parentRect" refType="h" refFor="ch" refForName="parentText"/>
              <dgm:constr type="l" for="ch" forName="parentRect"/>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r" for="ch" forName="adorn" refType="w"/>
            </dgm:constrLst>
          </dgm:if>
          <dgm:else name="Name5">
            <dgm:constrLst>
              <dgm:constr type="w" val="1"/>
              <dgm:constr type="h" refType="w" fact="1.06"/>
              <dgm:constr type="h" for="ch" forName="childRect" refType="h" fact="0.65"/>
              <dgm:constr type="w" for="ch" forName="childRect" refType="w" fact="0.923"/>
              <dgm:constr type="r" for="ch" forName="childRect" refType="w"/>
              <dgm:constr type="t" for="ch" forName="childRect"/>
              <dgm:constr type="w" for="ch" forName="parentText" refType="w" fact="0.65"/>
              <dgm:constr type="h" for="ch" forName="parentText" refType="h" refFor="ch" refForName="childRect" fact="0.43"/>
              <dgm:constr type="r" for="ch" forName="parentText" refType="w"/>
              <dgm:constr type="t" for="ch" forName="parentText" refType="h" refFor="ch" refForName="childRect"/>
              <dgm:constr type="w" for="ch" forName="parentRect" refType="w" fact="0.923"/>
              <dgm:constr type="h" for="ch" forName="parentRect" refType="h" refFor="ch" refForName="parentText"/>
              <dgm:constr type="r" for="ch" forName="parentRect" refType="w"/>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l" for="ch" forName="adorn"/>
            </dgm:constrLst>
          </dgm:else>
        </dgm:choose>
        <dgm:ruleLst/>
        <dgm:layoutNode name="childRect" styleLbl="bgAcc1">
          <dgm:varLst>
            <dgm:bulletEnabled val="1"/>
          </dgm:varLst>
          <dgm:alg type="tx">
            <dgm:param type="stBulletLvl" val="1"/>
          </dgm:alg>
          <dgm:shape xmlns:r="http://schemas.openxmlformats.org/officeDocument/2006/relationships" type="round2SameRect" r:blip="">
            <dgm:adjLst>
              <dgm:adj idx="1" val="0.08"/>
            </dgm:adjLst>
          </dgm:shape>
          <dgm:presOf axis="des" ptType="node"/>
          <dgm:constrLst>
            <dgm:constr type="secFontSz" refType="primFontSz"/>
            <dgm:constr type="tMarg" refType="primFontSz" fact="0.3"/>
            <dgm:constr type="bMarg" refType="primFontSz" fact="0.1"/>
            <dgm:constr type="lMarg" refType="primFontSz" fact="0.1"/>
            <dgm:constr type="rMarg" refType="primFontSz" fact="0.1"/>
          </dgm:constrLst>
          <dgm:ruleLst>
            <dgm:rule type="primFontSz" val="5" fact="NaN" max="NaN"/>
          </dgm:ruleLst>
        </dgm:layoutNode>
        <dgm:layoutNode name="parentText">
          <dgm:varLst>
            <dgm:chMax val="0"/>
            <dgm:bulletEnabled val="1"/>
          </dgm:varLst>
          <dgm:choose name="Name6">
            <dgm:if name="Name7" func="var" arg="dir" op="equ" val="norm">
              <dgm:alg type="tx">
                <dgm:param type="parTxLTRAlign" val="l"/>
                <dgm:param type="parTxRTLAlign" val="l"/>
              </dgm:alg>
            </dgm:if>
            <dgm:else name="Name8">
              <dgm:alg type="tx">
                <dgm:param type="parTxLTRAlign" val="r"/>
                <dgm:param type="parTxRTLAlign" val="r"/>
              </dgm:alg>
            </dgm:else>
          </dgm:choose>
          <dgm:shape xmlns:r="http://schemas.openxmlformats.org/officeDocument/2006/relationships" type="rect" r:blip="" zOrderOff="1" hideGeom="1">
            <dgm:adjLst/>
          </dgm:shape>
          <dgm:presOf axis="self" ptType="node"/>
          <dgm:constrLst>
            <dgm:constr type="tMarg"/>
            <dgm:constr type="bMarg"/>
            <dgm:constr type="lMarg" refType="primFontSz" fact="0.3"/>
            <dgm:constr type="rMarg" refType="primFontSz" fact="0.1"/>
          </dgm:constrLst>
          <dgm:ruleLst>
            <dgm:rule type="primFontSz" val="5" fact="NaN" max="NaN"/>
          </dgm:ruleLst>
        </dgm:layoutNode>
        <dgm:layoutNode name="parentRect" styleLbl="alignNode1">
          <dgm:alg type="sp"/>
          <dgm:shape xmlns:r="http://schemas.openxmlformats.org/officeDocument/2006/relationships" type="rect" r:blip="">
            <dgm:adjLst/>
          </dgm:shape>
          <dgm:presOf axis="self" ptType="node"/>
          <dgm:constrLst/>
          <dgm:ruleLst/>
        </dgm:layoutNode>
        <dgm:layoutNode name="adorn" styleLbl="fgAccFollowNode1">
          <dgm:alg type="sp"/>
          <dgm:shape xmlns:r="http://schemas.openxmlformats.org/officeDocument/2006/relationships" type="ellipse" r:blip="" blipPhldr="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constr type="w" val="1"/>
            <dgm:constr type="h" refType="w"/>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9/3/layout/StepUpProcess">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bL"/>
          <dgm:param type="flowDir" val="row"/>
          <dgm:param type="off" val="off"/>
          <dgm:param type="bkpt" val="fixed"/>
          <dgm:param type="bkPtFixedVal" val="1"/>
        </dgm:alg>
      </dgm:if>
      <dgm:else name="Name2">
        <dgm:alg type="snake">
          <dgm:param type="grDir" val="bR"/>
          <dgm:param type="flowDir" val="row"/>
          <dgm:param type="off" val="off"/>
          <dgm:param type="bkpt" val="fixed"/>
          <dgm:param type="bkPtFixedVal" val="1"/>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rot="90" type="corner" r:blip="">
                <dgm:adjLst>
                  <dgm:adj idx="1" val="0.1612"/>
                  <dgm:adj idx="2" val="0.1611"/>
                </dgm:adjLst>
              </dgm:shape>
            </dgm:if>
            <dgm:else name="Name8">
              <dgm:shape xmlns:r="http://schemas.openxmlformats.org/officeDocument/2006/relationships" rot="180" type="corner" r:blip="">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rot="90" type="triangle" r:blip="">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1">
  <dgm:title val=""/>
  <dgm:desc val=""/>
  <dgm:catLst>
    <dgm:cat type="3D" pri="11100"/>
  </dgm:catLst>
  <dgm:scene3d>
    <a:camera prst="orthographicFront"/>
    <a:lightRig rig="threePt" dir="t"/>
  </dgm:scene3d>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3"/>
            <a:ext cx="3169920" cy="481726"/>
          </a:xfrm>
          <a:prstGeom prst="rect">
            <a:avLst/>
          </a:prstGeom>
        </p:spPr>
        <p:txBody>
          <a:bodyPr vert="horz" lIns="95178" tIns="47590" rIns="95178" bIns="47590" rtlCol="0"/>
          <a:lstStyle>
            <a:lvl1pPr algn="l">
              <a:defRPr sz="1200"/>
            </a:lvl1pPr>
          </a:lstStyle>
          <a:p>
            <a:endParaRPr lang="en-US" dirty="0"/>
          </a:p>
        </p:txBody>
      </p:sp>
      <p:sp>
        <p:nvSpPr>
          <p:cNvPr id="3" name="Date Placeholder 2"/>
          <p:cNvSpPr>
            <a:spLocks noGrp="1"/>
          </p:cNvSpPr>
          <p:nvPr>
            <p:ph type="dt" idx="1"/>
          </p:nvPr>
        </p:nvSpPr>
        <p:spPr>
          <a:xfrm>
            <a:off x="4143587" y="3"/>
            <a:ext cx="3169920" cy="481726"/>
          </a:xfrm>
          <a:prstGeom prst="rect">
            <a:avLst/>
          </a:prstGeom>
        </p:spPr>
        <p:txBody>
          <a:bodyPr vert="horz" lIns="95178" tIns="47590" rIns="95178" bIns="47590" rtlCol="0"/>
          <a:lstStyle>
            <a:lvl1pPr algn="r">
              <a:defRPr sz="1200"/>
            </a:lvl1pPr>
          </a:lstStyle>
          <a:p>
            <a:fld id="{7444AE22-21A2-46C1-A42F-3B4E8AE858E0}" type="datetimeFigureOut">
              <a:rPr lang="en-US" smtClean="0"/>
              <a:t>9/10/2024</a:t>
            </a:fld>
            <a:endParaRPr lang="en-US" dirty="0"/>
          </a:p>
        </p:txBody>
      </p:sp>
      <p:sp>
        <p:nvSpPr>
          <p:cNvPr id="4" name="Slide Image Placeholder 3"/>
          <p:cNvSpPr>
            <a:spLocks noGrp="1" noRot="1" noChangeAspect="1"/>
          </p:cNvSpPr>
          <p:nvPr>
            <p:ph type="sldImg" idx="2"/>
          </p:nvPr>
        </p:nvSpPr>
        <p:spPr>
          <a:xfrm>
            <a:off x="779463" y="1200150"/>
            <a:ext cx="5756275" cy="3238500"/>
          </a:xfrm>
          <a:prstGeom prst="rect">
            <a:avLst/>
          </a:prstGeom>
          <a:noFill/>
          <a:ln w="12700">
            <a:solidFill>
              <a:prstClr val="black"/>
            </a:solidFill>
          </a:ln>
        </p:spPr>
        <p:txBody>
          <a:bodyPr vert="horz" lIns="95178" tIns="47590" rIns="95178" bIns="47590" rtlCol="0" anchor="ctr"/>
          <a:lstStyle/>
          <a:p>
            <a:endParaRPr lang="en-US" dirty="0"/>
          </a:p>
        </p:txBody>
      </p:sp>
      <p:sp>
        <p:nvSpPr>
          <p:cNvPr id="5" name="Notes Placeholder 4"/>
          <p:cNvSpPr>
            <a:spLocks noGrp="1"/>
          </p:cNvSpPr>
          <p:nvPr>
            <p:ph type="body" sz="quarter" idx="3"/>
          </p:nvPr>
        </p:nvSpPr>
        <p:spPr>
          <a:xfrm>
            <a:off x="731520" y="4620580"/>
            <a:ext cx="5852160" cy="3780473"/>
          </a:xfrm>
          <a:prstGeom prst="rect">
            <a:avLst/>
          </a:prstGeom>
        </p:spPr>
        <p:txBody>
          <a:bodyPr vert="horz" lIns="95178" tIns="47590" rIns="95178" bIns="4759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7"/>
            <a:ext cx="3169920" cy="481725"/>
          </a:xfrm>
          <a:prstGeom prst="rect">
            <a:avLst/>
          </a:prstGeom>
        </p:spPr>
        <p:txBody>
          <a:bodyPr vert="horz" lIns="95178" tIns="47590" rIns="95178" bIns="47590" rtlCol="0" anchor="b"/>
          <a:lstStyle>
            <a:lvl1pPr algn="l">
              <a:defRPr sz="1200"/>
            </a:lvl1pPr>
          </a:lstStyle>
          <a:p>
            <a:endParaRPr lang="en-US" dirty="0"/>
          </a:p>
        </p:txBody>
      </p:sp>
      <p:sp>
        <p:nvSpPr>
          <p:cNvPr id="7" name="Slide Number Placeholder 6"/>
          <p:cNvSpPr>
            <a:spLocks noGrp="1"/>
          </p:cNvSpPr>
          <p:nvPr>
            <p:ph type="sldNum" sz="quarter" idx="5"/>
          </p:nvPr>
        </p:nvSpPr>
        <p:spPr>
          <a:xfrm>
            <a:off x="4143587" y="9119477"/>
            <a:ext cx="3169920" cy="481725"/>
          </a:xfrm>
          <a:prstGeom prst="rect">
            <a:avLst/>
          </a:prstGeom>
        </p:spPr>
        <p:txBody>
          <a:bodyPr vert="horz" lIns="95178" tIns="47590" rIns="95178" bIns="47590" rtlCol="0" anchor="b"/>
          <a:lstStyle>
            <a:lvl1pPr algn="r">
              <a:defRPr sz="1200"/>
            </a:lvl1pPr>
          </a:lstStyle>
          <a:p>
            <a:fld id="{4139CA89-B4B2-4050-B038-8DF8E3A33516}" type="slidenum">
              <a:rPr lang="en-US" smtClean="0"/>
              <a:t>‹#›</a:t>
            </a:fld>
            <a:endParaRPr lang="en-US" dirty="0"/>
          </a:p>
        </p:txBody>
      </p:sp>
    </p:spTree>
    <p:extLst>
      <p:ext uri="{BB962C8B-B14F-4D97-AF65-F5344CB8AC3E}">
        <p14:creationId xmlns:p14="http://schemas.microsoft.com/office/powerpoint/2010/main" val="11012282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6288C0-024E-429E-B9F9-88F45D0B6B9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810231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1A9E3A3-CB7F-45DB-8359-15D56BF69054}" type="datetime1">
              <a:rPr lang="en-US" smtClean="0"/>
              <a:t>9/10/2024</a:t>
            </a:fld>
            <a:endParaRPr lang="en-US" dirty="0"/>
          </a:p>
        </p:txBody>
      </p:sp>
      <p:sp>
        <p:nvSpPr>
          <p:cNvPr id="5" name="Footer Placeholder 4"/>
          <p:cNvSpPr>
            <a:spLocks noGrp="1"/>
          </p:cNvSpPr>
          <p:nvPr>
            <p:ph type="ftr" sz="quarter" idx="11"/>
          </p:nvPr>
        </p:nvSpPr>
        <p:spPr/>
        <p:txBody>
          <a:bodyPr/>
          <a:lstStyle>
            <a:lvl1pPr>
              <a:defRPr>
                <a:solidFill>
                  <a:srgbClr val="3C3935"/>
                </a:solidFill>
              </a:defRPr>
            </a:lvl1p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464269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38201" y="6471095"/>
            <a:ext cx="2743200" cy="250380"/>
          </a:xfrm>
        </p:spPr>
        <p:txBody>
          <a:bodyPr/>
          <a:lstStyle/>
          <a:p>
            <a:fld id="{F72A7C2C-8CBA-48FC-B47E-140B6C446377}" type="datetime1">
              <a:rPr lang="en-US" smtClean="0"/>
              <a:t>9/10/2024</a:t>
            </a:fld>
            <a:endParaRPr lang="en-US" dirty="0"/>
          </a:p>
        </p:txBody>
      </p:sp>
      <p:sp>
        <p:nvSpPr>
          <p:cNvPr id="5" name="Footer Placeholder 4"/>
          <p:cNvSpPr>
            <a:spLocks noGrp="1"/>
          </p:cNvSpPr>
          <p:nvPr>
            <p:ph type="ftr" sz="quarter" idx="11"/>
          </p:nvPr>
        </p:nvSpPr>
        <p:spPr>
          <a:xfrm>
            <a:off x="4038602" y="6471095"/>
            <a:ext cx="4114800" cy="250380"/>
          </a:xfrm>
        </p:spPr>
        <p:txBody>
          <a:bodyPr/>
          <a:lstStyle>
            <a:lvl1pPr>
              <a:defRPr u="none" spc="300"/>
            </a:lvl1pPr>
          </a:lstStyle>
          <a:p>
            <a:r>
              <a:rPr lang="en-US" dirty="0"/>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2509438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FFEA2DF-E8B3-4F59-892A-C88743D6614D}" type="datetime1">
              <a:rPr lang="en-US" smtClean="0"/>
              <a:t>9/10/2024</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688758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B0F09CE-D3E6-4C73-9F86-6AA671224F8D}" type="datetime1">
              <a:rPr lang="en-US" smtClean="0"/>
              <a:t>9/10/2024</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858114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3AF486B-7A2A-4144-9105-81B5F9A702C4}" type="datetime1">
              <a:rPr lang="en-US" smtClean="0"/>
              <a:t>9/10/2024</a:t>
            </a:fld>
            <a:endParaRPr lang="en-US" dirty="0"/>
          </a:p>
        </p:txBody>
      </p:sp>
      <p:sp>
        <p:nvSpPr>
          <p:cNvPr id="8" name="Footer Placeholder 7"/>
          <p:cNvSpPr>
            <a:spLocks noGrp="1"/>
          </p:cNvSpPr>
          <p:nvPr>
            <p:ph type="ftr" sz="quarter" idx="11"/>
          </p:nvPr>
        </p:nvSpPr>
        <p:spPr/>
        <p:txBody>
          <a:bodyPr/>
          <a:lstStyle/>
          <a:p>
            <a:r>
              <a:rPr lang="en-US" dirty="0"/>
              <a:t>Key Benefit Administrators</a:t>
            </a:r>
          </a:p>
        </p:txBody>
      </p:sp>
      <p:sp>
        <p:nvSpPr>
          <p:cNvPr id="9" name="Slide Number Placeholder 8"/>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740904082"/>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3" name="Date Placeholder 2"/>
          <p:cNvSpPr>
            <a:spLocks noGrp="1"/>
          </p:cNvSpPr>
          <p:nvPr>
            <p:ph type="dt" sz="half" idx="10"/>
          </p:nvPr>
        </p:nvSpPr>
        <p:spPr>
          <a:xfrm>
            <a:off x="838201" y="6480530"/>
            <a:ext cx="2743200" cy="365125"/>
          </a:xfrm>
        </p:spPr>
        <p:txBody>
          <a:bodyPr/>
          <a:lstStyle/>
          <a:p>
            <a:fld id="{13273CBB-1638-4F86-93C5-F289BAB372F8}" type="datetime1">
              <a:rPr lang="en-US" smtClean="0"/>
              <a:t>9/10/2024</a:t>
            </a:fld>
            <a:endParaRPr lang="en-US" dirty="0"/>
          </a:p>
        </p:txBody>
      </p:sp>
      <p:sp>
        <p:nvSpPr>
          <p:cNvPr id="4" name="Footer Placeholder 3"/>
          <p:cNvSpPr>
            <a:spLocks noGrp="1"/>
          </p:cNvSpPr>
          <p:nvPr>
            <p:ph type="ftr" sz="quarter" idx="11"/>
          </p:nvPr>
        </p:nvSpPr>
        <p:spPr>
          <a:xfrm>
            <a:off x="4038602" y="6480530"/>
            <a:ext cx="4114800" cy="365125"/>
          </a:xfrm>
        </p:spPr>
        <p:txBody>
          <a:bodyPr/>
          <a:lstStyle/>
          <a:p>
            <a:r>
              <a:rPr lang="en-US" dirty="0"/>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0058042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1223EA-AE71-4F47-9CA1-AC76DEC2B9E8}" type="datetime1">
              <a:rPr lang="en-US" smtClean="0"/>
              <a:t>9/10/2024</a:t>
            </a:fld>
            <a:endParaRPr lang="en-US" dirty="0"/>
          </a:p>
        </p:txBody>
      </p:sp>
      <p:sp>
        <p:nvSpPr>
          <p:cNvPr id="3" name="Footer Placeholder 2"/>
          <p:cNvSpPr>
            <a:spLocks noGrp="1"/>
          </p:cNvSpPr>
          <p:nvPr>
            <p:ph type="ftr" sz="quarter" idx="11"/>
          </p:nvPr>
        </p:nvSpPr>
        <p:spPr/>
        <p:txBody>
          <a:bodyPr/>
          <a:lstStyle/>
          <a:p>
            <a:r>
              <a:rPr lang="en-US" dirty="0"/>
              <a:t>Key Benefit Administrators</a:t>
            </a:r>
          </a:p>
        </p:txBody>
      </p:sp>
      <p:sp>
        <p:nvSpPr>
          <p:cNvPr id="4" name="Slide Number Placeholder 3"/>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1010469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1"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9B31445-0B45-4F5C-971D-F971BB7E35C1}" type="datetime1">
              <a:rPr lang="en-US" smtClean="0"/>
              <a:t>9/10/2024</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84453480"/>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dirty="0"/>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EE79F89-B9FD-40DA-A4A8-5549A4F97D5C}" type="datetime1">
              <a:rPr lang="en-US" smtClean="0"/>
              <a:t>9/10/2024</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904758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CDCB60-C599-4AF2-9C31-DCD390D25F3F}" type="datetime1">
              <a:rPr lang="en-US" smtClean="0"/>
              <a:t>9/10/2024</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37522362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199"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187DF3D-F650-432E-A6F6-439A0FF53FA0}" type="datetime1">
              <a:rPr lang="en-US" smtClean="0"/>
              <a:t>9/10/2024</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8998819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5EF80E-CA35-C63B-47F4-CC11DF60B73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99C5256-98EC-A333-1F96-35A29C9400E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4BD36D9-E54A-02C1-9D01-07CEC057512E}"/>
              </a:ext>
            </a:extLst>
          </p:cNvPr>
          <p:cNvSpPr>
            <a:spLocks noGrp="1"/>
          </p:cNvSpPr>
          <p:nvPr>
            <p:ph type="dt" sz="half" idx="10"/>
          </p:nvPr>
        </p:nvSpPr>
        <p:spPr>
          <a:xfrm>
            <a:off x="838200" y="6356350"/>
            <a:ext cx="2743200" cy="365125"/>
          </a:xfrm>
          <a:prstGeom prst="rect">
            <a:avLst/>
          </a:prstGeom>
        </p:spPr>
        <p:txBody>
          <a:bodyPr/>
          <a:lstStyle/>
          <a:p>
            <a:fld id="{6BC3B12F-80BB-4AE6-855E-F93711E32932}" type="datetimeFigureOut">
              <a:rPr lang="en-US" smtClean="0"/>
              <a:t>9/10/2024</a:t>
            </a:fld>
            <a:endParaRPr lang="en-US"/>
          </a:p>
        </p:txBody>
      </p:sp>
      <p:sp>
        <p:nvSpPr>
          <p:cNvPr id="5" name="Footer Placeholder 4">
            <a:extLst>
              <a:ext uri="{FF2B5EF4-FFF2-40B4-BE49-F238E27FC236}">
                <a16:creationId xmlns:a16="http://schemas.microsoft.com/office/drawing/2014/main" id="{57C5BD99-A0E5-C8E6-0293-C8F4E7ADB4F8}"/>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FB29629F-1D20-FF76-5EB6-240309CFAA9C}"/>
              </a:ext>
            </a:extLst>
          </p:cNvPr>
          <p:cNvSpPr>
            <a:spLocks noGrp="1"/>
          </p:cNvSpPr>
          <p:nvPr>
            <p:ph type="sldNum" sz="quarter" idx="12"/>
          </p:nvPr>
        </p:nvSpPr>
        <p:spPr>
          <a:xfrm>
            <a:off x="8610600" y="6356350"/>
            <a:ext cx="2743200" cy="365125"/>
          </a:xfrm>
          <a:prstGeom prst="rect">
            <a:avLst/>
          </a:prstGeom>
        </p:spPr>
        <p:txBody>
          <a:bodyPr/>
          <a:lstStyle/>
          <a:p>
            <a:fld id="{75549073-5150-4C40-BF4B-D68B1C4D3895}" type="slidenum">
              <a:rPr lang="en-US" smtClean="0"/>
              <a:t>‹#›</a:t>
            </a:fld>
            <a:endParaRPr lang="en-US"/>
          </a:p>
        </p:txBody>
      </p:sp>
    </p:spTree>
    <p:extLst>
      <p:ext uri="{BB962C8B-B14F-4D97-AF65-F5344CB8AC3E}">
        <p14:creationId xmlns:p14="http://schemas.microsoft.com/office/powerpoint/2010/main" val="157644494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BC2AC4-349D-A897-6171-03399A1D79D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27623D0-BE5E-FC7B-8C30-08E065FD27B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775E28-04F2-0BB8-CAA3-EAA16C700BB4}"/>
              </a:ext>
            </a:extLst>
          </p:cNvPr>
          <p:cNvSpPr>
            <a:spLocks noGrp="1"/>
          </p:cNvSpPr>
          <p:nvPr>
            <p:ph type="dt" sz="half" idx="10"/>
          </p:nvPr>
        </p:nvSpPr>
        <p:spPr>
          <a:xfrm>
            <a:off x="838200" y="6356350"/>
            <a:ext cx="2743200" cy="365125"/>
          </a:xfrm>
          <a:prstGeom prst="rect">
            <a:avLst/>
          </a:prstGeom>
        </p:spPr>
        <p:txBody>
          <a:bodyPr/>
          <a:lstStyle/>
          <a:p>
            <a:fld id="{6BC3B12F-80BB-4AE6-855E-F93711E32932}" type="datetimeFigureOut">
              <a:rPr lang="en-US" smtClean="0"/>
              <a:t>9/10/2024</a:t>
            </a:fld>
            <a:endParaRPr lang="en-US"/>
          </a:p>
        </p:txBody>
      </p:sp>
      <p:sp>
        <p:nvSpPr>
          <p:cNvPr id="5" name="Footer Placeholder 4">
            <a:extLst>
              <a:ext uri="{FF2B5EF4-FFF2-40B4-BE49-F238E27FC236}">
                <a16:creationId xmlns:a16="http://schemas.microsoft.com/office/drawing/2014/main" id="{EBE8921E-7A76-6CA3-63C8-C8BEF6D7FCF5}"/>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BB3FBE9D-47C9-B56A-3EC3-6120B283D13C}"/>
              </a:ext>
            </a:extLst>
          </p:cNvPr>
          <p:cNvSpPr>
            <a:spLocks noGrp="1"/>
          </p:cNvSpPr>
          <p:nvPr>
            <p:ph type="sldNum" sz="quarter" idx="12"/>
          </p:nvPr>
        </p:nvSpPr>
        <p:spPr>
          <a:xfrm>
            <a:off x="8610600" y="6356350"/>
            <a:ext cx="2743200" cy="365125"/>
          </a:xfrm>
          <a:prstGeom prst="rect">
            <a:avLst/>
          </a:prstGeom>
        </p:spPr>
        <p:txBody>
          <a:bodyPr/>
          <a:lstStyle/>
          <a:p>
            <a:fld id="{75549073-5150-4C40-BF4B-D68B1C4D3895}" type="slidenum">
              <a:rPr lang="en-US" smtClean="0"/>
              <a:t>‹#›</a:t>
            </a:fld>
            <a:endParaRPr lang="en-US"/>
          </a:p>
        </p:txBody>
      </p:sp>
    </p:spTree>
    <p:extLst>
      <p:ext uri="{BB962C8B-B14F-4D97-AF65-F5344CB8AC3E}">
        <p14:creationId xmlns:p14="http://schemas.microsoft.com/office/powerpoint/2010/main" val="243703036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lide Outpu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27623D0-BE5E-FC7B-8C30-08E065FD27B7}"/>
              </a:ext>
            </a:extLst>
          </p:cNvPr>
          <p:cNvSpPr>
            <a:spLocks noGrp="1"/>
          </p:cNvSpPr>
          <p:nvPr>
            <p:ph idx="1"/>
          </p:nvPr>
        </p:nvSpPr>
        <p:spPr>
          <a:xfrm>
            <a:off x="838200" y="723207"/>
            <a:ext cx="10515600" cy="52037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7505807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C3522A-5659-8E58-0C7C-8DF74D11BBC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5892466-9973-B746-9C73-FB335C44BBB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0605841-E333-8EF3-13A4-B887A17F5BB2}"/>
              </a:ext>
            </a:extLst>
          </p:cNvPr>
          <p:cNvSpPr>
            <a:spLocks noGrp="1"/>
          </p:cNvSpPr>
          <p:nvPr>
            <p:ph type="dt" sz="half" idx="10"/>
          </p:nvPr>
        </p:nvSpPr>
        <p:spPr>
          <a:xfrm>
            <a:off x="838200" y="6356350"/>
            <a:ext cx="2743200" cy="365125"/>
          </a:xfrm>
          <a:prstGeom prst="rect">
            <a:avLst/>
          </a:prstGeom>
        </p:spPr>
        <p:txBody>
          <a:bodyPr/>
          <a:lstStyle/>
          <a:p>
            <a:fld id="{6BC3B12F-80BB-4AE6-855E-F93711E32932}" type="datetimeFigureOut">
              <a:rPr lang="en-US" smtClean="0"/>
              <a:t>9/10/2024</a:t>
            </a:fld>
            <a:endParaRPr lang="en-US"/>
          </a:p>
        </p:txBody>
      </p:sp>
      <p:sp>
        <p:nvSpPr>
          <p:cNvPr id="5" name="Footer Placeholder 4">
            <a:extLst>
              <a:ext uri="{FF2B5EF4-FFF2-40B4-BE49-F238E27FC236}">
                <a16:creationId xmlns:a16="http://schemas.microsoft.com/office/drawing/2014/main" id="{C0D55581-7211-C530-1B0A-5B6FABC5D47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123750AD-5B48-0726-4977-83576D9A2851}"/>
              </a:ext>
            </a:extLst>
          </p:cNvPr>
          <p:cNvSpPr>
            <a:spLocks noGrp="1"/>
          </p:cNvSpPr>
          <p:nvPr>
            <p:ph type="sldNum" sz="quarter" idx="12"/>
          </p:nvPr>
        </p:nvSpPr>
        <p:spPr>
          <a:xfrm>
            <a:off x="8610600" y="6356350"/>
            <a:ext cx="2743200" cy="365125"/>
          </a:xfrm>
          <a:prstGeom prst="rect">
            <a:avLst/>
          </a:prstGeom>
        </p:spPr>
        <p:txBody>
          <a:bodyPr/>
          <a:lstStyle/>
          <a:p>
            <a:fld id="{75549073-5150-4C40-BF4B-D68B1C4D3895}" type="slidenum">
              <a:rPr lang="en-US" smtClean="0"/>
              <a:t>‹#›</a:t>
            </a:fld>
            <a:endParaRPr lang="en-US"/>
          </a:p>
        </p:txBody>
      </p:sp>
    </p:spTree>
    <p:extLst>
      <p:ext uri="{BB962C8B-B14F-4D97-AF65-F5344CB8AC3E}">
        <p14:creationId xmlns:p14="http://schemas.microsoft.com/office/powerpoint/2010/main" val="192739390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0FF885-B892-AF4E-14F6-5BF965E9DF3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37E1770-FA2D-DFFD-19D7-51C803C2A32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321ABB0-2FF2-50E1-1D39-1209FC2FEA0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39C5AA1-7869-F7B1-1AAA-9AB491751C25}"/>
              </a:ext>
            </a:extLst>
          </p:cNvPr>
          <p:cNvSpPr>
            <a:spLocks noGrp="1"/>
          </p:cNvSpPr>
          <p:nvPr>
            <p:ph type="dt" sz="half" idx="10"/>
          </p:nvPr>
        </p:nvSpPr>
        <p:spPr>
          <a:xfrm>
            <a:off x="838200" y="6356350"/>
            <a:ext cx="2743200" cy="365125"/>
          </a:xfrm>
          <a:prstGeom prst="rect">
            <a:avLst/>
          </a:prstGeom>
        </p:spPr>
        <p:txBody>
          <a:bodyPr/>
          <a:lstStyle/>
          <a:p>
            <a:fld id="{6BC3B12F-80BB-4AE6-855E-F93711E32932}" type="datetimeFigureOut">
              <a:rPr lang="en-US" smtClean="0"/>
              <a:t>9/10/2024</a:t>
            </a:fld>
            <a:endParaRPr lang="en-US"/>
          </a:p>
        </p:txBody>
      </p:sp>
      <p:sp>
        <p:nvSpPr>
          <p:cNvPr id="6" name="Footer Placeholder 5">
            <a:extLst>
              <a:ext uri="{FF2B5EF4-FFF2-40B4-BE49-F238E27FC236}">
                <a16:creationId xmlns:a16="http://schemas.microsoft.com/office/drawing/2014/main" id="{30C631CC-0ED4-0DBA-3B11-951955097C5B}"/>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52EA0F43-4FF6-41EA-54B8-4C2B9B6AAD16}"/>
              </a:ext>
            </a:extLst>
          </p:cNvPr>
          <p:cNvSpPr>
            <a:spLocks noGrp="1"/>
          </p:cNvSpPr>
          <p:nvPr>
            <p:ph type="sldNum" sz="quarter" idx="12"/>
          </p:nvPr>
        </p:nvSpPr>
        <p:spPr>
          <a:xfrm>
            <a:off x="8610600" y="6356350"/>
            <a:ext cx="2743200" cy="365125"/>
          </a:xfrm>
          <a:prstGeom prst="rect">
            <a:avLst/>
          </a:prstGeom>
        </p:spPr>
        <p:txBody>
          <a:bodyPr/>
          <a:lstStyle/>
          <a:p>
            <a:fld id="{75549073-5150-4C40-BF4B-D68B1C4D3895}" type="slidenum">
              <a:rPr lang="en-US" smtClean="0"/>
              <a:t>‹#›</a:t>
            </a:fld>
            <a:endParaRPr lang="en-US"/>
          </a:p>
        </p:txBody>
      </p:sp>
    </p:spTree>
    <p:extLst>
      <p:ext uri="{BB962C8B-B14F-4D97-AF65-F5344CB8AC3E}">
        <p14:creationId xmlns:p14="http://schemas.microsoft.com/office/powerpoint/2010/main" val="274509329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7A9208-B29A-5C1B-0F83-0D22E830228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93FC125-6ED1-2C82-D3ED-F51C43D5FA0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12CF8AA-AEDB-5574-67D8-C4CF4BAE8C5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E0A1351-7B1F-3D2B-8CC3-AD63799BB8D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15B1D59-8D71-169B-800D-1B6369565CC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7D17602-A406-BF7F-1159-4B4C378EF6D0}"/>
              </a:ext>
            </a:extLst>
          </p:cNvPr>
          <p:cNvSpPr>
            <a:spLocks noGrp="1"/>
          </p:cNvSpPr>
          <p:nvPr>
            <p:ph type="dt" sz="half" idx="10"/>
          </p:nvPr>
        </p:nvSpPr>
        <p:spPr>
          <a:xfrm>
            <a:off x="838200" y="6356350"/>
            <a:ext cx="2743200" cy="365125"/>
          </a:xfrm>
          <a:prstGeom prst="rect">
            <a:avLst/>
          </a:prstGeom>
        </p:spPr>
        <p:txBody>
          <a:bodyPr/>
          <a:lstStyle/>
          <a:p>
            <a:fld id="{6BC3B12F-80BB-4AE6-855E-F93711E32932}" type="datetimeFigureOut">
              <a:rPr lang="en-US" smtClean="0"/>
              <a:t>9/10/2024</a:t>
            </a:fld>
            <a:endParaRPr lang="en-US"/>
          </a:p>
        </p:txBody>
      </p:sp>
      <p:sp>
        <p:nvSpPr>
          <p:cNvPr id="8" name="Footer Placeholder 7">
            <a:extLst>
              <a:ext uri="{FF2B5EF4-FFF2-40B4-BE49-F238E27FC236}">
                <a16:creationId xmlns:a16="http://schemas.microsoft.com/office/drawing/2014/main" id="{5FE251BD-2045-1E2C-E87C-4EFC8120926C}"/>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D23B3598-579D-3653-EDD8-A878B177B824}"/>
              </a:ext>
            </a:extLst>
          </p:cNvPr>
          <p:cNvSpPr>
            <a:spLocks noGrp="1"/>
          </p:cNvSpPr>
          <p:nvPr>
            <p:ph type="sldNum" sz="quarter" idx="12"/>
          </p:nvPr>
        </p:nvSpPr>
        <p:spPr>
          <a:xfrm>
            <a:off x="8610600" y="6356350"/>
            <a:ext cx="2743200" cy="365125"/>
          </a:xfrm>
          <a:prstGeom prst="rect">
            <a:avLst/>
          </a:prstGeom>
        </p:spPr>
        <p:txBody>
          <a:bodyPr/>
          <a:lstStyle/>
          <a:p>
            <a:fld id="{75549073-5150-4C40-BF4B-D68B1C4D3895}" type="slidenum">
              <a:rPr lang="en-US" smtClean="0"/>
              <a:t>‹#›</a:t>
            </a:fld>
            <a:endParaRPr lang="en-US"/>
          </a:p>
        </p:txBody>
      </p:sp>
    </p:spTree>
    <p:extLst>
      <p:ext uri="{BB962C8B-B14F-4D97-AF65-F5344CB8AC3E}">
        <p14:creationId xmlns:p14="http://schemas.microsoft.com/office/powerpoint/2010/main" val="343110405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90C5C9-55E7-611E-0F37-4EE6F2A3A9E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94637D8-C95D-4CFA-CBF5-2ADEF685D61D}"/>
              </a:ext>
            </a:extLst>
          </p:cNvPr>
          <p:cNvSpPr>
            <a:spLocks noGrp="1"/>
          </p:cNvSpPr>
          <p:nvPr>
            <p:ph type="dt" sz="half" idx="10"/>
          </p:nvPr>
        </p:nvSpPr>
        <p:spPr>
          <a:xfrm>
            <a:off x="838200" y="6356350"/>
            <a:ext cx="2743200" cy="365125"/>
          </a:xfrm>
          <a:prstGeom prst="rect">
            <a:avLst/>
          </a:prstGeom>
        </p:spPr>
        <p:txBody>
          <a:bodyPr/>
          <a:lstStyle/>
          <a:p>
            <a:fld id="{6BC3B12F-80BB-4AE6-855E-F93711E32932}" type="datetimeFigureOut">
              <a:rPr lang="en-US" smtClean="0"/>
              <a:t>9/10/2024</a:t>
            </a:fld>
            <a:endParaRPr lang="en-US"/>
          </a:p>
        </p:txBody>
      </p:sp>
      <p:sp>
        <p:nvSpPr>
          <p:cNvPr id="4" name="Footer Placeholder 3">
            <a:extLst>
              <a:ext uri="{FF2B5EF4-FFF2-40B4-BE49-F238E27FC236}">
                <a16:creationId xmlns:a16="http://schemas.microsoft.com/office/drawing/2014/main" id="{42AB4C0A-D1FD-786C-5A2E-8A4B27208722}"/>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84A6D1C3-0C4C-016B-EC68-78B7509E3715}"/>
              </a:ext>
            </a:extLst>
          </p:cNvPr>
          <p:cNvSpPr>
            <a:spLocks noGrp="1"/>
          </p:cNvSpPr>
          <p:nvPr>
            <p:ph type="sldNum" sz="quarter" idx="12"/>
          </p:nvPr>
        </p:nvSpPr>
        <p:spPr>
          <a:xfrm>
            <a:off x="8610600" y="6356350"/>
            <a:ext cx="2743200" cy="365125"/>
          </a:xfrm>
          <a:prstGeom prst="rect">
            <a:avLst/>
          </a:prstGeom>
        </p:spPr>
        <p:txBody>
          <a:bodyPr/>
          <a:lstStyle/>
          <a:p>
            <a:fld id="{75549073-5150-4C40-BF4B-D68B1C4D3895}" type="slidenum">
              <a:rPr lang="en-US" smtClean="0"/>
              <a:t>‹#›</a:t>
            </a:fld>
            <a:endParaRPr lang="en-US"/>
          </a:p>
        </p:txBody>
      </p:sp>
    </p:spTree>
    <p:extLst>
      <p:ext uri="{BB962C8B-B14F-4D97-AF65-F5344CB8AC3E}">
        <p14:creationId xmlns:p14="http://schemas.microsoft.com/office/powerpoint/2010/main" val="124524998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083E7AE-170E-91FA-7315-36E3FEE36516}"/>
              </a:ext>
            </a:extLst>
          </p:cNvPr>
          <p:cNvSpPr>
            <a:spLocks noGrp="1"/>
          </p:cNvSpPr>
          <p:nvPr>
            <p:ph type="dt" sz="half" idx="10"/>
          </p:nvPr>
        </p:nvSpPr>
        <p:spPr>
          <a:xfrm>
            <a:off x="838200" y="6356350"/>
            <a:ext cx="2743200" cy="365125"/>
          </a:xfrm>
          <a:prstGeom prst="rect">
            <a:avLst/>
          </a:prstGeom>
        </p:spPr>
        <p:txBody>
          <a:bodyPr/>
          <a:lstStyle/>
          <a:p>
            <a:fld id="{6BC3B12F-80BB-4AE6-855E-F93711E32932}" type="datetimeFigureOut">
              <a:rPr lang="en-US" smtClean="0"/>
              <a:t>9/10/2024</a:t>
            </a:fld>
            <a:endParaRPr lang="en-US"/>
          </a:p>
        </p:txBody>
      </p:sp>
      <p:sp>
        <p:nvSpPr>
          <p:cNvPr id="3" name="Footer Placeholder 2">
            <a:extLst>
              <a:ext uri="{FF2B5EF4-FFF2-40B4-BE49-F238E27FC236}">
                <a16:creationId xmlns:a16="http://schemas.microsoft.com/office/drawing/2014/main" id="{BF6B2EE4-5A93-5729-1EAC-03E66A0B56C4}"/>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DC18D43F-B7E2-7961-9FFE-21EB28342D5A}"/>
              </a:ext>
            </a:extLst>
          </p:cNvPr>
          <p:cNvSpPr>
            <a:spLocks noGrp="1"/>
          </p:cNvSpPr>
          <p:nvPr>
            <p:ph type="sldNum" sz="quarter" idx="12"/>
          </p:nvPr>
        </p:nvSpPr>
        <p:spPr>
          <a:xfrm>
            <a:off x="8610600" y="6356350"/>
            <a:ext cx="2743200" cy="365125"/>
          </a:xfrm>
          <a:prstGeom prst="rect">
            <a:avLst/>
          </a:prstGeom>
        </p:spPr>
        <p:txBody>
          <a:bodyPr/>
          <a:lstStyle/>
          <a:p>
            <a:fld id="{75549073-5150-4C40-BF4B-D68B1C4D3895}" type="slidenum">
              <a:rPr lang="en-US" smtClean="0"/>
              <a:t>‹#›</a:t>
            </a:fld>
            <a:endParaRPr lang="en-US"/>
          </a:p>
        </p:txBody>
      </p:sp>
    </p:spTree>
    <p:extLst>
      <p:ext uri="{BB962C8B-B14F-4D97-AF65-F5344CB8AC3E}">
        <p14:creationId xmlns:p14="http://schemas.microsoft.com/office/powerpoint/2010/main" val="333492923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A8CCE6-8084-DA30-31CB-CD9726E36DB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8D64A11-4BA3-288B-80CE-24DCC4C5BC3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BAF7808-6760-899B-5637-5AF89120050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729F123-B801-4BD3-C9F2-562B462B5B8A}"/>
              </a:ext>
            </a:extLst>
          </p:cNvPr>
          <p:cNvSpPr>
            <a:spLocks noGrp="1"/>
          </p:cNvSpPr>
          <p:nvPr>
            <p:ph type="dt" sz="half" idx="10"/>
          </p:nvPr>
        </p:nvSpPr>
        <p:spPr>
          <a:xfrm>
            <a:off x="838200" y="6356350"/>
            <a:ext cx="2743200" cy="365125"/>
          </a:xfrm>
          <a:prstGeom prst="rect">
            <a:avLst/>
          </a:prstGeom>
        </p:spPr>
        <p:txBody>
          <a:bodyPr/>
          <a:lstStyle/>
          <a:p>
            <a:fld id="{6BC3B12F-80BB-4AE6-855E-F93711E32932}" type="datetimeFigureOut">
              <a:rPr lang="en-US" smtClean="0"/>
              <a:t>9/10/2024</a:t>
            </a:fld>
            <a:endParaRPr lang="en-US"/>
          </a:p>
        </p:txBody>
      </p:sp>
      <p:sp>
        <p:nvSpPr>
          <p:cNvPr id="6" name="Footer Placeholder 5">
            <a:extLst>
              <a:ext uri="{FF2B5EF4-FFF2-40B4-BE49-F238E27FC236}">
                <a16:creationId xmlns:a16="http://schemas.microsoft.com/office/drawing/2014/main" id="{1D499435-4ECB-552D-F273-B2E602B9126E}"/>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36C8A5FE-E587-D277-E8C4-8DC54ED6E293}"/>
              </a:ext>
            </a:extLst>
          </p:cNvPr>
          <p:cNvSpPr>
            <a:spLocks noGrp="1"/>
          </p:cNvSpPr>
          <p:nvPr>
            <p:ph type="sldNum" sz="quarter" idx="12"/>
          </p:nvPr>
        </p:nvSpPr>
        <p:spPr>
          <a:xfrm>
            <a:off x="8610600" y="6356350"/>
            <a:ext cx="2743200" cy="365125"/>
          </a:xfrm>
          <a:prstGeom prst="rect">
            <a:avLst/>
          </a:prstGeom>
        </p:spPr>
        <p:txBody>
          <a:bodyPr/>
          <a:lstStyle/>
          <a:p>
            <a:fld id="{75549073-5150-4C40-BF4B-D68B1C4D3895}" type="slidenum">
              <a:rPr lang="en-US" smtClean="0"/>
              <a:t>‹#›</a:t>
            </a:fld>
            <a:endParaRPr lang="en-US"/>
          </a:p>
        </p:txBody>
      </p:sp>
    </p:spTree>
    <p:extLst>
      <p:ext uri="{BB962C8B-B14F-4D97-AF65-F5344CB8AC3E}">
        <p14:creationId xmlns:p14="http://schemas.microsoft.com/office/powerpoint/2010/main" val="173512378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C9A34-ECF4-CD06-A854-8EED594D985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4E85963-B99D-0D48-F74E-5347F28C1F6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E9209FE-05AD-1F83-2A16-595EF372B41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A50EEA6-1CE3-D581-30FA-B8A6BB4BFB65}"/>
              </a:ext>
            </a:extLst>
          </p:cNvPr>
          <p:cNvSpPr>
            <a:spLocks noGrp="1"/>
          </p:cNvSpPr>
          <p:nvPr>
            <p:ph type="dt" sz="half" idx="10"/>
          </p:nvPr>
        </p:nvSpPr>
        <p:spPr>
          <a:xfrm>
            <a:off x="838200" y="6356350"/>
            <a:ext cx="2743200" cy="365125"/>
          </a:xfrm>
          <a:prstGeom prst="rect">
            <a:avLst/>
          </a:prstGeom>
        </p:spPr>
        <p:txBody>
          <a:bodyPr/>
          <a:lstStyle/>
          <a:p>
            <a:fld id="{6BC3B12F-80BB-4AE6-855E-F93711E32932}" type="datetimeFigureOut">
              <a:rPr lang="en-US" smtClean="0"/>
              <a:t>9/10/2024</a:t>
            </a:fld>
            <a:endParaRPr lang="en-US"/>
          </a:p>
        </p:txBody>
      </p:sp>
      <p:sp>
        <p:nvSpPr>
          <p:cNvPr id="6" name="Footer Placeholder 5">
            <a:extLst>
              <a:ext uri="{FF2B5EF4-FFF2-40B4-BE49-F238E27FC236}">
                <a16:creationId xmlns:a16="http://schemas.microsoft.com/office/drawing/2014/main" id="{7D9DEB60-F0E3-E3A7-BDE3-3F3D04B3D19D}"/>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CC0D5625-5E2A-FDD7-240B-CE4AD3D04E87}"/>
              </a:ext>
            </a:extLst>
          </p:cNvPr>
          <p:cNvSpPr>
            <a:spLocks noGrp="1"/>
          </p:cNvSpPr>
          <p:nvPr>
            <p:ph type="sldNum" sz="quarter" idx="12"/>
          </p:nvPr>
        </p:nvSpPr>
        <p:spPr>
          <a:xfrm>
            <a:off x="8610600" y="6356350"/>
            <a:ext cx="2743200" cy="365125"/>
          </a:xfrm>
          <a:prstGeom prst="rect">
            <a:avLst/>
          </a:prstGeom>
        </p:spPr>
        <p:txBody>
          <a:bodyPr/>
          <a:lstStyle/>
          <a:p>
            <a:fld id="{75549073-5150-4C40-BF4B-D68B1C4D3895}" type="slidenum">
              <a:rPr lang="en-US" smtClean="0"/>
              <a:t>‹#›</a:t>
            </a:fld>
            <a:endParaRPr lang="en-US"/>
          </a:p>
        </p:txBody>
      </p:sp>
    </p:spTree>
    <p:extLst>
      <p:ext uri="{BB962C8B-B14F-4D97-AF65-F5344CB8AC3E}">
        <p14:creationId xmlns:p14="http://schemas.microsoft.com/office/powerpoint/2010/main" val="207286595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938964-CFDD-EEE7-561D-6CD0AA4762A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FBBC7B5-E245-21C1-36FF-25BF670F53E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6511137-3CC6-DE86-3F8F-12263490118D}"/>
              </a:ext>
            </a:extLst>
          </p:cNvPr>
          <p:cNvSpPr>
            <a:spLocks noGrp="1"/>
          </p:cNvSpPr>
          <p:nvPr>
            <p:ph type="dt" sz="half" idx="10"/>
          </p:nvPr>
        </p:nvSpPr>
        <p:spPr>
          <a:xfrm>
            <a:off x="838200" y="6356350"/>
            <a:ext cx="2743200" cy="365125"/>
          </a:xfrm>
          <a:prstGeom prst="rect">
            <a:avLst/>
          </a:prstGeom>
        </p:spPr>
        <p:txBody>
          <a:bodyPr/>
          <a:lstStyle/>
          <a:p>
            <a:fld id="{6BC3B12F-80BB-4AE6-855E-F93711E32932}" type="datetimeFigureOut">
              <a:rPr lang="en-US" smtClean="0"/>
              <a:t>9/10/2024</a:t>
            </a:fld>
            <a:endParaRPr lang="en-US"/>
          </a:p>
        </p:txBody>
      </p:sp>
      <p:sp>
        <p:nvSpPr>
          <p:cNvPr id="5" name="Footer Placeholder 4">
            <a:extLst>
              <a:ext uri="{FF2B5EF4-FFF2-40B4-BE49-F238E27FC236}">
                <a16:creationId xmlns:a16="http://schemas.microsoft.com/office/drawing/2014/main" id="{1349A0C3-B51F-2043-29A8-381E40D7441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0842932E-13ED-745D-FD1E-DB6D1C575E9E}"/>
              </a:ext>
            </a:extLst>
          </p:cNvPr>
          <p:cNvSpPr>
            <a:spLocks noGrp="1"/>
          </p:cNvSpPr>
          <p:nvPr>
            <p:ph type="sldNum" sz="quarter" idx="12"/>
          </p:nvPr>
        </p:nvSpPr>
        <p:spPr>
          <a:xfrm>
            <a:off x="8610600" y="6356350"/>
            <a:ext cx="2743200" cy="365125"/>
          </a:xfrm>
          <a:prstGeom prst="rect">
            <a:avLst/>
          </a:prstGeom>
        </p:spPr>
        <p:txBody>
          <a:bodyPr/>
          <a:lstStyle/>
          <a:p>
            <a:fld id="{75549073-5150-4C40-BF4B-D68B1C4D3895}" type="slidenum">
              <a:rPr lang="en-US" smtClean="0"/>
              <a:t>‹#›</a:t>
            </a:fld>
            <a:endParaRPr lang="en-US"/>
          </a:p>
        </p:txBody>
      </p:sp>
    </p:spTree>
    <p:extLst>
      <p:ext uri="{BB962C8B-B14F-4D97-AF65-F5344CB8AC3E}">
        <p14:creationId xmlns:p14="http://schemas.microsoft.com/office/powerpoint/2010/main" val="19064487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3E2DD41-03F0-5A20-D0FC-53F8C68ADED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EBF3F08-A716-9B80-7DAD-A5D0BE30EC8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CDC8755-E2ED-FEEE-B158-E0DD3FB12F61}"/>
              </a:ext>
            </a:extLst>
          </p:cNvPr>
          <p:cNvSpPr>
            <a:spLocks noGrp="1"/>
          </p:cNvSpPr>
          <p:nvPr>
            <p:ph type="dt" sz="half" idx="10"/>
          </p:nvPr>
        </p:nvSpPr>
        <p:spPr>
          <a:xfrm>
            <a:off x="838200" y="6356350"/>
            <a:ext cx="2743200" cy="365125"/>
          </a:xfrm>
          <a:prstGeom prst="rect">
            <a:avLst/>
          </a:prstGeom>
        </p:spPr>
        <p:txBody>
          <a:bodyPr/>
          <a:lstStyle/>
          <a:p>
            <a:fld id="{6BC3B12F-80BB-4AE6-855E-F93711E32932}" type="datetimeFigureOut">
              <a:rPr lang="en-US" smtClean="0"/>
              <a:t>9/10/2024</a:t>
            </a:fld>
            <a:endParaRPr lang="en-US"/>
          </a:p>
        </p:txBody>
      </p:sp>
      <p:sp>
        <p:nvSpPr>
          <p:cNvPr id="5" name="Footer Placeholder 4">
            <a:extLst>
              <a:ext uri="{FF2B5EF4-FFF2-40B4-BE49-F238E27FC236}">
                <a16:creationId xmlns:a16="http://schemas.microsoft.com/office/drawing/2014/main" id="{B7DB962C-DB69-9313-835E-9A96B9436FE4}"/>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560384AD-5BB3-6E37-4160-F06417470857}"/>
              </a:ext>
            </a:extLst>
          </p:cNvPr>
          <p:cNvSpPr>
            <a:spLocks noGrp="1"/>
          </p:cNvSpPr>
          <p:nvPr>
            <p:ph type="sldNum" sz="quarter" idx="12"/>
          </p:nvPr>
        </p:nvSpPr>
        <p:spPr>
          <a:xfrm>
            <a:off x="8610600" y="6356350"/>
            <a:ext cx="2743200" cy="365125"/>
          </a:xfrm>
          <a:prstGeom prst="rect">
            <a:avLst/>
          </a:prstGeom>
        </p:spPr>
        <p:txBody>
          <a:bodyPr/>
          <a:lstStyle/>
          <a:p>
            <a:fld id="{75549073-5150-4C40-BF4B-D68B1C4D3895}" type="slidenum">
              <a:rPr lang="en-US" smtClean="0"/>
              <a:t>‹#›</a:t>
            </a:fld>
            <a:endParaRPr lang="en-US"/>
          </a:p>
        </p:txBody>
      </p:sp>
    </p:spTree>
    <p:extLst>
      <p:ext uri="{BB962C8B-B14F-4D97-AF65-F5344CB8AC3E}">
        <p14:creationId xmlns:p14="http://schemas.microsoft.com/office/powerpoint/2010/main" val="21812514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CD48873-4569-48AE-9711-BF92EE297A77}" type="datetime1">
              <a:rPr lang="en-US" smtClean="0"/>
              <a:t>9/10/2024</a:t>
            </a:fld>
            <a:endParaRPr lang="en-US" dirty="0"/>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defRPr>
            </a:lvl1pPr>
          </a:lstStyle>
          <a:p>
            <a:r>
              <a:rPr lang="en-US" dirty="0"/>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AFC719D-C4A7-4544-876E-D411D11AF6C9}" type="slidenum">
              <a:rPr lang="en-US" smtClean="0"/>
              <a:t>‹#›</a:t>
            </a:fld>
            <a:endParaRPr lang="en-US" dirty="0"/>
          </a:p>
        </p:txBody>
      </p:sp>
    </p:spTree>
    <p:custDataLst>
      <p:tags r:id="rId13"/>
    </p:custDataLst>
    <p:extLst>
      <p:ext uri="{BB962C8B-B14F-4D97-AF65-F5344CB8AC3E}">
        <p14:creationId xmlns:p14="http://schemas.microsoft.com/office/powerpoint/2010/main" val="3019070536"/>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hf hdr="0" dt="0"/>
  <p:txStyles>
    <p:titleStyle>
      <a:lvl1pPr algn="l" defTabSz="914411"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9EB39A1-2181-7751-3A9C-DD497656D778}"/>
              </a:ext>
            </a:extLst>
          </p:cNvPr>
          <p:cNvSpPr>
            <a:spLocks noGrp="1"/>
          </p:cNvSpPr>
          <p:nvPr>
            <p:ph type="title"/>
          </p:nvPr>
        </p:nvSpPr>
        <p:spPr>
          <a:xfrm>
            <a:off x="838200" y="365124"/>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7F76B2F-4CF9-EA9D-2AF2-B6F1F3AF1E3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38378443"/>
      </p:ext>
    </p:extLst>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 id="214748378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6.png"/><Relationship Id="rId1" Type="http://schemas.openxmlformats.org/officeDocument/2006/relationships/slideLayout" Target="../slideLayouts/slideLayout13.xml"/><Relationship Id="rId4" Type="http://schemas.openxmlformats.org/officeDocument/2006/relationships/image" Target="../media/image3.jpe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7.png"/><Relationship Id="rId1" Type="http://schemas.openxmlformats.org/officeDocument/2006/relationships/slideLayout" Target="../slideLayouts/slideLayout13.xml"/><Relationship Id="rId4" Type="http://schemas.openxmlformats.org/officeDocument/2006/relationships/image" Target="../media/image3.jpeg"/></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13.xml"/><Relationship Id="rId4" Type="http://schemas.openxmlformats.org/officeDocument/2006/relationships/image" Target="../media/image18.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19.jpeg"/><Relationship Id="rId2" Type="http://schemas.openxmlformats.org/officeDocument/2006/relationships/diagramData" Target="../diagrams/data1.xml"/><Relationship Id="rId1" Type="http://schemas.openxmlformats.org/officeDocument/2006/relationships/slideLayout" Target="../slideLayouts/slideLayout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2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4.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26.jpeg"/><Relationship Id="rId1" Type="http://schemas.openxmlformats.org/officeDocument/2006/relationships/slideLayout" Target="../slideLayouts/slideLayout6.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4.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31.jpeg"/><Relationship Id="rId7" Type="http://schemas.openxmlformats.org/officeDocument/2006/relationships/image" Target="../media/image35.jpeg"/><Relationship Id="rId2" Type="http://schemas.openxmlformats.org/officeDocument/2006/relationships/image" Target="../media/image30.png"/><Relationship Id="rId1" Type="http://schemas.openxmlformats.org/officeDocument/2006/relationships/slideLayout" Target="../slideLayouts/slideLayout6.xml"/><Relationship Id="rId6" Type="http://schemas.openxmlformats.org/officeDocument/2006/relationships/image" Target="../media/image34.png"/><Relationship Id="rId5" Type="http://schemas.openxmlformats.org/officeDocument/2006/relationships/image" Target="../media/image33.png"/><Relationship Id="rId10" Type="http://schemas.openxmlformats.org/officeDocument/2006/relationships/image" Target="../media/image38.jpeg"/><Relationship Id="rId4" Type="http://schemas.openxmlformats.org/officeDocument/2006/relationships/image" Target="../media/image32.png"/><Relationship Id="rId9" Type="http://schemas.openxmlformats.org/officeDocument/2006/relationships/image" Target="../media/image37.png"/></Relationships>
</file>

<file path=ppt/slides/_rels/slide2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jpeg"/><Relationship Id="rId1" Type="http://schemas.openxmlformats.org/officeDocument/2006/relationships/slideLayout" Target="../slideLayouts/slideLayout6.xml"/><Relationship Id="rId4" Type="http://schemas.openxmlformats.org/officeDocument/2006/relationships/image" Target="../media/image41.sv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hyperlink" Target="https://www.physiciansadvocacyinstitute.org/Portals/0/assets/docs/PAI-Research/PAI-Avalere%20Physician%20Employment%20Trends%20Study%202019-2023%20Final.pdf?ver=uGHF46u1GSeZgYXMKFyYvw%3d%3d" TargetMode="Externa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jpeg"/><Relationship Id="rId1" Type="http://schemas.openxmlformats.org/officeDocument/2006/relationships/slideLayout" Target="../slideLayouts/slideLayout2.xml"/><Relationship Id="rId6" Type="http://schemas.openxmlformats.org/officeDocument/2006/relationships/image" Target="../media/image45.jpeg"/><Relationship Id="rId5" Type="http://schemas.openxmlformats.org/officeDocument/2006/relationships/image" Target="../media/image44.jpeg"/><Relationship Id="rId4" Type="http://schemas.microsoft.com/office/2007/relationships/hdphoto" Target="../media/hdphoto2.wdp"/></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46.jpeg"/><Relationship Id="rId1" Type="http://schemas.openxmlformats.org/officeDocument/2006/relationships/slideLayout" Target="../slideLayouts/slideLayout6.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40.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46.jpeg"/><Relationship Id="rId1" Type="http://schemas.openxmlformats.org/officeDocument/2006/relationships/slideLayout" Target="../slideLayouts/slideLayout6.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4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jpeg"/><Relationship Id="rId1" Type="http://schemas.openxmlformats.org/officeDocument/2006/relationships/slideLayout" Target="../slideLayouts/slideLayout6.xml"/><Relationship Id="rId4" Type="http://schemas.openxmlformats.org/officeDocument/2006/relationships/image" Target="../media/image49.png"/></Relationships>
</file>

<file path=ppt/slides/_rels/slide42.xml.rels><?xml version="1.0" encoding="UTF-8" standalone="yes"?>
<Relationships xmlns="http://schemas.openxmlformats.org/package/2006/relationships"><Relationship Id="rId8" Type="http://schemas.openxmlformats.org/officeDocument/2006/relationships/image" Target="../media/image56.svg"/><Relationship Id="rId3" Type="http://schemas.openxmlformats.org/officeDocument/2006/relationships/image" Target="../media/image51.png"/><Relationship Id="rId7" Type="http://schemas.openxmlformats.org/officeDocument/2006/relationships/image" Target="../media/image55.png"/><Relationship Id="rId2" Type="http://schemas.openxmlformats.org/officeDocument/2006/relationships/image" Target="../media/image50.jpeg"/><Relationship Id="rId1" Type="http://schemas.openxmlformats.org/officeDocument/2006/relationships/slideLayout" Target="../slideLayouts/slideLayout6.xml"/><Relationship Id="rId6" Type="http://schemas.openxmlformats.org/officeDocument/2006/relationships/image" Target="../media/image54.svg"/><Relationship Id="rId11" Type="http://schemas.openxmlformats.org/officeDocument/2006/relationships/image" Target="../media/image49.png"/><Relationship Id="rId5" Type="http://schemas.openxmlformats.org/officeDocument/2006/relationships/image" Target="../media/image53.png"/><Relationship Id="rId10" Type="http://schemas.openxmlformats.org/officeDocument/2006/relationships/image" Target="../media/image58.svg"/><Relationship Id="rId4" Type="http://schemas.openxmlformats.org/officeDocument/2006/relationships/image" Target="../media/image52.svg"/><Relationship Id="rId9" Type="http://schemas.openxmlformats.org/officeDocument/2006/relationships/image" Target="../media/image5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1</a:t>
            </a:fld>
            <a:endParaRPr lang="en-US" dirty="0"/>
          </a:p>
        </p:txBody>
      </p:sp>
      <p:sp>
        <p:nvSpPr>
          <p:cNvPr id="9" name="Rectangle 8">
            <a:extLst>
              <a:ext uri="{FF2B5EF4-FFF2-40B4-BE49-F238E27FC236}">
                <a16:creationId xmlns:a16="http://schemas.microsoft.com/office/drawing/2014/main" id="{BB2B5697-E648-40EC-88C5-97A77999C18D}"/>
              </a:ext>
            </a:extLst>
          </p:cNvPr>
          <p:cNvSpPr/>
          <p:nvPr/>
        </p:nvSpPr>
        <p:spPr>
          <a:xfrm>
            <a:off x="0" y="0"/>
            <a:ext cx="981075" cy="6858000"/>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extBox 9">
            <a:extLst>
              <a:ext uri="{FF2B5EF4-FFF2-40B4-BE49-F238E27FC236}">
                <a16:creationId xmlns:a16="http://schemas.microsoft.com/office/drawing/2014/main" id="{B981BBA2-A3ED-6F7B-693B-880E5B031B26}"/>
              </a:ext>
            </a:extLst>
          </p:cNvPr>
          <p:cNvSpPr txBox="1"/>
          <p:nvPr/>
        </p:nvSpPr>
        <p:spPr>
          <a:xfrm>
            <a:off x="896984" y="0"/>
            <a:ext cx="11295016" cy="707886"/>
          </a:xfrm>
          <a:prstGeom prst="rect">
            <a:avLst/>
          </a:prstGeom>
          <a:solidFill>
            <a:srgbClr val="30589B"/>
          </a:solidFill>
          <a:ln>
            <a:noFill/>
          </a:ln>
        </p:spPr>
        <p:txBody>
          <a:bodyPr wrap="square" rtlCol="0">
            <a:spAutoFit/>
          </a:bodyPr>
          <a:lstStyle/>
          <a:p>
            <a:r>
              <a:rPr lang="en-US" sz="2000" b="1" dirty="0">
                <a:solidFill>
                  <a:schemeClr val="bg1"/>
                </a:solidFill>
              </a:rPr>
              <a:t>DIRECT-TO-EMPLOYER PLAN </a:t>
            </a:r>
          </a:p>
          <a:p>
            <a:r>
              <a:rPr lang="en-US" sz="2000" b="1" dirty="0">
                <a:solidFill>
                  <a:schemeClr val="bg1"/>
                </a:solidFill>
              </a:rPr>
              <a:t>July 22, 2024</a:t>
            </a:r>
          </a:p>
        </p:txBody>
      </p:sp>
      <p:pic>
        <p:nvPicPr>
          <p:cNvPr id="6" name="Picture 5" descr="A close-up of a logo&#10;&#10;Description automatically generated with medium confidence">
            <a:extLst>
              <a:ext uri="{FF2B5EF4-FFF2-40B4-BE49-F238E27FC236}">
                <a16:creationId xmlns:a16="http://schemas.microsoft.com/office/drawing/2014/main" id="{F66A7945-0E55-35D5-B6B3-1588521B85C3}"/>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016318" y="735756"/>
            <a:ext cx="1493520" cy="818092"/>
          </a:xfrm>
          <a:prstGeom prst="rect">
            <a:avLst/>
          </a:prstGeom>
        </p:spPr>
      </p:pic>
      <p:pic>
        <p:nvPicPr>
          <p:cNvPr id="2050" name="Picture 2" descr="Lehigh Valley | Bethlehem, PA, US | Bill Dickinson | Flickr">
            <a:extLst>
              <a:ext uri="{FF2B5EF4-FFF2-40B4-BE49-F238E27FC236}">
                <a16:creationId xmlns:a16="http://schemas.microsoft.com/office/drawing/2014/main" id="{960FC751-2A37-9680-5086-37ED9D505D28}"/>
              </a:ext>
            </a:extLst>
          </p:cNvPr>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a:stretch/>
        </p:blipFill>
        <p:spPr bwMode="auto">
          <a:xfrm>
            <a:off x="981075" y="1708929"/>
            <a:ext cx="11210925" cy="5149071"/>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4" descr="St. Luke's University Health Network's 150th Anniversary">
            <a:extLst>
              <a:ext uri="{FF2B5EF4-FFF2-40B4-BE49-F238E27FC236}">
                <a16:creationId xmlns:a16="http://schemas.microsoft.com/office/drawing/2014/main" id="{418AEC1D-1E1C-A206-08BE-266A53346372}"/>
              </a:ext>
            </a:extLst>
          </p:cNvPr>
          <p:cNvPicPr>
            <a:picLocks noChangeAspect="1" noChangeArrowheads="1"/>
          </p:cNvPicPr>
          <p:nvPr/>
        </p:nvPicPr>
        <p:blipFill>
          <a:blip r:embed="rId4"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9507764" y="579749"/>
            <a:ext cx="2266950" cy="11908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004645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E4D4BA5E-072E-BFC4-86A7-A8EC0FA16D37}"/>
              </a:ext>
            </a:extLst>
          </p:cNvPr>
          <p:cNvPicPr>
            <a:picLocks noChangeAspect="1"/>
          </p:cNvPicPr>
          <p:nvPr/>
        </p:nvPicPr>
        <p:blipFill>
          <a:blip r:embed="rId2"/>
          <a:stretch>
            <a:fillRect/>
          </a:stretch>
        </p:blipFill>
        <p:spPr>
          <a:xfrm>
            <a:off x="983975" y="1574349"/>
            <a:ext cx="7705725" cy="4657725"/>
          </a:xfrm>
          <a:prstGeom prst="rect">
            <a:avLst/>
          </a:prstGeom>
        </p:spPr>
      </p:pic>
      <p:sp>
        <p:nvSpPr>
          <p:cNvPr id="4" name="Footer Placeholder 3">
            <a:extLst>
              <a:ext uri="{FF2B5EF4-FFF2-40B4-BE49-F238E27FC236}">
                <a16:creationId xmlns:a16="http://schemas.microsoft.com/office/drawing/2014/main" id="{226CABA5-B853-4CE2-9D0B-B062457265F2}"/>
              </a:ext>
            </a:extLst>
          </p:cNvPr>
          <p:cNvSpPr>
            <a:spLocks noGrp="1"/>
          </p:cNvSpPr>
          <p:nvPr>
            <p:ph type="ftr" sz="quarter" idx="11"/>
          </p:nvPr>
        </p:nvSpPr>
        <p:spPr>
          <a:xfrm>
            <a:off x="396376" y="6471095"/>
            <a:ext cx="4114800" cy="250380"/>
          </a:xfrm>
        </p:spPr>
        <p:txBody>
          <a:bodyPr/>
          <a:lstStyle/>
          <a:p>
            <a:r>
              <a:rPr lang="en-US" dirty="0"/>
              <a:t>Key Benefit Administrators</a:t>
            </a:r>
          </a:p>
        </p:txBody>
      </p:sp>
      <p:sp>
        <p:nvSpPr>
          <p:cNvPr id="6" name="Rectangle 5">
            <a:extLst>
              <a:ext uri="{FF2B5EF4-FFF2-40B4-BE49-F238E27FC236}">
                <a16:creationId xmlns:a16="http://schemas.microsoft.com/office/drawing/2014/main" id="{F34C8217-D749-4511-B7B5-02F77484B378}"/>
              </a:ext>
            </a:extLst>
          </p:cNvPr>
          <p:cNvSpPr/>
          <p:nvPr/>
        </p:nvSpPr>
        <p:spPr>
          <a:xfrm>
            <a:off x="10887075" y="0"/>
            <a:ext cx="1304925" cy="6872068"/>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Slide Number Placeholder 4">
            <a:extLst>
              <a:ext uri="{FF2B5EF4-FFF2-40B4-BE49-F238E27FC236}">
                <a16:creationId xmlns:a16="http://schemas.microsoft.com/office/drawing/2014/main" id="{C4EC4C45-7E95-496F-9B8E-C3FD224C0AA9}"/>
              </a:ext>
            </a:extLst>
          </p:cNvPr>
          <p:cNvSpPr>
            <a:spLocks noGrp="1"/>
          </p:cNvSpPr>
          <p:nvPr>
            <p:ph type="sldNum" sz="quarter" idx="12"/>
          </p:nvPr>
        </p:nvSpPr>
        <p:spPr/>
        <p:txBody>
          <a:bodyPr/>
          <a:lstStyle/>
          <a:p>
            <a:fld id="{3AFC719D-C4A7-4544-876E-D411D11AF6C9}" type="slidenum">
              <a:rPr lang="en-US" smtClean="0"/>
              <a:t>2</a:t>
            </a:fld>
            <a:endParaRPr lang="en-US" dirty="0"/>
          </a:p>
        </p:txBody>
      </p:sp>
      <p:sp>
        <p:nvSpPr>
          <p:cNvPr id="9" name="Title 1">
            <a:extLst>
              <a:ext uri="{FF2B5EF4-FFF2-40B4-BE49-F238E27FC236}">
                <a16:creationId xmlns:a16="http://schemas.microsoft.com/office/drawing/2014/main" id="{553571B1-9896-47E3-8ADF-78C38648412E}"/>
              </a:ext>
            </a:extLst>
          </p:cNvPr>
          <p:cNvSpPr>
            <a:spLocks noGrp="1"/>
          </p:cNvSpPr>
          <p:nvPr>
            <p:ph type="title"/>
          </p:nvPr>
        </p:nvSpPr>
        <p:spPr>
          <a:xfrm>
            <a:off x="396376" y="1023915"/>
            <a:ext cx="9984796" cy="502882"/>
          </a:xfrm>
          <a:noFill/>
        </p:spPr>
        <p:txBody>
          <a:bodyPr vert="horz" lIns="91440" tIns="45720" rIns="91440" bIns="45720" rtlCol="0" anchor="t">
            <a:normAutofit/>
          </a:bodyPr>
          <a:lstStyle/>
          <a:p>
            <a:r>
              <a:rPr lang="en-US" sz="2800" b="1" spc="150" dirty="0">
                <a:solidFill>
                  <a:srgbClr val="0F5DA6"/>
                </a:solidFill>
                <a:latin typeface="Arial" panose="020B0604020202020204" pitchFamily="34" charset="0"/>
                <a:cs typeface="Arial" panose="020B0604020202020204" pitchFamily="34" charset="0"/>
              </a:rPr>
              <a:t>Healthcare Leader in Private Labeled DTE Plans</a:t>
            </a:r>
            <a:endParaRPr lang="en-US" sz="2800" b="1" cap="all" spc="150" dirty="0">
              <a:solidFill>
                <a:srgbClr val="0F5DA6"/>
              </a:solidFill>
              <a:latin typeface="Arial" panose="020B0604020202020204" pitchFamily="34" charset="0"/>
              <a:cs typeface="Arial" panose="020B0604020202020204" pitchFamily="34" charset="0"/>
            </a:endParaRPr>
          </a:p>
        </p:txBody>
      </p:sp>
      <p:pic>
        <p:nvPicPr>
          <p:cNvPr id="10242" name="Picture 2">
            <a:extLst>
              <a:ext uri="{FF2B5EF4-FFF2-40B4-BE49-F238E27FC236}">
                <a16:creationId xmlns:a16="http://schemas.microsoft.com/office/drawing/2014/main" id="{654A305B-9BE0-4449-826C-ACCCBB29F8D4}"/>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396376" y="293729"/>
            <a:ext cx="3645898" cy="629962"/>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Rounded Corners 7">
            <a:extLst>
              <a:ext uri="{FF2B5EF4-FFF2-40B4-BE49-F238E27FC236}">
                <a16:creationId xmlns:a16="http://schemas.microsoft.com/office/drawing/2014/main" id="{880AE72B-2936-B7FD-B16B-B7DDE61C48BF}"/>
              </a:ext>
            </a:extLst>
          </p:cNvPr>
          <p:cNvSpPr/>
          <p:nvPr/>
        </p:nvSpPr>
        <p:spPr>
          <a:xfrm>
            <a:off x="2659533" y="3974049"/>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Bentonville, AR</a:t>
            </a:r>
          </a:p>
          <a:p>
            <a:pPr algn="ctr"/>
            <a:r>
              <a:rPr lang="en-US" sz="1200" dirty="0">
                <a:latin typeface="Arial" panose="020B0604020202020204" pitchFamily="34" charset="0"/>
                <a:cs typeface="Arial" panose="020B0604020202020204" pitchFamily="34" charset="0"/>
              </a:rPr>
              <a:t>Northwest Health Plan</a:t>
            </a:r>
          </a:p>
        </p:txBody>
      </p:sp>
      <p:sp>
        <p:nvSpPr>
          <p:cNvPr id="10" name="Rectangle: Rounded Corners 9">
            <a:extLst>
              <a:ext uri="{FF2B5EF4-FFF2-40B4-BE49-F238E27FC236}">
                <a16:creationId xmlns:a16="http://schemas.microsoft.com/office/drawing/2014/main" id="{83BAAF75-9BFE-8A09-84C8-29127AD11CC8}"/>
              </a:ext>
            </a:extLst>
          </p:cNvPr>
          <p:cNvSpPr/>
          <p:nvPr/>
        </p:nvSpPr>
        <p:spPr>
          <a:xfrm>
            <a:off x="3572730" y="5257649"/>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Meridian, MS</a:t>
            </a:r>
          </a:p>
          <a:p>
            <a:pPr algn="ctr"/>
            <a:r>
              <a:rPr lang="en-US" sz="1200" dirty="0">
                <a:latin typeface="Arial" panose="020B0604020202020204" pitchFamily="34" charset="0"/>
                <a:cs typeface="Arial" panose="020B0604020202020204" pitchFamily="34" charset="0"/>
              </a:rPr>
              <a:t>Affinity Health Plan</a:t>
            </a:r>
          </a:p>
        </p:txBody>
      </p:sp>
      <p:sp>
        <p:nvSpPr>
          <p:cNvPr id="11" name="Rectangle: Rounded Corners 10">
            <a:extLst>
              <a:ext uri="{FF2B5EF4-FFF2-40B4-BE49-F238E27FC236}">
                <a16:creationId xmlns:a16="http://schemas.microsoft.com/office/drawing/2014/main" id="{F7F76DEC-1B86-5F34-4522-EE137E2BEDC5}"/>
              </a:ext>
            </a:extLst>
          </p:cNvPr>
          <p:cNvSpPr/>
          <p:nvPr/>
        </p:nvSpPr>
        <p:spPr>
          <a:xfrm>
            <a:off x="7452111" y="5382713"/>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Fort Myers, FL</a:t>
            </a:r>
          </a:p>
          <a:p>
            <a:pPr algn="ctr"/>
            <a:r>
              <a:rPr lang="en-US" sz="1200" dirty="0">
                <a:latin typeface="Arial" panose="020B0604020202020204" pitchFamily="34" charset="0"/>
                <a:cs typeface="Arial" panose="020B0604020202020204" pitchFamily="34" charset="0"/>
              </a:rPr>
              <a:t>Lee Health Care Partners</a:t>
            </a:r>
          </a:p>
        </p:txBody>
      </p:sp>
      <p:sp>
        <p:nvSpPr>
          <p:cNvPr id="12" name="Rectangle: Rounded Corners 11">
            <a:extLst>
              <a:ext uri="{FF2B5EF4-FFF2-40B4-BE49-F238E27FC236}">
                <a16:creationId xmlns:a16="http://schemas.microsoft.com/office/drawing/2014/main" id="{B522D9FB-03E8-0475-A3A5-AF33059EA7E6}"/>
              </a:ext>
            </a:extLst>
          </p:cNvPr>
          <p:cNvSpPr/>
          <p:nvPr/>
        </p:nvSpPr>
        <p:spPr>
          <a:xfrm>
            <a:off x="7208737" y="4373211"/>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Knoxville, TN</a:t>
            </a:r>
          </a:p>
          <a:p>
            <a:pPr algn="ctr"/>
            <a:r>
              <a:rPr lang="en-US" sz="1200" dirty="0">
                <a:latin typeface="Arial" panose="020B0604020202020204" pitchFamily="34" charset="0"/>
                <a:cs typeface="Arial" panose="020B0604020202020204" pitchFamily="34" charset="0"/>
              </a:rPr>
              <a:t>East Tennessee Health Plan</a:t>
            </a:r>
          </a:p>
        </p:txBody>
      </p:sp>
      <p:sp>
        <p:nvSpPr>
          <p:cNvPr id="13" name="Rectangle: Rounded Corners 12">
            <a:extLst>
              <a:ext uri="{FF2B5EF4-FFF2-40B4-BE49-F238E27FC236}">
                <a16:creationId xmlns:a16="http://schemas.microsoft.com/office/drawing/2014/main" id="{F3AB3343-FA0C-E9FA-637F-E45BB11DFFC1}"/>
              </a:ext>
            </a:extLst>
          </p:cNvPr>
          <p:cNvSpPr/>
          <p:nvPr/>
        </p:nvSpPr>
        <p:spPr>
          <a:xfrm>
            <a:off x="7047737" y="3363709"/>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Cincinnati, OH</a:t>
            </a:r>
          </a:p>
          <a:p>
            <a:pPr algn="ctr"/>
            <a:r>
              <a:rPr lang="en-US" sz="1200" dirty="0">
                <a:latin typeface="Arial" panose="020B0604020202020204" pitchFamily="34" charset="0"/>
                <a:cs typeface="Arial" panose="020B0604020202020204" pitchFamily="34" charset="0"/>
              </a:rPr>
              <a:t>TCH Optimal</a:t>
            </a:r>
          </a:p>
        </p:txBody>
      </p:sp>
      <p:sp>
        <p:nvSpPr>
          <p:cNvPr id="14" name="Rectangle: Rounded Corners 13">
            <a:extLst>
              <a:ext uri="{FF2B5EF4-FFF2-40B4-BE49-F238E27FC236}">
                <a16:creationId xmlns:a16="http://schemas.microsoft.com/office/drawing/2014/main" id="{A5F1AA97-617E-DEDA-E780-8518ACB143FB}"/>
              </a:ext>
            </a:extLst>
          </p:cNvPr>
          <p:cNvSpPr/>
          <p:nvPr/>
        </p:nvSpPr>
        <p:spPr>
          <a:xfrm>
            <a:off x="3870663" y="2934468"/>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Louisville, KY</a:t>
            </a:r>
          </a:p>
          <a:p>
            <a:pPr algn="ctr"/>
            <a:r>
              <a:rPr lang="en-US" sz="1200" dirty="0" err="1">
                <a:latin typeface="Arial" panose="020B0604020202020204" pitchFamily="34" charset="0"/>
                <a:cs typeface="Arial" panose="020B0604020202020204" pitchFamily="34" charset="0"/>
              </a:rPr>
              <a:t>OneHealth</a:t>
            </a:r>
            <a:r>
              <a:rPr lang="en-US" sz="1200" dirty="0">
                <a:latin typeface="Arial" panose="020B0604020202020204" pitchFamily="34" charset="0"/>
                <a:cs typeface="Arial" panose="020B0604020202020204" pitchFamily="34" charset="0"/>
              </a:rPr>
              <a:t> Plan</a:t>
            </a:r>
          </a:p>
        </p:txBody>
      </p:sp>
    </p:spTree>
    <p:extLst>
      <p:ext uri="{BB962C8B-B14F-4D97-AF65-F5344CB8AC3E}">
        <p14:creationId xmlns:p14="http://schemas.microsoft.com/office/powerpoint/2010/main" val="2639721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1409959" y="1292697"/>
            <a:ext cx="3677156" cy="3043929"/>
          </a:xfrm>
        </p:spPr>
        <p:txBody>
          <a:bodyPr>
            <a:noAutofit/>
          </a:bodyPr>
          <a:lstStyle/>
          <a:p>
            <a:pPr>
              <a:lnSpc>
                <a:spcPct val="100000"/>
              </a:lnSpc>
              <a:spcBef>
                <a:spcPts val="1800"/>
              </a:spcBef>
              <a:spcAft>
                <a:spcPts val="600"/>
              </a:spcAft>
            </a:pPr>
            <a:r>
              <a:rPr lang="en-US" sz="4000" b="1" dirty="0">
                <a:solidFill>
                  <a:srgbClr val="000B2E"/>
                </a:solidFill>
                <a:latin typeface="Arial" panose="020B0604020202020204" pitchFamily="34" charset="0"/>
                <a:cs typeface="Arial" panose="020B0604020202020204" pitchFamily="34" charset="0"/>
              </a:rPr>
              <a:t>Direct-to-Employer</a:t>
            </a:r>
            <a:br>
              <a:rPr lang="en-US" sz="4000" b="1" dirty="0">
                <a:solidFill>
                  <a:srgbClr val="000B2E"/>
                </a:solidFill>
                <a:latin typeface="Arial" panose="020B0604020202020204" pitchFamily="34" charset="0"/>
                <a:cs typeface="Arial" panose="020B0604020202020204" pitchFamily="34" charset="0"/>
              </a:rPr>
            </a:br>
            <a:r>
              <a:rPr lang="en-US" sz="2800" b="1" dirty="0">
                <a:solidFill>
                  <a:srgbClr val="000B2E"/>
                </a:solidFill>
                <a:latin typeface="Arial" panose="020B0604020202020204" pitchFamily="34" charset="0"/>
                <a:cs typeface="Arial" panose="020B0604020202020204" pitchFamily="34" charset="0"/>
              </a:rPr>
              <a:t>(DTE)</a:t>
            </a:r>
            <a:br>
              <a:rPr lang="en-US" sz="1600" b="1" dirty="0">
                <a:solidFill>
                  <a:srgbClr val="000B2E"/>
                </a:solidFill>
                <a:latin typeface="Arial" panose="020B0604020202020204" pitchFamily="34" charset="0"/>
                <a:cs typeface="Arial" panose="020B0604020202020204" pitchFamily="34" charset="0"/>
              </a:rPr>
            </a:br>
            <a:br>
              <a:rPr lang="en-US" sz="1600" b="1" dirty="0">
                <a:solidFill>
                  <a:srgbClr val="000B2E"/>
                </a:solidFill>
                <a:latin typeface="Arial" panose="020B0604020202020204" pitchFamily="34" charset="0"/>
                <a:cs typeface="Arial" panose="020B0604020202020204" pitchFamily="34" charset="0"/>
              </a:rPr>
            </a:br>
            <a:r>
              <a:rPr lang="en-US" sz="1600" b="1" dirty="0">
                <a:solidFill>
                  <a:srgbClr val="000B2E"/>
                </a:solidFill>
                <a:latin typeface="Arial" panose="020B0604020202020204" pitchFamily="34" charset="0"/>
                <a:cs typeface="Arial" panose="020B0604020202020204" pitchFamily="34" charset="0"/>
              </a:rPr>
              <a:t>Your plan focused on Your relationship with Employers</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AA5B62E5-A9EF-46A8-AEE5-C69E2BA73BE1}"/>
              </a:ext>
            </a:extLst>
          </p:cNvPr>
          <p:cNvSpPr>
            <a:spLocks noGrp="1"/>
          </p:cNvSpPr>
          <p:nvPr>
            <p:ph idx="1"/>
          </p:nvPr>
        </p:nvSpPr>
        <p:spPr>
          <a:xfrm>
            <a:off x="6317763" y="1468132"/>
            <a:ext cx="5672318" cy="4660901"/>
          </a:xfrm>
        </p:spPr>
        <p:txBody>
          <a:bodyPr>
            <a:normAutofit/>
          </a:bodyPr>
          <a:lstStyle/>
          <a:p>
            <a:pPr marL="0" indent="0">
              <a:lnSpc>
                <a:spcPct val="150000"/>
              </a:lnSpc>
              <a:spcAft>
                <a:spcPts val="1200"/>
              </a:spcAft>
              <a:buNone/>
            </a:pPr>
            <a:r>
              <a:rPr lang="en-US" sz="2400" b="1" dirty="0">
                <a:solidFill>
                  <a:srgbClr val="59CAE8"/>
                </a:solidFill>
                <a:latin typeface="Arial Black" panose="020B0A04020102020204" pitchFamily="34" charset="0"/>
              </a:rPr>
              <a:t>YOU</a:t>
            </a:r>
            <a:r>
              <a:rPr lang="en-US" sz="2700" dirty="0">
                <a:solidFill>
                  <a:srgbClr val="9900CC"/>
                </a:solidFill>
              </a:rPr>
              <a:t> </a:t>
            </a:r>
            <a:r>
              <a:rPr lang="en-US" sz="2700" dirty="0">
                <a:solidFill>
                  <a:schemeClr val="tx1">
                    <a:lumMod val="75000"/>
                    <a:lumOff val="25000"/>
                  </a:schemeClr>
                </a:solidFill>
              </a:rPr>
              <a:t>Pick the Name of the Health Plan</a:t>
            </a:r>
          </a:p>
          <a:p>
            <a:pPr marL="0" indent="0">
              <a:lnSpc>
                <a:spcPct val="150000"/>
              </a:lnSpc>
              <a:spcAft>
                <a:spcPts val="1200"/>
              </a:spcAft>
              <a:buNone/>
            </a:pPr>
            <a:r>
              <a:rPr lang="en-US" sz="2400" b="1" dirty="0">
                <a:solidFill>
                  <a:srgbClr val="59CAE8"/>
                </a:solidFill>
                <a:latin typeface="Arial Black" panose="020B0A04020102020204" pitchFamily="34" charset="0"/>
              </a:rPr>
              <a:t>YOU</a:t>
            </a:r>
            <a:r>
              <a:rPr lang="en-US" sz="2700" dirty="0"/>
              <a:t> </a:t>
            </a:r>
            <a:r>
              <a:rPr lang="en-US" sz="2700" dirty="0">
                <a:solidFill>
                  <a:schemeClr val="tx1">
                    <a:lumMod val="75000"/>
                    <a:lumOff val="25000"/>
                  </a:schemeClr>
                </a:solidFill>
              </a:rPr>
              <a:t>Determine the Fees Charged</a:t>
            </a:r>
          </a:p>
          <a:p>
            <a:pPr marL="0" indent="0">
              <a:lnSpc>
                <a:spcPct val="150000"/>
              </a:lnSpc>
              <a:spcAft>
                <a:spcPts val="1200"/>
              </a:spcAft>
              <a:buNone/>
            </a:pPr>
            <a:r>
              <a:rPr lang="en-US" sz="2400" b="1" dirty="0">
                <a:solidFill>
                  <a:srgbClr val="59CAE8"/>
                </a:solidFill>
                <a:latin typeface="Arial Black" panose="020B0A04020102020204" pitchFamily="34" charset="0"/>
              </a:rPr>
              <a:t>YOU</a:t>
            </a:r>
            <a:r>
              <a:rPr lang="en-US" sz="2700" dirty="0"/>
              <a:t> </a:t>
            </a:r>
            <a:r>
              <a:rPr lang="en-US" sz="2700" dirty="0">
                <a:solidFill>
                  <a:schemeClr val="tx1">
                    <a:lumMod val="75000"/>
                    <a:lumOff val="25000"/>
                  </a:schemeClr>
                </a:solidFill>
              </a:rPr>
              <a:t>Practice the Medicine </a:t>
            </a:r>
          </a:p>
          <a:p>
            <a:pPr marL="0" indent="0">
              <a:lnSpc>
                <a:spcPct val="150000"/>
              </a:lnSpc>
              <a:spcAft>
                <a:spcPts val="1200"/>
              </a:spcAft>
              <a:buNone/>
            </a:pPr>
            <a:r>
              <a:rPr lang="en-US" sz="2400" b="1" dirty="0">
                <a:solidFill>
                  <a:srgbClr val="59CAE8"/>
                </a:solidFill>
                <a:latin typeface="Arial Black" panose="020B0A04020102020204" pitchFamily="34" charset="0"/>
              </a:rPr>
              <a:t>YOU</a:t>
            </a:r>
            <a:r>
              <a:rPr lang="en-US" sz="2700" dirty="0">
                <a:solidFill>
                  <a:srgbClr val="9900CC"/>
                </a:solidFill>
              </a:rPr>
              <a:t> </a:t>
            </a:r>
            <a:r>
              <a:rPr lang="en-US" sz="2700" dirty="0">
                <a:solidFill>
                  <a:schemeClr val="tx1">
                    <a:lumMod val="75000"/>
                    <a:lumOff val="25000"/>
                  </a:schemeClr>
                </a:solidFill>
              </a:rPr>
              <a:t>Receive the Profits  </a:t>
            </a:r>
          </a:p>
          <a:p>
            <a:pPr marL="0" indent="0">
              <a:lnSpc>
                <a:spcPct val="150000"/>
              </a:lnSpc>
              <a:spcAft>
                <a:spcPts val="1200"/>
              </a:spcAft>
              <a:buNone/>
            </a:pPr>
            <a:r>
              <a:rPr lang="en-US" sz="2700" b="1" dirty="0">
                <a:solidFill>
                  <a:srgbClr val="59CAE8"/>
                </a:solidFill>
                <a:latin typeface="Arial Black" panose="020B0A04020102020204" pitchFamily="34" charset="0"/>
              </a:rPr>
              <a:t>WE</a:t>
            </a:r>
            <a:r>
              <a:rPr lang="en-US" sz="2700" dirty="0">
                <a:solidFill>
                  <a:srgbClr val="9900CC"/>
                </a:solidFill>
              </a:rPr>
              <a:t> </a:t>
            </a:r>
            <a:r>
              <a:rPr lang="en-US" sz="2700" dirty="0">
                <a:solidFill>
                  <a:schemeClr val="tx1">
                    <a:lumMod val="75000"/>
                    <a:lumOff val="25000"/>
                  </a:schemeClr>
                </a:solidFill>
              </a:rPr>
              <a:t>Make it Successful</a:t>
            </a:r>
          </a:p>
        </p:txBody>
      </p:sp>
      <p:sp>
        <p:nvSpPr>
          <p:cNvPr id="4"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3</a:t>
            </a:fld>
            <a:endParaRPr lang="en-US" dirty="0"/>
          </a:p>
        </p:txBody>
      </p:sp>
      <p:sp>
        <p:nvSpPr>
          <p:cNvPr id="9" name="Rectangle 8">
            <a:extLst>
              <a:ext uri="{FF2B5EF4-FFF2-40B4-BE49-F238E27FC236}">
                <a16:creationId xmlns:a16="http://schemas.microsoft.com/office/drawing/2014/main" id="{BB2B5697-E648-40EC-88C5-97A77999C18D}"/>
              </a:ext>
            </a:extLst>
          </p:cNvPr>
          <p:cNvSpPr/>
          <p:nvPr/>
        </p:nvSpPr>
        <p:spPr>
          <a:xfrm>
            <a:off x="0" y="0"/>
            <a:ext cx="981075" cy="6858000"/>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2" name="Group 41">
            <a:extLst>
              <a:ext uri="{FF2B5EF4-FFF2-40B4-BE49-F238E27FC236}">
                <a16:creationId xmlns:a16="http://schemas.microsoft.com/office/drawing/2014/main" id="{C3A11C0D-6225-4F5F-9034-762253C251A2}"/>
              </a:ext>
            </a:extLst>
          </p:cNvPr>
          <p:cNvGrpSpPr/>
          <p:nvPr/>
        </p:nvGrpSpPr>
        <p:grpSpPr>
          <a:xfrm>
            <a:off x="5489623" y="1468132"/>
            <a:ext cx="640080" cy="4254692"/>
            <a:chOff x="5315974" y="943768"/>
            <a:chExt cx="640080" cy="4254692"/>
          </a:xfrm>
          <a:noFill/>
        </p:grpSpPr>
        <p:pic>
          <p:nvPicPr>
            <p:cNvPr id="3082" name="Picture 10" descr="Blue check mark - Transparent PNG &amp; SVG vector file">
              <a:extLst>
                <a:ext uri="{FF2B5EF4-FFF2-40B4-BE49-F238E27FC236}">
                  <a16:creationId xmlns:a16="http://schemas.microsoft.com/office/drawing/2014/main" id="{D8A1C779-0B9F-4A67-8037-7D25A11FFAA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4558380"/>
              <a:ext cx="640080" cy="640080"/>
            </a:xfrm>
            <a:prstGeom prst="rect">
              <a:avLst/>
            </a:prstGeom>
            <a:grpFill/>
          </p:spPr>
        </p:pic>
        <p:pic>
          <p:nvPicPr>
            <p:cNvPr id="51" name="Picture 10" descr="Blue check mark - Transparent PNG &amp; SVG vector file">
              <a:extLst>
                <a:ext uri="{FF2B5EF4-FFF2-40B4-BE49-F238E27FC236}">
                  <a16:creationId xmlns:a16="http://schemas.microsoft.com/office/drawing/2014/main" id="{78B72E30-7B45-40B1-9302-CE9A3F3AD971}"/>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3678222"/>
              <a:ext cx="640080" cy="640080"/>
            </a:xfrm>
            <a:prstGeom prst="rect">
              <a:avLst/>
            </a:prstGeom>
            <a:grpFill/>
          </p:spPr>
        </p:pic>
        <p:pic>
          <p:nvPicPr>
            <p:cNvPr id="52" name="Picture 10" descr="Blue check mark - Transparent PNG &amp; SVG vector file">
              <a:extLst>
                <a:ext uri="{FF2B5EF4-FFF2-40B4-BE49-F238E27FC236}">
                  <a16:creationId xmlns:a16="http://schemas.microsoft.com/office/drawing/2014/main" id="{9D9240A2-869D-4166-9772-32124160B4A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2798065"/>
              <a:ext cx="640080" cy="640080"/>
            </a:xfrm>
            <a:prstGeom prst="rect">
              <a:avLst/>
            </a:prstGeom>
            <a:grpFill/>
          </p:spPr>
        </p:pic>
        <p:pic>
          <p:nvPicPr>
            <p:cNvPr id="53" name="Picture 10" descr="Blue check mark - Transparent PNG &amp; SVG vector file">
              <a:extLst>
                <a:ext uri="{FF2B5EF4-FFF2-40B4-BE49-F238E27FC236}">
                  <a16:creationId xmlns:a16="http://schemas.microsoft.com/office/drawing/2014/main" id="{E8C8DD14-AAF4-4762-B170-F052A3B2288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1870916"/>
              <a:ext cx="640080" cy="640080"/>
            </a:xfrm>
            <a:prstGeom prst="rect">
              <a:avLst/>
            </a:prstGeom>
            <a:grpFill/>
          </p:spPr>
        </p:pic>
        <p:pic>
          <p:nvPicPr>
            <p:cNvPr id="54" name="Picture 10" descr="Blue check mark - Transparent PNG &amp; SVG vector file">
              <a:extLst>
                <a:ext uri="{FF2B5EF4-FFF2-40B4-BE49-F238E27FC236}">
                  <a16:creationId xmlns:a16="http://schemas.microsoft.com/office/drawing/2014/main" id="{C05F6E83-E756-4853-B3A8-49C6BE032581}"/>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943768"/>
              <a:ext cx="640080" cy="640080"/>
            </a:xfrm>
            <a:prstGeom prst="rect">
              <a:avLst/>
            </a:prstGeom>
            <a:grpFill/>
          </p:spPr>
        </p:pic>
      </p:grpSp>
      <p:pic>
        <p:nvPicPr>
          <p:cNvPr id="7" name="Picture 4" descr="St. Luke's University Health Network's 150th Anniversary">
            <a:extLst>
              <a:ext uri="{FF2B5EF4-FFF2-40B4-BE49-F238E27FC236}">
                <a16:creationId xmlns:a16="http://schemas.microsoft.com/office/drawing/2014/main" id="{D6AB8280-65CC-A73E-FAC0-B6BB8F43AF67}"/>
              </a:ext>
            </a:extLst>
          </p:cNvPr>
          <p:cNvPicPr>
            <a:picLocks noChangeAspect="1" noChangeArrowheads="1"/>
          </p:cNvPicPr>
          <p:nvPr/>
        </p:nvPicPr>
        <p:blipFill>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9493250" y="-64796"/>
            <a:ext cx="2266950" cy="11908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528335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Top Corners Snipped 11">
            <a:extLst>
              <a:ext uri="{FF2B5EF4-FFF2-40B4-BE49-F238E27FC236}">
                <a16:creationId xmlns:a16="http://schemas.microsoft.com/office/drawing/2014/main" id="{C7294A92-B19F-3B44-DB12-00913CE67D8E}"/>
              </a:ext>
            </a:extLst>
          </p:cNvPr>
          <p:cNvSpPr/>
          <p:nvPr/>
        </p:nvSpPr>
        <p:spPr>
          <a:xfrm rot="5400000">
            <a:off x="8391398" y="1277595"/>
            <a:ext cx="1103086" cy="2468880"/>
          </a:xfrm>
          <a:prstGeom prst="snip2SameRect">
            <a:avLst/>
          </a:prstGeom>
          <a:gradFill flip="none" rotWithShape="1">
            <a:gsLst>
              <a:gs pos="0">
                <a:schemeClr val="accent6">
                  <a:lumMod val="75000"/>
                </a:schemeClr>
              </a:gs>
              <a:gs pos="50000">
                <a:schemeClr val="accent6">
                  <a:lumMod val="60000"/>
                  <a:lumOff val="40000"/>
                </a:schemeClr>
              </a:gs>
              <a:gs pos="100000">
                <a:schemeClr val="accent1">
                  <a:lumMod val="40000"/>
                  <a:lumOff val="60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4</a:t>
            </a:fld>
            <a:endParaRPr lang="en-US" dirty="0"/>
          </a:p>
        </p:txBody>
      </p:sp>
      <p:sp>
        <p:nvSpPr>
          <p:cNvPr id="9" name="Rectangle 8">
            <a:extLst>
              <a:ext uri="{FF2B5EF4-FFF2-40B4-BE49-F238E27FC236}">
                <a16:creationId xmlns:a16="http://schemas.microsoft.com/office/drawing/2014/main" id="{BB2B5697-E648-40EC-88C5-97A77999C18D}"/>
              </a:ext>
            </a:extLst>
          </p:cNvPr>
          <p:cNvSpPr/>
          <p:nvPr/>
        </p:nvSpPr>
        <p:spPr>
          <a:xfrm>
            <a:off x="-2867" y="6008914"/>
            <a:ext cx="12194867" cy="849086"/>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Box 12">
            <a:extLst>
              <a:ext uri="{FF2B5EF4-FFF2-40B4-BE49-F238E27FC236}">
                <a16:creationId xmlns:a16="http://schemas.microsoft.com/office/drawing/2014/main" id="{061C4F0D-14E1-8EB9-6313-04B404BF313E}"/>
              </a:ext>
            </a:extLst>
          </p:cNvPr>
          <p:cNvSpPr txBox="1"/>
          <p:nvPr/>
        </p:nvSpPr>
        <p:spPr>
          <a:xfrm>
            <a:off x="1036930" y="3444621"/>
            <a:ext cx="3034331" cy="1323439"/>
          </a:xfrm>
          <a:prstGeom prst="rect">
            <a:avLst/>
          </a:prstGeom>
          <a:noFill/>
        </p:spPr>
        <p:txBody>
          <a:bodyPr wrap="square">
            <a:spAutoFit/>
          </a:bodyPr>
          <a:lstStyle/>
          <a:p>
            <a:pPr algn="ctr"/>
            <a:r>
              <a:rPr lang="en-US" sz="4000" dirty="0">
                <a:solidFill>
                  <a:schemeClr val="accent2"/>
                </a:solidFill>
              </a:rPr>
              <a:t>Results in</a:t>
            </a:r>
          </a:p>
          <a:p>
            <a:pPr algn="ctr"/>
            <a:r>
              <a:rPr lang="en-US" sz="4000" dirty="0">
                <a:solidFill>
                  <a:schemeClr val="accent2"/>
                </a:solidFill>
              </a:rPr>
              <a:t>~$.37 of loss</a:t>
            </a:r>
          </a:p>
        </p:txBody>
      </p:sp>
      <p:sp>
        <p:nvSpPr>
          <p:cNvPr id="14" name="Rectangle: Top Corners Snipped 13">
            <a:extLst>
              <a:ext uri="{FF2B5EF4-FFF2-40B4-BE49-F238E27FC236}">
                <a16:creationId xmlns:a16="http://schemas.microsoft.com/office/drawing/2014/main" id="{29FF9586-6515-7D59-3DF7-88C78AC367B3}"/>
              </a:ext>
            </a:extLst>
          </p:cNvPr>
          <p:cNvSpPr/>
          <p:nvPr/>
        </p:nvSpPr>
        <p:spPr>
          <a:xfrm rot="16200000">
            <a:off x="2929739" y="1279707"/>
            <a:ext cx="1103086" cy="2464655"/>
          </a:xfrm>
          <a:prstGeom prst="snip2SameRect">
            <a:avLst/>
          </a:prstGeom>
          <a:gradFill flip="none" rotWithShape="1">
            <a:gsLst>
              <a:gs pos="0">
                <a:schemeClr val="accent2">
                  <a:lumMod val="75000"/>
                </a:schemeClr>
              </a:gs>
              <a:gs pos="50000">
                <a:schemeClr val="accent2">
                  <a:lumMod val="40000"/>
                  <a:lumOff val="60000"/>
                </a:schemeClr>
              </a:gs>
              <a:gs pos="100000">
                <a:schemeClr val="accent1">
                  <a:lumMod val="40000"/>
                  <a:lumOff val="60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A9E02499-7410-E23C-4113-F4DA25A9DAA4}"/>
              </a:ext>
            </a:extLst>
          </p:cNvPr>
          <p:cNvSpPr txBox="1"/>
          <p:nvPr/>
        </p:nvSpPr>
        <p:spPr>
          <a:xfrm>
            <a:off x="2321529" y="2032441"/>
            <a:ext cx="2319505" cy="954107"/>
          </a:xfrm>
          <a:prstGeom prst="rect">
            <a:avLst/>
          </a:prstGeom>
          <a:noFill/>
        </p:spPr>
        <p:txBody>
          <a:bodyPr wrap="square">
            <a:spAutoFit/>
          </a:bodyPr>
          <a:lstStyle/>
          <a:p>
            <a:pPr algn="ctr"/>
            <a:r>
              <a:rPr lang="en-US" sz="2800" dirty="0">
                <a:solidFill>
                  <a:schemeClr val="tx1">
                    <a:lumMod val="75000"/>
                    <a:lumOff val="25000"/>
                  </a:schemeClr>
                </a:solidFill>
              </a:rPr>
              <a:t>Government Pay</a:t>
            </a:r>
            <a:endParaRPr lang="en-US" sz="2800" dirty="0"/>
          </a:p>
        </p:txBody>
      </p:sp>
      <p:sp>
        <p:nvSpPr>
          <p:cNvPr id="15" name="TextBox 14">
            <a:extLst>
              <a:ext uri="{FF2B5EF4-FFF2-40B4-BE49-F238E27FC236}">
                <a16:creationId xmlns:a16="http://schemas.microsoft.com/office/drawing/2014/main" id="{620BAD9F-253C-56EC-C1D5-EAAC15EB6015}"/>
              </a:ext>
            </a:extLst>
          </p:cNvPr>
          <p:cNvSpPr txBox="1"/>
          <p:nvPr/>
        </p:nvSpPr>
        <p:spPr>
          <a:xfrm>
            <a:off x="7660161" y="2032441"/>
            <a:ext cx="2319505" cy="954107"/>
          </a:xfrm>
          <a:prstGeom prst="rect">
            <a:avLst/>
          </a:prstGeom>
          <a:noFill/>
        </p:spPr>
        <p:txBody>
          <a:bodyPr wrap="square">
            <a:spAutoFit/>
          </a:bodyPr>
          <a:lstStyle/>
          <a:p>
            <a:pPr algn="ctr"/>
            <a:r>
              <a:rPr lang="en-US" sz="2800" dirty="0">
                <a:solidFill>
                  <a:schemeClr val="tx1">
                    <a:lumMod val="75000"/>
                    <a:lumOff val="25000"/>
                  </a:schemeClr>
                </a:solidFill>
              </a:rPr>
              <a:t>Commercial Pay</a:t>
            </a:r>
            <a:endParaRPr lang="en-US" sz="2800" dirty="0"/>
          </a:p>
        </p:txBody>
      </p:sp>
      <p:sp>
        <p:nvSpPr>
          <p:cNvPr id="16" name="Oval 15">
            <a:extLst>
              <a:ext uri="{FF2B5EF4-FFF2-40B4-BE49-F238E27FC236}">
                <a16:creationId xmlns:a16="http://schemas.microsoft.com/office/drawing/2014/main" id="{AAF081E6-21F8-118C-A0B4-09143CFD45D2}"/>
              </a:ext>
            </a:extLst>
          </p:cNvPr>
          <p:cNvSpPr/>
          <p:nvPr/>
        </p:nvSpPr>
        <p:spPr>
          <a:xfrm>
            <a:off x="4425356" y="724705"/>
            <a:ext cx="3474720" cy="3474720"/>
          </a:xfrm>
          <a:prstGeom prst="ellipse">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4930388" y="1975469"/>
            <a:ext cx="2464656" cy="1073132"/>
          </a:xfrm>
        </p:spPr>
        <p:txBody>
          <a:bodyPr>
            <a:noAutofit/>
          </a:bodyPr>
          <a:lstStyle/>
          <a:p>
            <a:pPr algn="ctr">
              <a:lnSpc>
                <a:spcPct val="100000"/>
              </a:lnSpc>
              <a:spcBef>
                <a:spcPts val="1800"/>
              </a:spcBef>
              <a:spcAft>
                <a:spcPts val="600"/>
              </a:spcAft>
            </a:pPr>
            <a:r>
              <a:rPr lang="en-US" sz="4000" b="1" dirty="0">
                <a:solidFill>
                  <a:srgbClr val="000B2E"/>
                </a:solidFill>
                <a:latin typeface="Arial" panose="020B0604020202020204" pitchFamily="34" charset="0"/>
                <a:cs typeface="Arial" panose="020B0604020202020204" pitchFamily="34" charset="0"/>
              </a:rPr>
              <a:t>Every $1 of Care</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17" name="TextBox 16">
            <a:extLst>
              <a:ext uri="{FF2B5EF4-FFF2-40B4-BE49-F238E27FC236}">
                <a16:creationId xmlns:a16="http://schemas.microsoft.com/office/drawing/2014/main" id="{32EE0BDF-0BD6-C413-7373-07B39FBF0CAC}"/>
              </a:ext>
            </a:extLst>
          </p:cNvPr>
          <p:cNvSpPr txBox="1"/>
          <p:nvPr/>
        </p:nvSpPr>
        <p:spPr>
          <a:xfrm>
            <a:off x="8050193" y="3439738"/>
            <a:ext cx="3619293" cy="1323439"/>
          </a:xfrm>
          <a:prstGeom prst="rect">
            <a:avLst/>
          </a:prstGeom>
          <a:noFill/>
        </p:spPr>
        <p:txBody>
          <a:bodyPr wrap="square">
            <a:spAutoFit/>
          </a:bodyPr>
          <a:lstStyle/>
          <a:p>
            <a:pPr algn="ctr"/>
            <a:r>
              <a:rPr lang="en-US" sz="4000" dirty="0">
                <a:solidFill>
                  <a:schemeClr val="accent6">
                    <a:lumMod val="75000"/>
                  </a:schemeClr>
                </a:solidFill>
              </a:rPr>
              <a:t>Generates</a:t>
            </a:r>
          </a:p>
          <a:p>
            <a:pPr algn="ctr"/>
            <a:r>
              <a:rPr lang="en-US" sz="4000" dirty="0">
                <a:solidFill>
                  <a:schemeClr val="accent6">
                    <a:lumMod val="75000"/>
                  </a:schemeClr>
                </a:solidFill>
              </a:rPr>
              <a:t>~$.47 of profit</a:t>
            </a:r>
          </a:p>
        </p:txBody>
      </p:sp>
      <p:pic>
        <p:nvPicPr>
          <p:cNvPr id="3" name="Picture 4" descr="St. Luke's University Health Network's 150th Anniversary">
            <a:extLst>
              <a:ext uri="{FF2B5EF4-FFF2-40B4-BE49-F238E27FC236}">
                <a16:creationId xmlns:a16="http://schemas.microsoft.com/office/drawing/2014/main" id="{533FD6B8-D6F3-D3D6-4D32-D3F2818DD6E0}"/>
              </a:ext>
            </a:extLst>
          </p:cNvPr>
          <p:cNvPicPr>
            <a:picLocks noChangeAspect="1" noChangeArrowheads="1"/>
          </p:cNvPicPr>
          <p:nvPr/>
        </p:nvPicPr>
        <p:blipFill>
          <a:blip r:embed="rId2"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10289009" y="0"/>
            <a:ext cx="1616333" cy="849086"/>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820D1BA4-6D19-00FD-17FF-A0AD0AAAF7EE}"/>
              </a:ext>
            </a:extLst>
          </p:cNvPr>
          <p:cNvSpPr txBox="1"/>
          <p:nvPr/>
        </p:nvSpPr>
        <p:spPr>
          <a:xfrm>
            <a:off x="1973943" y="5562552"/>
            <a:ext cx="8964377" cy="369332"/>
          </a:xfrm>
          <a:prstGeom prst="rect">
            <a:avLst/>
          </a:prstGeom>
          <a:noFill/>
        </p:spPr>
        <p:txBody>
          <a:bodyPr wrap="none" rtlCol="0">
            <a:spAutoFit/>
          </a:bodyPr>
          <a:lstStyle/>
          <a:p>
            <a:r>
              <a:rPr lang="en-US" dirty="0"/>
              <a:t>See Slide 27 for More Details on Calculation of Commercial and Government-Pay Net Income</a:t>
            </a:r>
          </a:p>
        </p:txBody>
      </p:sp>
    </p:spTree>
    <p:extLst>
      <p:ext uri="{BB962C8B-B14F-4D97-AF65-F5344CB8AC3E}">
        <p14:creationId xmlns:p14="http://schemas.microsoft.com/office/powerpoint/2010/main" val="33487365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Freeform: Shape 27">
            <a:extLst>
              <a:ext uri="{FF2B5EF4-FFF2-40B4-BE49-F238E27FC236}">
                <a16:creationId xmlns:a16="http://schemas.microsoft.com/office/drawing/2014/main" id="{8D2E8DAF-1D68-E498-59FF-722789499308}"/>
              </a:ext>
            </a:extLst>
          </p:cNvPr>
          <p:cNvSpPr/>
          <p:nvPr/>
        </p:nvSpPr>
        <p:spPr>
          <a:xfrm>
            <a:off x="1666276" y="2989943"/>
            <a:ext cx="8418286" cy="2191657"/>
          </a:xfrm>
          <a:custGeom>
            <a:avLst/>
            <a:gdLst>
              <a:gd name="connsiteX0" fmla="*/ 8157028 w 8418286"/>
              <a:gd name="connsiteY0" fmla="*/ 2191657 h 2191657"/>
              <a:gd name="connsiteX1" fmla="*/ 0 w 8418286"/>
              <a:gd name="connsiteY1" fmla="*/ 0 h 2191657"/>
              <a:gd name="connsiteX2" fmla="*/ 1088571 w 8418286"/>
              <a:gd name="connsiteY2" fmla="*/ 14515 h 2191657"/>
              <a:gd name="connsiteX3" fmla="*/ 8418286 w 8418286"/>
              <a:gd name="connsiteY3" fmla="*/ 2177143 h 2191657"/>
              <a:gd name="connsiteX4" fmla="*/ 8157028 w 8418286"/>
              <a:gd name="connsiteY4" fmla="*/ 2191657 h 21916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18286" h="2191657">
                <a:moveTo>
                  <a:pt x="8157028" y="2191657"/>
                </a:moveTo>
                <a:lnTo>
                  <a:pt x="0" y="0"/>
                </a:lnTo>
                <a:lnTo>
                  <a:pt x="1088571" y="14515"/>
                </a:lnTo>
                <a:lnTo>
                  <a:pt x="8418286" y="2177143"/>
                </a:lnTo>
                <a:lnTo>
                  <a:pt x="8157028" y="2191657"/>
                </a:lnTo>
                <a:close/>
              </a:path>
            </a:pathLst>
          </a:cu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46AC806E-BA4D-AF7F-5FBB-58FA9ECC5E79}"/>
              </a:ext>
            </a:extLst>
          </p:cNvPr>
          <p:cNvSpPr/>
          <p:nvPr/>
        </p:nvSpPr>
        <p:spPr>
          <a:xfrm>
            <a:off x="1680790" y="3004458"/>
            <a:ext cx="5544457" cy="2206171"/>
          </a:xfrm>
          <a:custGeom>
            <a:avLst/>
            <a:gdLst>
              <a:gd name="connsiteX0" fmla="*/ 5370286 w 5544457"/>
              <a:gd name="connsiteY0" fmla="*/ 2206171 h 2206171"/>
              <a:gd name="connsiteX1" fmla="*/ 0 w 5544457"/>
              <a:gd name="connsiteY1" fmla="*/ 0 h 2206171"/>
              <a:gd name="connsiteX2" fmla="*/ 1117600 w 5544457"/>
              <a:gd name="connsiteY2" fmla="*/ 0 h 2206171"/>
              <a:gd name="connsiteX3" fmla="*/ 5544457 w 5544457"/>
              <a:gd name="connsiteY3" fmla="*/ 2177142 h 2206171"/>
              <a:gd name="connsiteX4" fmla="*/ 5370286 w 5544457"/>
              <a:gd name="connsiteY4" fmla="*/ 2206171 h 22061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44457" h="2206171">
                <a:moveTo>
                  <a:pt x="5370286" y="2206171"/>
                </a:moveTo>
                <a:lnTo>
                  <a:pt x="0" y="0"/>
                </a:lnTo>
                <a:lnTo>
                  <a:pt x="1117600" y="0"/>
                </a:lnTo>
                <a:lnTo>
                  <a:pt x="5544457" y="2177142"/>
                </a:lnTo>
                <a:lnTo>
                  <a:pt x="5370286" y="2206171"/>
                </a:lnTo>
                <a:close/>
              </a:path>
            </a:pathLst>
          </a:cu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93FC6F23-9DB4-CE0C-FCDC-AE4293BB605A}"/>
              </a:ext>
            </a:extLst>
          </p:cNvPr>
          <p:cNvSpPr/>
          <p:nvPr/>
        </p:nvSpPr>
        <p:spPr>
          <a:xfrm>
            <a:off x="1666276" y="2989943"/>
            <a:ext cx="2859314" cy="2220686"/>
          </a:xfrm>
          <a:custGeom>
            <a:avLst/>
            <a:gdLst>
              <a:gd name="connsiteX0" fmla="*/ 2627086 w 2859314"/>
              <a:gd name="connsiteY0" fmla="*/ 2133600 h 2220686"/>
              <a:gd name="connsiteX1" fmla="*/ 0 w 2859314"/>
              <a:gd name="connsiteY1" fmla="*/ 0 h 2220686"/>
              <a:gd name="connsiteX2" fmla="*/ 1103086 w 2859314"/>
              <a:gd name="connsiteY2" fmla="*/ 0 h 2220686"/>
              <a:gd name="connsiteX3" fmla="*/ 2859314 w 2859314"/>
              <a:gd name="connsiteY3" fmla="*/ 2220686 h 2220686"/>
              <a:gd name="connsiteX4" fmla="*/ 2627086 w 2859314"/>
              <a:gd name="connsiteY4" fmla="*/ 2133600 h 22206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9314" h="2220686">
                <a:moveTo>
                  <a:pt x="2627086" y="2133600"/>
                </a:moveTo>
                <a:lnTo>
                  <a:pt x="0" y="0"/>
                </a:lnTo>
                <a:lnTo>
                  <a:pt x="1103086" y="0"/>
                </a:lnTo>
                <a:lnTo>
                  <a:pt x="2859314" y="2220686"/>
                </a:lnTo>
                <a:lnTo>
                  <a:pt x="2627086" y="2133600"/>
                </a:lnTo>
                <a:close/>
              </a:path>
            </a:pathLst>
          </a:cu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Freeform: Shape 32">
            <a:extLst>
              <a:ext uri="{FF2B5EF4-FFF2-40B4-BE49-F238E27FC236}">
                <a16:creationId xmlns:a16="http://schemas.microsoft.com/office/drawing/2014/main" id="{5553759E-194C-3BE9-0812-4BDD6E106166}"/>
              </a:ext>
            </a:extLst>
          </p:cNvPr>
          <p:cNvSpPr/>
          <p:nvPr/>
        </p:nvSpPr>
        <p:spPr>
          <a:xfrm>
            <a:off x="679304" y="3265715"/>
            <a:ext cx="2365829" cy="1959428"/>
          </a:xfrm>
          <a:custGeom>
            <a:avLst/>
            <a:gdLst>
              <a:gd name="connsiteX0" fmla="*/ 696686 w 2365829"/>
              <a:gd name="connsiteY0" fmla="*/ 1959428 h 1959428"/>
              <a:gd name="connsiteX1" fmla="*/ 0 w 2365829"/>
              <a:gd name="connsiteY1" fmla="*/ 0 h 1959428"/>
              <a:gd name="connsiteX2" fmla="*/ 2365829 w 2365829"/>
              <a:gd name="connsiteY2" fmla="*/ 0 h 1959428"/>
              <a:gd name="connsiteX3" fmla="*/ 1596572 w 2365829"/>
              <a:gd name="connsiteY3" fmla="*/ 1930400 h 1959428"/>
              <a:gd name="connsiteX4" fmla="*/ 696686 w 2365829"/>
              <a:gd name="connsiteY4" fmla="*/ 1959428 h 19594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65829" h="1959428">
                <a:moveTo>
                  <a:pt x="696686" y="1959428"/>
                </a:moveTo>
                <a:lnTo>
                  <a:pt x="0" y="0"/>
                </a:lnTo>
                <a:lnTo>
                  <a:pt x="2365829" y="0"/>
                </a:lnTo>
                <a:lnTo>
                  <a:pt x="1596572" y="1930400"/>
                </a:lnTo>
                <a:lnTo>
                  <a:pt x="696686" y="1959428"/>
                </a:lnTo>
                <a:close/>
              </a:path>
            </a:pathLst>
          </a:custGeom>
          <a:solidFill>
            <a:srgbClr val="01A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5</a:t>
            </a:fld>
            <a:endParaRPr lang="en-US" dirty="0"/>
          </a:p>
        </p:txBody>
      </p:sp>
      <p:sp>
        <p:nvSpPr>
          <p:cNvPr id="8" name="Flowchart: Terminator 7">
            <a:extLst>
              <a:ext uri="{FF2B5EF4-FFF2-40B4-BE49-F238E27FC236}">
                <a16:creationId xmlns:a16="http://schemas.microsoft.com/office/drawing/2014/main" id="{8D335AB1-AB15-7067-B3BD-167BDAD9B16A}"/>
              </a:ext>
            </a:extLst>
          </p:cNvPr>
          <p:cNvSpPr/>
          <p:nvPr/>
        </p:nvSpPr>
        <p:spPr>
          <a:xfrm>
            <a:off x="609598" y="5127172"/>
            <a:ext cx="2241613" cy="849086"/>
          </a:xfrm>
          <a:prstGeom prst="flowChartTerminator">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rgbClr val="01A050"/>
                </a:solidFill>
              </a:rPr>
              <a:t>SLUHN DTE</a:t>
            </a:r>
          </a:p>
        </p:txBody>
      </p:sp>
      <p:sp>
        <p:nvSpPr>
          <p:cNvPr id="18" name="Flowchart: Terminator 17">
            <a:extLst>
              <a:ext uri="{FF2B5EF4-FFF2-40B4-BE49-F238E27FC236}">
                <a16:creationId xmlns:a16="http://schemas.microsoft.com/office/drawing/2014/main" id="{5F2996B7-8D0A-1EEE-8045-797310EFC387}"/>
              </a:ext>
            </a:extLst>
          </p:cNvPr>
          <p:cNvSpPr/>
          <p:nvPr/>
        </p:nvSpPr>
        <p:spPr>
          <a:xfrm>
            <a:off x="6449794" y="5127172"/>
            <a:ext cx="2241613" cy="849086"/>
          </a:xfrm>
          <a:prstGeom prst="flowChartTerminator">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lumMod val="50000"/>
                    <a:lumOff val="50000"/>
                  </a:schemeClr>
                </a:solidFill>
              </a:rPr>
              <a:t>PPO #2</a:t>
            </a:r>
          </a:p>
        </p:txBody>
      </p:sp>
      <p:sp>
        <p:nvSpPr>
          <p:cNvPr id="19" name="Flowchart: Terminator 18">
            <a:extLst>
              <a:ext uri="{FF2B5EF4-FFF2-40B4-BE49-F238E27FC236}">
                <a16:creationId xmlns:a16="http://schemas.microsoft.com/office/drawing/2014/main" id="{420D1CFD-2433-B308-F247-7CAA7C100A3E}"/>
              </a:ext>
            </a:extLst>
          </p:cNvPr>
          <p:cNvSpPr/>
          <p:nvPr/>
        </p:nvSpPr>
        <p:spPr>
          <a:xfrm>
            <a:off x="9369892" y="5127172"/>
            <a:ext cx="2241613" cy="849086"/>
          </a:xfrm>
          <a:prstGeom prst="flowChartTerminator">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lumMod val="50000"/>
                    <a:lumOff val="50000"/>
                  </a:schemeClr>
                </a:solidFill>
              </a:rPr>
              <a:t>PPO #3</a:t>
            </a:r>
          </a:p>
        </p:txBody>
      </p:sp>
      <p:sp>
        <p:nvSpPr>
          <p:cNvPr id="21" name="Freeform: Shape 20">
            <a:extLst>
              <a:ext uri="{FF2B5EF4-FFF2-40B4-BE49-F238E27FC236}">
                <a16:creationId xmlns:a16="http://schemas.microsoft.com/office/drawing/2014/main" id="{BA085909-3DBA-1031-1C78-985B4CD8D4FC}"/>
              </a:ext>
            </a:extLst>
          </p:cNvPr>
          <p:cNvSpPr/>
          <p:nvPr/>
        </p:nvSpPr>
        <p:spPr>
          <a:xfrm>
            <a:off x="4612676" y="2772229"/>
            <a:ext cx="1291771" cy="2409371"/>
          </a:xfrm>
          <a:custGeom>
            <a:avLst/>
            <a:gdLst>
              <a:gd name="connsiteX0" fmla="*/ 0 w 1291771"/>
              <a:gd name="connsiteY0" fmla="*/ 2409371 h 2409371"/>
              <a:gd name="connsiteX1" fmla="*/ 391886 w 1291771"/>
              <a:gd name="connsiteY1" fmla="*/ 14514 h 2409371"/>
              <a:gd name="connsiteX2" fmla="*/ 1291771 w 1291771"/>
              <a:gd name="connsiteY2" fmla="*/ 0 h 2409371"/>
              <a:gd name="connsiteX3" fmla="*/ 246743 w 1291771"/>
              <a:gd name="connsiteY3" fmla="*/ 2380343 h 2409371"/>
              <a:gd name="connsiteX4" fmla="*/ 0 w 1291771"/>
              <a:gd name="connsiteY4" fmla="*/ 2409371 h 24093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1771" h="2409371">
                <a:moveTo>
                  <a:pt x="0" y="2409371"/>
                </a:moveTo>
                <a:lnTo>
                  <a:pt x="391886" y="14514"/>
                </a:lnTo>
                <a:lnTo>
                  <a:pt x="1291771" y="0"/>
                </a:lnTo>
                <a:lnTo>
                  <a:pt x="246743" y="2380343"/>
                </a:lnTo>
                <a:lnTo>
                  <a:pt x="0" y="2409371"/>
                </a:lnTo>
                <a:close/>
              </a:path>
            </a:pathLst>
          </a:cu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lowchart: Terminator 9">
            <a:extLst>
              <a:ext uri="{FF2B5EF4-FFF2-40B4-BE49-F238E27FC236}">
                <a16:creationId xmlns:a16="http://schemas.microsoft.com/office/drawing/2014/main" id="{75CE525B-6A36-CBFD-DAEC-08C2DCCA890E}"/>
              </a:ext>
            </a:extLst>
          </p:cNvPr>
          <p:cNvSpPr/>
          <p:nvPr/>
        </p:nvSpPr>
        <p:spPr>
          <a:xfrm>
            <a:off x="3529696" y="5127172"/>
            <a:ext cx="2241613" cy="849086"/>
          </a:xfrm>
          <a:prstGeom prst="flowChartTerminator">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lumMod val="50000"/>
                    <a:lumOff val="50000"/>
                  </a:schemeClr>
                </a:solidFill>
              </a:rPr>
              <a:t>PPO #1</a:t>
            </a:r>
          </a:p>
        </p:txBody>
      </p:sp>
      <p:sp>
        <p:nvSpPr>
          <p:cNvPr id="24" name="Freeform: Shape 23">
            <a:extLst>
              <a:ext uri="{FF2B5EF4-FFF2-40B4-BE49-F238E27FC236}">
                <a16:creationId xmlns:a16="http://schemas.microsoft.com/office/drawing/2014/main" id="{25DD61BC-D896-8689-4F94-1C5E1AD8A77C}"/>
              </a:ext>
            </a:extLst>
          </p:cNvPr>
          <p:cNvSpPr/>
          <p:nvPr/>
        </p:nvSpPr>
        <p:spPr>
          <a:xfrm>
            <a:off x="5120676" y="2685143"/>
            <a:ext cx="4702628" cy="2496457"/>
          </a:xfrm>
          <a:custGeom>
            <a:avLst/>
            <a:gdLst>
              <a:gd name="connsiteX0" fmla="*/ 0 w 4702628"/>
              <a:gd name="connsiteY0" fmla="*/ 2496457 h 2496457"/>
              <a:gd name="connsiteX1" fmla="*/ 4209143 w 4702628"/>
              <a:gd name="connsiteY1" fmla="*/ 0 h 2496457"/>
              <a:gd name="connsiteX2" fmla="*/ 4702628 w 4702628"/>
              <a:gd name="connsiteY2" fmla="*/ 14515 h 2496457"/>
              <a:gd name="connsiteX3" fmla="*/ 0 w 4702628"/>
              <a:gd name="connsiteY3" fmla="*/ 2496457 h 2496457"/>
            </a:gdLst>
            <a:ahLst/>
            <a:cxnLst>
              <a:cxn ang="0">
                <a:pos x="connsiteX0" y="connsiteY0"/>
              </a:cxn>
              <a:cxn ang="0">
                <a:pos x="connsiteX1" y="connsiteY1"/>
              </a:cxn>
              <a:cxn ang="0">
                <a:pos x="connsiteX2" y="connsiteY2"/>
              </a:cxn>
              <a:cxn ang="0">
                <a:pos x="connsiteX3" y="connsiteY3"/>
              </a:cxn>
            </a:cxnLst>
            <a:rect l="l" t="t" r="r" b="b"/>
            <a:pathLst>
              <a:path w="4702628" h="2496457">
                <a:moveTo>
                  <a:pt x="0" y="2496457"/>
                </a:moveTo>
                <a:lnTo>
                  <a:pt x="4209143" y="0"/>
                </a:lnTo>
                <a:lnTo>
                  <a:pt x="4702628" y="14515"/>
                </a:lnTo>
                <a:lnTo>
                  <a:pt x="0" y="2496457"/>
                </a:lnTo>
                <a:close/>
              </a:path>
            </a:pathLst>
          </a:cu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F58DA010-867A-9491-969D-99ECC30A6783}"/>
              </a:ext>
            </a:extLst>
          </p:cNvPr>
          <p:cNvSpPr/>
          <p:nvPr/>
        </p:nvSpPr>
        <p:spPr>
          <a:xfrm>
            <a:off x="4990047" y="2772229"/>
            <a:ext cx="2641600" cy="2423886"/>
          </a:xfrm>
          <a:custGeom>
            <a:avLst/>
            <a:gdLst>
              <a:gd name="connsiteX0" fmla="*/ 2481943 w 2641600"/>
              <a:gd name="connsiteY0" fmla="*/ 2423886 h 2423886"/>
              <a:gd name="connsiteX1" fmla="*/ 0 w 2641600"/>
              <a:gd name="connsiteY1" fmla="*/ 29029 h 2423886"/>
              <a:gd name="connsiteX2" fmla="*/ 914400 w 2641600"/>
              <a:gd name="connsiteY2" fmla="*/ 0 h 2423886"/>
              <a:gd name="connsiteX3" fmla="*/ 2641600 w 2641600"/>
              <a:gd name="connsiteY3" fmla="*/ 2409371 h 2423886"/>
              <a:gd name="connsiteX4" fmla="*/ 2481943 w 2641600"/>
              <a:gd name="connsiteY4" fmla="*/ 2423886 h 24238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41600" h="2423886">
                <a:moveTo>
                  <a:pt x="2481943" y="2423886"/>
                </a:moveTo>
                <a:lnTo>
                  <a:pt x="0" y="29029"/>
                </a:lnTo>
                <a:lnTo>
                  <a:pt x="914400" y="0"/>
                </a:lnTo>
                <a:lnTo>
                  <a:pt x="2641600" y="2409371"/>
                </a:lnTo>
                <a:lnTo>
                  <a:pt x="2481943" y="2423886"/>
                </a:lnTo>
                <a:close/>
              </a:path>
            </a:pathLst>
          </a:cu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6">
            <a:extLst>
              <a:ext uri="{FF2B5EF4-FFF2-40B4-BE49-F238E27FC236}">
                <a16:creationId xmlns:a16="http://schemas.microsoft.com/office/drawing/2014/main" id="{78277868-FEA1-C248-ED39-1002FE8ADFE4}"/>
              </a:ext>
            </a:extLst>
          </p:cNvPr>
          <p:cNvSpPr/>
          <p:nvPr/>
        </p:nvSpPr>
        <p:spPr>
          <a:xfrm>
            <a:off x="7907419" y="2670629"/>
            <a:ext cx="1901371" cy="2525486"/>
          </a:xfrm>
          <a:custGeom>
            <a:avLst/>
            <a:gdLst>
              <a:gd name="connsiteX0" fmla="*/ 0 w 1901371"/>
              <a:gd name="connsiteY0" fmla="*/ 2510971 h 2525486"/>
              <a:gd name="connsiteX1" fmla="*/ 1422400 w 1901371"/>
              <a:gd name="connsiteY1" fmla="*/ 14514 h 2525486"/>
              <a:gd name="connsiteX2" fmla="*/ 1901371 w 1901371"/>
              <a:gd name="connsiteY2" fmla="*/ 0 h 2525486"/>
              <a:gd name="connsiteX3" fmla="*/ 87085 w 1901371"/>
              <a:gd name="connsiteY3" fmla="*/ 2510971 h 2525486"/>
              <a:gd name="connsiteX4" fmla="*/ 58057 w 1901371"/>
              <a:gd name="connsiteY4" fmla="*/ 2481943 h 2525486"/>
              <a:gd name="connsiteX5" fmla="*/ 72571 w 1901371"/>
              <a:gd name="connsiteY5" fmla="*/ 2481943 h 2525486"/>
              <a:gd name="connsiteX6" fmla="*/ 58057 w 1901371"/>
              <a:gd name="connsiteY6" fmla="*/ 2525486 h 2525486"/>
              <a:gd name="connsiteX7" fmla="*/ 0 w 1901371"/>
              <a:gd name="connsiteY7" fmla="*/ 2510971 h 25254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01371" h="2525486">
                <a:moveTo>
                  <a:pt x="0" y="2510971"/>
                </a:moveTo>
                <a:lnTo>
                  <a:pt x="1422400" y="14514"/>
                </a:lnTo>
                <a:lnTo>
                  <a:pt x="1901371" y="0"/>
                </a:lnTo>
                <a:lnTo>
                  <a:pt x="87085" y="2510971"/>
                </a:lnTo>
                <a:lnTo>
                  <a:pt x="58057" y="2481943"/>
                </a:lnTo>
                <a:lnTo>
                  <a:pt x="72571" y="2481943"/>
                </a:lnTo>
                <a:lnTo>
                  <a:pt x="58057" y="2525486"/>
                </a:lnTo>
                <a:lnTo>
                  <a:pt x="0" y="2510971"/>
                </a:lnTo>
                <a:close/>
              </a:path>
            </a:pathLst>
          </a:cu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Freeform: Shape 28">
            <a:extLst>
              <a:ext uri="{FF2B5EF4-FFF2-40B4-BE49-F238E27FC236}">
                <a16:creationId xmlns:a16="http://schemas.microsoft.com/office/drawing/2014/main" id="{8544170D-73AC-E85A-8695-7AC58167EAA4}"/>
              </a:ext>
            </a:extLst>
          </p:cNvPr>
          <p:cNvSpPr/>
          <p:nvPr/>
        </p:nvSpPr>
        <p:spPr>
          <a:xfrm>
            <a:off x="4990047" y="2772229"/>
            <a:ext cx="5631543" cy="2409371"/>
          </a:xfrm>
          <a:custGeom>
            <a:avLst/>
            <a:gdLst>
              <a:gd name="connsiteX0" fmla="*/ 5413829 w 5631543"/>
              <a:gd name="connsiteY0" fmla="*/ 2409371 h 2409371"/>
              <a:gd name="connsiteX1" fmla="*/ 0 w 5631543"/>
              <a:gd name="connsiteY1" fmla="*/ 14514 h 2409371"/>
              <a:gd name="connsiteX2" fmla="*/ 957943 w 5631543"/>
              <a:gd name="connsiteY2" fmla="*/ 0 h 2409371"/>
              <a:gd name="connsiteX3" fmla="*/ 5631543 w 5631543"/>
              <a:gd name="connsiteY3" fmla="*/ 2380343 h 2409371"/>
              <a:gd name="connsiteX4" fmla="*/ 5413829 w 5631543"/>
              <a:gd name="connsiteY4" fmla="*/ 2409371 h 24093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31543" h="2409371">
                <a:moveTo>
                  <a:pt x="5413829" y="2409371"/>
                </a:moveTo>
                <a:lnTo>
                  <a:pt x="0" y="14514"/>
                </a:lnTo>
                <a:lnTo>
                  <a:pt x="957943" y="0"/>
                </a:lnTo>
                <a:lnTo>
                  <a:pt x="5631543" y="2380343"/>
                </a:lnTo>
                <a:lnTo>
                  <a:pt x="5413829" y="2409371"/>
                </a:lnTo>
                <a:close/>
              </a:path>
            </a:pathLst>
          </a:cu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Freeform: Shape 29">
            <a:extLst>
              <a:ext uri="{FF2B5EF4-FFF2-40B4-BE49-F238E27FC236}">
                <a16:creationId xmlns:a16="http://schemas.microsoft.com/office/drawing/2014/main" id="{6929D0B6-560E-A26C-A57F-320C6F7E2095}"/>
              </a:ext>
            </a:extLst>
          </p:cNvPr>
          <p:cNvSpPr/>
          <p:nvPr/>
        </p:nvSpPr>
        <p:spPr>
          <a:xfrm>
            <a:off x="9286276" y="2699658"/>
            <a:ext cx="1698171" cy="2510971"/>
          </a:xfrm>
          <a:custGeom>
            <a:avLst/>
            <a:gdLst>
              <a:gd name="connsiteX0" fmla="*/ 1698171 w 1698171"/>
              <a:gd name="connsiteY0" fmla="*/ 2510971 h 2510971"/>
              <a:gd name="connsiteX1" fmla="*/ 0 w 1698171"/>
              <a:gd name="connsiteY1" fmla="*/ 43542 h 2510971"/>
              <a:gd name="connsiteX2" fmla="*/ 537028 w 1698171"/>
              <a:gd name="connsiteY2" fmla="*/ 0 h 2510971"/>
              <a:gd name="connsiteX3" fmla="*/ 1698171 w 1698171"/>
              <a:gd name="connsiteY3" fmla="*/ 2510971 h 2510971"/>
            </a:gdLst>
            <a:ahLst/>
            <a:cxnLst>
              <a:cxn ang="0">
                <a:pos x="connsiteX0" y="connsiteY0"/>
              </a:cxn>
              <a:cxn ang="0">
                <a:pos x="connsiteX1" y="connsiteY1"/>
              </a:cxn>
              <a:cxn ang="0">
                <a:pos x="connsiteX2" y="connsiteY2"/>
              </a:cxn>
              <a:cxn ang="0">
                <a:pos x="connsiteX3" y="connsiteY3"/>
              </a:cxn>
            </a:cxnLst>
            <a:rect l="l" t="t" r="r" b="b"/>
            <a:pathLst>
              <a:path w="1698171" h="2510971">
                <a:moveTo>
                  <a:pt x="1698171" y="2510971"/>
                </a:moveTo>
                <a:lnTo>
                  <a:pt x="0" y="43542"/>
                </a:lnTo>
                <a:lnTo>
                  <a:pt x="537028" y="0"/>
                </a:lnTo>
                <a:lnTo>
                  <a:pt x="1698171" y="2510971"/>
                </a:lnTo>
                <a:close/>
              </a:path>
            </a:pathLst>
          </a:cu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CDDEEC9E-0778-EDDC-EEB1-1D8F9A97B0BD}"/>
              </a:ext>
            </a:extLst>
          </p:cNvPr>
          <p:cNvSpPr/>
          <p:nvPr/>
        </p:nvSpPr>
        <p:spPr>
          <a:xfrm>
            <a:off x="-2867" y="1654619"/>
            <a:ext cx="12194867" cy="164011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4" descr="St. Luke's University Health Network's 150th Anniversary">
            <a:extLst>
              <a:ext uri="{FF2B5EF4-FFF2-40B4-BE49-F238E27FC236}">
                <a16:creationId xmlns:a16="http://schemas.microsoft.com/office/drawing/2014/main" id="{A26B9B8E-7E0B-E284-9526-7C2858C04978}"/>
              </a:ext>
            </a:extLst>
          </p:cNvPr>
          <p:cNvPicPr>
            <a:picLocks noChangeAspect="1" noChangeArrowheads="1"/>
          </p:cNvPicPr>
          <p:nvPr/>
        </p:nvPicPr>
        <p:blipFill>
          <a:blip r:embed="rId2"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494231" y="1560743"/>
            <a:ext cx="2713741" cy="1425573"/>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Welcome to Lehigh Valley Health Network ...">
            <a:extLst>
              <a:ext uri="{FF2B5EF4-FFF2-40B4-BE49-F238E27FC236}">
                <a16:creationId xmlns:a16="http://schemas.microsoft.com/office/drawing/2014/main" id="{8CB795D1-F1A5-27E9-EDB4-5FB2922F8AF2}"/>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035734" y="1906816"/>
            <a:ext cx="3987995" cy="792842"/>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Trinity Health Muskegon – Grand Rapids, MI - RQI Partners, LLC">
            <a:extLst>
              <a:ext uri="{FF2B5EF4-FFF2-40B4-BE49-F238E27FC236}">
                <a16:creationId xmlns:a16="http://schemas.microsoft.com/office/drawing/2014/main" id="{9A6B5F68-2EDD-4425-9E94-7AEACCC0AF08}"/>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8009018" y="805543"/>
            <a:ext cx="4020910" cy="2939142"/>
          </a:xfrm>
          <a:prstGeom prst="rect">
            <a:avLst/>
          </a:prstGeom>
          <a:noFill/>
          <a:extLst>
            <a:ext uri="{909E8E84-426E-40DD-AFC4-6F175D3DCCD1}">
              <a14:hiddenFill xmlns:a14="http://schemas.microsoft.com/office/drawing/2010/main">
                <a:solidFill>
                  <a:srgbClr val="FFFFFF"/>
                </a:solidFill>
              </a14:hiddenFill>
            </a:ext>
          </a:extLst>
        </p:spPr>
      </p:pic>
      <p:sp>
        <p:nvSpPr>
          <p:cNvPr id="6" name="Title 1">
            <a:extLst>
              <a:ext uri="{FF2B5EF4-FFF2-40B4-BE49-F238E27FC236}">
                <a16:creationId xmlns:a16="http://schemas.microsoft.com/office/drawing/2014/main" id="{9E01D9EC-3751-78C1-9D95-70AEB63694E1}"/>
              </a:ext>
            </a:extLst>
          </p:cNvPr>
          <p:cNvSpPr>
            <a:spLocks noGrp="1"/>
          </p:cNvSpPr>
          <p:nvPr>
            <p:ph type="title"/>
          </p:nvPr>
        </p:nvSpPr>
        <p:spPr>
          <a:xfrm>
            <a:off x="696174" y="234835"/>
            <a:ext cx="10652404" cy="1091529"/>
          </a:xfrm>
        </p:spPr>
        <p:txBody>
          <a:bodyPr>
            <a:noAutofit/>
          </a:bodyPr>
          <a:lstStyle/>
          <a:p>
            <a:pPr>
              <a:lnSpc>
                <a:spcPct val="100000"/>
              </a:lnSpc>
              <a:spcBef>
                <a:spcPts val="1800"/>
              </a:spcBef>
              <a:spcAft>
                <a:spcPts val="600"/>
              </a:spcAft>
            </a:pPr>
            <a:r>
              <a:rPr lang="en-US" sz="2800" dirty="0">
                <a:solidFill>
                  <a:srgbClr val="000B2E"/>
                </a:solidFill>
                <a:latin typeface="Arial" panose="020B0604020202020204" pitchFamily="34" charset="0"/>
                <a:cs typeface="Arial" panose="020B0604020202020204" pitchFamily="34" charset="0"/>
              </a:rPr>
              <a:t>Direct-to-Employer Strategy:</a:t>
            </a:r>
            <a:br>
              <a:rPr lang="en-US" sz="4000" b="1" dirty="0">
                <a:solidFill>
                  <a:srgbClr val="000B2E"/>
                </a:solidFill>
                <a:latin typeface="Arial" panose="020B0604020202020204" pitchFamily="34" charset="0"/>
                <a:cs typeface="Arial" panose="020B0604020202020204" pitchFamily="34" charset="0"/>
              </a:rPr>
            </a:br>
            <a:r>
              <a:rPr lang="en-US" sz="3600" b="1" dirty="0">
                <a:solidFill>
                  <a:srgbClr val="000B2E"/>
                </a:solidFill>
                <a:latin typeface="Arial" panose="020B0604020202020204" pitchFamily="34" charset="0"/>
                <a:cs typeface="Arial" panose="020B0604020202020204" pitchFamily="34" charset="0"/>
              </a:rPr>
              <a:t>Increased Capture of Commercial Market Share</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032697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6" name="Picture 4" descr="Are You a Small Business Owner or an Entrepreneur?">
            <a:extLst>
              <a:ext uri="{FF2B5EF4-FFF2-40B4-BE49-F238E27FC236}">
                <a16:creationId xmlns:a16="http://schemas.microsoft.com/office/drawing/2014/main" id="{EA765432-EB85-413C-8936-1CB9E6368C33}"/>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8467" y="0"/>
            <a:ext cx="7328369" cy="687034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2A856662-DB6E-45A6-97AD-3C04EB8973D1}"/>
              </a:ext>
            </a:extLst>
          </p:cNvPr>
          <p:cNvSpPr>
            <a:spLocks noGrp="1"/>
          </p:cNvSpPr>
          <p:nvPr>
            <p:ph type="sldNum" sz="quarter" idx="12"/>
          </p:nvPr>
        </p:nvSpPr>
        <p:spPr>
          <a:xfrm>
            <a:off x="9067800" y="6455835"/>
            <a:ext cx="2743200" cy="365125"/>
          </a:xfrm>
        </p:spPr>
        <p:txBody>
          <a:bodyPr/>
          <a:lstStyle/>
          <a:p>
            <a:fld id="{3AFC719D-C4A7-4544-876E-D411D11AF6C9}" type="slidenum">
              <a:rPr lang="en-US" smtClean="0"/>
              <a:t>6</a:t>
            </a:fld>
            <a:endParaRPr lang="en-US" dirty="0"/>
          </a:p>
        </p:txBody>
      </p:sp>
      <p:sp>
        <p:nvSpPr>
          <p:cNvPr id="7" name="Rectangle 6">
            <a:extLst>
              <a:ext uri="{FF2B5EF4-FFF2-40B4-BE49-F238E27FC236}">
                <a16:creationId xmlns:a16="http://schemas.microsoft.com/office/drawing/2014/main" id="{4873A62E-6928-4B7B-95B7-002E00DAA648}"/>
              </a:ext>
            </a:extLst>
          </p:cNvPr>
          <p:cNvSpPr/>
          <p:nvPr/>
        </p:nvSpPr>
        <p:spPr>
          <a:xfrm>
            <a:off x="4282251" y="0"/>
            <a:ext cx="3454400" cy="6870346"/>
          </a:xfrm>
          <a:prstGeom prst="rect">
            <a:avLst/>
          </a:prstGeom>
          <a:gradFill flip="none" rotWithShape="1">
            <a:gsLst>
              <a:gs pos="60000">
                <a:srgbClr val="FFFFFF"/>
              </a:gs>
              <a:gs pos="0">
                <a:schemeClr val="bg1">
                  <a:alpha val="1000"/>
                </a:schemeClr>
              </a:gs>
              <a:gs pos="36000">
                <a:schemeClr val="bg1">
                  <a:alpha val="81000"/>
                </a:schemeClr>
              </a:gs>
              <a:gs pos="100000">
                <a:schemeClr val="bg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4579F9FC-9C26-4EE8-993C-4E9774C6CB61}"/>
              </a:ext>
            </a:extLst>
          </p:cNvPr>
          <p:cNvSpPr/>
          <p:nvPr/>
        </p:nvSpPr>
        <p:spPr>
          <a:xfrm>
            <a:off x="6301081" y="2692174"/>
            <a:ext cx="5726288" cy="2760756"/>
          </a:xfrm>
          <a:prstGeom prst="rect">
            <a:avLst/>
          </a:prstGeom>
        </p:spPr>
        <p:txBody>
          <a:bodyPr wrap="square">
            <a:spAutoFit/>
          </a:bodyPr>
          <a:lstStyle/>
          <a:p>
            <a:pPr marL="514356" indent="-342905" defTabSz="914411">
              <a:lnSpc>
                <a:spcPct val="90000"/>
              </a:lnSpc>
              <a:spcAft>
                <a:spcPts val="1200"/>
              </a:spcAft>
              <a:buClr>
                <a:srgbClr val="244F9A"/>
              </a:buClr>
              <a:buFont typeface="Wingdings" panose="05000000000000000000" pitchFamily="2" charset="2"/>
              <a:buChar char="§"/>
            </a:pPr>
            <a:r>
              <a:rPr lang="en-US" dirty="0"/>
              <a:t>Reduced medical spend through care control</a:t>
            </a:r>
          </a:p>
          <a:p>
            <a:pPr marL="514356" indent="-342905" defTabSz="914411">
              <a:lnSpc>
                <a:spcPct val="90000"/>
              </a:lnSpc>
              <a:spcAft>
                <a:spcPts val="1200"/>
              </a:spcAft>
              <a:buClr>
                <a:srgbClr val="244F9A"/>
              </a:buClr>
              <a:buFont typeface="Wingdings" panose="05000000000000000000" pitchFamily="2" charset="2"/>
              <a:buChar char="§"/>
            </a:pPr>
            <a:r>
              <a:rPr lang="en-US" dirty="0"/>
              <a:t>“At the table” with SLUHN</a:t>
            </a:r>
          </a:p>
          <a:p>
            <a:pPr marL="514356" indent="-342905" defTabSz="914411">
              <a:lnSpc>
                <a:spcPct val="90000"/>
              </a:lnSpc>
              <a:spcAft>
                <a:spcPts val="1200"/>
              </a:spcAft>
              <a:buClr>
                <a:srgbClr val="244F9A"/>
              </a:buClr>
              <a:buFont typeface="Wingdings" panose="05000000000000000000" pitchFamily="2" charset="2"/>
              <a:buChar char="§"/>
            </a:pPr>
            <a:r>
              <a:rPr lang="en-US" dirty="0"/>
              <a:t>Incentivized medical partners</a:t>
            </a:r>
          </a:p>
          <a:p>
            <a:pPr marL="514356" indent="-342905" defTabSz="914411">
              <a:lnSpc>
                <a:spcPct val="90000"/>
              </a:lnSpc>
              <a:spcAft>
                <a:spcPts val="1200"/>
              </a:spcAft>
              <a:buClr>
                <a:srgbClr val="244F9A"/>
              </a:buClr>
              <a:buFont typeface="Wingdings" panose="05000000000000000000" pitchFamily="2" charset="2"/>
              <a:buChar char="§"/>
            </a:pPr>
            <a:r>
              <a:rPr lang="en-US" dirty="0"/>
              <a:t>Improved and “superior” analytics</a:t>
            </a:r>
          </a:p>
          <a:p>
            <a:pPr marL="514356" indent="-342905" defTabSz="914411">
              <a:lnSpc>
                <a:spcPct val="90000"/>
              </a:lnSpc>
              <a:spcAft>
                <a:spcPts val="1200"/>
              </a:spcAft>
              <a:buClr>
                <a:srgbClr val="244F9A"/>
              </a:buClr>
              <a:buFont typeface="Wingdings" panose="05000000000000000000" pitchFamily="2" charset="2"/>
              <a:buChar char="§"/>
            </a:pPr>
            <a:r>
              <a:rPr lang="en-US" dirty="0"/>
              <a:t>Competitive stop-loss</a:t>
            </a:r>
          </a:p>
          <a:p>
            <a:pPr marL="514356" indent="-342905" defTabSz="914411">
              <a:lnSpc>
                <a:spcPct val="90000"/>
              </a:lnSpc>
              <a:spcAft>
                <a:spcPts val="1200"/>
              </a:spcAft>
              <a:buClr>
                <a:srgbClr val="244F9A"/>
              </a:buClr>
              <a:buFont typeface="Wingdings" panose="05000000000000000000" pitchFamily="2" charset="2"/>
              <a:buChar char="§"/>
            </a:pPr>
            <a:r>
              <a:rPr lang="en-US" dirty="0"/>
              <a:t>Increased flexibility</a:t>
            </a:r>
          </a:p>
          <a:p>
            <a:pPr marL="514356" indent="-342905" defTabSz="914411">
              <a:lnSpc>
                <a:spcPct val="90000"/>
              </a:lnSpc>
              <a:spcAft>
                <a:spcPts val="1200"/>
              </a:spcAft>
              <a:buClr>
                <a:srgbClr val="244F9A"/>
              </a:buClr>
              <a:buFont typeface="Wingdings" panose="05000000000000000000" pitchFamily="2" charset="2"/>
              <a:buChar char="§"/>
            </a:pPr>
            <a:r>
              <a:rPr lang="en-US" dirty="0"/>
              <a:t>Increased cash flow &amp; stabilization of cost</a:t>
            </a:r>
          </a:p>
        </p:txBody>
      </p:sp>
      <p:sp>
        <p:nvSpPr>
          <p:cNvPr id="3" name="Footer Placeholder 2">
            <a:extLst>
              <a:ext uri="{FF2B5EF4-FFF2-40B4-BE49-F238E27FC236}">
                <a16:creationId xmlns:a16="http://schemas.microsoft.com/office/drawing/2014/main" id="{FE58BE34-132B-41A8-8534-03C951FA73B1}"/>
              </a:ext>
            </a:extLst>
          </p:cNvPr>
          <p:cNvSpPr>
            <a:spLocks noGrp="1"/>
          </p:cNvSpPr>
          <p:nvPr>
            <p:ph type="ftr" sz="quarter" idx="11"/>
          </p:nvPr>
        </p:nvSpPr>
        <p:spPr>
          <a:xfrm>
            <a:off x="6096000" y="6449839"/>
            <a:ext cx="4114800" cy="365125"/>
          </a:xfrm>
        </p:spPr>
        <p:txBody>
          <a:bodyPr/>
          <a:lstStyle/>
          <a:p>
            <a:r>
              <a:rPr lang="en-US" dirty="0"/>
              <a:t>Key Benefit Administrators</a:t>
            </a:r>
          </a:p>
        </p:txBody>
      </p:sp>
      <p:sp>
        <p:nvSpPr>
          <p:cNvPr id="9" name="Title 1">
            <a:extLst>
              <a:ext uri="{FF2B5EF4-FFF2-40B4-BE49-F238E27FC236}">
                <a16:creationId xmlns:a16="http://schemas.microsoft.com/office/drawing/2014/main" id="{E9C15F56-47BD-D180-EBFB-0843E8BBCCEE}"/>
              </a:ext>
            </a:extLst>
          </p:cNvPr>
          <p:cNvSpPr>
            <a:spLocks noGrp="1"/>
          </p:cNvSpPr>
          <p:nvPr>
            <p:ph type="title"/>
          </p:nvPr>
        </p:nvSpPr>
        <p:spPr>
          <a:xfrm>
            <a:off x="6763656" y="683306"/>
            <a:ext cx="4846964" cy="1325563"/>
          </a:xfrm>
        </p:spPr>
        <p:txBody>
          <a:bodyPr>
            <a:noAutofit/>
          </a:bodyPr>
          <a:lstStyle/>
          <a:p>
            <a:pPr>
              <a:lnSpc>
                <a:spcPct val="100000"/>
              </a:lnSpc>
              <a:spcBef>
                <a:spcPts val="1800"/>
              </a:spcBef>
              <a:spcAft>
                <a:spcPts val="600"/>
              </a:spcAft>
            </a:pPr>
            <a:r>
              <a:rPr lang="en-US" sz="2000" dirty="0">
                <a:solidFill>
                  <a:srgbClr val="000B2E"/>
                </a:solidFill>
                <a:latin typeface="Arial" panose="020B0604020202020204" pitchFamily="34" charset="0"/>
                <a:cs typeface="Arial" panose="020B0604020202020204" pitchFamily="34" charset="0"/>
              </a:rPr>
              <a:t>Direct-to-Employer Strategy:</a:t>
            </a:r>
            <a:br>
              <a:rPr lang="en-US" sz="4000" b="1" dirty="0">
                <a:solidFill>
                  <a:srgbClr val="000B2E"/>
                </a:solidFill>
                <a:latin typeface="Arial" panose="020B0604020202020204" pitchFamily="34" charset="0"/>
                <a:cs typeface="Arial" panose="020B0604020202020204" pitchFamily="34" charset="0"/>
              </a:rPr>
            </a:br>
            <a:r>
              <a:rPr lang="en-US" sz="3600" dirty="0">
                <a:solidFill>
                  <a:srgbClr val="000B2E"/>
                </a:solidFill>
              </a:rPr>
              <a:t>Powerful Employer Value</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141260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6E917A82-FACC-9CE3-5CE6-640CE6087212}"/>
              </a:ext>
            </a:extLst>
          </p:cNvPr>
          <p:cNvSpPr>
            <a:spLocks noGrp="1"/>
          </p:cNvSpPr>
          <p:nvPr>
            <p:ph type="ftr" sz="quarter" idx="11"/>
          </p:nvPr>
        </p:nvSpPr>
        <p:spPr/>
        <p:txBody>
          <a:bodyPr/>
          <a:lstStyle/>
          <a:p>
            <a:r>
              <a:rPr lang="en-US"/>
              <a:t>Key Benefit Administrators</a:t>
            </a:r>
            <a:endParaRPr lang="en-US" dirty="0"/>
          </a:p>
        </p:txBody>
      </p:sp>
      <p:sp>
        <p:nvSpPr>
          <p:cNvPr id="4" name="Slide Number Placeholder 3">
            <a:extLst>
              <a:ext uri="{FF2B5EF4-FFF2-40B4-BE49-F238E27FC236}">
                <a16:creationId xmlns:a16="http://schemas.microsoft.com/office/drawing/2014/main" id="{77BEE2C0-9C88-E3B0-3307-08132DDFD6E0}"/>
              </a:ext>
            </a:extLst>
          </p:cNvPr>
          <p:cNvSpPr>
            <a:spLocks noGrp="1"/>
          </p:cNvSpPr>
          <p:nvPr>
            <p:ph type="sldNum" sz="quarter" idx="12"/>
          </p:nvPr>
        </p:nvSpPr>
        <p:spPr/>
        <p:txBody>
          <a:bodyPr/>
          <a:lstStyle/>
          <a:p>
            <a:fld id="{3AFC719D-C4A7-4544-876E-D411D11AF6C9}" type="slidenum">
              <a:rPr lang="en-US" smtClean="0"/>
              <a:t>7</a:t>
            </a:fld>
            <a:endParaRPr lang="en-US" dirty="0"/>
          </a:p>
        </p:txBody>
      </p:sp>
      <p:sp>
        <p:nvSpPr>
          <p:cNvPr id="6" name="TextBox 5">
            <a:extLst>
              <a:ext uri="{FF2B5EF4-FFF2-40B4-BE49-F238E27FC236}">
                <a16:creationId xmlns:a16="http://schemas.microsoft.com/office/drawing/2014/main" id="{C9963971-9E27-D1D8-44A6-33EAA3782592}"/>
              </a:ext>
            </a:extLst>
          </p:cNvPr>
          <p:cNvSpPr txBox="1"/>
          <p:nvPr/>
        </p:nvSpPr>
        <p:spPr>
          <a:xfrm>
            <a:off x="227045" y="1275695"/>
            <a:ext cx="11737910" cy="646331"/>
          </a:xfrm>
          <a:prstGeom prst="rect">
            <a:avLst/>
          </a:prstGeom>
          <a:noFill/>
        </p:spPr>
        <p:txBody>
          <a:bodyPr wrap="square">
            <a:spAutoFit/>
          </a:bodyPr>
          <a:lstStyle/>
          <a:p>
            <a:pPr algn="ctr"/>
            <a:r>
              <a:rPr lang="en-US" sz="1800" b="1" spc="200" dirty="0">
                <a:solidFill>
                  <a:schemeClr val="accent2">
                    <a:lumMod val="75000"/>
                  </a:schemeClr>
                </a:solidFill>
                <a:latin typeface="+mj-lt"/>
                <a:cs typeface="+mj-cs"/>
              </a:rPr>
              <a:t>Target Market</a:t>
            </a:r>
            <a:br>
              <a:rPr lang="en-US" sz="1800" spc="200" dirty="0">
                <a:latin typeface="+mj-lt"/>
                <a:cs typeface="+mj-cs"/>
              </a:rPr>
            </a:br>
            <a:r>
              <a:rPr lang="en-US" sz="1800" spc="200" dirty="0">
                <a:latin typeface="+mj-lt"/>
                <a:cs typeface="+mj-cs"/>
              </a:rPr>
              <a:t>2,353 Employers       390,000</a:t>
            </a:r>
            <a:r>
              <a:rPr lang="en-US" sz="1800" spc="200" dirty="0">
                <a:latin typeface="+mj-lt"/>
                <a:cs typeface="+mj-cs"/>
                <a:sym typeface="Wingdings" panose="05000000000000000000" pitchFamily="2" charset="2"/>
              </a:rPr>
              <a:t>+ Employees       627,000+ Members</a:t>
            </a:r>
            <a:endParaRPr lang="en-US" dirty="0"/>
          </a:p>
        </p:txBody>
      </p:sp>
      <p:sp>
        <p:nvSpPr>
          <p:cNvPr id="9" name="Arrow: Chevron 8">
            <a:extLst>
              <a:ext uri="{FF2B5EF4-FFF2-40B4-BE49-F238E27FC236}">
                <a16:creationId xmlns:a16="http://schemas.microsoft.com/office/drawing/2014/main" id="{CCED4F75-71FE-39B7-D7A7-16E95303FB5C}"/>
              </a:ext>
            </a:extLst>
          </p:cNvPr>
          <p:cNvSpPr/>
          <p:nvPr/>
        </p:nvSpPr>
        <p:spPr>
          <a:xfrm>
            <a:off x="4333487" y="1656396"/>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0" name="Arrow: Chevron 9">
            <a:extLst>
              <a:ext uri="{FF2B5EF4-FFF2-40B4-BE49-F238E27FC236}">
                <a16:creationId xmlns:a16="http://schemas.microsoft.com/office/drawing/2014/main" id="{340F1AD2-D85A-D177-8D19-AC9B027C53E2}"/>
              </a:ext>
            </a:extLst>
          </p:cNvPr>
          <p:cNvSpPr/>
          <p:nvPr/>
        </p:nvSpPr>
        <p:spPr>
          <a:xfrm>
            <a:off x="7280031" y="1647719"/>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     </a:t>
            </a:r>
            <a:endParaRPr lang="en-US" dirty="0">
              <a:solidFill>
                <a:schemeClr val="tx1"/>
              </a:solidFill>
            </a:endParaRPr>
          </a:p>
        </p:txBody>
      </p:sp>
      <p:pic>
        <p:nvPicPr>
          <p:cNvPr id="12" name="Picture 11">
            <a:extLst>
              <a:ext uri="{FF2B5EF4-FFF2-40B4-BE49-F238E27FC236}">
                <a16:creationId xmlns:a16="http://schemas.microsoft.com/office/drawing/2014/main" id="{68AEB764-7282-2935-C706-89FC9DB8EB8C}"/>
              </a:ext>
            </a:extLst>
          </p:cNvPr>
          <p:cNvPicPr>
            <a:picLocks noChangeAspect="1"/>
          </p:cNvPicPr>
          <p:nvPr/>
        </p:nvPicPr>
        <p:blipFill>
          <a:blip r:embed="rId2"/>
          <a:stretch>
            <a:fillRect/>
          </a:stretch>
        </p:blipFill>
        <p:spPr>
          <a:xfrm>
            <a:off x="0" y="2140949"/>
            <a:ext cx="4150841" cy="3901736"/>
          </a:xfrm>
          <a:prstGeom prst="rect">
            <a:avLst/>
          </a:prstGeom>
        </p:spPr>
      </p:pic>
      <p:graphicFrame>
        <p:nvGraphicFramePr>
          <p:cNvPr id="13" name="Table 12">
            <a:extLst>
              <a:ext uri="{FF2B5EF4-FFF2-40B4-BE49-F238E27FC236}">
                <a16:creationId xmlns:a16="http://schemas.microsoft.com/office/drawing/2014/main" id="{C5BE1B27-9F04-9265-C933-6FD598A73DFA}"/>
              </a:ext>
            </a:extLst>
          </p:cNvPr>
          <p:cNvGraphicFramePr>
            <a:graphicFrameLocks noGrp="1"/>
          </p:cNvGraphicFramePr>
          <p:nvPr>
            <p:extLst>
              <p:ext uri="{D42A27DB-BD31-4B8C-83A1-F6EECF244321}">
                <p14:modId xmlns:p14="http://schemas.microsoft.com/office/powerpoint/2010/main" val="301490117"/>
              </p:ext>
            </p:extLst>
          </p:nvPr>
        </p:nvGraphicFramePr>
        <p:xfrm>
          <a:off x="4889297" y="2140949"/>
          <a:ext cx="6949427" cy="4273027"/>
        </p:xfrm>
        <a:graphic>
          <a:graphicData uri="http://schemas.openxmlformats.org/drawingml/2006/table">
            <a:tbl>
              <a:tblPr/>
              <a:tblGrid>
                <a:gridCol w="2681975">
                  <a:extLst>
                    <a:ext uri="{9D8B030D-6E8A-4147-A177-3AD203B41FA5}">
                      <a16:colId xmlns:a16="http://schemas.microsoft.com/office/drawing/2014/main" val="1559488425"/>
                    </a:ext>
                  </a:extLst>
                </a:gridCol>
                <a:gridCol w="711242">
                  <a:extLst>
                    <a:ext uri="{9D8B030D-6E8A-4147-A177-3AD203B41FA5}">
                      <a16:colId xmlns:a16="http://schemas.microsoft.com/office/drawing/2014/main" val="3447311937"/>
                    </a:ext>
                  </a:extLst>
                </a:gridCol>
                <a:gridCol w="711242">
                  <a:extLst>
                    <a:ext uri="{9D8B030D-6E8A-4147-A177-3AD203B41FA5}">
                      <a16:colId xmlns:a16="http://schemas.microsoft.com/office/drawing/2014/main" val="3754037008"/>
                    </a:ext>
                  </a:extLst>
                </a:gridCol>
                <a:gridCol w="711242">
                  <a:extLst>
                    <a:ext uri="{9D8B030D-6E8A-4147-A177-3AD203B41FA5}">
                      <a16:colId xmlns:a16="http://schemas.microsoft.com/office/drawing/2014/main" val="1458190780"/>
                    </a:ext>
                  </a:extLst>
                </a:gridCol>
                <a:gridCol w="711242">
                  <a:extLst>
                    <a:ext uri="{9D8B030D-6E8A-4147-A177-3AD203B41FA5}">
                      <a16:colId xmlns:a16="http://schemas.microsoft.com/office/drawing/2014/main" val="957112869"/>
                    </a:ext>
                  </a:extLst>
                </a:gridCol>
                <a:gridCol w="711242">
                  <a:extLst>
                    <a:ext uri="{9D8B030D-6E8A-4147-A177-3AD203B41FA5}">
                      <a16:colId xmlns:a16="http://schemas.microsoft.com/office/drawing/2014/main" val="257020552"/>
                    </a:ext>
                  </a:extLst>
                </a:gridCol>
                <a:gridCol w="711242">
                  <a:extLst>
                    <a:ext uri="{9D8B030D-6E8A-4147-A177-3AD203B41FA5}">
                      <a16:colId xmlns:a16="http://schemas.microsoft.com/office/drawing/2014/main" val="3699895334"/>
                    </a:ext>
                  </a:extLst>
                </a:gridCol>
              </a:tblGrid>
              <a:tr h="272206">
                <a:tc>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gridSpan="6">
                  <a:txBody>
                    <a:bodyPr/>
                    <a:lstStyle/>
                    <a:p>
                      <a:pPr algn="ctr" fontAlgn="b"/>
                      <a:r>
                        <a:rPr lang="en-US" sz="1100" b="0" i="0" u="none" strike="noStrike" dirty="0">
                          <a:solidFill>
                            <a:srgbClr val="000000"/>
                          </a:solidFill>
                          <a:effectLst/>
                          <a:latin typeface="Aptos Narrow" panose="020B0004020202020204" pitchFamily="34" charset="0"/>
                        </a:rPr>
                        <a:t>Total Employees</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solidFill>
                      <a:schemeClr val="accent1">
                        <a:lumMod val="20000"/>
                        <a:lumOff val="80000"/>
                      </a:schemeClr>
                    </a:solid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extLst>
                  <a:ext uri="{0D108BD9-81ED-4DB2-BD59-A6C34878D82A}">
                    <a16:rowId xmlns:a16="http://schemas.microsoft.com/office/drawing/2014/main" val="3381166579"/>
                  </a:ext>
                </a:extLst>
              </a:tr>
              <a:tr h="440748">
                <a:tc>
                  <a:txBody>
                    <a:bodyPr/>
                    <a:lstStyle/>
                    <a:p>
                      <a:pPr algn="l" fontAlgn="b"/>
                      <a:r>
                        <a:rPr lang="en-US" sz="1100" b="0" i="0" u="none" strike="noStrike" dirty="0">
                          <a:solidFill>
                            <a:srgbClr val="000000"/>
                          </a:solidFill>
                          <a:effectLst/>
                          <a:latin typeface="Aptos Narrow" panose="020B0004020202020204" pitchFamily="34" charset="0"/>
                        </a:rPr>
                        <a:t>Commercial Employers With Headquarters: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dirty="0">
                          <a:solidFill>
                            <a:srgbClr val="000000"/>
                          </a:solidFill>
                          <a:effectLst/>
                          <a:latin typeface="Aptos Narrow" panose="020B0004020202020204" pitchFamily="34"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a:solidFill>
                            <a:srgbClr val="000000"/>
                          </a:solidFill>
                          <a:effectLst/>
                          <a:latin typeface="Aptos Narrow" panose="020B0004020202020204" pitchFamily="34"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a:solidFill>
                            <a:srgbClr val="000000"/>
                          </a:solidFill>
                          <a:effectLst/>
                          <a:latin typeface="Aptos Narrow" panose="020B0004020202020204" pitchFamily="34"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a:solidFill>
                            <a:srgbClr val="000000"/>
                          </a:solidFill>
                          <a:effectLst/>
                          <a:latin typeface="Aptos Narrow" panose="020B0004020202020204" pitchFamily="34"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dirty="0">
                          <a:solidFill>
                            <a:srgbClr val="000000"/>
                          </a:solidFill>
                          <a:effectLst/>
                          <a:latin typeface="Aptos Narrow" panose="020B0004020202020204" pitchFamily="34"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a:solidFill>
                            <a:srgbClr val="000000"/>
                          </a:solidFill>
                          <a:effectLst/>
                          <a:latin typeface="Aptos Narrow" panose="020B0004020202020204" pitchFamily="34"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2831961423"/>
                  </a:ext>
                </a:extLst>
              </a:tr>
              <a:tr h="243507">
                <a:tc>
                  <a:txBody>
                    <a:bodyPr/>
                    <a:lstStyle/>
                    <a:p>
                      <a:pPr algn="l" fontAlgn="b"/>
                      <a:r>
                        <a:rPr lang="en-US" sz="1100" b="0" i="0" u="none" strike="noStrike" dirty="0">
                          <a:solidFill>
                            <a:srgbClr val="000000"/>
                          </a:solidFill>
                          <a:effectLst/>
                          <a:latin typeface="Aptos Narrow" panose="020B0004020202020204" pitchFamily="34" charset="0"/>
                        </a:rPr>
                        <a:t>Within 10 Miles of SLUHS Hospital</a:t>
                      </a:r>
                    </a:p>
                  </a:txBody>
                  <a:tcPr marL="9525" marR="9525" marT="9525" marB="0" anchor="b">
                    <a:lnL>
                      <a:noFill/>
                    </a:lnL>
                    <a:lnR>
                      <a:noFill/>
                    </a:lnR>
                    <a:lnT>
                      <a:noFill/>
                    </a:lnT>
                    <a:lnB>
                      <a:noFill/>
                    </a:lnB>
                    <a:noFill/>
                  </a:tcPr>
                </a:tc>
                <a:tc>
                  <a:txBody>
                    <a:bodyPr/>
                    <a:lstStyle/>
                    <a:p>
                      <a:pPr algn="ctr" fontAlgn="b"/>
                      <a:r>
                        <a:rPr lang="en-US" sz="1100" b="0" i="0" u="none" strike="noStrike" dirty="0">
                          <a:solidFill>
                            <a:srgbClr val="000000"/>
                          </a:solidFill>
                          <a:effectLst/>
                          <a:latin typeface="Aptos Narrow" panose="020B0004020202020204" pitchFamily="34" charset="0"/>
                        </a:rPr>
                        <a:t>552</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261</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161</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a:solidFill>
                            <a:srgbClr val="000000"/>
                          </a:solidFill>
                          <a:effectLst/>
                          <a:latin typeface="Aptos Narrow" panose="020B0004020202020204" pitchFamily="34" charset="0"/>
                        </a:rPr>
                        <a:t>73</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a:solidFill>
                            <a:srgbClr val="000000"/>
                          </a:solidFill>
                          <a:effectLst/>
                          <a:latin typeface="Aptos Narrow" panose="020B0004020202020204" pitchFamily="34" charset="0"/>
                        </a:rPr>
                        <a:t>13</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a:solidFill>
                            <a:srgbClr val="000000"/>
                          </a:solidFill>
                          <a:effectLst/>
                          <a:latin typeface="Aptos Narrow" panose="020B0004020202020204" pitchFamily="34" charset="0"/>
                        </a:rPr>
                        <a:t>15</a:t>
                      </a:r>
                    </a:p>
                  </a:txBody>
                  <a:tcPr marL="9525" marR="9525" marT="9525" marB="0" anchor="b">
                    <a:lnL>
                      <a:noFill/>
                    </a:lnL>
                    <a:lnR>
                      <a:noFill/>
                    </a:lnR>
                    <a:lnT>
                      <a:noFill/>
                    </a:lnT>
                    <a:lnB>
                      <a:noFill/>
                    </a:lnB>
                    <a:noFill/>
                  </a:tcPr>
                </a:tc>
                <a:extLst>
                  <a:ext uri="{0D108BD9-81ED-4DB2-BD59-A6C34878D82A}">
                    <a16:rowId xmlns:a16="http://schemas.microsoft.com/office/drawing/2014/main" val="4059977521"/>
                  </a:ext>
                </a:extLst>
              </a:tr>
              <a:tr h="243507">
                <a:tc>
                  <a:txBody>
                    <a:bodyPr/>
                    <a:lstStyle/>
                    <a:p>
                      <a:pPr algn="l" fontAlgn="b"/>
                      <a:r>
                        <a:rPr lang="en-US" sz="1100" b="0" i="0" u="none" strike="noStrike">
                          <a:solidFill>
                            <a:srgbClr val="000000"/>
                          </a:solidFill>
                          <a:effectLst/>
                          <a:latin typeface="Aptos Narrow" panose="020B0004020202020204" pitchFamily="34" charset="0"/>
                        </a:rPr>
                        <a:t>Within 11-20 Miles of SLUHS Hospital</a:t>
                      </a:r>
                    </a:p>
                  </a:txBody>
                  <a:tcPr marL="9525" marR="9525" marT="9525" marB="0" anchor="b">
                    <a:lnL>
                      <a:noFill/>
                    </a:lnL>
                    <a:lnR>
                      <a:noFill/>
                    </a:lnR>
                    <a:lnT>
                      <a:noFill/>
                    </a:lnT>
                    <a:lnB>
                      <a:noFill/>
                    </a:lnB>
                    <a:noFill/>
                  </a:tcPr>
                </a:tc>
                <a:tc>
                  <a:txBody>
                    <a:bodyPr/>
                    <a:lstStyle/>
                    <a:p>
                      <a:pPr algn="ctr" fontAlgn="b"/>
                      <a:r>
                        <a:rPr lang="en-US" sz="1100" b="0" i="0" u="none" strike="noStrike">
                          <a:solidFill>
                            <a:srgbClr val="000000"/>
                          </a:solidFill>
                          <a:effectLst/>
                          <a:latin typeface="Aptos Narrow" panose="020B0004020202020204" pitchFamily="34" charset="0"/>
                        </a:rPr>
                        <a:t>767</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278</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175</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86</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24</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a:solidFill>
                            <a:srgbClr val="000000"/>
                          </a:solidFill>
                          <a:effectLst/>
                          <a:latin typeface="Aptos Narrow" panose="020B0004020202020204" pitchFamily="34" charset="0"/>
                        </a:rPr>
                        <a:t>10</a:t>
                      </a:r>
                    </a:p>
                  </a:txBody>
                  <a:tcPr marL="9525" marR="9525" marT="9525" marB="0" anchor="b">
                    <a:lnL>
                      <a:noFill/>
                    </a:lnL>
                    <a:lnR>
                      <a:noFill/>
                    </a:lnR>
                    <a:lnT>
                      <a:noFill/>
                    </a:lnT>
                    <a:lnB>
                      <a:noFill/>
                    </a:lnB>
                    <a:noFill/>
                  </a:tcPr>
                </a:tc>
                <a:extLst>
                  <a:ext uri="{0D108BD9-81ED-4DB2-BD59-A6C34878D82A}">
                    <a16:rowId xmlns:a16="http://schemas.microsoft.com/office/drawing/2014/main" val="3588716138"/>
                  </a:ext>
                </a:extLst>
              </a:tr>
              <a:tr h="243507">
                <a:tc>
                  <a:txBody>
                    <a:bodyPr/>
                    <a:lstStyle/>
                    <a:p>
                      <a:pPr algn="l" fontAlgn="b"/>
                      <a:r>
                        <a:rPr lang="en-US" sz="1100" b="0" i="0" u="none" strike="noStrike">
                          <a:solidFill>
                            <a:srgbClr val="000000"/>
                          </a:solidFill>
                          <a:effectLst/>
                          <a:latin typeface="Aptos Narrow" panose="020B0004020202020204" pitchFamily="34" charset="0"/>
                        </a:rPr>
                        <a:t>Within 21-30 Miles of SLUHS Hospital</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Aptos Narrow" panose="020B0004020202020204" pitchFamily="34" charset="0"/>
                        </a:rPr>
                        <a:t>1908</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Aptos Narrow" panose="020B0004020202020204" pitchFamily="34" charset="0"/>
                        </a:rPr>
                        <a:t>775</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Aptos Narrow" panose="020B0004020202020204" pitchFamily="34" charset="0"/>
                        </a:rPr>
                        <a:t>544</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panose="020B0004020202020204" pitchFamily="34" charset="0"/>
                        </a:rPr>
                        <a:t>290</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panose="020B0004020202020204" pitchFamily="34" charset="0"/>
                        </a:rPr>
                        <a:t>105</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panose="020B0004020202020204" pitchFamily="34" charset="0"/>
                        </a:rPr>
                        <a:t>75</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5330736"/>
                  </a:ext>
                </a:extLst>
              </a:tr>
              <a:tr h="243507">
                <a:tc>
                  <a:txBody>
                    <a:bodyPr/>
                    <a:lstStyle/>
                    <a:p>
                      <a:pPr algn="l"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660967609"/>
                  </a:ext>
                </a:extLst>
              </a:tr>
              <a:tr h="440748">
                <a:tc>
                  <a:txBody>
                    <a:bodyPr/>
                    <a:lstStyle/>
                    <a:p>
                      <a:pPr algn="l" fontAlgn="b"/>
                      <a:r>
                        <a:rPr lang="en-US" sz="1100" b="0" i="0" u="none" strike="noStrike" dirty="0">
                          <a:solidFill>
                            <a:srgbClr val="000000"/>
                          </a:solidFill>
                          <a:effectLst/>
                          <a:latin typeface="Aptos Narrow" panose="020B0004020202020204" pitchFamily="34" charset="0"/>
                        </a:rPr>
                        <a:t>Employees at Above Firms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dirty="0">
                          <a:solidFill>
                            <a:srgbClr val="000000"/>
                          </a:solidFill>
                          <a:effectLst/>
                          <a:latin typeface="Aptos Narrow" panose="020B0004020202020204" pitchFamily="34"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a:solidFill>
                            <a:srgbClr val="000000"/>
                          </a:solidFill>
                          <a:effectLst/>
                          <a:latin typeface="Aptos Narrow" panose="020B0004020202020204" pitchFamily="34"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a:solidFill>
                            <a:srgbClr val="000000"/>
                          </a:solidFill>
                          <a:effectLst/>
                          <a:latin typeface="Aptos Narrow" panose="020B0004020202020204" pitchFamily="34"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a:solidFill>
                            <a:srgbClr val="000000"/>
                          </a:solidFill>
                          <a:effectLst/>
                          <a:latin typeface="Aptos Narrow" panose="020B0004020202020204" pitchFamily="34"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dirty="0">
                          <a:solidFill>
                            <a:srgbClr val="000000"/>
                          </a:solidFill>
                          <a:effectLst/>
                          <a:latin typeface="Aptos Narrow" panose="020B0004020202020204" pitchFamily="34"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a:solidFill>
                            <a:srgbClr val="000000"/>
                          </a:solidFill>
                          <a:effectLst/>
                          <a:latin typeface="Aptos Narrow" panose="020B0004020202020204" pitchFamily="34"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1072000535"/>
                  </a:ext>
                </a:extLst>
              </a:tr>
              <a:tr h="243507">
                <a:tc>
                  <a:txBody>
                    <a:bodyPr/>
                    <a:lstStyle/>
                    <a:p>
                      <a:pPr algn="l" fontAlgn="b"/>
                      <a:r>
                        <a:rPr lang="en-US" sz="1100" b="0" i="0" u="none" strike="noStrike" dirty="0">
                          <a:solidFill>
                            <a:srgbClr val="000000"/>
                          </a:solidFill>
                          <a:effectLst/>
                          <a:latin typeface="Aptos Narrow" panose="020B0004020202020204" pitchFamily="34" charset="0"/>
                        </a:rPr>
                        <a:t>Within 10 Miles of SLUHS Hospital</a:t>
                      </a:r>
                    </a:p>
                  </a:txBody>
                  <a:tcPr marL="9525" marR="9525" marT="9525" marB="0" anchor="b">
                    <a:lnL>
                      <a:noFill/>
                    </a:lnL>
                    <a:lnR>
                      <a:noFill/>
                    </a:lnR>
                    <a:lnT>
                      <a:noFill/>
                    </a:lnT>
                    <a:lnB>
                      <a:noFill/>
                    </a:lnB>
                    <a:noFill/>
                  </a:tcPr>
                </a:tc>
                <a:tc>
                  <a:txBody>
                    <a:bodyPr/>
                    <a:lstStyle/>
                    <a:p>
                      <a:pPr algn="ctr" fontAlgn="b"/>
                      <a:r>
                        <a:rPr lang="en-US" sz="1100" b="0" i="0" u="none" strike="noStrike" dirty="0">
                          <a:solidFill>
                            <a:srgbClr val="000000"/>
                          </a:solidFill>
                          <a:effectLst/>
                          <a:latin typeface="Aptos Narrow" panose="020B0004020202020204" pitchFamily="34" charset="0"/>
                        </a:rPr>
                        <a:t>41,400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39,150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48,300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51,100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26,000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165,000</a:t>
                      </a:r>
                    </a:p>
                  </a:txBody>
                  <a:tcPr marL="9525" marR="9525" marT="9525" marB="0" anchor="b">
                    <a:lnL>
                      <a:noFill/>
                    </a:lnL>
                    <a:lnR>
                      <a:noFill/>
                    </a:lnR>
                    <a:lnT>
                      <a:noFill/>
                    </a:lnT>
                    <a:lnB>
                      <a:noFill/>
                    </a:lnB>
                    <a:noFill/>
                  </a:tcPr>
                </a:tc>
                <a:extLst>
                  <a:ext uri="{0D108BD9-81ED-4DB2-BD59-A6C34878D82A}">
                    <a16:rowId xmlns:a16="http://schemas.microsoft.com/office/drawing/2014/main" val="486299110"/>
                  </a:ext>
                </a:extLst>
              </a:tr>
              <a:tr h="243507">
                <a:tc>
                  <a:txBody>
                    <a:bodyPr/>
                    <a:lstStyle/>
                    <a:p>
                      <a:pPr algn="l" fontAlgn="b"/>
                      <a:r>
                        <a:rPr lang="en-US" sz="1100" b="0" i="0" u="none" strike="noStrike" dirty="0">
                          <a:solidFill>
                            <a:srgbClr val="000000"/>
                          </a:solidFill>
                          <a:effectLst/>
                          <a:latin typeface="Aptos Narrow" panose="020B0004020202020204" pitchFamily="34" charset="0"/>
                        </a:rPr>
                        <a:t>Within 11-20 Miles of SLUHS Hospital</a:t>
                      </a:r>
                    </a:p>
                  </a:txBody>
                  <a:tcPr marL="9525" marR="9525" marT="9525" marB="0" anchor="b">
                    <a:lnL>
                      <a:noFill/>
                    </a:lnL>
                    <a:lnR>
                      <a:noFill/>
                    </a:lnR>
                    <a:lnT>
                      <a:noFill/>
                    </a:lnT>
                    <a:lnB>
                      <a:noFill/>
                    </a:lnB>
                    <a:noFill/>
                  </a:tcPr>
                </a:tc>
                <a:tc>
                  <a:txBody>
                    <a:bodyPr/>
                    <a:lstStyle/>
                    <a:p>
                      <a:pPr algn="ctr" fontAlgn="b"/>
                      <a:r>
                        <a:rPr lang="en-US" sz="1100" b="0" i="0" u="none" strike="noStrike" dirty="0">
                          <a:solidFill>
                            <a:srgbClr val="000000"/>
                          </a:solidFill>
                          <a:effectLst/>
                          <a:latin typeface="Aptos Narrow" panose="020B0004020202020204" pitchFamily="34" charset="0"/>
                        </a:rPr>
                        <a:t>57,525</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41,700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52,500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60,200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48,000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110,000</a:t>
                      </a:r>
                    </a:p>
                  </a:txBody>
                  <a:tcPr marL="9525" marR="9525" marT="9525" marB="0" anchor="b">
                    <a:lnL>
                      <a:noFill/>
                    </a:lnL>
                    <a:lnR>
                      <a:noFill/>
                    </a:lnR>
                    <a:lnT>
                      <a:noFill/>
                    </a:lnT>
                    <a:lnB>
                      <a:noFill/>
                    </a:lnB>
                    <a:noFill/>
                  </a:tcPr>
                </a:tc>
                <a:extLst>
                  <a:ext uri="{0D108BD9-81ED-4DB2-BD59-A6C34878D82A}">
                    <a16:rowId xmlns:a16="http://schemas.microsoft.com/office/drawing/2014/main" val="1517699855"/>
                  </a:ext>
                </a:extLst>
              </a:tr>
              <a:tr h="243507">
                <a:tc>
                  <a:txBody>
                    <a:bodyPr/>
                    <a:lstStyle/>
                    <a:p>
                      <a:pPr algn="l" fontAlgn="b"/>
                      <a:r>
                        <a:rPr lang="en-US" sz="1100" b="0" i="0" u="none" strike="noStrike">
                          <a:solidFill>
                            <a:srgbClr val="000000"/>
                          </a:solidFill>
                          <a:effectLst/>
                          <a:latin typeface="Aptos Narrow" panose="020B0004020202020204" pitchFamily="34" charset="0"/>
                        </a:rPr>
                        <a:t>Within 21-30 Miles of SLUHS Hospital</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panose="020B0004020202020204" pitchFamily="34" charset="0"/>
                        </a:rPr>
                        <a:t>143,100</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panose="020B0004020202020204" pitchFamily="34" charset="0"/>
                        </a:rPr>
                        <a:t>116,250</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panose="020B0004020202020204" pitchFamily="34" charset="0"/>
                        </a:rPr>
                        <a:t>163,200</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panose="020B0004020202020204" pitchFamily="34" charset="0"/>
                        </a:rPr>
                        <a:t>203,000</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panose="020B0004020202020204" pitchFamily="34" charset="0"/>
                        </a:rPr>
                        <a:t>210,000</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panose="020B0004020202020204" pitchFamily="34" charset="0"/>
                        </a:rPr>
                        <a:t>825,000</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794521340"/>
                  </a:ext>
                </a:extLst>
              </a:tr>
              <a:tr h="243507">
                <a:tc>
                  <a:txBody>
                    <a:bodyPr/>
                    <a:lstStyle/>
                    <a:p>
                      <a:pPr algn="l"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554517032"/>
                  </a:ext>
                </a:extLst>
              </a:tr>
              <a:tr h="440748">
                <a:tc>
                  <a:txBody>
                    <a:bodyPr/>
                    <a:lstStyle/>
                    <a:p>
                      <a:pPr algn="l" fontAlgn="b"/>
                      <a:r>
                        <a:rPr lang="en-US" sz="1100" b="0" i="0" u="none" strike="noStrike" dirty="0">
                          <a:solidFill>
                            <a:srgbClr val="000000"/>
                          </a:solidFill>
                          <a:effectLst/>
                          <a:latin typeface="Aptos Narrow" panose="020B0004020202020204" pitchFamily="34" charset="0"/>
                        </a:rPr>
                        <a:t>Total Members at Firms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a:solidFill>
                            <a:srgbClr val="000000"/>
                          </a:solidFill>
                          <a:effectLst/>
                          <a:latin typeface="Aptos Narrow" panose="020B0004020202020204" pitchFamily="34"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a:solidFill>
                            <a:srgbClr val="000000"/>
                          </a:solidFill>
                          <a:effectLst/>
                          <a:latin typeface="Aptos Narrow" panose="020B0004020202020204" pitchFamily="34"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a:solidFill>
                            <a:srgbClr val="000000"/>
                          </a:solidFill>
                          <a:effectLst/>
                          <a:latin typeface="Aptos Narrow" panose="020B0004020202020204" pitchFamily="34"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a:solidFill>
                            <a:srgbClr val="000000"/>
                          </a:solidFill>
                          <a:effectLst/>
                          <a:latin typeface="Aptos Narrow" panose="020B0004020202020204" pitchFamily="34"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dirty="0">
                          <a:solidFill>
                            <a:srgbClr val="000000"/>
                          </a:solidFill>
                          <a:effectLst/>
                          <a:latin typeface="Aptos Narrow" panose="020B0004020202020204" pitchFamily="34"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a:solidFill>
                            <a:srgbClr val="000000"/>
                          </a:solidFill>
                          <a:effectLst/>
                          <a:latin typeface="Aptos Narrow" panose="020B0004020202020204" pitchFamily="34"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306436592"/>
                  </a:ext>
                </a:extLst>
              </a:tr>
              <a:tr h="243507">
                <a:tc>
                  <a:txBody>
                    <a:bodyPr/>
                    <a:lstStyle/>
                    <a:p>
                      <a:pPr algn="l" fontAlgn="b"/>
                      <a:r>
                        <a:rPr lang="en-US" sz="1100" b="0" i="0" u="none" strike="noStrike" dirty="0">
                          <a:solidFill>
                            <a:srgbClr val="000000"/>
                          </a:solidFill>
                          <a:effectLst/>
                          <a:latin typeface="Aptos Narrow" panose="020B0004020202020204" pitchFamily="34" charset="0"/>
                        </a:rPr>
                        <a:t>Within 10 Miles of SLUHS Hospital</a:t>
                      </a:r>
                    </a:p>
                  </a:txBody>
                  <a:tcPr marL="9525" marR="9525" marT="9525" marB="0" anchor="b">
                    <a:lnL>
                      <a:noFill/>
                    </a:lnL>
                    <a:lnR>
                      <a:noFill/>
                    </a:lnR>
                    <a:lnT>
                      <a:noFill/>
                    </a:lnT>
                    <a:lnB>
                      <a:noFill/>
                    </a:lnB>
                    <a:noFill/>
                  </a:tcPr>
                </a:tc>
                <a:tc>
                  <a:txBody>
                    <a:bodyPr/>
                    <a:lstStyle/>
                    <a:p>
                      <a:pPr algn="ctr" fontAlgn="b"/>
                      <a:r>
                        <a:rPr lang="en-US" sz="1100" b="0" i="0" u="none" strike="noStrike" dirty="0">
                          <a:solidFill>
                            <a:srgbClr val="000000"/>
                          </a:solidFill>
                          <a:effectLst/>
                          <a:latin typeface="Aptos Narrow" panose="020B0004020202020204" pitchFamily="34" charset="0"/>
                        </a:rPr>
                        <a:t>66240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62640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77,280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81,760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41,600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264,000</a:t>
                      </a:r>
                    </a:p>
                  </a:txBody>
                  <a:tcPr marL="9525" marR="9525" marT="9525" marB="0" anchor="b">
                    <a:lnL>
                      <a:noFill/>
                    </a:lnL>
                    <a:lnR>
                      <a:noFill/>
                    </a:lnR>
                    <a:lnT>
                      <a:noFill/>
                    </a:lnT>
                    <a:lnB>
                      <a:noFill/>
                    </a:lnB>
                    <a:noFill/>
                  </a:tcPr>
                </a:tc>
                <a:extLst>
                  <a:ext uri="{0D108BD9-81ED-4DB2-BD59-A6C34878D82A}">
                    <a16:rowId xmlns:a16="http://schemas.microsoft.com/office/drawing/2014/main" val="1581610804"/>
                  </a:ext>
                </a:extLst>
              </a:tr>
              <a:tr h="243507">
                <a:tc>
                  <a:txBody>
                    <a:bodyPr/>
                    <a:lstStyle/>
                    <a:p>
                      <a:pPr algn="l" fontAlgn="b"/>
                      <a:r>
                        <a:rPr lang="en-US" sz="1100" b="0" i="0" u="none" strike="noStrike">
                          <a:solidFill>
                            <a:srgbClr val="000000"/>
                          </a:solidFill>
                          <a:effectLst/>
                          <a:latin typeface="Aptos Narrow" panose="020B0004020202020204" pitchFamily="34" charset="0"/>
                        </a:rPr>
                        <a:t>Within 11-20 Miles of SLUHS Hospital</a:t>
                      </a:r>
                    </a:p>
                  </a:txBody>
                  <a:tcPr marL="9525" marR="9525" marT="9525" marB="0" anchor="b">
                    <a:lnL>
                      <a:noFill/>
                    </a:lnL>
                    <a:lnR>
                      <a:noFill/>
                    </a:lnR>
                    <a:lnT>
                      <a:noFill/>
                    </a:lnT>
                    <a:lnB>
                      <a:noFill/>
                    </a:lnB>
                    <a:noFill/>
                  </a:tcPr>
                </a:tc>
                <a:tc>
                  <a:txBody>
                    <a:bodyPr/>
                    <a:lstStyle/>
                    <a:p>
                      <a:pPr algn="ctr" fontAlgn="b"/>
                      <a:r>
                        <a:rPr lang="en-US" sz="1100" b="0" i="0" u="none" strike="noStrike" dirty="0">
                          <a:solidFill>
                            <a:srgbClr val="000000"/>
                          </a:solidFill>
                          <a:effectLst/>
                          <a:latin typeface="Aptos Narrow" panose="020B0004020202020204" pitchFamily="34" charset="0"/>
                        </a:rPr>
                        <a:t>92040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a:solidFill>
                            <a:srgbClr val="000000"/>
                          </a:solidFill>
                          <a:effectLst/>
                          <a:latin typeface="Aptos Narrow" panose="020B0004020202020204" pitchFamily="34" charset="0"/>
                        </a:rPr>
                        <a:t>66720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84,000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96,320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76,800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176,000</a:t>
                      </a:r>
                    </a:p>
                  </a:txBody>
                  <a:tcPr marL="9525" marR="9525" marT="9525" marB="0" anchor="b">
                    <a:lnL>
                      <a:noFill/>
                    </a:lnL>
                    <a:lnR>
                      <a:noFill/>
                    </a:lnR>
                    <a:lnT>
                      <a:noFill/>
                    </a:lnT>
                    <a:lnB>
                      <a:noFill/>
                    </a:lnB>
                    <a:noFill/>
                  </a:tcPr>
                </a:tc>
                <a:extLst>
                  <a:ext uri="{0D108BD9-81ED-4DB2-BD59-A6C34878D82A}">
                    <a16:rowId xmlns:a16="http://schemas.microsoft.com/office/drawing/2014/main" val="3037142275"/>
                  </a:ext>
                </a:extLst>
              </a:tr>
              <a:tr h="243507">
                <a:tc>
                  <a:txBody>
                    <a:bodyPr/>
                    <a:lstStyle/>
                    <a:p>
                      <a:pPr algn="l" fontAlgn="b"/>
                      <a:r>
                        <a:rPr lang="en-US" sz="1100" b="0" i="0" u="none" strike="noStrike">
                          <a:solidFill>
                            <a:srgbClr val="000000"/>
                          </a:solidFill>
                          <a:effectLst/>
                          <a:latin typeface="Aptos Narrow" panose="020B0004020202020204" pitchFamily="34" charset="0"/>
                        </a:rPr>
                        <a:t>Within 21-30 Miles of SLUHS Hospital</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Aptos Narrow" panose="020B0004020202020204" pitchFamily="34" charset="0"/>
                        </a:rPr>
                        <a:t>228960</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Aptos Narrow" panose="020B0004020202020204" pitchFamily="34" charset="0"/>
                        </a:rPr>
                        <a:t>186000</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panose="020B0004020202020204" pitchFamily="34" charset="0"/>
                        </a:rPr>
                        <a:t>261,120</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panose="020B0004020202020204" pitchFamily="34" charset="0"/>
                        </a:rPr>
                        <a:t>324,800</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panose="020B0004020202020204" pitchFamily="34" charset="0"/>
                        </a:rPr>
                        <a:t>336,000</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panose="020B0004020202020204" pitchFamily="34" charset="0"/>
                        </a:rPr>
                        <a:t>1,320,000</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545027535"/>
                  </a:ext>
                </a:extLst>
              </a:tr>
            </a:tbl>
          </a:graphicData>
        </a:graphic>
      </p:graphicFrame>
      <p:sp>
        <p:nvSpPr>
          <p:cNvPr id="16" name="Title 1">
            <a:extLst>
              <a:ext uri="{FF2B5EF4-FFF2-40B4-BE49-F238E27FC236}">
                <a16:creationId xmlns:a16="http://schemas.microsoft.com/office/drawing/2014/main" id="{012C7A76-8C4C-0C17-C582-24A807F19DA5}"/>
              </a:ext>
            </a:extLst>
          </p:cNvPr>
          <p:cNvSpPr>
            <a:spLocks noGrp="1"/>
          </p:cNvSpPr>
          <p:nvPr>
            <p:ph type="title"/>
          </p:nvPr>
        </p:nvSpPr>
        <p:spPr>
          <a:xfrm>
            <a:off x="595490" y="-66318"/>
            <a:ext cx="11001020" cy="1325563"/>
          </a:xfrm>
        </p:spPr>
        <p:txBody>
          <a:bodyPr>
            <a:noAutofit/>
          </a:bodyPr>
          <a:lstStyle/>
          <a:p>
            <a:pPr>
              <a:lnSpc>
                <a:spcPct val="100000"/>
              </a:lnSpc>
              <a:spcBef>
                <a:spcPts val="1800"/>
              </a:spcBef>
              <a:spcAft>
                <a:spcPts val="600"/>
              </a:spcAft>
            </a:pPr>
            <a:r>
              <a:rPr lang="en-US" sz="3600" dirty="0">
                <a:solidFill>
                  <a:srgbClr val="000B2E"/>
                </a:solidFill>
              </a:rPr>
              <a:t>Significant Opportunity for SLUHS</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800804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85EBC102-0292-B21D-323C-61E512F17964}"/>
              </a:ext>
            </a:extLst>
          </p:cNvPr>
          <p:cNvSpPr>
            <a:spLocks noGrp="1"/>
          </p:cNvSpPr>
          <p:nvPr>
            <p:ph type="ftr" sz="quarter" idx="11"/>
          </p:nvPr>
        </p:nvSpPr>
        <p:spPr/>
        <p:txBody>
          <a:bodyPr/>
          <a:lstStyle/>
          <a:p>
            <a:r>
              <a:rPr lang="en-US">
                <a:latin typeface="Arial" panose="020B0604020202020204" pitchFamily="34" charset="0"/>
                <a:cs typeface="Arial" panose="020B0604020202020204" pitchFamily="34" charset="0"/>
              </a:rPr>
              <a:t>Key Benefit Administrators</a:t>
            </a:r>
            <a:endParaRPr lang="en-US" dirty="0">
              <a:latin typeface="Arial" panose="020B060402020202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7847DC0F-0600-2929-C50B-65887D04AC6C}"/>
              </a:ext>
            </a:extLst>
          </p:cNvPr>
          <p:cNvSpPr>
            <a:spLocks noGrp="1"/>
          </p:cNvSpPr>
          <p:nvPr>
            <p:ph type="sldNum" sz="quarter" idx="12"/>
          </p:nvPr>
        </p:nvSpPr>
        <p:spPr/>
        <p:txBody>
          <a:bodyPr/>
          <a:lstStyle/>
          <a:p>
            <a:fld id="{3AFC719D-C4A7-4544-876E-D411D11AF6C9}" type="slidenum">
              <a:rPr lang="en-US" smtClean="0">
                <a:latin typeface="Arial" panose="020B0604020202020204" pitchFamily="34" charset="0"/>
                <a:cs typeface="Arial" panose="020B0604020202020204" pitchFamily="34" charset="0"/>
              </a:rPr>
              <a:t>8</a:t>
            </a:fld>
            <a:endParaRPr lang="en-US" dirty="0">
              <a:latin typeface="Arial" panose="020B0604020202020204" pitchFamily="34" charset="0"/>
              <a:cs typeface="Arial" panose="020B0604020202020204" pitchFamily="34" charset="0"/>
            </a:endParaRPr>
          </a:p>
        </p:txBody>
      </p:sp>
      <p:sp>
        <p:nvSpPr>
          <p:cNvPr id="6" name="Rectangle 5">
            <a:extLst>
              <a:ext uri="{FF2B5EF4-FFF2-40B4-BE49-F238E27FC236}">
                <a16:creationId xmlns:a16="http://schemas.microsoft.com/office/drawing/2014/main" id="{3F864769-7530-1C3E-AA58-26FAB6C19A22}"/>
              </a:ext>
            </a:extLst>
          </p:cNvPr>
          <p:cNvSpPr/>
          <p:nvPr/>
        </p:nvSpPr>
        <p:spPr>
          <a:xfrm>
            <a:off x="0" y="-27866"/>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7" name="Title 1">
            <a:extLst>
              <a:ext uri="{FF2B5EF4-FFF2-40B4-BE49-F238E27FC236}">
                <a16:creationId xmlns:a16="http://schemas.microsoft.com/office/drawing/2014/main" id="{704ED7B9-92F8-AFD1-B5A1-41759F44ED98}"/>
              </a:ext>
            </a:extLst>
          </p:cNvPr>
          <p:cNvSpPr txBox="1">
            <a:spLocks/>
          </p:cNvSpPr>
          <p:nvPr/>
        </p:nvSpPr>
        <p:spPr>
          <a:xfrm rot="16200000">
            <a:off x="-2814764" y="2993452"/>
            <a:ext cx="6553884" cy="752041"/>
          </a:xfrm>
          <a:prstGeom prst="rect">
            <a:avLst/>
          </a:prstGeom>
        </p:spPr>
        <p:txBody>
          <a:bodyPr vert="horz" lIns="91440" tIns="45720" rIns="91440" bIns="45720" rtlCol="0" anchor="ctr">
            <a:noAutofit/>
          </a:bodyPr>
          <a:lstStyle>
            <a:lvl1pPr algn="l" defTabSz="914411"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spcBef>
                <a:spcPts val="600"/>
              </a:spcBef>
            </a:pPr>
            <a:r>
              <a:rPr lang="en-US" sz="3600" dirty="0">
                <a:solidFill>
                  <a:schemeClr val="bg1"/>
                </a:solidFill>
                <a:latin typeface="Arial" panose="020B0604020202020204" pitchFamily="34" charset="0"/>
                <a:cs typeface="Arial" panose="020B0604020202020204" pitchFamily="34" charset="0"/>
              </a:rPr>
              <a:t>SINGLE-YEAR PROJECTION</a:t>
            </a:r>
          </a:p>
        </p:txBody>
      </p:sp>
      <p:sp>
        <p:nvSpPr>
          <p:cNvPr id="9" name="AutoShape 4">
            <a:extLst>
              <a:ext uri="{FF2B5EF4-FFF2-40B4-BE49-F238E27FC236}">
                <a16:creationId xmlns:a16="http://schemas.microsoft.com/office/drawing/2014/main" id="{106C6F00-FF77-9938-4004-A9A20659EF51}"/>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CC492FF3-DF1B-F12B-D5ED-5B279CB47C24}"/>
              </a:ext>
            </a:extLst>
          </p:cNvPr>
          <p:cNvSpPr txBox="1"/>
          <p:nvPr/>
        </p:nvSpPr>
        <p:spPr>
          <a:xfrm>
            <a:off x="8958246" y="1382680"/>
            <a:ext cx="3120572" cy="830997"/>
          </a:xfrm>
          <a:prstGeom prst="rect">
            <a:avLst/>
          </a:prstGeom>
          <a:noFill/>
        </p:spPr>
        <p:txBody>
          <a:bodyPr wrap="square" rtlCol="0">
            <a:spAutoFit/>
          </a:bodyPr>
          <a:lstStyle/>
          <a:p>
            <a:r>
              <a:rPr lang="en-US" sz="2400" b="1" dirty="0">
                <a:latin typeface="Arial" panose="020B0604020202020204" pitchFamily="34" charset="0"/>
                <a:cs typeface="Arial" panose="020B0604020202020204" pitchFamily="34" charset="0"/>
              </a:rPr>
              <a:t>Core Model Assumptions</a:t>
            </a:r>
          </a:p>
        </p:txBody>
      </p:sp>
      <p:sp>
        <p:nvSpPr>
          <p:cNvPr id="16" name="TextBox 15">
            <a:extLst>
              <a:ext uri="{FF2B5EF4-FFF2-40B4-BE49-F238E27FC236}">
                <a16:creationId xmlns:a16="http://schemas.microsoft.com/office/drawing/2014/main" id="{5CD262C4-7EB6-BACC-2D76-818773A77342}"/>
              </a:ext>
            </a:extLst>
          </p:cNvPr>
          <p:cNvSpPr txBox="1"/>
          <p:nvPr/>
        </p:nvSpPr>
        <p:spPr>
          <a:xfrm>
            <a:off x="8853714" y="2288738"/>
            <a:ext cx="3225104" cy="3416320"/>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Commercial care margin is 26% (conservatively 70% of observed margin)</a:t>
            </a:r>
          </a:p>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DTE pricing is 5% below current commercial levels (employers pay ~10% less but SLUHN saves with easier billing)</a:t>
            </a:r>
          </a:p>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Estimated 38% inpatient market share</a:t>
            </a:r>
          </a:p>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Estimated 23% outpatient market share</a:t>
            </a:r>
          </a:p>
        </p:txBody>
      </p:sp>
      <p:pic>
        <p:nvPicPr>
          <p:cNvPr id="8" name="Picture 7" descr="A graph on a screen&#10;&#10;Description automatically generated">
            <a:extLst>
              <a:ext uri="{FF2B5EF4-FFF2-40B4-BE49-F238E27FC236}">
                <a16:creationId xmlns:a16="http://schemas.microsoft.com/office/drawing/2014/main" id="{9A72AA95-996B-623F-8583-200C97A3C2B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6986" y="757234"/>
            <a:ext cx="8035023" cy="5624516"/>
          </a:xfrm>
          <a:prstGeom prst="rect">
            <a:avLst/>
          </a:prstGeom>
        </p:spPr>
      </p:pic>
    </p:spTree>
    <p:extLst>
      <p:ext uri="{BB962C8B-B14F-4D97-AF65-F5344CB8AC3E}">
        <p14:creationId xmlns:p14="http://schemas.microsoft.com/office/powerpoint/2010/main" val="35312081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136DF45-D5B0-585C-20C8-45741BA6198C}"/>
              </a:ext>
            </a:extLst>
          </p:cNvPr>
          <p:cNvSpPr>
            <a:spLocks noGrp="1"/>
          </p:cNvSpPr>
          <p:nvPr>
            <p:ph type="ftr" sz="quarter" idx="11"/>
          </p:nvPr>
        </p:nvSpPr>
        <p:spPr/>
        <p:txBody>
          <a:bodyPr/>
          <a:lstStyle/>
          <a:p>
            <a:r>
              <a:rPr lang="en-US"/>
              <a:t>Key Benefit Administrators</a:t>
            </a:r>
            <a:endParaRPr lang="en-US" dirty="0"/>
          </a:p>
        </p:txBody>
      </p:sp>
      <p:sp>
        <p:nvSpPr>
          <p:cNvPr id="4" name="Slide Number Placeholder 3">
            <a:extLst>
              <a:ext uri="{FF2B5EF4-FFF2-40B4-BE49-F238E27FC236}">
                <a16:creationId xmlns:a16="http://schemas.microsoft.com/office/drawing/2014/main" id="{3F05FC98-89A0-63E0-1CBF-EF829E318F6F}"/>
              </a:ext>
            </a:extLst>
          </p:cNvPr>
          <p:cNvSpPr>
            <a:spLocks noGrp="1"/>
          </p:cNvSpPr>
          <p:nvPr>
            <p:ph type="sldNum" sz="quarter" idx="12"/>
          </p:nvPr>
        </p:nvSpPr>
        <p:spPr/>
        <p:txBody>
          <a:bodyPr/>
          <a:lstStyle/>
          <a:p>
            <a:fld id="{3AFC719D-C4A7-4544-876E-D411D11AF6C9}" type="slidenum">
              <a:rPr lang="en-US" smtClean="0"/>
              <a:t>9</a:t>
            </a:fld>
            <a:endParaRPr lang="en-US" dirty="0"/>
          </a:p>
        </p:txBody>
      </p:sp>
      <p:sp>
        <p:nvSpPr>
          <p:cNvPr id="7" name="Rectangle 6">
            <a:extLst>
              <a:ext uri="{FF2B5EF4-FFF2-40B4-BE49-F238E27FC236}">
                <a16:creationId xmlns:a16="http://schemas.microsoft.com/office/drawing/2014/main" id="{DEBD79AC-6896-6E13-B0EE-8405AC1D8926}"/>
              </a:ext>
            </a:extLst>
          </p:cNvPr>
          <p:cNvSpPr/>
          <p:nvPr/>
        </p:nvSpPr>
        <p:spPr>
          <a:xfrm>
            <a:off x="0" y="-27866"/>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1">
            <a:extLst>
              <a:ext uri="{FF2B5EF4-FFF2-40B4-BE49-F238E27FC236}">
                <a16:creationId xmlns:a16="http://schemas.microsoft.com/office/drawing/2014/main" id="{C0B88E4A-751F-FB75-BED6-F09D9D7F21CD}"/>
              </a:ext>
            </a:extLst>
          </p:cNvPr>
          <p:cNvSpPr>
            <a:spLocks noGrp="1"/>
          </p:cNvSpPr>
          <p:nvPr>
            <p:ph type="title"/>
          </p:nvPr>
        </p:nvSpPr>
        <p:spPr>
          <a:xfrm rot="16200000">
            <a:off x="-2911931" y="3052978"/>
            <a:ext cx="6802269" cy="752041"/>
          </a:xfrm>
        </p:spPr>
        <p:txBody>
          <a:bodyPr>
            <a:noAutofit/>
          </a:bodyPr>
          <a:lstStyle/>
          <a:p>
            <a:pPr algn="ctr">
              <a:lnSpc>
                <a:spcPct val="100000"/>
              </a:lnSpc>
              <a:spcBef>
                <a:spcPts val="600"/>
              </a:spcBef>
            </a:pPr>
            <a:r>
              <a:rPr lang="en-US" sz="3600" b="0" dirty="0">
                <a:solidFill>
                  <a:schemeClr val="bg1"/>
                </a:solidFill>
              </a:rPr>
              <a:t>FOUR-YEAR PROJECTIONS</a:t>
            </a:r>
          </a:p>
        </p:txBody>
      </p:sp>
      <p:pic>
        <p:nvPicPr>
          <p:cNvPr id="5" name="Picture 4">
            <a:extLst>
              <a:ext uri="{FF2B5EF4-FFF2-40B4-BE49-F238E27FC236}">
                <a16:creationId xmlns:a16="http://schemas.microsoft.com/office/drawing/2014/main" id="{183CA821-A5B2-4B00-C9C9-101D44E93A4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42066" y="-12345"/>
            <a:ext cx="9144000" cy="6858000"/>
          </a:xfrm>
          <a:prstGeom prst="rect">
            <a:avLst/>
          </a:prstGeom>
        </p:spPr>
      </p:pic>
    </p:spTree>
    <p:extLst>
      <p:ext uri="{BB962C8B-B14F-4D97-AF65-F5344CB8AC3E}">
        <p14:creationId xmlns:p14="http://schemas.microsoft.com/office/powerpoint/2010/main" val="3157945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1118682" y="136525"/>
            <a:ext cx="10652404" cy="1091529"/>
          </a:xfrm>
        </p:spPr>
        <p:txBody>
          <a:bodyPr>
            <a:noAutofit/>
          </a:bodyPr>
          <a:lstStyle/>
          <a:p>
            <a:pPr>
              <a:lnSpc>
                <a:spcPct val="100000"/>
              </a:lnSpc>
              <a:spcBef>
                <a:spcPts val="1800"/>
              </a:spcBef>
              <a:spcAft>
                <a:spcPts val="600"/>
              </a:spcAft>
            </a:pPr>
            <a:r>
              <a:rPr lang="en-US" sz="2800" dirty="0">
                <a:solidFill>
                  <a:srgbClr val="000B2E"/>
                </a:solidFill>
                <a:latin typeface="Arial" panose="020B0604020202020204" pitchFamily="34" charset="0"/>
                <a:cs typeface="Arial" panose="020B0604020202020204" pitchFamily="34" charset="0"/>
              </a:rPr>
              <a:t>Direct-to-Employer Strategy:</a:t>
            </a:r>
            <a:br>
              <a:rPr lang="en-US" sz="4000" b="1" dirty="0">
                <a:solidFill>
                  <a:srgbClr val="000B2E"/>
                </a:solidFill>
                <a:latin typeface="Arial" panose="020B0604020202020204" pitchFamily="34" charset="0"/>
                <a:cs typeface="Arial" panose="020B0604020202020204" pitchFamily="34" charset="0"/>
              </a:rPr>
            </a:br>
            <a:r>
              <a:rPr lang="en-US" sz="4000" b="1" dirty="0">
                <a:solidFill>
                  <a:srgbClr val="000B2E"/>
                </a:solidFill>
                <a:latin typeface="Arial" panose="020B0604020202020204" pitchFamily="34" charset="0"/>
                <a:cs typeface="Arial" panose="020B0604020202020204" pitchFamily="34" charset="0"/>
              </a:rPr>
              <a:t>Only Available to </a:t>
            </a:r>
            <a:r>
              <a:rPr lang="en-US" sz="4000" b="1" i="1" dirty="0">
                <a:solidFill>
                  <a:srgbClr val="000B2E"/>
                </a:solidFill>
                <a:latin typeface="Arial" panose="020B0604020202020204" pitchFamily="34" charset="0"/>
                <a:cs typeface="Arial" panose="020B0604020202020204" pitchFamily="34" charset="0"/>
              </a:rPr>
              <a:t>Premier</a:t>
            </a:r>
            <a:r>
              <a:rPr lang="en-US" sz="4000" b="1" dirty="0">
                <a:solidFill>
                  <a:srgbClr val="000B2E"/>
                </a:solidFill>
                <a:latin typeface="Arial" panose="020B0604020202020204" pitchFamily="34" charset="0"/>
                <a:cs typeface="Arial" panose="020B0604020202020204" pitchFamily="34" charset="0"/>
              </a:rPr>
              <a:t> Health Systems</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AA5B62E5-A9EF-46A8-AEE5-C69E2BA73BE1}"/>
              </a:ext>
            </a:extLst>
          </p:cNvPr>
          <p:cNvSpPr>
            <a:spLocks noGrp="1"/>
          </p:cNvSpPr>
          <p:nvPr>
            <p:ph idx="1"/>
          </p:nvPr>
        </p:nvSpPr>
        <p:spPr>
          <a:xfrm>
            <a:off x="5317243" y="1572305"/>
            <a:ext cx="5672318" cy="4660901"/>
          </a:xfrm>
        </p:spPr>
        <p:txBody>
          <a:bodyPr>
            <a:normAutofit/>
          </a:bodyPr>
          <a:lstStyle/>
          <a:p>
            <a:pPr marL="0" indent="0">
              <a:lnSpc>
                <a:spcPct val="150000"/>
              </a:lnSpc>
              <a:spcAft>
                <a:spcPts val="1200"/>
              </a:spcAft>
              <a:buNone/>
            </a:pPr>
            <a:r>
              <a:rPr lang="en-US" sz="3200" b="1" dirty="0">
                <a:solidFill>
                  <a:srgbClr val="59CAE8"/>
                </a:solidFill>
                <a:latin typeface="Arial Black" panose="020B0A04020102020204" pitchFamily="34" charset="0"/>
              </a:rPr>
              <a:t>STRONG</a:t>
            </a:r>
            <a:r>
              <a:rPr lang="en-US" sz="3200" dirty="0">
                <a:solidFill>
                  <a:srgbClr val="9900CC"/>
                </a:solidFill>
              </a:rPr>
              <a:t> </a:t>
            </a:r>
            <a:r>
              <a:rPr lang="en-US" sz="3200" dirty="0">
                <a:solidFill>
                  <a:schemeClr val="tx1">
                    <a:lumMod val="75000"/>
                    <a:lumOff val="25000"/>
                  </a:schemeClr>
                </a:solidFill>
              </a:rPr>
              <a:t>Brand Quality</a:t>
            </a:r>
          </a:p>
          <a:p>
            <a:pPr marL="0" indent="0">
              <a:lnSpc>
                <a:spcPct val="150000"/>
              </a:lnSpc>
              <a:spcAft>
                <a:spcPts val="1200"/>
              </a:spcAft>
              <a:buNone/>
            </a:pPr>
            <a:r>
              <a:rPr lang="en-US" sz="3200" b="1" dirty="0">
                <a:solidFill>
                  <a:srgbClr val="59CAE8"/>
                </a:solidFill>
                <a:latin typeface="Arial Black" panose="020B0A04020102020204" pitchFamily="34" charset="0"/>
              </a:rPr>
              <a:t>EXTENSIVE</a:t>
            </a:r>
            <a:r>
              <a:rPr lang="en-US" sz="3200" dirty="0"/>
              <a:t> </a:t>
            </a:r>
            <a:r>
              <a:rPr lang="en-US" sz="3200" dirty="0">
                <a:solidFill>
                  <a:schemeClr val="tx1">
                    <a:lumMod val="75000"/>
                    <a:lumOff val="25000"/>
                  </a:schemeClr>
                </a:solidFill>
              </a:rPr>
              <a:t>Patient Access</a:t>
            </a:r>
          </a:p>
          <a:p>
            <a:pPr marL="0" indent="0">
              <a:lnSpc>
                <a:spcPct val="150000"/>
              </a:lnSpc>
              <a:spcAft>
                <a:spcPts val="1200"/>
              </a:spcAft>
              <a:buNone/>
            </a:pPr>
            <a:r>
              <a:rPr lang="en-US" sz="3200" b="1" dirty="0">
                <a:solidFill>
                  <a:srgbClr val="59CAE8"/>
                </a:solidFill>
                <a:latin typeface="Arial Black" panose="020B0A04020102020204" pitchFamily="34" charset="0"/>
              </a:rPr>
              <a:t>AFFORDABLE</a:t>
            </a:r>
            <a:r>
              <a:rPr lang="en-US" sz="3200" dirty="0"/>
              <a:t> </a:t>
            </a:r>
            <a:r>
              <a:rPr lang="en-US" sz="3200" dirty="0">
                <a:solidFill>
                  <a:schemeClr val="tx1">
                    <a:lumMod val="75000"/>
                    <a:lumOff val="25000"/>
                  </a:schemeClr>
                </a:solidFill>
              </a:rPr>
              <a:t>Value Pricing</a:t>
            </a:r>
          </a:p>
          <a:p>
            <a:pPr marL="0" indent="0">
              <a:lnSpc>
                <a:spcPct val="150000"/>
              </a:lnSpc>
              <a:spcAft>
                <a:spcPts val="1200"/>
              </a:spcAft>
              <a:buNone/>
            </a:pPr>
            <a:r>
              <a:rPr lang="en-US" sz="3200" b="1" dirty="0">
                <a:solidFill>
                  <a:srgbClr val="59CAE8"/>
                </a:solidFill>
                <a:latin typeface="Arial Black" panose="020B0A04020102020204" pitchFamily="34" charset="0"/>
              </a:rPr>
              <a:t>EXCELENT</a:t>
            </a:r>
            <a:r>
              <a:rPr lang="en-US" sz="3200" dirty="0">
                <a:solidFill>
                  <a:srgbClr val="9900CC"/>
                </a:solidFill>
              </a:rPr>
              <a:t> </a:t>
            </a:r>
            <a:r>
              <a:rPr lang="en-US" sz="3200" dirty="0">
                <a:solidFill>
                  <a:schemeClr val="tx1">
                    <a:lumMod val="75000"/>
                    <a:lumOff val="25000"/>
                  </a:schemeClr>
                </a:solidFill>
              </a:rPr>
              <a:t>Care Quality  </a:t>
            </a:r>
          </a:p>
        </p:txBody>
      </p:sp>
      <p:sp>
        <p:nvSpPr>
          <p:cNvPr id="4"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10</a:t>
            </a:fld>
            <a:endParaRPr lang="en-US" dirty="0"/>
          </a:p>
        </p:txBody>
      </p:sp>
      <p:sp>
        <p:nvSpPr>
          <p:cNvPr id="9" name="Rectangle 8">
            <a:extLst>
              <a:ext uri="{FF2B5EF4-FFF2-40B4-BE49-F238E27FC236}">
                <a16:creationId xmlns:a16="http://schemas.microsoft.com/office/drawing/2014/main" id="{BB2B5697-E648-40EC-88C5-97A77999C18D}"/>
              </a:ext>
            </a:extLst>
          </p:cNvPr>
          <p:cNvSpPr/>
          <p:nvPr/>
        </p:nvSpPr>
        <p:spPr>
          <a:xfrm>
            <a:off x="0" y="0"/>
            <a:ext cx="981075" cy="6858000"/>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Picture 4" descr="St. Luke's University Health Network's 150th Anniversary">
            <a:extLst>
              <a:ext uri="{FF2B5EF4-FFF2-40B4-BE49-F238E27FC236}">
                <a16:creationId xmlns:a16="http://schemas.microsoft.com/office/drawing/2014/main" id="{54C4C891-BACC-B531-6B4E-417D42F3127C}"/>
              </a:ext>
            </a:extLst>
          </p:cNvPr>
          <p:cNvPicPr>
            <a:picLocks noChangeAspect="1" noChangeArrowheads="1"/>
          </p:cNvPicPr>
          <p:nvPr/>
        </p:nvPicPr>
        <p:blipFill>
          <a:blip r:embed="rId2"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1553935" y="2433244"/>
            <a:ext cx="2910924" cy="15291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004615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E6B5926E-4AAC-8204-A9FD-B546D2D620A9}"/>
              </a:ext>
            </a:extLst>
          </p:cNvPr>
          <p:cNvPicPr>
            <a:picLocks noGrp="1" noChangeAspect="1"/>
          </p:cNvPicPr>
          <p:nvPr>
            <p:ph idx="1"/>
          </p:nvPr>
        </p:nvPicPr>
        <p:blipFill>
          <a:blip r:embed="rId2"/>
          <a:stretch>
            <a:fillRect/>
          </a:stretch>
        </p:blipFill>
        <p:spPr>
          <a:xfrm>
            <a:off x="4609338" y="1690687"/>
            <a:ext cx="5768630" cy="4518224"/>
          </a:xfrm>
        </p:spPr>
      </p:pic>
      <p:pic>
        <p:nvPicPr>
          <p:cNvPr id="8" name="Picture 2" descr="Welcome to Lehigh Valley Health Network ...">
            <a:extLst>
              <a:ext uri="{FF2B5EF4-FFF2-40B4-BE49-F238E27FC236}">
                <a16:creationId xmlns:a16="http://schemas.microsoft.com/office/drawing/2014/main" id="{DDC94D88-BA34-5AA9-EA9B-C148FD0A7157}"/>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3982212" y="5178426"/>
            <a:ext cx="3066288" cy="60960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4" descr="St. Luke's University Health Network's 150th Anniversary">
            <a:extLst>
              <a:ext uri="{FF2B5EF4-FFF2-40B4-BE49-F238E27FC236}">
                <a16:creationId xmlns:a16="http://schemas.microsoft.com/office/drawing/2014/main" id="{86AC65E6-F3F0-4B89-D1E6-216DC9C8C86F}"/>
              </a:ext>
            </a:extLst>
          </p:cNvPr>
          <p:cNvPicPr>
            <a:picLocks noChangeAspect="1" noChangeArrowheads="1"/>
          </p:cNvPicPr>
          <p:nvPr/>
        </p:nvPicPr>
        <p:blipFill>
          <a:blip r:embed="rId4"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8502650" y="3328966"/>
            <a:ext cx="2266950" cy="1190866"/>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62A072E6-5B59-F58D-E1D5-FBB1C6050929}"/>
              </a:ext>
            </a:extLst>
          </p:cNvPr>
          <p:cNvSpPr/>
          <p:nvPr/>
        </p:nvSpPr>
        <p:spPr>
          <a:xfrm>
            <a:off x="0" y="0"/>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Box 3">
            <a:extLst>
              <a:ext uri="{FF2B5EF4-FFF2-40B4-BE49-F238E27FC236}">
                <a16:creationId xmlns:a16="http://schemas.microsoft.com/office/drawing/2014/main" id="{7F890093-D539-CA4F-976A-7B1A5C58F15B}"/>
              </a:ext>
            </a:extLst>
          </p:cNvPr>
          <p:cNvSpPr txBox="1"/>
          <p:nvPr/>
        </p:nvSpPr>
        <p:spPr>
          <a:xfrm>
            <a:off x="1284079" y="2851320"/>
            <a:ext cx="2757206" cy="1477328"/>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Comparison of Medicare payment market share by zip code: St Luke’s vs Lehigh Valley Health Network</a:t>
            </a:r>
          </a:p>
        </p:txBody>
      </p:sp>
      <p:sp>
        <p:nvSpPr>
          <p:cNvPr id="10" name="Title 1">
            <a:extLst>
              <a:ext uri="{FF2B5EF4-FFF2-40B4-BE49-F238E27FC236}">
                <a16:creationId xmlns:a16="http://schemas.microsoft.com/office/drawing/2014/main" id="{9164B861-2919-13B0-DF11-6C92DA49C7C5}"/>
              </a:ext>
            </a:extLst>
          </p:cNvPr>
          <p:cNvSpPr>
            <a:spLocks noGrp="1"/>
          </p:cNvSpPr>
          <p:nvPr>
            <p:ph type="title"/>
          </p:nvPr>
        </p:nvSpPr>
        <p:spPr>
          <a:xfrm>
            <a:off x="1118682" y="136525"/>
            <a:ext cx="10652404" cy="1091529"/>
          </a:xfrm>
        </p:spPr>
        <p:txBody>
          <a:bodyPr>
            <a:noAutofit/>
          </a:bodyPr>
          <a:lstStyle/>
          <a:p>
            <a:pPr>
              <a:lnSpc>
                <a:spcPct val="100000"/>
              </a:lnSpc>
              <a:spcBef>
                <a:spcPts val="1800"/>
              </a:spcBef>
              <a:spcAft>
                <a:spcPts val="600"/>
              </a:spcAft>
            </a:pPr>
            <a:r>
              <a:rPr lang="en-US" sz="2800" dirty="0">
                <a:solidFill>
                  <a:srgbClr val="000B2E"/>
                </a:solidFill>
                <a:latin typeface="Arial" panose="020B0604020202020204" pitchFamily="34" charset="0"/>
                <a:cs typeface="Arial" panose="020B0604020202020204" pitchFamily="34" charset="0"/>
              </a:rPr>
              <a:t>SLUHS Advantage:</a:t>
            </a:r>
            <a:br>
              <a:rPr lang="en-US" sz="4000" b="1" dirty="0">
                <a:solidFill>
                  <a:srgbClr val="000B2E"/>
                </a:solidFill>
                <a:latin typeface="Arial" panose="020B0604020202020204" pitchFamily="34" charset="0"/>
                <a:cs typeface="Arial" panose="020B0604020202020204" pitchFamily="34" charset="0"/>
              </a:rPr>
            </a:br>
            <a:r>
              <a:rPr lang="en-US" sz="4000" b="1" dirty="0">
                <a:solidFill>
                  <a:srgbClr val="000B2E"/>
                </a:solidFill>
                <a:latin typeface="Arial" panose="020B0604020202020204" pitchFamily="34" charset="0"/>
                <a:cs typeface="Arial" panose="020B0604020202020204" pitchFamily="34" charset="0"/>
              </a:rPr>
              <a:t>Strong </a:t>
            </a:r>
            <a:r>
              <a:rPr lang="en-US" sz="4000" b="1" dirty="0">
                <a:solidFill>
                  <a:srgbClr val="59CAE8"/>
                </a:solidFill>
                <a:latin typeface="Arial" panose="020B0604020202020204" pitchFamily="34" charset="0"/>
                <a:cs typeface="Arial" panose="020B0604020202020204" pitchFamily="34" charset="0"/>
              </a:rPr>
              <a:t>Brand</a:t>
            </a:r>
            <a:r>
              <a:rPr lang="en-US" sz="4000" b="1" dirty="0">
                <a:solidFill>
                  <a:srgbClr val="000B2E"/>
                </a:solidFill>
                <a:latin typeface="Arial" panose="020B0604020202020204" pitchFamily="34" charset="0"/>
                <a:cs typeface="Arial" panose="020B0604020202020204" pitchFamily="34" charset="0"/>
              </a:rPr>
              <a:t> Quality</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943548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925ABC0E-AAB4-F399-F7BF-ED278C149419}"/>
              </a:ext>
            </a:extLst>
          </p:cNvPr>
          <p:cNvPicPr>
            <a:picLocks noGrp="1" noChangeAspect="1"/>
          </p:cNvPicPr>
          <p:nvPr>
            <p:ph idx="1"/>
          </p:nvPr>
        </p:nvPicPr>
        <p:blipFill>
          <a:blip r:embed="rId2"/>
          <a:stretch>
            <a:fillRect/>
          </a:stretch>
        </p:blipFill>
        <p:spPr>
          <a:xfrm>
            <a:off x="3490912" y="1858169"/>
            <a:ext cx="5210175" cy="4286250"/>
          </a:xfrm>
        </p:spPr>
      </p:pic>
      <p:pic>
        <p:nvPicPr>
          <p:cNvPr id="1026" name="Picture 2" descr="Welcome to Lehigh Valley Health Network ...">
            <a:extLst>
              <a:ext uri="{FF2B5EF4-FFF2-40B4-BE49-F238E27FC236}">
                <a16:creationId xmlns:a16="http://schemas.microsoft.com/office/drawing/2014/main" id="{D35E0F37-25DB-A6ED-FA0B-749C789F7434}"/>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161604" y="2216823"/>
            <a:ext cx="3066288" cy="6096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St. Luke's University Health Network's 150th Anniversary">
            <a:extLst>
              <a:ext uri="{FF2B5EF4-FFF2-40B4-BE49-F238E27FC236}">
                <a16:creationId xmlns:a16="http://schemas.microsoft.com/office/drawing/2014/main" id="{81F606B0-F3E0-4A78-98C0-7AA2580C33ED}"/>
              </a:ext>
            </a:extLst>
          </p:cNvPr>
          <p:cNvPicPr>
            <a:picLocks noChangeAspect="1" noChangeArrowheads="1"/>
          </p:cNvPicPr>
          <p:nvPr/>
        </p:nvPicPr>
        <p:blipFill>
          <a:blip r:embed="rId4"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9448800" y="1926190"/>
            <a:ext cx="2266950" cy="1190866"/>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6" name="Table 5">
            <a:extLst>
              <a:ext uri="{FF2B5EF4-FFF2-40B4-BE49-F238E27FC236}">
                <a16:creationId xmlns:a16="http://schemas.microsoft.com/office/drawing/2014/main" id="{802C5E5F-C08F-02C6-5478-0FD5169A64CD}"/>
              </a:ext>
            </a:extLst>
          </p:cNvPr>
          <p:cNvGraphicFramePr>
            <a:graphicFrameLocks noGrp="1"/>
          </p:cNvGraphicFramePr>
          <p:nvPr/>
        </p:nvGraphicFramePr>
        <p:xfrm>
          <a:off x="311586" y="3139930"/>
          <a:ext cx="2766324" cy="1097280"/>
        </p:xfrm>
        <a:graphic>
          <a:graphicData uri="http://schemas.openxmlformats.org/drawingml/2006/table">
            <a:tbl>
              <a:tblPr firstRow="1" bandRow="1">
                <a:tableStyleId>{5C22544A-7EE6-4342-B048-85BDC9FD1C3A}</a:tableStyleId>
              </a:tblPr>
              <a:tblGrid>
                <a:gridCol w="1383162">
                  <a:extLst>
                    <a:ext uri="{9D8B030D-6E8A-4147-A177-3AD203B41FA5}">
                      <a16:colId xmlns:a16="http://schemas.microsoft.com/office/drawing/2014/main" val="1499193583"/>
                    </a:ext>
                  </a:extLst>
                </a:gridCol>
                <a:gridCol w="1383162">
                  <a:extLst>
                    <a:ext uri="{9D8B030D-6E8A-4147-A177-3AD203B41FA5}">
                      <a16:colId xmlns:a16="http://schemas.microsoft.com/office/drawing/2014/main" val="3693673618"/>
                    </a:ext>
                  </a:extLst>
                </a:gridCol>
              </a:tblGrid>
              <a:tr h="251800">
                <a:tc>
                  <a:txBody>
                    <a:bodyPr/>
                    <a:lstStyle/>
                    <a:p>
                      <a:r>
                        <a:rPr lang="en-US" sz="1200" dirty="0"/>
                        <a:t>Hospital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00B050"/>
                    </a:solidFill>
                  </a:tcPr>
                </a:tc>
                <a:tc>
                  <a:txBody>
                    <a:bodyPr/>
                    <a:lstStyle/>
                    <a:p>
                      <a:r>
                        <a:rPr lang="en-US" sz="1200" dirty="0"/>
                        <a:t>Population Within 5 Miles</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00B050"/>
                    </a:solidFill>
                  </a:tcPr>
                </a:tc>
                <a:extLst>
                  <a:ext uri="{0D108BD9-81ED-4DB2-BD59-A6C34878D82A}">
                    <a16:rowId xmlns:a16="http://schemas.microsoft.com/office/drawing/2014/main" val="3311402759"/>
                  </a:ext>
                </a:extLst>
              </a:tr>
              <a:tr h="251800">
                <a:tc>
                  <a:txBody>
                    <a:bodyPr/>
                    <a:lstStyle/>
                    <a:p>
                      <a:r>
                        <a:rPr lang="en-US" sz="1200" dirty="0"/>
                        <a:t>Lehigh Valley Hospital Cedar Crest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7FFFB"/>
                    </a:solidFill>
                  </a:tcPr>
                </a:tc>
                <a:tc>
                  <a:txBody>
                    <a:bodyPr/>
                    <a:lstStyle/>
                    <a:p>
                      <a:pPr algn="ctr"/>
                      <a:r>
                        <a:rPr lang="en-US" sz="1200" dirty="0"/>
                        <a:t>227,393</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7FFFB"/>
                    </a:solidFill>
                  </a:tcPr>
                </a:tc>
                <a:extLst>
                  <a:ext uri="{0D108BD9-81ED-4DB2-BD59-A6C34878D82A}">
                    <a16:rowId xmlns:a16="http://schemas.microsoft.com/office/drawing/2014/main" val="316278004"/>
                  </a:ext>
                </a:extLst>
              </a:tr>
            </a:tbl>
          </a:graphicData>
        </a:graphic>
      </p:graphicFrame>
      <p:graphicFrame>
        <p:nvGraphicFramePr>
          <p:cNvPr id="7" name="Table 6">
            <a:extLst>
              <a:ext uri="{FF2B5EF4-FFF2-40B4-BE49-F238E27FC236}">
                <a16:creationId xmlns:a16="http://schemas.microsoft.com/office/drawing/2014/main" id="{F5DFB184-5687-810D-E027-F824D29970B6}"/>
              </a:ext>
            </a:extLst>
          </p:cNvPr>
          <p:cNvGraphicFramePr>
            <a:graphicFrameLocks noGrp="1"/>
          </p:cNvGraphicFramePr>
          <p:nvPr>
            <p:extLst>
              <p:ext uri="{D42A27DB-BD31-4B8C-83A1-F6EECF244321}">
                <p14:modId xmlns:p14="http://schemas.microsoft.com/office/powerpoint/2010/main" val="2214715677"/>
              </p:ext>
            </p:extLst>
          </p:nvPr>
        </p:nvGraphicFramePr>
        <p:xfrm>
          <a:off x="9199113" y="3139930"/>
          <a:ext cx="2766324" cy="3389335"/>
        </p:xfrm>
        <a:graphic>
          <a:graphicData uri="http://schemas.openxmlformats.org/drawingml/2006/table">
            <a:tbl>
              <a:tblPr firstRow="1" bandRow="1">
                <a:tableStyleId>{5C22544A-7EE6-4342-B048-85BDC9FD1C3A}</a:tableStyleId>
              </a:tblPr>
              <a:tblGrid>
                <a:gridCol w="1810632">
                  <a:extLst>
                    <a:ext uri="{9D8B030D-6E8A-4147-A177-3AD203B41FA5}">
                      <a16:colId xmlns:a16="http://schemas.microsoft.com/office/drawing/2014/main" val="1499193583"/>
                    </a:ext>
                  </a:extLst>
                </a:gridCol>
                <a:gridCol w="955692">
                  <a:extLst>
                    <a:ext uri="{9D8B030D-6E8A-4147-A177-3AD203B41FA5}">
                      <a16:colId xmlns:a16="http://schemas.microsoft.com/office/drawing/2014/main" val="3693673618"/>
                    </a:ext>
                  </a:extLst>
                </a:gridCol>
              </a:tblGrid>
              <a:tr h="251800">
                <a:tc>
                  <a:txBody>
                    <a:bodyPr/>
                    <a:lstStyle/>
                    <a:p>
                      <a:pPr algn="l"/>
                      <a:r>
                        <a:rPr lang="en-US" sz="1200" dirty="0"/>
                        <a:t>Hospital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5"/>
                    </a:solidFill>
                  </a:tcPr>
                </a:tc>
                <a:tc>
                  <a:txBody>
                    <a:bodyPr/>
                    <a:lstStyle/>
                    <a:p>
                      <a:r>
                        <a:rPr lang="en-US" sz="1200" dirty="0"/>
                        <a:t>Population Within 5 Miles</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5"/>
                    </a:solidFill>
                  </a:tcPr>
                </a:tc>
                <a:extLst>
                  <a:ext uri="{0D108BD9-81ED-4DB2-BD59-A6C34878D82A}">
                    <a16:rowId xmlns:a16="http://schemas.microsoft.com/office/drawing/2014/main" val="3311402759"/>
                  </a:ext>
                </a:extLst>
              </a:tr>
              <a:tr h="251800">
                <a:tc>
                  <a:txBody>
                    <a:bodyPr/>
                    <a:lstStyle/>
                    <a:p>
                      <a:pPr algn="l" fontAlgn="b"/>
                      <a:r>
                        <a:rPr lang="en-US" sz="1200" kern="1200" dirty="0">
                          <a:solidFill>
                            <a:schemeClr val="dk1"/>
                          </a:solidFill>
                          <a:latin typeface="+mn-lt"/>
                          <a:ea typeface="+mn-ea"/>
                          <a:cs typeface="+mn-cs"/>
                        </a:rPr>
                        <a:t>St Luke's Hospital - Anderson Campus</a:t>
                      </a:r>
                    </a:p>
                  </a:txBody>
                  <a:tcPr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5F2F7"/>
                    </a:solidFill>
                  </a:tcPr>
                </a:tc>
                <a:tc>
                  <a:txBody>
                    <a:bodyPr/>
                    <a:lstStyle/>
                    <a:p>
                      <a:pPr algn="r" fontAlgn="b"/>
                      <a:r>
                        <a:rPr lang="en-US" sz="1200" kern="1200" dirty="0">
                          <a:solidFill>
                            <a:schemeClr val="dk1"/>
                          </a:solidFill>
                          <a:latin typeface="+mn-lt"/>
                          <a:ea typeface="+mn-ea"/>
                          <a:cs typeface="+mn-cs"/>
                        </a:rPr>
                        <a:t>142,000</a:t>
                      </a:r>
                    </a:p>
                  </a:txBody>
                  <a:tcPr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5F2F7"/>
                    </a:solidFill>
                  </a:tcPr>
                </a:tc>
                <a:extLst>
                  <a:ext uri="{0D108BD9-81ED-4DB2-BD59-A6C34878D82A}">
                    <a16:rowId xmlns:a16="http://schemas.microsoft.com/office/drawing/2014/main" val="316278004"/>
                  </a:ext>
                </a:extLst>
              </a:tr>
              <a:tr h="251800">
                <a:tc>
                  <a:txBody>
                    <a:bodyPr/>
                    <a:lstStyle/>
                    <a:p>
                      <a:pPr algn="l" fontAlgn="b"/>
                      <a:r>
                        <a:rPr lang="en-US" sz="1200" kern="1200" dirty="0">
                          <a:solidFill>
                            <a:schemeClr val="dk1"/>
                          </a:solidFill>
                          <a:latin typeface="+mn-lt"/>
                          <a:ea typeface="+mn-ea"/>
                          <a:cs typeface="+mn-cs"/>
                        </a:rPr>
                        <a:t>St Lukes Upper Bucks Campus</a:t>
                      </a:r>
                    </a:p>
                  </a:txBody>
                  <a:tcPr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5F2F7"/>
                    </a:solidFill>
                  </a:tcPr>
                </a:tc>
                <a:tc>
                  <a:txBody>
                    <a:bodyPr/>
                    <a:lstStyle/>
                    <a:p>
                      <a:pPr algn="r" fontAlgn="b"/>
                      <a:r>
                        <a:rPr lang="en-US" sz="1200" kern="1200" dirty="0">
                          <a:solidFill>
                            <a:schemeClr val="dk1"/>
                          </a:solidFill>
                          <a:latin typeface="+mn-lt"/>
                          <a:ea typeface="+mn-ea"/>
                          <a:cs typeface="+mn-cs"/>
                        </a:rPr>
                        <a:t>46,000</a:t>
                      </a:r>
                    </a:p>
                  </a:txBody>
                  <a:tcPr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5F2F7"/>
                    </a:solidFill>
                  </a:tcPr>
                </a:tc>
                <a:extLst>
                  <a:ext uri="{0D108BD9-81ED-4DB2-BD59-A6C34878D82A}">
                    <a16:rowId xmlns:a16="http://schemas.microsoft.com/office/drawing/2014/main" val="352114391"/>
                  </a:ext>
                </a:extLst>
              </a:tr>
              <a:tr h="251800">
                <a:tc>
                  <a:txBody>
                    <a:bodyPr/>
                    <a:lstStyle/>
                    <a:p>
                      <a:pPr algn="l" fontAlgn="b"/>
                      <a:r>
                        <a:rPr lang="en-US" sz="1200" kern="1200" dirty="0">
                          <a:solidFill>
                            <a:schemeClr val="dk1"/>
                          </a:solidFill>
                          <a:latin typeface="+mn-lt"/>
                          <a:ea typeface="+mn-ea"/>
                          <a:cs typeface="+mn-cs"/>
                        </a:rPr>
                        <a:t>St Luke's Hospital Bethlehem</a:t>
                      </a:r>
                    </a:p>
                  </a:txBody>
                  <a:tcPr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5F2F7"/>
                    </a:solidFill>
                  </a:tcPr>
                </a:tc>
                <a:tc>
                  <a:txBody>
                    <a:bodyPr/>
                    <a:lstStyle/>
                    <a:p>
                      <a:pPr algn="r" fontAlgn="b"/>
                      <a:r>
                        <a:rPr lang="en-US" sz="1200" kern="1200" dirty="0">
                          <a:solidFill>
                            <a:schemeClr val="dk1"/>
                          </a:solidFill>
                          <a:latin typeface="+mn-lt"/>
                          <a:ea typeface="+mn-ea"/>
                          <a:cs typeface="+mn-cs"/>
                        </a:rPr>
                        <a:t>255,000</a:t>
                      </a:r>
                    </a:p>
                  </a:txBody>
                  <a:tcPr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5F2F7"/>
                    </a:solidFill>
                  </a:tcPr>
                </a:tc>
                <a:extLst>
                  <a:ext uri="{0D108BD9-81ED-4DB2-BD59-A6C34878D82A}">
                    <a16:rowId xmlns:a16="http://schemas.microsoft.com/office/drawing/2014/main" val="1612802536"/>
                  </a:ext>
                </a:extLst>
              </a:tr>
              <a:tr h="251800">
                <a:tc>
                  <a:txBody>
                    <a:bodyPr/>
                    <a:lstStyle/>
                    <a:p>
                      <a:pPr algn="l" fontAlgn="b"/>
                      <a:r>
                        <a:rPr lang="en-US" sz="1200" kern="1200" dirty="0">
                          <a:solidFill>
                            <a:schemeClr val="dk1"/>
                          </a:solidFill>
                          <a:latin typeface="+mn-lt"/>
                          <a:ea typeface="+mn-ea"/>
                          <a:cs typeface="+mn-cs"/>
                        </a:rPr>
                        <a:t>St Luke's Warren Hospital</a:t>
                      </a:r>
                    </a:p>
                  </a:txBody>
                  <a:tcPr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5F2F7"/>
                    </a:solidFill>
                  </a:tcPr>
                </a:tc>
                <a:tc>
                  <a:txBody>
                    <a:bodyPr/>
                    <a:lstStyle/>
                    <a:p>
                      <a:pPr algn="r" fontAlgn="b"/>
                      <a:r>
                        <a:rPr lang="en-US" sz="1200" kern="1200" dirty="0">
                          <a:solidFill>
                            <a:schemeClr val="dk1"/>
                          </a:solidFill>
                          <a:latin typeface="+mn-lt"/>
                          <a:ea typeface="+mn-ea"/>
                          <a:cs typeface="+mn-cs"/>
                        </a:rPr>
                        <a:t>118,000</a:t>
                      </a:r>
                    </a:p>
                  </a:txBody>
                  <a:tcPr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5F2F7"/>
                    </a:solidFill>
                  </a:tcPr>
                </a:tc>
                <a:extLst>
                  <a:ext uri="{0D108BD9-81ED-4DB2-BD59-A6C34878D82A}">
                    <a16:rowId xmlns:a16="http://schemas.microsoft.com/office/drawing/2014/main" val="1181464314"/>
                  </a:ext>
                </a:extLst>
              </a:tr>
              <a:tr h="251800">
                <a:tc>
                  <a:txBody>
                    <a:bodyPr/>
                    <a:lstStyle/>
                    <a:p>
                      <a:pPr algn="l"/>
                      <a:r>
                        <a:rPr lang="en-US" sz="1200" kern="1200" dirty="0">
                          <a:solidFill>
                            <a:schemeClr val="dk1"/>
                          </a:solidFill>
                          <a:latin typeface="+mn-lt"/>
                          <a:ea typeface="+mn-ea"/>
                          <a:cs typeface="+mn-cs"/>
                        </a:rPr>
                        <a:t>St Luke's Hospital - Easton Campus</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5F2F7"/>
                    </a:solidFill>
                  </a:tcPr>
                </a:tc>
                <a:tc>
                  <a:txBody>
                    <a:bodyPr/>
                    <a:lstStyle/>
                    <a:p>
                      <a:pPr algn="r"/>
                      <a:r>
                        <a:rPr lang="en-US" sz="1200" kern="1200" dirty="0">
                          <a:solidFill>
                            <a:schemeClr val="dk1"/>
                          </a:solidFill>
                          <a:latin typeface="+mn-lt"/>
                          <a:ea typeface="+mn-ea"/>
                          <a:cs typeface="+mn-cs"/>
                        </a:rPr>
                        <a:t>141,000</a:t>
                      </a:r>
                    </a:p>
                    <a:p>
                      <a:pPr algn="r"/>
                      <a:endParaRPr lang="en-US" sz="1200" kern="1200" dirty="0">
                        <a:solidFill>
                          <a:schemeClr val="dk1"/>
                        </a:solidFill>
                        <a:latin typeface="+mn-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5F2F7"/>
                    </a:solidFill>
                  </a:tcPr>
                </a:tc>
                <a:extLst>
                  <a:ext uri="{0D108BD9-81ED-4DB2-BD59-A6C34878D82A}">
                    <a16:rowId xmlns:a16="http://schemas.microsoft.com/office/drawing/2014/main" val="3713141400"/>
                  </a:ext>
                </a:extLst>
              </a:tr>
              <a:tr h="251800">
                <a:tc>
                  <a:txBody>
                    <a:bodyPr/>
                    <a:lstStyle/>
                    <a:p>
                      <a:pPr algn="l"/>
                      <a:r>
                        <a:rPr lang="en-US" sz="1200" kern="1200" dirty="0">
                          <a:solidFill>
                            <a:schemeClr val="dk1"/>
                          </a:solidFill>
                          <a:latin typeface="+mn-lt"/>
                          <a:ea typeface="+mn-ea"/>
                          <a:cs typeface="+mn-cs"/>
                        </a:rPr>
                        <a:t>St. Luke’s Hospital Monroe County</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5F2F7"/>
                    </a:solidFill>
                  </a:tcPr>
                </a:tc>
                <a:tc>
                  <a:txBody>
                    <a:bodyPr/>
                    <a:lstStyle/>
                    <a:p>
                      <a:pPr algn="r"/>
                      <a:r>
                        <a:rPr lang="en-US" sz="1200" kern="1200" dirty="0">
                          <a:solidFill>
                            <a:schemeClr val="dk1"/>
                          </a:solidFill>
                          <a:latin typeface="+mn-lt"/>
                          <a:ea typeface="+mn-ea"/>
                          <a:cs typeface="+mn-cs"/>
                        </a:rPr>
                        <a:t>48,667</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5F2F7"/>
                    </a:solidFill>
                  </a:tcPr>
                </a:tc>
                <a:extLst>
                  <a:ext uri="{0D108BD9-81ED-4DB2-BD59-A6C34878D82A}">
                    <a16:rowId xmlns:a16="http://schemas.microsoft.com/office/drawing/2014/main" val="2385780560"/>
                  </a:ext>
                </a:extLst>
              </a:tr>
              <a:tr h="251800">
                <a:tc>
                  <a:txBody>
                    <a:bodyPr/>
                    <a:lstStyle/>
                    <a:p>
                      <a:pPr algn="l"/>
                      <a:r>
                        <a:rPr lang="en-US" sz="1200" kern="1200" dirty="0">
                          <a:solidFill>
                            <a:schemeClr val="dk1"/>
                          </a:solidFill>
                          <a:latin typeface="+mn-lt"/>
                          <a:ea typeface="+mn-ea"/>
                          <a:cs typeface="+mn-cs"/>
                        </a:rPr>
                        <a:t>St. Luke’s Hospital Carbon County</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5F2F7"/>
                    </a:solidFill>
                  </a:tcPr>
                </a:tc>
                <a:tc>
                  <a:txBody>
                    <a:bodyPr/>
                    <a:lstStyle/>
                    <a:p>
                      <a:pPr algn="r"/>
                      <a:r>
                        <a:rPr lang="en-US" sz="1200" kern="1200" dirty="0">
                          <a:solidFill>
                            <a:schemeClr val="dk1"/>
                          </a:solidFill>
                          <a:latin typeface="+mn-lt"/>
                          <a:ea typeface="+mn-ea"/>
                          <a:cs typeface="+mn-cs"/>
                        </a:rPr>
                        <a:t>26,628</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5F2F7"/>
                    </a:solidFill>
                  </a:tcPr>
                </a:tc>
                <a:extLst>
                  <a:ext uri="{0D108BD9-81ED-4DB2-BD59-A6C34878D82A}">
                    <a16:rowId xmlns:a16="http://schemas.microsoft.com/office/drawing/2014/main" val="1165044891"/>
                  </a:ext>
                </a:extLst>
              </a:tr>
            </a:tbl>
          </a:graphicData>
        </a:graphic>
      </p:graphicFrame>
      <p:sp>
        <p:nvSpPr>
          <p:cNvPr id="8" name="Title 1">
            <a:extLst>
              <a:ext uri="{FF2B5EF4-FFF2-40B4-BE49-F238E27FC236}">
                <a16:creationId xmlns:a16="http://schemas.microsoft.com/office/drawing/2014/main" id="{B7A296EC-ABAC-52BC-9CE3-E14DAA57D327}"/>
              </a:ext>
            </a:extLst>
          </p:cNvPr>
          <p:cNvSpPr>
            <a:spLocks noGrp="1"/>
          </p:cNvSpPr>
          <p:nvPr>
            <p:ph type="title"/>
          </p:nvPr>
        </p:nvSpPr>
        <p:spPr>
          <a:xfrm>
            <a:off x="480053" y="277460"/>
            <a:ext cx="10652404" cy="1091529"/>
          </a:xfrm>
        </p:spPr>
        <p:txBody>
          <a:bodyPr>
            <a:noAutofit/>
          </a:bodyPr>
          <a:lstStyle/>
          <a:p>
            <a:pPr>
              <a:lnSpc>
                <a:spcPct val="100000"/>
              </a:lnSpc>
              <a:spcBef>
                <a:spcPts val="1800"/>
              </a:spcBef>
              <a:spcAft>
                <a:spcPts val="600"/>
              </a:spcAft>
            </a:pPr>
            <a:r>
              <a:rPr lang="en-US" sz="2800" dirty="0">
                <a:solidFill>
                  <a:srgbClr val="000B2E"/>
                </a:solidFill>
                <a:latin typeface="Arial" panose="020B0604020202020204" pitchFamily="34" charset="0"/>
                <a:cs typeface="Arial" panose="020B0604020202020204" pitchFamily="34" charset="0"/>
              </a:rPr>
              <a:t>SLUHS Advantage:</a:t>
            </a:r>
            <a:br>
              <a:rPr lang="en-US" sz="4000" b="1" dirty="0">
                <a:solidFill>
                  <a:srgbClr val="000B2E"/>
                </a:solidFill>
                <a:latin typeface="Arial" panose="020B0604020202020204" pitchFamily="34" charset="0"/>
                <a:cs typeface="Arial" panose="020B0604020202020204" pitchFamily="34" charset="0"/>
              </a:rPr>
            </a:br>
            <a:r>
              <a:rPr lang="en-US" sz="4000" b="1" dirty="0">
                <a:solidFill>
                  <a:srgbClr val="000B2E"/>
                </a:solidFill>
                <a:latin typeface="Arial" panose="020B0604020202020204" pitchFamily="34" charset="0"/>
                <a:cs typeface="Arial" panose="020B0604020202020204" pitchFamily="34" charset="0"/>
              </a:rPr>
              <a:t>Best-in-Area </a:t>
            </a:r>
            <a:r>
              <a:rPr lang="en-US" sz="4000" b="1" dirty="0">
                <a:solidFill>
                  <a:srgbClr val="59CAE8"/>
                </a:solidFill>
                <a:latin typeface="Arial" panose="020B0604020202020204" pitchFamily="34" charset="0"/>
                <a:cs typeface="Arial" panose="020B0604020202020204" pitchFamily="34" charset="0"/>
              </a:rPr>
              <a:t>Patient Access</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33376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D9C61F8C-B152-2706-CA9F-96880601EEFA}"/>
              </a:ext>
            </a:extLst>
          </p:cNvPr>
          <p:cNvGraphicFramePr>
            <a:graphicFrameLocks noGrp="1"/>
          </p:cNvGraphicFramePr>
          <p:nvPr>
            <p:ph idx="1"/>
            <p:extLst>
              <p:ext uri="{D42A27DB-BD31-4B8C-83A1-F6EECF244321}">
                <p14:modId xmlns:p14="http://schemas.microsoft.com/office/powerpoint/2010/main" val="3487391422"/>
              </p:ext>
            </p:extLst>
          </p:nvPr>
        </p:nvGraphicFramePr>
        <p:xfrm>
          <a:off x="4102100" y="-123825"/>
          <a:ext cx="7963024" cy="5886452"/>
        </p:xfrm>
        <a:graphic>
          <a:graphicData uri="http://schemas.openxmlformats.org/drawingml/2006/table">
            <a:tbl>
              <a:tblPr/>
              <a:tblGrid>
                <a:gridCol w="2120045">
                  <a:extLst>
                    <a:ext uri="{9D8B030D-6E8A-4147-A177-3AD203B41FA5}">
                      <a16:colId xmlns:a16="http://schemas.microsoft.com/office/drawing/2014/main" val="2222280177"/>
                    </a:ext>
                  </a:extLst>
                </a:gridCol>
                <a:gridCol w="2120045">
                  <a:extLst>
                    <a:ext uri="{9D8B030D-6E8A-4147-A177-3AD203B41FA5}">
                      <a16:colId xmlns:a16="http://schemas.microsoft.com/office/drawing/2014/main" val="1625810600"/>
                    </a:ext>
                  </a:extLst>
                </a:gridCol>
                <a:gridCol w="2152929">
                  <a:extLst>
                    <a:ext uri="{9D8B030D-6E8A-4147-A177-3AD203B41FA5}">
                      <a16:colId xmlns:a16="http://schemas.microsoft.com/office/drawing/2014/main" val="1336689831"/>
                    </a:ext>
                  </a:extLst>
                </a:gridCol>
                <a:gridCol w="1570005">
                  <a:extLst>
                    <a:ext uri="{9D8B030D-6E8A-4147-A177-3AD203B41FA5}">
                      <a16:colId xmlns:a16="http://schemas.microsoft.com/office/drawing/2014/main" val="300144108"/>
                    </a:ext>
                  </a:extLst>
                </a:gridCol>
              </a:tblGrid>
              <a:tr h="3309550">
                <a:tc>
                  <a:txBody>
                    <a:bodyPr/>
                    <a:lstStyle/>
                    <a:p>
                      <a:pPr algn="l" fontAlgn="b">
                        <a:spcBef>
                          <a:spcPts val="0"/>
                        </a:spcBef>
                        <a:spcAft>
                          <a:spcPts val="0"/>
                        </a:spcAft>
                      </a:pPr>
                      <a:r>
                        <a:rPr lang="en-US" sz="2000" b="0" i="0" u="none" strike="noStrike" dirty="0">
                          <a:solidFill>
                            <a:srgbClr val="000000"/>
                          </a:solidFill>
                          <a:effectLst/>
                          <a:latin typeface="Arial" panose="020B0604020202020204" pitchFamily="34" charset="0"/>
                          <a:cs typeface="Arial" panose="020B0604020202020204" pitchFamily="34" charset="0"/>
                        </a:rPr>
                        <a:t>Patient HCAHPS Recommendation Rate Percentile</a:t>
                      </a:r>
                      <a:endParaRPr lang="en-US" sz="4000" b="0" i="0" u="none" strike="noStrike" dirty="0">
                        <a:effectLst/>
                        <a:latin typeface="Arial" panose="020B0604020202020204" pitchFamily="34" charset="0"/>
                        <a:cs typeface="Arial" panose="020B0604020202020204" pitchFamily="34" charset="0"/>
                      </a:endParaRPr>
                    </a:p>
                  </a:txBody>
                  <a:tcPr marL="23679" marR="23679" marT="23679" marB="0" anchor="b">
                    <a:lnL>
                      <a:noFill/>
                    </a:lnL>
                    <a:lnR>
                      <a:noFill/>
                    </a:lnR>
                    <a:lnT>
                      <a:noFill/>
                    </a:lnT>
                    <a:lnB>
                      <a:noFill/>
                    </a:lnB>
                    <a:noFill/>
                  </a:tcPr>
                </a:tc>
                <a:tc>
                  <a:txBody>
                    <a:bodyPr/>
                    <a:lstStyle/>
                    <a:p>
                      <a:pPr algn="l" fontAlgn="b">
                        <a:spcBef>
                          <a:spcPts val="0"/>
                        </a:spcBef>
                        <a:spcAft>
                          <a:spcPts val="0"/>
                        </a:spcAft>
                      </a:pPr>
                      <a:r>
                        <a:rPr lang="en-US" sz="2000" b="0" i="0" u="none" strike="noStrike" dirty="0">
                          <a:solidFill>
                            <a:srgbClr val="000000"/>
                          </a:solidFill>
                          <a:effectLst/>
                          <a:latin typeface="Arial" panose="020B0604020202020204" pitchFamily="34" charset="0"/>
                          <a:cs typeface="Arial" panose="020B0604020202020204" pitchFamily="34" charset="0"/>
                        </a:rPr>
                        <a:t>CMS Quality Stars Percentile</a:t>
                      </a:r>
                      <a:endParaRPr lang="en-US" sz="4000" b="0" i="0" u="none" strike="noStrike" dirty="0">
                        <a:effectLst/>
                        <a:latin typeface="Arial" panose="020B0604020202020204" pitchFamily="34" charset="0"/>
                        <a:cs typeface="Arial" panose="020B0604020202020204" pitchFamily="34" charset="0"/>
                      </a:endParaRPr>
                    </a:p>
                  </a:txBody>
                  <a:tcPr marL="23679" marR="23679" marT="23679" marB="0" anchor="b">
                    <a:lnL>
                      <a:noFill/>
                    </a:lnL>
                    <a:lnR>
                      <a:noFill/>
                    </a:lnR>
                    <a:lnT>
                      <a:noFill/>
                    </a:lnT>
                    <a:lnB>
                      <a:noFill/>
                    </a:lnB>
                    <a:noFill/>
                  </a:tcPr>
                </a:tc>
                <a:tc>
                  <a:txBody>
                    <a:bodyPr/>
                    <a:lstStyle/>
                    <a:p>
                      <a:pPr algn="l" fontAlgn="b">
                        <a:spcBef>
                          <a:spcPts val="0"/>
                        </a:spcBef>
                        <a:spcAft>
                          <a:spcPts val="0"/>
                        </a:spcAft>
                      </a:pPr>
                      <a:r>
                        <a:rPr lang="en-US" sz="2000" b="0" i="0" u="none" strike="noStrike" dirty="0">
                          <a:solidFill>
                            <a:srgbClr val="000000"/>
                          </a:solidFill>
                          <a:effectLst/>
                          <a:latin typeface="Arial" panose="020B0604020202020204" pitchFamily="34" charset="0"/>
                          <a:cs typeface="Arial" panose="020B0604020202020204" pitchFamily="34" charset="0"/>
                        </a:rPr>
                        <a:t>Mortality Average Percentile</a:t>
                      </a:r>
                      <a:endParaRPr lang="en-US" sz="4000" b="0" i="0" u="none" strike="noStrike" dirty="0">
                        <a:effectLst/>
                        <a:latin typeface="Arial" panose="020B0604020202020204" pitchFamily="34" charset="0"/>
                        <a:cs typeface="Arial" panose="020B0604020202020204" pitchFamily="34" charset="0"/>
                      </a:endParaRPr>
                    </a:p>
                  </a:txBody>
                  <a:tcPr marL="23679" marR="23679" marT="23679" marB="0" anchor="b">
                    <a:lnL>
                      <a:noFill/>
                    </a:lnL>
                    <a:lnR>
                      <a:noFill/>
                    </a:lnR>
                    <a:lnT>
                      <a:noFill/>
                    </a:lnT>
                    <a:lnB>
                      <a:noFill/>
                    </a:lnB>
                    <a:noFill/>
                  </a:tcPr>
                </a:tc>
                <a:tc>
                  <a:txBody>
                    <a:bodyPr/>
                    <a:lstStyle/>
                    <a:p>
                      <a:pPr algn="l" fontAlgn="b">
                        <a:spcBef>
                          <a:spcPts val="0"/>
                        </a:spcBef>
                        <a:spcAft>
                          <a:spcPts val="0"/>
                        </a:spcAft>
                      </a:pPr>
                      <a:r>
                        <a:rPr lang="en-US" sz="2000" b="0" i="0" u="none" strike="noStrike" dirty="0">
                          <a:solidFill>
                            <a:srgbClr val="000000"/>
                          </a:solidFill>
                          <a:effectLst/>
                          <a:latin typeface="Arial" panose="020B0604020202020204" pitchFamily="34" charset="0"/>
                          <a:cs typeface="Arial" panose="020B0604020202020204" pitchFamily="34" charset="0"/>
                        </a:rPr>
                        <a:t>Readmission Percentile</a:t>
                      </a:r>
                      <a:endParaRPr lang="en-US" sz="4000" b="0" i="0" u="none" strike="noStrike" dirty="0">
                        <a:effectLst/>
                        <a:latin typeface="Arial" panose="020B0604020202020204" pitchFamily="34" charset="0"/>
                        <a:cs typeface="Arial" panose="020B0604020202020204" pitchFamily="34" charset="0"/>
                      </a:endParaRPr>
                    </a:p>
                  </a:txBody>
                  <a:tcPr marL="23679" marR="23679" marT="23679" marB="0" anchor="b">
                    <a:lnL>
                      <a:noFill/>
                    </a:lnL>
                    <a:lnR>
                      <a:noFill/>
                    </a:lnR>
                    <a:lnT>
                      <a:noFill/>
                    </a:lnT>
                    <a:lnB>
                      <a:noFill/>
                    </a:lnB>
                    <a:noFill/>
                  </a:tcPr>
                </a:tc>
                <a:extLst>
                  <a:ext uri="{0D108BD9-81ED-4DB2-BD59-A6C34878D82A}">
                    <a16:rowId xmlns:a16="http://schemas.microsoft.com/office/drawing/2014/main" val="2286023769"/>
                  </a:ext>
                </a:extLst>
              </a:tr>
              <a:tr h="1288451">
                <a:tc>
                  <a:txBody>
                    <a:bodyPr/>
                    <a:lstStyle/>
                    <a:p>
                      <a:pPr algn="r" fontAlgn="b">
                        <a:spcBef>
                          <a:spcPts val="0"/>
                        </a:spcBef>
                        <a:spcAft>
                          <a:spcPts val="0"/>
                        </a:spcAft>
                      </a:pPr>
                      <a:r>
                        <a:rPr lang="en-US" sz="2000" b="0" i="0" u="none" strike="noStrike" dirty="0">
                          <a:solidFill>
                            <a:srgbClr val="000000"/>
                          </a:solidFill>
                          <a:effectLst/>
                          <a:highlight>
                            <a:srgbClr val="B8E1C5"/>
                          </a:highlight>
                          <a:latin typeface="Arial" panose="020B0604020202020204" pitchFamily="34" charset="0"/>
                          <a:cs typeface="Arial" panose="020B0604020202020204" pitchFamily="34" charset="0"/>
                        </a:rPr>
                        <a:t>73%</a:t>
                      </a:r>
                      <a:endParaRPr lang="en-US" sz="4000" b="0" i="0" u="none" strike="noStrike" dirty="0">
                        <a:effectLst/>
                        <a:highlight>
                          <a:srgbClr val="B8E1C5"/>
                        </a:highlight>
                        <a:latin typeface="Arial" panose="020B0604020202020204" pitchFamily="34" charset="0"/>
                        <a:cs typeface="Arial" panose="020B0604020202020204" pitchFamily="34" charset="0"/>
                      </a:endParaRPr>
                    </a:p>
                  </a:txBody>
                  <a:tcPr marL="23679" marR="23679" marT="23679" marB="0" anchor="b">
                    <a:lnL>
                      <a:noFill/>
                    </a:lnL>
                    <a:lnR>
                      <a:noFill/>
                    </a:lnR>
                    <a:lnT>
                      <a:noFill/>
                    </a:lnT>
                    <a:lnB>
                      <a:noFill/>
                    </a:lnB>
                    <a:solidFill>
                      <a:srgbClr val="B8E1C5"/>
                    </a:solidFill>
                  </a:tcPr>
                </a:tc>
                <a:tc>
                  <a:txBody>
                    <a:bodyPr/>
                    <a:lstStyle/>
                    <a:p>
                      <a:pPr algn="r" fontAlgn="b">
                        <a:spcBef>
                          <a:spcPts val="0"/>
                        </a:spcBef>
                        <a:spcAft>
                          <a:spcPts val="0"/>
                        </a:spcAft>
                      </a:pPr>
                      <a:r>
                        <a:rPr lang="en-US" sz="2000" b="0" i="0" u="none" strike="noStrike">
                          <a:solidFill>
                            <a:srgbClr val="000000"/>
                          </a:solidFill>
                          <a:effectLst/>
                          <a:highlight>
                            <a:srgbClr val="63BE7B"/>
                          </a:highlight>
                          <a:latin typeface="Arial" panose="020B0604020202020204" pitchFamily="34" charset="0"/>
                          <a:cs typeface="Arial" panose="020B0604020202020204" pitchFamily="34" charset="0"/>
                        </a:rPr>
                        <a:t>99%</a:t>
                      </a:r>
                      <a:endParaRPr lang="en-US" sz="4000" b="0" i="0" u="none" strike="noStrike">
                        <a:effectLst/>
                        <a:highlight>
                          <a:srgbClr val="63BE7B"/>
                        </a:highlight>
                        <a:latin typeface="Arial" panose="020B0604020202020204" pitchFamily="34" charset="0"/>
                        <a:cs typeface="Arial" panose="020B0604020202020204" pitchFamily="34" charset="0"/>
                      </a:endParaRPr>
                    </a:p>
                  </a:txBody>
                  <a:tcPr marL="23679" marR="23679" marT="23679" marB="0" anchor="b">
                    <a:lnL>
                      <a:noFill/>
                    </a:lnL>
                    <a:lnR>
                      <a:noFill/>
                    </a:lnR>
                    <a:lnT>
                      <a:noFill/>
                    </a:lnT>
                    <a:lnB>
                      <a:noFill/>
                    </a:lnB>
                    <a:solidFill>
                      <a:srgbClr val="63BE7B"/>
                    </a:solidFill>
                  </a:tcPr>
                </a:tc>
                <a:tc>
                  <a:txBody>
                    <a:bodyPr/>
                    <a:lstStyle/>
                    <a:p>
                      <a:pPr algn="r" fontAlgn="b">
                        <a:spcBef>
                          <a:spcPts val="0"/>
                        </a:spcBef>
                        <a:spcAft>
                          <a:spcPts val="0"/>
                        </a:spcAft>
                      </a:pPr>
                      <a:r>
                        <a:rPr lang="en-US" sz="2000" b="0" i="0" u="none" strike="noStrike">
                          <a:solidFill>
                            <a:srgbClr val="000000"/>
                          </a:solidFill>
                          <a:effectLst/>
                          <a:highlight>
                            <a:srgbClr val="8ED0A0"/>
                          </a:highlight>
                          <a:latin typeface="Arial" panose="020B0604020202020204" pitchFamily="34" charset="0"/>
                          <a:cs typeface="Arial" panose="020B0604020202020204" pitchFamily="34" charset="0"/>
                        </a:rPr>
                        <a:t>86%</a:t>
                      </a:r>
                      <a:endParaRPr lang="en-US" sz="4000" b="0" i="0" u="none" strike="noStrike">
                        <a:effectLst/>
                        <a:highlight>
                          <a:srgbClr val="8ED0A0"/>
                        </a:highlight>
                        <a:latin typeface="Arial" panose="020B0604020202020204" pitchFamily="34" charset="0"/>
                        <a:cs typeface="Arial" panose="020B0604020202020204" pitchFamily="34" charset="0"/>
                      </a:endParaRPr>
                    </a:p>
                  </a:txBody>
                  <a:tcPr marL="23679" marR="23679" marT="23679" marB="0" anchor="b">
                    <a:lnL>
                      <a:noFill/>
                    </a:lnL>
                    <a:lnR>
                      <a:noFill/>
                    </a:lnR>
                    <a:lnT>
                      <a:noFill/>
                    </a:lnT>
                    <a:lnB>
                      <a:noFill/>
                    </a:lnB>
                    <a:solidFill>
                      <a:srgbClr val="8ED0A0"/>
                    </a:solidFill>
                  </a:tcPr>
                </a:tc>
                <a:tc>
                  <a:txBody>
                    <a:bodyPr/>
                    <a:lstStyle/>
                    <a:p>
                      <a:pPr algn="r" fontAlgn="b">
                        <a:spcBef>
                          <a:spcPts val="0"/>
                        </a:spcBef>
                        <a:spcAft>
                          <a:spcPts val="0"/>
                        </a:spcAft>
                      </a:pPr>
                      <a:r>
                        <a:rPr lang="en-US" sz="2000" b="0" i="0" u="none" strike="noStrike">
                          <a:solidFill>
                            <a:srgbClr val="000000"/>
                          </a:solidFill>
                          <a:effectLst/>
                          <a:highlight>
                            <a:srgbClr val="DDF0E4"/>
                          </a:highlight>
                          <a:latin typeface="Arial" panose="020B0604020202020204" pitchFamily="34" charset="0"/>
                          <a:cs typeface="Arial" panose="020B0604020202020204" pitchFamily="34" charset="0"/>
                        </a:rPr>
                        <a:t>63%</a:t>
                      </a:r>
                      <a:endParaRPr lang="en-US" sz="4000" b="0" i="0" u="none" strike="noStrike">
                        <a:effectLst/>
                        <a:highlight>
                          <a:srgbClr val="DDF0E4"/>
                        </a:highlight>
                        <a:latin typeface="Arial" panose="020B0604020202020204" pitchFamily="34" charset="0"/>
                        <a:cs typeface="Arial" panose="020B0604020202020204" pitchFamily="34" charset="0"/>
                      </a:endParaRPr>
                    </a:p>
                  </a:txBody>
                  <a:tcPr marL="23679" marR="23679" marT="23679" marB="0" anchor="b">
                    <a:lnL>
                      <a:noFill/>
                    </a:lnL>
                    <a:lnR>
                      <a:noFill/>
                    </a:lnR>
                    <a:lnT>
                      <a:noFill/>
                    </a:lnT>
                    <a:lnB>
                      <a:noFill/>
                    </a:lnB>
                    <a:solidFill>
                      <a:srgbClr val="DDF0E4"/>
                    </a:solidFill>
                  </a:tcPr>
                </a:tc>
                <a:extLst>
                  <a:ext uri="{0D108BD9-81ED-4DB2-BD59-A6C34878D82A}">
                    <a16:rowId xmlns:a16="http://schemas.microsoft.com/office/drawing/2014/main" val="1456460964"/>
                  </a:ext>
                </a:extLst>
              </a:tr>
              <a:tr h="1288451">
                <a:tc>
                  <a:txBody>
                    <a:bodyPr/>
                    <a:lstStyle/>
                    <a:p>
                      <a:pPr algn="r" fontAlgn="b">
                        <a:spcBef>
                          <a:spcPts val="0"/>
                        </a:spcBef>
                        <a:spcAft>
                          <a:spcPts val="0"/>
                        </a:spcAft>
                      </a:pPr>
                      <a:r>
                        <a:rPr lang="en-US" sz="2000" b="0" i="0" u="none" strike="noStrike">
                          <a:solidFill>
                            <a:srgbClr val="000000"/>
                          </a:solidFill>
                          <a:effectLst/>
                          <a:highlight>
                            <a:srgbClr val="FCFCFF"/>
                          </a:highlight>
                          <a:latin typeface="Arial" panose="020B0604020202020204" pitchFamily="34" charset="0"/>
                          <a:cs typeface="Arial" panose="020B0604020202020204" pitchFamily="34" charset="0"/>
                        </a:rPr>
                        <a:t>53%</a:t>
                      </a:r>
                      <a:endParaRPr lang="en-US" sz="4000" b="0" i="0" u="none" strike="noStrike">
                        <a:effectLst/>
                        <a:highlight>
                          <a:srgbClr val="FCFCFF"/>
                        </a:highlight>
                        <a:latin typeface="Arial" panose="020B0604020202020204" pitchFamily="34" charset="0"/>
                        <a:cs typeface="Arial" panose="020B0604020202020204" pitchFamily="34" charset="0"/>
                      </a:endParaRPr>
                    </a:p>
                  </a:txBody>
                  <a:tcPr marL="23679" marR="23679" marT="23679" marB="0" anchor="b">
                    <a:lnL>
                      <a:noFill/>
                    </a:lnL>
                    <a:lnR>
                      <a:noFill/>
                    </a:lnR>
                    <a:lnT>
                      <a:noFill/>
                    </a:lnT>
                    <a:lnB>
                      <a:noFill/>
                    </a:lnB>
                    <a:solidFill>
                      <a:srgbClr val="FCFCFF"/>
                    </a:solidFill>
                  </a:tcPr>
                </a:tc>
                <a:tc>
                  <a:txBody>
                    <a:bodyPr/>
                    <a:lstStyle/>
                    <a:p>
                      <a:pPr algn="r" fontAlgn="b">
                        <a:spcBef>
                          <a:spcPts val="0"/>
                        </a:spcBef>
                        <a:spcAft>
                          <a:spcPts val="0"/>
                        </a:spcAft>
                      </a:pPr>
                      <a:r>
                        <a:rPr lang="en-US" sz="2000" b="0" i="0" u="none" strike="noStrike" dirty="0">
                          <a:solidFill>
                            <a:srgbClr val="000000"/>
                          </a:solidFill>
                          <a:effectLst/>
                          <a:highlight>
                            <a:srgbClr val="ECF6F1"/>
                          </a:highlight>
                          <a:latin typeface="Arial" panose="020B0604020202020204" pitchFamily="34" charset="0"/>
                          <a:cs typeface="Arial" panose="020B0604020202020204" pitchFamily="34" charset="0"/>
                        </a:rPr>
                        <a:t>58%</a:t>
                      </a:r>
                      <a:endParaRPr lang="en-US" sz="4000" b="0" i="0" u="none" strike="noStrike" dirty="0">
                        <a:effectLst/>
                        <a:highlight>
                          <a:srgbClr val="ECF6F1"/>
                        </a:highlight>
                        <a:latin typeface="Arial" panose="020B0604020202020204" pitchFamily="34" charset="0"/>
                        <a:cs typeface="Arial" panose="020B0604020202020204" pitchFamily="34" charset="0"/>
                      </a:endParaRPr>
                    </a:p>
                  </a:txBody>
                  <a:tcPr marL="23679" marR="23679" marT="23679" marB="0" anchor="b">
                    <a:lnL>
                      <a:noFill/>
                    </a:lnL>
                    <a:lnR>
                      <a:noFill/>
                    </a:lnR>
                    <a:lnT>
                      <a:noFill/>
                    </a:lnT>
                    <a:lnB>
                      <a:noFill/>
                    </a:lnB>
                    <a:solidFill>
                      <a:srgbClr val="ECF6F1"/>
                    </a:solidFill>
                  </a:tcPr>
                </a:tc>
                <a:tc>
                  <a:txBody>
                    <a:bodyPr/>
                    <a:lstStyle/>
                    <a:p>
                      <a:pPr algn="r" fontAlgn="b">
                        <a:spcBef>
                          <a:spcPts val="0"/>
                        </a:spcBef>
                        <a:spcAft>
                          <a:spcPts val="0"/>
                        </a:spcAft>
                      </a:pPr>
                      <a:r>
                        <a:rPr lang="en-US" sz="2000" b="0" i="0" u="none" strike="noStrike">
                          <a:solidFill>
                            <a:srgbClr val="000000"/>
                          </a:solidFill>
                          <a:effectLst/>
                          <a:highlight>
                            <a:srgbClr val="BDE3C9"/>
                          </a:highlight>
                          <a:latin typeface="Arial" panose="020B0604020202020204" pitchFamily="34" charset="0"/>
                          <a:cs typeface="Arial" panose="020B0604020202020204" pitchFamily="34" charset="0"/>
                        </a:rPr>
                        <a:t>72%</a:t>
                      </a:r>
                      <a:endParaRPr lang="en-US" sz="4000" b="0" i="0" u="none" strike="noStrike">
                        <a:effectLst/>
                        <a:highlight>
                          <a:srgbClr val="BDE3C9"/>
                        </a:highlight>
                        <a:latin typeface="Arial" panose="020B0604020202020204" pitchFamily="34" charset="0"/>
                        <a:cs typeface="Arial" panose="020B0604020202020204" pitchFamily="34" charset="0"/>
                      </a:endParaRPr>
                    </a:p>
                  </a:txBody>
                  <a:tcPr marL="23679" marR="23679" marT="23679" marB="0" anchor="b">
                    <a:lnL>
                      <a:noFill/>
                    </a:lnL>
                    <a:lnR>
                      <a:noFill/>
                    </a:lnR>
                    <a:lnT>
                      <a:noFill/>
                    </a:lnT>
                    <a:lnB>
                      <a:noFill/>
                    </a:lnB>
                    <a:solidFill>
                      <a:srgbClr val="BDE3C9"/>
                    </a:solidFill>
                  </a:tcPr>
                </a:tc>
                <a:tc>
                  <a:txBody>
                    <a:bodyPr/>
                    <a:lstStyle/>
                    <a:p>
                      <a:pPr algn="r" fontAlgn="b">
                        <a:spcBef>
                          <a:spcPts val="0"/>
                        </a:spcBef>
                        <a:spcAft>
                          <a:spcPts val="0"/>
                        </a:spcAft>
                      </a:pPr>
                      <a:r>
                        <a:rPr lang="en-US" sz="2000" b="0" i="0" u="none" strike="noStrike" dirty="0">
                          <a:solidFill>
                            <a:srgbClr val="000000"/>
                          </a:solidFill>
                          <a:effectLst/>
                          <a:highlight>
                            <a:srgbClr val="DBEFE3"/>
                          </a:highlight>
                          <a:latin typeface="Arial" panose="020B0604020202020204" pitchFamily="34" charset="0"/>
                          <a:cs typeface="Arial" panose="020B0604020202020204" pitchFamily="34" charset="0"/>
                        </a:rPr>
                        <a:t>63%</a:t>
                      </a:r>
                      <a:endParaRPr lang="en-US" sz="4000" b="0" i="0" u="none" strike="noStrike" dirty="0">
                        <a:effectLst/>
                        <a:highlight>
                          <a:srgbClr val="DBEFE3"/>
                        </a:highlight>
                        <a:latin typeface="Arial" panose="020B0604020202020204" pitchFamily="34" charset="0"/>
                        <a:cs typeface="Arial" panose="020B0604020202020204" pitchFamily="34" charset="0"/>
                      </a:endParaRPr>
                    </a:p>
                  </a:txBody>
                  <a:tcPr marL="23679" marR="23679" marT="23679" marB="0" anchor="b">
                    <a:lnL>
                      <a:noFill/>
                    </a:lnL>
                    <a:lnR>
                      <a:noFill/>
                    </a:lnR>
                    <a:lnT>
                      <a:noFill/>
                    </a:lnT>
                    <a:lnB>
                      <a:noFill/>
                    </a:lnB>
                    <a:solidFill>
                      <a:srgbClr val="DBEFE3"/>
                    </a:solidFill>
                  </a:tcPr>
                </a:tc>
                <a:extLst>
                  <a:ext uri="{0D108BD9-81ED-4DB2-BD59-A6C34878D82A}">
                    <a16:rowId xmlns:a16="http://schemas.microsoft.com/office/drawing/2014/main" val="543260720"/>
                  </a:ext>
                </a:extLst>
              </a:tr>
            </a:tbl>
          </a:graphicData>
        </a:graphic>
      </p:graphicFrame>
      <p:pic>
        <p:nvPicPr>
          <p:cNvPr id="5" name="Picture 2" descr="Welcome to Lehigh Valley Health Network ...">
            <a:extLst>
              <a:ext uri="{FF2B5EF4-FFF2-40B4-BE49-F238E27FC236}">
                <a16:creationId xmlns:a16="http://schemas.microsoft.com/office/drawing/2014/main" id="{F9CBBC25-2379-DA66-C994-34C7894D0939}"/>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1670112" y="4895461"/>
            <a:ext cx="2266950" cy="450686"/>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descr="St. Luke's University Health Network's 150th Anniversary">
            <a:extLst>
              <a:ext uri="{FF2B5EF4-FFF2-40B4-BE49-F238E27FC236}">
                <a16:creationId xmlns:a16="http://schemas.microsoft.com/office/drawing/2014/main" id="{359DA4E3-A816-8BBD-E4DF-EBB8182B642F}"/>
              </a:ext>
            </a:extLst>
          </p:cNvPr>
          <p:cNvPicPr>
            <a:picLocks noChangeAspect="1" noChangeArrowheads="1"/>
          </p:cNvPicPr>
          <p:nvPr/>
        </p:nvPicPr>
        <p:blipFill>
          <a:blip r:embed="rId4"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2266693" y="3419623"/>
            <a:ext cx="1505331" cy="79077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7AF85B4F-4461-B17C-D1D9-5A4173F20833}"/>
              </a:ext>
            </a:extLst>
          </p:cNvPr>
          <p:cNvSpPr txBox="1"/>
          <p:nvPr/>
        </p:nvSpPr>
        <p:spPr>
          <a:xfrm>
            <a:off x="3019358" y="6015534"/>
            <a:ext cx="8788525"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5B5B5B"/>
                </a:solidFill>
                <a:effectLst/>
                <a:uLnTx/>
                <a:uFillTx/>
                <a:latin typeface="Arial" panose="020B0604020202020204" pitchFamily="34" charset="0"/>
                <a:cs typeface="Arial" panose="020B0604020202020204" pitchFamily="34" charset="0"/>
              </a:rPr>
              <a:t>Source: CMS measurements of HCAHPS patient experience (percent who would strongly recommend), CMS Stars, high-variation mortality rates and high-variation readmission rates all shown as percentiles compared to all hospitals nationally, with the 99</a:t>
            </a:r>
            <a:r>
              <a:rPr kumimoji="0" lang="en-US" sz="1400" b="0" i="0" u="none" strike="noStrike" kern="1200" cap="none" spc="0" normalizeH="0" baseline="30000" noProof="0" dirty="0">
                <a:ln>
                  <a:noFill/>
                </a:ln>
                <a:solidFill>
                  <a:srgbClr val="5B5B5B"/>
                </a:solidFill>
                <a:effectLst/>
                <a:uLnTx/>
                <a:uFillTx/>
                <a:latin typeface="Arial" panose="020B0604020202020204" pitchFamily="34" charset="0"/>
                <a:cs typeface="Arial" panose="020B0604020202020204" pitchFamily="34" charset="0"/>
              </a:rPr>
              <a:t>th</a:t>
            </a:r>
            <a:r>
              <a:rPr kumimoji="0" lang="en-US" sz="1400" b="0" i="0" u="none" strike="noStrike" kern="1200" cap="none" spc="0" normalizeH="0" baseline="0" noProof="0" dirty="0">
                <a:ln>
                  <a:noFill/>
                </a:ln>
                <a:solidFill>
                  <a:srgbClr val="5B5B5B"/>
                </a:solidFill>
                <a:effectLst/>
                <a:uLnTx/>
                <a:uFillTx/>
                <a:latin typeface="Arial" panose="020B0604020202020204" pitchFamily="34" charset="0"/>
                <a:cs typeface="Arial" panose="020B0604020202020204" pitchFamily="34" charset="0"/>
              </a:rPr>
              <a:t> percentile being the best. </a:t>
            </a:r>
          </a:p>
        </p:txBody>
      </p:sp>
      <p:sp>
        <p:nvSpPr>
          <p:cNvPr id="7" name="Rectangle 6">
            <a:extLst>
              <a:ext uri="{FF2B5EF4-FFF2-40B4-BE49-F238E27FC236}">
                <a16:creationId xmlns:a16="http://schemas.microsoft.com/office/drawing/2014/main" id="{06EC2811-E3FF-9DAD-A862-D025B8B049B2}"/>
              </a:ext>
            </a:extLst>
          </p:cNvPr>
          <p:cNvSpPr/>
          <p:nvPr/>
        </p:nvSpPr>
        <p:spPr>
          <a:xfrm>
            <a:off x="0" y="0"/>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itle 1">
            <a:extLst>
              <a:ext uri="{FF2B5EF4-FFF2-40B4-BE49-F238E27FC236}">
                <a16:creationId xmlns:a16="http://schemas.microsoft.com/office/drawing/2014/main" id="{58B5BAC4-765B-3901-8C3A-00577DDBB959}"/>
              </a:ext>
            </a:extLst>
          </p:cNvPr>
          <p:cNvSpPr>
            <a:spLocks noGrp="1"/>
          </p:cNvSpPr>
          <p:nvPr>
            <p:ph type="title"/>
          </p:nvPr>
        </p:nvSpPr>
        <p:spPr>
          <a:xfrm>
            <a:off x="1143446" y="281668"/>
            <a:ext cx="10652404" cy="1091529"/>
          </a:xfrm>
        </p:spPr>
        <p:txBody>
          <a:bodyPr>
            <a:noAutofit/>
          </a:bodyPr>
          <a:lstStyle/>
          <a:p>
            <a:pPr>
              <a:lnSpc>
                <a:spcPct val="100000"/>
              </a:lnSpc>
              <a:spcBef>
                <a:spcPts val="1800"/>
              </a:spcBef>
              <a:spcAft>
                <a:spcPts val="600"/>
              </a:spcAft>
            </a:pPr>
            <a:r>
              <a:rPr lang="en-US" sz="2800" dirty="0">
                <a:solidFill>
                  <a:srgbClr val="000B2E"/>
                </a:solidFill>
                <a:latin typeface="Arial" panose="020B0604020202020204" pitchFamily="34" charset="0"/>
                <a:cs typeface="Arial" panose="020B0604020202020204" pitchFamily="34" charset="0"/>
              </a:rPr>
              <a:t>SLUHS Advantage:</a:t>
            </a:r>
            <a:br>
              <a:rPr lang="en-US" sz="4000" b="1" dirty="0">
                <a:solidFill>
                  <a:srgbClr val="000B2E"/>
                </a:solidFill>
                <a:latin typeface="Arial" panose="020B0604020202020204" pitchFamily="34" charset="0"/>
                <a:cs typeface="Arial" panose="020B0604020202020204" pitchFamily="34" charset="0"/>
              </a:rPr>
            </a:br>
            <a:r>
              <a:rPr lang="en-US" sz="4000" b="1" dirty="0">
                <a:solidFill>
                  <a:srgbClr val="000B2E"/>
                </a:solidFill>
                <a:latin typeface="Arial" panose="020B0604020202020204" pitchFamily="34" charset="0"/>
                <a:cs typeface="Arial" panose="020B0604020202020204" pitchFamily="34" charset="0"/>
              </a:rPr>
              <a:t>Leading </a:t>
            </a:r>
            <a:r>
              <a:rPr lang="en-US" sz="4000" b="1" dirty="0">
                <a:solidFill>
                  <a:srgbClr val="59CAE8"/>
                </a:solidFill>
                <a:latin typeface="Arial" panose="020B0604020202020204" pitchFamily="34" charset="0"/>
                <a:cs typeface="Arial" panose="020B0604020202020204" pitchFamily="34" charset="0"/>
              </a:rPr>
              <a:t>Care Quality</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989207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4">
            <a:extLst>
              <a:ext uri="{FF2B5EF4-FFF2-40B4-BE49-F238E27FC236}">
                <a16:creationId xmlns:a16="http://schemas.microsoft.com/office/drawing/2014/main" id="{AFA2A0DF-5447-9DFA-147E-C70145DBB6EE}"/>
              </a:ext>
            </a:extLst>
          </p:cNvPr>
          <p:cNvGraphicFramePr>
            <a:graphicFrameLocks noGrp="1"/>
          </p:cNvGraphicFramePr>
          <p:nvPr>
            <p:ph idx="1"/>
            <p:extLst>
              <p:ext uri="{D42A27DB-BD31-4B8C-83A1-F6EECF244321}">
                <p14:modId xmlns:p14="http://schemas.microsoft.com/office/powerpoint/2010/main" val="2112748131"/>
              </p:ext>
            </p:extLst>
          </p:nvPr>
        </p:nvGraphicFramePr>
        <p:xfrm>
          <a:off x="1460500" y="2225675"/>
          <a:ext cx="10506457" cy="3765975"/>
        </p:xfrm>
        <a:graphic>
          <a:graphicData uri="http://schemas.openxmlformats.org/drawingml/2006/table">
            <a:tbl>
              <a:tblPr firstRow="1" bandRow="1"/>
              <a:tblGrid>
                <a:gridCol w="4496672">
                  <a:extLst>
                    <a:ext uri="{9D8B030D-6E8A-4147-A177-3AD203B41FA5}">
                      <a16:colId xmlns:a16="http://schemas.microsoft.com/office/drawing/2014/main" val="3878184201"/>
                    </a:ext>
                  </a:extLst>
                </a:gridCol>
                <a:gridCol w="3108378">
                  <a:extLst>
                    <a:ext uri="{9D8B030D-6E8A-4147-A177-3AD203B41FA5}">
                      <a16:colId xmlns:a16="http://schemas.microsoft.com/office/drawing/2014/main" val="184236409"/>
                    </a:ext>
                  </a:extLst>
                </a:gridCol>
                <a:gridCol w="2901407">
                  <a:extLst>
                    <a:ext uri="{9D8B030D-6E8A-4147-A177-3AD203B41FA5}">
                      <a16:colId xmlns:a16="http://schemas.microsoft.com/office/drawing/2014/main" val="1684919295"/>
                    </a:ext>
                  </a:extLst>
                </a:gridCol>
              </a:tblGrid>
              <a:tr h="764963">
                <a:tc>
                  <a:txBody>
                    <a:bodyPr/>
                    <a:lstStyle/>
                    <a:p>
                      <a:pPr algn="l" fontAlgn="b"/>
                      <a:r>
                        <a:rPr lang="en-US" sz="2200" b="0" i="0" u="none" strike="noStrike" dirty="0">
                          <a:solidFill>
                            <a:srgbClr val="000000"/>
                          </a:solidFill>
                          <a:effectLst/>
                          <a:latin typeface="Calibri" panose="020F0502020204030204" pitchFamily="34" charset="0"/>
                        </a:rPr>
                        <a:t>Hospital</a:t>
                      </a:r>
                    </a:p>
                  </a:txBody>
                  <a:tcPr marL="19105" marR="19105" marT="19105" marB="0" anchor="b">
                    <a:lnL>
                      <a:noFill/>
                    </a:lnL>
                    <a:lnR>
                      <a:noFill/>
                    </a:lnR>
                    <a:lnT>
                      <a:noFill/>
                    </a:lnT>
                    <a:lnB>
                      <a:noFill/>
                    </a:lnB>
                    <a:noFill/>
                  </a:tcPr>
                </a:tc>
                <a:tc>
                  <a:txBody>
                    <a:bodyPr/>
                    <a:lstStyle/>
                    <a:p>
                      <a:pPr algn="l" fontAlgn="b"/>
                      <a:r>
                        <a:rPr lang="en-US" sz="2200" b="0" i="0" u="none" strike="noStrike" dirty="0">
                          <a:solidFill>
                            <a:srgbClr val="000000"/>
                          </a:solidFill>
                          <a:effectLst/>
                          <a:latin typeface="Calibri" panose="020F0502020204030204" pitchFamily="34" charset="0"/>
                        </a:rPr>
                        <a:t>Rand Outpatient Services Percent of Medicare</a:t>
                      </a:r>
                    </a:p>
                  </a:txBody>
                  <a:tcPr marL="19105" marR="19105" marT="19105" marB="0" anchor="b">
                    <a:lnL>
                      <a:noFill/>
                    </a:lnL>
                    <a:lnR>
                      <a:noFill/>
                    </a:lnR>
                    <a:lnT>
                      <a:noFill/>
                    </a:lnT>
                    <a:lnB>
                      <a:noFill/>
                    </a:lnB>
                    <a:noFill/>
                  </a:tcPr>
                </a:tc>
                <a:tc>
                  <a:txBody>
                    <a:bodyPr/>
                    <a:lstStyle/>
                    <a:p>
                      <a:pPr algn="l" fontAlgn="b"/>
                      <a:r>
                        <a:rPr lang="en-US" sz="2200" b="0" i="0" u="none" strike="noStrike">
                          <a:solidFill>
                            <a:srgbClr val="000000"/>
                          </a:solidFill>
                          <a:effectLst/>
                          <a:latin typeface="Calibri" panose="020F0502020204030204" pitchFamily="34" charset="0"/>
                        </a:rPr>
                        <a:t>Rand Inpatient Services Percent of Medicare</a:t>
                      </a:r>
                    </a:p>
                  </a:txBody>
                  <a:tcPr marL="19105" marR="19105" marT="19105" marB="0" anchor="b">
                    <a:lnL>
                      <a:noFill/>
                    </a:lnL>
                    <a:lnR>
                      <a:noFill/>
                    </a:lnR>
                    <a:lnT>
                      <a:noFill/>
                    </a:lnT>
                    <a:lnB>
                      <a:noFill/>
                    </a:lnB>
                    <a:noFill/>
                  </a:tcPr>
                </a:tc>
                <a:extLst>
                  <a:ext uri="{0D108BD9-81ED-4DB2-BD59-A6C34878D82A}">
                    <a16:rowId xmlns:a16="http://schemas.microsoft.com/office/drawing/2014/main" val="1885184669"/>
                  </a:ext>
                </a:extLst>
              </a:tr>
              <a:tr h="428716">
                <a:tc>
                  <a:txBody>
                    <a:bodyPr/>
                    <a:lstStyle/>
                    <a:p>
                      <a:pPr algn="l" fontAlgn="b"/>
                      <a:r>
                        <a:rPr lang="en-US" sz="2200" b="0" i="0" u="none" strike="noStrike" dirty="0">
                          <a:solidFill>
                            <a:srgbClr val="000000"/>
                          </a:solidFill>
                          <a:effectLst/>
                          <a:latin typeface="Calibri" panose="020F0502020204030204" pitchFamily="34" charset="0"/>
                        </a:rPr>
                        <a:t>St Luke's Hospital - Anderson Campus</a:t>
                      </a:r>
                    </a:p>
                  </a:txBody>
                  <a:tcPr marL="19105" marR="19105" marT="19105" marB="0" anchor="b">
                    <a:lnL>
                      <a:noFill/>
                    </a:lnL>
                    <a:lnR>
                      <a:noFill/>
                    </a:lnR>
                    <a:lnT>
                      <a:noFill/>
                    </a:lnT>
                    <a:lnB>
                      <a:noFill/>
                    </a:lnB>
                    <a:noFill/>
                  </a:tcPr>
                </a:tc>
                <a:tc>
                  <a:txBody>
                    <a:bodyPr/>
                    <a:lstStyle/>
                    <a:p>
                      <a:pPr algn="r" fontAlgn="b"/>
                      <a:r>
                        <a:rPr lang="en-US" sz="2200" b="0" i="0" u="none" strike="noStrike">
                          <a:solidFill>
                            <a:srgbClr val="000000"/>
                          </a:solidFill>
                          <a:effectLst/>
                          <a:highlight>
                            <a:srgbClr val="F9B073"/>
                          </a:highlight>
                          <a:latin typeface="Calibri" panose="020F0502020204030204" pitchFamily="34" charset="0"/>
                        </a:rPr>
                        <a:t>290%</a:t>
                      </a:r>
                    </a:p>
                  </a:txBody>
                  <a:tcPr marL="19105" marR="19105" marT="19105" marB="0" anchor="b">
                    <a:lnL>
                      <a:noFill/>
                    </a:lnL>
                    <a:lnR>
                      <a:noFill/>
                    </a:lnR>
                    <a:lnT>
                      <a:noFill/>
                    </a:lnT>
                    <a:lnB>
                      <a:noFill/>
                    </a:lnB>
                    <a:solidFill>
                      <a:srgbClr val="F9B073"/>
                    </a:solidFill>
                  </a:tcPr>
                </a:tc>
                <a:tc>
                  <a:txBody>
                    <a:bodyPr/>
                    <a:lstStyle/>
                    <a:p>
                      <a:pPr algn="r" fontAlgn="b"/>
                      <a:r>
                        <a:rPr lang="en-US" sz="2200" b="0" i="0" u="none" strike="noStrike">
                          <a:solidFill>
                            <a:srgbClr val="000000"/>
                          </a:solidFill>
                          <a:effectLst/>
                          <a:highlight>
                            <a:srgbClr val="FABA85"/>
                          </a:highlight>
                          <a:latin typeface="Calibri" panose="020F0502020204030204" pitchFamily="34" charset="0"/>
                        </a:rPr>
                        <a:t>280%</a:t>
                      </a:r>
                    </a:p>
                  </a:txBody>
                  <a:tcPr marL="19105" marR="19105" marT="19105" marB="0" anchor="b">
                    <a:lnL>
                      <a:noFill/>
                    </a:lnL>
                    <a:lnR>
                      <a:noFill/>
                    </a:lnR>
                    <a:lnT>
                      <a:noFill/>
                    </a:lnT>
                    <a:lnB>
                      <a:noFill/>
                    </a:lnB>
                    <a:solidFill>
                      <a:srgbClr val="FABA85"/>
                    </a:solidFill>
                  </a:tcPr>
                </a:tc>
                <a:extLst>
                  <a:ext uri="{0D108BD9-81ED-4DB2-BD59-A6C34878D82A}">
                    <a16:rowId xmlns:a16="http://schemas.microsoft.com/office/drawing/2014/main" val="4015801012"/>
                  </a:ext>
                </a:extLst>
              </a:tr>
              <a:tr h="428716">
                <a:tc>
                  <a:txBody>
                    <a:bodyPr/>
                    <a:lstStyle/>
                    <a:p>
                      <a:pPr algn="l" fontAlgn="b"/>
                      <a:r>
                        <a:rPr lang="en-US" sz="2200" b="0" i="0" u="none" strike="noStrike" dirty="0">
                          <a:solidFill>
                            <a:srgbClr val="000000"/>
                          </a:solidFill>
                          <a:effectLst/>
                          <a:latin typeface="Calibri" panose="020F0502020204030204" pitchFamily="34" charset="0"/>
                        </a:rPr>
                        <a:t>St Lukes Upper Bucks Campus</a:t>
                      </a:r>
                    </a:p>
                  </a:txBody>
                  <a:tcPr marL="19105" marR="19105" marT="19105" marB="0" anchor="b">
                    <a:lnL>
                      <a:noFill/>
                    </a:lnL>
                    <a:lnR>
                      <a:noFill/>
                    </a:lnR>
                    <a:lnT>
                      <a:noFill/>
                    </a:lnT>
                    <a:lnB>
                      <a:noFill/>
                    </a:lnB>
                    <a:noFill/>
                  </a:tcPr>
                </a:tc>
                <a:tc>
                  <a:txBody>
                    <a:bodyPr/>
                    <a:lstStyle/>
                    <a:p>
                      <a:pPr algn="r" fontAlgn="b"/>
                      <a:r>
                        <a:rPr lang="en-US" sz="2200" b="0" i="0" u="none" strike="noStrike">
                          <a:solidFill>
                            <a:srgbClr val="000000"/>
                          </a:solidFill>
                          <a:effectLst/>
                          <a:highlight>
                            <a:srgbClr val="F9AE70"/>
                          </a:highlight>
                          <a:latin typeface="Calibri" panose="020F0502020204030204" pitchFamily="34" charset="0"/>
                        </a:rPr>
                        <a:t>292%</a:t>
                      </a:r>
                    </a:p>
                  </a:txBody>
                  <a:tcPr marL="19105" marR="19105" marT="19105" marB="0" anchor="b">
                    <a:lnL>
                      <a:noFill/>
                    </a:lnL>
                    <a:lnR>
                      <a:noFill/>
                    </a:lnR>
                    <a:lnT>
                      <a:noFill/>
                    </a:lnT>
                    <a:lnB>
                      <a:noFill/>
                    </a:lnB>
                    <a:solidFill>
                      <a:srgbClr val="F9AE70"/>
                    </a:solidFill>
                  </a:tcPr>
                </a:tc>
                <a:tc>
                  <a:txBody>
                    <a:bodyPr/>
                    <a:lstStyle/>
                    <a:p>
                      <a:pPr algn="l" fontAlgn="b"/>
                      <a:r>
                        <a:rPr lang="en-US" sz="2200" b="0" i="0" u="none" strike="noStrike">
                          <a:solidFill>
                            <a:srgbClr val="000000"/>
                          </a:solidFill>
                          <a:effectLst/>
                          <a:latin typeface="Calibri" panose="020F0502020204030204" pitchFamily="34" charset="0"/>
                        </a:rPr>
                        <a:t>         </a:t>
                      </a:r>
                    </a:p>
                  </a:txBody>
                  <a:tcPr marL="19105" marR="19105" marT="19105" marB="0" anchor="b">
                    <a:lnL>
                      <a:noFill/>
                    </a:lnL>
                    <a:lnR>
                      <a:noFill/>
                    </a:lnR>
                    <a:lnT>
                      <a:noFill/>
                    </a:lnT>
                    <a:lnB>
                      <a:noFill/>
                    </a:lnB>
                    <a:noFill/>
                  </a:tcPr>
                </a:tc>
                <a:extLst>
                  <a:ext uri="{0D108BD9-81ED-4DB2-BD59-A6C34878D82A}">
                    <a16:rowId xmlns:a16="http://schemas.microsoft.com/office/drawing/2014/main" val="3873359961"/>
                  </a:ext>
                </a:extLst>
              </a:tr>
              <a:tr h="428716">
                <a:tc>
                  <a:txBody>
                    <a:bodyPr/>
                    <a:lstStyle/>
                    <a:p>
                      <a:pPr algn="l" fontAlgn="b"/>
                      <a:r>
                        <a:rPr lang="en-US" sz="2200" b="0" i="0" u="none" strike="noStrike">
                          <a:solidFill>
                            <a:srgbClr val="000000"/>
                          </a:solidFill>
                          <a:effectLst/>
                          <a:latin typeface="Calibri" panose="020F0502020204030204" pitchFamily="34" charset="0"/>
                        </a:rPr>
                        <a:t>St Luke's Hospital Bethlehem</a:t>
                      </a:r>
                    </a:p>
                  </a:txBody>
                  <a:tcPr marL="19105" marR="19105" marT="19105" marB="0" anchor="b">
                    <a:lnL>
                      <a:noFill/>
                    </a:lnL>
                    <a:lnR>
                      <a:noFill/>
                    </a:lnR>
                    <a:lnT>
                      <a:noFill/>
                    </a:lnT>
                    <a:lnB>
                      <a:noFill/>
                    </a:lnB>
                    <a:noFill/>
                  </a:tcPr>
                </a:tc>
                <a:tc>
                  <a:txBody>
                    <a:bodyPr/>
                    <a:lstStyle/>
                    <a:p>
                      <a:pPr algn="r" fontAlgn="b"/>
                      <a:r>
                        <a:rPr lang="en-US" sz="2200" b="0" i="0" u="none" strike="noStrike">
                          <a:solidFill>
                            <a:srgbClr val="000000"/>
                          </a:solidFill>
                          <a:effectLst/>
                          <a:highlight>
                            <a:srgbClr val="FAB379"/>
                          </a:highlight>
                          <a:latin typeface="Calibri" panose="020F0502020204030204" pitchFamily="34" charset="0"/>
                        </a:rPr>
                        <a:t>287%</a:t>
                      </a:r>
                    </a:p>
                  </a:txBody>
                  <a:tcPr marL="19105" marR="19105" marT="19105" marB="0" anchor="b">
                    <a:lnL>
                      <a:noFill/>
                    </a:lnL>
                    <a:lnR>
                      <a:noFill/>
                    </a:lnR>
                    <a:lnT>
                      <a:noFill/>
                    </a:lnT>
                    <a:lnB>
                      <a:noFill/>
                    </a:lnB>
                    <a:solidFill>
                      <a:srgbClr val="FAB379"/>
                    </a:solidFill>
                  </a:tcPr>
                </a:tc>
                <a:tc>
                  <a:txBody>
                    <a:bodyPr/>
                    <a:lstStyle/>
                    <a:p>
                      <a:pPr algn="r" fontAlgn="b"/>
                      <a:r>
                        <a:rPr lang="en-US" sz="2200" b="0" i="0" u="none" strike="noStrike">
                          <a:solidFill>
                            <a:srgbClr val="000000"/>
                          </a:solidFill>
                          <a:effectLst/>
                          <a:highlight>
                            <a:srgbClr val="FFFDFC"/>
                          </a:highlight>
                          <a:latin typeface="Calibri" panose="020F0502020204030204" pitchFamily="34" charset="0"/>
                        </a:rPr>
                        <a:t>214%</a:t>
                      </a:r>
                    </a:p>
                  </a:txBody>
                  <a:tcPr marL="19105" marR="19105" marT="19105" marB="0" anchor="b">
                    <a:lnL>
                      <a:noFill/>
                    </a:lnL>
                    <a:lnR>
                      <a:noFill/>
                    </a:lnR>
                    <a:lnT>
                      <a:noFill/>
                    </a:lnT>
                    <a:lnB>
                      <a:noFill/>
                    </a:lnB>
                    <a:solidFill>
                      <a:srgbClr val="FFFDFC"/>
                    </a:solidFill>
                  </a:tcPr>
                </a:tc>
                <a:extLst>
                  <a:ext uri="{0D108BD9-81ED-4DB2-BD59-A6C34878D82A}">
                    <a16:rowId xmlns:a16="http://schemas.microsoft.com/office/drawing/2014/main" val="1959494578"/>
                  </a:ext>
                </a:extLst>
              </a:tr>
              <a:tr h="428716">
                <a:tc>
                  <a:txBody>
                    <a:bodyPr/>
                    <a:lstStyle/>
                    <a:p>
                      <a:pPr algn="l" fontAlgn="b"/>
                      <a:r>
                        <a:rPr lang="en-US" sz="2200" b="0" i="0" u="none" strike="noStrike" dirty="0">
                          <a:solidFill>
                            <a:srgbClr val="000000"/>
                          </a:solidFill>
                          <a:effectLst/>
                          <a:latin typeface="Calibri" panose="020F0502020204030204" pitchFamily="34" charset="0"/>
                        </a:rPr>
                        <a:t>St Luke's Warren Hospital</a:t>
                      </a:r>
                    </a:p>
                  </a:txBody>
                  <a:tcPr marL="19105" marR="19105" marT="19105" marB="0" anchor="b">
                    <a:lnL>
                      <a:noFill/>
                    </a:lnL>
                    <a:lnR>
                      <a:noFill/>
                    </a:lnR>
                    <a:lnT>
                      <a:noFill/>
                    </a:lnT>
                    <a:lnB>
                      <a:noFill/>
                    </a:lnB>
                    <a:noFill/>
                  </a:tcPr>
                </a:tc>
                <a:tc>
                  <a:txBody>
                    <a:bodyPr/>
                    <a:lstStyle/>
                    <a:p>
                      <a:pPr algn="r" fontAlgn="b"/>
                      <a:r>
                        <a:rPr lang="en-US" sz="2200" b="0" i="0" u="none" strike="noStrike" dirty="0">
                          <a:solidFill>
                            <a:srgbClr val="000000"/>
                          </a:solidFill>
                          <a:effectLst/>
                          <a:highlight>
                            <a:srgbClr val="FCD8B9"/>
                          </a:highlight>
                          <a:latin typeface="Calibri" panose="020F0502020204030204" pitchFamily="34" charset="0"/>
                        </a:rPr>
                        <a:t>251%</a:t>
                      </a:r>
                    </a:p>
                  </a:txBody>
                  <a:tcPr marL="19105" marR="19105" marT="19105" marB="0" anchor="b">
                    <a:lnL>
                      <a:noFill/>
                    </a:lnL>
                    <a:lnR>
                      <a:noFill/>
                    </a:lnR>
                    <a:lnT>
                      <a:noFill/>
                    </a:lnT>
                    <a:lnB>
                      <a:noFill/>
                    </a:lnB>
                    <a:solidFill>
                      <a:srgbClr val="FCD8B9"/>
                    </a:solidFill>
                  </a:tcPr>
                </a:tc>
                <a:tc>
                  <a:txBody>
                    <a:bodyPr/>
                    <a:lstStyle/>
                    <a:p>
                      <a:pPr algn="l" fontAlgn="b"/>
                      <a:r>
                        <a:rPr lang="en-US" sz="2200" b="0" i="0" u="none" strike="noStrike" dirty="0">
                          <a:solidFill>
                            <a:srgbClr val="000000"/>
                          </a:solidFill>
                          <a:effectLst/>
                          <a:latin typeface="Calibri" panose="020F0502020204030204" pitchFamily="34" charset="0"/>
                        </a:rPr>
                        <a:t>         </a:t>
                      </a:r>
                    </a:p>
                  </a:txBody>
                  <a:tcPr marL="19105" marR="19105" marT="19105" marB="0" anchor="b">
                    <a:lnL>
                      <a:noFill/>
                    </a:lnL>
                    <a:lnR>
                      <a:noFill/>
                    </a:lnR>
                    <a:lnT>
                      <a:noFill/>
                    </a:lnT>
                    <a:lnB>
                      <a:noFill/>
                    </a:lnB>
                    <a:noFill/>
                  </a:tcPr>
                </a:tc>
                <a:extLst>
                  <a:ext uri="{0D108BD9-81ED-4DB2-BD59-A6C34878D82A}">
                    <a16:rowId xmlns:a16="http://schemas.microsoft.com/office/drawing/2014/main" val="3205911860"/>
                  </a:ext>
                </a:extLst>
              </a:tr>
              <a:tr h="428716">
                <a:tc>
                  <a:txBody>
                    <a:bodyPr/>
                    <a:lstStyle/>
                    <a:p>
                      <a:pPr algn="l" fontAlgn="b"/>
                      <a:r>
                        <a:rPr lang="en-US" sz="2200" b="0" i="0" u="none" strike="noStrike">
                          <a:solidFill>
                            <a:srgbClr val="000000"/>
                          </a:solidFill>
                          <a:effectLst/>
                          <a:latin typeface="Calibri" panose="020F0502020204030204" pitchFamily="34" charset="0"/>
                        </a:rPr>
                        <a:t>St Luke's Hospital - Easton Campus</a:t>
                      </a:r>
                    </a:p>
                  </a:txBody>
                  <a:tcPr marL="19105" marR="19105" marT="19105" marB="0" anchor="b">
                    <a:lnL>
                      <a:noFill/>
                    </a:lnL>
                    <a:lnR>
                      <a:noFill/>
                    </a:lnR>
                    <a:lnT>
                      <a:noFill/>
                    </a:lnT>
                    <a:lnB>
                      <a:noFill/>
                    </a:lnB>
                    <a:noFill/>
                  </a:tcPr>
                </a:tc>
                <a:tc>
                  <a:txBody>
                    <a:bodyPr/>
                    <a:lstStyle/>
                    <a:p>
                      <a:pPr algn="r" fontAlgn="b"/>
                      <a:r>
                        <a:rPr lang="en-US" sz="2200" b="0" i="0" u="none" strike="noStrike">
                          <a:solidFill>
                            <a:srgbClr val="000000"/>
                          </a:solidFill>
                          <a:effectLst/>
                          <a:highlight>
                            <a:srgbClr val="FFFFFF"/>
                          </a:highlight>
                          <a:latin typeface="Calibri" panose="020F0502020204030204" pitchFamily="34" charset="0"/>
                        </a:rPr>
                        <a:t>212%</a:t>
                      </a:r>
                    </a:p>
                  </a:txBody>
                  <a:tcPr marL="19105" marR="19105" marT="19105" marB="0" anchor="b">
                    <a:lnL>
                      <a:noFill/>
                    </a:lnL>
                    <a:lnR>
                      <a:noFill/>
                    </a:lnR>
                    <a:lnT>
                      <a:noFill/>
                    </a:lnT>
                    <a:lnB>
                      <a:noFill/>
                    </a:lnB>
                    <a:solidFill>
                      <a:srgbClr val="FFFFFF"/>
                    </a:solidFill>
                  </a:tcPr>
                </a:tc>
                <a:tc>
                  <a:txBody>
                    <a:bodyPr/>
                    <a:lstStyle/>
                    <a:p>
                      <a:pPr algn="l" fontAlgn="b"/>
                      <a:r>
                        <a:rPr lang="en-US" sz="2200" b="0" i="0" u="none" strike="noStrike" dirty="0">
                          <a:solidFill>
                            <a:srgbClr val="000000"/>
                          </a:solidFill>
                          <a:effectLst/>
                          <a:latin typeface="Calibri" panose="020F0502020204030204" pitchFamily="34" charset="0"/>
                        </a:rPr>
                        <a:t>         </a:t>
                      </a:r>
                    </a:p>
                  </a:txBody>
                  <a:tcPr marL="19105" marR="19105" marT="19105" marB="0" anchor="b">
                    <a:lnL>
                      <a:noFill/>
                    </a:lnL>
                    <a:lnR>
                      <a:noFill/>
                    </a:lnR>
                    <a:lnT>
                      <a:noFill/>
                    </a:lnT>
                    <a:lnB>
                      <a:noFill/>
                    </a:lnB>
                    <a:noFill/>
                  </a:tcPr>
                </a:tc>
                <a:extLst>
                  <a:ext uri="{0D108BD9-81ED-4DB2-BD59-A6C34878D82A}">
                    <a16:rowId xmlns:a16="http://schemas.microsoft.com/office/drawing/2014/main" val="2759948968"/>
                  </a:ext>
                </a:extLst>
              </a:tr>
              <a:tr h="428716">
                <a:tc>
                  <a:txBody>
                    <a:bodyPr/>
                    <a:lstStyle/>
                    <a:p>
                      <a:pPr algn="l" fontAlgn="b"/>
                      <a:r>
                        <a:rPr lang="en-US" sz="2200" b="0" i="0" u="none" strike="noStrike" dirty="0">
                          <a:solidFill>
                            <a:srgbClr val="000000"/>
                          </a:solidFill>
                          <a:effectLst/>
                          <a:latin typeface="Calibri" panose="020F0502020204030204" pitchFamily="34" charset="0"/>
                        </a:rPr>
                        <a:t>St Luke’s Hospital - Monroe County</a:t>
                      </a:r>
                    </a:p>
                  </a:txBody>
                  <a:tcPr marL="19105" marR="19105" marT="19105" marB="0" anchor="b">
                    <a:lnL>
                      <a:noFill/>
                    </a:lnL>
                    <a:lnR>
                      <a:noFill/>
                    </a:lnR>
                    <a:lnT>
                      <a:noFill/>
                    </a:lnT>
                    <a:lnB>
                      <a:noFill/>
                    </a:lnB>
                    <a:noFill/>
                  </a:tcPr>
                </a:tc>
                <a:tc>
                  <a:txBody>
                    <a:bodyPr/>
                    <a:lstStyle/>
                    <a:p>
                      <a:pPr algn="r" fontAlgn="b"/>
                      <a:r>
                        <a:rPr lang="en-US" sz="2200" b="0" i="0" u="none" strike="noStrike" dirty="0">
                          <a:solidFill>
                            <a:srgbClr val="000000"/>
                          </a:solidFill>
                          <a:effectLst/>
                          <a:latin typeface="Calibri" panose="020F0502020204030204" pitchFamily="34" charset="0"/>
                        </a:rPr>
                        <a:t>251%</a:t>
                      </a:r>
                    </a:p>
                  </a:txBody>
                  <a:tcPr marL="19105" marR="19105" marT="19105" marB="0" anchor="b">
                    <a:lnL>
                      <a:noFill/>
                    </a:lnL>
                    <a:lnR>
                      <a:noFill/>
                    </a:lnR>
                    <a:lnT>
                      <a:noFill/>
                    </a:lnT>
                    <a:lnB>
                      <a:noFill/>
                    </a:lnB>
                    <a:solidFill>
                      <a:srgbClr val="FCD8B9"/>
                    </a:solidFill>
                  </a:tcPr>
                </a:tc>
                <a:tc>
                  <a:txBody>
                    <a:bodyPr/>
                    <a:lstStyle/>
                    <a:p>
                      <a:pPr algn="r" fontAlgn="b"/>
                      <a:r>
                        <a:rPr lang="en-US" sz="2200" b="0" i="0" u="none" strike="noStrike" dirty="0">
                          <a:solidFill>
                            <a:srgbClr val="000000"/>
                          </a:solidFill>
                          <a:effectLst/>
                          <a:latin typeface="Calibri" panose="020F0502020204030204" pitchFamily="34" charset="0"/>
                        </a:rPr>
                        <a:t>219%</a:t>
                      </a:r>
                    </a:p>
                  </a:txBody>
                  <a:tcPr marL="19105" marR="19105" marT="19105" marB="0" anchor="b">
                    <a:lnL>
                      <a:noFill/>
                    </a:lnL>
                    <a:lnR>
                      <a:noFill/>
                    </a:lnR>
                    <a:lnT>
                      <a:noFill/>
                    </a:lnT>
                    <a:lnB>
                      <a:noFill/>
                    </a:lnB>
                    <a:solidFill>
                      <a:srgbClr val="FCD8B9"/>
                    </a:solidFill>
                  </a:tcPr>
                </a:tc>
                <a:extLst>
                  <a:ext uri="{0D108BD9-81ED-4DB2-BD59-A6C34878D82A}">
                    <a16:rowId xmlns:a16="http://schemas.microsoft.com/office/drawing/2014/main" val="4245907629"/>
                  </a:ext>
                </a:extLst>
              </a:tr>
              <a:tr h="428716">
                <a:tc>
                  <a:txBody>
                    <a:bodyPr/>
                    <a:lstStyle/>
                    <a:p>
                      <a:pPr algn="l" fontAlgn="b"/>
                      <a:r>
                        <a:rPr lang="en-US" sz="2200" b="0" i="0" u="none" strike="noStrike">
                          <a:solidFill>
                            <a:srgbClr val="000000"/>
                          </a:solidFill>
                          <a:effectLst/>
                          <a:latin typeface="Calibri" panose="020F0502020204030204" pitchFamily="34" charset="0"/>
                        </a:rPr>
                        <a:t>Lehigh Valley Hospital Cedar Crest</a:t>
                      </a:r>
                    </a:p>
                  </a:txBody>
                  <a:tcPr marL="19105" marR="19105" marT="19105" marB="0" anchor="b">
                    <a:lnL>
                      <a:noFill/>
                    </a:lnL>
                    <a:lnR>
                      <a:noFill/>
                    </a:lnR>
                    <a:lnT>
                      <a:noFill/>
                    </a:lnT>
                    <a:lnB>
                      <a:noFill/>
                    </a:lnB>
                    <a:noFill/>
                  </a:tcPr>
                </a:tc>
                <a:tc>
                  <a:txBody>
                    <a:bodyPr/>
                    <a:lstStyle/>
                    <a:p>
                      <a:pPr algn="r" fontAlgn="b"/>
                      <a:r>
                        <a:rPr lang="en-US" sz="2200" b="0" i="0" u="none" strike="noStrike" dirty="0">
                          <a:solidFill>
                            <a:srgbClr val="000000"/>
                          </a:solidFill>
                          <a:effectLst/>
                          <a:highlight>
                            <a:srgbClr val="F79646"/>
                          </a:highlight>
                          <a:latin typeface="Calibri" panose="020F0502020204030204" pitchFamily="34" charset="0"/>
                        </a:rPr>
                        <a:t>315%</a:t>
                      </a:r>
                    </a:p>
                  </a:txBody>
                  <a:tcPr marL="19105" marR="19105" marT="19105" marB="0" anchor="b">
                    <a:lnL>
                      <a:noFill/>
                    </a:lnL>
                    <a:lnR>
                      <a:noFill/>
                    </a:lnR>
                    <a:lnT>
                      <a:noFill/>
                    </a:lnT>
                    <a:lnB>
                      <a:noFill/>
                    </a:lnB>
                    <a:solidFill>
                      <a:srgbClr val="F79646"/>
                    </a:solidFill>
                  </a:tcPr>
                </a:tc>
                <a:tc>
                  <a:txBody>
                    <a:bodyPr/>
                    <a:lstStyle/>
                    <a:p>
                      <a:pPr algn="r" fontAlgn="b"/>
                      <a:r>
                        <a:rPr lang="en-US" sz="2200" b="0" i="0" u="none" strike="noStrike" dirty="0">
                          <a:solidFill>
                            <a:srgbClr val="000000"/>
                          </a:solidFill>
                          <a:effectLst/>
                          <a:highlight>
                            <a:srgbClr val="FDDABD"/>
                          </a:highlight>
                          <a:latin typeface="Calibri" panose="020F0502020204030204" pitchFamily="34" charset="0"/>
                        </a:rPr>
                        <a:t>249%</a:t>
                      </a:r>
                    </a:p>
                  </a:txBody>
                  <a:tcPr marL="19105" marR="19105" marT="19105" marB="0" anchor="b">
                    <a:lnL>
                      <a:noFill/>
                    </a:lnL>
                    <a:lnR>
                      <a:noFill/>
                    </a:lnR>
                    <a:lnT>
                      <a:noFill/>
                    </a:lnT>
                    <a:lnB>
                      <a:noFill/>
                    </a:lnB>
                    <a:solidFill>
                      <a:srgbClr val="FDDABD"/>
                    </a:solidFill>
                  </a:tcPr>
                </a:tc>
                <a:extLst>
                  <a:ext uri="{0D108BD9-81ED-4DB2-BD59-A6C34878D82A}">
                    <a16:rowId xmlns:a16="http://schemas.microsoft.com/office/drawing/2014/main" val="2437637617"/>
                  </a:ext>
                </a:extLst>
              </a:tr>
            </a:tbl>
          </a:graphicData>
        </a:graphic>
      </p:graphicFrame>
      <p:sp>
        <p:nvSpPr>
          <p:cNvPr id="3" name="TextBox 2">
            <a:extLst>
              <a:ext uri="{FF2B5EF4-FFF2-40B4-BE49-F238E27FC236}">
                <a16:creationId xmlns:a16="http://schemas.microsoft.com/office/drawing/2014/main" id="{76CBA33A-A09D-F008-EFF9-25B34FFB78DA}"/>
              </a:ext>
            </a:extLst>
          </p:cNvPr>
          <p:cNvSpPr txBox="1"/>
          <p:nvPr/>
        </p:nvSpPr>
        <p:spPr>
          <a:xfrm>
            <a:off x="2813414" y="5982133"/>
            <a:ext cx="8788525"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5B5B5B"/>
                </a:solidFill>
                <a:effectLst/>
                <a:uLnTx/>
                <a:uFillTx/>
                <a:latin typeface="Aileron Light"/>
                <a:ea typeface="+mn-ea"/>
                <a:cs typeface="+mn-cs"/>
              </a:rPr>
              <a:t>Source: RAND round 5 hospital cost data: https://www.rand.org/pubs/research_reports/RRA1144-2.html</a:t>
            </a:r>
          </a:p>
        </p:txBody>
      </p:sp>
      <p:sp>
        <p:nvSpPr>
          <p:cNvPr id="5" name="Rectangle 4">
            <a:extLst>
              <a:ext uri="{FF2B5EF4-FFF2-40B4-BE49-F238E27FC236}">
                <a16:creationId xmlns:a16="http://schemas.microsoft.com/office/drawing/2014/main" id="{071177CF-501D-49B4-18C3-24177CC6F96F}"/>
              </a:ext>
            </a:extLst>
          </p:cNvPr>
          <p:cNvSpPr/>
          <p:nvPr/>
        </p:nvSpPr>
        <p:spPr>
          <a:xfrm>
            <a:off x="0" y="0"/>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1">
            <a:extLst>
              <a:ext uri="{FF2B5EF4-FFF2-40B4-BE49-F238E27FC236}">
                <a16:creationId xmlns:a16="http://schemas.microsoft.com/office/drawing/2014/main" id="{DFF233D9-7F19-9283-14DF-A46881A805AF}"/>
              </a:ext>
            </a:extLst>
          </p:cNvPr>
          <p:cNvSpPr>
            <a:spLocks noGrp="1"/>
          </p:cNvSpPr>
          <p:nvPr>
            <p:ph type="title"/>
          </p:nvPr>
        </p:nvSpPr>
        <p:spPr>
          <a:xfrm>
            <a:off x="1118682" y="136525"/>
            <a:ext cx="10652404" cy="1091529"/>
          </a:xfrm>
        </p:spPr>
        <p:txBody>
          <a:bodyPr>
            <a:noAutofit/>
          </a:bodyPr>
          <a:lstStyle/>
          <a:p>
            <a:pPr>
              <a:lnSpc>
                <a:spcPct val="100000"/>
              </a:lnSpc>
              <a:spcBef>
                <a:spcPts val="1800"/>
              </a:spcBef>
              <a:spcAft>
                <a:spcPts val="600"/>
              </a:spcAft>
            </a:pPr>
            <a:r>
              <a:rPr lang="en-US" sz="2800" dirty="0">
                <a:solidFill>
                  <a:srgbClr val="000B2E"/>
                </a:solidFill>
                <a:latin typeface="Arial" panose="020B0604020202020204" pitchFamily="34" charset="0"/>
                <a:cs typeface="Arial" panose="020B0604020202020204" pitchFamily="34" charset="0"/>
              </a:rPr>
              <a:t>SLUHS Advantage:</a:t>
            </a:r>
            <a:br>
              <a:rPr lang="en-US" sz="4000" b="1" dirty="0">
                <a:solidFill>
                  <a:srgbClr val="000B2E"/>
                </a:solidFill>
                <a:latin typeface="Arial" panose="020B0604020202020204" pitchFamily="34" charset="0"/>
                <a:cs typeface="Arial" panose="020B0604020202020204" pitchFamily="34" charset="0"/>
              </a:rPr>
            </a:br>
            <a:r>
              <a:rPr lang="en-US" sz="4000" b="1" dirty="0">
                <a:solidFill>
                  <a:srgbClr val="000B2E"/>
                </a:solidFill>
                <a:latin typeface="Arial" panose="020B0604020202020204" pitchFamily="34" charset="0"/>
                <a:cs typeface="Arial" panose="020B0604020202020204" pitchFamily="34" charset="0"/>
              </a:rPr>
              <a:t>Care at </a:t>
            </a:r>
            <a:r>
              <a:rPr lang="en-US" sz="4000" b="1" dirty="0">
                <a:solidFill>
                  <a:srgbClr val="59CAE8"/>
                </a:solidFill>
                <a:latin typeface="Arial" panose="020B0604020202020204" pitchFamily="34" charset="0"/>
                <a:cs typeface="Arial" panose="020B0604020202020204" pitchFamily="34" charset="0"/>
              </a:rPr>
              <a:t>Value Pricing</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561843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C179CC05-C580-445B-A6CE-880F87F13ADE}"/>
              </a:ext>
            </a:extLst>
          </p:cNvPr>
          <p:cNvSpPr/>
          <p:nvPr/>
        </p:nvSpPr>
        <p:spPr>
          <a:xfrm>
            <a:off x="1" y="-18338"/>
            <a:ext cx="1333500" cy="6888683"/>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5D0A2589-D5AE-4FA5-AFEE-380FBDE57678}"/>
              </a:ext>
            </a:extLst>
          </p:cNvPr>
          <p:cNvSpPr/>
          <p:nvPr/>
        </p:nvSpPr>
        <p:spPr>
          <a:xfrm>
            <a:off x="8305799" y="0"/>
            <a:ext cx="3886201" cy="687034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Footer Placeholder 2">
            <a:extLst>
              <a:ext uri="{FF2B5EF4-FFF2-40B4-BE49-F238E27FC236}">
                <a16:creationId xmlns:a16="http://schemas.microsoft.com/office/drawing/2014/main" id="{3B8F1952-97F2-4B3F-B2E1-5810787BF1F5}"/>
              </a:ext>
            </a:extLst>
          </p:cNvPr>
          <p:cNvSpPr>
            <a:spLocks noGrp="1"/>
          </p:cNvSpPr>
          <p:nvPr>
            <p:ph type="ftr" sz="quarter" idx="11"/>
          </p:nvPr>
        </p:nvSpPr>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BE944F38-D276-436B-8BA7-1690795B2612}"/>
              </a:ext>
            </a:extLst>
          </p:cNvPr>
          <p:cNvSpPr>
            <a:spLocks noGrp="1"/>
          </p:cNvSpPr>
          <p:nvPr>
            <p:ph type="sldNum" sz="quarter" idx="12"/>
          </p:nvPr>
        </p:nvSpPr>
        <p:spPr/>
        <p:txBody>
          <a:bodyPr/>
          <a:lstStyle/>
          <a:p>
            <a:fld id="{3AFC719D-C4A7-4544-876E-D411D11AF6C9}" type="slidenum">
              <a:rPr lang="en-US" smtClean="0"/>
              <a:t>15</a:t>
            </a:fld>
            <a:endParaRPr lang="en-US" dirty="0"/>
          </a:p>
        </p:txBody>
      </p:sp>
      <p:sp>
        <p:nvSpPr>
          <p:cNvPr id="5" name="Rectangle 4">
            <a:extLst>
              <a:ext uri="{FF2B5EF4-FFF2-40B4-BE49-F238E27FC236}">
                <a16:creationId xmlns:a16="http://schemas.microsoft.com/office/drawing/2014/main" id="{3E6586F0-A9B4-4F4A-B94E-351404883741}"/>
              </a:ext>
            </a:extLst>
          </p:cNvPr>
          <p:cNvSpPr/>
          <p:nvPr/>
        </p:nvSpPr>
        <p:spPr>
          <a:xfrm>
            <a:off x="1981201" y="548292"/>
            <a:ext cx="5686424" cy="5478423"/>
          </a:xfrm>
          <a:prstGeom prst="rect">
            <a:avLst/>
          </a:prstGeom>
        </p:spPr>
        <p:txBody>
          <a:bodyPr wrap="square">
            <a:spAutoFit/>
          </a:bodyPr>
          <a:lstStyle/>
          <a:p>
            <a:pPr>
              <a:spcAft>
                <a:spcPts val="1200"/>
              </a:spcAft>
            </a:pPr>
            <a:r>
              <a:rPr lang="en-US" b="1" cap="all" dirty="0">
                <a:solidFill>
                  <a:srgbClr val="000B2E"/>
                </a:solidFill>
              </a:rPr>
              <a:t>SLUHN’s Network</a:t>
            </a:r>
          </a:p>
          <a:p>
            <a:pPr marL="544202" lvl="1" indent="-342905">
              <a:spcAft>
                <a:spcPts val="1200"/>
              </a:spcAft>
              <a:buFont typeface="Arial" panose="020B0604020202020204" pitchFamily="34" charset="0"/>
              <a:buChar char="•"/>
            </a:pPr>
            <a:r>
              <a:rPr lang="en-US" dirty="0">
                <a:solidFill>
                  <a:schemeClr val="tx1">
                    <a:lumMod val="75000"/>
                    <a:lumOff val="25000"/>
                  </a:schemeClr>
                </a:solidFill>
              </a:rPr>
              <a:t>The medical providers in your direct control or part of SLUHN’s integrated delivery system </a:t>
            </a:r>
          </a:p>
          <a:p>
            <a:pPr marL="544202" lvl="1" indent="-342905">
              <a:spcAft>
                <a:spcPts val="1200"/>
              </a:spcAft>
              <a:buFont typeface="Arial" panose="020B0604020202020204" pitchFamily="34" charset="0"/>
              <a:buChar char="•"/>
            </a:pPr>
            <a:r>
              <a:rPr lang="en-US" dirty="0">
                <a:solidFill>
                  <a:schemeClr val="tx1">
                    <a:lumMod val="75000"/>
                    <a:lumOff val="25000"/>
                  </a:schemeClr>
                </a:solidFill>
              </a:rPr>
              <a:t>Potential risk sharing arrangements (e.g. employer stop-loss participation)</a:t>
            </a:r>
          </a:p>
          <a:p>
            <a:pPr>
              <a:spcAft>
                <a:spcPts val="1200"/>
              </a:spcAft>
            </a:pPr>
            <a:r>
              <a:rPr lang="en-US" b="1" cap="all" dirty="0">
                <a:solidFill>
                  <a:srgbClr val="000B2E"/>
                </a:solidFill>
              </a:rPr>
              <a:t>Friends &amp; Family Providers – TIER 1</a:t>
            </a:r>
          </a:p>
          <a:p>
            <a:pPr marL="544202" lvl="1" indent="-342905">
              <a:spcAft>
                <a:spcPts val="1200"/>
              </a:spcAft>
              <a:buFont typeface="Arial" panose="020B0604020202020204" pitchFamily="34" charset="0"/>
              <a:buChar char="•"/>
            </a:pPr>
            <a:r>
              <a:rPr lang="en-US" dirty="0">
                <a:solidFill>
                  <a:schemeClr val="tx1">
                    <a:lumMod val="75000"/>
                    <a:lumOff val="25000"/>
                  </a:schemeClr>
                </a:solidFill>
              </a:rPr>
              <a:t>Access through direct contracts at the discretion of SLUHN</a:t>
            </a:r>
          </a:p>
          <a:p>
            <a:pPr>
              <a:spcAft>
                <a:spcPts val="1200"/>
              </a:spcAft>
            </a:pPr>
            <a:r>
              <a:rPr lang="en-US" b="1" dirty="0">
                <a:solidFill>
                  <a:srgbClr val="000B2E"/>
                </a:solidFill>
              </a:rPr>
              <a:t>WRAP NETWORK </a:t>
            </a:r>
          </a:p>
          <a:p>
            <a:pPr marL="544202" lvl="1" indent="-342905">
              <a:spcAft>
                <a:spcPts val="1200"/>
              </a:spcAft>
              <a:buFont typeface="Arial" panose="020B0604020202020204" pitchFamily="34" charset="0"/>
              <a:buChar char="•"/>
            </a:pPr>
            <a:r>
              <a:rPr lang="en-US" dirty="0">
                <a:solidFill>
                  <a:schemeClr val="tx1">
                    <a:lumMod val="75000"/>
                    <a:lumOff val="25000"/>
                  </a:schemeClr>
                </a:solidFill>
              </a:rPr>
              <a:t>Medical services from national PPO networks for members that travel, tertiary and specialty services you do not provide, and employees residing outside your direct catchment area </a:t>
            </a:r>
          </a:p>
          <a:p>
            <a:pPr marL="0" lvl="1">
              <a:spcAft>
                <a:spcPts val="1200"/>
              </a:spcAft>
            </a:pPr>
            <a:r>
              <a:rPr lang="en-US" b="1" dirty="0">
                <a:solidFill>
                  <a:srgbClr val="000B2E"/>
                </a:solidFill>
              </a:rPr>
              <a:t>OUT-OF-NETWORK</a:t>
            </a:r>
          </a:p>
          <a:p>
            <a:pPr marL="544202" lvl="1" indent="-342905">
              <a:spcAft>
                <a:spcPts val="1200"/>
              </a:spcAft>
              <a:buFont typeface="Arial" panose="020B0604020202020204" pitchFamily="34" charset="0"/>
              <a:buChar char="•"/>
            </a:pPr>
            <a:r>
              <a:rPr lang="en-US" dirty="0">
                <a:solidFill>
                  <a:schemeClr val="tx1">
                    <a:lumMod val="75000"/>
                    <a:lumOff val="25000"/>
                  </a:schemeClr>
                </a:solidFill>
              </a:rPr>
              <a:t>Non-contracted medical providers</a:t>
            </a:r>
          </a:p>
        </p:txBody>
      </p:sp>
      <p:sp>
        <p:nvSpPr>
          <p:cNvPr id="15" name="Title 1">
            <a:extLst>
              <a:ext uri="{FF2B5EF4-FFF2-40B4-BE49-F238E27FC236}">
                <a16:creationId xmlns:a16="http://schemas.microsoft.com/office/drawing/2014/main" id="{A044C7C1-57D3-4F0B-A71A-0CA303FF3DB8}"/>
              </a:ext>
            </a:extLst>
          </p:cNvPr>
          <p:cNvSpPr>
            <a:spLocks noGrp="1"/>
          </p:cNvSpPr>
          <p:nvPr>
            <p:ph type="title"/>
          </p:nvPr>
        </p:nvSpPr>
        <p:spPr>
          <a:xfrm>
            <a:off x="347449" y="156755"/>
            <a:ext cx="638604" cy="6701246"/>
          </a:xfrm>
          <a:noFill/>
        </p:spPr>
        <p:txBody>
          <a:bodyPr vert="wordArtVert">
            <a:noAutofit/>
          </a:bodyPr>
          <a:lstStyle/>
          <a:p>
            <a:r>
              <a:rPr lang="en-US" sz="2800" cap="all" spc="-150" dirty="0">
                <a:solidFill>
                  <a:schemeClr val="bg1"/>
                </a:solidFill>
              </a:rPr>
              <a:t>SLUHN N</a:t>
            </a:r>
            <a:r>
              <a:rPr lang="en-US" sz="2800" spc="-150" dirty="0">
                <a:solidFill>
                  <a:schemeClr val="bg1"/>
                </a:solidFill>
              </a:rPr>
              <a:t>ETWORK</a:t>
            </a:r>
            <a:r>
              <a:rPr lang="en-US" sz="2800" cap="all" spc="-150" dirty="0">
                <a:solidFill>
                  <a:schemeClr val="bg1"/>
                </a:solidFill>
              </a:rPr>
              <a:t> </a:t>
            </a:r>
          </a:p>
        </p:txBody>
      </p:sp>
      <p:graphicFrame>
        <p:nvGraphicFramePr>
          <p:cNvPr id="9" name="Diagram 8">
            <a:extLst>
              <a:ext uri="{FF2B5EF4-FFF2-40B4-BE49-F238E27FC236}">
                <a16:creationId xmlns:a16="http://schemas.microsoft.com/office/drawing/2014/main" id="{FAD0E162-C21A-49A7-B8F7-5357E17BEF5D}"/>
              </a:ext>
            </a:extLst>
          </p:cNvPr>
          <p:cNvGraphicFramePr/>
          <p:nvPr>
            <p:extLst>
              <p:ext uri="{D42A27DB-BD31-4B8C-83A1-F6EECF244321}">
                <p14:modId xmlns:p14="http://schemas.microsoft.com/office/powerpoint/2010/main" val="3661889314"/>
              </p:ext>
            </p:extLst>
          </p:nvPr>
        </p:nvGraphicFramePr>
        <p:xfrm>
          <a:off x="8377646" y="330927"/>
          <a:ext cx="3718560" cy="58521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2" name="Picture 4" descr="St. Luke's University Health Network's 150th Anniversary">
            <a:extLst>
              <a:ext uri="{FF2B5EF4-FFF2-40B4-BE49-F238E27FC236}">
                <a16:creationId xmlns:a16="http://schemas.microsoft.com/office/drawing/2014/main" id="{A601C53D-270A-F96F-E93A-2884C7DD245B}"/>
              </a:ext>
            </a:extLst>
          </p:cNvPr>
          <p:cNvPicPr>
            <a:picLocks noChangeAspect="1" noChangeArrowheads="1"/>
          </p:cNvPicPr>
          <p:nvPr/>
        </p:nvPicPr>
        <p:blipFill>
          <a:blip r:embed="rId7"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9721850" y="4104340"/>
            <a:ext cx="1123950" cy="5904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006213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664F8C9-9C7F-4948-A85D-2E89D3FE40B6}"/>
              </a:ext>
            </a:extLst>
          </p:cNvPr>
          <p:cNvSpPr>
            <a:spLocks noGrp="1"/>
          </p:cNvSpPr>
          <p:nvPr>
            <p:ph type="ftr" sz="quarter" idx="11"/>
          </p:nvPr>
        </p:nvSpPr>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29335D2A-704B-40DA-B40A-6813A0904A8C}"/>
              </a:ext>
            </a:extLst>
          </p:cNvPr>
          <p:cNvSpPr>
            <a:spLocks noGrp="1"/>
          </p:cNvSpPr>
          <p:nvPr>
            <p:ph type="sldNum" sz="quarter" idx="12"/>
          </p:nvPr>
        </p:nvSpPr>
        <p:spPr/>
        <p:txBody>
          <a:bodyPr/>
          <a:lstStyle/>
          <a:p>
            <a:fld id="{3AFC719D-C4A7-4544-876E-D411D11AF6C9}" type="slidenum">
              <a:rPr lang="en-US" smtClean="0"/>
              <a:t>16</a:t>
            </a:fld>
            <a:endParaRPr lang="en-US" dirty="0"/>
          </a:p>
        </p:txBody>
      </p:sp>
      <p:pic>
        <p:nvPicPr>
          <p:cNvPr id="6" name="Picture 5">
            <a:extLst>
              <a:ext uri="{FF2B5EF4-FFF2-40B4-BE49-F238E27FC236}">
                <a16:creationId xmlns:a16="http://schemas.microsoft.com/office/drawing/2014/main" id="{10F9F71E-E6B1-42DA-8A5C-BA766FB41692}"/>
              </a:ext>
            </a:extLst>
          </p:cNvPr>
          <p:cNvPicPr/>
          <p:nvPr/>
        </p:nvPicPr>
        <p:blipFill>
          <a:blip r:embed="rId2"/>
          <a:stretch>
            <a:fillRect/>
          </a:stretch>
        </p:blipFill>
        <p:spPr>
          <a:xfrm>
            <a:off x="944808" y="1094934"/>
            <a:ext cx="10828091" cy="3515166"/>
          </a:xfrm>
          <a:prstGeom prst="rect">
            <a:avLst/>
          </a:prstGeom>
        </p:spPr>
      </p:pic>
      <p:sp>
        <p:nvSpPr>
          <p:cNvPr id="7" name="Right Brace 6">
            <a:extLst>
              <a:ext uri="{FF2B5EF4-FFF2-40B4-BE49-F238E27FC236}">
                <a16:creationId xmlns:a16="http://schemas.microsoft.com/office/drawing/2014/main" id="{3FB139EF-7F84-45B5-97A9-2678E891CE13}"/>
              </a:ext>
            </a:extLst>
          </p:cNvPr>
          <p:cNvSpPr/>
          <p:nvPr/>
        </p:nvSpPr>
        <p:spPr>
          <a:xfrm rot="5400000">
            <a:off x="3193839" y="2494417"/>
            <a:ext cx="555585" cy="4924885"/>
          </a:xfrm>
          <a:prstGeom prst="rightBrace">
            <a:avLst/>
          </a:prstGeom>
          <a:ln>
            <a:solidFill>
              <a:srgbClr val="254F96"/>
            </a:solidFill>
          </a:ln>
        </p:spPr>
        <p:style>
          <a:lnRef idx="3">
            <a:schemeClr val="accent1"/>
          </a:lnRef>
          <a:fillRef idx="0">
            <a:schemeClr val="accent1"/>
          </a:fillRef>
          <a:effectRef idx="2">
            <a:schemeClr val="accent1"/>
          </a:effectRef>
          <a:fontRef idx="minor">
            <a:schemeClr val="tx1"/>
          </a:fontRef>
        </p:style>
        <p:txBody>
          <a:bodyPr rtlCol="0" anchor="ctr"/>
          <a:lstStyle/>
          <a:p>
            <a:pPr algn="ctr"/>
            <a:endParaRPr lang="en-US" dirty="0"/>
          </a:p>
        </p:txBody>
      </p:sp>
      <p:sp>
        <p:nvSpPr>
          <p:cNvPr id="9" name="TextBox 8">
            <a:extLst>
              <a:ext uri="{FF2B5EF4-FFF2-40B4-BE49-F238E27FC236}">
                <a16:creationId xmlns:a16="http://schemas.microsoft.com/office/drawing/2014/main" id="{11F3B9D2-B381-4EA2-993A-13B4DAC230E5}"/>
              </a:ext>
            </a:extLst>
          </p:cNvPr>
          <p:cNvSpPr txBox="1"/>
          <p:nvPr/>
        </p:nvSpPr>
        <p:spPr>
          <a:xfrm>
            <a:off x="2036719" y="5303619"/>
            <a:ext cx="3019883" cy="923330"/>
          </a:xfrm>
          <a:prstGeom prst="rect">
            <a:avLst/>
          </a:prstGeom>
          <a:noFill/>
        </p:spPr>
        <p:txBody>
          <a:bodyPr wrap="square" rtlCol="0">
            <a:spAutoFit/>
          </a:bodyPr>
          <a:lstStyle/>
          <a:p>
            <a:pPr algn="ctr"/>
            <a:r>
              <a:rPr lang="en-US" b="1" dirty="0"/>
              <a:t>Exclusive Provider Organization (EPO) Plan Design Structure</a:t>
            </a:r>
          </a:p>
        </p:txBody>
      </p:sp>
      <p:sp>
        <p:nvSpPr>
          <p:cNvPr id="17" name="Rectangle 16">
            <a:extLst>
              <a:ext uri="{FF2B5EF4-FFF2-40B4-BE49-F238E27FC236}">
                <a16:creationId xmlns:a16="http://schemas.microsoft.com/office/drawing/2014/main" id="{F2E566E5-041D-4247-A79E-A185C1420D0E}"/>
              </a:ext>
            </a:extLst>
          </p:cNvPr>
          <p:cNvSpPr/>
          <p:nvPr/>
        </p:nvSpPr>
        <p:spPr>
          <a:xfrm>
            <a:off x="0" y="12345"/>
            <a:ext cx="12192000" cy="1013622"/>
          </a:xfrm>
          <a:prstGeom prst="rect">
            <a:avLst/>
          </a:prstGeom>
          <a:solidFill>
            <a:srgbClr val="244F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u="sng" dirty="0"/>
              <a:t>BENEFIT PLAN DESIGNS THAT OPTIMIZE STEERAGE TO SLUHN</a:t>
            </a:r>
          </a:p>
        </p:txBody>
      </p:sp>
      <p:pic>
        <p:nvPicPr>
          <p:cNvPr id="5" name="Picture 4" descr="St. Luke's University Health Network's 150th Anniversary">
            <a:extLst>
              <a:ext uri="{FF2B5EF4-FFF2-40B4-BE49-F238E27FC236}">
                <a16:creationId xmlns:a16="http://schemas.microsoft.com/office/drawing/2014/main" id="{DF60A471-4B8E-0C1D-0527-74B37F295BF6}"/>
              </a:ext>
            </a:extLst>
          </p:cNvPr>
          <p:cNvPicPr>
            <a:picLocks noChangeAspect="1" noChangeArrowheads="1"/>
          </p:cNvPicPr>
          <p:nvPr/>
        </p:nvPicPr>
        <p:blipFill>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9378950" y="5036083"/>
            <a:ext cx="2266950" cy="11908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254361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alpha val="95000"/>
          </a:schemeClr>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1584104-3166-4FA8-92FB-C6ABEB17DCED}"/>
              </a:ext>
            </a:extLst>
          </p:cNvPr>
          <p:cNvSpPr/>
          <p:nvPr/>
        </p:nvSpPr>
        <p:spPr>
          <a:xfrm>
            <a:off x="0" y="0"/>
            <a:ext cx="978408"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Footer Placeholder 2">
            <a:extLst>
              <a:ext uri="{FF2B5EF4-FFF2-40B4-BE49-F238E27FC236}">
                <a16:creationId xmlns:a16="http://schemas.microsoft.com/office/drawing/2014/main" id="{7BDF93BA-77DA-4714-87BA-6C1545215CCF}"/>
              </a:ext>
            </a:extLst>
          </p:cNvPr>
          <p:cNvSpPr>
            <a:spLocks noGrp="1"/>
          </p:cNvSpPr>
          <p:nvPr>
            <p:ph type="ftr" sz="quarter" idx="11"/>
          </p:nvPr>
        </p:nvSpPr>
        <p:spPr>
          <a:xfrm>
            <a:off x="5902199" y="6465009"/>
            <a:ext cx="4114800" cy="365125"/>
          </a:xfrm>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E912CE32-70CB-45CC-841F-9F408BFEE51E}"/>
              </a:ext>
            </a:extLst>
          </p:cNvPr>
          <p:cNvSpPr>
            <a:spLocks noGrp="1"/>
          </p:cNvSpPr>
          <p:nvPr>
            <p:ph type="sldNum" sz="quarter" idx="12"/>
          </p:nvPr>
        </p:nvSpPr>
        <p:spPr/>
        <p:txBody>
          <a:bodyPr/>
          <a:lstStyle/>
          <a:p>
            <a:fld id="{3AFC719D-C4A7-4544-876E-D411D11AF6C9}" type="slidenum">
              <a:rPr lang="en-US" smtClean="0"/>
              <a:t>17</a:t>
            </a:fld>
            <a:endParaRPr lang="en-US" dirty="0"/>
          </a:p>
        </p:txBody>
      </p:sp>
      <p:sp>
        <p:nvSpPr>
          <p:cNvPr id="7" name="Rectangle 6">
            <a:extLst>
              <a:ext uri="{FF2B5EF4-FFF2-40B4-BE49-F238E27FC236}">
                <a16:creationId xmlns:a16="http://schemas.microsoft.com/office/drawing/2014/main" id="{16B699B2-0ED4-420C-8D6A-E40BF532CD0F}"/>
              </a:ext>
            </a:extLst>
          </p:cNvPr>
          <p:cNvSpPr/>
          <p:nvPr/>
        </p:nvSpPr>
        <p:spPr>
          <a:xfrm>
            <a:off x="0" y="-27866"/>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1">
            <a:extLst>
              <a:ext uri="{FF2B5EF4-FFF2-40B4-BE49-F238E27FC236}">
                <a16:creationId xmlns:a16="http://schemas.microsoft.com/office/drawing/2014/main" id="{11A9C655-FF92-49E3-BB7D-E5BBC008C671}"/>
              </a:ext>
            </a:extLst>
          </p:cNvPr>
          <p:cNvSpPr>
            <a:spLocks noGrp="1"/>
          </p:cNvSpPr>
          <p:nvPr>
            <p:ph type="title"/>
          </p:nvPr>
        </p:nvSpPr>
        <p:spPr>
          <a:xfrm rot="16200000">
            <a:off x="-2583404" y="3031902"/>
            <a:ext cx="6145216" cy="752041"/>
          </a:xfrm>
        </p:spPr>
        <p:txBody>
          <a:bodyPr>
            <a:noAutofit/>
          </a:bodyPr>
          <a:lstStyle/>
          <a:p>
            <a:pPr>
              <a:lnSpc>
                <a:spcPct val="100000"/>
              </a:lnSpc>
              <a:spcBef>
                <a:spcPts val="600"/>
              </a:spcBef>
            </a:pPr>
            <a:r>
              <a:rPr lang="en-US" sz="3600" b="0" dirty="0">
                <a:solidFill>
                  <a:schemeClr val="bg1"/>
                </a:solidFill>
              </a:rPr>
              <a:t>SINGLE YEAR SUMMARY</a:t>
            </a:r>
          </a:p>
        </p:txBody>
      </p:sp>
      <p:sp>
        <p:nvSpPr>
          <p:cNvPr id="9" name="TextBox 8">
            <a:extLst>
              <a:ext uri="{FF2B5EF4-FFF2-40B4-BE49-F238E27FC236}">
                <a16:creationId xmlns:a16="http://schemas.microsoft.com/office/drawing/2014/main" id="{AB8821D0-DEDE-002D-E87D-13E033D5D75F}"/>
              </a:ext>
            </a:extLst>
          </p:cNvPr>
          <p:cNvSpPr txBox="1"/>
          <p:nvPr/>
        </p:nvSpPr>
        <p:spPr>
          <a:xfrm>
            <a:off x="1091590" y="5162550"/>
            <a:ext cx="10881335" cy="1077218"/>
          </a:xfrm>
          <a:prstGeom prst="rect">
            <a:avLst/>
          </a:prstGeom>
          <a:noFill/>
        </p:spPr>
        <p:txBody>
          <a:bodyPr wrap="square" rtlCol="0">
            <a:spAutoFit/>
          </a:bodyPr>
          <a:lstStyle/>
          <a:p>
            <a:pPr marL="285750" indent="-285750">
              <a:buFont typeface="Arial" panose="020B0604020202020204" pitchFamily="34" charset="0"/>
              <a:buChar char="•"/>
            </a:pPr>
            <a:r>
              <a:rPr lang="en-US" sz="1600" dirty="0"/>
              <a:t>NOTE:  Please see detailed financial analysis and assumptions used starting on page 34.  </a:t>
            </a:r>
          </a:p>
          <a:p>
            <a:pPr marL="285750" indent="-285750">
              <a:buFont typeface="Arial" panose="020B0604020202020204" pitchFamily="34" charset="0"/>
              <a:buChar char="•"/>
            </a:pPr>
            <a:r>
              <a:rPr lang="en-US" sz="1600" dirty="0"/>
              <a:t>Financial projections do not include 340B contribution margin, which could represent $136 pmpm based upon optimizing 340B through plan design, SLUHN’s approved site(s) with network integration, and development of SLUHN’s proprietary PBM program.</a:t>
            </a:r>
            <a:r>
              <a:rPr lang="en-US" sz="1600" dirty="0">
                <a:highlight>
                  <a:srgbClr val="FFFF00"/>
                </a:highlight>
              </a:rPr>
              <a:t>   </a:t>
            </a:r>
          </a:p>
        </p:txBody>
      </p:sp>
      <p:graphicFrame>
        <p:nvGraphicFramePr>
          <p:cNvPr id="2" name="Content Placeholder 2">
            <a:extLst>
              <a:ext uri="{FF2B5EF4-FFF2-40B4-BE49-F238E27FC236}">
                <a16:creationId xmlns:a16="http://schemas.microsoft.com/office/drawing/2014/main" id="{9044144D-BDD9-407D-D37E-C03EE39A20CC}"/>
              </a:ext>
            </a:extLst>
          </p:cNvPr>
          <p:cNvGraphicFramePr>
            <a:graphicFrameLocks noGrp="1"/>
          </p:cNvGraphicFramePr>
          <p:nvPr>
            <p:extLst>
              <p:ext uri="{D42A27DB-BD31-4B8C-83A1-F6EECF244321}">
                <p14:modId xmlns:p14="http://schemas.microsoft.com/office/powerpoint/2010/main" val="653930398"/>
              </p:ext>
            </p:extLst>
          </p:nvPr>
        </p:nvGraphicFramePr>
        <p:xfrm>
          <a:off x="2005977" y="389750"/>
          <a:ext cx="9052560" cy="4765040"/>
        </p:xfrm>
        <a:graphic>
          <a:graphicData uri="http://schemas.openxmlformats.org/drawingml/2006/table">
            <a:tbl>
              <a:tblPr/>
              <a:tblGrid>
                <a:gridCol w="137160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gridCol w="1097280">
                  <a:extLst>
                    <a:ext uri="{9D8B030D-6E8A-4147-A177-3AD203B41FA5}">
                      <a16:colId xmlns:a16="http://schemas.microsoft.com/office/drawing/2014/main" val="20005"/>
                    </a:ext>
                  </a:extLst>
                </a:gridCol>
                <a:gridCol w="1097280">
                  <a:extLst>
                    <a:ext uri="{9D8B030D-6E8A-4147-A177-3AD203B41FA5}">
                      <a16:colId xmlns:a16="http://schemas.microsoft.com/office/drawing/2014/main" val="20006"/>
                    </a:ext>
                  </a:extLst>
                </a:gridCol>
                <a:gridCol w="1097280">
                  <a:extLst>
                    <a:ext uri="{9D8B030D-6E8A-4147-A177-3AD203B41FA5}">
                      <a16:colId xmlns:a16="http://schemas.microsoft.com/office/drawing/2014/main" val="20007"/>
                    </a:ext>
                  </a:extLst>
                </a:gridCol>
              </a:tblGrid>
              <a:tr h="0">
                <a:tc gridSpan="8">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0"/>
                  </a:ext>
                </a:extLst>
              </a:tr>
              <a:tr h="0">
                <a:tc gridSpan="8">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Low (conservative) estimate. All monetary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Low (conservative) estimate. All monetary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Low (conservative) estimate. All monetary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Low (conservative) estimate. All monetary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Low (conservative) estimate. All monetary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Low (conservative) estimate. All monetary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Low (conservative) estimate. All monetary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Low (conservative) estimate. All monetary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1"/>
                  </a:ext>
                </a:extLst>
              </a:tr>
              <a:tr h="0">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Members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Pre-DTE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Pre-DTE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Incr.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Incr.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Net Margin Less DTE Fees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521K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134K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1,033K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512K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214K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80K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-249K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3"/>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500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2,603K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668K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5,165K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2,562K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$ 1,068K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399K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75K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4"/>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5,207K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$ 1,337K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$ 10,331K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5,124K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$ 2,136K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799K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481K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5"/>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2,500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$ 13,017K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$ 3,342K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$ 25,827K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$ 12,811K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$ 5,339K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$ 1,997K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$ 1,697K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6"/>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10,000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$ 52,067K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$13,367K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$103,309K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$ 51,243K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$21,357K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$ 7,990K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$ 7,780K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7"/>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20,000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$104,133K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$26,734K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$206,618K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$102,485K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$42,714K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$15,980K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$15,890K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8"/>
                  </a:ext>
                </a:extLst>
              </a:tr>
              <a:tr h="0">
                <a:tc gridSpan="8">
                  <a:txBody>
                    <a:bodyPr/>
                    <a:lstStyle/>
                    <a:p>
                      <a:pPr marL="127000" marR="127000" algn="l">
                        <a:lnSpc>
                          <a:spcPct val="100000"/>
                        </a:lnSpc>
                        <a:spcBef>
                          <a:spcPts val="1000"/>
                        </a:spcBef>
                        <a:spcAft>
                          <a:spcPts val="1000"/>
                        </a:spcAft>
                        <a:buNone/>
                      </a:pPr>
                      <a:endParaRPr sz="1000" b="0" i="0" u="none" cap="none" dirty="0">
                        <a:solidFill>
                          <a:srgbClr val="000000">
                            <a:alpha val="100000"/>
                          </a:srgbClr>
                        </a:solidFill>
                        <a:latin typeface="Arial"/>
                        <a:cs typeface="Arial"/>
                        <a:sym typeface="Arial"/>
                      </a:endParaRP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7F7F7">
                        <a:alpha val="100000"/>
                      </a:srgbClr>
                    </a:solidFill>
                  </a:tcPr>
                </a:tc>
                <a:tc hMerge="1">
                  <a:txBody>
                    <a:bodyPr/>
                    <a:lstStyle/>
                    <a:p>
                      <a:pPr marL="127000" marR="127000" algn="l">
                        <a:lnSpc>
                          <a:spcPct val="100000"/>
                        </a:lnSpc>
                        <a:spcBef>
                          <a:spcPts val="1000"/>
                        </a:spcBef>
                        <a:spcAft>
                          <a:spcPts val="1000"/>
                        </a:spcAft>
                        <a:buNone/>
                      </a:pPr>
                      <a:r>
                        <a:rPr sz="1000" b="0" i="0" u="none" cap="none">
                          <a:solidFill>
                            <a:srgbClr val="000000">
                              <a:alpha val="100000"/>
                            </a:srgbClr>
                          </a:solidFill>
                          <a:latin typeface="Arial"/>
                          <a:cs typeface="Arial"/>
                          <a:sym typeface="Arial"/>
                        </a:rPr>
                        <a:t>Note: DTE = Direct-to-Employer</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7F7F7">
                        <a:alpha val="100000"/>
                      </a:srgbClr>
                    </a:solidFill>
                  </a:tcPr>
                </a:tc>
                <a:tc hMerge="1">
                  <a:txBody>
                    <a:bodyPr/>
                    <a:lstStyle/>
                    <a:p>
                      <a:pPr marL="127000" marR="127000" algn="l">
                        <a:lnSpc>
                          <a:spcPct val="100000"/>
                        </a:lnSpc>
                        <a:spcBef>
                          <a:spcPts val="1000"/>
                        </a:spcBef>
                        <a:spcAft>
                          <a:spcPts val="1000"/>
                        </a:spcAft>
                        <a:buNone/>
                      </a:pPr>
                      <a:r>
                        <a:rPr sz="1000" b="0" i="0" u="none" cap="none">
                          <a:solidFill>
                            <a:srgbClr val="000000">
                              <a:alpha val="100000"/>
                            </a:srgbClr>
                          </a:solidFill>
                          <a:latin typeface="Arial"/>
                          <a:cs typeface="Arial"/>
                          <a:sym typeface="Arial"/>
                        </a:rPr>
                        <a:t>Note: DTE = Direct-to-Employer</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7F7F7">
                        <a:alpha val="100000"/>
                      </a:srgbClr>
                    </a:solidFill>
                  </a:tcPr>
                </a:tc>
                <a:tc hMerge="1">
                  <a:txBody>
                    <a:bodyPr/>
                    <a:lstStyle/>
                    <a:p>
                      <a:pPr marL="127000" marR="127000" algn="l">
                        <a:lnSpc>
                          <a:spcPct val="100000"/>
                        </a:lnSpc>
                        <a:spcBef>
                          <a:spcPts val="1000"/>
                        </a:spcBef>
                        <a:spcAft>
                          <a:spcPts val="1000"/>
                        </a:spcAft>
                        <a:buNone/>
                      </a:pPr>
                      <a:r>
                        <a:rPr sz="1000" b="0" i="0" u="none" cap="none">
                          <a:solidFill>
                            <a:srgbClr val="000000">
                              <a:alpha val="100000"/>
                            </a:srgbClr>
                          </a:solidFill>
                          <a:latin typeface="Arial"/>
                          <a:cs typeface="Arial"/>
                          <a:sym typeface="Arial"/>
                        </a:rPr>
                        <a:t>Note: DTE = Direct-to-Employer</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7F7F7">
                        <a:alpha val="100000"/>
                      </a:srgbClr>
                    </a:solidFill>
                  </a:tcPr>
                </a:tc>
                <a:tc hMerge="1">
                  <a:txBody>
                    <a:bodyPr/>
                    <a:lstStyle/>
                    <a:p>
                      <a:pPr marL="127000" marR="127000" algn="l">
                        <a:lnSpc>
                          <a:spcPct val="100000"/>
                        </a:lnSpc>
                        <a:spcBef>
                          <a:spcPts val="1000"/>
                        </a:spcBef>
                        <a:spcAft>
                          <a:spcPts val="1000"/>
                        </a:spcAft>
                        <a:buNone/>
                      </a:pPr>
                      <a:r>
                        <a:rPr sz="1000" b="0" i="0" u="none" cap="none">
                          <a:solidFill>
                            <a:srgbClr val="000000">
                              <a:alpha val="100000"/>
                            </a:srgbClr>
                          </a:solidFill>
                          <a:latin typeface="Arial"/>
                          <a:cs typeface="Arial"/>
                          <a:sym typeface="Arial"/>
                        </a:rPr>
                        <a:t>Note: DTE = Direct-to-Employer</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7F7F7">
                        <a:alpha val="100000"/>
                      </a:srgbClr>
                    </a:solidFill>
                  </a:tcPr>
                </a:tc>
                <a:tc hMerge="1">
                  <a:txBody>
                    <a:bodyPr/>
                    <a:lstStyle/>
                    <a:p>
                      <a:pPr marL="127000" marR="127000" algn="l">
                        <a:lnSpc>
                          <a:spcPct val="100000"/>
                        </a:lnSpc>
                        <a:spcBef>
                          <a:spcPts val="1000"/>
                        </a:spcBef>
                        <a:spcAft>
                          <a:spcPts val="1000"/>
                        </a:spcAft>
                        <a:buNone/>
                      </a:pPr>
                      <a:r>
                        <a:rPr sz="1000" b="0" i="0" u="none" cap="none">
                          <a:solidFill>
                            <a:srgbClr val="000000">
                              <a:alpha val="100000"/>
                            </a:srgbClr>
                          </a:solidFill>
                          <a:latin typeface="Arial"/>
                          <a:cs typeface="Arial"/>
                          <a:sym typeface="Arial"/>
                        </a:rPr>
                        <a:t>Note: DTE = Direct-to-Employer</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7F7F7">
                        <a:alpha val="100000"/>
                      </a:srgbClr>
                    </a:solidFill>
                  </a:tcPr>
                </a:tc>
                <a:tc hMerge="1">
                  <a:txBody>
                    <a:bodyPr/>
                    <a:lstStyle/>
                    <a:p>
                      <a:pPr marL="127000" marR="127000" algn="l">
                        <a:lnSpc>
                          <a:spcPct val="100000"/>
                        </a:lnSpc>
                        <a:spcBef>
                          <a:spcPts val="1000"/>
                        </a:spcBef>
                        <a:spcAft>
                          <a:spcPts val="1000"/>
                        </a:spcAft>
                        <a:buNone/>
                      </a:pPr>
                      <a:r>
                        <a:rPr sz="1000" b="0" i="0" u="none" cap="none">
                          <a:solidFill>
                            <a:srgbClr val="000000">
                              <a:alpha val="100000"/>
                            </a:srgbClr>
                          </a:solidFill>
                          <a:latin typeface="Arial"/>
                          <a:cs typeface="Arial"/>
                          <a:sym typeface="Arial"/>
                        </a:rPr>
                        <a:t>Note: DTE = Direct-to-Employer</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7F7F7">
                        <a:alpha val="100000"/>
                      </a:srgbClr>
                    </a:solidFill>
                  </a:tcPr>
                </a:tc>
                <a:tc hMerge="1">
                  <a:txBody>
                    <a:bodyPr/>
                    <a:lstStyle/>
                    <a:p>
                      <a:pPr marL="127000" marR="127000" algn="l">
                        <a:lnSpc>
                          <a:spcPct val="100000"/>
                        </a:lnSpc>
                        <a:spcBef>
                          <a:spcPts val="1000"/>
                        </a:spcBef>
                        <a:spcAft>
                          <a:spcPts val="1000"/>
                        </a:spcAft>
                        <a:buNone/>
                      </a:pPr>
                      <a:r>
                        <a:rPr sz="1000" b="0" i="0" u="none" cap="none">
                          <a:solidFill>
                            <a:srgbClr val="000000">
                              <a:alpha val="100000"/>
                            </a:srgbClr>
                          </a:solidFill>
                          <a:latin typeface="Arial"/>
                          <a:cs typeface="Arial"/>
                          <a:sym typeface="Arial"/>
                        </a:rPr>
                        <a:t>Note: DTE = Direct-to-Employer</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7F7F7">
                        <a:alpha val="100000"/>
                      </a:srgbClr>
                    </a:solid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22035409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BDBD4FD-FFB4-4EDA-B509-71118D163D8A}"/>
              </a:ext>
            </a:extLst>
          </p:cNvPr>
          <p:cNvSpPr/>
          <p:nvPr/>
        </p:nvSpPr>
        <p:spPr>
          <a:xfrm>
            <a:off x="-1" y="-3877"/>
            <a:ext cx="12191999" cy="5021418"/>
          </a:xfrm>
          <a:prstGeom prst="rect">
            <a:avLst/>
          </a:prstGeom>
          <a:solidFill>
            <a:srgbClr val="244F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3" name="Footer Placeholder 2">
            <a:extLst>
              <a:ext uri="{FF2B5EF4-FFF2-40B4-BE49-F238E27FC236}">
                <a16:creationId xmlns:a16="http://schemas.microsoft.com/office/drawing/2014/main" id="{B320BED0-748B-492F-A227-2FDEC8B681F8}"/>
              </a:ext>
            </a:extLst>
          </p:cNvPr>
          <p:cNvSpPr>
            <a:spLocks noGrp="1"/>
          </p:cNvSpPr>
          <p:nvPr>
            <p:ph type="ftr" sz="quarter" idx="11"/>
          </p:nvPr>
        </p:nvSpPr>
        <p:spPr>
          <a:xfrm>
            <a:off x="4038599" y="6395154"/>
            <a:ext cx="4114800" cy="365125"/>
          </a:xfrm>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3EB79CFB-A771-4B11-8488-3E54ACE4F41F}"/>
              </a:ext>
            </a:extLst>
          </p:cNvPr>
          <p:cNvSpPr>
            <a:spLocks noGrp="1"/>
          </p:cNvSpPr>
          <p:nvPr>
            <p:ph type="sldNum" sz="quarter" idx="12"/>
          </p:nvPr>
        </p:nvSpPr>
        <p:spPr>
          <a:xfrm>
            <a:off x="8836377" y="6389509"/>
            <a:ext cx="2743200" cy="365125"/>
          </a:xfrm>
        </p:spPr>
        <p:txBody>
          <a:bodyPr/>
          <a:lstStyle/>
          <a:p>
            <a:fld id="{3AFC719D-C4A7-4544-876E-D411D11AF6C9}" type="slidenum">
              <a:rPr lang="en-US" smtClean="0"/>
              <a:t>18</a:t>
            </a:fld>
            <a:endParaRPr lang="en-US" dirty="0"/>
          </a:p>
        </p:txBody>
      </p:sp>
      <p:sp>
        <p:nvSpPr>
          <p:cNvPr id="5" name="Rectangle 4">
            <a:extLst>
              <a:ext uri="{FF2B5EF4-FFF2-40B4-BE49-F238E27FC236}">
                <a16:creationId xmlns:a16="http://schemas.microsoft.com/office/drawing/2014/main" id="{F78CFBEA-CEF2-471A-842D-8314716A34E9}"/>
              </a:ext>
            </a:extLst>
          </p:cNvPr>
          <p:cNvSpPr/>
          <p:nvPr/>
        </p:nvSpPr>
        <p:spPr>
          <a:xfrm>
            <a:off x="3860800" y="406401"/>
            <a:ext cx="7800623" cy="4447822"/>
          </a:xfrm>
          <a:prstGeom prst="rect">
            <a:avLst/>
          </a:prstGeom>
        </p:spPr>
        <p:txBody>
          <a:bodyPr vert="horz" lIns="91440" tIns="45720" rIns="91440" bIns="45720" rtlCol="0" anchor="ctr">
            <a:normAutofit/>
          </a:bodyPr>
          <a:lstStyle/>
          <a:p>
            <a:pPr marL="371480" indent="-342905" defTabSz="914411">
              <a:lnSpc>
                <a:spcPct val="90000"/>
              </a:lnSpc>
              <a:spcAft>
                <a:spcPts val="1200"/>
              </a:spcAft>
              <a:buClr>
                <a:schemeClr val="bg1"/>
              </a:buClr>
              <a:buFont typeface="Wingdings" panose="05000000000000000000" pitchFamily="2" charset="2"/>
              <a:buChar char="§"/>
            </a:pPr>
            <a:r>
              <a:rPr lang="en-US" sz="2000" dirty="0">
                <a:solidFill>
                  <a:schemeClr val="bg1"/>
                </a:solidFill>
              </a:rPr>
              <a:t>Patient engagement is the failure point of population health efforts. Direct employer participation is key to driving patient engagement. </a:t>
            </a:r>
          </a:p>
          <a:p>
            <a:pPr marL="371480" indent="-342905" defTabSz="914411">
              <a:lnSpc>
                <a:spcPct val="90000"/>
              </a:lnSpc>
              <a:spcAft>
                <a:spcPts val="1200"/>
              </a:spcAft>
              <a:buClr>
                <a:schemeClr val="bg1"/>
              </a:buClr>
              <a:buFont typeface="Wingdings" panose="05000000000000000000" pitchFamily="2" charset="2"/>
              <a:buChar char="§"/>
            </a:pPr>
            <a:r>
              <a:rPr lang="en-US" sz="2000" dirty="0">
                <a:solidFill>
                  <a:schemeClr val="bg1"/>
                </a:solidFill>
              </a:rPr>
              <a:t>Key Benefits DTE strategy positioned SLUHS to dramatically grow commercial market share by lowering per-employee plan costs by 11% to 17% at a time when employers are desperate for a path to better value. </a:t>
            </a:r>
          </a:p>
          <a:p>
            <a:pPr marL="371480" indent="-342905" defTabSz="914411">
              <a:lnSpc>
                <a:spcPct val="90000"/>
              </a:lnSpc>
              <a:spcAft>
                <a:spcPts val="1200"/>
              </a:spcAft>
              <a:buClr>
                <a:schemeClr val="bg1"/>
              </a:buClr>
              <a:buFont typeface="Wingdings" panose="05000000000000000000" pitchFamily="2" charset="2"/>
              <a:buChar char="§"/>
            </a:pPr>
            <a:r>
              <a:rPr lang="en-US" sz="2000" dirty="0">
                <a:solidFill>
                  <a:schemeClr val="bg1"/>
                </a:solidFill>
              </a:rPr>
              <a:t>SLUHS can demonstrate greater completion rates for Standards of Care for the Chronically Ill, driving better care outcomes. </a:t>
            </a:r>
          </a:p>
          <a:p>
            <a:pPr marL="371480" indent="-342905" defTabSz="914411">
              <a:lnSpc>
                <a:spcPct val="90000"/>
              </a:lnSpc>
              <a:spcAft>
                <a:spcPts val="1800"/>
              </a:spcAft>
              <a:buClr>
                <a:schemeClr val="bg1"/>
              </a:buClr>
              <a:buFont typeface="Wingdings" panose="05000000000000000000" pitchFamily="2" charset="2"/>
              <a:buChar char="§"/>
            </a:pPr>
            <a:r>
              <a:rPr lang="en-US" sz="2000" dirty="0">
                <a:solidFill>
                  <a:schemeClr val="bg1"/>
                </a:solidFill>
              </a:rPr>
              <a:t>Adding SLUHN’s managed care processes will only turbocharge the overall results – Positioning SLUHS as the transformational PA healthcare leader. </a:t>
            </a:r>
          </a:p>
        </p:txBody>
      </p:sp>
      <p:sp>
        <p:nvSpPr>
          <p:cNvPr id="6" name="Title 1">
            <a:extLst>
              <a:ext uri="{FF2B5EF4-FFF2-40B4-BE49-F238E27FC236}">
                <a16:creationId xmlns:a16="http://schemas.microsoft.com/office/drawing/2014/main" id="{0CEEE520-446E-4089-8426-4255347085FB}"/>
              </a:ext>
            </a:extLst>
          </p:cNvPr>
          <p:cNvSpPr>
            <a:spLocks noGrp="1"/>
          </p:cNvSpPr>
          <p:nvPr>
            <p:ph type="title"/>
          </p:nvPr>
        </p:nvSpPr>
        <p:spPr>
          <a:xfrm>
            <a:off x="673503" y="406401"/>
            <a:ext cx="3053314" cy="2504922"/>
          </a:xfrm>
        </p:spPr>
        <p:txBody>
          <a:bodyPr vert="horz" lIns="91440" tIns="45720" rIns="91440" bIns="45720" rtlCol="0" anchor="t">
            <a:normAutofit fontScale="90000"/>
          </a:bodyPr>
          <a:lstStyle/>
          <a:p>
            <a:r>
              <a:rPr lang="en-US" sz="3600" cap="all" dirty="0">
                <a:solidFill>
                  <a:schemeClr val="bg1"/>
                </a:solidFill>
              </a:rPr>
              <a:t>the missing piece to population health success</a:t>
            </a:r>
          </a:p>
        </p:txBody>
      </p:sp>
      <p:sp>
        <p:nvSpPr>
          <p:cNvPr id="7" name="Rectangle 6">
            <a:extLst>
              <a:ext uri="{FF2B5EF4-FFF2-40B4-BE49-F238E27FC236}">
                <a16:creationId xmlns:a16="http://schemas.microsoft.com/office/drawing/2014/main" id="{F35A72B5-FEF9-458B-B242-8157703AFF9D}"/>
              </a:ext>
            </a:extLst>
          </p:cNvPr>
          <p:cNvSpPr/>
          <p:nvPr/>
        </p:nvSpPr>
        <p:spPr>
          <a:xfrm>
            <a:off x="4368882" y="5369550"/>
            <a:ext cx="7292541" cy="757130"/>
          </a:xfrm>
          <a:prstGeom prst="rect">
            <a:avLst/>
          </a:prstGeom>
        </p:spPr>
        <p:txBody>
          <a:bodyPr wrap="square">
            <a:spAutoFit/>
          </a:bodyPr>
          <a:lstStyle/>
          <a:p>
            <a:pPr marL="28576" defTabSz="914411">
              <a:lnSpc>
                <a:spcPct val="90000"/>
              </a:lnSpc>
              <a:spcAft>
                <a:spcPts val="1200"/>
              </a:spcAft>
              <a:buClr>
                <a:schemeClr val="accent5">
                  <a:lumMod val="50000"/>
                </a:schemeClr>
              </a:buClr>
            </a:pPr>
            <a:r>
              <a:rPr lang="en-US" sz="2400" b="1" cap="all" dirty="0">
                <a:solidFill>
                  <a:srgbClr val="000B2E"/>
                </a:solidFill>
              </a:rPr>
              <a:t>SLUHN </a:t>
            </a:r>
            <a:r>
              <a:rPr lang="en-US" sz="2400" b="1" cap="small" dirty="0">
                <a:solidFill>
                  <a:srgbClr val="000B2E"/>
                </a:solidFill>
              </a:rPr>
              <a:t>CAN PROMOTE THESE RESULTS FOR ITS OWN PROGRAM FROM DAY ONE!!</a:t>
            </a:r>
          </a:p>
        </p:txBody>
      </p:sp>
      <p:pic>
        <p:nvPicPr>
          <p:cNvPr id="10" name="Graphic 9" descr="Puzzle pieces with solid fill">
            <a:extLst>
              <a:ext uri="{FF2B5EF4-FFF2-40B4-BE49-F238E27FC236}">
                <a16:creationId xmlns:a16="http://schemas.microsoft.com/office/drawing/2014/main" id="{0CA67572-0D3A-6B78-1AF5-F6A1BEB1B50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6428" y="2426082"/>
            <a:ext cx="2767464" cy="2767464"/>
          </a:xfrm>
          <a:prstGeom prst="rect">
            <a:avLst/>
          </a:prstGeom>
        </p:spPr>
      </p:pic>
    </p:spTree>
    <p:extLst>
      <p:ext uri="{BB962C8B-B14F-4D97-AF65-F5344CB8AC3E}">
        <p14:creationId xmlns:p14="http://schemas.microsoft.com/office/powerpoint/2010/main" val="39580609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 name="Table 18">
            <a:extLst>
              <a:ext uri="{FF2B5EF4-FFF2-40B4-BE49-F238E27FC236}">
                <a16:creationId xmlns:a16="http://schemas.microsoft.com/office/drawing/2014/main" id="{44DBAA81-6BB1-41F2-821B-655745573DD6}"/>
              </a:ext>
            </a:extLst>
          </p:cNvPr>
          <p:cNvGraphicFramePr>
            <a:graphicFrameLocks noGrp="1"/>
          </p:cNvGraphicFramePr>
          <p:nvPr>
            <p:extLst>
              <p:ext uri="{D42A27DB-BD31-4B8C-83A1-F6EECF244321}">
                <p14:modId xmlns:p14="http://schemas.microsoft.com/office/powerpoint/2010/main" val="3574623902"/>
              </p:ext>
            </p:extLst>
          </p:nvPr>
        </p:nvGraphicFramePr>
        <p:xfrm>
          <a:off x="4726294" y="136525"/>
          <a:ext cx="7205513" cy="6625708"/>
        </p:xfrm>
        <a:graphic>
          <a:graphicData uri="http://schemas.openxmlformats.org/drawingml/2006/table">
            <a:tbl>
              <a:tblPr firstRow="1" firstCol="1" bandRow="1"/>
              <a:tblGrid>
                <a:gridCol w="2597015">
                  <a:extLst>
                    <a:ext uri="{9D8B030D-6E8A-4147-A177-3AD203B41FA5}">
                      <a16:colId xmlns:a16="http://schemas.microsoft.com/office/drawing/2014/main" val="2366274540"/>
                    </a:ext>
                  </a:extLst>
                </a:gridCol>
                <a:gridCol w="1444924">
                  <a:extLst>
                    <a:ext uri="{9D8B030D-6E8A-4147-A177-3AD203B41FA5}">
                      <a16:colId xmlns:a16="http://schemas.microsoft.com/office/drawing/2014/main" val="3062753151"/>
                    </a:ext>
                  </a:extLst>
                </a:gridCol>
                <a:gridCol w="1581787">
                  <a:extLst>
                    <a:ext uri="{9D8B030D-6E8A-4147-A177-3AD203B41FA5}">
                      <a16:colId xmlns:a16="http://schemas.microsoft.com/office/drawing/2014/main" val="3107867473"/>
                    </a:ext>
                  </a:extLst>
                </a:gridCol>
                <a:gridCol w="1581787">
                  <a:extLst>
                    <a:ext uri="{9D8B030D-6E8A-4147-A177-3AD203B41FA5}">
                      <a16:colId xmlns:a16="http://schemas.microsoft.com/office/drawing/2014/main" val="1167931325"/>
                    </a:ext>
                  </a:extLst>
                </a:gridCol>
              </a:tblGrid>
              <a:tr h="144887">
                <a:tc>
                  <a:txBody>
                    <a:bodyPr/>
                    <a:lstStyle/>
                    <a:p>
                      <a:pPr marL="0" marR="0">
                        <a:lnSpc>
                          <a:spcPct val="107000"/>
                        </a:lnSpc>
                        <a:spcBef>
                          <a:spcPts val="0"/>
                        </a:spcBef>
                        <a:spcAft>
                          <a:spcPts val="0"/>
                        </a:spcAft>
                      </a:pPr>
                      <a:r>
                        <a:rPr lang="en-US" sz="900" b="1" dirty="0">
                          <a:solidFill>
                            <a:srgbClr val="FFFFFF"/>
                          </a:solidFill>
                          <a:effectLst/>
                          <a:latin typeface="Calibri" panose="020F0502020204030204" pitchFamily="34" charset="0"/>
                          <a:ea typeface="Calibri" panose="020F0502020204030204" pitchFamily="34" charset="0"/>
                          <a:cs typeface="Calibri" panose="020F0502020204030204" pitchFamily="34" charset="0"/>
                        </a:rPr>
                        <a:t>CHRONIC CONDITION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nchor="ctr">
                    <a:lnL w="12700" cap="flat" cmpd="sng" algn="ctr">
                      <a:solidFill>
                        <a:srgbClr val="A5A5A5"/>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44F9A"/>
                    </a:solidFill>
                  </a:tcPr>
                </a:tc>
                <a:tc gridSpan="3">
                  <a:txBody>
                    <a:bodyPr/>
                    <a:lstStyle/>
                    <a:p>
                      <a:pPr marL="0" marR="0">
                        <a:lnSpc>
                          <a:spcPct val="107000"/>
                        </a:lnSpc>
                        <a:spcBef>
                          <a:spcPts val="0"/>
                        </a:spcBef>
                        <a:spcAft>
                          <a:spcPts val="0"/>
                        </a:spcAft>
                      </a:pPr>
                      <a:r>
                        <a:rPr lang="en-US" sz="900" b="1" dirty="0">
                          <a:solidFill>
                            <a:srgbClr val="FFFFFF"/>
                          </a:solidFill>
                          <a:effectLst/>
                          <a:latin typeface="Calibri" panose="020F0502020204030204" pitchFamily="34" charset="0"/>
                          <a:ea typeface="Calibri" panose="020F0502020204030204" pitchFamily="34" charset="0"/>
                          <a:cs typeface="Calibri" panose="020F0502020204030204" pitchFamily="34" charset="0"/>
                        </a:rPr>
                        <a:t>MINIMUM ANNUAL CARE RECOMMENDED</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nchor="ctr">
                    <a:lnL w="12700" cap="flat" cmpd="sng" algn="ctr">
                      <a:solidFill>
                        <a:srgbClr val="FFFFFF"/>
                      </a:solidFill>
                      <a:prstDash val="solid"/>
                      <a:round/>
                      <a:headEnd type="none" w="med" len="med"/>
                      <a:tailEnd type="none" w="med" len="med"/>
                    </a:lnL>
                    <a:lnR w="12700" cap="flat" cmpd="sng" algn="ctr">
                      <a:solidFill>
                        <a:srgbClr val="A5A5A5"/>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44F9A"/>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266498281"/>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ASTHMA</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Spirometry (for patients 10 years of age or older)</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830014585"/>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ATRIAL FIBRILLATION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606190503"/>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CHRONIC OBSTRUCTIVE PULMONARY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Spirometry</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441583740"/>
                  </a:ext>
                </a:extLst>
              </a:tr>
              <a:tr h="591678">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CHRONIC VENOUS THROMBOTIC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i="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previously listed as Thrombo-embolic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48317387"/>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COPD WITH PULMONARY HYPERTENSION/COR PULMONALE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12 months of supplemental 02 Tx</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65065669"/>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CHRONIC KIDNEY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Hgb or Hcrt</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Creatinine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Potassium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Calcium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Phosphorus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3287466772"/>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CONGESTIVE HEART FAILURE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Creatinine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Potassium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1412705431"/>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CORONARY ARTERY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LDL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2562143464"/>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DEPRESSION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18016476"/>
                  </a:ext>
                </a:extLst>
              </a:tr>
              <a:tr h="448042">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DIABETES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Glycohemoglobins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Creatinine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gridSpan="2">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Lipid Panel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IF no nephropathy Dx or ACE/ARB Rx,</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Urine Albumin/Creatinine ratio, Total Protein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hMerge="1">
                  <a:txBody>
                    <a:bodyPr/>
                    <a:lstStyle/>
                    <a:p>
                      <a:endParaRPr lang="en-US"/>
                    </a:p>
                  </a:txBody>
                  <a:tcPr/>
                </a:tc>
                <a:extLst>
                  <a:ext uri="{0D108BD9-81ED-4DB2-BD59-A6C34878D82A}">
                    <a16:rowId xmlns:a16="http://schemas.microsoft.com/office/drawing/2014/main" val="2153754943"/>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EPILEPSY</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3160324191"/>
                  </a:ext>
                </a:extLst>
              </a:tr>
              <a:tr h="448042">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HUMAN IMMUNODEFICIENCY VIRUS INFECTION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2CBCs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 T-Cell/CD-4 Count</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gridSpan="2">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HIV Quantifications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Pap Smear (for women only, 21 years of age or older)</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hMerge="1">
                  <a:txBody>
                    <a:bodyPr/>
                    <a:lstStyle/>
                    <a:p>
                      <a:endParaRPr lang="en-US"/>
                    </a:p>
                  </a:txBody>
                  <a:tcPr/>
                </a:tc>
                <a:extLst>
                  <a:ext uri="{0D108BD9-81ED-4DB2-BD59-A6C34878D82A}">
                    <a16:rowId xmlns:a16="http://schemas.microsoft.com/office/drawing/2014/main" val="645771183"/>
                  </a:ext>
                </a:extLst>
              </a:tr>
              <a:tr h="144887">
                <a:tc>
                  <a:txBody>
                    <a:bodyPr/>
                    <a:lstStyle/>
                    <a:p>
                      <a:pPr marL="0" marR="0">
                        <a:lnSpc>
                          <a:spcPct val="107000"/>
                        </a:lnSpc>
                        <a:spcBef>
                          <a:spcPts val="0"/>
                        </a:spcBef>
                        <a:spcAft>
                          <a:spcPts val="0"/>
                        </a:spcAft>
                      </a:pPr>
                      <a:r>
                        <a:rPr lang="en-US" sz="900" kern="1200" cap="all" baseline="0" dirty="0">
                          <a:solidFill>
                            <a:schemeClr val="tx1"/>
                          </a:solidFill>
                          <a:effectLst/>
                          <a:latin typeface="+mn-lt"/>
                          <a:ea typeface="+mn-ea"/>
                          <a:cs typeface="+mn-cs"/>
                        </a:rPr>
                        <a:t>Hyperlipidemia</a:t>
                      </a:r>
                      <a:endParaRPr lang="en-US" sz="900" cap="all" baseline="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Lipid Panel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16726325"/>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HYPERTENSION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Creatinine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2792869988"/>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HYPERTHYROIDISM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TSH</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T4</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1751188136"/>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HYPOTHYROIDISM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TSH</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21285030"/>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METABOLIC SYNDROME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Lipid Panel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FBS or HgbA1c</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3669260277"/>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MULTIPLE SCLEROSIS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3010610097"/>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PARKINSON'S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2827539696"/>
                  </a:ext>
                </a:extLst>
              </a:tr>
              <a:tr h="599619">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PERIPHERAL ARTERIAL DISEASE (ATHEROSCLEROSIS]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i="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previously listed as Peripheral Vascular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LDL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1078695282"/>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PRE-DIABETES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Lipid Panel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FBS or HgbA1c</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3755897494"/>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POLYMYALGIA RHEUMATICA</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ESR or CRP</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CBC</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2413089292"/>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PULMONARY HYPERTENSION (UNRELATED TO COPD)</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3319373926"/>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REGIONAL ENTERITIS (INFLAMMATORY BOWEL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3321541292"/>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RHEUMATOID ARTHRITIS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630789343"/>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SLEEP APNEA</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1608131130"/>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ULCERATIVE COLITIS (INFLAMMATORY BOWEL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3648385909"/>
                  </a:ext>
                </a:extLst>
              </a:tr>
            </a:tbl>
          </a:graphicData>
        </a:graphic>
      </p:graphicFrame>
      <p:sp>
        <p:nvSpPr>
          <p:cNvPr id="8" name="Title 1">
            <a:extLst>
              <a:ext uri="{FF2B5EF4-FFF2-40B4-BE49-F238E27FC236}">
                <a16:creationId xmlns:a16="http://schemas.microsoft.com/office/drawing/2014/main" id="{F97470F7-7696-413D-9209-D155562954BB}"/>
              </a:ext>
            </a:extLst>
          </p:cNvPr>
          <p:cNvSpPr txBox="1">
            <a:spLocks/>
          </p:cNvSpPr>
          <p:nvPr/>
        </p:nvSpPr>
        <p:spPr>
          <a:xfrm>
            <a:off x="657037" y="1646141"/>
            <a:ext cx="3494834" cy="952500"/>
          </a:xfrm>
          <a:prstGeom prst="rect">
            <a:avLst/>
          </a:prstGeom>
        </p:spPr>
        <p:txBody>
          <a:bodyPr vert="horz" lIns="91440" tIns="45720" rIns="91440" bIns="45720" rtlCol="0" anchor="ctr">
            <a:normAutofit fontScale="92500" lnSpcReduction="10000"/>
          </a:bodyPr>
          <a:lstStyle>
            <a:lvl1pPr algn="ctr" defTabSz="457200" rtl="0" eaLnBrk="1" latinLnBrk="0" hangingPunct="1">
              <a:spcBef>
                <a:spcPct val="0"/>
              </a:spcBef>
              <a:buNone/>
              <a:defRPr sz="3200" b="1" kern="1200">
                <a:solidFill>
                  <a:srgbClr val="F3734E"/>
                </a:solidFill>
                <a:latin typeface="Helvetica"/>
                <a:ea typeface="+mj-ea"/>
                <a:cs typeface="Helvetica"/>
              </a:defRPr>
            </a:lvl1pPr>
          </a:lstStyle>
          <a:p>
            <a:pPr algn="l"/>
            <a:r>
              <a:rPr lang="en-US" dirty="0">
                <a:solidFill>
                  <a:schemeClr val="bg1"/>
                </a:solidFill>
                <a:latin typeface="+mj-lt"/>
              </a:rPr>
              <a:t>CHRONIC DISEASE MANAGEMENT   </a:t>
            </a:r>
          </a:p>
        </p:txBody>
      </p:sp>
      <p:sp>
        <p:nvSpPr>
          <p:cNvPr id="10" name="TextBox 9">
            <a:extLst>
              <a:ext uri="{FF2B5EF4-FFF2-40B4-BE49-F238E27FC236}">
                <a16:creationId xmlns:a16="http://schemas.microsoft.com/office/drawing/2014/main" id="{B8534B2B-9B09-497C-8FF0-E0C8506830D0}"/>
              </a:ext>
            </a:extLst>
          </p:cNvPr>
          <p:cNvSpPr txBox="1"/>
          <p:nvPr/>
        </p:nvSpPr>
        <p:spPr>
          <a:xfrm>
            <a:off x="689518" y="2889855"/>
            <a:ext cx="2794135" cy="2554545"/>
          </a:xfrm>
          <a:prstGeom prst="rect">
            <a:avLst/>
          </a:prstGeom>
          <a:noFill/>
        </p:spPr>
        <p:txBody>
          <a:bodyPr wrap="square" rtlCol="0">
            <a:spAutoFit/>
          </a:bodyPr>
          <a:lstStyle/>
          <a:p>
            <a:pPr>
              <a:spcBef>
                <a:spcPct val="0"/>
              </a:spcBef>
              <a:buClrTx/>
              <a:buSzTx/>
              <a:buFontTx/>
              <a:buNone/>
            </a:pPr>
            <a:r>
              <a:rPr lang="en-US" altLang="en-US" sz="2000" dirty="0">
                <a:solidFill>
                  <a:schemeClr val="bg1"/>
                </a:solidFill>
                <a:latin typeface="+mj-lt"/>
              </a:rPr>
              <a:t>The chronic diseases identified include a list of services (i.e. exams, lab work and diagnostics) rendered by a network provider payable at 100% and not subject to the deductible or copay. </a:t>
            </a:r>
            <a:endParaRPr lang="en-US" sz="2000" dirty="0">
              <a:solidFill>
                <a:schemeClr val="bg1"/>
              </a:solidFill>
              <a:latin typeface="+mj-lt"/>
            </a:endParaRPr>
          </a:p>
        </p:txBody>
      </p:sp>
      <p:sp>
        <p:nvSpPr>
          <p:cNvPr id="16" name="Slide Number Placeholder 15">
            <a:extLst>
              <a:ext uri="{FF2B5EF4-FFF2-40B4-BE49-F238E27FC236}">
                <a16:creationId xmlns:a16="http://schemas.microsoft.com/office/drawing/2014/main" id="{1C3A6D29-B425-4835-A19F-07D86D1044DB}"/>
              </a:ext>
            </a:extLst>
          </p:cNvPr>
          <p:cNvSpPr>
            <a:spLocks noGrp="1"/>
          </p:cNvSpPr>
          <p:nvPr>
            <p:ph type="sldNum" sz="quarter" idx="12"/>
          </p:nvPr>
        </p:nvSpPr>
        <p:spPr>
          <a:xfrm>
            <a:off x="9089572" y="6424927"/>
            <a:ext cx="2743200" cy="365125"/>
          </a:xfrm>
        </p:spPr>
        <p:txBody>
          <a:bodyPr/>
          <a:lstStyle/>
          <a:p>
            <a:fld id="{3AFC719D-C4A7-4544-876E-D411D11AF6C9}" type="slidenum">
              <a:rPr lang="en-US" smtClean="0"/>
              <a:t>19</a:t>
            </a:fld>
            <a:endParaRPr lang="en-US" dirty="0"/>
          </a:p>
        </p:txBody>
      </p:sp>
      <p:sp>
        <p:nvSpPr>
          <p:cNvPr id="12" name="Rectangle 11">
            <a:extLst>
              <a:ext uri="{FF2B5EF4-FFF2-40B4-BE49-F238E27FC236}">
                <a16:creationId xmlns:a16="http://schemas.microsoft.com/office/drawing/2014/main" id="{5B293367-A455-490C-8A35-4511AA3B90CE}"/>
              </a:ext>
            </a:extLst>
          </p:cNvPr>
          <p:cNvSpPr/>
          <p:nvPr/>
        </p:nvSpPr>
        <p:spPr>
          <a:xfrm>
            <a:off x="-1" y="984"/>
            <a:ext cx="4275989" cy="6871084"/>
          </a:xfrm>
          <a:prstGeom prst="rect">
            <a:avLst/>
          </a:prstGeom>
          <a:solidFill>
            <a:srgbClr val="244F9A">
              <a:alpha val="9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0" rIns="457200" rtlCol="0" anchor="ctr"/>
          <a:lstStyle/>
          <a:p>
            <a:pPr>
              <a:spcBef>
                <a:spcPct val="0"/>
              </a:spcBef>
              <a:buClrTx/>
              <a:buSzTx/>
              <a:buFontTx/>
              <a:buNone/>
            </a:pPr>
            <a:endParaRPr lang="en-US" sz="1600" b="1" spc="120" dirty="0">
              <a:solidFill>
                <a:schemeClr val="bg1"/>
              </a:solidFill>
            </a:endParaRPr>
          </a:p>
        </p:txBody>
      </p:sp>
      <p:sp>
        <p:nvSpPr>
          <p:cNvPr id="2" name="TextBox 1">
            <a:extLst>
              <a:ext uri="{FF2B5EF4-FFF2-40B4-BE49-F238E27FC236}">
                <a16:creationId xmlns:a16="http://schemas.microsoft.com/office/drawing/2014/main" id="{0255DED4-CAB2-4C40-8464-BA04A291D04E}"/>
              </a:ext>
            </a:extLst>
          </p:cNvPr>
          <p:cNvSpPr txBox="1"/>
          <p:nvPr/>
        </p:nvSpPr>
        <p:spPr>
          <a:xfrm>
            <a:off x="0" y="523930"/>
            <a:ext cx="4275989" cy="830997"/>
          </a:xfrm>
          <a:prstGeom prst="rect">
            <a:avLst/>
          </a:prstGeom>
          <a:noFill/>
        </p:spPr>
        <p:txBody>
          <a:bodyPr wrap="square" rtlCol="0">
            <a:spAutoFit/>
          </a:bodyPr>
          <a:lstStyle/>
          <a:p>
            <a:pPr marL="338142"/>
            <a:r>
              <a:rPr lang="en-US" sz="2400" b="1" dirty="0">
                <a:solidFill>
                  <a:srgbClr val="FFFFFF"/>
                </a:solidFill>
                <a:latin typeface="Arial" panose="020B0604020202020204" pitchFamily="34" charset="0"/>
                <a:cs typeface="Arial" panose="020B0604020202020204" pitchFamily="34" charset="0"/>
              </a:rPr>
              <a:t>INTEGRATION TO SLUHS EPIC SYSTEM</a:t>
            </a:r>
            <a:endParaRPr lang="en-US" sz="2400" spc="150" dirty="0">
              <a:solidFill>
                <a:schemeClr val="bg1"/>
              </a:solidFill>
              <a:latin typeface="Arial" panose="020B0604020202020204" pitchFamily="34" charset="0"/>
              <a:cs typeface="Arial" panose="020B0604020202020204" pitchFamily="34" charset="0"/>
            </a:endParaRPr>
          </a:p>
        </p:txBody>
      </p:sp>
      <p:cxnSp>
        <p:nvCxnSpPr>
          <p:cNvPr id="18" name="Straight Connector 17">
            <a:extLst>
              <a:ext uri="{FF2B5EF4-FFF2-40B4-BE49-F238E27FC236}">
                <a16:creationId xmlns:a16="http://schemas.microsoft.com/office/drawing/2014/main" id="{654FDC49-A8BF-414E-8760-AA338D9AABBF}"/>
              </a:ext>
            </a:extLst>
          </p:cNvPr>
          <p:cNvCxnSpPr>
            <a:cxnSpLocks/>
          </p:cNvCxnSpPr>
          <p:nvPr/>
        </p:nvCxnSpPr>
        <p:spPr>
          <a:xfrm>
            <a:off x="437631" y="1627549"/>
            <a:ext cx="3207598" cy="0"/>
          </a:xfrm>
          <a:prstGeom prst="line">
            <a:avLst/>
          </a:prstGeom>
          <a:ln>
            <a:solidFill>
              <a:schemeClr val="bg1"/>
            </a:solidFill>
          </a:ln>
        </p:spPr>
        <p:style>
          <a:lnRef idx="1">
            <a:schemeClr val="accent5"/>
          </a:lnRef>
          <a:fillRef idx="0">
            <a:schemeClr val="accent5"/>
          </a:fillRef>
          <a:effectRef idx="0">
            <a:schemeClr val="accent5"/>
          </a:effectRef>
          <a:fontRef idx="minor">
            <a:schemeClr val="tx1"/>
          </a:fontRef>
        </p:style>
      </p:cxnSp>
      <p:sp>
        <p:nvSpPr>
          <p:cNvPr id="13" name="Freeform: Shape 12">
            <a:extLst>
              <a:ext uri="{FF2B5EF4-FFF2-40B4-BE49-F238E27FC236}">
                <a16:creationId xmlns:a16="http://schemas.microsoft.com/office/drawing/2014/main" id="{85E02AAF-B329-4E86-B476-C851852352F8}"/>
              </a:ext>
            </a:extLst>
          </p:cNvPr>
          <p:cNvSpPr/>
          <p:nvPr/>
        </p:nvSpPr>
        <p:spPr>
          <a:xfrm rot="16200000">
            <a:off x="2097937" y="4698539"/>
            <a:ext cx="1873602" cy="2482501"/>
          </a:xfrm>
          <a:custGeom>
            <a:avLst/>
            <a:gdLst>
              <a:gd name="connsiteX0" fmla="*/ 2160577 w 2160577"/>
              <a:gd name="connsiteY0" fmla="*/ 3114245 h 3114245"/>
              <a:gd name="connsiteX1" fmla="*/ 0 w 2160577"/>
              <a:gd name="connsiteY1" fmla="*/ 3114245 h 3114245"/>
              <a:gd name="connsiteX2" fmla="*/ 0 w 2160577"/>
              <a:gd name="connsiteY2" fmla="*/ 0 h 3114245"/>
              <a:gd name="connsiteX3" fmla="*/ 40185 w 2160577"/>
              <a:gd name="connsiteY3" fmla="*/ 231682 h 3114245"/>
              <a:gd name="connsiteX4" fmla="*/ 2101086 w 2160577"/>
              <a:gd name="connsiteY4" fmla="*/ 3114244 h 3114245"/>
              <a:gd name="connsiteX5" fmla="*/ 2158168 w 2160577"/>
              <a:gd name="connsiteY5" fmla="*/ 3108162 h 311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60577" h="3114245">
                <a:moveTo>
                  <a:pt x="2160577" y="3114245"/>
                </a:moveTo>
                <a:lnTo>
                  <a:pt x="0" y="3114245"/>
                </a:lnTo>
                <a:lnTo>
                  <a:pt x="0" y="0"/>
                </a:lnTo>
                <a:lnTo>
                  <a:pt x="40185" y="231682"/>
                </a:lnTo>
                <a:cubicBezTo>
                  <a:pt x="379730" y="1925643"/>
                  <a:pt x="1174627" y="3114244"/>
                  <a:pt x="2101086" y="3114244"/>
                </a:cubicBezTo>
                <a:lnTo>
                  <a:pt x="2158168" y="3108162"/>
                </a:lnTo>
                <a:close/>
              </a:path>
            </a:pathLst>
          </a:custGeom>
          <a:solidFill>
            <a:srgbClr val="59CAE8">
              <a:alpha val="5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4411">
              <a:defRPr/>
            </a:pPr>
            <a:endParaRPr lang="en-US" dirty="0">
              <a:solidFill>
                <a:prstClr val="white"/>
              </a:solidFill>
              <a:latin typeface="Calibri" panose="020F0502020204030204"/>
            </a:endParaRPr>
          </a:p>
        </p:txBody>
      </p:sp>
      <p:sp>
        <p:nvSpPr>
          <p:cNvPr id="3" name="Footer Placeholder 2">
            <a:extLst>
              <a:ext uri="{FF2B5EF4-FFF2-40B4-BE49-F238E27FC236}">
                <a16:creationId xmlns:a16="http://schemas.microsoft.com/office/drawing/2014/main" id="{897791F9-80A6-4A45-A936-C4A4E5494AFD}"/>
              </a:ext>
            </a:extLst>
          </p:cNvPr>
          <p:cNvSpPr>
            <a:spLocks noGrp="1"/>
          </p:cNvSpPr>
          <p:nvPr>
            <p:ph type="ftr" sz="quarter" idx="11"/>
          </p:nvPr>
        </p:nvSpPr>
        <p:spPr>
          <a:xfrm>
            <a:off x="90451" y="6424927"/>
            <a:ext cx="3871949" cy="323354"/>
          </a:xfrm>
        </p:spPr>
        <p:txBody>
          <a:bodyPr/>
          <a:lstStyle/>
          <a:p>
            <a:r>
              <a:rPr lang="en-US" dirty="0"/>
              <a:t>Key Benefit Administrators</a:t>
            </a:r>
          </a:p>
        </p:txBody>
      </p:sp>
      <p:pic>
        <p:nvPicPr>
          <p:cNvPr id="2050" name="Picture 2" descr="Epic launches long-planned &quot;App Orchard&quot; app store | MobiHealthNews">
            <a:extLst>
              <a:ext uri="{FF2B5EF4-FFF2-40B4-BE49-F238E27FC236}">
                <a16:creationId xmlns:a16="http://schemas.microsoft.com/office/drawing/2014/main" id="{308658F5-D0C7-2129-4BB2-5ED078F1942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9168" y="2044461"/>
            <a:ext cx="3494834" cy="195848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E37C4D6D-E015-C93E-59BD-2C619644D714}"/>
              </a:ext>
            </a:extLst>
          </p:cNvPr>
          <p:cNvSpPr txBox="1"/>
          <p:nvPr/>
        </p:nvSpPr>
        <p:spPr>
          <a:xfrm>
            <a:off x="260193" y="4477165"/>
            <a:ext cx="3494834" cy="1200329"/>
          </a:xfrm>
          <a:prstGeom prst="rect">
            <a:avLst/>
          </a:prstGeom>
          <a:noFill/>
        </p:spPr>
        <p:txBody>
          <a:bodyPr wrap="square">
            <a:spAutoFit/>
          </a:bodyPr>
          <a:lstStyle/>
          <a:p>
            <a:pPr marL="0" algn="l" rtl="0" eaLnBrk="1" latinLnBrk="0" hangingPunct="1">
              <a:spcBef>
                <a:spcPts val="0"/>
              </a:spcBef>
              <a:spcAft>
                <a:spcPts val="0"/>
              </a:spcAft>
            </a:pPr>
            <a:r>
              <a:rPr lang="en-US" sz="1800" kern="1200" spc="120" dirty="0">
                <a:solidFill>
                  <a:srgbClr val="FFFFFF"/>
                </a:solidFill>
                <a:effectLst/>
                <a:latin typeface="Calibri" panose="020F0502020204030204" pitchFamily="34" charset="0"/>
                <a:ea typeface="+mn-ea"/>
                <a:cs typeface="+mn-cs"/>
              </a:rPr>
              <a:t>KBA shares evidence-based standards of care for 27 chronic conditions</a:t>
            </a:r>
            <a:r>
              <a:rPr lang="en-US" spc="120" dirty="0">
                <a:solidFill>
                  <a:srgbClr val="FFFFFF"/>
                </a:solidFill>
                <a:latin typeface="Calibri" panose="020F0502020204030204" pitchFamily="34" charset="0"/>
              </a:rPr>
              <a:t> directly into the Epic medical system. </a:t>
            </a:r>
            <a:endParaRPr lang="en-US" dirty="0">
              <a:effectLst/>
            </a:endParaRPr>
          </a:p>
        </p:txBody>
      </p:sp>
    </p:spTree>
    <p:custDataLst>
      <p:tags r:id="rId1"/>
    </p:custDataLst>
    <p:extLst>
      <p:ext uri="{BB962C8B-B14F-4D97-AF65-F5344CB8AC3E}">
        <p14:creationId xmlns:p14="http://schemas.microsoft.com/office/powerpoint/2010/main" val="29844336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a:extLst>
              <a:ext uri="{FF2B5EF4-FFF2-40B4-BE49-F238E27FC236}">
                <a16:creationId xmlns:a16="http://schemas.microsoft.com/office/drawing/2014/main" id="{6B12664C-5A76-42DD-9387-37E05409FCD6}"/>
              </a:ext>
            </a:extLst>
          </p:cNvPr>
          <p:cNvPicPr>
            <a:picLocks noChangeAspect="1" noChangeArrowheads="1"/>
          </p:cNvPicPr>
          <p:nvPr/>
        </p:nvPicPr>
        <p:blipFill>
          <a:blip r:embed="rId2">
            <a:alphaModFix amt="20000"/>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a:ext>
            </a:extLst>
          </a:blip>
          <a:srcRect/>
          <a:stretch>
            <a:fillRect/>
          </a:stretch>
        </p:blipFill>
        <p:spPr bwMode="auto">
          <a:xfrm>
            <a:off x="-1" y="14068"/>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C5B343BF-74E3-4449-BD50-77404688474B}"/>
              </a:ext>
            </a:extLst>
          </p:cNvPr>
          <p:cNvSpPr/>
          <p:nvPr/>
        </p:nvSpPr>
        <p:spPr>
          <a:xfrm>
            <a:off x="-1" y="0"/>
            <a:ext cx="12192001" cy="3429000"/>
          </a:xfrm>
          <a:prstGeom prst="rect">
            <a:avLst/>
          </a:prstGeom>
          <a:solidFill>
            <a:srgbClr val="244F9A">
              <a:alpha val="7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DB678D7-E940-4D9A-BC92-54EDE0B96DB2}"/>
              </a:ext>
            </a:extLst>
          </p:cNvPr>
          <p:cNvSpPr>
            <a:spLocks noGrp="1"/>
          </p:cNvSpPr>
          <p:nvPr>
            <p:ph type="title"/>
          </p:nvPr>
        </p:nvSpPr>
        <p:spPr>
          <a:xfrm>
            <a:off x="444305" y="351058"/>
            <a:ext cx="10515600" cy="740459"/>
          </a:xfrm>
        </p:spPr>
        <p:txBody>
          <a:bodyPr>
            <a:normAutofit/>
          </a:bodyPr>
          <a:lstStyle/>
          <a:p>
            <a:r>
              <a:rPr lang="en-US" dirty="0">
                <a:solidFill>
                  <a:schemeClr val="bg1"/>
                </a:solidFill>
              </a:rPr>
              <a:t>Transparent PBM Integration </a:t>
            </a:r>
          </a:p>
        </p:txBody>
      </p:sp>
      <p:sp>
        <p:nvSpPr>
          <p:cNvPr id="3" name="Footer Placeholder 2">
            <a:extLst>
              <a:ext uri="{FF2B5EF4-FFF2-40B4-BE49-F238E27FC236}">
                <a16:creationId xmlns:a16="http://schemas.microsoft.com/office/drawing/2014/main" id="{37D3F8B8-2E49-4602-96D2-63DBC785BD21}"/>
              </a:ext>
            </a:extLst>
          </p:cNvPr>
          <p:cNvSpPr>
            <a:spLocks noGrp="1"/>
          </p:cNvSpPr>
          <p:nvPr>
            <p:ph type="ftr" sz="quarter" idx="11"/>
          </p:nvPr>
        </p:nvSpPr>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41289746-C0F3-4064-B405-1E696D5C76B2}"/>
              </a:ext>
            </a:extLst>
          </p:cNvPr>
          <p:cNvSpPr>
            <a:spLocks noGrp="1"/>
          </p:cNvSpPr>
          <p:nvPr>
            <p:ph type="sldNum" sz="quarter" idx="12"/>
          </p:nvPr>
        </p:nvSpPr>
        <p:spPr/>
        <p:txBody>
          <a:bodyPr/>
          <a:lstStyle/>
          <a:p>
            <a:fld id="{3AFC719D-C4A7-4544-876E-D411D11AF6C9}" type="slidenum">
              <a:rPr lang="en-US" smtClean="0"/>
              <a:t>20</a:t>
            </a:fld>
            <a:endParaRPr lang="en-US" dirty="0"/>
          </a:p>
        </p:txBody>
      </p:sp>
      <p:sp>
        <p:nvSpPr>
          <p:cNvPr id="7" name="Rectangle 6">
            <a:extLst>
              <a:ext uri="{FF2B5EF4-FFF2-40B4-BE49-F238E27FC236}">
                <a16:creationId xmlns:a16="http://schemas.microsoft.com/office/drawing/2014/main" id="{8AFDC632-7C4B-44BF-B435-0CED1B7481B2}"/>
              </a:ext>
            </a:extLst>
          </p:cNvPr>
          <p:cNvSpPr/>
          <p:nvPr/>
        </p:nvSpPr>
        <p:spPr>
          <a:xfrm>
            <a:off x="562791" y="1138424"/>
            <a:ext cx="4970417" cy="1785104"/>
          </a:xfrm>
          <a:prstGeom prst="rect">
            <a:avLst/>
          </a:prstGeom>
        </p:spPr>
        <p:txBody>
          <a:bodyPr wrap="square">
            <a:spAutoFit/>
          </a:bodyPr>
          <a:lstStyle/>
          <a:p>
            <a:pPr marL="285753" indent="-285753">
              <a:spcBef>
                <a:spcPts val="600"/>
              </a:spcBef>
              <a:buFont typeface="Wingdings" panose="05000000000000000000" pitchFamily="2" charset="2"/>
              <a:buChar char="§"/>
            </a:pPr>
            <a:r>
              <a:rPr lang="en-US" sz="2000" dirty="0">
                <a:solidFill>
                  <a:schemeClr val="bg1"/>
                </a:solidFill>
                <a:cs typeface="Century Gothic"/>
              </a:rPr>
              <a:t>Support of SLUHN’s retail pharmacy(s)</a:t>
            </a:r>
          </a:p>
          <a:p>
            <a:pPr marL="285753" indent="-285753">
              <a:spcBef>
                <a:spcPts val="600"/>
              </a:spcBef>
              <a:buFont typeface="Wingdings" panose="05000000000000000000" pitchFamily="2" charset="2"/>
              <a:buChar char="§"/>
            </a:pPr>
            <a:r>
              <a:rPr lang="en-US" sz="2000" dirty="0">
                <a:solidFill>
                  <a:schemeClr val="bg1"/>
                </a:solidFill>
                <a:cs typeface="Century Gothic"/>
              </a:rPr>
              <a:t>Optimize SLUHN’s 340B drug pricing program</a:t>
            </a:r>
          </a:p>
          <a:p>
            <a:pPr marL="285753" indent="-285753">
              <a:spcBef>
                <a:spcPts val="600"/>
              </a:spcBef>
              <a:buFont typeface="Wingdings" panose="05000000000000000000" pitchFamily="2" charset="2"/>
              <a:buChar char="§"/>
            </a:pPr>
            <a:r>
              <a:rPr lang="en-US" sz="2000" dirty="0">
                <a:solidFill>
                  <a:schemeClr val="bg1"/>
                </a:solidFill>
              </a:rPr>
              <a:t>Allows SLUHN to create its own PBM program if desired</a:t>
            </a:r>
          </a:p>
        </p:txBody>
      </p:sp>
      <p:sp>
        <p:nvSpPr>
          <p:cNvPr id="8" name="Rectangle 7">
            <a:extLst>
              <a:ext uri="{FF2B5EF4-FFF2-40B4-BE49-F238E27FC236}">
                <a16:creationId xmlns:a16="http://schemas.microsoft.com/office/drawing/2014/main" id="{BA8BB229-42C0-4FB6-AD0C-615BF4260145}"/>
              </a:ext>
            </a:extLst>
          </p:cNvPr>
          <p:cNvSpPr/>
          <p:nvPr/>
        </p:nvSpPr>
        <p:spPr>
          <a:xfrm>
            <a:off x="6095999" y="1173180"/>
            <a:ext cx="5715585" cy="2092881"/>
          </a:xfrm>
          <a:prstGeom prst="rect">
            <a:avLst/>
          </a:prstGeom>
        </p:spPr>
        <p:txBody>
          <a:bodyPr wrap="square">
            <a:spAutoFit/>
          </a:bodyPr>
          <a:lstStyle/>
          <a:p>
            <a:pPr marL="285753" indent="-285753">
              <a:spcBef>
                <a:spcPts val="600"/>
              </a:spcBef>
              <a:buFont typeface="Wingdings" panose="05000000000000000000" pitchFamily="2" charset="2"/>
              <a:buChar char="§"/>
            </a:pPr>
            <a:r>
              <a:rPr lang="en-US" sz="2000" dirty="0">
                <a:solidFill>
                  <a:schemeClr val="bg1"/>
                </a:solidFill>
              </a:rPr>
              <a:t>Custom telephone number with personalized scripting and separate call tracking &amp; reporting</a:t>
            </a:r>
          </a:p>
          <a:p>
            <a:pPr marL="285753" indent="-285753">
              <a:spcBef>
                <a:spcPts val="600"/>
              </a:spcBef>
              <a:buFont typeface="Wingdings" panose="05000000000000000000" pitchFamily="2" charset="2"/>
              <a:buChar char="§"/>
            </a:pPr>
            <a:r>
              <a:rPr lang="en-US" sz="2000" dirty="0">
                <a:solidFill>
                  <a:schemeClr val="bg1"/>
                </a:solidFill>
              </a:rPr>
              <a:t>Fully customizable member welcome booklet &amp; materials</a:t>
            </a:r>
          </a:p>
          <a:p>
            <a:pPr marL="285753" indent="-285753">
              <a:spcBef>
                <a:spcPts val="600"/>
              </a:spcBef>
              <a:buFont typeface="Wingdings" panose="05000000000000000000" pitchFamily="2" charset="2"/>
              <a:buChar char="§"/>
            </a:pPr>
            <a:r>
              <a:rPr lang="en-US" sz="2000" dirty="0">
                <a:solidFill>
                  <a:schemeClr val="bg1"/>
                </a:solidFill>
              </a:rPr>
              <a:t>White labeled formulary document and marketing materials</a:t>
            </a:r>
          </a:p>
        </p:txBody>
      </p:sp>
      <p:sp>
        <p:nvSpPr>
          <p:cNvPr id="9" name="Rectangle 8">
            <a:extLst>
              <a:ext uri="{FF2B5EF4-FFF2-40B4-BE49-F238E27FC236}">
                <a16:creationId xmlns:a16="http://schemas.microsoft.com/office/drawing/2014/main" id="{CA0477AD-A883-49D0-84C0-1846E555302E}"/>
              </a:ext>
            </a:extLst>
          </p:cNvPr>
          <p:cNvSpPr/>
          <p:nvPr/>
        </p:nvSpPr>
        <p:spPr>
          <a:xfrm>
            <a:off x="472441" y="3804933"/>
            <a:ext cx="5168707" cy="2139047"/>
          </a:xfrm>
          <a:prstGeom prst="rect">
            <a:avLst/>
          </a:prstGeom>
        </p:spPr>
        <p:txBody>
          <a:bodyPr wrap="square">
            <a:spAutoFit/>
          </a:bodyPr>
          <a:lstStyle/>
          <a:p>
            <a:pPr>
              <a:spcBef>
                <a:spcPts val="600"/>
              </a:spcBef>
              <a:spcAft>
                <a:spcPts val="600"/>
              </a:spcAft>
            </a:pPr>
            <a:r>
              <a:rPr lang="en-US" b="1" spc="150" dirty="0">
                <a:solidFill>
                  <a:srgbClr val="59CAE8"/>
                </a:solidFill>
              </a:rPr>
              <a:t>CUSTOM CLIENT SUPPORT</a:t>
            </a:r>
            <a:r>
              <a:rPr lang="en-US" b="1" spc="150" dirty="0">
                <a:solidFill>
                  <a:srgbClr val="0063A3"/>
                </a:solidFill>
              </a:rPr>
              <a:t>:</a:t>
            </a:r>
          </a:p>
          <a:p>
            <a:pPr marL="285753" indent="-285753">
              <a:spcBef>
                <a:spcPts val="600"/>
              </a:spcBef>
              <a:buFont typeface="Wingdings" panose="05000000000000000000" pitchFamily="2" charset="2"/>
              <a:buChar char="§"/>
            </a:pPr>
            <a:r>
              <a:rPr lang="en-US" dirty="0"/>
              <a:t>Specialized call center capabilities</a:t>
            </a:r>
          </a:p>
          <a:p>
            <a:pPr marL="285753" indent="-285753">
              <a:spcBef>
                <a:spcPts val="600"/>
              </a:spcBef>
              <a:buFont typeface="Wingdings" panose="05000000000000000000" pitchFamily="2" charset="2"/>
              <a:buChar char="§"/>
            </a:pPr>
            <a:r>
              <a:rPr lang="en-US" dirty="0"/>
              <a:t>Fully customizable plan designs</a:t>
            </a:r>
          </a:p>
          <a:p>
            <a:pPr marL="285753" indent="-285753">
              <a:spcBef>
                <a:spcPts val="600"/>
              </a:spcBef>
              <a:buFont typeface="Wingdings" panose="05000000000000000000" pitchFamily="2" charset="2"/>
              <a:buChar char="§"/>
            </a:pPr>
            <a:r>
              <a:rPr lang="en-US" dirty="0"/>
              <a:t>Operational access to the platform</a:t>
            </a:r>
          </a:p>
          <a:p>
            <a:pPr marL="285753" indent="-285753">
              <a:spcBef>
                <a:spcPts val="600"/>
              </a:spcBef>
              <a:buFont typeface="Wingdings" panose="05000000000000000000" pitchFamily="2" charset="2"/>
              <a:buChar char="§"/>
            </a:pPr>
            <a:r>
              <a:rPr lang="en-US" dirty="0"/>
              <a:t>Customized process and functions to promote DTE strategy</a:t>
            </a:r>
          </a:p>
        </p:txBody>
      </p:sp>
      <p:sp>
        <p:nvSpPr>
          <p:cNvPr id="10" name="Rectangle 9">
            <a:extLst>
              <a:ext uri="{FF2B5EF4-FFF2-40B4-BE49-F238E27FC236}">
                <a16:creationId xmlns:a16="http://schemas.microsoft.com/office/drawing/2014/main" id="{97E1BE5C-BB73-4F75-AB8A-06D533303EDE}"/>
              </a:ext>
            </a:extLst>
          </p:cNvPr>
          <p:cNvSpPr/>
          <p:nvPr/>
        </p:nvSpPr>
        <p:spPr>
          <a:xfrm>
            <a:off x="6163406" y="3781627"/>
            <a:ext cx="5739036" cy="2693045"/>
          </a:xfrm>
          <a:prstGeom prst="rect">
            <a:avLst/>
          </a:prstGeom>
        </p:spPr>
        <p:txBody>
          <a:bodyPr wrap="square">
            <a:spAutoFit/>
          </a:bodyPr>
          <a:lstStyle/>
          <a:p>
            <a:pPr>
              <a:spcBef>
                <a:spcPts val="600"/>
              </a:spcBef>
              <a:spcAft>
                <a:spcPts val="600"/>
              </a:spcAft>
            </a:pPr>
            <a:r>
              <a:rPr lang="en-US" b="1" spc="150" dirty="0">
                <a:solidFill>
                  <a:srgbClr val="59CAE8"/>
                </a:solidFill>
              </a:rPr>
              <a:t>CLINICAL FLEXIBILITY: </a:t>
            </a:r>
          </a:p>
          <a:p>
            <a:pPr>
              <a:spcBef>
                <a:spcPts val="600"/>
              </a:spcBef>
            </a:pPr>
            <a:r>
              <a:rPr lang="en-US" dirty="0"/>
              <a:t>Full portfolio of custom formulary offerings – with optimized formulary shield</a:t>
            </a:r>
          </a:p>
          <a:p>
            <a:pPr>
              <a:spcBef>
                <a:spcPts val="600"/>
              </a:spcBef>
            </a:pPr>
            <a:r>
              <a:rPr lang="en-US" dirty="0"/>
              <a:t>Clinical programs that drive towards overall DTE strategy</a:t>
            </a:r>
          </a:p>
          <a:p>
            <a:pPr>
              <a:spcBef>
                <a:spcPts val="600"/>
              </a:spcBef>
            </a:pPr>
            <a:r>
              <a:rPr lang="en-US" dirty="0"/>
              <a:t>Options for additional drug savings by driving members to lower cost alternatives</a:t>
            </a:r>
          </a:p>
          <a:p>
            <a:pPr>
              <a:spcBef>
                <a:spcPts val="600"/>
              </a:spcBef>
            </a:pPr>
            <a:r>
              <a:rPr lang="en-US" dirty="0"/>
              <a:t>Flexibility to customize or layer on utilization management programs</a:t>
            </a:r>
          </a:p>
        </p:txBody>
      </p:sp>
    </p:spTree>
    <p:extLst>
      <p:ext uri="{BB962C8B-B14F-4D97-AF65-F5344CB8AC3E}">
        <p14:creationId xmlns:p14="http://schemas.microsoft.com/office/powerpoint/2010/main" val="9027066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4FCE51A-FD08-4E39-82DE-62E323002D4D}"/>
              </a:ext>
            </a:extLst>
          </p:cNvPr>
          <p:cNvSpPr/>
          <p:nvPr/>
        </p:nvSpPr>
        <p:spPr>
          <a:xfrm>
            <a:off x="9748911" y="0"/>
            <a:ext cx="2443089" cy="6859722"/>
          </a:xfrm>
          <a:prstGeom prst="rect">
            <a:avLst/>
          </a:prstGeom>
          <a:solidFill>
            <a:srgbClr val="244F9A">
              <a:alpha val="9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200000"/>
              </a:lnSpc>
            </a:pPr>
            <a:r>
              <a:rPr lang="en-US" dirty="0"/>
              <a:t>Tokio Marine</a:t>
            </a:r>
          </a:p>
          <a:p>
            <a:pPr algn="ctr">
              <a:lnSpc>
                <a:spcPct val="200000"/>
              </a:lnSpc>
            </a:pPr>
            <a:r>
              <a:rPr lang="en-US" dirty="0"/>
              <a:t>Nationwide</a:t>
            </a:r>
          </a:p>
          <a:p>
            <a:pPr algn="ctr">
              <a:lnSpc>
                <a:spcPct val="200000"/>
              </a:lnSpc>
            </a:pPr>
            <a:r>
              <a:rPr lang="en-US" dirty="0"/>
              <a:t>Berkshire Hathaway</a:t>
            </a:r>
          </a:p>
          <a:p>
            <a:pPr algn="ctr">
              <a:lnSpc>
                <a:spcPct val="200000"/>
              </a:lnSpc>
            </a:pPr>
            <a:r>
              <a:rPr lang="en-US" dirty="0"/>
              <a:t>Sun Life</a:t>
            </a:r>
          </a:p>
          <a:p>
            <a:pPr algn="ctr">
              <a:lnSpc>
                <a:spcPct val="200000"/>
              </a:lnSpc>
            </a:pPr>
            <a:r>
              <a:rPr lang="en-US" dirty="0"/>
              <a:t>Liberty Mutual</a:t>
            </a:r>
          </a:p>
          <a:p>
            <a:pPr algn="ctr">
              <a:lnSpc>
                <a:spcPct val="200000"/>
              </a:lnSpc>
            </a:pPr>
            <a:r>
              <a:rPr lang="en-US" dirty="0"/>
              <a:t>Granular (Google)</a:t>
            </a:r>
          </a:p>
          <a:p>
            <a:pPr algn="ctr">
              <a:lnSpc>
                <a:spcPct val="200000"/>
              </a:lnSpc>
            </a:pPr>
            <a:r>
              <a:rPr lang="en-US" dirty="0"/>
              <a:t>Companion Life</a:t>
            </a:r>
          </a:p>
          <a:p>
            <a:pPr algn="ctr">
              <a:lnSpc>
                <a:spcPct val="200000"/>
              </a:lnSpc>
            </a:pPr>
            <a:r>
              <a:rPr lang="en-US" dirty="0"/>
              <a:t>Crum &amp; Forster</a:t>
            </a:r>
          </a:p>
          <a:p>
            <a:pPr algn="ctr">
              <a:lnSpc>
                <a:spcPct val="200000"/>
              </a:lnSpc>
            </a:pPr>
            <a:r>
              <a:rPr lang="en-US" dirty="0"/>
              <a:t>American Fidelity</a:t>
            </a:r>
          </a:p>
          <a:p>
            <a:pPr algn="ctr">
              <a:lnSpc>
                <a:spcPct val="200000"/>
              </a:lnSpc>
            </a:pPr>
            <a:r>
              <a:rPr lang="en-US" dirty="0"/>
              <a:t>RGA</a:t>
            </a:r>
          </a:p>
          <a:p>
            <a:pPr algn="ctr"/>
            <a:endParaRPr lang="en-US" dirty="0"/>
          </a:p>
        </p:txBody>
      </p:sp>
      <p:sp>
        <p:nvSpPr>
          <p:cNvPr id="2" name="Title 1">
            <a:extLst>
              <a:ext uri="{FF2B5EF4-FFF2-40B4-BE49-F238E27FC236}">
                <a16:creationId xmlns:a16="http://schemas.microsoft.com/office/drawing/2014/main" id="{FB174226-47B5-4659-83B1-FE9CD406E947}"/>
              </a:ext>
            </a:extLst>
          </p:cNvPr>
          <p:cNvSpPr>
            <a:spLocks noGrp="1"/>
          </p:cNvSpPr>
          <p:nvPr>
            <p:ph type="title"/>
          </p:nvPr>
        </p:nvSpPr>
        <p:spPr>
          <a:xfrm>
            <a:off x="683456" y="244670"/>
            <a:ext cx="8784101" cy="1095361"/>
          </a:xfrm>
        </p:spPr>
        <p:txBody>
          <a:bodyPr>
            <a:normAutofit/>
          </a:bodyPr>
          <a:lstStyle/>
          <a:p>
            <a:r>
              <a:rPr lang="en-US" sz="3200" spc="200" dirty="0">
                <a:solidFill>
                  <a:srgbClr val="59CAE8"/>
                </a:solidFill>
              </a:rPr>
              <a:t>STOP-LOSS INSURANCE</a:t>
            </a:r>
          </a:p>
        </p:txBody>
      </p:sp>
      <p:sp>
        <p:nvSpPr>
          <p:cNvPr id="3" name="Footer Placeholder 2">
            <a:extLst>
              <a:ext uri="{FF2B5EF4-FFF2-40B4-BE49-F238E27FC236}">
                <a16:creationId xmlns:a16="http://schemas.microsoft.com/office/drawing/2014/main" id="{A577469E-ACE0-4E96-83D4-09F32AADC3F2}"/>
              </a:ext>
            </a:extLst>
          </p:cNvPr>
          <p:cNvSpPr>
            <a:spLocks noGrp="1"/>
          </p:cNvSpPr>
          <p:nvPr>
            <p:ph type="ftr" sz="quarter" idx="11"/>
          </p:nvPr>
        </p:nvSpPr>
        <p:spPr>
          <a:xfrm>
            <a:off x="3018106" y="6430767"/>
            <a:ext cx="4114800" cy="365125"/>
          </a:xfrm>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588E06CA-EBB4-47C7-805A-78F1EC93647B}"/>
              </a:ext>
            </a:extLst>
          </p:cNvPr>
          <p:cNvSpPr>
            <a:spLocks noGrp="1"/>
          </p:cNvSpPr>
          <p:nvPr>
            <p:ph type="sldNum" sz="quarter" idx="12"/>
          </p:nvPr>
        </p:nvSpPr>
        <p:spPr>
          <a:xfrm>
            <a:off x="9173894" y="6430766"/>
            <a:ext cx="2743200" cy="365125"/>
          </a:xfrm>
        </p:spPr>
        <p:txBody>
          <a:bodyPr/>
          <a:lstStyle/>
          <a:p>
            <a:fld id="{3AFC719D-C4A7-4544-876E-D411D11AF6C9}" type="slidenum">
              <a:rPr lang="en-US" smtClean="0"/>
              <a:t>21</a:t>
            </a:fld>
            <a:endParaRPr lang="en-US" dirty="0"/>
          </a:p>
        </p:txBody>
      </p:sp>
      <p:sp>
        <p:nvSpPr>
          <p:cNvPr id="5" name="TextBox 4">
            <a:extLst>
              <a:ext uri="{FF2B5EF4-FFF2-40B4-BE49-F238E27FC236}">
                <a16:creationId xmlns:a16="http://schemas.microsoft.com/office/drawing/2014/main" id="{2FF25A3A-C156-4EF4-AAF0-4C022A00A18A}"/>
              </a:ext>
            </a:extLst>
          </p:cNvPr>
          <p:cNvSpPr txBox="1"/>
          <p:nvPr/>
        </p:nvSpPr>
        <p:spPr>
          <a:xfrm>
            <a:off x="683456" y="1340031"/>
            <a:ext cx="8629357" cy="4632037"/>
          </a:xfrm>
          <a:prstGeom prst="rect">
            <a:avLst/>
          </a:prstGeom>
          <a:noFill/>
        </p:spPr>
        <p:txBody>
          <a:bodyPr wrap="square" rtlCol="0">
            <a:spAutoFit/>
          </a:bodyPr>
          <a:lstStyle/>
          <a:p>
            <a:pPr marL="285753" indent="-285753">
              <a:spcAft>
                <a:spcPts val="600"/>
              </a:spcAft>
              <a:buFont typeface="Wingdings" panose="05000000000000000000" pitchFamily="2" charset="2"/>
              <a:buChar char="§"/>
            </a:pPr>
            <a:r>
              <a:rPr lang="en-US" dirty="0"/>
              <a:t>KBA has over 20 stop-loss underwriters and carriers that we work with on core employer sponsored plans and DTE health plans;</a:t>
            </a:r>
          </a:p>
          <a:p>
            <a:pPr marL="285753" indent="-285753">
              <a:spcAft>
                <a:spcPts val="600"/>
              </a:spcAft>
              <a:buFont typeface="Wingdings" panose="05000000000000000000" pitchFamily="2" charset="2"/>
              <a:buChar char="§"/>
            </a:pPr>
            <a:r>
              <a:rPr lang="en-US" dirty="0"/>
              <a:t>KBA performs a comprehensive analysis of each stop-loss partner to approve them for our business;</a:t>
            </a:r>
          </a:p>
          <a:p>
            <a:pPr marL="285753" indent="-285753">
              <a:spcAft>
                <a:spcPts val="600"/>
              </a:spcAft>
              <a:buFont typeface="Wingdings" panose="05000000000000000000" pitchFamily="2" charset="2"/>
              <a:buChar char="§"/>
            </a:pPr>
            <a:r>
              <a:rPr lang="en-US" dirty="0"/>
              <a:t>KBA provides comprehensive pricing and medical service analysis for each DTE health plan to ensure proper pricing;</a:t>
            </a:r>
          </a:p>
          <a:p>
            <a:pPr marL="285753" indent="-285753">
              <a:spcAft>
                <a:spcPts val="600"/>
              </a:spcAft>
              <a:buFont typeface="Wingdings" panose="05000000000000000000" pitchFamily="2" charset="2"/>
              <a:buChar char="§"/>
            </a:pPr>
            <a:r>
              <a:rPr lang="en-US" dirty="0"/>
              <a:t>KBA is also evaluated by the stop-loss markets to be an approved claims payer for them;</a:t>
            </a:r>
          </a:p>
          <a:p>
            <a:pPr marL="285753" indent="-285753">
              <a:spcAft>
                <a:spcPts val="600"/>
              </a:spcAft>
              <a:buFont typeface="Wingdings" panose="05000000000000000000" pitchFamily="2" charset="2"/>
              <a:buChar char="§"/>
            </a:pPr>
            <a:r>
              <a:rPr lang="en-US" dirty="0"/>
              <a:t>KBA provides the administration required of the stop-loss markets:</a:t>
            </a:r>
          </a:p>
          <a:p>
            <a:pPr marL="742960" lvl="1" indent="-285753">
              <a:buFont typeface="Arial" panose="020B0604020202020204" pitchFamily="34" charset="0"/>
              <a:buChar char="•"/>
            </a:pPr>
            <a:r>
              <a:rPr lang="en-US" dirty="0"/>
              <a:t>Bordereau Reporting;</a:t>
            </a:r>
          </a:p>
          <a:p>
            <a:pPr marL="742960" lvl="1" indent="-285753">
              <a:buFont typeface="Arial" panose="020B0604020202020204" pitchFamily="34" charset="0"/>
              <a:buChar char="•"/>
            </a:pPr>
            <a:r>
              <a:rPr lang="en-US" dirty="0"/>
              <a:t>Claim Reporting and Reconciliation;</a:t>
            </a:r>
          </a:p>
          <a:p>
            <a:pPr marL="742960" lvl="1" indent="-285753">
              <a:buFont typeface="Arial" panose="020B0604020202020204" pitchFamily="34" charset="0"/>
              <a:buChar char="•"/>
            </a:pPr>
            <a:r>
              <a:rPr lang="en-US" dirty="0"/>
              <a:t>Evaluation of Networks;</a:t>
            </a:r>
          </a:p>
          <a:p>
            <a:pPr marL="742960" lvl="1" indent="-285753">
              <a:buFont typeface="Arial" panose="020B0604020202020204" pitchFamily="34" charset="0"/>
              <a:buChar char="•"/>
            </a:pPr>
            <a:r>
              <a:rPr lang="en-US" dirty="0"/>
              <a:t>Care Management;</a:t>
            </a:r>
          </a:p>
          <a:p>
            <a:pPr marL="742960" lvl="1" indent="-285753">
              <a:buFont typeface="Arial" panose="020B0604020202020204" pitchFamily="34" charset="0"/>
              <a:buChar char="•"/>
            </a:pPr>
            <a:r>
              <a:rPr lang="en-US" dirty="0"/>
              <a:t>Initial Underwriting; </a:t>
            </a:r>
          </a:p>
          <a:p>
            <a:pPr marL="742960" lvl="1" indent="-285753">
              <a:buFont typeface="Arial" panose="020B0604020202020204" pitchFamily="34" charset="0"/>
              <a:buChar char="•"/>
            </a:pPr>
            <a:r>
              <a:rPr lang="en-US" dirty="0"/>
              <a:t>Negotiation of rates and terms; and</a:t>
            </a:r>
          </a:p>
          <a:p>
            <a:pPr marL="742960" lvl="1" indent="-285753">
              <a:buFont typeface="Arial" panose="020B0604020202020204" pitchFamily="34" charset="0"/>
              <a:buChar char="•"/>
            </a:pPr>
            <a:r>
              <a:rPr lang="en-US" dirty="0"/>
              <a:t>Plan Design Actuarial</a:t>
            </a:r>
            <a:r>
              <a:rPr lang="en-US" b="1" dirty="0">
                <a:solidFill>
                  <a:srgbClr val="0070C0"/>
                </a:solidFill>
              </a:rPr>
              <a:t> </a:t>
            </a:r>
          </a:p>
        </p:txBody>
      </p:sp>
    </p:spTree>
    <p:extLst>
      <p:ext uri="{BB962C8B-B14F-4D97-AF65-F5344CB8AC3E}">
        <p14:creationId xmlns:p14="http://schemas.microsoft.com/office/powerpoint/2010/main" val="38048066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4" name="Picture 6" descr="7 Steps to Creating a Successful Sales Meeting">
            <a:extLst>
              <a:ext uri="{FF2B5EF4-FFF2-40B4-BE49-F238E27FC236}">
                <a16:creationId xmlns:a16="http://schemas.microsoft.com/office/drawing/2014/main" id="{429A0FED-F4B3-4E4D-82D7-8EADBA621831}"/>
              </a:ext>
            </a:extLst>
          </p:cNvPr>
          <p:cNvPicPr>
            <a:picLocks noChangeAspect="1" noChangeArrowheads="1"/>
          </p:cNvPicPr>
          <p:nvPr/>
        </p:nvPicPr>
        <p:blipFill rotWithShape="1">
          <a:blip r:embed="rId2" cstate="screen">
            <a:alphaModFix amt="85000"/>
            <a:extLst>
              <a:ext uri="{28A0092B-C50C-407E-A947-70E740481C1C}">
                <a14:useLocalDpi xmlns:a14="http://schemas.microsoft.com/office/drawing/2010/main"/>
              </a:ext>
            </a:extLst>
          </a:blip>
          <a:srcRect/>
          <a:stretch/>
        </p:blipFill>
        <p:spPr bwMode="auto">
          <a:xfrm>
            <a:off x="2819712" y="0"/>
            <a:ext cx="9372289" cy="6858000"/>
          </a:xfrm>
          <a:prstGeom prst="rect">
            <a:avLst/>
          </a:prstGeom>
          <a:solidFill>
            <a:srgbClr val="59CAE8"/>
          </a:solidFill>
        </p:spPr>
      </p:pic>
      <p:sp>
        <p:nvSpPr>
          <p:cNvPr id="5" name="Rectangle 4">
            <a:extLst>
              <a:ext uri="{FF2B5EF4-FFF2-40B4-BE49-F238E27FC236}">
                <a16:creationId xmlns:a16="http://schemas.microsoft.com/office/drawing/2014/main" id="{7BABB220-4ACE-4E11-A8BE-59C504FE2125}"/>
              </a:ext>
            </a:extLst>
          </p:cNvPr>
          <p:cNvSpPr/>
          <p:nvPr/>
        </p:nvSpPr>
        <p:spPr>
          <a:xfrm>
            <a:off x="0" y="2771775"/>
            <a:ext cx="6191250" cy="4086225"/>
          </a:xfrm>
          <a:prstGeom prst="rect">
            <a:avLst/>
          </a:prstGeom>
          <a:solidFill>
            <a:srgbClr val="59CAE8"/>
          </a:solidFill>
        </p:spPr>
        <p:txBody>
          <a:bodyPr vert="horz" lIns="91440" tIns="45720" rIns="91440" bIns="45720" rtlCol="0" anchor="t" anchorCtr="0">
            <a:noAutofit/>
          </a:bodyPr>
          <a:lstStyle/>
          <a:p>
            <a:pPr marL="347667" lvl="2" defTabSz="914411">
              <a:lnSpc>
                <a:spcPct val="90000"/>
              </a:lnSpc>
              <a:spcAft>
                <a:spcPts val="1200"/>
              </a:spcAft>
            </a:pPr>
            <a:endParaRPr lang="en-US" sz="1600" b="1" spc="150" dirty="0">
              <a:solidFill>
                <a:schemeClr val="bg1"/>
              </a:solidFill>
            </a:endParaRPr>
          </a:p>
          <a:p>
            <a:pPr marL="347667" lvl="2" defTabSz="914411">
              <a:lnSpc>
                <a:spcPct val="150000"/>
              </a:lnSpc>
              <a:spcAft>
                <a:spcPts val="1200"/>
              </a:spcAft>
            </a:pPr>
            <a:r>
              <a:rPr lang="en-US" sz="2000" b="1" spc="150" dirty="0">
                <a:solidFill>
                  <a:schemeClr val="bg1"/>
                </a:solidFill>
              </a:rPr>
              <a:t>KBA WORKS WITH YOU TO MANAGE &amp; SELL:</a:t>
            </a:r>
          </a:p>
          <a:p>
            <a:pPr marL="628658" lvl="1" indent="-285753" defTabSz="914411">
              <a:lnSpc>
                <a:spcPct val="90000"/>
              </a:lnSpc>
              <a:spcAft>
                <a:spcPts val="1200"/>
              </a:spcAft>
              <a:buFont typeface="Wingdings" panose="05000000000000000000" pitchFamily="2" charset="2"/>
              <a:buChar char="§"/>
            </a:pPr>
            <a:r>
              <a:rPr lang="en-US" sz="2000" dirty="0">
                <a:solidFill>
                  <a:schemeClr val="bg1"/>
                </a:solidFill>
              </a:rPr>
              <a:t>Branding &amp; Messaging</a:t>
            </a:r>
          </a:p>
          <a:p>
            <a:pPr marL="628658" lvl="1" indent="-285753" defTabSz="914411">
              <a:lnSpc>
                <a:spcPct val="90000"/>
              </a:lnSpc>
              <a:spcAft>
                <a:spcPts val="1200"/>
              </a:spcAft>
              <a:buFont typeface="Wingdings" panose="05000000000000000000" pitchFamily="2" charset="2"/>
              <a:buChar char="§"/>
            </a:pPr>
            <a:r>
              <a:rPr lang="en-US" sz="2000" dirty="0">
                <a:solidFill>
                  <a:schemeClr val="bg1"/>
                </a:solidFill>
              </a:rPr>
              <a:t>Direct &amp; Brokerage Sales Distribution – Focused Sales Representative</a:t>
            </a:r>
          </a:p>
          <a:p>
            <a:pPr marL="628658" lvl="1" indent="-285753" defTabSz="914411">
              <a:lnSpc>
                <a:spcPct val="90000"/>
              </a:lnSpc>
              <a:spcAft>
                <a:spcPts val="1200"/>
              </a:spcAft>
              <a:buFont typeface="Wingdings" panose="05000000000000000000" pitchFamily="2" charset="2"/>
              <a:buChar char="§"/>
            </a:pPr>
            <a:r>
              <a:rPr lang="en-US" sz="2000" dirty="0">
                <a:solidFill>
                  <a:schemeClr val="bg1"/>
                </a:solidFill>
              </a:rPr>
              <a:t>Brochures, Web Site, Media, etc.</a:t>
            </a:r>
          </a:p>
          <a:p>
            <a:pPr marL="628658" lvl="1" indent="-285753" defTabSz="914411">
              <a:lnSpc>
                <a:spcPct val="90000"/>
              </a:lnSpc>
              <a:spcAft>
                <a:spcPts val="1200"/>
              </a:spcAft>
              <a:buFont typeface="Wingdings" panose="05000000000000000000" pitchFamily="2" charset="2"/>
              <a:buChar char="§"/>
            </a:pPr>
            <a:r>
              <a:rPr lang="en-US" sz="2000" dirty="0">
                <a:solidFill>
                  <a:schemeClr val="bg1"/>
                </a:solidFill>
              </a:rPr>
              <a:t>Stop-Loss/Level Funded Down to 20 EE Lives</a:t>
            </a:r>
          </a:p>
          <a:p>
            <a:pPr marL="628658" lvl="1" indent="-285753" defTabSz="914411">
              <a:lnSpc>
                <a:spcPct val="90000"/>
              </a:lnSpc>
              <a:spcAft>
                <a:spcPts val="600"/>
              </a:spcAft>
              <a:buFont typeface="Wingdings" panose="05000000000000000000" pitchFamily="2" charset="2"/>
              <a:buChar char="§"/>
            </a:pPr>
            <a:r>
              <a:rPr lang="en-US" sz="2000" dirty="0">
                <a:solidFill>
                  <a:schemeClr val="bg1"/>
                </a:solidFill>
              </a:rPr>
              <a:t>Sell Through Established Brokers in Your Service Area</a:t>
            </a:r>
          </a:p>
        </p:txBody>
      </p:sp>
      <p:sp>
        <p:nvSpPr>
          <p:cNvPr id="2" name="Title 1">
            <a:extLst>
              <a:ext uri="{FF2B5EF4-FFF2-40B4-BE49-F238E27FC236}">
                <a16:creationId xmlns:a16="http://schemas.microsoft.com/office/drawing/2014/main" id="{EE4CC181-8C0A-4FE1-B12F-4C934443F672}"/>
              </a:ext>
            </a:extLst>
          </p:cNvPr>
          <p:cNvSpPr>
            <a:spLocks noGrp="1"/>
          </p:cNvSpPr>
          <p:nvPr>
            <p:ph type="title"/>
          </p:nvPr>
        </p:nvSpPr>
        <p:spPr>
          <a:xfrm>
            <a:off x="348205" y="483394"/>
            <a:ext cx="2580190" cy="1928812"/>
          </a:xfrm>
        </p:spPr>
        <p:txBody>
          <a:bodyPr>
            <a:normAutofit/>
          </a:bodyPr>
          <a:lstStyle/>
          <a:p>
            <a:r>
              <a:rPr lang="en-US" sz="2400" dirty="0">
                <a:solidFill>
                  <a:srgbClr val="244F9A"/>
                </a:solidFill>
              </a:rPr>
              <a:t>DTE </a:t>
            </a:r>
            <a:br>
              <a:rPr lang="en-US" sz="2400" dirty="0">
                <a:solidFill>
                  <a:srgbClr val="244F9A"/>
                </a:solidFill>
              </a:rPr>
            </a:br>
            <a:r>
              <a:rPr lang="en-US" sz="2400" dirty="0">
                <a:solidFill>
                  <a:srgbClr val="244F9A"/>
                </a:solidFill>
              </a:rPr>
              <a:t>PROGRAM MARKETING </a:t>
            </a:r>
            <a:br>
              <a:rPr lang="en-US" sz="2400" dirty="0">
                <a:solidFill>
                  <a:srgbClr val="244F9A"/>
                </a:solidFill>
              </a:rPr>
            </a:br>
            <a:r>
              <a:rPr lang="en-US" sz="2400" dirty="0">
                <a:solidFill>
                  <a:srgbClr val="244F9A"/>
                </a:solidFill>
              </a:rPr>
              <a:t>&amp; SALES</a:t>
            </a:r>
          </a:p>
        </p:txBody>
      </p:sp>
      <p:sp>
        <p:nvSpPr>
          <p:cNvPr id="3" name="Footer Placeholder 2">
            <a:extLst>
              <a:ext uri="{FF2B5EF4-FFF2-40B4-BE49-F238E27FC236}">
                <a16:creationId xmlns:a16="http://schemas.microsoft.com/office/drawing/2014/main" id="{AE6A2D3A-1C06-4981-9D70-783E212194C1}"/>
              </a:ext>
            </a:extLst>
          </p:cNvPr>
          <p:cNvSpPr>
            <a:spLocks noGrp="1"/>
          </p:cNvSpPr>
          <p:nvPr>
            <p:ph type="ftr" sz="quarter" idx="11"/>
          </p:nvPr>
        </p:nvSpPr>
        <p:spPr>
          <a:xfrm>
            <a:off x="1038225" y="6374606"/>
            <a:ext cx="4114800" cy="365125"/>
          </a:xfrm>
        </p:spPr>
        <p:txBody>
          <a:bodyPr/>
          <a:lstStyle/>
          <a:p>
            <a:r>
              <a:rPr lang="en-US" dirty="0">
                <a:solidFill>
                  <a:schemeClr val="tx1"/>
                </a:solidFill>
              </a:rPr>
              <a:t>Key Benefit Administrators</a:t>
            </a:r>
          </a:p>
        </p:txBody>
      </p:sp>
      <p:sp>
        <p:nvSpPr>
          <p:cNvPr id="4" name="Slide Number Placeholder 3">
            <a:extLst>
              <a:ext uri="{FF2B5EF4-FFF2-40B4-BE49-F238E27FC236}">
                <a16:creationId xmlns:a16="http://schemas.microsoft.com/office/drawing/2014/main" id="{432D94ED-38DB-4C84-A193-F82ECDE09C64}"/>
              </a:ext>
            </a:extLst>
          </p:cNvPr>
          <p:cNvSpPr>
            <a:spLocks noGrp="1"/>
          </p:cNvSpPr>
          <p:nvPr>
            <p:ph type="sldNum" sz="quarter" idx="12"/>
          </p:nvPr>
        </p:nvSpPr>
        <p:spPr>
          <a:xfrm>
            <a:off x="8963336" y="6374605"/>
            <a:ext cx="2743200" cy="365125"/>
          </a:xfrm>
        </p:spPr>
        <p:txBody>
          <a:bodyPr/>
          <a:lstStyle/>
          <a:p>
            <a:fld id="{3AFC719D-C4A7-4544-876E-D411D11AF6C9}" type="slidenum">
              <a:rPr lang="en-US" smtClean="0"/>
              <a:t>22</a:t>
            </a:fld>
            <a:endParaRPr lang="en-US" dirty="0"/>
          </a:p>
        </p:txBody>
      </p:sp>
    </p:spTree>
    <p:extLst>
      <p:ext uri="{BB962C8B-B14F-4D97-AF65-F5344CB8AC3E}">
        <p14:creationId xmlns:p14="http://schemas.microsoft.com/office/powerpoint/2010/main" val="26801220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6" descr="7 Steps to Creating a Successful Sales Meeting">
            <a:extLst>
              <a:ext uri="{FF2B5EF4-FFF2-40B4-BE49-F238E27FC236}">
                <a16:creationId xmlns:a16="http://schemas.microsoft.com/office/drawing/2014/main" id="{5B70C6AA-61AD-4DD0-B983-F52567B64AFF}"/>
              </a:ext>
            </a:extLst>
          </p:cNvPr>
          <p:cNvPicPr>
            <a:picLocks noChangeAspect="1" noChangeArrowheads="1"/>
          </p:cNvPicPr>
          <p:nvPr/>
        </p:nvPicPr>
        <p:blipFill rotWithShape="1">
          <a:blip r:embed="rId2" cstate="screen">
            <a:duotone>
              <a:schemeClr val="bg2">
                <a:shade val="45000"/>
                <a:satMod val="135000"/>
              </a:schemeClr>
              <a:prstClr val="white"/>
            </a:duotone>
            <a:alphaModFix amt="35000"/>
            <a:extLst>
              <a:ext uri="{28A0092B-C50C-407E-A947-70E740481C1C}">
                <a14:useLocalDpi xmlns:a14="http://schemas.microsoft.com/office/drawing/2010/main"/>
              </a:ext>
            </a:extLst>
          </a:blip>
          <a:src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6" name="Title 1">
            <a:extLst>
              <a:ext uri="{FF2B5EF4-FFF2-40B4-BE49-F238E27FC236}">
                <a16:creationId xmlns:a16="http://schemas.microsoft.com/office/drawing/2014/main" id="{E3AEE789-2E94-43A2-BF20-56F3182F3E86}"/>
              </a:ext>
            </a:extLst>
          </p:cNvPr>
          <p:cNvSpPr>
            <a:spLocks noGrp="1"/>
          </p:cNvSpPr>
          <p:nvPr>
            <p:ph type="title"/>
          </p:nvPr>
        </p:nvSpPr>
        <p:spPr>
          <a:xfrm>
            <a:off x="1691038" y="626557"/>
            <a:ext cx="8809923" cy="938167"/>
          </a:xfrm>
          <a:noFill/>
          <a:ln>
            <a:noFill/>
          </a:ln>
        </p:spPr>
        <p:txBody>
          <a:bodyPr>
            <a:noAutofit/>
          </a:bodyPr>
          <a:lstStyle/>
          <a:p>
            <a:r>
              <a:rPr lang="en-US" sz="2800" cap="all" dirty="0">
                <a:solidFill>
                  <a:srgbClr val="244F9A"/>
                </a:solidFill>
              </a:rPr>
              <a:t>Complete Sales Distribution System</a:t>
            </a:r>
          </a:p>
        </p:txBody>
      </p:sp>
      <p:graphicFrame>
        <p:nvGraphicFramePr>
          <p:cNvPr id="7" name="Diagram 6">
            <a:extLst>
              <a:ext uri="{FF2B5EF4-FFF2-40B4-BE49-F238E27FC236}">
                <a16:creationId xmlns:a16="http://schemas.microsoft.com/office/drawing/2014/main" id="{9538C73A-9FA7-458F-A114-0449E816E242}"/>
              </a:ext>
            </a:extLst>
          </p:cNvPr>
          <p:cNvGraphicFramePr/>
          <p:nvPr>
            <p:extLst>
              <p:ext uri="{D42A27DB-BD31-4B8C-83A1-F6EECF244321}">
                <p14:modId xmlns:p14="http://schemas.microsoft.com/office/powerpoint/2010/main" val="3572426963"/>
              </p:ext>
            </p:extLst>
          </p:nvPr>
        </p:nvGraphicFramePr>
        <p:xfrm>
          <a:off x="738414" y="1667230"/>
          <a:ext cx="10715172" cy="50235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Slide Number Placeholder 3">
            <a:extLst>
              <a:ext uri="{FF2B5EF4-FFF2-40B4-BE49-F238E27FC236}">
                <a16:creationId xmlns:a16="http://schemas.microsoft.com/office/drawing/2014/main" id="{26AD7A8A-66DD-4BA6-A8DA-CC8BB638DACA}"/>
              </a:ext>
            </a:extLst>
          </p:cNvPr>
          <p:cNvSpPr>
            <a:spLocks noGrp="1"/>
          </p:cNvSpPr>
          <p:nvPr>
            <p:ph type="sldNum" sz="quarter" idx="12"/>
          </p:nvPr>
        </p:nvSpPr>
        <p:spPr>
          <a:xfrm>
            <a:off x="11353800" y="6428186"/>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23</a:t>
            </a:fld>
            <a:endParaRPr lang="en-US" sz="1100" dirty="0">
              <a:solidFill>
                <a:schemeClr val="tx1">
                  <a:lumMod val="50000"/>
                  <a:lumOff val="50000"/>
                </a:schemeClr>
              </a:solidFill>
            </a:endParaRPr>
          </a:p>
        </p:txBody>
      </p:sp>
      <p:sp>
        <p:nvSpPr>
          <p:cNvPr id="2" name="Footer Placeholder 1">
            <a:extLst>
              <a:ext uri="{FF2B5EF4-FFF2-40B4-BE49-F238E27FC236}">
                <a16:creationId xmlns:a16="http://schemas.microsoft.com/office/drawing/2014/main" id="{73EB584F-B688-4D65-AC70-27857B058937}"/>
              </a:ext>
            </a:extLst>
          </p:cNvPr>
          <p:cNvSpPr>
            <a:spLocks noGrp="1"/>
          </p:cNvSpPr>
          <p:nvPr>
            <p:ph type="ftr" sz="quarter" idx="11"/>
          </p:nvPr>
        </p:nvSpPr>
        <p:spPr/>
        <p:txBody>
          <a:bodyPr/>
          <a:lstStyle/>
          <a:p>
            <a:r>
              <a:rPr lang="en-US" dirty="0"/>
              <a:t>Key Benefit Administrators</a:t>
            </a:r>
          </a:p>
        </p:txBody>
      </p:sp>
    </p:spTree>
    <p:extLst>
      <p:ext uri="{BB962C8B-B14F-4D97-AF65-F5344CB8AC3E}">
        <p14:creationId xmlns:p14="http://schemas.microsoft.com/office/powerpoint/2010/main" val="6193244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EF7E883-34E5-46DB-B50C-C63CA63E190C}"/>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332682" y="174481"/>
            <a:ext cx="5529323" cy="3080297"/>
          </a:xfrm>
          <a:prstGeom prst="rect">
            <a:avLst/>
          </a:prstGeom>
        </p:spPr>
      </p:pic>
      <p:sp>
        <p:nvSpPr>
          <p:cNvPr id="3" name="Rectangle: Single Corner Rounded 2">
            <a:extLst>
              <a:ext uri="{FF2B5EF4-FFF2-40B4-BE49-F238E27FC236}">
                <a16:creationId xmlns:a16="http://schemas.microsoft.com/office/drawing/2014/main" id="{0E0827A4-8831-4F72-BCCA-ED2FC12E6729}"/>
              </a:ext>
            </a:extLst>
          </p:cNvPr>
          <p:cNvSpPr/>
          <p:nvPr/>
        </p:nvSpPr>
        <p:spPr>
          <a:xfrm flipV="1">
            <a:off x="-12708" y="-1"/>
            <a:ext cx="6201467" cy="2586748"/>
          </a:xfrm>
          <a:prstGeom prst="round1Rect">
            <a:avLst>
              <a:gd name="adj" fmla="val 14176"/>
            </a:avLst>
          </a:prstGeom>
          <a:solidFill>
            <a:srgbClr val="59CAE8">
              <a:alpha val="94000"/>
            </a:srgbClr>
          </a:solidFill>
          <a:ln>
            <a:solidFill>
              <a:srgbClr val="59CAE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1">
            <a:extLst>
              <a:ext uri="{FF2B5EF4-FFF2-40B4-BE49-F238E27FC236}">
                <a16:creationId xmlns:a16="http://schemas.microsoft.com/office/drawing/2014/main" id="{E25BDB08-48BA-4014-94E1-0CA6432F65F9}"/>
              </a:ext>
            </a:extLst>
          </p:cNvPr>
          <p:cNvSpPr>
            <a:spLocks noGrp="1"/>
          </p:cNvSpPr>
          <p:nvPr>
            <p:ph type="title"/>
          </p:nvPr>
        </p:nvSpPr>
        <p:spPr>
          <a:xfrm>
            <a:off x="297320" y="174481"/>
            <a:ext cx="6597641" cy="580655"/>
          </a:xfrm>
          <a:noFill/>
        </p:spPr>
        <p:txBody>
          <a:bodyPr>
            <a:normAutofit/>
          </a:bodyPr>
          <a:lstStyle/>
          <a:p>
            <a:r>
              <a:rPr lang="en-US" sz="2400" cap="all" dirty="0">
                <a:solidFill>
                  <a:schemeClr val="bg1"/>
                </a:solidFill>
              </a:rPr>
              <a:t>Complete Marketing System</a:t>
            </a:r>
          </a:p>
        </p:txBody>
      </p:sp>
      <p:sp>
        <p:nvSpPr>
          <p:cNvPr id="10" name="TextBox 9">
            <a:extLst>
              <a:ext uri="{FF2B5EF4-FFF2-40B4-BE49-F238E27FC236}">
                <a16:creationId xmlns:a16="http://schemas.microsoft.com/office/drawing/2014/main" id="{ED71BB9D-3705-447C-AA44-226373980B76}"/>
              </a:ext>
            </a:extLst>
          </p:cNvPr>
          <p:cNvSpPr txBox="1"/>
          <p:nvPr/>
        </p:nvSpPr>
        <p:spPr>
          <a:xfrm>
            <a:off x="296181" y="755136"/>
            <a:ext cx="5799819" cy="1631216"/>
          </a:xfrm>
          <a:prstGeom prst="rect">
            <a:avLst/>
          </a:prstGeom>
          <a:noFill/>
        </p:spPr>
        <p:txBody>
          <a:bodyPr wrap="square" rtlCol="0">
            <a:spAutoFit/>
          </a:bodyPr>
          <a:lstStyle/>
          <a:p>
            <a:pPr marL="342905" indent="-342905">
              <a:spcAft>
                <a:spcPts val="600"/>
              </a:spcAft>
              <a:buFont typeface="Wingdings" panose="05000000000000000000" pitchFamily="2" charset="2"/>
              <a:buChar char="§"/>
            </a:pPr>
            <a:r>
              <a:rPr lang="en-US" sz="1600" dirty="0">
                <a:solidFill>
                  <a:schemeClr val="bg1"/>
                </a:solidFill>
              </a:rPr>
              <a:t>Customized Branding and Messaging</a:t>
            </a:r>
          </a:p>
          <a:p>
            <a:pPr marL="342905" indent="-342905">
              <a:spcAft>
                <a:spcPts val="600"/>
              </a:spcAft>
              <a:buFont typeface="Wingdings" panose="05000000000000000000" pitchFamily="2" charset="2"/>
              <a:buChar char="§"/>
            </a:pPr>
            <a:r>
              <a:rPr lang="en-US" sz="1600" dirty="0">
                <a:solidFill>
                  <a:schemeClr val="bg1"/>
                </a:solidFill>
              </a:rPr>
              <a:t>Customized Brochures</a:t>
            </a:r>
          </a:p>
          <a:p>
            <a:pPr marL="342905" indent="-342905">
              <a:spcAft>
                <a:spcPts val="600"/>
              </a:spcAft>
              <a:buFont typeface="Wingdings" panose="05000000000000000000" pitchFamily="2" charset="2"/>
              <a:buChar char="§"/>
            </a:pPr>
            <a:r>
              <a:rPr lang="en-US" sz="1600" dirty="0">
                <a:solidFill>
                  <a:schemeClr val="bg1"/>
                </a:solidFill>
              </a:rPr>
              <a:t>Customized Web Site</a:t>
            </a:r>
          </a:p>
          <a:p>
            <a:pPr marL="342905" indent="-342905">
              <a:spcAft>
                <a:spcPts val="600"/>
              </a:spcAft>
              <a:buFont typeface="Wingdings" panose="05000000000000000000" pitchFamily="2" charset="2"/>
              <a:buChar char="§"/>
            </a:pPr>
            <a:r>
              <a:rPr lang="en-US" sz="1600" dirty="0">
                <a:solidFill>
                  <a:schemeClr val="bg1"/>
                </a:solidFill>
              </a:rPr>
              <a:t>Targeted Employer Outreach</a:t>
            </a:r>
          </a:p>
          <a:p>
            <a:pPr marL="342905" indent="-342905">
              <a:spcAft>
                <a:spcPts val="600"/>
              </a:spcAft>
              <a:buFont typeface="Wingdings" panose="05000000000000000000" pitchFamily="2" charset="2"/>
              <a:buChar char="§"/>
            </a:pPr>
            <a:r>
              <a:rPr lang="en-US" sz="1600" dirty="0">
                <a:solidFill>
                  <a:schemeClr val="bg1"/>
                </a:solidFill>
              </a:rPr>
              <a:t>Sales System (Social Media, Email, Text, etc.)</a:t>
            </a:r>
          </a:p>
        </p:txBody>
      </p:sp>
      <p:pic>
        <p:nvPicPr>
          <p:cNvPr id="11" name="Picture 10">
            <a:extLst>
              <a:ext uri="{FF2B5EF4-FFF2-40B4-BE49-F238E27FC236}">
                <a16:creationId xmlns:a16="http://schemas.microsoft.com/office/drawing/2014/main" id="{611A4305-92DF-45EF-9B03-0DB9043431A7}"/>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36485" y="2995528"/>
            <a:ext cx="2223274" cy="2808514"/>
          </a:xfrm>
          <a:prstGeom prst="rect">
            <a:avLst/>
          </a:prstGeom>
          <a:ln>
            <a:noFill/>
          </a:ln>
          <a:effectLst>
            <a:outerShdw blurRad="292100" dist="139700" dir="2700000" algn="tl" rotWithShape="0">
              <a:srgbClr val="333333">
                <a:alpha val="65000"/>
              </a:srgbClr>
            </a:outerShdw>
          </a:effectLst>
        </p:spPr>
      </p:pic>
      <p:pic>
        <p:nvPicPr>
          <p:cNvPr id="12" name="Picture 11">
            <a:extLst>
              <a:ext uri="{FF2B5EF4-FFF2-40B4-BE49-F238E27FC236}">
                <a16:creationId xmlns:a16="http://schemas.microsoft.com/office/drawing/2014/main" id="{FED11506-66B0-49FB-A0EF-209B82231847}"/>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798496" y="2995528"/>
            <a:ext cx="2233972" cy="2808514"/>
          </a:xfrm>
          <a:prstGeom prst="rect">
            <a:avLst/>
          </a:prstGeom>
          <a:ln>
            <a:noFill/>
          </a:ln>
          <a:effectLst>
            <a:outerShdw blurRad="292100" dist="139700" dir="2700000" algn="tl" rotWithShape="0">
              <a:srgbClr val="333333">
                <a:alpha val="65000"/>
              </a:srgbClr>
            </a:outerShdw>
          </a:effectLst>
        </p:spPr>
      </p:pic>
      <p:pic>
        <p:nvPicPr>
          <p:cNvPr id="13" name="Picture 12">
            <a:extLst>
              <a:ext uri="{FF2B5EF4-FFF2-40B4-BE49-F238E27FC236}">
                <a16:creationId xmlns:a16="http://schemas.microsoft.com/office/drawing/2014/main" id="{71A4353A-F77C-46E5-A059-7B4875A5C5EA}"/>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271205" y="2995528"/>
            <a:ext cx="2316270" cy="2847494"/>
          </a:xfrm>
          <a:prstGeom prst="rect">
            <a:avLst/>
          </a:prstGeom>
          <a:ln>
            <a:noFill/>
          </a:ln>
          <a:effectLst>
            <a:outerShdw blurRad="292100" dist="139700" dir="2700000" algn="tl" rotWithShape="0">
              <a:srgbClr val="333333">
                <a:alpha val="65000"/>
              </a:srgbClr>
            </a:outerShdw>
          </a:effectLst>
        </p:spPr>
      </p:pic>
      <p:pic>
        <p:nvPicPr>
          <p:cNvPr id="14" name="Picture 13">
            <a:extLst>
              <a:ext uri="{FF2B5EF4-FFF2-40B4-BE49-F238E27FC236}">
                <a16:creationId xmlns:a16="http://schemas.microsoft.com/office/drawing/2014/main" id="{2CFB10C7-2DC6-451E-90C6-2D68BD31A6EC}"/>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1826212" y="2995528"/>
            <a:ext cx="2197436" cy="2864971"/>
          </a:xfrm>
          <a:prstGeom prst="rect">
            <a:avLst/>
          </a:prstGeom>
          <a:ln>
            <a:noFill/>
          </a:ln>
          <a:effectLst>
            <a:outerShdw blurRad="292100" dist="139700" dir="2700000" algn="tl" rotWithShape="0">
              <a:srgbClr val="333333">
                <a:alpha val="65000"/>
              </a:srgbClr>
            </a:outerShdw>
          </a:effectLst>
        </p:spPr>
      </p:pic>
      <p:pic>
        <p:nvPicPr>
          <p:cNvPr id="15" name="Picture 14">
            <a:extLst>
              <a:ext uri="{FF2B5EF4-FFF2-40B4-BE49-F238E27FC236}">
                <a16:creationId xmlns:a16="http://schemas.microsoft.com/office/drawing/2014/main" id="{775544D0-D189-4053-BD03-A061BD918D83}"/>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2262385" y="2995528"/>
            <a:ext cx="2329516" cy="2861400"/>
          </a:xfrm>
          <a:prstGeom prst="rect">
            <a:avLst/>
          </a:prstGeom>
          <a:ln>
            <a:noFill/>
          </a:ln>
          <a:effectLst>
            <a:outerShdw blurRad="292100" dist="139700" dir="2700000" algn="tl" rotWithShape="0">
              <a:srgbClr val="333333">
                <a:alpha val="65000"/>
              </a:srgbClr>
            </a:outerShdw>
          </a:effectLst>
        </p:spPr>
      </p:pic>
      <p:pic>
        <p:nvPicPr>
          <p:cNvPr id="16" name="Picture 15">
            <a:extLst>
              <a:ext uri="{FF2B5EF4-FFF2-40B4-BE49-F238E27FC236}">
                <a16:creationId xmlns:a16="http://schemas.microsoft.com/office/drawing/2014/main" id="{C064D670-84E1-4B9A-97F8-E62D958DB0B5}"/>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2830638" y="2995528"/>
            <a:ext cx="2525626" cy="2919327"/>
          </a:xfrm>
          <a:prstGeom prst="rect">
            <a:avLst/>
          </a:prstGeom>
          <a:ln>
            <a:noFill/>
          </a:ln>
          <a:effectLst>
            <a:outerShdw blurRad="292100" dist="139700" dir="2700000" algn="tl" rotWithShape="0">
              <a:srgbClr val="333333">
                <a:alpha val="65000"/>
              </a:srgbClr>
            </a:outerShdw>
          </a:effectLst>
        </p:spPr>
      </p:pic>
      <p:pic>
        <p:nvPicPr>
          <p:cNvPr id="17" name="Picture 16">
            <a:extLst>
              <a:ext uri="{FF2B5EF4-FFF2-40B4-BE49-F238E27FC236}">
                <a16:creationId xmlns:a16="http://schemas.microsoft.com/office/drawing/2014/main" id="{87B797F5-B8C2-4C24-8A7A-FE90F04BE322}"/>
              </a:ext>
            </a:extLst>
          </p:cNvPr>
          <p:cNvPicPr>
            <a:picLocks noChangeAspect="1"/>
          </p:cNvPicPr>
          <p:nvPr/>
        </p:nvPicPr>
        <p:blipFill>
          <a:blip r:embed="rId9" cstate="screen">
            <a:extLst>
              <a:ext uri="{28A0092B-C50C-407E-A947-70E740481C1C}">
                <a14:useLocalDpi xmlns:a14="http://schemas.microsoft.com/office/drawing/2010/main"/>
              </a:ext>
            </a:extLst>
          </a:blip>
          <a:stretch>
            <a:fillRect/>
          </a:stretch>
        </p:blipFill>
        <p:spPr>
          <a:xfrm>
            <a:off x="3595002" y="2995528"/>
            <a:ext cx="2372536" cy="2936059"/>
          </a:xfrm>
          <a:prstGeom prst="rect">
            <a:avLst/>
          </a:prstGeom>
          <a:ln>
            <a:noFill/>
          </a:ln>
          <a:effectLst>
            <a:outerShdw blurRad="292100" dist="139700" dir="2700000" algn="tl" rotWithShape="0">
              <a:srgbClr val="333333">
                <a:alpha val="65000"/>
              </a:srgbClr>
            </a:outerShdw>
          </a:effectLst>
        </p:spPr>
      </p:pic>
      <p:sp>
        <p:nvSpPr>
          <p:cNvPr id="19" name="Slide Number Placeholder 3">
            <a:extLst>
              <a:ext uri="{FF2B5EF4-FFF2-40B4-BE49-F238E27FC236}">
                <a16:creationId xmlns:a16="http://schemas.microsoft.com/office/drawing/2014/main" id="{43B0C0D7-286F-40CC-99F2-E1758486FAF3}"/>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24</a:t>
            </a:fld>
            <a:endParaRPr lang="en-US" sz="1100" dirty="0">
              <a:solidFill>
                <a:schemeClr val="tx1">
                  <a:lumMod val="50000"/>
                  <a:lumOff val="50000"/>
                </a:schemeClr>
              </a:solidFill>
            </a:endParaRPr>
          </a:p>
        </p:txBody>
      </p:sp>
      <p:sp>
        <p:nvSpPr>
          <p:cNvPr id="2" name="Footer Placeholder 1">
            <a:extLst>
              <a:ext uri="{FF2B5EF4-FFF2-40B4-BE49-F238E27FC236}">
                <a16:creationId xmlns:a16="http://schemas.microsoft.com/office/drawing/2014/main" id="{CDED59B1-EA18-471C-9E96-59ECEF4AB7A5}"/>
              </a:ext>
            </a:extLst>
          </p:cNvPr>
          <p:cNvSpPr>
            <a:spLocks noGrp="1"/>
          </p:cNvSpPr>
          <p:nvPr>
            <p:ph type="ftr" sz="quarter" idx="11"/>
          </p:nvPr>
        </p:nvSpPr>
        <p:spPr/>
        <p:txBody>
          <a:bodyPr/>
          <a:lstStyle/>
          <a:p>
            <a:r>
              <a:rPr lang="en-US" dirty="0"/>
              <a:t>Key Benefit Administrators</a:t>
            </a:r>
          </a:p>
        </p:txBody>
      </p:sp>
      <p:pic>
        <p:nvPicPr>
          <p:cNvPr id="5" name="Picture 4">
            <a:extLst>
              <a:ext uri="{FF2B5EF4-FFF2-40B4-BE49-F238E27FC236}">
                <a16:creationId xmlns:a16="http://schemas.microsoft.com/office/drawing/2014/main" id="{95AED82D-3AD7-4F96-899E-4F246EB12576}"/>
              </a:ext>
            </a:extLst>
          </p:cNvPr>
          <p:cNvPicPr>
            <a:picLocks noChangeAspect="1"/>
          </p:cNvPicPr>
          <p:nvPr/>
        </p:nvPicPr>
        <p:blipFill>
          <a:blip r:embed="rId10" cstate="screen">
            <a:extLst>
              <a:ext uri="{28A0092B-C50C-407E-A947-70E740481C1C}">
                <a14:useLocalDpi xmlns:a14="http://schemas.microsoft.com/office/drawing/2010/main"/>
              </a:ext>
            </a:extLst>
          </a:blip>
          <a:stretch>
            <a:fillRect/>
          </a:stretch>
        </p:blipFill>
        <p:spPr>
          <a:xfrm>
            <a:off x="6757012" y="2543534"/>
            <a:ext cx="5291531" cy="3637660"/>
          </a:xfrm>
          <a:prstGeom prst="rect">
            <a:avLst/>
          </a:prstGeom>
          <a:effectLst>
            <a:outerShdw blurRad="203200" dist="38100" algn="l" rotWithShape="0">
              <a:prstClr val="black">
                <a:alpha val="40000"/>
              </a:prstClr>
            </a:outerShdw>
          </a:effectLst>
        </p:spPr>
      </p:pic>
    </p:spTree>
    <p:extLst>
      <p:ext uri="{BB962C8B-B14F-4D97-AF65-F5344CB8AC3E}">
        <p14:creationId xmlns:p14="http://schemas.microsoft.com/office/powerpoint/2010/main" val="4209598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500"/>
                                        <p:tgtEl>
                                          <p:spTgt spid="1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500"/>
                                        <p:tgtEl>
                                          <p:spTgt spid="1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500"/>
                                        <p:tgtEl>
                                          <p:spTgt spid="17"/>
                                        </p:tgtEl>
                                      </p:cBhvr>
                                    </p:animEffec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9B37791B-B040-4694-BFDC-8DD132D86E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49BBB1F-796B-4271-AAA8-C6BA52CFC027}"/>
              </a:ext>
            </a:extLst>
          </p:cNvPr>
          <p:cNvSpPr>
            <a:spLocks noGrp="1"/>
          </p:cNvSpPr>
          <p:nvPr>
            <p:ph type="title"/>
          </p:nvPr>
        </p:nvSpPr>
        <p:spPr>
          <a:xfrm>
            <a:off x="5232400" y="1367673"/>
            <a:ext cx="6124575" cy="2665509"/>
          </a:xfrm>
        </p:spPr>
        <p:txBody>
          <a:bodyPr vert="horz" lIns="91440" tIns="45720" rIns="91440" bIns="45720" rtlCol="0" anchor="b">
            <a:normAutofit/>
          </a:bodyPr>
          <a:lstStyle/>
          <a:p>
            <a:pPr algn="r" defTabSz="914400"/>
            <a:r>
              <a:rPr lang="en-US" sz="6100" kern="1200" dirty="0">
                <a:solidFill>
                  <a:srgbClr val="244F9A"/>
                </a:solidFill>
                <a:latin typeface="+mj-lt"/>
                <a:ea typeface="+mj-ea"/>
                <a:cs typeface="+mj-cs"/>
              </a:rPr>
              <a:t>FINANCIAL PROJECTIONS &amp; ASSUMPTIONS</a:t>
            </a:r>
          </a:p>
        </p:txBody>
      </p:sp>
      <p:grpSp>
        <p:nvGrpSpPr>
          <p:cNvPr id="28" name="Group 27">
            <a:extLst>
              <a:ext uri="{FF2B5EF4-FFF2-40B4-BE49-F238E27FC236}">
                <a16:creationId xmlns:a16="http://schemas.microsoft.com/office/drawing/2014/main" id="{0DBA5192-D1D6-4385-9B20-7991E99218E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
            <a:ext cx="4581527" cy="6858002"/>
            <a:chOff x="-2" y="-1"/>
            <a:chExt cx="4581527" cy="6858002"/>
          </a:xfrm>
          <a:effectLst>
            <a:outerShdw blurRad="381000" dist="50800" algn="ctr" rotWithShape="0">
              <a:srgbClr val="000000">
                <a:alpha val="10000"/>
              </a:srgbClr>
            </a:outerShdw>
          </a:effectLst>
        </p:grpSpPr>
        <p:grpSp>
          <p:nvGrpSpPr>
            <p:cNvPr id="29" name="Group 28">
              <a:extLst>
                <a:ext uri="{FF2B5EF4-FFF2-40B4-BE49-F238E27FC236}">
                  <a16:creationId xmlns:a16="http://schemas.microsoft.com/office/drawing/2014/main" id="{49CFA8C3-E4AC-4EF8-8986-83C92DBF583F}"/>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2" y="-1"/>
              <a:ext cx="4572002" cy="6858002"/>
              <a:chOff x="-2" y="-1"/>
              <a:chExt cx="4572002" cy="6858002"/>
            </a:xfrm>
            <a:effectLst/>
          </p:grpSpPr>
          <p:sp>
            <p:nvSpPr>
              <p:cNvPr id="37" name="Freeform: Shape 36">
                <a:extLst>
                  <a:ext uri="{FF2B5EF4-FFF2-40B4-BE49-F238E27FC236}">
                    <a16:creationId xmlns:a16="http://schemas.microsoft.com/office/drawing/2014/main" id="{C939349E-97F2-4F20-99B2-B5BABDD5E5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 y="-1"/>
                <a:ext cx="4572002" cy="6858002"/>
              </a:xfrm>
              <a:custGeom>
                <a:avLst/>
                <a:gdLst>
                  <a:gd name="connsiteX0" fmla="*/ 4214994 w 4572002"/>
                  <a:gd name="connsiteY0" fmla="*/ 6564620 h 6858002"/>
                  <a:gd name="connsiteX1" fmla="*/ 4214994 w 4572002"/>
                  <a:gd name="connsiteY1" fmla="*/ 6564621 h 6858002"/>
                  <a:gd name="connsiteX2" fmla="*/ 4237474 w 4572002"/>
                  <a:gd name="connsiteY2" fmla="*/ 6588626 h 6858002"/>
                  <a:gd name="connsiteX3" fmla="*/ 4254096 w 4572002"/>
                  <a:gd name="connsiteY3" fmla="*/ 6625225 h 6858002"/>
                  <a:gd name="connsiteX4" fmla="*/ 4247001 w 4572002"/>
                  <a:gd name="connsiteY4" fmla="*/ 6662540 h 6858002"/>
                  <a:gd name="connsiteX5" fmla="*/ 4247000 w 4572002"/>
                  <a:gd name="connsiteY5" fmla="*/ 6662541 h 6858002"/>
                  <a:gd name="connsiteX6" fmla="*/ 4246999 w 4572002"/>
                  <a:gd name="connsiteY6" fmla="*/ 6662544 h 6858002"/>
                  <a:gd name="connsiteX7" fmla="*/ 4235550 w 4572002"/>
                  <a:gd name="connsiteY7" fmla="*/ 6683027 h 6858002"/>
                  <a:gd name="connsiteX8" fmla="*/ 4232403 w 4572002"/>
                  <a:gd name="connsiteY8" fmla="*/ 6702976 h 6858002"/>
                  <a:gd name="connsiteX9" fmla="*/ 4232403 w 4572002"/>
                  <a:gd name="connsiteY9" fmla="*/ 6702977 h 6858002"/>
                  <a:gd name="connsiteX10" fmla="*/ 4246238 w 4572002"/>
                  <a:gd name="connsiteY10" fmla="*/ 6742553 h 6858002"/>
                  <a:gd name="connsiteX11" fmla="*/ 4246239 w 4572002"/>
                  <a:gd name="connsiteY11" fmla="*/ 6742555 h 6858002"/>
                  <a:gd name="connsiteX12" fmla="*/ 4265716 w 4572002"/>
                  <a:gd name="connsiteY12" fmla="*/ 6812062 h 6858002"/>
                  <a:gd name="connsiteX13" fmla="*/ 4265717 w 4572002"/>
                  <a:gd name="connsiteY13" fmla="*/ 6812064 h 6858002"/>
                  <a:gd name="connsiteX14" fmla="*/ 4265717 w 4572002"/>
                  <a:gd name="connsiteY14" fmla="*/ 6812063 h 6858002"/>
                  <a:gd name="connsiteX15" fmla="*/ 4265716 w 4572002"/>
                  <a:gd name="connsiteY15" fmla="*/ 6812062 h 6858002"/>
                  <a:gd name="connsiteX16" fmla="*/ 4260942 w 4572002"/>
                  <a:gd name="connsiteY16" fmla="*/ 6776800 h 6858002"/>
                  <a:gd name="connsiteX17" fmla="*/ 4246239 w 4572002"/>
                  <a:gd name="connsiteY17" fmla="*/ 6742555 h 6858002"/>
                  <a:gd name="connsiteX18" fmla="*/ 4246238 w 4572002"/>
                  <a:gd name="connsiteY18" fmla="*/ 6742552 h 6858002"/>
                  <a:gd name="connsiteX19" fmla="*/ 4232403 w 4572002"/>
                  <a:gd name="connsiteY19" fmla="*/ 6702976 h 6858002"/>
                  <a:gd name="connsiteX20" fmla="*/ 4246999 w 4572002"/>
                  <a:gd name="connsiteY20" fmla="*/ 6662544 h 6858002"/>
                  <a:gd name="connsiteX21" fmla="*/ 4247000 w 4572002"/>
                  <a:gd name="connsiteY21" fmla="*/ 6662542 h 6858002"/>
                  <a:gd name="connsiteX22" fmla="*/ 4247001 w 4572002"/>
                  <a:gd name="connsiteY22" fmla="*/ 6662540 h 6858002"/>
                  <a:gd name="connsiteX23" fmla="*/ 4254084 w 4572002"/>
                  <a:gd name="connsiteY23" fmla="*/ 6645552 h 6858002"/>
                  <a:gd name="connsiteX24" fmla="*/ 4254096 w 4572002"/>
                  <a:gd name="connsiteY24" fmla="*/ 6625225 h 6858002"/>
                  <a:gd name="connsiteX25" fmla="*/ 4254096 w 4572002"/>
                  <a:gd name="connsiteY25" fmla="*/ 6625224 h 6858002"/>
                  <a:gd name="connsiteX26" fmla="*/ 4237474 w 4572002"/>
                  <a:gd name="connsiteY26" fmla="*/ 6588625 h 6858002"/>
                  <a:gd name="connsiteX27" fmla="*/ 4295315 w 4572002"/>
                  <a:gd name="connsiteY27" fmla="*/ 6438981 h 6858002"/>
                  <a:gd name="connsiteX28" fmla="*/ 4275385 w 4572002"/>
                  <a:gd name="connsiteY28" fmla="*/ 6463840 h 6858002"/>
                  <a:gd name="connsiteX29" fmla="*/ 4275382 w 4572002"/>
                  <a:gd name="connsiteY29" fmla="*/ 6463849 h 6858002"/>
                  <a:gd name="connsiteX30" fmla="*/ 4261587 w 4572002"/>
                  <a:gd name="connsiteY30" fmla="*/ 6513012 h 6858002"/>
                  <a:gd name="connsiteX31" fmla="*/ 4242781 w 4572002"/>
                  <a:gd name="connsiteY31" fmla="*/ 6546194 h 6858002"/>
                  <a:gd name="connsiteX32" fmla="*/ 4242781 w 4572002"/>
                  <a:gd name="connsiteY32" fmla="*/ 6546195 h 6858002"/>
                  <a:gd name="connsiteX33" fmla="*/ 4259120 w 4572002"/>
                  <a:gd name="connsiteY33" fmla="*/ 6521804 h 6858002"/>
                  <a:gd name="connsiteX34" fmla="*/ 4261587 w 4572002"/>
                  <a:gd name="connsiteY34" fmla="*/ 6513012 h 6858002"/>
                  <a:gd name="connsiteX35" fmla="*/ 4264398 w 4572002"/>
                  <a:gd name="connsiteY35" fmla="*/ 6508052 h 6858002"/>
                  <a:gd name="connsiteX36" fmla="*/ 4275382 w 4572002"/>
                  <a:gd name="connsiteY36" fmla="*/ 6463849 h 6858002"/>
                  <a:gd name="connsiteX37" fmla="*/ 4275385 w 4572002"/>
                  <a:gd name="connsiteY37" fmla="*/ 6463841 h 6858002"/>
                  <a:gd name="connsiteX38" fmla="*/ 4295315 w 4572002"/>
                  <a:gd name="connsiteY38" fmla="*/ 6438981 h 6858002"/>
                  <a:gd name="connsiteX39" fmla="*/ 4381289 w 4572002"/>
                  <a:gd name="connsiteY39" fmla="*/ 6365204 h 6858002"/>
                  <a:gd name="connsiteX40" fmla="*/ 4380008 w 4572002"/>
                  <a:gd name="connsiteY40" fmla="*/ 6387910 h 6858002"/>
                  <a:gd name="connsiteX41" fmla="*/ 4378243 w 4572002"/>
                  <a:gd name="connsiteY41" fmla="*/ 6391549 h 6858002"/>
                  <a:gd name="connsiteX42" fmla="*/ 4370589 w 4572002"/>
                  <a:gd name="connsiteY42" fmla="*/ 6407332 h 6858002"/>
                  <a:gd name="connsiteX43" fmla="*/ 4370589 w 4572002"/>
                  <a:gd name="connsiteY43" fmla="*/ 6407333 h 6858002"/>
                  <a:gd name="connsiteX44" fmla="*/ 4378243 w 4572002"/>
                  <a:gd name="connsiteY44" fmla="*/ 6391549 h 6858002"/>
                  <a:gd name="connsiteX45" fmla="*/ 4380008 w 4572002"/>
                  <a:gd name="connsiteY45" fmla="*/ 6387910 h 6858002"/>
                  <a:gd name="connsiteX46" fmla="*/ 4142220 w 4572002"/>
                  <a:gd name="connsiteY46" fmla="*/ 4221391 h 6858002"/>
                  <a:gd name="connsiteX47" fmla="*/ 4142220 w 4572002"/>
                  <a:gd name="connsiteY47" fmla="*/ 4221392 h 6858002"/>
                  <a:gd name="connsiteX48" fmla="*/ 4147936 w 4572002"/>
                  <a:gd name="connsiteY48" fmla="*/ 4253015 h 6858002"/>
                  <a:gd name="connsiteX49" fmla="*/ 4187752 w 4572002"/>
                  <a:gd name="connsiteY49" fmla="*/ 4324646 h 6858002"/>
                  <a:gd name="connsiteX50" fmla="*/ 4196706 w 4572002"/>
                  <a:gd name="connsiteY50" fmla="*/ 4363891 h 6858002"/>
                  <a:gd name="connsiteX51" fmla="*/ 4195944 w 4572002"/>
                  <a:gd name="connsiteY51" fmla="*/ 4482004 h 6858002"/>
                  <a:gd name="connsiteX52" fmla="*/ 4135934 w 4572002"/>
                  <a:gd name="connsiteY52" fmla="*/ 4659174 h 6858002"/>
                  <a:gd name="connsiteX53" fmla="*/ 4127932 w 4572002"/>
                  <a:gd name="connsiteY53" fmla="*/ 4677655 h 6858002"/>
                  <a:gd name="connsiteX54" fmla="*/ 4118025 w 4572002"/>
                  <a:gd name="connsiteY54" fmla="*/ 4767764 h 6858002"/>
                  <a:gd name="connsiteX55" fmla="*/ 4116716 w 4572002"/>
                  <a:gd name="connsiteY55" fmla="*/ 4800483 h 6858002"/>
                  <a:gd name="connsiteX56" fmla="*/ 4116716 w 4572002"/>
                  <a:gd name="connsiteY56" fmla="*/ 4800484 h 6858002"/>
                  <a:gd name="connsiteX57" fmla="*/ 4131552 w 4572002"/>
                  <a:gd name="connsiteY57" fmla="*/ 4828917 h 6858002"/>
                  <a:gd name="connsiteX58" fmla="*/ 4153733 w 4572002"/>
                  <a:gd name="connsiteY58" fmla="*/ 4863343 h 6858002"/>
                  <a:gd name="connsiteX59" fmla="*/ 4161262 w 4572002"/>
                  <a:gd name="connsiteY59" fmla="*/ 4889275 h 6858002"/>
                  <a:gd name="connsiteX60" fmla="*/ 4159557 w 4572002"/>
                  <a:gd name="connsiteY60" fmla="*/ 4912168 h 6858002"/>
                  <a:gd name="connsiteX61" fmla="*/ 4158155 w 4572002"/>
                  <a:gd name="connsiteY61" fmla="*/ 4933804 h 6858002"/>
                  <a:gd name="connsiteX62" fmla="*/ 4158155 w 4572002"/>
                  <a:gd name="connsiteY62" fmla="*/ 4933805 h 6858002"/>
                  <a:gd name="connsiteX63" fmla="*/ 4162914 w 4572002"/>
                  <a:gd name="connsiteY63" fmla="*/ 4952673 h 6858002"/>
                  <a:gd name="connsiteX64" fmla="*/ 4165707 w 4572002"/>
                  <a:gd name="connsiteY64" fmla="*/ 4957454 h 6858002"/>
                  <a:gd name="connsiteX65" fmla="*/ 4166985 w 4572002"/>
                  <a:gd name="connsiteY65" fmla="*/ 4961456 h 6858002"/>
                  <a:gd name="connsiteX66" fmla="*/ 4182989 w 4572002"/>
                  <a:gd name="connsiteY66" fmla="*/ 4987038 h 6858002"/>
                  <a:gd name="connsiteX67" fmla="*/ 4209468 w 4572002"/>
                  <a:gd name="connsiteY67" fmla="*/ 5041522 h 6858002"/>
                  <a:gd name="connsiteX68" fmla="*/ 4216684 w 4572002"/>
                  <a:gd name="connsiteY68" fmla="*/ 5072376 h 6858002"/>
                  <a:gd name="connsiteX69" fmla="*/ 4222587 w 4572002"/>
                  <a:gd name="connsiteY69" fmla="*/ 5087441 h 6858002"/>
                  <a:gd name="connsiteX70" fmla="*/ 4235615 w 4572002"/>
                  <a:gd name="connsiteY70" fmla="*/ 5133220 h 6858002"/>
                  <a:gd name="connsiteX71" fmla="*/ 4235616 w 4572002"/>
                  <a:gd name="connsiteY71" fmla="*/ 5133225 h 6858002"/>
                  <a:gd name="connsiteX72" fmla="*/ 4228901 w 4572002"/>
                  <a:gd name="connsiteY72" fmla="*/ 5166113 h 6858002"/>
                  <a:gd name="connsiteX73" fmla="*/ 4228901 w 4572002"/>
                  <a:gd name="connsiteY73" fmla="*/ 5166114 h 6858002"/>
                  <a:gd name="connsiteX74" fmla="*/ 4229593 w 4572002"/>
                  <a:gd name="connsiteY74" fmla="*/ 5172091 h 6858002"/>
                  <a:gd name="connsiteX75" fmla="*/ 4232139 w 4572002"/>
                  <a:gd name="connsiteY75" fmla="*/ 5179068 h 6858002"/>
                  <a:gd name="connsiteX76" fmla="*/ 4231973 w 4572002"/>
                  <a:gd name="connsiteY76" fmla="*/ 5229434 h 6858002"/>
                  <a:gd name="connsiteX77" fmla="*/ 4225669 w 4572002"/>
                  <a:gd name="connsiteY77" fmla="*/ 5241089 h 6858002"/>
                  <a:gd name="connsiteX78" fmla="*/ 4208517 w 4572002"/>
                  <a:gd name="connsiteY78" fmla="*/ 5272796 h 6858002"/>
                  <a:gd name="connsiteX79" fmla="*/ 4184613 w 4572002"/>
                  <a:gd name="connsiteY79" fmla="*/ 5312288 h 6858002"/>
                  <a:gd name="connsiteX80" fmla="*/ 4183557 w 4572002"/>
                  <a:gd name="connsiteY80" fmla="*/ 5321350 h 6858002"/>
                  <a:gd name="connsiteX81" fmla="*/ 4181083 w 4572002"/>
                  <a:gd name="connsiteY81" fmla="*/ 5326163 h 6858002"/>
                  <a:gd name="connsiteX82" fmla="*/ 4179637 w 4572002"/>
                  <a:gd name="connsiteY82" fmla="*/ 5355014 h 6858002"/>
                  <a:gd name="connsiteX83" fmla="*/ 4179637 w 4572002"/>
                  <a:gd name="connsiteY83" fmla="*/ 5355015 h 6858002"/>
                  <a:gd name="connsiteX84" fmla="*/ 4184513 w 4572002"/>
                  <a:gd name="connsiteY84" fmla="*/ 5385385 h 6858002"/>
                  <a:gd name="connsiteX85" fmla="*/ 4192704 w 4572002"/>
                  <a:gd name="connsiteY85" fmla="*/ 5425583 h 6858002"/>
                  <a:gd name="connsiteX86" fmla="*/ 4204327 w 4572002"/>
                  <a:gd name="connsiteY86" fmla="*/ 5480638 h 6858002"/>
                  <a:gd name="connsiteX87" fmla="*/ 4208850 w 4572002"/>
                  <a:gd name="connsiteY87" fmla="*/ 5507668 h 6858002"/>
                  <a:gd name="connsiteX88" fmla="*/ 4198232 w 4572002"/>
                  <a:gd name="connsiteY88" fmla="*/ 5531692 h 6858002"/>
                  <a:gd name="connsiteX89" fmla="*/ 4198231 w 4572002"/>
                  <a:gd name="connsiteY89" fmla="*/ 5531693 h 6858002"/>
                  <a:gd name="connsiteX90" fmla="*/ 4188085 w 4572002"/>
                  <a:gd name="connsiteY90" fmla="*/ 5547578 h 6858002"/>
                  <a:gd name="connsiteX91" fmla="*/ 4188085 w 4572002"/>
                  <a:gd name="connsiteY91" fmla="*/ 5547579 h 6858002"/>
                  <a:gd name="connsiteX92" fmla="*/ 4197659 w 4572002"/>
                  <a:gd name="connsiteY92" fmla="*/ 5562747 h 6858002"/>
                  <a:gd name="connsiteX93" fmla="*/ 4268907 w 4572002"/>
                  <a:gd name="connsiteY93" fmla="*/ 5704484 h 6858002"/>
                  <a:gd name="connsiteX94" fmla="*/ 4274812 w 4572002"/>
                  <a:gd name="connsiteY94" fmla="*/ 5740489 h 6858002"/>
                  <a:gd name="connsiteX95" fmla="*/ 4283578 w 4572002"/>
                  <a:gd name="connsiteY95" fmla="*/ 5760874 h 6858002"/>
                  <a:gd name="connsiteX96" fmla="*/ 4371973 w 4572002"/>
                  <a:gd name="connsiteY96" fmla="*/ 5883752 h 6858002"/>
                  <a:gd name="connsiteX97" fmla="*/ 4371974 w 4572002"/>
                  <a:gd name="connsiteY97" fmla="*/ 5883757 h 6858002"/>
                  <a:gd name="connsiteX98" fmla="*/ 4389877 w 4572002"/>
                  <a:gd name="connsiteY98" fmla="*/ 5935946 h 6858002"/>
                  <a:gd name="connsiteX99" fmla="*/ 4389878 w 4572002"/>
                  <a:gd name="connsiteY99" fmla="*/ 5935950 h 6858002"/>
                  <a:gd name="connsiteX100" fmla="*/ 4386259 w 4572002"/>
                  <a:gd name="connsiteY100" fmla="*/ 5993290 h 6858002"/>
                  <a:gd name="connsiteX101" fmla="*/ 4386259 w 4572002"/>
                  <a:gd name="connsiteY101" fmla="*/ 5993291 h 6858002"/>
                  <a:gd name="connsiteX102" fmla="*/ 4379782 w 4572002"/>
                  <a:gd name="connsiteY102" fmla="*/ 6026440 h 6858002"/>
                  <a:gd name="connsiteX103" fmla="*/ 4323583 w 4572002"/>
                  <a:gd name="connsiteY103" fmla="*/ 6108738 h 6858002"/>
                  <a:gd name="connsiteX104" fmla="*/ 4309890 w 4572002"/>
                  <a:gd name="connsiteY104" fmla="*/ 6133314 h 6858002"/>
                  <a:gd name="connsiteX105" fmla="*/ 4309890 w 4572002"/>
                  <a:gd name="connsiteY105" fmla="*/ 6133315 h 6858002"/>
                  <a:gd name="connsiteX106" fmla="*/ 4313591 w 4572002"/>
                  <a:gd name="connsiteY106" fmla="*/ 6143190 h 6858002"/>
                  <a:gd name="connsiteX107" fmla="*/ 4325486 w 4572002"/>
                  <a:gd name="connsiteY107" fmla="*/ 6155600 h 6858002"/>
                  <a:gd name="connsiteX108" fmla="*/ 4325488 w 4572002"/>
                  <a:gd name="connsiteY108" fmla="*/ 6155603 h 6858002"/>
                  <a:gd name="connsiteX109" fmla="*/ 4364160 w 4572002"/>
                  <a:gd name="connsiteY109" fmla="*/ 6228757 h 6858002"/>
                  <a:gd name="connsiteX110" fmla="*/ 4381497 w 4572002"/>
                  <a:gd name="connsiteY110" fmla="*/ 6361540 h 6858002"/>
                  <a:gd name="connsiteX111" fmla="*/ 4381497 w 4572002"/>
                  <a:gd name="connsiteY111" fmla="*/ 6361539 h 6858002"/>
                  <a:gd name="connsiteX112" fmla="*/ 4364160 w 4572002"/>
                  <a:gd name="connsiteY112" fmla="*/ 6228756 h 6858002"/>
                  <a:gd name="connsiteX113" fmla="*/ 4325488 w 4572002"/>
                  <a:gd name="connsiteY113" fmla="*/ 6155602 h 6858002"/>
                  <a:gd name="connsiteX114" fmla="*/ 4325486 w 4572002"/>
                  <a:gd name="connsiteY114" fmla="*/ 6155600 h 6858002"/>
                  <a:gd name="connsiteX115" fmla="*/ 4309890 w 4572002"/>
                  <a:gd name="connsiteY115" fmla="*/ 6133315 h 6858002"/>
                  <a:gd name="connsiteX116" fmla="*/ 4323583 w 4572002"/>
                  <a:gd name="connsiteY116" fmla="*/ 6108739 h 6858002"/>
                  <a:gd name="connsiteX117" fmla="*/ 4379782 w 4572002"/>
                  <a:gd name="connsiteY117" fmla="*/ 6026441 h 6858002"/>
                  <a:gd name="connsiteX118" fmla="*/ 4386259 w 4572002"/>
                  <a:gd name="connsiteY118" fmla="*/ 5993292 h 6858002"/>
                  <a:gd name="connsiteX119" fmla="*/ 4386259 w 4572002"/>
                  <a:gd name="connsiteY119" fmla="*/ 5993290 h 6858002"/>
                  <a:gd name="connsiteX120" fmla="*/ 4389712 w 4572002"/>
                  <a:gd name="connsiteY120" fmla="*/ 5964477 h 6858002"/>
                  <a:gd name="connsiteX121" fmla="*/ 4389878 w 4572002"/>
                  <a:gd name="connsiteY121" fmla="*/ 5935950 h 6858002"/>
                  <a:gd name="connsiteX122" fmla="*/ 4389878 w 4572002"/>
                  <a:gd name="connsiteY122" fmla="*/ 5935949 h 6858002"/>
                  <a:gd name="connsiteX123" fmla="*/ 4389877 w 4572002"/>
                  <a:gd name="connsiteY123" fmla="*/ 5935946 h 6858002"/>
                  <a:gd name="connsiteX124" fmla="*/ 4382997 w 4572002"/>
                  <a:gd name="connsiteY124" fmla="*/ 5909351 h 6858002"/>
                  <a:gd name="connsiteX125" fmla="*/ 4371974 w 4572002"/>
                  <a:gd name="connsiteY125" fmla="*/ 5883757 h 6858002"/>
                  <a:gd name="connsiteX126" fmla="*/ 4371973 w 4572002"/>
                  <a:gd name="connsiteY126" fmla="*/ 5883751 h 6858002"/>
                  <a:gd name="connsiteX127" fmla="*/ 4283578 w 4572002"/>
                  <a:gd name="connsiteY127" fmla="*/ 5760873 h 6858002"/>
                  <a:gd name="connsiteX128" fmla="*/ 4274812 w 4572002"/>
                  <a:gd name="connsiteY128" fmla="*/ 5740488 h 6858002"/>
                  <a:gd name="connsiteX129" fmla="*/ 4268907 w 4572002"/>
                  <a:gd name="connsiteY129" fmla="*/ 5704483 h 6858002"/>
                  <a:gd name="connsiteX130" fmla="*/ 4197659 w 4572002"/>
                  <a:gd name="connsiteY130" fmla="*/ 5562746 h 6858002"/>
                  <a:gd name="connsiteX131" fmla="*/ 4188085 w 4572002"/>
                  <a:gd name="connsiteY131" fmla="*/ 5547578 h 6858002"/>
                  <a:gd name="connsiteX132" fmla="*/ 4198231 w 4572002"/>
                  <a:gd name="connsiteY132" fmla="*/ 5531694 h 6858002"/>
                  <a:gd name="connsiteX133" fmla="*/ 4198232 w 4572002"/>
                  <a:gd name="connsiteY133" fmla="*/ 5531692 h 6858002"/>
                  <a:gd name="connsiteX134" fmla="*/ 4206630 w 4572002"/>
                  <a:gd name="connsiteY134" fmla="*/ 5520422 h 6858002"/>
                  <a:gd name="connsiteX135" fmla="*/ 4208850 w 4572002"/>
                  <a:gd name="connsiteY135" fmla="*/ 5507668 h 6858002"/>
                  <a:gd name="connsiteX136" fmla="*/ 4208850 w 4572002"/>
                  <a:gd name="connsiteY136" fmla="*/ 5507667 h 6858002"/>
                  <a:gd name="connsiteX137" fmla="*/ 4204327 w 4572002"/>
                  <a:gd name="connsiteY137" fmla="*/ 5480637 h 6858002"/>
                  <a:gd name="connsiteX138" fmla="*/ 4192704 w 4572002"/>
                  <a:gd name="connsiteY138" fmla="*/ 5425582 h 6858002"/>
                  <a:gd name="connsiteX139" fmla="*/ 4184513 w 4572002"/>
                  <a:gd name="connsiteY139" fmla="*/ 5385384 h 6858002"/>
                  <a:gd name="connsiteX140" fmla="*/ 4179637 w 4572002"/>
                  <a:gd name="connsiteY140" fmla="*/ 5355014 h 6858002"/>
                  <a:gd name="connsiteX141" fmla="*/ 4183557 w 4572002"/>
                  <a:gd name="connsiteY141" fmla="*/ 5321350 h 6858002"/>
                  <a:gd name="connsiteX142" fmla="*/ 4208517 w 4572002"/>
                  <a:gd name="connsiteY142" fmla="*/ 5272797 h 6858002"/>
                  <a:gd name="connsiteX143" fmla="*/ 4225669 w 4572002"/>
                  <a:gd name="connsiteY143" fmla="*/ 5241089 h 6858002"/>
                  <a:gd name="connsiteX144" fmla="*/ 4231973 w 4572002"/>
                  <a:gd name="connsiteY144" fmla="*/ 5229433 h 6858002"/>
                  <a:gd name="connsiteX145" fmla="*/ 4232139 w 4572002"/>
                  <a:gd name="connsiteY145" fmla="*/ 5179068 h 6858002"/>
                  <a:gd name="connsiteX146" fmla="*/ 4232139 w 4572002"/>
                  <a:gd name="connsiteY146" fmla="*/ 5179067 h 6858002"/>
                  <a:gd name="connsiteX147" fmla="*/ 4229593 w 4572002"/>
                  <a:gd name="connsiteY147" fmla="*/ 5172090 h 6858002"/>
                  <a:gd name="connsiteX148" fmla="*/ 4228901 w 4572002"/>
                  <a:gd name="connsiteY148" fmla="*/ 5166114 h 6858002"/>
                  <a:gd name="connsiteX149" fmla="*/ 4235616 w 4572002"/>
                  <a:gd name="connsiteY149" fmla="*/ 5133225 h 6858002"/>
                  <a:gd name="connsiteX150" fmla="*/ 4235616 w 4572002"/>
                  <a:gd name="connsiteY150" fmla="*/ 5133224 h 6858002"/>
                  <a:gd name="connsiteX151" fmla="*/ 4235615 w 4572002"/>
                  <a:gd name="connsiteY151" fmla="*/ 5133220 h 6858002"/>
                  <a:gd name="connsiteX152" fmla="*/ 4228473 w 4572002"/>
                  <a:gd name="connsiteY152" fmla="*/ 5102461 h 6858002"/>
                  <a:gd name="connsiteX153" fmla="*/ 4222587 w 4572002"/>
                  <a:gd name="connsiteY153" fmla="*/ 5087441 h 6858002"/>
                  <a:gd name="connsiteX154" fmla="*/ 4222582 w 4572002"/>
                  <a:gd name="connsiteY154" fmla="*/ 5087423 h 6858002"/>
                  <a:gd name="connsiteX155" fmla="*/ 4209468 w 4572002"/>
                  <a:gd name="connsiteY155" fmla="*/ 5041521 h 6858002"/>
                  <a:gd name="connsiteX156" fmla="*/ 4182989 w 4572002"/>
                  <a:gd name="connsiteY156" fmla="*/ 4987037 h 6858002"/>
                  <a:gd name="connsiteX157" fmla="*/ 4165707 w 4572002"/>
                  <a:gd name="connsiteY157" fmla="*/ 4957454 h 6858002"/>
                  <a:gd name="connsiteX158" fmla="*/ 4158155 w 4572002"/>
                  <a:gd name="connsiteY158" fmla="*/ 4933805 h 6858002"/>
                  <a:gd name="connsiteX159" fmla="*/ 4159557 w 4572002"/>
                  <a:gd name="connsiteY159" fmla="*/ 4912169 h 6858002"/>
                  <a:gd name="connsiteX160" fmla="*/ 4161262 w 4572002"/>
                  <a:gd name="connsiteY160" fmla="*/ 4889276 h 6858002"/>
                  <a:gd name="connsiteX161" fmla="*/ 4161262 w 4572002"/>
                  <a:gd name="connsiteY161" fmla="*/ 4889275 h 6858002"/>
                  <a:gd name="connsiteX162" fmla="*/ 4156484 w 4572002"/>
                  <a:gd name="connsiteY162" fmla="*/ 4867614 h 6858002"/>
                  <a:gd name="connsiteX163" fmla="*/ 4153733 w 4572002"/>
                  <a:gd name="connsiteY163" fmla="*/ 4863343 h 6858002"/>
                  <a:gd name="connsiteX164" fmla="*/ 4151983 w 4572002"/>
                  <a:gd name="connsiteY164" fmla="*/ 4857317 h 6858002"/>
                  <a:gd name="connsiteX165" fmla="*/ 4131552 w 4572002"/>
                  <a:gd name="connsiteY165" fmla="*/ 4828916 h 6858002"/>
                  <a:gd name="connsiteX166" fmla="*/ 4116716 w 4572002"/>
                  <a:gd name="connsiteY166" fmla="*/ 4800483 h 6858002"/>
                  <a:gd name="connsiteX167" fmla="*/ 4118025 w 4572002"/>
                  <a:gd name="connsiteY167" fmla="*/ 4767765 h 6858002"/>
                  <a:gd name="connsiteX168" fmla="*/ 4127932 w 4572002"/>
                  <a:gd name="connsiteY168" fmla="*/ 4677656 h 6858002"/>
                  <a:gd name="connsiteX169" fmla="*/ 4135934 w 4572002"/>
                  <a:gd name="connsiteY169" fmla="*/ 4659175 h 6858002"/>
                  <a:gd name="connsiteX170" fmla="*/ 4195944 w 4572002"/>
                  <a:gd name="connsiteY170" fmla="*/ 4482005 h 6858002"/>
                  <a:gd name="connsiteX171" fmla="*/ 4196706 w 4572002"/>
                  <a:gd name="connsiteY171" fmla="*/ 4363891 h 6858002"/>
                  <a:gd name="connsiteX172" fmla="*/ 4196706 w 4572002"/>
                  <a:gd name="connsiteY172" fmla="*/ 4363890 h 6858002"/>
                  <a:gd name="connsiteX173" fmla="*/ 4187752 w 4572002"/>
                  <a:gd name="connsiteY173" fmla="*/ 4324645 h 6858002"/>
                  <a:gd name="connsiteX174" fmla="*/ 4147936 w 4572002"/>
                  <a:gd name="connsiteY174" fmla="*/ 4253014 h 6858002"/>
                  <a:gd name="connsiteX175" fmla="*/ 4211111 w 4572002"/>
                  <a:gd name="connsiteY175" fmla="*/ 2836172 h 6858002"/>
                  <a:gd name="connsiteX176" fmla="*/ 4202421 w 4572002"/>
                  <a:gd name="connsiteY176" fmla="*/ 2848793 h 6858002"/>
                  <a:gd name="connsiteX177" fmla="*/ 4186816 w 4572002"/>
                  <a:gd name="connsiteY177" fmla="*/ 2897785 h 6858002"/>
                  <a:gd name="connsiteX178" fmla="*/ 4185787 w 4572002"/>
                  <a:gd name="connsiteY178" fmla="*/ 2903551 h 6858002"/>
                  <a:gd name="connsiteX179" fmla="*/ 4182513 w 4572002"/>
                  <a:gd name="connsiteY179" fmla="*/ 2914328 h 6858002"/>
                  <a:gd name="connsiteX180" fmla="*/ 4177882 w 4572002"/>
                  <a:gd name="connsiteY180" fmla="*/ 2947858 h 6858002"/>
                  <a:gd name="connsiteX181" fmla="*/ 4177881 w 4572002"/>
                  <a:gd name="connsiteY181" fmla="*/ 2947862 h 6858002"/>
                  <a:gd name="connsiteX182" fmla="*/ 4177881 w 4572002"/>
                  <a:gd name="connsiteY182" fmla="*/ 2947863 h 6858002"/>
                  <a:gd name="connsiteX183" fmla="*/ 4181465 w 4572002"/>
                  <a:gd name="connsiteY183" fmla="*/ 2982149 h 6858002"/>
                  <a:gd name="connsiteX184" fmla="*/ 4193158 w 4572002"/>
                  <a:gd name="connsiteY184" fmla="*/ 3077402 h 6858002"/>
                  <a:gd name="connsiteX185" fmla="*/ 4180703 w 4572002"/>
                  <a:gd name="connsiteY185" fmla="*/ 3172654 h 6858002"/>
                  <a:gd name="connsiteX186" fmla="*/ 4133076 w 4572002"/>
                  <a:gd name="connsiteY186" fmla="*/ 3489467 h 6858002"/>
                  <a:gd name="connsiteX187" fmla="*/ 4110977 w 4572002"/>
                  <a:gd name="connsiteY187" fmla="*/ 3544713 h 6858002"/>
                  <a:gd name="connsiteX188" fmla="*/ 4093355 w 4572002"/>
                  <a:gd name="connsiteY188" fmla="*/ 3574408 h 6858002"/>
                  <a:gd name="connsiteX189" fmla="*/ 4093355 w 4572002"/>
                  <a:gd name="connsiteY189" fmla="*/ 3574409 h 6858002"/>
                  <a:gd name="connsiteX190" fmla="*/ 4105453 w 4572002"/>
                  <a:gd name="connsiteY190" fmla="*/ 3606818 h 6858002"/>
                  <a:gd name="connsiteX191" fmla="*/ 4118979 w 4572002"/>
                  <a:gd name="connsiteY191" fmla="*/ 3630633 h 6858002"/>
                  <a:gd name="connsiteX192" fmla="*/ 4136708 w 4572002"/>
                  <a:gd name="connsiteY192" fmla="*/ 3654416 h 6858002"/>
                  <a:gd name="connsiteX193" fmla="*/ 4140382 w 4572002"/>
                  <a:gd name="connsiteY193" fmla="*/ 3668940 h 6858002"/>
                  <a:gd name="connsiteX194" fmla="*/ 4143220 w 4572002"/>
                  <a:gd name="connsiteY194" fmla="*/ 3680164 h 6858002"/>
                  <a:gd name="connsiteX195" fmla="*/ 4139172 w 4572002"/>
                  <a:gd name="connsiteY195" fmla="*/ 3734837 h 6858002"/>
                  <a:gd name="connsiteX196" fmla="*/ 4139172 w 4572002"/>
                  <a:gd name="connsiteY196" fmla="*/ 3734838 h 6858002"/>
                  <a:gd name="connsiteX197" fmla="*/ 4139554 w 4572002"/>
                  <a:gd name="connsiteY197" fmla="*/ 3754653 h 6858002"/>
                  <a:gd name="connsiteX198" fmla="*/ 4145911 w 4572002"/>
                  <a:gd name="connsiteY198" fmla="*/ 3789776 h 6858002"/>
                  <a:gd name="connsiteX199" fmla="*/ 4130980 w 4572002"/>
                  <a:gd name="connsiteY199" fmla="*/ 3822472 h 6858002"/>
                  <a:gd name="connsiteX200" fmla="*/ 4116645 w 4572002"/>
                  <a:gd name="connsiteY200" fmla="*/ 3852619 h 6858002"/>
                  <a:gd name="connsiteX201" fmla="*/ 4116645 w 4572002"/>
                  <a:gd name="connsiteY201" fmla="*/ 3852620 h 6858002"/>
                  <a:gd name="connsiteX202" fmla="*/ 4117425 w 4572002"/>
                  <a:gd name="connsiteY202" fmla="*/ 3868764 h 6858002"/>
                  <a:gd name="connsiteX203" fmla="*/ 4126028 w 4572002"/>
                  <a:gd name="connsiteY203" fmla="*/ 3885337 h 6858002"/>
                  <a:gd name="connsiteX204" fmla="*/ 4126028 w 4572002"/>
                  <a:gd name="connsiteY204" fmla="*/ 3885339 h 6858002"/>
                  <a:gd name="connsiteX205" fmla="*/ 4148409 w 4572002"/>
                  <a:gd name="connsiteY205" fmla="*/ 3923125 h 6858002"/>
                  <a:gd name="connsiteX206" fmla="*/ 4157913 w 4572002"/>
                  <a:gd name="connsiteY206" fmla="*/ 3962160 h 6858002"/>
                  <a:gd name="connsiteX207" fmla="*/ 4142221 w 4572002"/>
                  <a:gd name="connsiteY207" fmla="*/ 4043838 h 6858002"/>
                  <a:gd name="connsiteX208" fmla="*/ 4142220 w 4572002"/>
                  <a:gd name="connsiteY208" fmla="*/ 4043839 h 6858002"/>
                  <a:gd name="connsiteX209" fmla="*/ 4127099 w 4572002"/>
                  <a:gd name="connsiteY209" fmla="*/ 4103825 h 6858002"/>
                  <a:gd name="connsiteX210" fmla="*/ 4127099 w 4572002"/>
                  <a:gd name="connsiteY210" fmla="*/ 4103826 h 6858002"/>
                  <a:gd name="connsiteX211" fmla="*/ 4129066 w 4572002"/>
                  <a:gd name="connsiteY211" fmla="*/ 4134256 h 6858002"/>
                  <a:gd name="connsiteX212" fmla="*/ 4138410 w 4572002"/>
                  <a:gd name="connsiteY212" fmla="*/ 4165382 h 6858002"/>
                  <a:gd name="connsiteX213" fmla="*/ 4138410 w 4572002"/>
                  <a:gd name="connsiteY213" fmla="*/ 4165384 h 6858002"/>
                  <a:gd name="connsiteX214" fmla="*/ 4142315 w 4572002"/>
                  <a:gd name="connsiteY214" fmla="*/ 4192388 h 6858002"/>
                  <a:gd name="connsiteX215" fmla="*/ 4142315 w 4572002"/>
                  <a:gd name="connsiteY215" fmla="*/ 4192387 h 6858002"/>
                  <a:gd name="connsiteX216" fmla="*/ 4138410 w 4572002"/>
                  <a:gd name="connsiteY216" fmla="*/ 4165383 h 6858002"/>
                  <a:gd name="connsiteX217" fmla="*/ 4138410 w 4572002"/>
                  <a:gd name="connsiteY217" fmla="*/ 4165382 h 6858002"/>
                  <a:gd name="connsiteX218" fmla="*/ 4127099 w 4572002"/>
                  <a:gd name="connsiteY218" fmla="*/ 4103826 h 6858002"/>
                  <a:gd name="connsiteX219" fmla="*/ 4142220 w 4572002"/>
                  <a:gd name="connsiteY219" fmla="*/ 4043840 h 6858002"/>
                  <a:gd name="connsiteX220" fmla="*/ 4142221 w 4572002"/>
                  <a:gd name="connsiteY220" fmla="*/ 4043838 h 6858002"/>
                  <a:gd name="connsiteX221" fmla="*/ 4155523 w 4572002"/>
                  <a:gd name="connsiteY221" fmla="*/ 4002410 h 6858002"/>
                  <a:gd name="connsiteX222" fmla="*/ 4157913 w 4572002"/>
                  <a:gd name="connsiteY222" fmla="*/ 3962160 h 6858002"/>
                  <a:gd name="connsiteX223" fmla="*/ 4157913 w 4572002"/>
                  <a:gd name="connsiteY223" fmla="*/ 3962159 h 6858002"/>
                  <a:gd name="connsiteX224" fmla="*/ 4126028 w 4572002"/>
                  <a:gd name="connsiteY224" fmla="*/ 3885338 h 6858002"/>
                  <a:gd name="connsiteX225" fmla="*/ 4126028 w 4572002"/>
                  <a:gd name="connsiteY225" fmla="*/ 3885337 h 6858002"/>
                  <a:gd name="connsiteX226" fmla="*/ 4116645 w 4572002"/>
                  <a:gd name="connsiteY226" fmla="*/ 3852620 h 6858002"/>
                  <a:gd name="connsiteX227" fmla="*/ 4130980 w 4572002"/>
                  <a:gd name="connsiteY227" fmla="*/ 3822473 h 6858002"/>
                  <a:gd name="connsiteX228" fmla="*/ 4145911 w 4572002"/>
                  <a:gd name="connsiteY228" fmla="*/ 3789777 h 6858002"/>
                  <a:gd name="connsiteX229" fmla="*/ 4145911 w 4572002"/>
                  <a:gd name="connsiteY229" fmla="*/ 3789776 h 6858002"/>
                  <a:gd name="connsiteX230" fmla="*/ 4139554 w 4572002"/>
                  <a:gd name="connsiteY230" fmla="*/ 3754652 h 6858002"/>
                  <a:gd name="connsiteX231" fmla="*/ 4139172 w 4572002"/>
                  <a:gd name="connsiteY231" fmla="*/ 3734838 h 6858002"/>
                  <a:gd name="connsiteX232" fmla="*/ 4143220 w 4572002"/>
                  <a:gd name="connsiteY232" fmla="*/ 3680164 h 6858002"/>
                  <a:gd name="connsiteX233" fmla="*/ 4143220 w 4572002"/>
                  <a:gd name="connsiteY233" fmla="*/ 3680163 h 6858002"/>
                  <a:gd name="connsiteX234" fmla="*/ 4140382 w 4572002"/>
                  <a:gd name="connsiteY234" fmla="*/ 3668940 h 6858002"/>
                  <a:gd name="connsiteX235" fmla="*/ 4136708 w 4572002"/>
                  <a:gd name="connsiteY235" fmla="*/ 3654416 h 6858002"/>
                  <a:gd name="connsiteX236" fmla="*/ 4136708 w 4572002"/>
                  <a:gd name="connsiteY236" fmla="*/ 3654416 h 6858002"/>
                  <a:gd name="connsiteX237" fmla="*/ 4136708 w 4572002"/>
                  <a:gd name="connsiteY237" fmla="*/ 3654415 h 6858002"/>
                  <a:gd name="connsiteX238" fmla="*/ 4118979 w 4572002"/>
                  <a:gd name="connsiteY238" fmla="*/ 3630632 h 6858002"/>
                  <a:gd name="connsiteX239" fmla="*/ 4105453 w 4572002"/>
                  <a:gd name="connsiteY239" fmla="*/ 3606817 h 6858002"/>
                  <a:gd name="connsiteX240" fmla="*/ 4095707 w 4572002"/>
                  <a:gd name="connsiteY240" fmla="*/ 3587174 h 6858002"/>
                  <a:gd name="connsiteX241" fmla="*/ 4093355 w 4572002"/>
                  <a:gd name="connsiteY241" fmla="*/ 3574408 h 6858002"/>
                  <a:gd name="connsiteX242" fmla="*/ 4098434 w 4572002"/>
                  <a:gd name="connsiteY242" fmla="*/ 3562321 h 6858002"/>
                  <a:gd name="connsiteX243" fmla="*/ 4110977 w 4572002"/>
                  <a:gd name="connsiteY243" fmla="*/ 3544714 h 6858002"/>
                  <a:gd name="connsiteX244" fmla="*/ 4133076 w 4572002"/>
                  <a:gd name="connsiteY244" fmla="*/ 3489468 h 6858002"/>
                  <a:gd name="connsiteX245" fmla="*/ 4180703 w 4572002"/>
                  <a:gd name="connsiteY245" fmla="*/ 3172655 h 6858002"/>
                  <a:gd name="connsiteX246" fmla="*/ 4193158 w 4572002"/>
                  <a:gd name="connsiteY246" fmla="*/ 3077402 h 6858002"/>
                  <a:gd name="connsiteX247" fmla="*/ 4193158 w 4572002"/>
                  <a:gd name="connsiteY247" fmla="*/ 3077401 h 6858002"/>
                  <a:gd name="connsiteX248" fmla="*/ 4181465 w 4572002"/>
                  <a:gd name="connsiteY248" fmla="*/ 2982148 h 6858002"/>
                  <a:gd name="connsiteX249" fmla="*/ 4177881 w 4572002"/>
                  <a:gd name="connsiteY249" fmla="*/ 2947863 h 6858002"/>
                  <a:gd name="connsiteX250" fmla="*/ 4177882 w 4572002"/>
                  <a:gd name="connsiteY250" fmla="*/ 2947858 h 6858002"/>
                  <a:gd name="connsiteX251" fmla="*/ 4185787 w 4572002"/>
                  <a:gd name="connsiteY251" fmla="*/ 2903551 h 6858002"/>
                  <a:gd name="connsiteX252" fmla="*/ 4202421 w 4572002"/>
                  <a:gd name="connsiteY252" fmla="*/ 2848794 h 6858002"/>
                  <a:gd name="connsiteX253" fmla="*/ 4211111 w 4572002"/>
                  <a:gd name="connsiteY253" fmla="*/ 2836173 h 6858002"/>
                  <a:gd name="connsiteX254" fmla="*/ 3726625 w 4572002"/>
                  <a:gd name="connsiteY254" fmla="*/ 1508458 h 6858002"/>
                  <a:gd name="connsiteX255" fmla="*/ 3698531 w 4572002"/>
                  <a:gd name="connsiteY255" fmla="*/ 1596214 h 6858002"/>
                  <a:gd name="connsiteX256" fmla="*/ 3700436 w 4572002"/>
                  <a:gd name="connsiteY256" fmla="*/ 1624981 h 6858002"/>
                  <a:gd name="connsiteX257" fmla="*/ 3757017 w 4572002"/>
                  <a:gd name="connsiteY257" fmla="*/ 1697754 h 6858002"/>
                  <a:gd name="connsiteX258" fmla="*/ 3779686 w 4572002"/>
                  <a:gd name="connsiteY258" fmla="*/ 1733189 h 6858002"/>
                  <a:gd name="connsiteX259" fmla="*/ 3821407 w 4572002"/>
                  <a:gd name="connsiteY259" fmla="*/ 1833776 h 6858002"/>
                  <a:gd name="connsiteX260" fmla="*/ 3829028 w 4572002"/>
                  <a:gd name="connsiteY260" fmla="*/ 1842159 h 6858002"/>
                  <a:gd name="connsiteX261" fmla="*/ 3919519 w 4572002"/>
                  <a:gd name="connsiteY261" fmla="*/ 1916455 h 6858002"/>
                  <a:gd name="connsiteX262" fmla="*/ 3934949 w 4572002"/>
                  <a:gd name="connsiteY262" fmla="*/ 1933220 h 6858002"/>
                  <a:gd name="connsiteX263" fmla="*/ 3958954 w 4572002"/>
                  <a:gd name="connsiteY263" fmla="*/ 1953414 h 6858002"/>
                  <a:gd name="connsiteX264" fmla="*/ 4005437 w 4572002"/>
                  <a:gd name="connsiteY264" fmla="*/ 2016470 h 6858002"/>
                  <a:gd name="connsiteX265" fmla="*/ 4020296 w 4572002"/>
                  <a:gd name="connsiteY265" fmla="*/ 2094579 h 6858002"/>
                  <a:gd name="connsiteX266" fmla="*/ 4042967 w 4572002"/>
                  <a:gd name="connsiteY266" fmla="*/ 2188880 h 6858002"/>
                  <a:gd name="connsiteX267" fmla="*/ 4058207 w 4572002"/>
                  <a:gd name="connsiteY267" fmla="*/ 2228315 h 6858002"/>
                  <a:gd name="connsiteX268" fmla="*/ 4087164 w 4572002"/>
                  <a:gd name="connsiteY268" fmla="*/ 2334045 h 6858002"/>
                  <a:gd name="connsiteX269" fmla="*/ 4111549 w 4572002"/>
                  <a:gd name="connsiteY269" fmla="*/ 2409486 h 6858002"/>
                  <a:gd name="connsiteX270" fmla="*/ 4128650 w 4572002"/>
                  <a:gd name="connsiteY270" fmla="*/ 2435913 h 6858002"/>
                  <a:gd name="connsiteX271" fmla="*/ 4134481 w 4572002"/>
                  <a:gd name="connsiteY271" fmla="*/ 2463018 h 6858002"/>
                  <a:gd name="connsiteX272" fmla="*/ 4125839 w 4572002"/>
                  <a:gd name="connsiteY272" fmla="*/ 2518262 h 6858002"/>
                  <a:gd name="connsiteX273" fmla="*/ 4125838 w 4572002"/>
                  <a:gd name="connsiteY273" fmla="*/ 2518264 h 6858002"/>
                  <a:gd name="connsiteX274" fmla="*/ 4122194 w 4572002"/>
                  <a:gd name="connsiteY274" fmla="*/ 2545006 h 6858002"/>
                  <a:gd name="connsiteX275" fmla="*/ 4122194 w 4572002"/>
                  <a:gd name="connsiteY275" fmla="*/ 2545007 h 6858002"/>
                  <a:gd name="connsiteX276" fmla="*/ 4126408 w 4572002"/>
                  <a:gd name="connsiteY276" fmla="*/ 2571035 h 6858002"/>
                  <a:gd name="connsiteX277" fmla="*/ 4199563 w 4572002"/>
                  <a:gd name="connsiteY277" fmla="*/ 2668002 h 6858002"/>
                  <a:gd name="connsiteX278" fmla="*/ 4247953 w 4572002"/>
                  <a:gd name="connsiteY278" fmla="*/ 2745349 h 6858002"/>
                  <a:gd name="connsiteX279" fmla="*/ 4247954 w 4572002"/>
                  <a:gd name="connsiteY279" fmla="*/ 2745352 h 6858002"/>
                  <a:gd name="connsiteX280" fmla="*/ 4253873 w 4572002"/>
                  <a:gd name="connsiteY280" fmla="*/ 2778006 h 6858002"/>
                  <a:gd name="connsiteX281" fmla="*/ 4253453 w 4572002"/>
                  <a:gd name="connsiteY281" fmla="*/ 2785440 h 6858002"/>
                  <a:gd name="connsiteX282" fmla="*/ 4243374 w 4572002"/>
                  <a:gd name="connsiteY282" fmla="*/ 2811780 h 6858002"/>
                  <a:gd name="connsiteX283" fmla="*/ 4243371 w 4572002"/>
                  <a:gd name="connsiteY283" fmla="*/ 2811787 h 6858002"/>
                  <a:gd name="connsiteX284" fmla="*/ 4243372 w 4572002"/>
                  <a:gd name="connsiteY284" fmla="*/ 2811787 h 6858002"/>
                  <a:gd name="connsiteX285" fmla="*/ 4243374 w 4572002"/>
                  <a:gd name="connsiteY285" fmla="*/ 2811780 h 6858002"/>
                  <a:gd name="connsiteX286" fmla="*/ 4253025 w 4572002"/>
                  <a:gd name="connsiteY286" fmla="*/ 2793023 h 6858002"/>
                  <a:gd name="connsiteX287" fmla="*/ 4253453 w 4572002"/>
                  <a:gd name="connsiteY287" fmla="*/ 2785440 h 6858002"/>
                  <a:gd name="connsiteX288" fmla="*/ 4254654 w 4572002"/>
                  <a:gd name="connsiteY288" fmla="*/ 2782305 h 6858002"/>
                  <a:gd name="connsiteX289" fmla="*/ 4253873 w 4572002"/>
                  <a:gd name="connsiteY289" fmla="*/ 2778006 h 6858002"/>
                  <a:gd name="connsiteX290" fmla="*/ 4254284 w 4572002"/>
                  <a:gd name="connsiteY290" fmla="*/ 2770758 h 6858002"/>
                  <a:gd name="connsiteX291" fmla="*/ 4247954 w 4572002"/>
                  <a:gd name="connsiteY291" fmla="*/ 2745352 h 6858002"/>
                  <a:gd name="connsiteX292" fmla="*/ 4247953 w 4572002"/>
                  <a:gd name="connsiteY292" fmla="*/ 2745348 h 6858002"/>
                  <a:gd name="connsiteX293" fmla="*/ 4199563 w 4572002"/>
                  <a:gd name="connsiteY293" fmla="*/ 2668001 h 6858002"/>
                  <a:gd name="connsiteX294" fmla="*/ 4126408 w 4572002"/>
                  <a:gd name="connsiteY294" fmla="*/ 2571034 h 6858002"/>
                  <a:gd name="connsiteX295" fmla="*/ 4122194 w 4572002"/>
                  <a:gd name="connsiteY295" fmla="*/ 2545007 h 6858002"/>
                  <a:gd name="connsiteX296" fmla="*/ 4125838 w 4572002"/>
                  <a:gd name="connsiteY296" fmla="*/ 2518265 h 6858002"/>
                  <a:gd name="connsiteX297" fmla="*/ 4125839 w 4572002"/>
                  <a:gd name="connsiteY297" fmla="*/ 2518262 h 6858002"/>
                  <a:gd name="connsiteX298" fmla="*/ 4132419 w 4572002"/>
                  <a:gd name="connsiteY298" fmla="*/ 2490551 h 6858002"/>
                  <a:gd name="connsiteX299" fmla="*/ 4134481 w 4572002"/>
                  <a:gd name="connsiteY299" fmla="*/ 2463018 h 6858002"/>
                  <a:gd name="connsiteX300" fmla="*/ 4134481 w 4572002"/>
                  <a:gd name="connsiteY300" fmla="*/ 2463017 h 6858002"/>
                  <a:gd name="connsiteX301" fmla="*/ 4111549 w 4572002"/>
                  <a:gd name="connsiteY301" fmla="*/ 2409485 h 6858002"/>
                  <a:gd name="connsiteX302" fmla="*/ 4087164 w 4572002"/>
                  <a:gd name="connsiteY302" fmla="*/ 2334044 h 6858002"/>
                  <a:gd name="connsiteX303" fmla="*/ 4058207 w 4572002"/>
                  <a:gd name="connsiteY303" fmla="*/ 2228314 h 6858002"/>
                  <a:gd name="connsiteX304" fmla="*/ 4042967 w 4572002"/>
                  <a:gd name="connsiteY304" fmla="*/ 2188879 h 6858002"/>
                  <a:gd name="connsiteX305" fmla="*/ 4020296 w 4572002"/>
                  <a:gd name="connsiteY305" fmla="*/ 2094578 h 6858002"/>
                  <a:gd name="connsiteX306" fmla="*/ 4005437 w 4572002"/>
                  <a:gd name="connsiteY306" fmla="*/ 2016469 h 6858002"/>
                  <a:gd name="connsiteX307" fmla="*/ 3958954 w 4572002"/>
                  <a:gd name="connsiteY307" fmla="*/ 1953413 h 6858002"/>
                  <a:gd name="connsiteX308" fmla="*/ 3934949 w 4572002"/>
                  <a:gd name="connsiteY308" fmla="*/ 1933219 h 6858002"/>
                  <a:gd name="connsiteX309" fmla="*/ 3919519 w 4572002"/>
                  <a:gd name="connsiteY309" fmla="*/ 1916454 h 6858002"/>
                  <a:gd name="connsiteX310" fmla="*/ 3829028 w 4572002"/>
                  <a:gd name="connsiteY310" fmla="*/ 1842158 h 6858002"/>
                  <a:gd name="connsiteX311" fmla="*/ 3821407 w 4572002"/>
                  <a:gd name="connsiteY311" fmla="*/ 1833775 h 6858002"/>
                  <a:gd name="connsiteX312" fmla="*/ 3779686 w 4572002"/>
                  <a:gd name="connsiteY312" fmla="*/ 1733188 h 6858002"/>
                  <a:gd name="connsiteX313" fmla="*/ 3757018 w 4572002"/>
                  <a:gd name="connsiteY313" fmla="*/ 1697753 h 6858002"/>
                  <a:gd name="connsiteX314" fmla="*/ 3700436 w 4572002"/>
                  <a:gd name="connsiteY314" fmla="*/ 1624980 h 6858002"/>
                  <a:gd name="connsiteX315" fmla="*/ 3698532 w 4572002"/>
                  <a:gd name="connsiteY315" fmla="*/ 1596213 h 6858002"/>
                  <a:gd name="connsiteX316" fmla="*/ 3745230 w 4572002"/>
                  <a:gd name="connsiteY316" fmla="*/ 1459073 h 6858002"/>
                  <a:gd name="connsiteX317" fmla="*/ 3745229 w 4572002"/>
                  <a:gd name="connsiteY317" fmla="*/ 1459074 h 6858002"/>
                  <a:gd name="connsiteX318" fmla="*/ 3736012 w 4572002"/>
                  <a:gd name="connsiteY318" fmla="*/ 1481572 h 6858002"/>
                  <a:gd name="connsiteX319" fmla="*/ 3764423 w 4572002"/>
                  <a:gd name="connsiteY319" fmla="*/ 1268758 h 6858002"/>
                  <a:gd name="connsiteX320" fmla="*/ 3769590 w 4572002"/>
                  <a:gd name="connsiteY320" fmla="*/ 1286070 h 6858002"/>
                  <a:gd name="connsiteX321" fmla="*/ 3791927 w 4572002"/>
                  <a:gd name="connsiteY321" fmla="*/ 1350628 h 6858002"/>
                  <a:gd name="connsiteX322" fmla="*/ 3786333 w 4572002"/>
                  <a:gd name="connsiteY322" fmla="*/ 1413840 h 6858002"/>
                  <a:gd name="connsiteX323" fmla="*/ 3791928 w 4572002"/>
                  <a:gd name="connsiteY323" fmla="*/ 1350627 h 6858002"/>
                  <a:gd name="connsiteX324" fmla="*/ 3769590 w 4572002"/>
                  <a:gd name="connsiteY324" fmla="*/ 1286069 h 6858002"/>
                  <a:gd name="connsiteX325" fmla="*/ 3706152 w 4572002"/>
                  <a:gd name="connsiteY325" fmla="*/ 773035 h 6858002"/>
                  <a:gd name="connsiteX326" fmla="*/ 3706152 w 4572002"/>
                  <a:gd name="connsiteY326" fmla="*/ 773036 h 6858002"/>
                  <a:gd name="connsiteX327" fmla="*/ 3714152 w 4572002"/>
                  <a:gd name="connsiteY327" fmla="*/ 854380 h 6858002"/>
                  <a:gd name="connsiteX328" fmla="*/ 3745205 w 4572002"/>
                  <a:gd name="connsiteY328" fmla="*/ 915344 h 6858002"/>
                  <a:gd name="connsiteX329" fmla="*/ 3755683 w 4572002"/>
                  <a:gd name="connsiteY329" fmla="*/ 927156 h 6858002"/>
                  <a:gd name="connsiteX330" fmla="*/ 3752063 w 4572002"/>
                  <a:gd name="connsiteY330" fmla="*/ 1097088 h 6858002"/>
                  <a:gd name="connsiteX331" fmla="*/ 3747681 w 4572002"/>
                  <a:gd name="connsiteY331" fmla="*/ 1123186 h 6858002"/>
                  <a:gd name="connsiteX332" fmla="*/ 3772400 w 4572002"/>
                  <a:gd name="connsiteY332" fmla="*/ 1184029 h 6858002"/>
                  <a:gd name="connsiteX333" fmla="*/ 3747682 w 4572002"/>
                  <a:gd name="connsiteY333" fmla="*/ 1123185 h 6858002"/>
                  <a:gd name="connsiteX334" fmla="*/ 3752064 w 4572002"/>
                  <a:gd name="connsiteY334" fmla="*/ 1097087 h 6858002"/>
                  <a:gd name="connsiteX335" fmla="*/ 3755684 w 4572002"/>
                  <a:gd name="connsiteY335" fmla="*/ 927155 h 6858002"/>
                  <a:gd name="connsiteX336" fmla="*/ 3745206 w 4572002"/>
                  <a:gd name="connsiteY336" fmla="*/ 915343 h 6858002"/>
                  <a:gd name="connsiteX337" fmla="*/ 3714152 w 4572002"/>
                  <a:gd name="connsiteY337" fmla="*/ 854379 h 6858002"/>
                  <a:gd name="connsiteX338" fmla="*/ 3761553 w 4572002"/>
                  <a:gd name="connsiteY338" fmla="*/ 517851 h 6858002"/>
                  <a:gd name="connsiteX339" fmla="*/ 3752635 w 4572002"/>
                  <a:gd name="connsiteY339" fmla="*/ 556048 h 6858002"/>
                  <a:gd name="connsiteX340" fmla="*/ 3746157 w 4572002"/>
                  <a:gd name="connsiteY340" fmla="*/ 580051 h 6858002"/>
                  <a:gd name="connsiteX341" fmla="*/ 3742776 w 4572002"/>
                  <a:gd name="connsiteY341" fmla="*/ 642538 h 6858002"/>
                  <a:gd name="connsiteX342" fmla="*/ 3730253 w 4572002"/>
                  <a:gd name="connsiteY342" fmla="*/ 694928 h 6858002"/>
                  <a:gd name="connsiteX343" fmla="*/ 3742777 w 4572002"/>
                  <a:gd name="connsiteY343" fmla="*/ 642537 h 6858002"/>
                  <a:gd name="connsiteX344" fmla="*/ 3746158 w 4572002"/>
                  <a:gd name="connsiteY344" fmla="*/ 580050 h 6858002"/>
                  <a:gd name="connsiteX345" fmla="*/ 3752636 w 4572002"/>
                  <a:gd name="connsiteY345" fmla="*/ 556047 h 6858002"/>
                  <a:gd name="connsiteX346" fmla="*/ 3774848 w 4572002"/>
                  <a:gd name="connsiteY346" fmla="*/ 298169 h 6858002"/>
                  <a:gd name="connsiteX347" fmla="*/ 3760065 w 4572002"/>
                  <a:gd name="connsiteY347" fmla="*/ 313534 h 6858002"/>
                  <a:gd name="connsiteX348" fmla="*/ 3759493 w 4572002"/>
                  <a:gd name="connsiteY348" fmla="*/ 338871 h 6858002"/>
                  <a:gd name="connsiteX349" fmla="*/ 3759500 w 4572002"/>
                  <a:gd name="connsiteY349" fmla="*/ 338900 h 6858002"/>
                  <a:gd name="connsiteX350" fmla="*/ 3769400 w 4572002"/>
                  <a:gd name="connsiteY350" fmla="*/ 395640 h 6858002"/>
                  <a:gd name="connsiteX351" fmla="*/ 3765590 w 4572002"/>
                  <a:gd name="connsiteY351" fmla="*/ 367328 h 6858002"/>
                  <a:gd name="connsiteX352" fmla="*/ 3759500 w 4572002"/>
                  <a:gd name="connsiteY352" fmla="*/ 338900 h 6858002"/>
                  <a:gd name="connsiteX353" fmla="*/ 3759494 w 4572002"/>
                  <a:gd name="connsiteY353" fmla="*/ 338870 h 6858002"/>
                  <a:gd name="connsiteX354" fmla="*/ 3760066 w 4572002"/>
                  <a:gd name="connsiteY354" fmla="*/ 313533 h 6858002"/>
                  <a:gd name="connsiteX355" fmla="*/ 3782393 w 4572002"/>
                  <a:gd name="connsiteY355" fmla="*/ 281568 h 6858002"/>
                  <a:gd name="connsiteX356" fmla="*/ 3777498 w 4572002"/>
                  <a:gd name="connsiteY356" fmla="*/ 295415 h 6858002"/>
                  <a:gd name="connsiteX357" fmla="*/ 3777499 w 4572002"/>
                  <a:gd name="connsiteY357" fmla="*/ 295415 h 6858002"/>
                  <a:gd name="connsiteX358" fmla="*/ 3769073 w 4572002"/>
                  <a:gd name="connsiteY358" fmla="*/ 24486 h 6858002"/>
                  <a:gd name="connsiteX359" fmla="*/ 3766810 w 4572002"/>
                  <a:gd name="connsiteY359" fmla="*/ 74129 h 6858002"/>
                  <a:gd name="connsiteX360" fmla="*/ 3772734 w 4572002"/>
                  <a:gd name="connsiteY360" fmla="*/ 125861 h 6858002"/>
                  <a:gd name="connsiteX361" fmla="*/ 3777129 w 4572002"/>
                  <a:gd name="connsiteY361" fmla="*/ 153387 h 6858002"/>
                  <a:gd name="connsiteX362" fmla="*/ 3785402 w 4572002"/>
                  <a:gd name="connsiteY362" fmla="*/ 228944 h 6858002"/>
                  <a:gd name="connsiteX363" fmla="*/ 3780943 w 4572002"/>
                  <a:gd name="connsiteY363" fmla="*/ 177271 h 6858002"/>
                  <a:gd name="connsiteX364" fmla="*/ 3777129 w 4572002"/>
                  <a:gd name="connsiteY364" fmla="*/ 153387 h 6858002"/>
                  <a:gd name="connsiteX365" fmla="*/ 3776930 w 4572002"/>
                  <a:gd name="connsiteY365" fmla="*/ 151569 h 6858002"/>
                  <a:gd name="connsiteX366" fmla="*/ 3766811 w 4572002"/>
                  <a:gd name="connsiteY366" fmla="*/ 74129 h 6858002"/>
                  <a:gd name="connsiteX367" fmla="*/ 3766492 w 4572002"/>
                  <a:gd name="connsiteY367" fmla="*/ 0 h 6858002"/>
                  <a:gd name="connsiteX368" fmla="*/ 4230600 w 4572002"/>
                  <a:gd name="connsiteY368" fmla="*/ 0 h 6858002"/>
                  <a:gd name="connsiteX369" fmla="*/ 4229473 w 4572002"/>
                  <a:gd name="connsiteY369" fmla="*/ 2817 h 6858002"/>
                  <a:gd name="connsiteX370" fmla="*/ 4215375 w 4572002"/>
                  <a:gd name="connsiteY370" fmla="*/ 63587 h 6858002"/>
                  <a:gd name="connsiteX371" fmla="*/ 4201468 w 4572002"/>
                  <a:gd name="connsiteY371" fmla="*/ 176939 h 6858002"/>
                  <a:gd name="connsiteX372" fmla="*/ 4193466 w 4572002"/>
                  <a:gd name="connsiteY372" fmla="*/ 200182 h 6858002"/>
                  <a:gd name="connsiteX373" fmla="*/ 4155554 w 4572002"/>
                  <a:gd name="connsiteY373" fmla="*/ 340774 h 6858002"/>
                  <a:gd name="connsiteX374" fmla="*/ 4156319 w 4572002"/>
                  <a:gd name="connsiteY374" fmla="*/ 453364 h 6858002"/>
                  <a:gd name="connsiteX375" fmla="*/ 4158033 w 4572002"/>
                  <a:gd name="connsiteY375" fmla="*/ 462126 h 6858002"/>
                  <a:gd name="connsiteX376" fmla="*/ 4170605 w 4572002"/>
                  <a:gd name="connsiteY376" fmla="*/ 505182 h 6858002"/>
                  <a:gd name="connsiteX377" fmla="*/ 4167177 w 4572002"/>
                  <a:gd name="connsiteY377" fmla="*/ 571860 h 6858002"/>
                  <a:gd name="connsiteX378" fmla="*/ 4149840 w 4572002"/>
                  <a:gd name="connsiteY378" fmla="*/ 617772 h 6858002"/>
                  <a:gd name="connsiteX379" fmla="*/ 4149078 w 4572002"/>
                  <a:gd name="connsiteY379" fmla="*/ 674923 h 6858002"/>
                  <a:gd name="connsiteX380" fmla="*/ 4159937 w 4572002"/>
                  <a:gd name="connsiteY380" fmla="*/ 740268 h 6858002"/>
                  <a:gd name="connsiteX381" fmla="*/ 4162223 w 4572002"/>
                  <a:gd name="connsiteY381" fmla="*/ 769605 h 6858002"/>
                  <a:gd name="connsiteX382" fmla="*/ 4184703 w 4572002"/>
                  <a:gd name="connsiteY382" fmla="*/ 850189 h 6858002"/>
                  <a:gd name="connsiteX383" fmla="*/ 4179179 w 4572002"/>
                  <a:gd name="connsiteY383" fmla="*/ 898198 h 6858002"/>
                  <a:gd name="connsiteX384" fmla="*/ 4164319 w 4572002"/>
                  <a:gd name="connsiteY384" fmla="*/ 945444 h 6858002"/>
                  <a:gd name="connsiteX385" fmla="*/ 4150030 w 4572002"/>
                  <a:gd name="connsiteY385" fmla="*/ 975733 h 6858002"/>
                  <a:gd name="connsiteX386" fmla="*/ 4139934 w 4572002"/>
                  <a:gd name="connsiteY386" fmla="*/ 1036887 h 6858002"/>
                  <a:gd name="connsiteX387" fmla="*/ 4141458 w 4572002"/>
                  <a:gd name="connsiteY387" fmla="*/ 1048125 h 6858002"/>
                  <a:gd name="connsiteX388" fmla="*/ 4154032 w 4572002"/>
                  <a:gd name="connsiteY388" fmla="*/ 1230633 h 6858002"/>
                  <a:gd name="connsiteX389" fmla="*/ 4174225 w 4572002"/>
                  <a:gd name="connsiteY389" fmla="*/ 1303024 h 6858002"/>
                  <a:gd name="connsiteX390" fmla="*/ 4176701 w 4572002"/>
                  <a:gd name="connsiteY390" fmla="*/ 1318456 h 6858002"/>
                  <a:gd name="connsiteX391" fmla="*/ 4199372 w 4572002"/>
                  <a:gd name="connsiteY391" fmla="*/ 1472575 h 6858002"/>
                  <a:gd name="connsiteX392" fmla="*/ 4200325 w 4572002"/>
                  <a:gd name="connsiteY392" fmla="*/ 1489720 h 6858002"/>
                  <a:gd name="connsiteX393" fmla="*/ 4196324 w 4572002"/>
                  <a:gd name="connsiteY393" fmla="*/ 1537537 h 6858002"/>
                  <a:gd name="connsiteX394" fmla="*/ 4237474 w 4572002"/>
                  <a:gd name="connsiteY394" fmla="*/ 1650317 h 6858002"/>
                  <a:gd name="connsiteX395" fmla="*/ 4251572 w 4572002"/>
                  <a:gd name="connsiteY395" fmla="*/ 1763287 h 6858002"/>
                  <a:gd name="connsiteX396" fmla="*/ 4251380 w 4572002"/>
                  <a:gd name="connsiteY396" fmla="*/ 1825393 h 6858002"/>
                  <a:gd name="connsiteX397" fmla="*/ 4261478 w 4572002"/>
                  <a:gd name="connsiteY397" fmla="*/ 1869780 h 6858002"/>
                  <a:gd name="connsiteX398" fmla="*/ 4292149 w 4572002"/>
                  <a:gd name="connsiteY398" fmla="*/ 1978940 h 6858002"/>
                  <a:gd name="connsiteX399" fmla="*/ 4296911 w 4572002"/>
                  <a:gd name="connsiteY399" fmla="*/ 2030378 h 6858002"/>
                  <a:gd name="connsiteX400" fmla="*/ 4307201 w 4572002"/>
                  <a:gd name="connsiteY400" fmla="*/ 2085054 h 6858002"/>
                  <a:gd name="connsiteX401" fmla="*/ 4353302 w 4572002"/>
                  <a:gd name="connsiteY401" fmla="*/ 2220312 h 6858002"/>
                  <a:gd name="connsiteX402" fmla="*/ 4350636 w 4572002"/>
                  <a:gd name="connsiteY402" fmla="*/ 2330806 h 6858002"/>
                  <a:gd name="connsiteX403" fmla="*/ 4351206 w 4572002"/>
                  <a:gd name="connsiteY403" fmla="*/ 2401292 h 6858002"/>
                  <a:gd name="connsiteX404" fmla="*/ 4366446 w 4572002"/>
                  <a:gd name="connsiteY404" fmla="*/ 2485307 h 6858002"/>
                  <a:gd name="connsiteX405" fmla="*/ 4388736 w 4572002"/>
                  <a:gd name="connsiteY405" fmla="*/ 2554079 h 6858002"/>
                  <a:gd name="connsiteX406" fmla="*/ 4406453 w 4572002"/>
                  <a:gd name="connsiteY406" fmla="*/ 2649143 h 6858002"/>
                  <a:gd name="connsiteX407" fmla="*/ 4440554 w 4572002"/>
                  <a:gd name="connsiteY407" fmla="*/ 2743826 h 6858002"/>
                  <a:gd name="connsiteX408" fmla="*/ 4466653 w 4572002"/>
                  <a:gd name="connsiteY408" fmla="*/ 2809930 h 6858002"/>
                  <a:gd name="connsiteX409" fmla="*/ 4489705 w 4572002"/>
                  <a:gd name="connsiteY409" fmla="*/ 2901943 h 6858002"/>
                  <a:gd name="connsiteX410" fmla="*/ 4505897 w 4572002"/>
                  <a:gd name="connsiteY410" fmla="*/ 3042728 h 6858002"/>
                  <a:gd name="connsiteX411" fmla="*/ 4507613 w 4572002"/>
                  <a:gd name="connsiteY411" fmla="*/ 3107500 h 6858002"/>
                  <a:gd name="connsiteX412" fmla="*/ 4545521 w 4572002"/>
                  <a:gd name="connsiteY412" fmla="*/ 3209993 h 6858002"/>
                  <a:gd name="connsiteX413" fmla="*/ 4563811 w 4572002"/>
                  <a:gd name="connsiteY413" fmla="*/ 3253809 h 6858002"/>
                  <a:gd name="connsiteX414" fmla="*/ 4548570 w 4572002"/>
                  <a:gd name="connsiteY414" fmla="*/ 3293244 h 6858002"/>
                  <a:gd name="connsiteX415" fmla="*/ 4531043 w 4572002"/>
                  <a:gd name="connsiteY415" fmla="*/ 3318771 h 6858002"/>
                  <a:gd name="connsiteX416" fmla="*/ 4545904 w 4572002"/>
                  <a:gd name="connsiteY416" fmla="*/ 3399546 h 6858002"/>
                  <a:gd name="connsiteX417" fmla="*/ 4561524 w 4572002"/>
                  <a:gd name="connsiteY417" fmla="*/ 3485275 h 6858002"/>
                  <a:gd name="connsiteX418" fmla="*/ 4572002 w 4572002"/>
                  <a:gd name="connsiteY418" fmla="*/ 3546617 h 6858002"/>
                  <a:gd name="connsiteX419" fmla="*/ 4563620 w 4572002"/>
                  <a:gd name="connsiteY419" fmla="*/ 3623201 h 6858002"/>
                  <a:gd name="connsiteX420" fmla="*/ 4560192 w 4572002"/>
                  <a:gd name="connsiteY420" fmla="*/ 3683591 h 6858002"/>
                  <a:gd name="connsiteX421" fmla="*/ 4550476 w 4572002"/>
                  <a:gd name="connsiteY421" fmla="*/ 3732361 h 6858002"/>
                  <a:gd name="connsiteX422" fmla="*/ 4544759 w 4572002"/>
                  <a:gd name="connsiteY422" fmla="*/ 3749506 h 6858002"/>
                  <a:gd name="connsiteX423" fmla="*/ 4500182 w 4572002"/>
                  <a:gd name="connsiteY423" fmla="*/ 3885338 h 6858002"/>
                  <a:gd name="connsiteX424" fmla="*/ 4464557 w 4572002"/>
                  <a:gd name="connsiteY424" fmla="*/ 4030503 h 6858002"/>
                  <a:gd name="connsiteX425" fmla="*/ 4487039 w 4572002"/>
                  <a:gd name="connsiteY425" fmla="*/ 4124614 h 6858002"/>
                  <a:gd name="connsiteX426" fmla="*/ 4486656 w 4572002"/>
                  <a:gd name="connsiteY426" fmla="*/ 4159667 h 6858002"/>
                  <a:gd name="connsiteX427" fmla="*/ 4491801 w 4572002"/>
                  <a:gd name="connsiteY427" fmla="*/ 4320837 h 6858002"/>
                  <a:gd name="connsiteX428" fmla="*/ 4497325 w 4572002"/>
                  <a:gd name="connsiteY428" fmla="*/ 4349222 h 6858002"/>
                  <a:gd name="connsiteX429" fmla="*/ 4474653 w 4572002"/>
                  <a:gd name="connsiteY429" fmla="*/ 4502579 h 6858002"/>
                  <a:gd name="connsiteX430" fmla="*/ 4470844 w 4572002"/>
                  <a:gd name="connsiteY430" fmla="*/ 4558207 h 6858002"/>
                  <a:gd name="connsiteX431" fmla="*/ 4464557 w 4572002"/>
                  <a:gd name="connsiteY431" fmla="*/ 4609452 h 6858002"/>
                  <a:gd name="connsiteX432" fmla="*/ 4463033 w 4572002"/>
                  <a:gd name="connsiteY432" fmla="*/ 4681083 h 6858002"/>
                  <a:gd name="connsiteX433" fmla="*/ 4465891 w 4572002"/>
                  <a:gd name="connsiteY433" fmla="*/ 4755381 h 6858002"/>
                  <a:gd name="connsiteX434" fmla="*/ 4465319 w 4572002"/>
                  <a:gd name="connsiteY434" fmla="*/ 4838250 h 6858002"/>
                  <a:gd name="connsiteX435" fmla="*/ 4460367 w 4572002"/>
                  <a:gd name="connsiteY435" fmla="*/ 4871019 h 6858002"/>
                  <a:gd name="connsiteX436" fmla="*/ 4463795 w 4572002"/>
                  <a:gd name="connsiteY436" fmla="*/ 4959602 h 6858002"/>
                  <a:gd name="connsiteX437" fmla="*/ 4458082 w 4572002"/>
                  <a:gd name="connsiteY437" fmla="*/ 5006086 h 6858002"/>
                  <a:gd name="connsiteX438" fmla="*/ 4456937 w 4572002"/>
                  <a:gd name="connsiteY438" fmla="*/ 5082670 h 6858002"/>
                  <a:gd name="connsiteX439" fmla="*/ 4455603 w 4572002"/>
                  <a:gd name="connsiteY439" fmla="*/ 5107627 h 6858002"/>
                  <a:gd name="connsiteX440" fmla="*/ 4454840 w 4572002"/>
                  <a:gd name="connsiteY440" fmla="*/ 5129916 h 6858002"/>
                  <a:gd name="connsiteX441" fmla="*/ 4470464 w 4572002"/>
                  <a:gd name="connsiteY441" fmla="*/ 5206308 h 6858002"/>
                  <a:gd name="connsiteX442" fmla="*/ 4471415 w 4572002"/>
                  <a:gd name="connsiteY442" fmla="*/ 5274129 h 6858002"/>
                  <a:gd name="connsiteX443" fmla="*/ 4483990 w 4572002"/>
                  <a:gd name="connsiteY443" fmla="*/ 5393005 h 6858002"/>
                  <a:gd name="connsiteX444" fmla="*/ 4479607 w 4572002"/>
                  <a:gd name="connsiteY444" fmla="*/ 5419295 h 6858002"/>
                  <a:gd name="connsiteX445" fmla="*/ 4477894 w 4572002"/>
                  <a:gd name="connsiteY445" fmla="*/ 5501594 h 6858002"/>
                  <a:gd name="connsiteX446" fmla="*/ 4476560 w 4572002"/>
                  <a:gd name="connsiteY446" fmla="*/ 5548460 h 6858002"/>
                  <a:gd name="connsiteX447" fmla="*/ 4485703 w 4572002"/>
                  <a:gd name="connsiteY447" fmla="*/ 5606372 h 6858002"/>
                  <a:gd name="connsiteX448" fmla="*/ 4505134 w 4572002"/>
                  <a:gd name="connsiteY448" fmla="*/ 5706959 h 6858002"/>
                  <a:gd name="connsiteX449" fmla="*/ 4508183 w 4572002"/>
                  <a:gd name="connsiteY449" fmla="*/ 5733440 h 6858002"/>
                  <a:gd name="connsiteX450" fmla="*/ 4517519 w 4572002"/>
                  <a:gd name="connsiteY450" fmla="*/ 5781830 h 6858002"/>
                  <a:gd name="connsiteX451" fmla="*/ 4519234 w 4572002"/>
                  <a:gd name="connsiteY451" fmla="*/ 5790592 h 6858002"/>
                  <a:gd name="connsiteX452" fmla="*/ 4542855 w 4572002"/>
                  <a:gd name="connsiteY452" fmla="*/ 5864318 h 6858002"/>
                  <a:gd name="connsiteX453" fmla="*/ 4544759 w 4572002"/>
                  <a:gd name="connsiteY453" fmla="*/ 5902610 h 6858002"/>
                  <a:gd name="connsiteX454" fmla="*/ 4544951 w 4572002"/>
                  <a:gd name="connsiteY454" fmla="*/ 6012723 h 6858002"/>
                  <a:gd name="connsiteX455" fmla="*/ 4541332 w 4572002"/>
                  <a:gd name="connsiteY455" fmla="*/ 6059397 h 6858002"/>
                  <a:gd name="connsiteX456" fmla="*/ 4527426 w 4572002"/>
                  <a:gd name="connsiteY456" fmla="*/ 6171605 h 6858002"/>
                  <a:gd name="connsiteX457" fmla="*/ 4520568 w 4572002"/>
                  <a:gd name="connsiteY457" fmla="*/ 6242093 h 6858002"/>
                  <a:gd name="connsiteX458" fmla="*/ 4509706 w 4572002"/>
                  <a:gd name="connsiteY458" fmla="*/ 6323058 h 6858002"/>
                  <a:gd name="connsiteX459" fmla="*/ 4502848 w 4572002"/>
                  <a:gd name="connsiteY459" fmla="*/ 6415833 h 6858002"/>
                  <a:gd name="connsiteX460" fmla="*/ 4482084 w 4572002"/>
                  <a:gd name="connsiteY460" fmla="*/ 6584812 h 6858002"/>
                  <a:gd name="connsiteX461" fmla="*/ 4460557 w 4572002"/>
                  <a:gd name="connsiteY461" fmla="*/ 6748458 h 6858002"/>
                  <a:gd name="connsiteX462" fmla="*/ 4441507 w 4572002"/>
                  <a:gd name="connsiteY462" fmla="*/ 6815516 h 6858002"/>
                  <a:gd name="connsiteX463" fmla="*/ 4431806 w 4572002"/>
                  <a:gd name="connsiteY463" fmla="*/ 6858001 h 6858002"/>
                  <a:gd name="connsiteX464" fmla="*/ 4259554 w 4572002"/>
                  <a:gd name="connsiteY464" fmla="*/ 6858001 h 6858002"/>
                  <a:gd name="connsiteX465" fmla="*/ 4259554 w 4572002"/>
                  <a:gd name="connsiteY465" fmla="*/ 6858002 h 6858002"/>
                  <a:gd name="connsiteX466" fmla="*/ 0 w 4572002"/>
                  <a:gd name="connsiteY466" fmla="*/ 6858002 h 6858002"/>
                  <a:gd name="connsiteX467" fmla="*/ 0 w 4572002"/>
                  <a:gd name="connsiteY467" fmla="*/ 2 h 6858002"/>
                  <a:gd name="connsiteX468" fmla="*/ 3766492 w 4572002"/>
                  <a:gd name="connsiteY468" fmla="*/ 1 h 6858002"/>
                  <a:gd name="connsiteX469" fmla="*/ 3769210 w 4572002"/>
                  <a:gd name="connsiteY469" fmla="*/ 21486 h 6858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Lst>
                <a:rect l="l" t="t" r="r" b="b"/>
                <a:pathLst>
                  <a:path w="4572002" h="6858002">
                    <a:moveTo>
                      <a:pt x="4214994" y="6564620"/>
                    </a:moveTo>
                    <a:lnTo>
                      <a:pt x="4214994" y="6564621"/>
                    </a:lnTo>
                    <a:cubicBezTo>
                      <a:pt x="4225281" y="6575479"/>
                      <a:pt x="4231378" y="6582147"/>
                      <a:pt x="4237474" y="6588626"/>
                    </a:cubicBezTo>
                    <a:lnTo>
                      <a:pt x="4254096" y="6625225"/>
                    </a:lnTo>
                    <a:lnTo>
                      <a:pt x="4247001" y="6662540"/>
                    </a:lnTo>
                    <a:lnTo>
                      <a:pt x="4247000" y="6662541"/>
                    </a:lnTo>
                    <a:lnTo>
                      <a:pt x="4246999" y="6662544"/>
                    </a:lnTo>
                    <a:lnTo>
                      <a:pt x="4235550" y="6683027"/>
                    </a:lnTo>
                    <a:lnTo>
                      <a:pt x="4232403" y="6702976"/>
                    </a:lnTo>
                    <a:lnTo>
                      <a:pt x="4232403" y="6702977"/>
                    </a:lnTo>
                    <a:cubicBezTo>
                      <a:pt x="4232808" y="6716169"/>
                      <a:pt x="4237951" y="6729219"/>
                      <a:pt x="4246238" y="6742553"/>
                    </a:cubicBezTo>
                    <a:lnTo>
                      <a:pt x="4246239" y="6742555"/>
                    </a:lnTo>
                    <a:lnTo>
                      <a:pt x="4265716" y="6812062"/>
                    </a:lnTo>
                    <a:lnTo>
                      <a:pt x="4265717" y="6812064"/>
                    </a:lnTo>
                    <a:lnTo>
                      <a:pt x="4265717" y="6812063"/>
                    </a:lnTo>
                    <a:lnTo>
                      <a:pt x="4265716" y="6812062"/>
                    </a:lnTo>
                    <a:lnTo>
                      <a:pt x="4260942" y="6776800"/>
                    </a:lnTo>
                    <a:lnTo>
                      <a:pt x="4246239" y="6742555"/>
                    </a:lnTo>
                    <a:lnTo>
                      <a:pt x="4246238" y="6742552"/>
                    </a:lnTo>
                    <a:lnTo>
                      <a:pt x="4232403" y="6702976"/>
                    </a:lnTo>
                    <a:lnTo>
                      <a:pt x="4246999" y="6662544"/>
                    </a:lnTo>
                    <a:lnTo>
                      <a:pt x="4247000" y="6662542"/>
                    </a:lnTo>
                    <a:lnTo>
                      <a:pt x="4247001" y="6662540"/>
                    </a:lnTo>
                    <a:lnTo>
                      <a:pt x="4254084" y="6645552"/>
                    </a:lnTo>
                    <a:lnTo>
                      <a:pt x="4254096" y="6625225"/>
                    </a:lnTo>
                    <a:lnTo>
                      <a:pt x="4254096" y="6625224"/>
                    </a:lnTo>
                    <a:cubicBezTo>
                      <a:pt x="4252000" y="6611341"/>
                      <a:pt x="4245951" y="6597578"/>
                      <a:pt x="4237474" y="6588625"/>
                    </a:cubicBezTo>
                    <a:close/>
                    <a:moveTo>
                      <a:pt x="4295315" y="6438981"/>
                    </a:moveTo>
                    <a:lnTo>
                      <a:pt x="4275385" y="6463840"/>
                    </a:lnTo>
                    <a:lnTo>
                      <a:pt x="4275382" y="6463849"/>
                    </a:lnTo>
                    <a:lnTo>
                      <a:pt x="4261587" y="6513012"/>
                    </a:lnTo>
                    <a:lnTo>
                      <a:pt x="4242781" y="6546194"/>
                    </a:lnTo>
                    <a:lnTo>
                      <a:pt x="4242781" y="6546195"/>
                    </a:lnTo>
                    <a:lnTo>
                      <a:pt x="4259120" y="6521804"/>
                    </a:lnTo>
                    <a:lnTo>
                      <a:pt x="4261587" y="6513012"/>
                    </a:lnTo>
                    <a:lnTo>
                      <a:pt x="4264398" y="6508052"/>
                    </a:lnTo>
                    <a:lnTo>
                      <a:pt x="4275382" y="6463849"/>
                    </a:lnTo>
                    <a:lnTo>
                      <a:pt x="4275385" y="6463841"/>
                    </a:lnTo>
                    <a:cubicBezTo>
                      <a:pt x="4278336" y="6451650"/>
                      <a:pt x="4285813" y="6444077"/>
                      <a:pt x="4295315" y="6438981"/>
                    </a:cubicBezTo>
                    <a:close/>
                    <a:moveTo>
                      <a:pt x="4381289" y="6365204"/>
                    </a:moveTo>
                    <a:lnTo>
                      <a:pt x="4380008" y="6387910"/>
                    </a:lnTo>
                    <a:lnTo>
                      <a:pt x="4378243" y="6391549"/>
                    </a:lnTo>
                    <a:lnTo>
                      <a:pt x="4370589" y="6407332"/>
                    </a:lnTo>
                    <a:lnTo>
                      <a:pt x="4370589" y="6407333"/>
                    </a:lnTo>
                    <a:lnTo>
                      <a:pt x="4378243" y="6391549"/>
                    </a:lnTo>
                    <a:lnTo>
                      <a:pt x="4380008" y="6387910"/>
                    </a:lnTo>
                    <a:close/>
                    <a:moveTo>
                      <a:pt x="4142220" y="4221391"/>
                    </a:moveTo>
                    <a:lnTo>
                      <a:pt x="4142220" y="4221392"/>
                    </a:lnTo>
                    <a:cubicBezTo>
                      <a:pt x="4142982" y="4232061"/>
                      <a:pt x="4143172" y="4243873"/>
                      <a:pt x="4147936" y="4253015"/>
                    </a:cubicBezTo>
                    <a:cubicBezTo>
                      <a:pt x="4160129" y="4277402"/>
                      <a:pt x="4175749" y="4300071"/>
                      <a:pt x="4187752" y="4324646"/>
                    </a:cubicBezTo>
                    <a:lnTo>
                      <a:pt x="4196706" y="4363891"/>
                    </a:lnTo>
                    <a:lnTo>
                      <a:pt x="4195944" y="4482004"/>
                    </a:lnTo>
                    <a:cubicBezTo>
                      <a:pt x="4193276" y="4546776"/>
                      <a:pt x="4192704" y="4612500"/>
                      <a:pt x="4135934" y="4659174"/>
                    </a:cubicBezTo>
                    <a:cubicBezTo>
                      <a:pt x="4131362" y="4662986"/>
                      <a:pt x="4128694" y="4671176"/>
                      <a:pt x="4127932" y="4677655"/>
                    </a:cubicBezTo>
                    <a:cubicBezTo>
                      <a:pt x="4124313" y="4707564"/>
                      <a:pt x="4123931" y="4738235"/>
                      <a:pt x="4118025" y="4767764"/>
                    </a:cubicBezTo>
                    <a:cubicBezTo>
                      <a:pt x="4115644" y="4779575"/>
                      <a:pt x="4114835" y="4790387"/>
                      <a:pt x="4116716" y="4800483"/>
                    </a:cubicBezTo>
                    <a:lnTo>
                      <a:pt x="4116716" y="4800484"/>
                    </a:lnTo>
                    <a:cubicBezTo>
                      <a:pt x="4118597" y="4810581"/>
                      <a:pt x="4123170" y="4819964"/>
                      <a:pt x="4131552" y="4828917"/>
                    </a:cubicBezTo>
                    <a:lnTo>
                      <a:pt x="4153733" y="4863343"/>
                    </a:lnTo>
                    <a:lnTo>
                      <a:pt x="4161262" y="4889275"/>
                    </a:lnTo>
                    <a:lnTo>
                      <a:pt x="4159557" y="4912168"/>
                    </a:lnTo>
                    <a:cubicBezTo>
                      <a:pt x="4157842" y="4919978"/>
                      <a:pt x="4157485" y="4927122"/>
                      <a:pt x="4158155" y="4933804"/>
                    </a:cubicBezTo>
                    <a:lnTo>
                      <a:pt x="4158155" y="4933805"/>
                    </a:lnTo>
                    <a:lnTo>
                      <a:pt x="4162914" y="4952673"/>
                    </a:lnTo>
                    <a:lnTo>
                      <a:pt x="4165707" y="4957454"/>
                    </a:lnTo>
                    <a:lnTo>
                      <a:pt x="4166985" y="4961456"/>
                    </a:lnTo>
                    <a:cubicBezTo>
                      <a:pt x="4171496" y="4970097"/>
                      <a:pt x="4177202" y="4978394"/>
                      <a:pt x="4182989" y="4987038"/>
                    </a:cubicBezTo>
                    <a:cubicBezTo>
                      <a:pt x="4194228" y="5003802"/>
                      <a:pt x="4208326" y="5022853"/>
                      <a:pt x="4209468" y="5041522"/>
                    </a:cubicBezTo>
                    <a:cubicBezTo>
                      <a:pt x="4210087" y="5052096"/>
                      <a:pt x="4213005" y="5062300"/>
                      <a:pt x="4216684" y="5072376"/>
                    </a:cubicBezTo>
                    <a:lnTo>
                      <a:pt x="4222587" y="5087441"/>
                    </a:lnTo>
                    <a:lnTo>
                      <a:pt x="4235615" y="5133220"/>
                    </a:lnTo>
                    <a:lnTo>
                      <a:pt x="4235616" y="5133225"/>
                    </a:lnTo>
                    <a:lnTo>
                      <a:pt x="4228901" y="5166113"/>
                    </a:lnTo>
                    <a:lnTo>
                      <a:pt x="4228901" y="5166114"/>
                    </a:lnTo>
                    <a:cubicBezTo>
                      <a:pt x="4228139" y="5167638"/>
                      <a:pt x="4228712" y="5169781"/>
                      <a:pt x="4229593" y="5172091"/>
                    </a:cubicBezTo>
                    <a:lnTo>
                      <a:pt x="4232139" y="5179068"/>
                    </a:lnTo>
                    <a:cubicBezTo>
                      <a:pt x="4235759" y="5196595"/>
                      <a:pt x="4235807" y="5213598"/>
                      <a:pt x="4231973" y="5229434"/>
                    </a:cubicBezTo>
                    <a:lnTo>
                      <a:pt x="4225669" y="5241089"/>
                    </a:lnTo>
                    <a:lnTo>
                      <a:pt x="4208517" y="5272796"/>
                    </a:lnTo>
                    <a:cubicBezTo>
                      <a:pt x="4196871" y="5285441"/>
                      <a:pt x="4189165" y="5298595"/>
                      <a:pt x="4184613" y="5312288"/>
                    </a:cubicBezTo>
                    <a:lnTo>
                      <a:pt x="4183557" y="5321350"/>
                    </a:lnTo>
                    <a:lnTo>
                      <a:pt x="4181083" y="5326163"/>
                    </a:lnTo>
                    <a:lnTo>
                      <a:pt x="4179637" y="5355014"/>
                    </a:lnTo>
                    <a:lnTo>
                      <a:pt x="4179637" y="5355015"/>
                    </a:lnTo>
                    <a:cubicBezTo>
                      <a:pt x="4180286" y="5364883"/>
                      <a:pt x="4181989" y="5375003"/>
                      <a:pt x="4184513" y="5385385"/>
                    </a:cubicBezTo>
                    <a:cubicBezTo>
                      <a:pt x="4187752" y="5398722"/>
                      <a:pt x="4190038" y="5412058"/>
                      <a:pt x="4192704" y="5425583"/>
                    </a:cubicBezTo>
                    <a:cubicBezTo>
                      <a:pt x="4196514" y="5443871"/>
                      <a:pt x="4200516" y="5462352"/>
                      <a:pt x="4204327" y="5480638"/>
                    </a:cubicBezTo>
                    <a:lnTo>
                      <a:pt x="4208850" y="5507668"/>
                    </a:lnTo>
                    <a:lnTo>
                      <a:pt x="4198232" y="5531692"/>
                    </a:lnTo>
                    <a:lnTo>
                      <a:pt x="4198231" y="5531693"/>
                    </a:lnTo>
                    <a:cubicBezTo>
                      <a:pt x="4191181" y="5537600"/>
                      <a:pt x="4187989" y="5542649"/>
                      <a:pt x="4188085" y="5547578"/>
                    </a:cubicBezTo>
                    <a:lnTo>
                      <a:pt x="4188085" y="5547579"/>
                    </a:lnTo>
                    <a:cubicBezTo>
                      <a:pt x="4188180" y="5552508"/>
                      <a:pt x="4191562" y="5557318"/>
                      <a:pt x="4197659" y="5562747"/>
                    </a:cubicBezTo>
                    <a:cubicBezTo>
                      <a:pt x="4240332" y="5600468"/>
                      <a:pt x="4267003" y="5646190"/>
                      <a:pt x="4268907" y="5704484"/>
                    </a:cubicBezTo>
                    <a:cubicBezTo>
                      <a:pt x="4269289" y="5716486"/>
                      <a:pt x="4271954" y="5728679"/>
                      <a:pt x="4274812" y="5740489"/>
                    </a:cubicBezTo>
                    <a:cubicBezTo>
                      <a:pt x="4276527" y="5747729"/>
                      <a:pt x="4278433" y="5756494"/>
                      <a:pt x="4283578" y="5760874"/>
                    </a:cubicBezTo>
                    <a:cubicBezTo>
                      <a:pt x="4322821" y="5794975"/>
                      <a:pt x="4350063" y="5837458"/>
                      <a:pt x="4371973" y="5883752"/>
                    </a:cubicBezTo>
                    <a:lnTo>
                      <a:pt x="4371974" y="5883757"/>
                    </a:lnTo>
                    <a:lnTo>
                      <a:pt x="4389877" y="5935946"/>
                    </a:lnTo>
                    <a:lnTo>
                      <a:pt x="4389878" y="5935950"/>
                    </a:lnTo>
                    <a:lnTo>
                      <a:pt x="4386259" y="5993290"/>
                    </a:lnTo>
                    <a:lnTo>
                      <a:pt x="4386259" y="5993291"/>
                    </a:lnTo>
                    <a:cubicBezTo>
                      <a:pt x="4385116" y="6004531"/>
                      <a:pt x="4385306" y="6017485"/>
                      <a:pt x="4379782" y="6026440"/>
                    </a:cubicBezTo>
                    <a:cubicBezTo>
                      <a:pt x="4362445" y="6054825"/>
                      <a:pt x="4343778" y="6082258"/>
                      <a:pt x="4323583" y="6108738"/>
                    </a:cubicBezTo>
                    <a:cubicBezTo>
                      <a:pt x="4314914" y="6120074"/>
                      <a:pt x="4309961" y="6126884"/>
                      <a:pt x="4309890" y="6133314"/>
                    </a:cubicBezTo>
                    <a:lnTo>
                      <a:pt x="4309890" y="6133315"/>
                    </a:lnTo>
                    <a:lnTo>
                      <a:pt x="4313591" y="6143190"/>
                    </a:lnTo>
                    <a:lnTo>
                      <a:pt x="4325486" y="6155600"/>
                    </a:lnTo>
                    <a:lnTo>
                      <a:pt x="4325488" y="6155603"/>
                    </a:lnTo>
                    <a:cubicBezTo>
                      <a:pt x="4347778" y="6175798"/>
                      <a:pt x="4359398" y="6200945"/>
                      <a:pt x="4364160" y="6228757"/>
                    </a:cubicBezTo>
                    <a:lnTo>
                      <a:pt x="4381497" y="6361540"/>
                    </a:lnTo>
                    <a:lnTo>
                      <a:pt x="4381497" y="6361539"/>
                    </a:lnTo>
                    <a:cubicBezTo>
                      <a:pt x="4377877" y="6317151"/>
                      <a:pt x="4371590" y="6272764"/>
                      <a:pt x="4364160" y="6228756"/>
                    </a:cubicBezTo>
                    <a:cubicBezTo>
                      <a:pt x="4359398" y="6200944"/>
                      <a:pt x="4347778" y="6175797"/>
                      <a:pt x="4325488" y="6155602"/>
                    </a:cubicBezTo>
                    <a:lnTo>
                      <a:pt x="4325486" y="6155600"/>
                    </a:lnTo>
                    <a:lnTo>
                      <a:pt x="4309890" y="6133315"/>
                    </a:lnTo>
                    <a:lnTo>
                      <a:pt x="4323583" y="6108739"/>
                    </a:lnTo>
                    <a:cubicBezTo>
                      <a:pt x="4343778" y="6082259"/>
                      <a:pt x="4362445" y="6054826"/>
                      <a:pt x="4379782" y="6026441"/>
                    </a:cubicBezTo>
                    <a:cubicBezTo>
                      <a:pt x="4385306" y="6017486"/>
                      <a:pt x="4385116" y="6004532"/>
                      <a:pt x="4386259" y="5993292"/>
                    </a:cubicBezTo>
                    <a:lnTo>
                      <a:pt x="4386259" y="5993290"/>
                    </a:lnTo>
                    <a:lnTo>
                      <a:pt x="4389712" y="5964477"/>
                    </a:lnTo>
                    <a:lnTo>
                      <a:pt x="4389878" y="5935950"/>
                    </a:lnTo>
                    <a:lnTo>
                      <a:pt x="4389878" y="5935949"/>
                    </a:lnTo>
                    <a:lnTo>
                      <a:pt x="4389877" y="5935946"/>
                    </a:lnTo>
                    <a:lnTo>
                      <a:pt x="4382997" y="5909351"/>
                    </a:lnTo>
                    <a:lnTo>
                      <a:pt x="4371974" y="5883757"/>
                    </a:lnTo>
                    <a:lnTo>
                      <a:pt x="4371973" y="5883751"/>
                    </a:lnTo>
                    <a:cubicBezTo>
                      <a:pt x="4350063" y="5837457"/>
                      <a:pt x="4322821" y="5794974"/>
                      <a:pt x="4283578" y="5760873"/>
                    </a:cubicBezTo>
                    <a:cubicBezTo>
                      <a:pt x="4278433" y="5756493"/>
                      <a:pt x="4276527" y="5747728"/>
                      <a:pt x="4274812" y="5740488"/>
                    </a:cubicBezTo>
                    <a:cubicBezTo>
                      <a:pt x="4271954" y="5728678"/>
                      <a:pt x="4269289" y="5716485"/>
                      <a:pt x="4268907" y="5704483"/>
                    </a:cubicBezTo>
                    <a:cubicBezTo>
                      <a:pt x="4267003" y="5646189"/>
                      <a:pt x="4240332" y="5600467"/>
                      <a:pt x="4197659" y="5562746"/>
                    </a:cubicBezTo>
                    <a:lnTo>
                      <a:pt x="4188085" y="5547578"/>
                    </a:lnTo>
                    <a:lnTo>
                      <a:pt x="4198231" y="5531694"/>
                    </a:lnTo>
                    <a:lnTo>
                      <a:pt x="4198232" y="5531692"/>
                    </a:lnTo>
                    <a:lnTo>
                      <a:pt x="4206630" y="5520422"/>
                    </a:lnTo>
                    <a:lnTo>
                      <a:pt x="4208850" y="5507668"/>
                    </a:lnTo>
                    <a:lnTo>
                      <a:pt x="4208850" y="5507667"/>
                    </a:lnTo>
                    <a:cubicBezTo>
                      <a:pt x="4208803" y="5498832"/>
                      <a:pt x="4206231" y="5489497"/>
                      <a:pt x="4204327" y="5480637"/>
                    </a:cubicBezTo>
                    <a:cubicBezTo>
                      <a:pt x="4200516" y="5462351"/>
                      <a:pt x="4196514" y="5443870"/>
                      <a:pt x="4192704" y="5425582"/>
                    </a:cubicBezTo>
                    <a:cubicBezTo>
                      <a:pt x="4190038" y="5412057"/>
                      <a:pt x="4187752" y="5398721"/>
                      <a:pt x="4184513" y="5385384"/>
                    </a:cubicBezTo>
                    <a:lnTo>
                      <a:pt x="4179637" y="5355014"/>
                    </a:lnTo>
                    <a:lnTo>
                      <a:pt x="4183557" y="5321350"/>
                    </a:lnTo>
                    <a:lnTo>
                      <a:pt x="4208517" y="5272797"/>
                    </a:lnTo>
                    <a:lnTo>
                      <a:pt x="4225669" y="5241089"/>
                    </a:lnTo>
                    <a:lnTo>
                      <a:pt x="4231973" y="5229433"/>
                    </a:lnTo>
                    <a:lnTo>
                      <a:pt x="4232139" y="5179068"/>
                    </a:lnTo>
                    <a:lnTo>
                      <a:pt x="4232139" y="5179067"/>
                    </a:lnTo>
                    <a:cubicBezTo>
                      <a:pt x="4231663" y="5176876"/>
                      <a:pt x="4230473" y="5174400"/>
                      <a:pt x="4229593" y="5172090"/>
                    </a:cubicBezTo>
                    <a:lnTo>
                      <a:pt x="4228901" y="5166114"/>
                    </a:lnTo>
                    <a:lnTo>
                      <a:pt x="4235616" y="5133225"/>
                    </a:lnTo>
                    <a:lnTo>
                      <a:pt x="4235616" y="5133224"/>
                    </a:lnTo>
                    <a:lnTo>
                      <a:pt x="4235615" y="5133220"/>
                    </a:lnTo>
                    <a:lnTo>
                      <a:pt x="4228473" y="5102461"/>
                    </a:lnTo>
                    <a:lnTo>
                      <a:pt x="4222587" y="5087441"/>
                    </a:lnTo>
                    <a:lnTo>
                      <a:pt x="4222582" y="5087423"/>
                    </a:lnTo>
                    <a:cubicBezTo>
                      <a:pt x="4216496" y="5072411"/>
                      <a:pt x="4210397" y="5057381"/>
                      <a:pt x="4209468" y="5041521"/>
                    </a:cubicBezTo>
                    <a:cubicBezTo>
                      <a:pt x="4208326" y="5022852"/>
                      <a:pt x="4194228" y="5003801"/>
                      <a:pt x="4182989" y="4987037"/>
                    </a:cubicBezTo>
                    <a:lnTo>
                      <a:pt x="4165707" y="4957454"/>
                    </a:lnTo>
                    <a:lnTo>
                      <a:pt x="4158155" y="4933805"/>
                    </a:lnTo>
                    <a:lnTo>
                      <a:pt x="4159557" y="4912169"/>
                    </a:lnTo>
                    <a:cubicBezTo>
                      <a:pt x="4161319" y="4904358"/>
                      <a:pt x="4161831" y="4896714"/>
                      <a:pt x="4161262" y="4889276"/>
                    </a:cubicBezTo>
                    <a:lnTo>
                      <a:pt x="4161262" y="4889275"/>
                    </a:lnTo>
                    <a:lnTo>
                      <a:pt x="4156484" y="4867614"/>
                    </a:lnTo>
                    <a:lnTo>
                      <a:pt x="4153733" y="4863343"/>
                    </a:lnTo>
                    <a:lnTo>
                      <a:pt x="4151983" y="4857317"/>
                    </a:lnTo>
                    <a:cubicBezTo>
                      <a:pt x="4146840" y="4847214"/>
                      <a:pt x="4139839" y="4837703"/>
                      <a:pt x="4131552" y="4828916"/>
                    </a:cubicBezTo>
                    <a:lnTo>
                      <a:pt x="4116716" y="4800483"/>
                    </a:lnTo>
                    <a:lnTo>
                      <a:pt x="4118025" y="4767765"/>
                    </a:lnTo>
                    <a:cubicBezTo>
                      <a:pt x="4123931" y="4738236"/>
                      <a:pt x="4124313" y="4707565"/>
                      <a:pt x="4127932" y="4677656"/>
                    </a:cubicBezTo>
                    <a:cubicBezTo>
                      <a:pt x="4128694" y="4671177"/>
                      <a:pt x="4131362" y="4662987"/>
                      <a:pt x="4135934" y="4659175"/>
                    </a:cubicBezTo>
                    <a:cubicBezTo>
                      <a:pt x="4192704" y="4612501"/>
                      <a:pt x="4193276" y="4546777"/>
                      <a:pt x="4195944" y="4482005"/>
                    </a:cubicBezTo>
                    <a:cubicBezTo>
                      <a:pt x="4197659" y="4442762"/>
                      <a:pt x="4197659" y="4403326"/>
                      <a:pt x="4196706" y="4363891"/>
                    </a:cubicBezTo>
                    <a:lnTo>
                      <a:pt x="4196706" y="4363890"/>
                    </a:lnTo>
                    <a:cubicBezTo>
                      <a:pt x="4196514" y="4350554"/>
                      <a:pt x="4193466" y="4336457"/>
                      <a:pt x="4187752" y="4324645"/>
                    </a:cubicBezTo>
                    <a:cubicBezTo>
                      <a:pt x="4175749" y="4300070"/>
                      <a:pt x="4160129" y="4277401"/>
                      <a:pt x="4147936" y="4253014"/>
                    </a:cubicBezTo>
                    <a:close/>
                    <a:moveTo>
                      <a:pt x="4211111" y="2836172"/>
                    </a:moveTo>
                    <a:lnTo>
                      <a:pt x="4202421" y="2848793"/>
                    </a:lnTo>
                    <a:cubicBezTo>
                      <a:pt x="4197421" y="2865010"/>
                      <a:pt x="4191562" y="2881307"/>
                      <a:pt x="4186816" y="2897785"/>
                    </a:cubicBezTo>
                    <a:lnTo>
                      <a:pt x="4185787" y="2903551"/>
                    </a:lnTo>
                    <a:lnTo>
                      <a:pt x="4182513" y="2914328"/>
                    </a:lnTo>
                    <a:lnTo>
                      <a:pt x="4177882" y="2947858"/>
                    </a:lnTo>
                    <a:lnTo>
                      <a:pt x="4177881" y="2947862"/>
                    </a:lnTo>
                    <a:lnTo>
                      <a:pt x="4177881" y="2947863"/>
                    </a:lnTo>
                    <a:cubicBezTo>
                      <a:pt x="4177512" y="2959157"/>
                      <a:pt x="4178512" y="2970576"/>
                      <a:pt x="4181465" y="2982149"/>
                    </a:cubicBezTo>
                    <a:lnTo>
                      <a:pt x="4193158" y="3077402"/>
                    </a:lnTo>
                    <a:lnTo>
                      <a:pt x="4180703" y="3172654"/>
                    </a:lnTo>
                    <a:cubicBezTo>
                      <a:pt x="4154794" y="3276480"/>
                      <a:pt x="4127362" y="3380305"/>
                      <a:pt x="4133076" y="3489467"/>
                    </a:cubicBezTo>
                    <a:cubicBezTo>
                      <a:pt x="4134028" y="3507563"/>
                      <a:pt x="4122407" y="3529090"/>
                      <a:pt x="4110977" y="3544713"/>
                    </a:cubicBezTo>
                    <a:cubicBezTo>
                      <a:pt x="4100119" y="3559668"/>
                      <a:pt x="4094260" y="3566812"/>
                      <a:pt x="4093355" y="3574408"/>
                    </a:cubicBezTo>
                    <a:lnTo>
                      <a:pt x="4093355" y="3574409"/>
                    </a:lnTo>
                    <a:cubicBezTo>
                      <a:pt x="4092450" y="3582005"/>
                      <a:pt x="4096499" y="3590054"/>
                      <a:pt x="4105453" y="3606818"/>
                    </a:cubicBezTo>
                    <a:cubicBezTo>
                      <a:pt x="4109835" y="3614820"/>
                      <a:pt x="4112501" y="3624726"/>
                      <a:pt x="4118979" y="3630633"/>
                    </a:cubicBezTo>
                    <a:lnTo>
                      <a:pt x="4136708" y="3654416"/>
                    </a:lnTo>
                    <a:lnTo>
                      <a:pt x="4140382" y="3668940"/>
                    </a:lnTo>
                    <a:lnTo>
                      <a:pt x="4143220" y="3680164"/>
                    </a:lnTo>
                    <a:lnTo>
                      <a:pt x="4139172" y="3734837"/>
                    </a:lnTo>
                    <a:lnTo>
                      <a:pt x="4139172" y="3734838"/>
                    </a:lnTo>
                    <a:cubicBezTo>
                      <a:pt x="4138220" y="3741316"/>
                      <a:pt x="4136886" y="3749126"/>
                      <a:pt x="4139554" y="3754653"/>
                    </a:cubicBezTo>
                    <a:lnTo>
                      <a:pt x="4145911" y="3789776"/>
                    </a:lnTo>
                    <a:lnTo>
                      <a:pt x="4130980" y="3822472"/>
                    </a:lnTo>
                    <a:cubicBezTo>
                      <a:pt x="4123932" y="3831902"/>
                      <a:pt x="4118312" y="3842046"/>
                      <a:pt x="4116645" y="3852619"/>
                    </a:cubicBezTo>
                    <a:lnTo>
                      <a:pt x="4116645" y="3852620"/>
                    </a:lnTo>
                    <a:lnTo>
                      <a:pt x="4117425" y="3868764"/>
                    </a:lnTo>
                    <a:lnTo>
                      <a:pt x="4126028" y="3885337"/>
                    </a:lnTo>
                    <a:lnTo>
                      <a:pt x="4126028" y="3885339"/>
                    </a:lnTo>
                    <a:cubicBezTo>
                      <a:pt x="4135744" y="3897722"/>
                      <a:pt x="4143150" y="3910319"/>
                      <a:pt x="4148409" y="3923125"/>
                    </a:cubicBezTo>
                    <a:lnTo>
                      <a:pt x="4157913" y="3962160"/>
                    </a:lnTo>
                    <a:lnTo>
                      <a:pt x="4142221" y="4043838"/>
                    </a:lnTo>
                    <a:lnTo>
                      <a:pt x="4142220" y="4043839"/>
                    </a:lnTo>
                    <a:cubicBezTo>
                      <a:pt x="4133457" y="4063842"/>
                      <a:pt x="4128075" y="4083702"/>
                      <a:pt x="4127099" y="4103825"/>
                    </a:cubicBezTo>
                    <a:lnTo>
                      <a:pt x="4127099" y="4103826"/>
                    </a:lnTo>
                    <a:lnTo>
                      <a:pt x="4129066" y="4134256"/>
                    </a:lnTo>
                    <a:lnTo>
                      <a:pt x="4138410" y="4165382"/>
                    </a:lnTo>
                    <a:lnTo>
                      <a:pt x="4138410" y="4165384"/>
                    </a:lnTo>
                    <a:lnTo>
                      <a:pt x="4142315" y="4192388"/>
                    </a:lnTo>
                    <a:lnTo>
                      <a:pt x="4142315" y="4192387"/>
                    </a:lnTo>
                    <a:cubicBezTo>
                      <a:pt x="4142411" y="4182767"/>
                      <a:pt x="4141839" y="4173480"/>
                      <a:pt x="4138410" y="4165383"/>
                    </a:cubicBezTo>
                    <a:lnTo>
                      <a:pt x="4138410" y="4165382"/>
                    </a:lnTo>
                    <a:lnTo>
                      <a:pt x="4127099" y="4103826"/>
                    </a:lnTo>
                    <a:lnTo>
                      <a:pt x="4142220" y="4043840"/>
                    </a:lnTo>
                    <a:lnTo>
                      <a:pt x="4142221" y="4043838"/>
                    </a:lnTo>
                    <a:lnTo>
                      <a:pt x="4155523" y="4002410"/>
                    </a:lnTo>
                    <a:lnTo>
                      <a:pt x="4157913" y="3962160"/>
                    </a:lnTo>
                    <a:lnTo>
                      <a:pt x="4157913" y="3962159"/>
                    </a:lnTo>
                    <a:cubicBezTo>
                      <a:pt x="4155651" y="3935727"/>
                      <a:pt x="4145460" y="3910104"/>
                      <a:pt x="4126028" y="3885338"/>
                    </a:cubicBezTo>
                    <a:lnTo>
                      <a:pt x="4126028" y="3885337"/>
                    </a:lnTo>
                    <a:lnTo>
                      <a:pt x="4116645" y="3852620"/>
                    </a:lnTo>
                    <a:lnTo>
                      <a:pt x="4130980" y="3822473"/>
                    </a:lnTo>
                    <a:cubicBezTo>
                      <a:pt x="4139172" y="3811614"/>
                      <a:pt x="4144316" y="3800897"/>
                      <a:pt x="4145911" y="3789777"/>
                    </a:cubicBezTo>
                    <a:lnTo>
                      <a:pt x="4145911" y="3789776"/>
                    </a:lnTo>
                    <a:cubicBezTo>
                      <a:pt x="4147507" y="3778655"/>
                      <a:pt x="4145554" y="3767130"/>
                      <a:pt x="4139554" y="3754652"/>
                    </a:cubicBezTo>
                    <a:lnTo>
                      <a:pt x="4139172" y="3734838"/>
                    </a:lnTo>
                    <a:lnTo>
                      <a:pt x="4143220" y="3680164"/>
                    </a:lnTo>
                    <a:lnTo>
                      <a:pt x="4143220" y="3680163"/>
                    </a:lnTo>
                    <a:lnTo>
                      <a:pt x="4140382" y="3668940"/>
                    </a:lnTo>
                    <a:lnTo>
                      <a:pt x="4136708" y="3654416"/>
                    </a:lnTo>
                    <a:lnTo>
                      <a:pt x="4136708" y="3654416"/>
                    </a:lnTo>
                    <a:lnTo>
                      <a:pt x="4136708" y="3654415"/>
                    </a:lnTo>
                    <a:cubicBezTo>
                      <a:pt x="4132898" y="3646123"/>
                      <a:pt x="4127219" y="3638157"/>
                      <a:pt x="4118979" y="3630632"/>
                    </a:cubicBezTo>
                    <a:cubicBezTo>
                      <a:pt x="4112501" y="3624725"/>
                      <a:pt x="4109835" y="3614819"/>
                      <a:pt x="4105453" y="3606817"/>
                    </a:cubicBezTo>
                    <a:cubicBezTo>
                      <a:pt x="4100976" y="3598435"/>
                      <a:pt x="4097725" y="3592232"/>
                      <a:pt x="4095707" y="3587174"/>
                    </a:cubicBezTo>
                    <a:lnTo>
                      <a:pt x="4093355" y="3574408"/>
                    </a:lnTo>
                    <a:lnTo>
                      <a:pt x="4098434" y="3562321"/>
                    </a:lnTo>
                    <a:cubicBezTo>
                      <a:pt x="4101369" y="3557716"/>
                      <a:pt x="4105548" y="3552191"/>
                      <a:pt x="4110977" y="3544714"/>
                    </a:cubicBezTo>
                    <a:cubicBezTo>
                      <a:pt x="4122407" y="3529091"/>
                      <a:pt x="4134028" y="3507564"/>
                      <a:pt x="4133076" y="3489468"/>
                    </a:cubicBezTo>
                    <a:cubicBezTo>
                      <a:pt x="4127362" y="3380306"/>
                      <a:pt x="4154794" y="3276481"/>
                      <a:pt x="4180703" y="3172655"/>
                    </a:cubicBezTo>
                    <a:cubicBezTo>
                      <a:pt x="4188705" y="3140650"/>
                      <a:pt x="4192943" y="3109026"/>
                      <a:pt x="4193158" y="3077402"/>
                    </a:cubicBezTo>
                    <a:lnTo>
                      <a:pt x="4193158" y="3077401"/>
                    </a:lnTo>
                    <a:cubicBezTo>
                      <a:pt x="4193372" y="3045777"/>
                      <a:pt x="4189562" y="3014153"/>
                      <a:pt x="4181465" y="2982148"/>
                    </a:cubicBezTo>
                    <a:lnTo>
                      <a:pt x="4177881" y="2947863"/>
                    </a:lnTo>
                    <a:lnTo>
                      <a:pt x="4177882" y="2947858"/>
                    </a:lnTo>
                    <a:lnTo>
                      <a:pt x="4185787" y="2903551"/>
                    </a:lnTo>
                    <a:lnTo>
                      <a:pt x="4202421" y="2848794"/>
                    </a:lnTo>
                    <a:cubicBezTo>
                      <a:pt x="4203754" y="2844317"/>
                      <a:pt x="4207040" y="2839983"/>
                      <a:pt x="4211111" y="2836173"/>
                    </a:cubicBezTo>
                    <a:close/>
                    <a:moveTo>
                      <a:pt x="3726625" y="1508458"/>
                    </a:moveTo>
                    <a:lnTo>
                      <a:pt x="3698531" y="1596214"/>
                    </a:lnTo>
                    <a:cubicBezTo>
                      <a:pt x="3696054" y="1604979"/>
                      <a:pt x="3697579" y="1615837"/>
                      <a:pt x="3700436" y="1624981"/>
                    </a:cubicBezTo>
                    <a:cubicBezTo>
                      <a:pt x="3710152" y="1656224"/>
                      <a:pt x="3734537" y="1676037"/>
                      <a:pt x="3757017" y="1697754"/>
                    </a:cubicBezTo>
                    <a:cubicBezTo>
                      <a:pt x="3766924" y="1707280"/>
                      <a:pt x="3773972" y="1720424"/>
                      <a:pt x="3779686" y="1733189"/>
                    </a:cubicBezTo>
                    <a:cubicBezTo>
                      <a:pt x="3794357" y="1766336"/>
                      <a:pt x="3807501" y="1800247"/>
                      <a:pt x="3821407" y="1833776"/>
                    </a:cubicBezTo>
                    <a:cubicBezTo>
                      <a:pt x="3822741" y="1837014"/>
                      <a:pt x="3826170" y="1839680"/>
                      <a:pt x="3829028" y="1842159"/>
                    </a:cubicBezTo>
                    <a:cubicBezTo>
                      <a:pt x="3859129" y="1866923"/>
                      <a:pt x="3889418" y="1891498"/>
                      <a:pt x="3919519" y="1916455"/>
                    </a:cubicBezTo>
                    <a:cubicBezTo>
                      <a:pt x="3925233" y="1921217"/>
                      <a:pt x="3929425" y="1928077"/>
                      <a:pt x="3934949" y="1933220"/>
                    </a:cubicBezTo>
                    <a:cubicBezTo>
                      <a:pt x="3942569" y="1940460"/>
                      <a:pt x="3949810" y="1949604"/>
                      <a:pt x="3958954" y="1953414"/>
                    </a:cubicBezTo>
                    <a:cubicBezTo>
                      <a:pt x="3987719" y="1965225"/>
                      <a:pt x="4000103" y="1987895"/>
                      <a:pt x="4005437" y="2016470"/>
                    </a:cubicBezTo>
                    <a:cubicBezTo>
                      <a:pt x="4010390" y="2042571"/>
                      <a:pt x="4014582" y="2068670"/>
                      <a:pt x="4020296" y="2094579"/>
                    </a:cubicBezTo>
                    <a:cubicBezTo>
                      <a:pt x="4027154" y="2126202"/>
                      <a:pt x="4034584" y="2157637"/>
                      <a:pt x="4042967" y="2188880"/>
                    </a:cubicBezTo>
                    <a:cubicBezTo>
                      <a:pt x="4046587" y="2202405"/>
                      <a:pt x="4050777" y="2216693"/>
                      <a:pt x="4058207" y="2228315"/>
                    </a:cubicBezTo>
                    <a:cubicBezTo>
                      <a:pt x="4078782" y="2260891"/>
                      <a:pt x="4092688" y="2295754"/>
                      <a:pt x="4087164" y="2334045"/>
                    </a:cubicBezTo>
                    <a:cubicBezTo>
                      <a:pt x="4082782" y="2364716"/>
                      <a:pt x="4094022" y="2390435"/>
                      <a:pt x="4111549" y="2409486"/>
                    </a:cubicBezTo>
                    <a:cubicBezTo>
                      <a:pt x="4119503" y="2418155"/>
                      <a:pt x="4125016" y="2426977"/>
                      <a:pt x="4128650" y="2435913"/>
                    </a:cubicBezTo>
                    <a:lnTo>
                      <a:pt x="4134481" y="2463018"/>
                    </a:lnTo>
                    <a:lnTo>
                      <a:pt x="4125839" y="2518262"/>
                    </a:lnTo>
                    <a:lnTo>
                      <a:pt x="4125838" y="2518264"/>
                    </a:lnTo>
                    <a:cubicBezTo>
                      <a:pt x="4123171" y="2527790"/>
                      <a:pt x="4122027" y="2536457"/>
                      <a:pt x="4122194" y="2545006"/>
                    </a:cubicBezTo>
                    <a:lnTo>
                      <a:pt x="4122194" y="2545007"/>
                    </a:lnTo>
                    <a:cubicBezTo>
                      <a:pt x="4122360" y="2553556"/>
                      <a:pt x="4123837" y="2561986"/>
                      <a:pt x="4126408" y="2571035"/>
                    </a:cubicBezTo>
                    <a:cubicBezTo>
                      <a:pt x="4138410" y="2612946"/>
                      <a:pt x="4170987" y="2640951"/>
                      <a:pt x="4199563" y="2668002"/>
                    </a:cubicBezTo>
                    <a:cubicBezTo>
                      <a:pt x="4223947" y="2691055"/>
                      <a:pt x="4237663" y="2716964"/>
                      <a:pt x="4247953" y="2745349"/>
                    </a:cubicBezTo>
                    <a:lnTo>
                      <a:pt x="4247954" y="2745352"/>
                    </a:lnTo>
                    <a:lnTo>
                      <a:pt x="4253873" y="2778006"/>
                    </a:lnTo>
                    <a:lnTo>
                      <a:pt x="4253453" y="2785440"/>
                    </a:lnTo>
                    <a:lnTo>
                      <a:pt x="4243374" y="2811780"/>
                    </a:lnTo>
                    <a:lnTo>
                      <a:pt x="4243371" y="2811787"/>
                    </a:lnTo>
                    <a:lnTo>
                      <a:pt x="4243372" y="2811787"/>
                    </a:lnTo>
                    <a:lnTo>
                      <a:pt x="4243374" y="2811780"/>
                    </a:lnTo>
                    <a:lnTo>
                      <a:pt x="4253025" y="2793023"/>
                    </a:lnTo>
                    <a:lnTo>
                      <a:pt x="4253453" y="2785440"/>
                    </a:lnTo>
                    <a:lnTo>
                      <a:pt x="4254654" y="2782305"/>
                    </a:lnTo>
                    <a:lnTo>
                      <a:pt x="4253873" y="2778006"/>
                    </a:lnTo>
                    <a:lnTo>
                      <a:pt x="4254284" y="2770758"/>
                    </a:lnTo>
                    <a:lnTo>
                      <a:pt x="4247954" y="2745352"/>
                    </a:lnTo>
                    <a:lnTo>
                      <a:pt x="4247953" y="2745348"/>
                    </a:lnTo>
                    <a:cubicBezTo>
                      <a:pt x="4237663" y="2716963"/>
                      <a:pt x="4223947" y="2691054"/>
                      <a:pt x="4199563" y="2668001"/>
                    </a:cubicBezTo>
                    <a:cubicBezTo>
                      <a:pt x="4170987" y="2640950"/>
                      <a:pt x="4138410" y="2612945"/>
                      <a:pt x="4126408" y="2571034"/>
                    </a:cubicBezTo>
                    <a:lnTo>
                      <a:pt x="4122194" y="2545007"/>
                    </a:lnTo>
                    <a:lnTo>
                      <a:pt x="4125838" y="2518265"/>
                    </a:lnTo>
                    <a:lnTo>
                      <a:pt x="4125839" y="2518262"/>
                    </a:lnTo>
                    <a:lnTo>
                      <a:pt x="4132419" y="2490551"/>
                    </a:lnTo>
                    <a:lnTo>
                      <a:pt x="4134481" y="2463018"/>
                    </a:lnTo>
                    <a:lnTo>
                      <a:pt x="4134481" y="2463017"/>
                    </a:lnTo>
                    <a:cubicBezTo>
                      <a:pt x="4133600" y="2444777"/>
                      <a:pt x="4127457" y="2426822"/>
                      <a:pt x="4111549" y="2409485"/>
                    </a:cubicBezTo>
                    <a:cubicBezTo>
                      <a:pt x="4094022" y="2390434"/>
                      <a:pt x="4082782" y="2364715"/>
                      <a:pt x="4087164" y="2334044"/>
                    </a:cubicBezTo>
                    <a:cubicBezTo>
                      <a:pt x="4092688" y="2295753"/>
                      <a:pt x="4078782" y="2260890"/>
                      <a:pt x="4058207" y="2228314"/>
                    </a:cubicBezTo>
                    <a:cubicBezTo>
                      <a:pt x="4050777" y="2216692"/>
                      <a:pt x="4046587" y="2202404"/>
                      <a:pt x="4042967" y="2188879"/>
                    </a:cubicBezTo>
                    <a:cubicBezTo>
                      <a:pt x="4034584" y="2157636"/>
                      <a:pt x="4027154" y="2126201"/>
                      <a:pt x="4020296" y="2094578"/>
                    </a:cubicBezTo>
                    <a:cubicBezTo>
                      <a:pt x="4014582" y="2068669"/>
                      <a:pt x="4010390" y="2042570"/>
                      <a:pt x="4005437" y="2016469"/>
                    </a:cubicBezTo>
                    <a:cubicBezTo>
                      <a:pt x="4000103" y="1987894"/>
                      <a:pt x="3987719" y="1965224"/>
                      <a:pt x="3958954" y="1953413"/>
                    </a:cubicBezTo>
                    <a:cubicBezTo>
                      <a:pt x="3949810" y="1949603"/>
                      <a:pt x="3942569" y="1940459"/>
                      <a:pt x="3934949" y="1933219"/>
                    </a:cubicBezTo>
                    <a:cubicBezTo>
                      <a:pt x="3929425" y="1928076"/>
                      <a:pt x="3925233" y="1921216"/>
                      <a:pt x="3919519" y="1916454"/>
                    </a:cubicBezTo>
                    <a:cubicBezTo>
                      <a:pt x="3889418" y="1891497"/>
                      <a:pt x="3859129" y="1866922"/>
                      <a:pt x="3829028" y="1842158"/>
                    </a:cubicBezTo>
                    <a:cubicBezTo>
                      <a:pt x="3826170" y="1839679"/>
                      <a:pt x="3822741" y="1837013"/>
                      <a:pt x="3821407" y="1833775"/>
                    </a:cubicBezTo>
                    <a:cubicBezTo>
                      <a:pt x="3807501" y="1800246"/>
                      <a:pt x="3794358" y="1766335"/>
                      <a:pt x="3779686" y="1733188"/>
                    </a:cubicBezTo>
                    <a:cubicBezTo>
                      <a:pt x="3773972" y="1720423"/>
                      <a:pt x="3766924" y="1707279"/>
                      <a:pt x="3757018" y="1697753"/>
                    </a:cubicBezTo>
                    <a:cubicBezTo>
                      <a:pt x="3734538" y="1676036"/>
                      <a:pt x="3710152" y="1656223"/>
                      <a:pt x="3700436" y="1624980"/>
                    </a:cubicBezTo>
                    <a:cubicBezTo>
                      <a:pt x="3697580" y="1615836"/>
                      <a:pt x="3696055" y="1604978"/>
                      <a:pt x="3698532" y="1596213"/>
                    </a:cubicBezTo>
                    <a:close/>
                    <a:moveTo>
                      <a:pt x="3745230" y="1459073"/>
                    </a:moveTo>
                    <a:lnTo>
                      <a:pt x="3745229" y="1459074"/>
                    </a:lnTo>
                    <a:lnTo>
                      <a:pt x="3736012" y="1481572"/>
                    </a:lnTo>
                    <a:close/>
                    <a:moveTo>
                      <a:pt x="3764423" y="1268758"/>
                    </a:moveTo>
                    <a:cubicBezTo>
                      <a:pt x="3764875" y="1275402"/>
                      <a:pt x="3766447" y="1281689"/>
                      <a:pt x="3769590" y="1286070"/>
                    </a:cubicBezTo>
                    <a:cubicBezTo>
                      <a:pt x="3784163" y="1306930"/>
                      <a:pt x="3790403" y="1328553"/>
                      <a:pt x="3791927" y="1350628"/>
                    </a:cubicBezTo>
                    <a:lnTo>
                      <a:pt x="3786333" y="1413840"/>
                    </a:lnTo>
                    <a:lnTo>
                      <a:pt x="3791928" y="1350627"/>
                    </a:lnTo>
                    <a:cubicBezTo>
                      <a:pt x="3790403" y="1328552"/>
                      <a:pt x="3784164" y="1306930"/>
                      <a:pt x="3769590" y="1286069"/>
                    </a:cubicBezTo>
                    <a:close/>
                    <a:moveTo>
                      <a:pt x="3706152" y="773035"/>
                    </a:moveTo>
                    <a:lnTo>
                      <a:pt x="3706152" y="773036"/>
                    </a:lnTo>
                    <a:cubicBezTo>
                      <a:pt x="3708438" y="800277"/>
                      <a:pt x="3711676" y="827330"/>
                      <a:pt x="3714152" y="854380"/>
                    </a:cubicBezTo>
                    <a:cubicBezTo>
                      <a:pt x="3716438" y="878957"/>
                      <a:pt x="3717200" y="903723"/>
                      <a:pt x="3745205" y="915344"/>
                    </a:cubicBezTo>
                    <a:cubicBezTo>
                      <a:pt x="3749587" y="917060"/>
                      <a:pt x="3752825" y="922774"/>
                      <a:pt x="3755683" y="927156"/>
                    </a:cubicBezTo>
                    <a:cubicBezTo>
                      <a:pt x="3799691" y="994786"/>
                      <a:pt x="3798547" y="1030981"/>
                      <a:pt x="3752063" y="1097088"/>
                    </a:cubicBezTo>
                    <a:cubicBezTo>
                      <a:pt x="3747301" y="1103946"/>
                      <a:pt x="3743871" y="1118614"/>
                      <a:pt x="3747681" y="1123186"/>
                    </a:cubicBezTo>
                    <a:cubicBezTo>
                      <a:pt x="3763493" y="1142618"/>
                      <a:pt x="3770542" y="1162954"/>
                      <a:pt x="3772400" y="1184029"/>
                    </a:cubicBezTo>
                    <a:cubicBezTo>
                      <a:pt x="3770542" y="1162954"/>
                      <a:pt x="3763494" y="1142617"/>
                      <a:pt x="3747682" y="1123185"/>
                    </a:cubicBezTo>
                    <a:cubicBezTo>
                      <a:pt x="3743872" y="1118613"/>
                      <a:pt x="3747302" y="1103945"/>
                      <a:pt x="3752064" y="1097087"/>
                    </a:cubicBezTo>
                    <a:cubicBezTo>
                      <a:pt x="3798548" y="1030980"/>
                      <a:pt x="3799692" y="994785"/>
                      <a:pt x="3755684" y="927155"/>
                    </a:cubicBezTo>
                    <a:cubicBezTo>
                      <a:pt x="3752826" y="922773"/>
                      <a:pt x="3749588" y="917059"/>
                      <a:pt x="3745206" y="915343"/>
                    </a:cubicBezTo>
                    <a:cubicBezTo>
                      <a:pt x="3717200" y="903722"/>
                      <a:pt x="3716438" y="878956"/>
                      <a:pt x="3714152" y="854379"/>
                    </a:cubicBezTo>
                    <a:close/>
                    <a:moveTo>
                      <a:pt x="3761553" y="517851"/>
                    </a:moveTo>
                    <a:lnTo>
                      <a:pt x="3752635" y="556048"/>
                    </a:lnTo>
                    <a:cubicBezTo>
                      <a:pt x="3750539" y="564049"/>
                      <a:pt x="3745015" y="572623"/>
                      <a:pt x="3746157" y="580051"/>
                    </a:cubicBezTo>
                    <a:cubicBezTo>
                      <a:pt x="3749491" y="601579"/>
                      <a:pt x="3747062" y="622201"/>
                      <a:pt x="3742776" y="642538"/>
                    </a:cubicBezTo>
                    <a:lnTo>
                      <a:pt x="3730253" y="694928"/>
                    </a:lnTo>
                    <a:lnTo>
                      <a:pt x="3742777" y="642537"/>
                    </a:lnTo>
                    <a:cubicBezTo>
                      <a:pt x="3747063" y="622201"/>
                      <a:pt x="3749492" y="601578"/>
                      <a:pt x="3746158" y="580050"/>
                    </a:cubicBezTo>
                    <a:cubicBezTo>
                      <a:pt x="3745016" y="572622"/>
                      <a:pt x="3750540" y="564048"/>
                      <a:pt x="3752636" y="556047"/>
                    </a:cubicBezTo>
                    <a:close/>
                    <a:moveTo>
                      <a:pt x="3774848" y="298169"/>
                    </a:moveTo>
                    <a:lnTo>
                      <a:pt x="3760065" y="313534"/>
                    </a:lnTo>
                    <a:cubicBezTo>
                      <a:pt x="3755873" y="316390"/>
                      <a:pt x="3758159" y="330299"/>
                      <a:pt x="3759493" y="338871"/>
                    </a:cubicBezTo>
                    <a:lnTo>
                      <a:pt x="3759500" y="338900"/>
                    </a:lnTo>
                    <a:lnTo>
                      <a:pt x="3769400" y="395640"/>
                    </a:lnTo>
                    <a:lnTo>
                      <a:pt x="3765590" y="367328"/>
                    </a:lnTo>
                    <a:lnTo>
                      <a:pt x="3759500" y="338900"/>
                    </a:lnTo>
                    <a:lnTo>
                      <a:pt x="3759494" y="338870"/>
                    </a:lnTo>
                    <a:cubicBezTo>
                      <a:pt x="3758160" y="330298"/>
                      <a:pt x="3755874" y="316389"/>
                      <a:pt x="3760066" y="313533"/>
                    </a:cubicBezTo>
                    <a:close/>
                    <a:moveTo>
                      <a:pt x="3782393" y="281568"/>
                    </a:moveTo>
                    <a:lnTo>
                      <a:pt x="3777498" y="295415"/>
                    </a:lnTo>
                    <a:lnTo>
                      <a:pt x="3777499" y="295415"/>
                    </a:lnTo>
                    <a:close/>
                    <a:moveTo>
                      <a:pt x="3769073" y="24486"/>
                    </a:moveTo>
                    <a:lnTo>
                      <a:pt x="3766810" y="74129"/>
                    </a:lnTo>
                    <a:cubicBezTo>
                      <a:pt x="3767733" y="91492"/>
                      <a:pt x="3770043" y="108703"/>
                      <a:pt x="3772734" y="125861"/>
                    </a:cubicBezTo>
                    <a:lnTo>
                      <a:pt x="3777129" y="153387"/>
                    </a:lnTo>
                    <a:lnTo>
                      <a:pt x="3785402" y="228944"/>
                    </a:lnTo>
                    <a:lnTo>
                      <a:pt x="3780943" y="177271"/>
                    </a:lnTo>
                    <a:lnTo>
                      <a:pt x="3777129" y="153387"/>
                    </a:lnTo>
                    <a:lnTo>
                      <a:pt x="3776930" y="151569"/>
                    </a:lnTo>
                    <a:cubicBezTo>
                      <a:pt x="3772700" y="125876"/>
                      <a:pt x="3768195" y="100174"/>
                      <a:pt x="3766811" y="74129"/>
                    </a:cubicBezTo>
                    <a:close/>
                    <a:moveTo>
                      <a:pt x="3766492" y="0"/>
                    </a:moveTo>
                    <a:lnTo>
                      <a:pt x="4230600" y="0"/>
                    </a:lnTo>
                    <a:lnTo>
                      <a:pt x="4229473" y="2817"/>
                    </a:lnTo>
                    <a:cubicBezTo>
                      <a:pt x="4221092" y="21486"/>
                      <a:pt x="4218423" y="43012"/>
                      <a:pt x="4215375" y="63587"/>
                    </a:cubicBezTo>
                    <a:cubicBezTo>
                      <a:pt x="4209851" y="101308"/>
                      <a:pt x="4206421" y="139219"/>
                      <a:pt x="4201468" y="176939"/>
                    </a:cubicBezTo>
                    <a:cubicBezTo>
                      <a:pt x="4200325" y="184941"/>
                      <a:pt x="4198231" y="194085"/>
                      <a:pt x="4193466" y="200182"/>
                    </a:cubicBezTo>
                    <a:cubicBezTo>
                      <a:pt x="4161461" y="241901"/>
                      <a:pt x="4152508" y="292579"/>
                      <a:pt x="4155554" y="340774"/>
                    </a:cubicBezTo>
                    <a:cubicBezTo>
                      <a:pt x="4157843" y="378686"/>
                      <a:pt x="4159557" y="415835"/>
                      <a:pt x="4156319" y="453364"/>
                    </a:cubicBezTo>
                    <a:cubicBezTo>
                      <a:pt x="4156127" y="456222"/>
                      <a:pt x="4156509" y="460032"/>
                      <a:pt x="4158033" y="462126"/>
                    </a:cubicBezTo>
                    <a:cubicBezTo>
                      <a:pt x="4168129" y="475081"/>
                      <a:pt x="4168891" y="488607"/>
                      <a:pt x="4170605" y="505182"/>
                    </a:cubicBezTo>
                    <a:cubicBezTo>
                      <a:pt x="4173083" y="528615"/>
                      <a:pt x="4171367" y="550141"/>
                      <a:pt x="4167177" y="571860"/>
                    </a:cubicBezTo>
                    <a:cubicBezTo>
                      <a:pt x="4164129" y="587672"/>
                      <a:pt x="4157843" y="603673"/>
                      <a:pt x="4149840" y="617772"/>
                    </a:cubicBezTo>
                    <a:cubicBezTo>
                      <a:pt x="4138600" y="637392"/>
                      <a:pt x="4134220" y="656255"/>
                      <a:pt x="4149078" y="674923"/>
                    </a:cubicBezTo>
                    <a:cubicBezTo>
                      <a:pt x="4164891" y="695116"/>
                      <a:pt x="4159367" y="717977"/>
                      <a:pt x="4159937" y="740268"/>
                    </a:cubicBezTo>
                    <a:cubicBezTo>
                      <a:pt x="4160129" y="749982"/>
                      <a:pt x="4159747" y="760270"/>
                      <a:pt x="4162223" y="769605"/>
                    </a:cubicBezTo>
                    <a:cubicBezTo>
                      <a:pt x="4169273" y="796655"/>
                      <a:pt x="4179941" y="822756"/>
                      <a:pt x="4184703" y="850189"/>
                    </a:cubicBezTo>
                    <a:cubicBezTo>
                      <a:pt x="4187370" y="865430"/>
                      <a:pt x="4182607" y="882384"/>
                      <a:pt x="4179179" y="898198"/>
                    </a:cubicBezTo>
                    <a:cubicBezTo>
                      <a:pt x="4175559" y="914200"/>
                      <a:pt x="4170035" y="930011"/>
                      <a:pt x="4164319" y="945444"/>
                    </a:cubicBezTo>
                    <a:cubicBezTo>
                      <a:pt x="4160509" y="955920"/>
                      <a:pt x="4156889" y="967350"/>
                      <a:pt x="4150030" y="975733"/>
                    </a:cubicBezTo>
                    <a:cubicBezTo>
                      <a:pt x="4134410" y="994785"/>
                      <a:pt x="4131742" y="1014406"/>
                      <a:pt x="4139934" y="1036887"/>
                    </a:cubicBezTo>
                    <a:cubicBezTo>
                      <a:pt x="4141268" y="1040315"/>
                      <a:pt x="4141268" y="1044315"/>
                      <a:pt x="4141458" y="1048125"/>
                    </a:cubicBezTo>
                    <a:cubicBezTo>
                      <a:pt x="4145458" y="1109091"/>
                      <a:pt x="4147936" y="1170051"/>
                      <a:pt x="4154032" y="1230633"/>
                    </a:cubicBezTo>
                    <a:cubicBezTo>
                      <a:pt x="4156509" y="1255206"/>
                      <a:pt x="4167367" y="1278829"/>
                      <a:pt x="4174225" y="1303024"/>
                    </a:cubicBezTo>
                    <a:cubicBezTo>
                      <a:pt x="4175559" y="1307978"/>
                      <a:pt x="4177655" y="1313504"/>
                      <a:pt x="4176701" y="1318456"/>
                    </a:cubicBezTo>
                    <a:cubicBezTo>
                      <a:pt x="4167177" y="1372368"/>
                      <a:pt x="4181083" y="1422854"/>
                      <a:pt x="4199372" y="1472575"/>
                    </a:cubicBezTo>
                    <a:cubicBezTo>
                      <a:pt x="4201278" y="1477717"/>
                      <a:pt x="4200706" y="1484004"/>
                      <a:pt x="4200325" y="1489720"/>
                    </a:cubicBezTo>
                    <a:cubicBezTo>
                      <a:pt x="4198993" y="1505724"/>
                      <a:pt x="4192324" y="1523059"/>
                      <a:pt x="4196324" y="1537537"/>
                    </a:cubicBezTo>
                    <a:cubicBezTo>
                      <a:pt x="4207374" y="1576019"/>
                      <a:pt x="4220709" y="1614120"/>
                      <a:pt x="4237474" y="1650317"/>
                    </a:cubicBezTo>
                    <a:cubicBezTo>
                      <a:pt x="4254428" y="1687086"/>
                      <a:pt x="4268716" y="1721185"/>
                      <a:pt x="4251572" y="1763287"/>
                    </a:cubicBezTo>
                    <a:cubicBezTo>
                      <a:pt x="4244332" y="1781194"/>
                      <a:pt x="4249476" y="1804816"/>
                      <a:pt x="4251380" y="1825393"/>
                    </a:cubicBezTo>
                    <a:cubicBezTo>
                      <a:pt x="4252904" y="1840441"/>
                      <a:pt x="4261478" y="1854920"/>
                      <a:pt x="4261478" y="1869780"/>
                    </a:cubicBezTo>
                    <a:cubicBezTo>
                      <a:pt x="4261478" y="1909408"/>
                      <a:pt x="4271574" y="1944649"/>
                      <a:pt x="4292149" y="1978940"/>
                    </a:cubicBezTo>
                    <a:cubicBezTo>
                      <a:pt x="4300150" y="1992279"/>
                      <a:pt x="4294815" y="2013043"/>
                      <a:pt x="4296911" y="2030378"/>
                    </a:cubicBezTo>
                    <a:cubicBezTo>
                      <a:pt x="4299388" y="2048668"/>
                      <a:pt x="4301673" y="2067525"/>
                      <a:pt x="4307201" y="2085054"/>
                    </a:cubicBezTo>
                    <a:cubicBezTo>
                      <a:pt x="4321679" y="2130393"/>
                      <a:pt x="4338062" y="2175163"/>
                      <a:pt x="4353302" y="2220312"/>
                    </a:cubicBezTo>
                    <a:cubicBezTo>
                      <a:pt x="4365877" y="2257459"/>
                      <a:pt x="4355970" y="2294039"/>
                      <a:pt x="4350636" y="2330806"/>
                    </a:cubicBezTo>
                    <a:cubicBezTo>
                      <a:pt x="4347205" y="2353859"/>
                      <a:pt x="4339013" y="2375383"/>
                      <a:pt x="4351206" y="2401292"/>
                    </a:cubicBezTo>
                    <a:cubicBezTo>
                      <a:pt x="4362828" y="2426059"/>
                      <a:pt x="4360160" y="2457492"/>
                      <a:pt x="4366446" y="2485307"/>
                    </a:cubicBezTo>
                    <a:cubicBezTo>
                      <a:pt x="4371781" y="2508742"/>
                      <a:pt x="4380354" y="2531409"/>
                      <a:pt x="4388736" y="2554079"/>
                    </a:cubicBezTo>
                    <a:cubicBezTo>
                      <a:pt x="4400168" y="2584942"/>
                      <a:pt x="4412167" y="2615421"/>
                      <a:pt x="4406453" y="2649143"/>
                    </a:cubicBezTo>
                    <a:cubicBezTo>
                      <a:pt x="4399976" y="2687436"/>
                      <a:pt x="4424359" y="2713723"/>
                      <a:pt x="4440554" y="2743826"/>
                    </a:cubicBezTo>
                    <a:cubicBezTo>
                      <a:pt x="4451603" y="2764590"/>
                      <a:pt x="4459795" y="2787259"/>
                      <a:pt x="4466653" y="2809930"/>
                    </a:cubicBezTo>
                    <a:cubicBezTo>
                      <a:pt x="4475607" y="2840219"/>
                      <a:pt x="4480941" y="2871462"/>
                      <a:pt x="4489705" y="2901943"/>
                    </a:cubicBezTo>
                    <a:cubicBezTo>
                      <a:pt x="4502848" y="2948047"/>
                      <a:pt x="4513137" y="2994722"/>
                      <a:pt x="4505897" y="3042728"/>
                    </a:cubicBezTo>
                    <a:cubicBezTo>
                      <a:pt x="4502659" y="3064827"/>
                      <a:pt x="4502848" y="3085403"/>
                      <a:pt x="4507613" y="3107500"/>
                    </a:cubicBezTo>
                    <a:cubicBezTo>
                      <a:pt x="4515422" y="3143695"/>
                      <a:pt x="4516376" y="3180844"/>
                      <a:pt x="4545521" y="3209993"/>
                    </a:cubicBezTo>
                    <a:cubicBezTo>
                      <a:pt x="4555811" y="3220280"/>
                      <a:pt x="4558477" y="3238758"/>
                      <a:pt x="4563811" y="3253809"/>
                    </a:cubicBezTo>
                    <a:cubicBezTo>
                      <a:pt x="4570099" y="3271145"/>
                      <a:pt x="4566858" y="3283908"/>
                      <a:pt x="4548570" y="3293244"/>
                    </a:cubicBezTo>
                    <a:cubicBezTo>
                      <a:pt x="4540379" y="3297434"/>
                      <a:pt x="4532378" y="3309437"/>
                      <a:pt x="4531043" y="3318771"/>
                    </a:cubicBezTo>
                    <a:cubicBezTo>
                      <a:pt x="4527043" y="3346776"/>
                      <a:pt x="4532950" y="3372495"/>
                      <a:pt x="4545904" y="3399546"/>
                    </a:cubicBezTo>
                    <a:cubicBezTo>
                      <a:pt x="4558096" y="3424883"/>
                      <a:pt x="4556762" y="3456508"/>
                      <a:pt x="4561524" y="3485275"/>
                    </a:cubicBezTo>
                    <a:cubicBezTo>
                      <a:pt x="4564954" y="3505657"/>
                      <a:pt x="4572002" y="3526042"/>
                      <a:pt x="4572002" y="3546617"/>
                    </a:cubicBezTo>
                    <a:cubicBezTo>
                      <a:pt x="4572002" y="3572146"/>
                      <a:pt x="4565907" y="3597482"/>
                      <a:pt x="4563620" y="3623201"/>
                    </a:cubicBezTo>
                    <a:cubicBezTo>
                      <a:pt x="4561716" y="3643204"/>
                      <a:pt x="4562478" y="3663589"/>
                      <a:pt x="4560192" y="3683591"/>
                    </a:cubicBezTo>
                    <a:cubicBezTo>
                      <a:pt x="4558477" y="3699976"/>
                      <a:pt x="4554096" y="3716168"/>
                      <a:pt x="4550476" y="3732361"/>
                    </a:cubicBezTo>
                    <a:cubicBezTo>
                      <a:pt x="4549142" y="3738267"/>
                      <a:pt x="4543998" y="3744173"/>
                      <a:pt x="4544759" y="3749506"/>
                    </a:cubicBezTo>
                    <a:cubicBezTo>
                      <a:pt x="4552953" y="3802467"/>
                      <a:pt x="4516376" y="3840569"/>
                      <a:pt x="4500182" y="3885338"/>
                    </a:cubicBezTo>
                    <a:cubicBezTo>
                      <a:pt x="4483035" y="3932394"/>
                      <a:pt x="4456748" y="3977925"/>
                      <a:pt x="4464557" y="4030503"/>
                    </a:cubicBezTo>
                    <a:cubicBezTo>
                      <a:pt x="4469319" y="4062318"/>
                      <a:pt x="4480369" y="4092989"/>
                      <a:pt x="4487039" y="4124614"/>
                    </a:cubicBezTo>
                    <a:cubicBezTo>
                      <a:pt x="4489324" y="4135854"/>
                      <a:pt x="4488943" y="4148427"/>
                      <a:pt x="4486656" y="4159667"/>
                    </a:cubicBezTo>
                    <a:cubicBezTo>
                      <a:pt x="4476177" y="4213961"/>
                      <a:pt x="4474653" y="4267493"/>
                      <a:pt x="4491801" y="4320837"/>
                    </a:cubicBezTo>
                    <a:cubicBezTo>
                      <a:pt x="4494659" y="4329979"/>
                      <a:pt x="4497325" y="4339695"/>
                      <a:pt x="4497325" y="4349222"/>
                    </a:cubicBezTo>
                    <a:cubicBezTo>
                      <a:pt x="4497325" y="4401419"/>
                      <a:pt x="4493324" y="4452665"/>
                      <a:pt x="4474653" y="4502579"/>
                    </a:cubicBezTo>
                    <a:cubicBezTo>
                      <a:pt x="4468368" y="4519343"/>
                      <a:pt x="4472368" y="4539728"/>
                      <a:pt x="4470844" y="4558207"/>
                    </a:cubicBezTo>
                    <a:cubicBezTo>
                      <a:pt x="4469511" y="4575351"/>
                      <a:pt x="4468940" y="4592878"/>
                      <a:pt x="4464557" y="4609452"/>
                    </a:cubicBezTo>
                    <a:cubicBezTo>
                      <a:pt x="4458082" y="4633647"/>
                      <a:pt x="4457320" y="4656126"/>
                      <a:pt x="4463033" y="4681083"/>
                    </a:cubicBezTo>
                    <a:cubicBezTo>
                      <a:pt x="4468368" y="4704895"/>
                      <a:pt x="4465702" y="4730614"/>
                      <a:pt x="4465891" y="4755381"/>
                    </a:cubicBezTo>
                    <a:cubicBezTo>
                      <a:pt x="4466082" y="4783004"/>
                      <a:pt x="4466272" y="4810627"/>
                      <a:pt x="4465319" y="4838250"/>
                    </a:cubicBezTo>
                    <a:cubicBezTo>
                      <a:pt x="4464940" y="4849300"/>
                      <a:pt x="4457320" y="4861873"/>
                      <a:pt x="4460367" y="4871019"/>
                    </a:cubicBezTo>
                    <a:cubicBezTo>
                      <a:pt x="4470653" y="4900546"/>
                      <a:pt x="4458271" y="4930075"/>
                      <a:pt x="4463795" y="4959602"/>
                    </a:cubicBezTo>
                    <a:cubicBezTo>
                      <a:pt x="4466653" y="4974082"/>
                      <a:pt x="4458844" y="4990465"/>
                      <a:pt x="4458082" y="5006086"/>
                    </a:cubicBezTo>
                    <a:cubicBezTo>
                      <a:pt x="4456748" y="5031614"/>
                      <a:pt x="4457320" y="5057141"/>
                      <a:pt x="4456937" y="5082670"/>
                    </a:cubicBezTo>
                    <a:cubicBezTo>
                      <a:pt x="4456748" y="5091052"/>
                      <a:pt x="4455986" y="5099245"/>
                      <a:pt x="4455603" y="5107627"/>
                    </a:cubicBezTo>
                    <a:cubicBezTo>
                      <a:pt x="4455223" y="5115057"/>
                      <a:pt x="4453508" y="5122867"/>
                      <a:pt x="4454840" y="5129916"/>
                    </a:cubicBezTo>
                    <a:cubicBezTo>
                      <a:pt x="4459605" y="5155445"/>
                      <a:pt x="4467415" y="5180591"/>
                      <a:pt x="4470464" y="5206308"/>
                    </a:cubicBezTo>
                    <a:cubicBezTo>
                      <a:pt x="4473130" y="5228597"/>
                      <a:pt x="4469511" y="5251650"/>
                      <a:pt x="4471415" y="5274129"/>
                    </a:cubicBezTo>
                    <a:cubicBezTo>
                      <a:pt x="4474653" y="5313754"/>
                      <a:pt x="4480369" y="5353379"/>
                      <a:pt x="4483990" y="5393005"/>
                    </a:cubicBezTo>
                    <a:cubicBezTo>
                      <a:pt x="4484752" y="5401579"/>
                      <a:pt x="4479988" y="5410531"/>
                      <a:pt x="4479607" y="5419295"/>
                    </a:cubicBezTo>
                    <a:cubicBezTo>
                      <a:pt x="4478656" y="5446728"/>
                      <a:pt x="4478464" y="5474161"/>
                      <a:pt x="4477894" y="5501594"/>
                    </a:cubicBezTo>
                    <a:cubicBezTo>
                      <a:pt x="4477702" y="5517215"/>
                      <a:pt x="4478273" y="5533027"/>
                      <a:pt x="4476560" y="5548460"/>
                    </a:cubicBezTo>
                    <a:cubicBezTo>
                      <a:pt x="4474273" y="5568842"/>
                      <a:pt x="4470844" y="5587321"/>
                      <a:pt x="4485703" y="5606372"/>
                    </a:cubicBezTo>
                    <a:cubicBezTo>
                      <a:pt x="4508755" y="5635711"/>
                      <a:pt x="4499801" y="5673050"/>
                      <a:pt x="4505134" y="5706959"/>
                    </a:cubicBezTo>
                    <a:cubicBezTo>
                      <a:pt x="4506468" y="5715723"/>
                      <a:pt x="4506659" y="5724678"/>
                      <a:pt x="4508183" y="5733440"/>
                    </a:cubicBezTo>
                    <a:cubicBezTo>
                      <a:pt x="4511041" y="5749634"/>
                      <a:pt x="4514279" y="5765635"/>
                      <a:pt x="4517519" y="5781830"/>
                    </a:cubicBezTo>
                    <a:cubicBezTo>
                      <a:pt x="4518089" y="5784686"/>
                      <a:pt x="4518281" y="5787924"/>
                      <a:pt x="4519234" y="5790592"/>
                    </a:cubicBezTo>
                    <a:cubicBezTo>
                      <a:pt x="4527233" y="5815169"/>
                      <a:pt x="4536378" y="5839361"/>
                      <a:pt x="4542855" y="5864318"/>
                    </a:cubicBezTo>
                    <a:cubicBezTo>
                      <a:pt x="4546095" y="5876511"/>
                      <a:pt x="4546476" y="5890037"/>
                      <a:pt x="4544759" y="5902610"/>
                    </a:cubicBezTo>
                    <a:cubicBezTo>
                      <a:pt x="4539808" y="5939377"/>
                      <a:pt x="4537712" y="5975764"/>
                      <a:pt x="4544951" y="6012723"/>
                    </a:cubicBezTo>
                    <a:cubicBezTo>
                      <a:pt x="4547808" y="6027392"/>
                      <a:pt x="4543045" y="6043776"/>
                      <a:pt x="4541332" y="6059397"/>
                    </a:cubicBezTo>
                    <a:cubicBezTo>
                      <a:pt x="4536759" y="6096736"/>
                      <a:pt x="4531805" y="6134075"/>
                      <a:pt x="4527426" y="6171605"/>
                    </a:cubicBezTo>
                    <a:cubicBezTo>
                      <a:pt x="4524758" y="6195037"/>
                      <a:pt x="4523234" y="6218660"/>
                      <a:pt x="4520568" y="6242093"/>
                    </a:cubicBezTo>
                    <a:cubicBezTo>
                      <a:pt x="4517327" y="6269144"/>
                      <a:pt x="4512375" y="6296005"/>
                      <a:pt x="4509706" y="6323058"/>
                    </a:cubicBezTo>
                    <a:cubicBezTo>
                      <a:pt x="4506659" y="6353919"/>
                      <a:pt x="4506089" y="6384972"/>
                      <a:pt x="4502848" y="6415833"/>
                    </a:cubicBezTo>
                    <a:cubicBezTo>
                      <a:pt x="4496563" y="6472225"/>
                      <a:pt x="4489132" y="6528424"/>
                      <a:pt x="4482084" y="6584812"/>
                    </a:cubicBezTo>
                    <a:cubicBezTo>
                      <a:pt x="4475226" y="6639488"/>
                      <a:pt x="4469129" y="6694164"/>
                      <a:pt x="4460557" y="6748458"/>
                    </a:cubicBezTo>
                    <a:cubicBezTo>
                      <a:pt x="4456937" y="6771319"/>
                      <a:pt x="4447030" y="6793035"/>
                      <a:pt x="4441507" y="6815516"/>
                    </a:cubicBezTo>
                    <a:lnTo>
                      <a:pt x="4431806" y="6858001"/>
                    </a:lnTo>
                    <a:lnTo>
                      <a:pt x="4259554" y="6858001"/>
                    </a:lnTo>
                    <a:lnTo>
                      <a:pt x="4259554" y="6858002"/>
                    </a:lnTo>
                    <a:lnTo>
                      <a:pt x="0" y="6858002"/>
                    </a:lnTo>
                    <a:lnTo>
                      <a:pt x="0" y="2"/>
                    </a:lnTo>
                    <a:lnTo>
                      <a:pt x="3766492" y="1"/>
                    </a:lnTo>
                    <a:lnTo>
                      <a:pt x="3769210" y="21486"/>
                    </a:lnTo>
                    <a:close/>
                  </a:path>
                </a:pathLst>
              </a:cu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8" name="Freeform: Shape 37">
                <a:extLst>
                  <a:ext uri="{FF2B5EF4-FFF2-40B4-BE49-F238E27FC236}">
                    <a16:creationId xmlns:a16="http://schemas.microsoft.com/office/drawing/2014/main" id="{6DF4F205-369D-432D-BE06-61DCFE9AB0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 y="-1"/>
                <a:ext cx="4572002" cy="6858002"/>
              </a:xfrm>
              <a:custGeom>
                <a:avLst/>
                <a:gdLst>
                  <a:gd name="connsiteX0" fmla="*/ 4214994 w 4572002"/>
                  <a:gd name="connsiteY0" fmla="*/ 6564620 h 6858002"/>
                  <a:gd name="connsiteX1" fmla="*/ 4214994 w 4572002"/>
                  <a:gd name="connsiteY1" fmla="*/ 6564621 h 6858002"/>
                  <a:gd name="connsiteX2" fmla="*/ 4237474 w 4572002"/>
                  <a:gd name="connsiteY2" fmla="*/ 6588626 h 6858002"/>
                  <a:gd name="connsiteX3" fmla="*/ 4254096 w 4572002"/>
                  <a:gd name="connsiteY3" fmla="*/ 6625225 h 6858002"/>
                  <a:gd name="connsiteX4" fmla="*/ 4247001 w 4572002"/>
                  <a:gd name="connsiteY4" fmla="*/ 6662540 h 6858002"/>
                  <a:gd name="connsiteX5" fmla="*/ 4247000 w 4572002"/>
                  <a:gd name="connsiteY5" fmla="*/ 6662541 h 6858002"/>
                  <a:gd name="connsiteX6" fmla="*/ 4246999 w 4572002"/>
                  <a:gd name="connsiteY6" fmla="*/ 6662544 h 6858002"/>
                  <a:gd name="connsiteX7" fmla="*/ 4235550 w 4572002"/>
                  <a:gd name="connsiteY7" fmla="*/ 6683027 h 6858002"/>
                  <a:gd name="connsiteX8" fmla="*/ 4232403 w 4572002"/>
                  <a:gd name="connsiteY8" fmla="*/ 6702976 h 6858002"/>
                  <a:gd name="connsiteX9" fmla="*/ 4232403 w 4572002"/>
                  <a:gd name="connsiteY9" fmla="*/ 6702977 h 6858002"/>
                  <a:gd name="connsiteX10" fmla="*/ 4246238 w 4572002"/>
                  <a:gd name="connsiteY10" fmla="*/ 6742553 h 6858002"/>
                  <a:gd name="connsiteX11" fmla="*/ 4246239 w 4572002"/>
                  <a:gd name="connsiteY11" fmla="*/ 6742555 h 6858002"/>
                  <a:gd name="connsiteX12" fmla="*/ 4265716 w 4572002"/>
                  <a:gd name="connsiteY12" fmla="*/ 6812062 h 6858002"/>
                  <a:gd name="connsiteX13" fmla="*/ 4265717 w 4572002"/>
                  <a:gd name="connsiteY13" fmla="*/ 6812064 h 6858002"/>
                  <a:gd name="connsiteX14" fmla="*/ 4265717 w 4572002"/>
                  <a:gd name="connsiteY14" fmla="*/ 6812063 h 6858002"/>
                  <a:gd name="connsiteX15" fmla="*/ 4265716 w 4572002"/>
                  <a:gd name="connsiteY15" fmla="*/ 6812062 h 6858002"/>
                  <a:gd name="connsiteX16" fmla="*/ 4260942 w 4572002"/>
                  <a:gd name="connsiteY16" fmla="*/ 6776800 h 6858002"/>
                  <a:gd name="connsiteX17" fmla="*/ 4246239 w 4572002"/>
                  <a:gd name="connsiteY17" fmla="*/ 6742555 h 6858002"/>
                  <a:gd name="connsiteX18" fmla="*/ 4246238 w 4572002"/>
                  <a:gd name="connsiteY18" fmla="*/ 6742552 h 6858002"/>
                  <a:gd name="connsiteX19" fmla="*/ 4232403 w 4572002"/>
                  <a:gd name="connsiteY19" fmla="*/ 6702976 h 6858002"/>
                  <a:gd name="connsiteX20" fmla="*/ 4246999 w 4572002"/>
                  <a:gd name="connsiteY20" fmla="*/ 6662544 h 6858002"/>
                  <a:gd name="connsiteX21" fmla="*/ 4247000 w 4572002"/>
                  <a:gd name="connsiteY21" fmla="*/ 6662542 h 6858002"/>
                  <a:gd name="connsiteX22" fmla="*/ 4247001 w 4572002"/>
                  <a:gd name="connsiteY22" fmla="*/ 6662540 h 6858002"/>
                  <a:gd name="connsiteX23" fmla="*/ 4254084 w 4572002"/>
                  <a:gd name="connsiteY23" fmla="*/ 6645552 h 6858002"/>
                  <a:gd name="connsiteX24" fmla="*/ 4254096 w 4572002"/>
                  <a:gd name="connsiteY24" fmla="*/ 6625225 h 6858002"/>
                  <a:gd name="connsiteX25" fmla="*/ 4254096 w 4572002"/>
                  <a:gd name="connsiteY25" fmla="*/ 6625224 h 6858002"/>
                  <a:gd name="connsiteX26" fmla="*/ 4237474 w 4572002"/>
                  <a:gd name="connsiteY26" fmla="*/ 6588625 h 6858002"/>
                  <a:gd name="connsiteX27" fmla="*/ 4295315 w 4572002"/>
                  <a:gd name="connsiteY27" fmla="*/ 6438981 h 6858002"/>
                  <a:gd name="connsiteX28" fmla="*/ 4275385 w 4572002"/>
                  <a:gd name="connsiteY28" fmla="*/ 6463840 h 6858002"/>
                  <a:gd name="connsiteX29" fmla="*/ 4275382 w 4572002"/>
                  <a:gd name="connsiteY29" fmla="*/ 6463849 h 6858002"/>
                  <a:gd name="connsiteX30" fmla="*/ 4261587 w 4572002"/>
                  <a:gd name="connsiteY30" fmla="*/ 6513012 h 6858002"/>
                  <a:gd name="connsiteX31" fmla="*/ 4242781 w 4572002"/>
                  <a:gd name="connsiteY31" fmla="*/ 6546194 h 6858002"/>
                  <a:gd name="connsiteX32" fmla="*/ 4242781 w 4572002"/>
                  <a:gd name="connsiteY32" fmla="*/ 6546195 h 6858002"/>
                  <a:gd name="connsiteX33" fmla="*/ 4259120 w 4572002"/>
                  <a:gd name="connsiteY33" fmla="*/ 6521804 h 6858002"/>
                  <a:gd name="connsiteX34" fmla="*/ 4261587 w 4572002"/>
                  <a:gd name="connsiteY34" fmla="*/ 6513012 h 6858002"/>
                  <a:gd name="connsiteX35" fmla="*/ 4264398 w 4572002"/>
                  <a:gd name="connsiteY35" fmla="*/ 6508052 h 6858002"/>
                  <a:gd name="connsiteX36" fmla="*/ 4275382 w 4572002"/>
                  <a:gd name="connsiteY36" fmla="*/ 6463849 h 6858002"/>
                  <a:gd name="connsiteX37" fmla="*/ 4275385 w 4572002"/>
                  <a:gd name="connsiteY37" fmla="*/ 6463841 h 6858002"/>
                  <a:gd name="connsiteX38" fmla="*/ 4295315 w 4572002"/>
                  <a:gd name="connsiteY38" fmla="*/ 6438981 h 6858002"/>
                  <a:gd name="connsiteX39" fmla="*/ 4381289 w 4572002"/>
                  <a:gd name="connsiteY39" fmla="*/ 6365204 h 6858002"/>
                  <a:gd name="connsiteX40" fmla="*/ 4380008 w 4572002"/>
                  <a:gd name="connsiteY40" fmla="*/ 6387910 h 6858002"/>
                  <a:gd name="connsiteX41" fmla="*/ 4378243 w 4572002"/>
                  <a:gd name="connsiteY41" fmla="*/ 6391549 h 6858002"/>
                  <a:gd name="connsiteX42" fmla="*/ 4370589 w 4572002"/>
                  <a:gd name="connsiteY42" fmla="*/ 6407332 h 6858002"/>
                  <a:gd name="connsiteX43" fmla="*/ 4370589 w 4572002"/>
                  <a:gd name="connsiteY43" fmla="*/ 6407333 h 6858002"/>
                  <a:gd name="connsiteX44" fmla="*/ 4378243 w 4572002"/>
                  <a:gd name="connsiteY44" fmla="*/ 6391549 h 6858002"/>
                  <a:gd name="connsiteX45" fmla="*/ 4380008 w 4572002"/>
                  <a:gd name="connsiteY45" fmla="*/ 6387910 h 6858002"/>
                  <a:gd name="connsiteX46" fmla="*/ 4142220 w 4572002"/>
                  <a:gd name="connsiteY46" fmla="*/ 4221391 h 6858002"/>
                  <a:gd name="connsiteX47" fmla="*/ 4142220 w 4572002"/>
                  <a:gd name="connsiteY47" fmla="*/ 4221392 h 6858002"/>
                  <a:gd name="connsiteX48" fmla="*/ 4147936 w 4572002"/>
                  <a:gd name="connsiteY48" fmla="*/ 4253015 h 6858002"/>
                  <a:gd name="connsiteX49" fmla="*/ 4187752 w 4572002"/>
                  <a:gd name="connsiteY49" fmla="*/ 4324646 h 6858002"/>
                  <a:gd name="connsiteX50" fmla="*/ 4196706 w 4572002"/>
                  <a:gd name="connsiteY50" fmla="*/ 4363891 h 6858002"/>
                  <a:gd name="connsiteX51" fmla="*/ 4195944 w 4572002"/>
                  <a:gd name="connsiteY51" fmla="*/ 4482004 h 6858002"/>
                  <a:gd name="connsiteX52" fmla="*/ 4135934 w 4572002"/>
                  <a:gd name="connsiteY52" fmla="*/ 4659174 h 6858002"/>
                  <a:gd name="connsiteX53" fmla="*/ 4127932 w 4572002"/>
                  <a:gd name="connsiteY53" fmla="*/ 4677655 h 6858002"/>
                  <a:gd name="connsiteX54" fmla="*/ 4118025 w 4572002"/>
                  <a:gd name="connsiteY54" fmla="*/ 4767764 h 6858002"/>
                  <a:gd name="connsiteX55" fmla="*/ 4116716 w 4572002"/>
                  <a:gd name="connsiteY55" fmla="*/ 4800483 h 6858002"/>
                  <a:gd name="connsiteX56" fmla="*/ 4116716 w 4572002"/>
                  <a:gd name="connsiteY56" fmla="*/ 4800484 h 6858002"/>
                  <a:gd name="connsiteX57" fmla="*/ 4131552 w 4572002"/>
                  <a:gd name="connsiteY57" fmla="*/ 4828917 h 6858002"/>
                  <a:gd name="connsiteX58" fmla="*/ 4153733 w 4572002"/>
                  <a:gd name="connsiteY58" fmla="*/ 4863343 h 6858002"/>
                  <a:gd name="connsiteX59" fmla="*/ 4161262 w 4572002"/>
                  <a:gd name="connsiteY59" fmla="*/ 4889275 h 6858002"/>
                  <a:gd name="connsiteX60" fmla="*/ 4159557 w 4572002"/>
                  <a:gd name="connsiteY60" fmla="*/ 4912168 h 6858002"/>
                  <a:gd name="connsiteX61" fmla="*/ 4158155 w 4572002"/>
                  <a:gd name="connsiteY61" fmla="*/ 4933804 h 6858002"/>
                  <a:gd name="connsiteX62" fmla="*/ 4158155 w 4572002"/>
                  <a:gd name="connsiteY62" fmla="*/ 4933805 h 6858002"/>
                  <a:gd name="connsiteX63" fmla="*/ 4162914 w 4572002"/>
                  <a:gd name="connsiteY63" fmla="*/ 4952673 h 6858002"/>
                  <a:gd name="connsiteX64" fmla="*/ 4165707 w 4572002"/>
                  <a:gd name="connsiteY64" fmla="*/ 4957454 h 6858002"/>
                  <a:gd name="connsiteX65" fmla="*/ 4166985 w 4572002"/>
                  <a:gd name="connsiteY65" fmla="*/ 4961456 h 6858002"/>
                  <a:gd name="connsiteX66" fmla="*/ 4182989 w 4572002"/>
                  <a:gd name="connsiteY66" fmla="*/ 4987038 h 6858002"/>
                  <a:gd name="connsiteX67" fmla="*/ 4209468 w 4572002"/>
                  <a:gd name="connsiteY67" fmla="*/ 5041522 h 6858002"/>
                  <a:gd name="connsiteX68" fmla="*/ 4216684 w 4572002"/>
                  <a:gd name="connsiteY68" fmla="*/ 5072376 h 6858002"/>
                  <a:gd name="connsiteX69" fmla="*/ 4222587 w 4572002"/>
                  <a:gd name="connsiteY69" fmla="*/ 5087441 h 6858002"/>
                  <a:gd name="connsiteX70" fmla="*/ 4235615 w 4572002"/>
                  <a:gd name="connsiteY70" fmla="*/ 5133220 h 6858002"/>
                  <a:gd name="connsiteX71" fmla="*/ 4235616 w 4572002"/>
                  <a:gd name="connsiteY71" fmla="*/ 5133225 h 6858002"/>
                  <a:gd name="connsiteX72" fmla="*/ 4228901 w 4572002"/>
                  <a:gd name="connsiteY72" fmla="*/ 5166113 h 6858002"/>
                  <a:gd name="connsiteX73" fmla="*/ 4228901 w 4572002"/>
                  <a:gd name="connsiteY73" fmla="*/ 5166114 h 6858002"/>
                  <a:gd name="connsiteX74" fmla="*/ 4229593 w 4572002"/>
                  <a:gd name="connsiteY74" fmla="*/ 5172091 h 6858002"/>
                  <a:gd name="connsiteX75" fmla="*/ 4232139 w 4572002"/>
                  <a:gd name="connsiteY75" fmla="*/ 5179068 h 6858002"/>
                  <a:gd name="connsiteX76" fmla="*/ 4231973 w 4572002"/>
                  <a:gd name="connsiteY76" fmla="*/ 5229434 h 6858002"/>
                  <a:gd name="connsiteX77" fmla="*/ 4225669 w 4572002"/>
                  <a:gd name="connsiteY77" fmla="*/ 5241089 h 6858002"/>
                  <a:gd name="connsiteX78" fmla="*/ 4208517 w 4572002"/>
                  <a:gd name="connsiteY78" fmla="*/ 5272796 h 6858002"/>
                  <a:gd name="connsiteX79" fmla="*/ 4184613 w 4572002"/>
                  <a:gd name="connsiteY79" fmla="*/ 5312288 h 6858002"/>
                  <a:gd name="connsiteX80" fmla="*/ 4183557 w 4572002"/>
                  <a:gd name="connsiteY80" fmla="*/ 5321350 h 6858002"/>
                  <a:gd name="connsiteX81" fmla="*/ 4181083 w 4572002"/>
                  <a:gd name="connsiteY81" fmla="*/ 5326163 h 6858002"/>
                  <a:gd name="connsiteX82" fmla="*/ 4179637 w 4572002"/>
                  <a:gd name="connsiteY82" fmla="*/ 5355014 h 6858002"/>
                  <a:gd name="connsiteX83" fmla="*/ 4179637 w 4572002"/>
                  <a:gd name="connsiteY83" fmla="*/ 5355015 h 6858002"/>
                  <a:gd name="connsiteX84" fmla="*/ 4184513 w 4572002"/>
                  <a:gd name="connsiteY84" fmla="*/ 5385385 h 6858002"/>
                  <a:gd name="connsiteX85" fmla="*/ 4192704 w 4572002"/>
                  <a:gd name="connsiteY85" fmla="*/ 5425583 h 6858002"/>
                  <a:gd name="connsiteX86" fmla="*/ 4204327 w 4572002"/>
                  <a:gd name="connsiteY86" fmla="*/ 5480638 h 6858002"/>
                  <a:gd name="connsiteX87" fmla="*/ 4208850 w 4572002"/>
                  <a:gd name="connsiteY87" fmla="*/ 5507668 h 6858002"/>
                  <a:gd name="connsiteX88" fmla="*/ 4198232 w 4572002"/>
                  <a:gd name="connsiteY88" fmla="*/ 5531692 h 6858002"/>
                  <a:gd name="connsiteX89" fmla="*/ 4198231 w 4572002"/>
                  <a:gd name="connsiteY89" fmla="*/ 5531693 h 6858002"/>
                  <a:gd name="connsiteX90" fmla="*/ 4188085 w 4572002"/>
                  <a:gd name="connsiteY90" fmla="*/ 5547578 h 6858002"/>
                  <a:gd name="connsiteX91" fmla="*/ 4188085 w 4572002"/>
                  <a:gd name="connsiteY91" fmla="*/ 5547579 h 6858002"/>
                  <a:gd name="connsiteX92" fmla="*/ 4197659 w 4572002"/>
                  <a:gd name="connsiteY92" fmla="*/ 5562747 h 6858002"/>
                  <a:gd name="connsiteX93" fmla="*/ 4268907 w 4572002"/>
                  <a:gd name="connsiteY93" fmla="*/ 5704484 h 6858002"/>
                  <a:gd name="connsiteX94" fmla="*/ 4274812 w 4572002"/>
                  <a:gd name="connsiteY94" fmla="*/ 5740489 h 6858002"/>
                  <a:gd name="connsiteX95" fmla="*/ 4283578 w 4572002"/>
                  <a:gd name="connsiteY95" fmla="*/ 5760874 h 6858002"/>
                  <a:gd name="connsiteX96" fmla="*/ 4371973 w 4572002"/>
                  <a:gd name="connsiteY96" fmla="*/ 5883752 h 6858002"/>
                  <a:gd name="connsiteX97" fmla="*/ 4371974 w 4572002"/>
                  <a:gd name="connsiteY97" fmla="*/ 5883757 h 6858002"/>
                  <a:gd name="connsiteX98" fmla="*/ 4389877 w 4572002"/>
                  <a:gd name="connsiteY98" fmla="*/ 5935946 h 6858002"/>
                  <a:gd name="connsiteX99" fmla="*/ 4389878 w 4572002"/>
                  <a:gd name="connsiteY99" fmla="*/ 5935950 h 6858002"/>
                  <a:gd name="connsiteX100" fmla="*/ 4386259 w 4572002"/>
                  <a:gd name="connsiteY100" fmla="*/ 5993290 h 6858002"/>
                  <a:gd name="connsiteX101" fmla="*/ 4386259 w 4572002"/>
                  <a:gd name="connsiteY101" fmla="*/ 5993291 h 6858002"/>
                  <a:gd name="connsiteX102" fmla="*/ 4379782 w 4572002"/>
                  <a:gd name="connsiteY102" fmla="*/ 6026440 h 6858002"/>
                  <a:gd name="connsiteX103" fmla="*/ 4323583 w 4572002"/>
                  <a:gd name="connsiteY103" fmla="*/ 6108738 h 6858002"/>
                  <a:gd name="connsiteX104" fmla="*/ 4309890 w 4572002"/>
                  <a:gd name="connsiteY104" fmla="*/ 6133314 h 6858002"/>
                  <a:gd name="connsiteX105" fmla="*/ 4309890 w 4572002"/>
                  <a:gd name="connsiteY105" fmla="*/ 6133315 h 6858002"/>
                  <a:gd name="connsiteX106" fmla="*/ 4313591 w 4572002"/>
                  <a:gd name="connsiteY106" fmla="*/ 6143190 h 6858002"/>
                  <a:gd name="connsiteX107" fmla="*/ 4325486 w 4572002"/>
                  <a:gd name="connsiteY107" fmla="*/ 6155600 h 6858002"/>
                  <a:gd name="connsiteX108" fmla="*/ 4325488 w 4572002"/>
                  <a:gd name="connsiteY108" fmla="*/ 6155603 h 6858002"/>
                  <a:gd name="connsiteX109" fmla="*/ 4364160 w 4572002"/>
                  <a:gd name="connsiteY109" fmla="*/ 6228757 h 6858002"/>
                  <a:gd name="connsiteX110" fmla="*/ 4381497 w 4572002"/>
                  <a:gd name="connsiteY110" fmla="*/ 6361540 h 6858002"/>
                  <a:gd name="connsiteX111" fmla="*/ 4381497 w 4572002"/>
                  <a:gd name="connsiteY111" fmla="*/ 6361539 h 6858002"/>
                  <a:gd name="connsiteX112" fmla="*/ 4364160 w 4572002"/>
                  <a:gd name="connsiteY112" fmla="*/ 6228756 h 6858002"/>
                  <a:gd name="connsiteX113" fmla="*/ 4325488 w 4572002"/>
                  <a:gd name="connsiteY113" fmla="*/ 6155602 h 6858002"/>
                  <a:gd name="connsiteX114" fmla="*/ 4325486 w 4572002"/>
                  <a:gd name="connsiteY114" fmla="*/ 6155600 h 6858002"/>
                  <a:gd name="connsiteX115" fmla="*/ 4309890 w 4572002"/>
                  <a:gd name="connsiteY115" fmla="*/ 6133315 h 6858002"/>
                  <a:gd name="connsiteX116" fmla="*/ 4323583 w 4572002"/>
                  <a:gd name="connsiteY116" fmla="*/ 6108739 h 6858002"/>
                  <a:gd name="connsiteX117" fmla="*/ 4379782 w 4572002"/>
                  <a:gd name="connsiteY117" fmla="*/ 6026441 h 6858002"/>
                  <a:gd name="connsiteX118" fmla="*/ 4386259 w 4572002"/>
                  <a:gd name="connsiteY118" fmla="*/ 5993292 h 6858002"/>
                  <a:gd name="connsiteX119" fmla="*/ 4386259 w 4572002"/>
                  <a:gd name="connsiteY119" fmla="*/ 5993290 h 6858002"/>
                  <a:gd name="connsiteX120" fmla="*/ 4389712 w 4572002"/>
                  <a:gd name="connsiteY120" fmla="*/ 5964477 h 6858002"/>
                  <a:gd name="connsiteX121" fmla="*/ 4389878 w 4572002"/>
                  <a:gd name="connsiteY121" fmla="*/ 5935950 h 6858002"/>
                  <a:gd name="connsiteX122" fmla="*/ 4389878 w 4572002"/>
                  <a:gd name="connsiteY122" fmla="*/ 5935949 h 6858002"/>
                  <a:gd name="connsiteX123" fmla="*/ 4389877 w 4572002"/>
                  <a:gd name="connsiteY123" fmla="*/ 5935946 h 6858002"/>
                  <a:gd name="connsiteX124" fmla="*/ 4382997 w 4572002"/>
                  <a:gd name="connsiteY124" fmla="*/ 5909351 h 6858002"/>
                  <a:gd name="connsiteX125" fmla="*/ 4371974 w 4572002"/>
                  <a:gd name="connsiteY125" fmla="*/ 5883757 h 6858002"/>
                  <a:gd name="connsiteX126" fmla="*/ 4371973 w 4572002"/>
                  <a:gd name="connsiteY126" fmla="*/ 5883751 h 6858002"/>
                  <a:gd name="connsiteX127" fmla="*/ 4283578 w 4572002"/>
                  <a:gd name="connsiteY127" fmla="*/ 5760873 h 6858002"/>
                  <a:gd name="connsiteX128" fmla="*/ 4274812 w 4572002"/>
                  <a:gd name="connsiteY128" fmla="*/ 5740488 h 6858002"/>
                  <a:gd name="connsiteX129" fmla="*/ 4268907 w 4572002"/>
                  <a:gd name="connsiteY129" fmla="*/ 5704483 h 6858002"/>
                  <a:gd name="connsiteX130" fmla="*/ 4197659 w 4572002"/>
                  <a:gd name="connsiteY130" fmla="*/ 5562746 h 6858002"/>
                  <a:gd name="connsiteX131" fmla="*/ 4188085 w 4572002"/>
                  <a:gd name="connsiteY131" fmla="*/ 5547578 h 6858002"/>
                  <a:gd name="connsiteX132" fmla="*/ 4198231 w 4572002"/>
                  <a:gd name="connsiteY132" fmla="*/ 5531694 h 6858002"/>
                  <a:gd name="connsiteX133" fmla="*/ 4198232 w 4572002"/>
                  <a:gd name="connsiteY133" fmla="*/ 5531692 h 6858002"/>
                  <a:gd name="connsiteX134" fmla="*/ 4206630 w 4572002"/>
                  <a:gd name="connsiteY134" fmla="*/ 5520422 h 6858002"/>
                  <a:gd name="connsiteX135" fmla="*/ 4208850 w 4572002"/>
                  <a:gd name="connsiteY135" fmla="*/ 5507668 h 6858002"/>
                  <a:gd name="connsiteX136" fmla="*/ 4208850 w 4572002"/>
                  <a:gd name="connsiteY136" fmla="*/ 5507667 h 6858002"/>
                  <a:gd name="connsiteX137" fmla="*/ 4204327 w 4572002"/>
                  <a:gd name="connsiteY137" fmla="*/ 5480637 h 6858002"/>
                  <a:gd name="connsiteX138" fmla="*/ 4192704 w 4572002"/>
                  <a:gd name="connsiteY138" fmla="*/ 5425582 h 6858002"/>
                  <a:gd name="connsiteX139" fmla="*/ 4184513 w 4572002"/>
                  <a:gd name="connsiteY139" fmla="*/ 5385384 h 6858002"/>
                  <a:gd name="connsiteX140" fmla="*/ 4179637 w 4572002"/>
                  <a:gd name="connsiteY140" fmla="*/ 5355014 h 6858002"/>
                  <a:gd name="connsiteX141" fmla="*/ 4183557 w 4572002"/>
                  <a:gd name="connsiteY141" fmla="*/ 5321350 h 6858002"/>
                  <a:gd name="connsiteX142" fmla="*/ 4208517 w 4572002"/>
                  <a:gd name="connsiteY142" fmla="*/ 5272797 h 6858002"/>
                  <a:gd name="connsiteX143" fmla="*/ 4225669 w 4572002"/>
                  <a:gd name="connsiteY143" fmla="*/ 5241089 h 6858002"/>
                  <a:gd name="connsiteX144" fmla="*/ 4231973 w 4572002"/>
                  <a:gd name="connsiteY144" fmla="*/ 5229433 h 6858002"/>
                  <a:gd name="connsiteX145" fmla="*/ 4232139 w 4572002"/>
                  <a:gd name="connsiteY145" fmla="*/ 5179068 h 6858002"/>
                  <a:gd name="connsiteX146" fmla="*/ 4232139 w 4572002"/>
                  <a:gd name="connsiteY146" fmla="*/ 5179067 h 6858002"/>
                  <a:gd name="connsiteX147" fmla="*/ 4229593 w 4572002"/>
                  <a:gd name="connsiteY147" fmla="*/ 5172090 h 6858002"/>
                  <a:gd name="connsiteX148" fmla="*/ 4228901 w 4572002"/>
                  <a:gd name="connsiteY148" fmla="*/ 5166114 h 6858002"/>
                  <a:gd name="connsiteX149" fmla="*/ 4235616 w 4572002"/>
                  <a:gd name="connsiteY149" fmla="*/ 5133225 h 6858002"/>
                  <a:gd name="connsiteX150" fmla="*/ 4235616 w 4572002"/>
                  <a:gd name="connsiteY150" fmla="*/ 5133224 h 6858002"/>
                  <a:gd name="connsiteX151" fmla="*/ 4235615 w 4572002"/>
                  <a:gd name="connsiteY151" fmla="*/ 5133220 h 6858002"/>
                  <a:gd name="connsiteX152" fmla="*/ 4228473 w 4572002"/>
                  <a:gd name="connsiteY152" fmla="*/ 5102461 h 6858002"/>
                  <a:gd name="connsiteX153" fmla="*/ 4222587 w 4572002"/>
                  <a:gd name="connsiteY153" fmla="*/ 5087441 h 6858002"/>
                  <a:gd name="connsiteX154" fmla="*/ 4222582 w 4572002"/>
                  <a:gd name="connsiteY154" fmla="*/ 5087423 h 6858002"/>
                  <a:gd name="connsiteX155" fmla="*/ 4209468 w 4572002"/>
                  <a:gd name="connsiteY155" fmla="*/ 5041521 h 6858002"/>
                  <a:gd name="connsiteX156" fmla="*/ 4182989 w 4572002"/>
                  <a:gd name="connsiteY156" fmla="*/ 4987037 h 6858002"/>
                  <a:gd name="connsiteX157" fmla="*/ 4165707 w 4572002"/>
                  <a:gd name="connsiteY157" fmla="*/ 4957454 h 6858002"/>
                  <a:gd name="connsiteX158" fmla="*/ 4158155 w 4572002"/>
                  <a:gd name="connsiteY158" fmla="*/ 4933805 h 6858002"/>
                  <a:gd name="connsiteX159" fmla="*/ 4159557 w 4572002"/>
                  <a:gd name="connsiteY159" fmla="*/ 4912169 h 6858002"/>
                  <a:gd name="connsiteX160" fmla="*/ 4161262 w 4572002"/>
                  <a:gd name="connsiteY160" fmla="*/ 4889276 h 6858002"/>
                  <a:gd name="connsiteX161" fmla="*/ 4161262 w 4572002"/>
                  <a:gd name="connsiteY161" fmla="*/ 4889275 h 6858002"/>
                  <a:gd name="connsiteX162" fmla="*/ 4156484 w 4572002"/>
                  <a:gd name="connsiteY162" fmla="*/ 4867614 h 6858002"/>
                  <a:gd name="connsiteX163" fmla="*/ 4153733 w 4572002"/>
                  <a:gd name="connsiteY163" fmla="*/ 4863343 h 6858002"/>
                  <a:gd name="connsiteX164" fmla="*/ 4151983 w 4572002"/>
                  <a:gd name="connsiteY164" fmla="*/ 4857317 h 6858002"/>
                  <a:gd name="connsiteX165" fmla="*/ 4131552 w 4572002"/>
                  <a:gd name="connsiteY165" fmla="*/ 4828916 h 6858002"/>
                  <a:gd name="connsiteX166" fmla="*/ 4116716 w 4572002"/>
                  <a:gd name="connsiteY166" fmla="*/ 4800483 h 6858002"/>
                  <a:gd name="connsiteX167" fmla="*/ 4118025 w 4572002"/>
                  <a:gd name="connsiteY167" fmla="*/ 4767765 h 6858002"/>
                  <a:gd name="connsiteX168" fmla="*/ 4127932 w 4572002"/>
                  <a:gd name="connsiteY168" fmla="*/ 4677656 h 6858002"/>
                  <a:gd name="connsiteX169" fmla="*/ 4135934 w 4572002"/>
                  <a:gd name="connsiteY169" fmla="*/ 4659175 h 6858002"/>
                  <a:gd name="connsiteX170" fmla="*/ 4195944 w 4572002"/>
                  <a:gd name="connsiteY170" fmla="*/ 4482005 h 6858002"/>
                  <a:gd name="connsiteX171" fmla="*/ 4196706 w 4572002"/>
                  <a:gd name="connsiteY171" fmla="*/ 4363891 h 6858002"/>
                  <a:gd name="connsiteX172" fmla="*/ 4196706 w 4572002"/>
                  <a:gd name="connsiteY172" fmla="*/ 4363890 h 6858002"/>
                  <a:gd name="connsiteX173" fmla="*/ 4187752 w 4572002"/>
                  <a:gd name="connsiteY173" fmla="*/ 4324645 h 6858002"/>
                  <a:gd name="connsiteX174" fmla="*/ 4147936 w 4572002"/>
                  <a:gd name="connsiteY174" fmla="*/ 4253014 h 6858002"/>
                  <a:gd name="connsiteX175" fmla="*/ 4211111 w 4572002"/>
                  <a:gd name="connsiteY175" fmla="*/ 2836172 h 6858002"/>
                  <a:gd name="connsiteX176" fmla="*/ 4202421 w 4572002"/>
                  <a:gd name="connsiteY176" fmla="*/ 2848793 h 6858002"/>
                  <a:gd name="connsiteX177" fmla="*/ 4186816 w 4572002"/>
                  <a:gd name="connsiteY177" fmla="*/ 2897785 h 6858002"/>
                  <a:gd name="connsiteX178" fmla="*/ 4185787 w 4572002"/>
                  <a:gd name="connsiteY178" fmla="*/ 2903551 h 6858002"/>
                  <a:gd name="connsiteX179" fmla="*/ 4182513 w 4572002"/>
                  <a:gd name="connsiteY179" fmla="*/ 2914328 h 6858002"/>
                  <a:gd name="connsiteX180" fmla="*/ 4177882 w 4572002"/>
                  <a:gd name="connsiteY180" fmla="*/ 2947858 h 6858002"/>
                  <a:gd name="connsiteX181" fmla="*/ 4177881 w 4572002"/>
                  <a:gd name="connsiteY181" fmla="*/ 2947862 h 6858002"/>
                  <a:gd name="connsiteX182" fmla="*/ 4177881 w 4572002"/>
                  <a:gd name="connsiteY182" fmla="*/ 2947863 h 6858002"/>
                  <a:gd name="connsiteX183" fmla="*/ 4181465 w 4572002"/>
                  <a:gd name="connsiteY183" fmla="*/ 2982149 h 6858002"/>
                  <a:gd name="connsiteX184" fmla="*/ 4193158 w 4572002"/>
                  <a:gd name="connsiteY184" fmla="*/ 3077402 h 6858002"/>
                  <a:gd name="connsiteX185" fmla="*/ 4180703 w 4572002"/>
                  <a:gd name="connsiteY185" fmla="*/ 3172654 h 6858002"/>
                  <a:gd name="connsiteX186" fmla="*/ 4133076 w 4572002"/>
                  <a:gd name="connsiteY186" fmla="*/ 3489467 h 6858002"/>
                  <a:gd name="connsiteX187" fmla="*/ 4110977 w 4572002"/>
                  <a:gd name="connsiteY187" fmla="*/ 3544713 h 6858002"/>
                  <a:gd name="connsiteX188" fmla="*/ 4093355 w 4572002"/>
                  <a:gd name="connsiteY188" fmla="*/ 3574408 h 6858002"/>
                  <a:gd name="connsiteX189" fmla="*/ 4093355 w 4572002"/>
                  <a:gd name="connsiteY189" fmla="*/ 3574409 h 6858002"/>
                  <a:gd name="connsiteX190" fmla="*/ 4105453 w 4572002"/>
                  <a:gd name="connsiteY190" fmla="*/ 3606818 h 6858002"/>
                  <a:gd name="connsiteX191" fmla="*/ 4118979 w 4572002"/>
                  <a:gd name="connsiteY191" fmla="*/ 3630633 h 6858002"/>
                  <a:gd name="connsiteX192" fmla="*/ 4136708 w 4572002"/>
                  <a:gd name="connsiteY192" fmla="*/ 3654416 h 6858002"/>
                  <a:gd name="connsiteX193" fmla="*/ 4140382 w 4572002"/>
                  <a:gd name="connsiteY193" fmla="*/ 3668940 h 6858002"/>
                  <a:gd name="connsiteX194" fmla="*/ 4143220 w 4572002"/>
                  <a:gd name="connsiteY194" fmla="*/ 3680164 h 6858002"/>
                  <a:gd name="connsiteX195" fmla="*/ 4139172 w 4572002"/>
                  <a:gd name="connsiteY195" fmla="*/ 3734837 h 6858002"/>
                  <a:gd name="connsiteX196" fmla="*/ 4139172 w 4572002"/>
                  <a:gd name="connsiteY196" fmla="*/ 3734838 h 6858002"/>
                  <a:gd name="connsiteX197" fmla="*/ 4139554 w 4572002"/>
                  <a:gd name="connsiteY197" fmla="*/ 3754653 h 6858002"/>
                  <a:gd name="connsiteX198" fmla="*/ 4145911 w 4572002"/>
                  <a:gd name="connsiteY198" fmla="*/ 3789776 h 6858002"/>
                  <a:gd name="connsiteX199" fmla="*/ 4130980 w 4572002"/>
                  <a:gd name="connsiteY199" fmla="*/ 3822472 h 6858002"/>
                  <a:gd name="connsiteX200" fmla="*/ 4116645 w 4572002"/>
                  <a:gd name="connsiteY200" fmla="*/ 3852619 h 6858002"/>
                  <a:gd name="connsiteX201" fmla="*/ 4116645 w 4572002"/>
                  <a:gd name="connsiteY201" fmla="*/ 3852620 h 6858002"/>
                  <a:gd name="connsiteX202" fmla="*/ 4117425 w 4572002"/>
                  <a:gd name="connsiteY202" fmla="*/ 3868764 h 6858002"/>
                  <a:gd name="connsiteX203" fmla="*/ 4126028 w 4572002"/>
                  <a:gd name="connsiteY203" fmla="*/ 3885337 h 6858002"/>
                  <a:gd name="connsiteX204" fmla="*/ 4126028 w 4572002"/>
                  <a:gd name="connsiteY204" fmla="*/ 3885339 h 6858002"/>
                  <a:gd name="connsiteX205" fmla="*/ 4148409 w 4572002"/>
                  <a:gd name="connsiteY205" fmla="*/ 3923125 h 6858002"/>
                  <a:gd name="connsiteX206" fmla="*/ 4157913 w 4572002"/>
                  <a:gd name="connsiteY206" fmla="*/ 3962160 h 6858002"/>
                  <a:gd name="connsiteX207" fmla="*/ 4142221 w 4572002"/>
                  <a:gd name="connsiteY207" fmla="*/ 4043838 h 6858002"/>
                  <a:gd name="connsiteX208" fmla="*/ 4142220 w 4572002"/>
                  <a:gd name="connsiteY208" fmla="*/ 4043839 h 6858002"/>
                  <a:gd name="connsiteX209" fmla="*/ 4127099 w 4572002"/>
                  <a:gd name="connsiteY209" fmla="*/ 4103825 h 6858002"/>
                  <a:gd name="connsiteX210" fmla="*/ 4127099 w 4572002"/>
                  <a:gd name="connsiteY210" fmla="*/ 4103826 h 6858002"/>
                  <a:gd name="connsiteX211" fmla="*/ 4129066 w 4572002"/>
                  <a:gd name="connsiteY211" fmla="*/ 4134256 h 6858002"/>
                  <a:gd name="connsiteX212" fmla="*/ 4138410 w 4572002"/>
                  <a:gd name="connsiteY212" fmla="*/ 4165382 h 6858002"/>
                  <a:gd name="connsiteX213" fmla="*/ 4138410 w 4572002"/>
                  <a:gd name="connsiteY213" fmla="*/ 4165384 h 6858002"/>
                  <a:gd name="connsiteX214" fmla="*/ 4142315 w 4572002"/>
                  <a:gd name="connsiteY214" fmla="*/ 4192388 h 6858002"/>
                  <a:gd name="connsiteX215" fmla="*/ 4142315 w 4572002"/>
                  <a:gd name="connsiteY215" fmla="*/ 4192387 h 6858002"/>
                  <a:gd name="connsiteX216" fmla="*/ 4138410 w 4572002"/>
                  <a:gd name="connsiteY216" fmla="*/ 4165383 h 6858002"/>
                  <a:gd name="connsiteX217" fmla="*/ 4138410 w 4572002"/>
                  <a:gd name="connsiteY217" fmla="*/ 4165382 h 6858002"/>
                  <a:gd name="connsiteX218" fmla="*/ 4127099 w 4572002"/>
                  <a:gd name="connsiteY218" fmla="*/ 4103826 h 6858002"/>
                  <a:gd name="connsiteX219" fmla="*/ 4142220 w 4572002"/>
                  <a:gd name="connsiteY219" fmla="*/ 4043840 h 6858002"/>
                  <a:gd name="connsiteX220" fmla="*/ 4142221 w 4572002"/>
                  <a:gd name="connsiteY220" fmla="*/ 4043838 h 6858002"/>
                  <a:gd name="connsiteX221" fmla="*/ 4155523 w 4572002"/>
                  <a:gd name="connsiteY221" fmla="*/ 4002410 h 6858002"/>
                  <a:gd name="connsiteX222" fmla="*/ 4157913 w 4572002"/>
                  <a:gd name="connsiteY222" fmla="*/ 3962160 h 6858002"/>
                  <a:gd name="connsiteX223" fmla="*/ 4157913 w 4572002"/>
                  <a:gd name="connsiteY223" fmla="*/ 3962159 h 6858002"/>
                  <a:gd name="connsiteX224" fmla="*/ 4126028 w 4572002"/>
                  <a:gd name="connsiteY224" fmla="*/ 3885338 h 6858002"/>
                  <a:gd name="connsiteX225" fmla="*/ 4126028 w 4572002"/>
                  <a:gd name="connsiteY225" fmla="*/ 3885337 h 6858002"/>
                  <a:gd name="connsiteX226" fmla="*/ 4116645 w 4572002"/>
                  <a:gd name="connsiteY226" fmla="*/ 3852620 h 6858002"/>
                  <a:gd name="connsiteX227" fmla="*/ 4130980 w 4572002"/>
                  <a:gd name="connsiteY227" fmla="*/ 3822473 h 6858002"/>
                  <a:gd name="connsiteX228" fmla="*/ 4145911 w 4572002"/>
                  <a:gd name="connsiteY228" fmla="*/ 3789777 h 6858002"/>
                  <a:gd name="connsiteX229" fmla="*/ 4145911 w 4572002"/>
                  <a:gd name="connsiteY229" fmla="*/ 3789776 h 6858002"/>
                  <a:gd name="connsiteX230" fmla="*/ 4139554 w 4572002"/>
                  <a:gd name="connsiteY230" fmla="*/ 3754652 h 6858002"/>
                  <a:gd name="connsiteX231" fmla="*/ 4139172 w 4572002"/>
                  <a:gd name="connsiteY231" fmla="*/ 3734838 h 6858002"/>
                  <a:gd name="connsiteX232" fmla="*/ 4143220 w 4572002"/>
                  <a:gd name="connsiteY232" fmla="*/ 3680164 h 6858002"/>
                  <a:gd name="connsiteX233" fmla="*/ 4143220 w 4572002"/>
                  <a:gd name="connsiteY233" fmla="*/ 3680163 h 6858002"/>
                  <a:gd name="connsiteX234" fmla="*/ 4140382 w 4572002"/>
                  <a:gd name="connsiteY234" fmla="*/ 3668940 h 6858002"/>
                  <a:gd name="connsiteX235" fmla="*/ 4136708 w 4572002"/>
                  <a:gd name="connsiteY235" fmla="*/ 3654416 h 6858002"/>
                  <a:gd name="connsiteX236" fmla="*/ 4136708 w 4572002"/>
                  <a:gd name="connsiteY236" fmla="*/ 3654416 h 6858002"/>
                  <a:gd name="connsiteX237" fmla="*/ 4136708 w 4572002"/>
                  <a:gd name="connsiteY237" fmla="*/ 3654415 h 6858002"/>
                  <a:gd name="connsiteX238" fmla="*/ 4118979 w 4572002"/>
                  <a:gd name="connsiteY238" fmla="*/ 3630632 h 6858002"/>
                  <a:gd name="connsiteX239" fmla="*/ 4105453 w 4572002"/>
                  <a:gd name="connsiteY239" fmla="*/ 3606817 h 6858002"/>
                  <a:gd name="connsiteX240" fmla="*/ 4095707 w 4572002"/>
                  <a:gd name="connsiteY240" fmla="*/ 3587174 h 6858002"/>
                  <a:gd name="connsiteX241" fmla="*/ 4093355 w 4572002"/>
                  <a:gd name="connsiteY241" fmla="*/ 3574408 h 6858002"/>
                  <a:gd name="connsiteX242" fmla="*/ 4098434 w 4572002"/>
                  <a:gd name="connsiteY242" fmla="*/ 3562321 h 6858002"/>
                  <a:gd name="connsiteX243" fmla="*/ 4110977 w 4572002"/>
                  <a:gd name="connsiteY243" fmla="*/ 3544714 h 6858002"/>
                  <a:gd name="connsiteX244" fmla="*/ 4133076 w 4572002"/>
                  <a:gd name="connsiteY244" fmla="*/ 3489468 h 6858002"/>
                  <a:gd name="connsiteX245" fmla="*/ 4180703 w 4572002"/>
                  <a:gd name="connsiteY245" fmla="*/ 3172655 h 6858002"/>
                  <a:gd name="connsiteX246" fmla="*/ 4193158 w 4572002"/>
                  <a:gd name="connsiteY246" fmla="*/ 3077402 h 6858002"/>
                  <a:gd name="connsiteX247" fmla="*/ 4193158 w 4572002"/>
                  <a:gd name="connsiteY247" fmla="*/ 3077401 h 6858002"/>
                  <a:gd name="connsiteX248" fmla="*/ 4181465 w 4572002"/>
                  <a:gd name="connsiteY248" fmla="*/ 2982148 h 6858002"/>
                  <a:gd name="connsiteX249" fmla="*/ 4177881 w 4572002"/>
                  <a:gd name="connsiteY249" fmla="*/ 2947863 h 6858002"/>
                  <a:gd name="connsiteX250" fmla="*/ 4177882 w 4572002"/>
                  <a:gd name="connsiteY250" fmla="*/ 2947858 h 6858002"/>
                  <a:gd name="connsiteX251" fmla="*/ 4185787 w 4572002"/>
                  <a:gd name="connsiteY251" fmla="*/ 2903551 h 6858002"/>
                  <a:gd name="connsiteX252" fmla="*/ 4202421 w 4572002"/>
                  <a:gd name="connsiteY252" fmla="*/ 2848794 h 6858002"/>
                  <a:gd name="connsiteX253" fmla="*/ 4211111 w 4572002"/>
                  <a:gd name="connsiteY253" fmla="*/ 2836173 h 6858002"/>
                  <a:gd name="connsiteX254" fmla="*/ 3726625 w 4572002"/>
                  <a:gd name="connsiteY254" fmla="*/ 1508458 h 6858002"/>
                  <a:gd name="connsiteX255" fmla="*/ 3698531 w 4572002"/>
                  <a:gd name="connsiteY255" fmla="*/ 1596214 h 6858002"/>
                  <a:gd name="connsiteX256" fmla="*/ 3700436 w 4572002"/>
                  <a:gd name="connsiteY256" fmla="*/ 1624981 h 6858002"/>
                  <a:gd name="connsiteX257" fmla="*/ 3757017 w 4572002"/>
                  <a:gd name="connsiteY257" fmla="*/ 1697754 h 6858002"/>
                  <a:gd name="connsiteX258" fmla="*/ 3779686 w 4572002"/>
                  <a:gd name="connsiteY258" fmla="*/ 1733189 h 6858002"/>
                  <a:gd name="connsiteX259" fmla="*/ 3821407 w 4572002"/>
                  <a:gd name="connsiteY259" fmla="*/ 1833776 h 6858002"/>
                  <a:gd name="connsiteX260" fmla="*/ 3829028 w 4572002"/>
                  <a:gd name="connsiteY260" fmla="*/ 1842159 h 6858002"/>
                  <a:gd name="connsiteX261" fmla="*/ 3919519 w 4572002"/>
                  <a:gd name="connsiteY261" fmla="*/ 1916455 h 6858002"/>
                  <a:gd name="connsiteX262" fmla="*/ 3934949 w 4572002"/>
                  <a:gd name="connsiteY262" fmla="*/ 1933220 h 6858002"/>
                  <a:gd name="connsiteX263" fmla="*/ 3958954 w 4572002"/>
                  <a:gd name="connsiteY263" fmla="*/ 1953414 h 6858002"/>
                  <a:gd name="connsiteX264" fmla="*/ 4005437 w 4572002"/>
                  <a:gd name="connsiteY264" fmla="*/ 2016470 h 6858002"/>
                  <a:gd name="connsiteX265" fmla="*/ 4020296 w 4572002"/>
                  <a:gd name="connsiteY265" fmla="*/ 2094579 h 6858002"/>
                  <a:gd name="connsiteX266" fmla="*/ 4042967 w 4572002"/>
                  <a:gd name="connsiteY266" fmla="*/ 2188880 h 6858002"/>
                  <a:gd name="connsiteX267" fmla="*/ 4058207 w 4572002"/>
                  <a:gd name="connsiteY267" fmla="*/ 2228315 h 6858002"/>
                  <a:gd name="connsiteX268" fmla="*/ 4087164 w 4572002"/>
                  <a:gd name="connsiteY268" fmla="*/ 2334045 h 6858002"/>
                  <a:gd name="connsiteX269" fmla="*/ 4111549 w 4572002"/>
                  <a:gd name="connsiteY269" fmla="*/ 2409486 h 6858002"/>
                  <a:gd name="connsiteX270" fmla="*/ 4128650 w 4572002"/>
                  <a:gd name="connsiteY270" fmla="*/ 2435913 h 6858002"/>
                  <a:gd name="connsiteX271" fmla="*/ 4134481 w 4572002"/>
                  <a:gd name="connsiteY271" fmla="*/ 2463018 h 6858002"/>
                  <a:gd name="connsiteX272" fmla="*/ 4125839 w 4572002"/>
                  <a:gd name="connsiteY272" fmla="*/ 2518262 h 6858002"/>
                  <a:gd name="connsiteX273" fmla="*/ 4125838 w 4572002"/>
                  <a:gd name="connsiteY273" fmla="*/ 2518264 h 6858002"/>
                  <a:gd name="connsiteX274" fmla="*/ 4122194 w 4572002"/>
                  <a:gd name="connsiteY274" fmla="*/ 2545006 h 6858002"/>
                  <a:gd name="connsiteX275" fmla="*/ 4122194 w 4572002"/>
                  <a:gd name="connsiteY275" fmla="*/ 2545007 h 6858002"/>
                  <a:gd name="connsiteX276" fmla="*/ 4126408 w 4572002"/>
                  <a:gd name="connsiteY276" fmla="*/ 2571035 h 6858002"/>
                  <a:gd name="connsiteX277" fmla="*/ 4199563 w 4572002"/>
                  <a:gd name="connsiteY277" fmla="*/ 2668002 h 6858002"/>
                  <a:gd name="connsiteX278" fmla="*/ 4247953 w 4572002"/>
                  <a:gd name="connsiteY278" fmla="*/ 2745349 h 6858002"/>
                  <a:gd name="connsiteX279" fmla="*/ 4247954 w 4572002"/>
                  <a:gd name="connsiteY279" fmla="*/ 2745352 h 6858002"/>
                  <a:gd name="connsiteX280" fmla="*/ 4253873 w 4572002"/>
                  <a:gd name="connsiteY280" fmla="*/ 2778006 h 6858002"/>
                  <a:gd name="connsiteX281" fmla="*/ 4253453 w 4572002"/>
                  <a:gd name="connsiteY281" fmla="*/ 2785440 h 6858002"/>
                  <a:gd name="connsiteX282" fmla="*/ 4243374 w 4572002"/>
                  <a:gd name="connsiteY282" fmla="*/ 2811780 h 6858002"/>
                  <a:gd name="connsiteX283" fmla="*/ 4243371 w 4572002"/>
                  <a:gd name="connsiteY283" fmla="*/ 2811787 h 6858002"/>
                  <a:gd name="connsiteX284" fmla="*/ 4243372 w 4572002"/>
                  <a:gd name="connsiteY284" fmla="*/ 2811787 h 6858002"/>
                  <a:gd name="connsiteX285" fmla="*/ 4243374 w 4572002"/>
                  <a:gd name="connsiteY285" fmla="*/ 2811780 h 6858002"/>
                  <a:gd name="connsiteX286" fmla="*/ 4253025 w 4572002"/>
                  <a:gd name="connsiteY286" fmla="*/ 2793023 h 6858002"/>
                  <a:gd name="connsiteX287" fmla="*/ 4253453 w 4572002"/>
                  <a:gd name="connsiteY287" fmla="*/ 2785440 h 6858002"/>
                  <a:gd name="connsiteX288" fmla="*/ 4254654 w 4572002"/>
                  <a:gd name="connsiteY288" fmla="*/ 2782305 h 6858002"/>
                  <a:gd name="connsiteX289" fmla="*/ 4253873 w 4572002"/>
                  <a:gd name="connsiteY289" fmla="*/ 2778006 h 6858002"/>
                  <a:gd name="connsiteX290" fmla="*/ 4254284 w 4572002"/>
                  <a:gd name="connsiteY290" fmla="*/ 2770758 h 6858002"/>
                  <a:gd name="connsiteX291" fmla="*/ 4247954 w 4572002"/>
                  <a:gd name="connsiteY291" fmla="*/ 2745352 h 6858002"/>
                  <a:gd name="connsiteX292" fmla="*/ 4247953 w 4572002"/>
                  <a:gd name="connsiteY292" fmla="*/ 2745348 h 6858002"/>
                  <a:gd name="connsiteX293" fmla="*/ 4199563 w 4572002"/>
                  <a:gd name="connsiteY293" fmla="*/ 2668001 h 6858002"/>
                  <a:gd name="connsiteX294" fmla="*/ 4126408 w 4572002"/>
                  <a:gd name="connsiteY294" fmla="*/ 2571034 h 6858002"/>
                  <a:gd name="connsiteX295" fmla="*/ 4122194 w 4572002"/>
                  <a:gd name="connsiteY295" fmla="*/ 2545007 h 6858002"/>
                  <a:gd name="connsiteX296" fmla="*/ 4125838 w 4572002"/>
                  <a:gd name="connsiteY296" fmla="*/ 2518265 h 6858002"/>
                  <a:gd name="connsiteX297" fmla="*/ 4125839 w 4572002"/>
                  <a:gd name="connsiteY297" fmla="*/ 2518262 h 6858002"/>
                  <a:gd name="connsiteX298" fmla="*/ 4132419 w 4572002"/>
                  <a:gd name="connsiteY298" fmla="*/ 2490551 h 6858002"/>
                  <a:gd name="connsiteX299" fmla="*/ 4134481 w 4572002"/>
                  <a:gd name="connsiteY299" fmla="*/ 2463018 h 6858002"/>
                  <a:gd name="connsiteX300" fmla="*/ 4134481 w 4572002"/>
                  <a:gd name="connsiteY300" fmla="*/ 2463017 h 6858002"/>
                  <a:gd name="connsiteX301" fmla="*/ 4111549 w 4572002"/>
                  <a:gd name="connsiteY301" fmla="*/ 2409485 h 6858002"/>
                  <a:gd name="connsiteX302" fmla="*/ 4087164 w 4572002"/>
                  <a:gd name="connsiteY302" fmla="*/ 2334044 h 6858002"/>
                  <a:gd name="connsiteX303" fmla="*/ 4058207 w 4572002"/>
                  <a:gd name="connsiteY303" fmla="*/ 2228314 h 6858002"/>
                  <a:gd name="connsiteX304" fmla="*/ 4042967 w 4572002"/>
                  <a:gd name="connsiteY304" fmla="*/ 2188879 h 6858002"/>
                  <a:gd name="connsiteX305" fmla="*/ 4020296 w 4572002"/>
                  <a:gd name="connsiteY305" fmla="*/ 2094578 h 6858002"/>
                  <a:gd name="connsiteX306" fmla="*/ 4005437 w 4572002"/>
                  <a:gd name="connsiteY306" fmla="*/ 2016469 h 6858002"/>
                  <a:gd name="connsiteX307" fmla="*/ 3958954 w 4572002"/>
                  <a:gd name="connsiteY307" fmla="*/ 1953413 h 6858002"/>
                  <a:gd name="connsiteX308" fmla="*/ 3934949 w 4572002"/>
                  <a:gd name="connsiteY308" fmla="*/ 1933219 h 6858002"/>
                  <a:gd name="connsiteX309" fmla="*/ 3919519 w 4572002"/>
                  <a:gd name="connsiteY309" fmla="*/ 1916454 h 6858002"/>
                  <a:gd name="connsiteX310" fmla="*/ 3829028 w 4572002"/>
                  <a:gd name="connsiteY310" fmla="*/ 1842158 h 6858002"/>
                  <a:gd name="connsiteX311" fmla="*/ 3821407 w 4572002"/>
                  <a:gd name="connsiteY311" fmla="*/ 1833775 h 6858002"/>
                  <a:gd name="connsiteX312" fmla="*/ 3779686 w 4572002"/>
                  <a:gd name="connsiteY312" fmla="*/ 1733188 h 6858002"/>
                  <a:gd name="connsiteX313" fmla="*/ 3757018 w 4572002"/>
                  <a:gd name="connsiteY313" fmla="*/ 1697753 h 6858002"/>
                  <a:gd name="connsiteX314" fmla="*/ 3700436 w 4572002"/>
                  <a:gd name="connsiteY314" fmla="*/ 1624980 h 6858002"/>
                  <a:gd name="connsiteX315" fmla="*/ 3698532 w 4572002"/>
                  <a:gd name="connsiteY315" fmla="*/ 1596213 h 6858002"/>
                  <a:gd name="connsiteX316" fmla="*/ 3745230 w 4572002"/>
                  <a:gd name="connsiteY316" fmla="*/ 1459073 h 6858002"/>
                  <a:gd name="connsiteX317" fmla="*/ 3745229 w 4572002"/>
                  <a:gd name="connsiteY317" fmla="*/ 1459074 h 6858002"/>
                  <a:gd name="connsiteX318" fmla="*/ 3736012 w 4572002"/>
                  <a:gd name="connsiteY318" fmla="*/ 1481572 h 6858002"/>
                  <a:gd name="connsiteX319" fmla="*/ 3764423 w 4572002"/>
                  <a:gd name="connsiteY319" fmla="*/ 1268758 h 6858002"/>
                  <a:gd name="connsiteX320" fmla="*/ 3769590 w 4572002"/>
                  <a:gd name="connsiteY320" fmla="*/ 1286070 h 6858002"/>
                  <a:gd name="connsiteX321" fmla="*/ 3791927 w 4572002"/>
                  <a:gd name="connsiteY321" fmla="*/ 1350628 h 6858002"/>
                  <a:gd name="connsiteX322" fmla="*/ 3786333 w 4572002"/>
                  <a:gd name="connsiteY322" fmla="*/ 1413840 h 6858002"/>
                  <a:gd name="connsiteX323" fmla="*/ 3791928 w 4572002"/>
                  <a:gd name="connsiteY323" fmla="*/ 1350627 h 6858002"/>
                  <a:gd name="connsiteX324" fmla="*/ 3769590 w 4572002"/>
                  <a:gd name="connsiteY324" fmla="*/ 1286069 h 6858002"/>
                  <a:gd name="connsiteX325" fmla="*/ 3706152 w 4572002"/>
                  <a:gd name="connsiteY325" fmla="*/ 773035 h 6858002"/>
                  <a:gd name="connsiteX326" fmla="*/ 3706152 w 4572002"/>
                  <a:gd name="connsiteY326" fmla="*/ 773036 h 6858002"/>
                  <a:gd name="connsiteX327" fmla="*/ 3714152 w 4572002"/>
                  <a:gd name="connsiteY327" fmla="*/ 854380 h 6858002"/>
                  <a:gd name="connsiteX328" fmla="*/ 3745205 w 4572002"/>
                  <a:gd name="connsiteY328" fmla="*/ 915344 h 6858002"/>
                  <a:gd name="connsiteX329" fmla="*/ 3755683 w 4572002"/>
                  <a:gd name="connsiteY329" fmla="*/ 927156 h 6858002"/>
                  <a:gd name="connsiteX330" fmla="*/ 3752063 w 4572002"/>
                  <a:gd name="connsiteY330" fmla="*/ 1097088 h 6858002"/>
                  <a:gd name="connsiteX331" fmla="*/ 3747681 w 4572002"/>
                  <a:gd name="connsiteY331" fmla="*/ 1123186 h 6858002"/>
                  <a:gd name="connsiteX332" fmla="*/ 3772400 w 4572002"/>
                  <a:gd name="connsiteY332" fmla="*/ 1184029 h 6858002"/>
                  <a:gd name="connsiteX333" fmla="*/ 3747682 w 4572002"/>
                  <a:gd name="connsiteY333" fmla="*/ 1123185 h 6858002"/>
                  <a:gd name="connsiteX334" fmla="*/ 3752064 w 4572002"/>
                  <a:gd name="connsiteY334" fmla="*/ 1097087 h 6858002"/>
                  <a:gd name="connsiteX335" fmla="*/ 3755684 w 4572002"/>
                  <a:gd name="connsiteY335" fmla="*/ 927155 h 6858002"/>
                  <a:gd name="connsiteX336" fmla="*/ 3745206 w 4572002"/>
                  <a:gd name="connsiteY336" fmla="*/ 915343 h 6858002"/>
                  <a:gd name="connsiteX337" fmla="*/ 3714152 w 4572002"/>
                  <a:gd name="connsiteY337" fmla="*/ 854379 h 6858002"/>
                  <a:gd name="connsiteX338" fmla="*/ 3761553 w 4572002"/>
                  <a:gd name="connsiteY338" fmla="*/ 517851 h 6858002"/>
                  <a:gd name="connsiteX339" fmla="*/ 3752635 w 4572002"/>
                  <a:gd name="connsiteY339" fmla="*/ 556048 h 6858002"/>
                  <a:gd name="connsiteX340" fmla="*/ 3746157 w 4572002"/>
                  <a:gd name="connsiteY340" fmla="*/ 580051 h 6858002"/>
                  <a:gd name="connsiteX341" fmla="*/ 3742776 w 4572002"/>
                  <a:gd name="connsiteY341" fmla="*/ 642538 h 6858002"/>
                  <a:gd name="connsiteX342" fmla="*/ 3730253 w 4572002"/>
                  <a:gd name="connsiteY342" fmla="*/ 694928 h 6858002"/>
                  <a:gd name="connsiteX343" fmla="*/ 3742777 w 4572002"/>
                  <a:gd name="connsiteY343" fmla="*/ 642537 h 6858002"/>
                  <a:gd name="connsiteX344" fmla="*/ 3746158 w 4572002"/>
                  <a:gd name="connsiteY344" fmla="*/ 580050 h 6858002"/>
                  <a:gd name="connsiteX345" fmla="*/ 3752636 w 4572002"/>
                  <a:gd name="connsiteY345" fmla="*/ 556047 h 6858002"/>
                  <a:gd name="connsiteX346" fmla="*/ 3774848 w 4572002"/>
                  <a:gd name="connsiteY346" fmla="*/ 298169 h 6858002"/>
                  <a:gd name="connsiteX347" fmla="*/ 3760065 w 4572002"/>
                  <a:gd name="connsiteY347" fmla="*/ 313534 h 6858002"/>
                  <a:gd name="connsiteX348" fmla="*/ 3759493 w 4572002"/>
                  <a:gd name="connsiteY348" fmla="*/ 338871 h 6858002"/>
                  <a:gd name="connsiteX349" fmla="*/ 3759500 w 4572002"/>
                  <a:gd name="connsiteY349" fmla="*/ 338900 h 6858002"/>
                  <a:gd name="connsiteX350" fmla="*/ 3769400 w 4572002"/>
                  <a:gd name="connsiteY350" fmla="*/ 395640 h 6858002"/>
                  <a:gd name="connsiteX351" fmla="*/ 3765590 w 4572002"/>
                  <a:gd name="connsiteY351" fmla="*/ 367328 h 6858002"/>
                  <a:gd name="connsiteX352" fmla="*/ 3759500 w 4572002"/>
                  <a:gd name="connsiteY352" fmla="*/ 338900 h 6858002"/>
                  <a:gd name="connsiteX353" fmla="*/ 3759494 w 4572002"/>
                  <a:gd name="connsiteY353" fmla="*/ 338870 h 6858002"/>
                  <a:gd name="connsiteX354" fmla="*/ 3760066 w 4572002"/>
                  <a:gd name="connsiteY354" fmla="*/ 313533 h 6858002"/>
                  <a:gd name="connsiteX355" fmla="*/ 3782393 w 4572002"/>
                  <a:gd name="connsiteY355" fmla="*/ 281568 h 6858002"/>
                  <a:gd name="connsiteX356" fmla="*/ 3777498 w 4572002"/>
                  <a:gd name="connsiteY356" fmla="*/ 295415 h 6858002"/>
                  <a:gd name="connsiteX357" fmla="*/ 3777499 w 4572002"/>
                  <a:gd name="connsiteY357" fmla="*/ 295415 h 6858002"/>
                  <a:gd name="connsiteX358" fmla="*/ 3769073 w 4572002"/>
                  <a:gd name="connsiteY358" fmla="*/ 24486 h 6858002"/>
                  <a:gd name="connsiteX359" fmla="*/ 3766810 w 4572002"/>
                  <a:gd name="connsiteY359" fmla="*/ 74129 h 6858002"/>
                  <a:gd name="connsiteX360" fmla="*/ 3772734 w 4572002"/>
                  <a:gd name="connsiteY360" fmla="*/ 125861 h 6858002"/>
                  <a:gd name="connsiteX361" fmla="*/ 3777129 w 4572002"/>
                  <a:gd name="connsiteY361" fmla="*/ 153387 h 6858002"/>
                  <a:gd name="connsiteX362" fmla="*/ 3785402 w 4572002"/>
                  <a:gd name="connsiteY362" fmla="*/ 228944 h 6858002"/>
                  <a:gd name="connsiteX363" fmla="*/ 3780943 w 4572002"/>
                  <a:gd name="connsiteY363" fmla="*/ 177271 h 6858002"/>
                  <a:gd name="connsiteX364" fmla="*/ 3777129 w 4572002"/>
                  <a:gd name="connsiteY364" fmla="*/ 153387 h 6858002"/>
                  <a:gd name="connsiteX365" fmla="*/ 3776930 w 4572002"/>
                  <a:gd name="connsiteY365" fmla="*/ 151569 h 6858002"/>
                  <a:gd name="connsiteX366" fmla="*/ 3766811 w 4572002"/>
                  <a:gd name="connsiteY366" fmla="*/ 74129 h 6858002"/>
                  <a:gd name="connsiteX367" fmla="*/ 3766492 w 4572002"/>
                  <a:gd name="connsiteY367" fmla="*/ 0 h 6858002"/>
                  <a:gd name="connsiteX368" fmla="*/ 4230600 w 4572002"/>
                  <a:gd name="connsiteY368" fmla="*/ 0 h 6858002"/>
                  <a:gd name="connsiteX369" fmla="*/ 4229473 w 4572002"/>
                  <a:gd name="connsiteY369" fmla="*/ 2817 h 6858002"/>
                  <a:gd name="connsiteX370" fmla="*/ 4215375 w 4572002"/>
                  <a:gd name="connsiteY370" fmla="*/ 63587 h 6858002"/>
                  <a:gd name="connsiteX371" fmla="*/ 4201468 w 4572002"/>
                  <a:gd name="connsiteY371" fmla="*/ 176939 h 6858002"/>
                  <a:gd name="connsiteX372" fmla="*/ 4193466 w 4572002"/>
                  <a:gd name="connsiteY372" fmla="*/ 200182 h 6858002"/>
                  <a:gd name="connsiteX373" fmla="*/ 4155554 w 4572002"/>
                  <a:gd name="connsiteY373" fmla="*/ 340774 h 6858002"/>
                  <a:gd name="connsiteX374" fmla="*/ 4156319 w 4572002"/>
                  <a:gd name="connsiteY374" fmla="*/ 453364 h 6858002"/>
                  <a:gd name="connsiteX375" fmla="*/ 4158033 w 4572002"/>
                  <a:gd name="connsiteY375" fmla="*/ 462126 h 6858002"/>
                  <a:gd name="connsiteX376" fmla="*/ 4170605 w 4572002"/>
                  <a:gd name="connsiteY376" fmla="*/ 505182 h 6858002"/>
                  <a:gd name="connsiteX377" fmla="*/ 4167177 w 4572002"/>
                  <a:gd name="connsiteY377" fmla="*/ 571860 h 6858002"/>
                  <a:gd name="connsiteX378" fmla="*/ 4149840 w 4572002"/>
                  <a:gd name="connsiteY378" fmla="*/ 617772 h 6858002"/>
                  <a:gd name="connsiteX379" fmla="*/ 4149078 w 4572002"/>
                  <a:gd name="connsiteY379" fmla="*/ 674923 h 6858002"/>
                  <a:gd name="connsiteX380" fmla="*/ 4159937 w 4572002"/>
                  <a:gd name="connsiteY380" fmla="*/ 740268 h 6858002"/>
                  <a:gd name="connsiteX381" fmla="*/ 4162223 w 4572002"/>
                  <a:gd name="connsiteY381" fmla="*/ 769605 h 6858002"/>
                  <a:gd name="connsiteX382" fmla="*/ 4184703 w 4572002"/>
                  <a:gd name="connsiteY382" fmla="*/ 850189 h 6858002"/>
                  <a:gd name="connsiteX383" fmla="*/ 4179179 w 4572002"/>
                  <a:gd name="connsiteY383" fmla="*/ 898198 h 6858002"/>
                  <a:gd name="connsiteX384" fmla="*/ 4164319 w 4572002"/>
                  <a:gd name="connsiteY384" fmla="*/ 945444 h 6858002"/>
                  <a:gd name="connsiteX385" fmla="*/ 4150030 w 4572002"/>
                  <a:gd name="connsiteY385" fmla="*/ 975733 h 6858002"/>
                  <a:gd name="connsiteX386" fmla="*/ 4139934 w 4572002"/>
                  <a:gd name="connsiteY386" fmla="*/ 1036887 h 6858002"/>
                  <a:gd name="connsiteX387" fmla="*/ 4141458 w 4572002"/>
                  <a:gd name="connsiteY387" fmla="*/ 1048125 h 6858002"/>
                  <a:gd name="connsiteX388" fmla="*/ 4154032 w 4572002"/>
                  <a:gd name="connsiteY388" fmla="*/ 1230633 h 6858002"/>
                  <a:gd name="connsiteX389" fmla="*/ 4174225 w 4572002"/>
                  <a:gd name="connsiteY389" fmla="*/ 1303024 h 6858002"/>
                  <a:gd name="connsiteX390" fmla="*/ 4176701 w 4572002"/>
                  <a:gd name="connsiteY390" fmla="*/ 1318456 h 6858002"/>
                  <a:gd name="connsiteX391" fmla="*/ 4199372 w 4572002"/>
                  <a:gd name="connsiteY391" fmla="*/ 1472575 h 6858002"/>
                  <a:gd name="connsiteX392" fmla="*/ 4200325 w 4572002"/>
                  <a:gd name="connsiteY392" fmla="*/ 1489720 h 6858002"/>
                  <a:gd name="connsiteX393" fmla="*/ 4196324 w 4572002"/>
                  <a:gd name="connsiteY393" fmla="*/ 1537537 h 6858002"/>
                  <a:gd name="connsiteX394" fmla="*/ 4237474 w 4572002"/>
                  <a:gd name="connsiteY394" fmla="*/ 1650317 h 6858002"/>
                  <a:gd name="connsiteX395" fmla="*/ 4251572 w 4572002"/>
                  <a:gd name="connsiteY395" fmla="*/ 1763287 h 6858002"/>
                  <a:gd name="connsiteX396" fmla="*/ 4251380 w 4572002"/>
                  <a:gd name="connsiteY396" fmla="*/ 1825393 h 6858002"/>
                  <a:gd name="connsiteX397" fmla="*/ 4261478 w 4572002"/>
                  <a:gd name="connsiteY397" fmla="*/ 1869780 h 6858002"/>
                  <a:gd name="connsiteX398" fmla="*/ 4292149 w 4572002"/>
                  <a:gd name="connsiteY398" fmla="*/ 1978940 h 6858002"/>
                  <a:gd name="connsiteX399" fmla="*/ 4296911 w 4572002"/>
                  <a:gd name="connsiteY399" fmla="*/ 2030378 h 6858002"/>
                  <a:gd name="connsiteX400" fmla="*/ 4307201 w 4572002"/>
                  <a:gd name="connsiteY400" fmla="*/ 2085054 h 6858002"/>
                  <a:gd name="connsiteX401" fmla="*/ 4353302 w 4572002"/>
                  <a:gd name="connsiteY401" fmla="*/ 2220312 h 6858002"/>
                  <a:gd name="connsiteX402" fmla="*/ 4350636 w 4572002"/>
                  <a:gd name="connsiteY402" fmla="*/ 2330806 h 6858002"/>
                  <a:gd name="connsiteX403" fmla="*/ 4351206 w 4572002"/>
                  <a:gd name="connsiteY403" fmla="*/ 2401292 h 6858002"/>
                  <a:gd name="connsiteX404" fmla="*/ 4366446 w 4572002"/>
                  <a:gd name="connsiteY404" fmla="*/ 2485307 h 6858002"/>
                  <a:gd name="connsiteX405" fmla="*/ 4388736 w 4572002"/>
                  <a:gd name="connsiteY405" fmla="*/ 2554079 h 6858002"/>
                  <a:gd name="connsiteX406" fmla="*/ 4406453 w 4572002"/>
                  <a:gd name="connsiteY406" fmla="*/ 2649143 h 6858002"/>
                  <a:gd name="connsiteX407" fmla="*/ 4440554 w 4572002"/>
                  <a:gd name="connsiteY407" fmla="*/ 2743826 h 6858002"/>
                  <a:gd name="connsiteX408" fmla="*/ 4466653 w 4572002"/>
                  <a:gd name="connsiteY408" fmla="*/ 2809930 h 6858002"/>
                  <a:gd name="connsiteX409" fmla="*/ 4489705 w 4572002"/>
                  <a:gd name="connsiteY409" fmla="*/ 2901943 h 6858002"/>
                  <a:gd name="connsiteX410" fmla="*/ 4505897 w 4572002"/>
                  <a:gd name="connsiteY410" fmla="*/ 3042728 h 6858002"/>
                  <a:gd name="connsiteX411" fmla="*/ 4507613 w 4572002"/>
                  <a:gd name="connsiteY411" fmla="*/ 3107500 h 6858002"/>
                  <a:gd name="connsiteX412" fmla="*/ 4545521 w 4572002"/>
                  <a:gd name="connsiteY412" fmla="*/ 3209993 h 6858002"/>
                  <a:gd name="connsiteX413" fmla="*/ 4563811 w 4572002"/>
                  <a:gd name="connsiteY413" fmla="*/ 3253809 h 6858002"/>
                  <a:gd name="connsiteX414" fmla="*/ 4548570 w 4572002"/>
                  <a:gd name="connsiteY414" fmla="*/ 3293244 h 6858002"/>
                  <a:gd name="connsiteX415" fmla="*/ 4531043 w 4572002"/>
                  <a:gd name="connsiteY415" fmla="*/ 3318771 h 6858002"/>
                  <a:gd name="connsiteX416" fmla="*/ 4545904 w 4572002"/>
                  <a:gd name="connsiteY416" fmla="*/ 3399546 h 6858002"/>
                  <a:gd name="connsiteX417" fmla="*/ 4561524 w 4572002"/>
                  <a:gd name="connsiteY417" fmla="*/ 3485275 h 6858002"/>
                  <a:gd name="connsiteX418" fmla="*/ 4572002 w 4572002"/>
                  <a:gd name="connsiteY418" fmla="*/ 3546617 h 6858002"/>
                  <a:gd name="connsiteX419" fmla="*/ 4563620 w 4572002"/>
                  <a:gd name="connsiteY419" fmla="*/ 3623201 h 6858002"/>
                  <a:gd name="connsiteX420" fmla="*/ 4560192 w 4572002"/>
                  <a:gd name="connsiteY420" fmla="*/ 3683591 h 6858002"/>
                  <a:gd name="connsiteX421" fmla="*/ 4550476 w 4572002"/>
                  <a:gd name="connsiteY421" fmla="*/ 3732361 h 6858002"/>
                  <a:gd name="connsiteX422" fmla="*/ 4544759 w 4572002"/>
                  <a:gd name="connsiteY422" fmla="*/ 3749506 h 6858002"/>
                  <a:gd name="connsiteX423" fmla="*/ 4500182 w 4572002"/>
                  <a:gd name="connsiteY423" fmla="*/ 3885338 h 6858002"/>
                  <a:gd name="connsiteX424" fmla="*/ 4464557 w 4572002"/>
                  <a:gd name="connsiteY424" fmla="*/ 4030503 h 6858002"/>
                  <a:gd name="connsiteX425" fmla="*/ 4487039 w 4572002"/>
                  <a:gd name="connsiteY425" fmla="*/ 4124614 h 6858002"/>
                  <a:gd name="connsiteX426" fmla="*/ 4486656 w 4572002"/>
                  <a:gd name="connsiteY426" fmla="*/ 4159667 h 6858002"/>
                  <a:gd name="connsiteX427" fmla="*/ 4491801 w 4572002"/>
                  <a:gd name="connsiteY427" fmla="*/ 4320837 h 6858002"/>
                  <a:gd name="connsiteX428" fmla="*/ 4497325 w 4572002"/>
                  <a:gd name="connsiteY428" fmla="*/ 4349222 h 6858002"/>
                  <a:gd name="connsiteX429" fmla="*/ 4474653 w 4572002"/>
                  <a:gd name="connsiteY429" fmla="*/ 4502579 h 6858002"/>
                  <a:gd name="connsiteX430" fmla="*/ 4470844 w 4572002"/>
                  <a:gd name="connsiteY430" fmla="*/ 4558207 h 6858002"/>
                  <a:gd name="connsiteX431" fmla="*/ 4464557 w 4572002"/>
                  <a:gd name="connsiteY431" fmla="*/ 4609452 h 6858002"/>
                  <a:gd name="connsiteX432" fmla="*/ 4463033 w 4572002"/>
                  <a:gd name="connsiteY432" fmla="*/ 4681083 h 6858002"/>
                  <a:gd name="connsiteX433" fmla="*/ 4465891 w 4572002"/>
                  <a:gd name="connsiteY433" fmla="*/ 4755381 h 6858002"/>
                  <a:gd name="connsiteX434" fmla="*/ 4465319 w 4572002"/>
                  <a:gd name="connsiteY434" fmla="*/ 4838250 h 6858002"/>
                  <a:gd name="connsiteX435" fmla="*/ 4460367 w 4572002"/>
                  <a:gd name="connsiteY435" fmla="*/ 4871019 h 6858002"/>
                  <a:gd name="connsiteX436" fmla="*/ 4463795 w 4572002"/>
                  <a:gd name="connsiteY436" fmla="*/ 4959602 h 6858002"/>
                  <a:gd name="connsiteX437" fmla="*/ 4458082 w 4572002"/>
                  <a:gd name="connsiteY437" fmla="*/ 5006086 h 6858002"/>
                  <a:gd name="connsiteX438" fmla="*/ 4456937 w 4572002"/>
                  <a:gd name="connsiteY438" fmla="*/ 5082670 h 6858002"/>
                  <a:gd name="connsiteX439" fmla="*/ 4455603 w 4572002"/>
                  <a:gd name="connsiteY439" fmla="*/ 5107627 h 6858002"/>
                  <a:gd name="connsiteX440" fmla="*/ 4454840 w 4572002"/>
                  <a:gd name="connsiteY440" fmla="*/ 5129916 h 6858002"/>
                  <a:gd name="connsiteX441" fmla="*/ 4470464 w 4572002"/>
                  <a:gd name="connsiteY441" fmla="*/ 5206308 h 6858002"/>
                  <a:gd name="connsiteX442" fmla="*/ 4471415 w 4572002"/>
                  <a:gd name="connsiteY442" fmla="*/ 5274129 h 6858002"/>
                  <a:gd name="connsiteX443" fmla="*/ 4483990 w 4572002"/>
                  <a:gd name="connsiteY443" fmla="*/ 5393005 h 6858002"/>
                  <a:gd name="connsiteX444" fmla="*/ 4479607 w 4572002"/>
                  <a:gd name="connsiteY444" fmla="*/ 5419295 h 6858002"/>
                  <a:gd name="connsiteX445" fmla="*/ 4477894 w 4572002"/>
                  <a:gd name="connsiteY445" fmla="*/ 5501594 h 6858002"/>
                  <a:gd name="connsiteX446" fmla="*/ 4476560 w 4572002"/>
                  <a:gd name="connsiteY446" fmla="*/ 5548460 h 6858002"/>
                  <a:gd name="connsiteX447" fmla="*/ 4485703 w 4572002"/>
                  <a:gd name="connsiteY447" fmla="*/ 5606372 h 6858002"/>
                  <a:gd name="connsiteX448" fmla="*/ 4505134 w 4572002"/>
                  <a:gd name="connsiteY448" fmla="*/ 5706959 h 6858002"/>
                  <a:gd name="connsiteX449" fmla="*/ 4508183 w 4572002"/>
                  <a:gd name="connsiteY449" fmla="*/ 5733440 h 6858002"/>
                  <a:gd name="connsiteX450" fmla="*/ 4517519 w 4572002"/>
                  <a:gd name="connsiteY450" fmla="*/ 5781830 h 6858002"/>
                  <a:gd name="connsiteX451" fmla="*/ 4519234 w 4572002"/>
                  <a:gd name="connsiteY451" fmla="*/ 5790592 h 6858002"/>
                  <a:gd name="connsiteX452" fmla="*/ 4542855 w 4572002"/>
                  <a:gd name="connsiteY452" fmla="*/ 5864318 h 6858002"/>
                  <a:gd name="connsiteX453" fmla="*/ 4544759 w 4572002"/>
                  <a:gd name="connsiteY453" fmla="*/ 5902610 h 6858002"/>
                  <a:gd name="connsiteX454" fmla="*/ 4544951 w 4572002"/>
                  <a:gd name="connsiteY454" fmla="*/ 6012723 h 6858002"/>
                  <a:gd name="connsiteX455" fmla="*/ 4541332 w 4572002"/>
                  <a:gd name="connsiteY455" fmla="*/ 6059397 h 6858002"/>
                  <a:gd name="connsiteX456" fmla="*/ 4527426 w 4572002"/>
                  <a:gd name="connsiteY456" fmla="*/ 6171605 h 6858002"/>
                  <a:gd name="connsiteX457" fmla="*/ 4520568 w 4572002"/>
                  <a:gd name="connsiteY457" fmla="*/ 6242093 h 6858002"/>
                  <a:gd name="connsiteX458" fmla="*/ 4509706 w 4572002"/>
                  <a:gd name="connsiteY458" fmla="*/ 6323058 h 6858002"/>
                  <a:gd name="connsiteX459" fmla="*/ 4502848 w 4572002"/>
                  <a:gd name="connsiteY459" fmla="*/ 6415833 h 6858002"/>
                  <a:gd name="connsiteX460" fmla="*/ 4482084 w 4572002"/>
                  <a:gd name="connsiteY460" fmla="*/ 6584812 h 6858002"/>
                  <a:gd name="connsiteX461" fmla="*/ 4460557 w 4572002"/>
                  <a:gd name="connsiteY461" fmla="*/ 6748458 h 6858002"/>
                  <a:gd name="connsiteX462" fmla="*/ 4441507 w 4572002"/>
                  <a:gd name="connsiteY462" fmla="*/ 6815516 h 6858002"/>
                  <a:gd name="connsiteX463" fmla="*/ 4431806 w 4572002"/>
                  <a:gd name="connsiteY463" fmla="*/ 6858001 h 6858002"/>
                  <a:gd name="connsiteX464" fmla="*/ 4259554 w 4572002"/>
                  <a:gd name="connsiteY464" fmla="*/ 6858001 h 6858002"/>
                  <a:gd name="connsiteX465" fmla="*/ 4259554 w 4572002"/>
                  <a:gd name="connsiteY465" fmla="*/ 6858002 h 6858002"/>
                  <a:gd name="connsiteX466" fmla="*/ 0 w 4572002"/>
                  <a:gd name="connsiteY466" fmla="*/ 6858002 h 6858002"/>
                  <a:gd name="connsiteX467" fmla="*/ 0 w 4572002"/>
                  <a:gd name="connsiteY467" fmla="*/ 2 h 6858002"/>
                  <a:gd name="connsiteX468" fmla="*/ 3766492 w 4572002"/>
                  <a:gd name="connsiteY468" fmla="*/ 1 h 6858002"/>
                  <a:gd name="connsiteX469" fmla="*/ 3769210 w 4572002"/>
                  <a:gd name="connsiteY469" fmla="*/ 21486 h 6858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Lst>
                <a:rect l="l" t="t" r="r" b="b"/>
                <a:pathLst>
                  <a:path w="4572002" h="6858002">
                    <a:moveTo>
                      <a:pt x="4214994" y="6564620"/>
                    </a:moveTo>
                    <a:lnTo>
                      <a:pt x="4214994" y="6564621"/>
                    </a:lnTo>
                    <a:cubicBezTo>
                      <a:pt x="4225281" y="6575479"/>
                      <a:pt x="4231378" y="6582147"/>
                      <a:pt x="4237474" y="6588626"/>
                    </a:cubicBezTo>
                    <a:lnTo>
                      <a:pt x="4254096" y="6625225"/>
                    </a:lnTo>
                    <a:lnTo>
                      <a:pt x="4247001" y="6662540"/>
                    </a:lnTo>
                    <a:lnTo>
                      <a:pt x="4247000" y="6662541"/>
                    </a:lnTo>
                    <a:lnTo>
                      <a:pt x="4246999" y="6662544"/>
                    </a:lnTo>
                    <a:lnTo>
                      <a:pt x="4235550" y="6683027"/>
                    </a:lnTo>
                    <a:lnTo>
                      <a:pt x="4232403" y="6702976"/>
                    </a:lnTo>
                    <a:lnTo>
                      <a:pt x="4232403" y="6702977"/>
                    </a:lnTo>
                    <a:cubicBezTo>
                      <a:pt x="4232808" y="6716169"/>
                      <a:pt x="4237951" y="6729219"/>
                      <a:pt x="4246238" y="6742553"/>
                    </a:cubicBezTo>
                    <a:lnTo>
                      <a:pt x="4246239" y="6742555"/>
                    </a:lnTo>
                    <a:lnTo>
                      <a:pt x="4265716" y="6812062"/>
                    </a:lnTo>
                    <a:lnTo>
                      <a:pt x="4265717" y="6812064"/>
                    </a:lnTo>
                    <a:lnTo>
                      <a:pt x="4265717" y="6812063"/>
                    </a:lnTo>
                    <a:lnTo>
                      <a:pt x="4265716" y="6812062"/>
                    </a:lnTo>
                    <a:lnTo>
                      <a:pt x="4260942" y="6776800"/>
                    </a:lnTo>
                    <a:lnTo>
                      <a:pt x="4246239" y="6742555"/>
                    </a:lnTo>
                    <a:lnTo>
                      <a:pt x="4246238" y="6742552"/>
                    </a:lnTo>
                    <a:lnTo>
                      <a:pt x="4232403" y="6702976"/>
                    </a:lnTo>
                    <a:lnTo>
                      <a:pt x="4246999" y="6662544"/>
                    </a:lnTo>
                    <a:lnTo>
                      <a:pt x="4247000" y="6662542"/>
                    </a:lnTo>
                    <a:lnTo>
                      <a:pt x="4247001" y="6662540"/>
                    </a:lnTo>
                    <a:lnTo>
                      <a:pt x="4254084" y="6645552"/>
                    </a:lnTo>
                    <a:lnTo>
                      <a:pt x="4254096" y="6625225"/>
                    </a:lnTo>
                    <a:lnTo>
                      <a:pt x="4254096" y="6625224"/>
                    </a:lnTo>
                    <a:cubicBezTo>
                      <a:pt x="4252000" y="6611341"/>
                      <a:pt x="4245951" y="6597578"/>
                      <a:pt x="4237474" y="6588625"/>
                    </a:cubicBezTo>
                    <a:close/>
                    <a:moveTo>
                      <a:pt x="4295315" y="6438981"/>
                    </a:moveTo>
                    <a:lnTo>
                      <a:pt x="4275385" y="6463840"/>
                    </a:lnTo>
                    <a:lnTo>
                      <a:pt x="4275382" y="6463849"/>
                    </a:lnTo>
                    <a:lnTo>
                      <a:pt x="4261587" y="6513012"/>
                    </a:lnTo>
                    <a:lnTo>
                      <a:pt x="4242781" y="6546194"/>
                    </a:lnTo>
                    <a:lnTo>
                      <a:pt x="4242781" y="6546195"/>
                    </a:lnTo>
                    <a:lnTo>
                      <a:pt x="4259120" y="6521804"/>
                    </a:lnTo>
                    <a:lnTo>
                      <a:pt x="4261587" y="6513012"/>
                    </a:lnTo>
                    <a:lnTo>
                      <a:pt x="4264398" y="6508052"/>
                    </a:lnTo>
                    <a:lnTo>
                      <a:pt x="4275382" y="6463849"/>
                    </a:lnTo>
                    <a:lnTo>
                      <a:pt x="4275385" y="6463841"/>
                    </a:lnTo>
                    <a:cubicBezTo>
                      <a:pt x="4278336" y="6451650"/>
                      <a:pt x="4285813" y="6444077"/>
                      <a:pt x="4295315" y="6438981"/>
                    </a:cubicBezTo>
                    <a:close/>
                    <a:moveTo>
                      <a:pt x="4381289" y="6365204"/>
                    </a:moveTo>
                    <a:lnTo>
                      <a:pt x="4380008" y="6387910"/>
                    </a:lnTo>
                    <a:lnTo>
                      <a:pt x="4378243" y="6391549"/>
                    </a:lnTo>
                    <a:lnTo>
                      <a:pt x="4370589" y="6407332"/>
                    </a:lnTo>
                    <a:lnTo>
                      <a:pt x="4370589" y="6407333"/>
                    </a:lnTo>
                    <a:lnTo>
                      <a:pt x="4378243" y="6391549"/>
                    </a:lnTo>
                    <a:lnTo>
                      <a:pt x="4380008" y="6387910"/>
                    </a:lnTo>
                    <a:close/>
                    <a:moveTo>
                      <a:pt x="4142220" y="4221391"/>
                    </a:moveTo>
                    <a:lnTo>
                      <a:pt x="4142220" y="4221392"/>
                    </a:lnTo>
                    <a:cubicBezTo>
                      <a:pt x="4142982" y="4232061"/>
                      <a:pt x="4143172" y="4243873"/>
                      <a:pt x="4147936" y="4253015"/>
                    </a:cubicBezTo>
                    <a:cubicBezTo>
                      <a:pt x="4160129" y="4277402"/>
                      <a:pt x="4175749" y="4300071"/>
                      <a:pt x="4187752" y="4324646"/>
                    </a:cubicBezTo>
                    <a:lnTo>
                      <a:pt x="4196706" y="4363891"/>
                    </a:lnTo>
                    <a:lnTo>
                      <a:pt x="4195944" y="4482004"/>
                    </a:lnTo>
                    <a:cubicBezTo>
                      <a:pt x="4193276" y="4546776"/>
                      <a:pt x="4192704" y="4612500"/>
                      <a:pt x="4135934" y="4659174"/>
                    </a:cubicBezTo>
                    <a:cubicBezTo>
                      <a:pt x="4131362" y="4662986"/>
                      <a:pt x="4128694" y="4671176"/>
                      <a:pt x="4127932" y="4677655"/>
                    </a:cubicBezTo>
                    <a:cubicBezTo>
                      <a:pt x="4124313" y="4707564"/>
                      <a:pt x="4123931" y="4738235"/>
                      <a:pt x="4118025" y="4767764"/>
                    </a:cubicBezTo>
                    <a:cubicBezTo>
                      <a:pt x="4115644" y="4779575"/>
                      <a:pt x="4114835" y="4790387"/>
                      <a:pt x="4116716" y="4800483"/>
                    </a:cubicBezTo>
                    <a:lnTo>
                      <a:pt x="4116716" y="4800484"/>
                    </a:lnTo>
                    <a:cubicBezTo>
                      <a:pt x="4118597" y="4810581"/>
                      <a:pt x="4123170" y="4819964"/>
                      <a:pt x="4131552" y="4828917"/>
                    </a:cubicBezTo>
                    <a:lnTo>
                      <a:pt x="4153733" y="4863343"/>
                    </a:lnTo>
                    <a:lnTo>
                      <a:pt x="4161262" y="4889275"/>
                    </a:lnTo>
                    <a:lnTo>
                      <a:pt x="4159557" y="4912168"/>
                    </a:lnTo>
                    <a:cubicBezTo>
                      <a:pt x="4157842" y="4919978"/>
                      <a:pt x="4157485" y="4927122"/>
                      <a:pt x="4158155" y="4933804"/>
                    </a:cubicBezTo>
                    <a:lnTo>
                      <a:pt x="4158155" y="4933805"/>
                    </a:lnTo>
                    <a:lnTo>
                      <a:pt x="4162914" y="4952673"/>
                    </a:lnTo>
                    <a:lnTo>
                      <a:pt x="4165707" y="4957454"/>
                    </a:lnTo>
                    <a:lnTo>
                      <a:pt x="4166985" y="4961456"/>
                    </a:lnTo>
                    <a:cubicBezTo>
                      <a:pt x="4171496" y="4970097"/>
                      <a:pt x="4177202" y="4978394"/>
                      <a:pt x="4182989" y="4987038"/>
                    </a:cubicBezTo>
                    <a:cubicBezTo>
                      <a:pt x="4194228" y="5003802"/>
                      <a:pt x="4208326" y="5022853"/>
                      <a:pt x="4209468" y="5041522"/>
                    </a:cubicBezTo>
                    <a:cubicBezTo>
                      <a:pt x="4210087" y="5052096"/>
                      <a:pt x="4213005" y="5062300"/>
                      <a:pt x="4216684" y="5072376"/>
                    </a:cubicBezTo>
                    <a:lnTo>
                      <a:pt x="4222587" y="5087441"/>
                    </a:lnTo>
                    <a:lnTo>
                      <a:pt x="4235615" y="5133220"/>
                    </a:lnTo>
                    <a:lnTo>
                      <a:pt x="4235616" y="5133225"/>
                    </a:lnTo>
                    <a:lnTo>
                      <a:pt x="4228901" y="5166113"/>
                    </a:lnTo>
                    <a:lnTo>
                      <a:pt x="4228901" y="5166114"/>
                    </a:lnTo>
                    <a:cubicBezTo>
                      <a:pt x="4228139" y="5167638"/>
                      <a:pt x="4228712" y="5169781"/>
                      <a:pt x="4229593" y="5172091"/>
                    </a:cubicBezTo>
                    <a:lnTo>
                      <a:pt x="4232139" y="5179068"/>
                    </a:lnTo>
                    <a:cubicBezTo>
                      <a:pt x="4235759" y="5196595"/>
                      <a:pt x="4235807" y="5213598"/>
                      <a:pt x="4231973" y="5229434"/>
                    </a:cubicBezTo>
                    <a:lnTo>
                      <a:pt x="4225669" y="5241089"/>
                    </a:lnTo>
                    <a:lnTo>
                      <a:pt x="4208517" y="5272796"/>
                    </a:lnTo>
                    <a:cubicBezTo>
                      <a:pt x="4196871" y="5285441"/>
                      <a:pt x="4189165" y="5298595"/>
                      <a:pt x="4184613" y="5312288"/>
                    </a:cubicBezTo>
                    <a:lnTo>
                      <a:pt x="4183557" y="5321350"/>
                    </a:lnTo>
                    <a:lnTo>
                      <a:pt x="4181083" y="5326163"/>
                    </a:lnTo>
                    <a:lnTo>
                      <a:pt x="4179637" y="5355014"/>
                    </a:lnTo>
                    <a:lnTo>
                      <a:pt x="4179637" y="5355015"/>
                    </a:lnTo>
                    <a:cubicBezTo>
                      <a:pt x="4180286" y="5364883"/>
                      <a:pt x="4181989" y="5375003"/>
                      <a:pt x="4184513" y="5385385"/>
                    </a:cubicBezTo>
                    <a:cubicBezTo>
                      <a:pt x="4187752" y="5398722"/>
                      <a:pt x="4190038" y="5412058"/>
                      <a:pt x="4192704" y="5425583"/>
                    </a:cubicBezTo>
                    <a:cubicBezTo>
                      <a:pt x="4196514" y="5443871"/>
                      <a:pt x="4200516" y="5462352"/>
                      <a:pt x="4204327" y="5480638"/>
                    </a:cubicBezTo>
                    <a:lnTo>
                      <a:pt x="4208850" y="5507668"/>
                    </a:lnTo>
                    <a:lnTo>
                      <a:pt x="4198232" y="5531692"/>
                    </a:lnTo>
                    <a:lnTo>
                      <a:pt x="4198231" y="5531693"/>
                    </a:lnTo>
                    <a:cubicBezTo>
                      <a:pt x="4191181" y="5537600"/>
                      <a:pt x="4187989" y="5542649"/>
                      <a:pt x="4188085" y="5547578"/>
                    </a:cubicBezTo>
                    <a:lnTo>
                      <a:pt x="4188085" y="5547579"/>
                    </a:lnTo>
                    <a:cubicBezTo>
                      <a:pt x="4188180" y="5552508"/>
                      <a:pt x="4191562" y="5557318"/>
                      <a:pt x="4197659" y="5562747"/>
                    </a:cubicBezTo>
                    <a:cubicBezTo>
                      <a:pt x="4240332" y="5600468"/>
                      <a:pt x="4267003" y="5646190"/>
                      <a:pt x="4268907" y="5704484"/>
                    </a:cubicBezTo>
                    <a:cubicBezTo>
                      <a:pt x="4269289" y="5716486"/>
                      <a:pt x="4271954" y="5728679"/>
                      <a:pt x="4274812" y="5740489"/>
                    </a:cubicBezTo>
                    <a:cubicBezTo>
                      <a:pt x="4276527" y="5747729"/>
                      <a:pt x="4278433" y="5756494"/>
                      <a:pt x="4283578" y="5760874"/>
                    </a:cubicBezTo>
                    <a:cubicBezTo>
                      <a:pt x="4322821" y="5794975"/>
                      <a:pt x="4350063" y="5837458"/>
                      <a:pt x="4371973" y="5883752"/>
                    </a:cubicBezTo>
                    <a:lnTo>
                      <a:pt x="4371974" y="5883757"/>
                    </a:lnTo>
                    <a:lnTo>
                      <a:pt x="4389877" y="5935946"/>
                    </a:lnTo>
                    <a:lnTo>
                      <a:pt x="4389878" y="5935950"/>
                    </a:lnTo>
                    <a:lnTo>
                      <a:pt x="4386259" y="5993290"/>
                    </a:lnTo>
                    <a:lnTo>
                      <a:pt x="4386259" y="5993291"/>
                    </a:lnTo>
                    <a:cubicBezTo>
                      <a:pt x="4385116" y="6004531"/>
                      <a:pt x="4385306" y="6017485"/>
                      <a:pt x="4379782" y="6026440"/>
                    </a:cubicBezTo>
                    <a:cubicBezTo>
                      <a:pt x="4362445" y="6054825"/>
                      <a:pt x="4343778" y="6082258"/>
                      <a:pt x="4323583" y="6108738"/>
                    </a:cubicBezTo>
                    <a:cubicBezTo>
                      <a:pt x="4314914" y="6120074"/>
                      <a:pt x="4309961" y="6126884"/>
                      <a:pt x="4309890" y="6133314"/>
                    </a:cubicBezTo>
                    <a:lnTo>
                      <a:pt x="4309890" y="6133315"/>
                    </a:lnTo>
                    <a:lnTo>
                      <a:pt x="4313591" y="6143190"/>
                    </a:lnTo>
                    <a:lnTo>
                      <a:pt x="4325486" y="6155600"/>
                    </a:lnTo>
                    <a:lnTo>
                      <a:pt x="4325488" y="6155603"/>
                    </a:lnTo>
                    <a:cubicBezTo>
                      <a:pt x="4347778" y="6175798"/>
                      <a:pt x="4359398" y="6200945"/>
                      <a:pt x="4364160" y="6228757"/>
                    </a:cubicBezTo>
                    <a:lnTo>
                      <a:pt x="4381497" y="6361540"/>
                    </a:lnTo>
                    <a:lnTo>
                      <a:pt x="4381497" y="6361539"/>
                    </a:lnTo>
                    <a:cubicBezTo>
                      <a:pt x="4377877" y="6317151"/>
                      <a:pt x="4371590" y="6272764"/>
                      <a:pt x="4364160" y="6228756"/>
                    </a:cubicBezTo>
                    <a:cubicBezTo>
                      <a:pt x="4359398" y="6200944"/>
                      <a:pt x="4347778" y="6175797"/>
                      <a:pt x="4325488" y="6155602"/>
                    </a:cubicBezTo>
                    <a:lnTo>
                      <a:pt x="4325486" y="6155600"/>
                    </a:lnTo>
                    <a:lnTo>
                      <a:pt x="4309890" y="6133315"/>
                    </a:lnTo>
                    <a:lnTo>
                      <a:pt x="4323583" y="6108739"/>
                    </a:lnTo>
                    <a:cubicBezTo>
                      <a:pt x="4343778" y="6082259"/>
                      <a:pt x="4362445" y="6054826"/>
                      <a:pt x="4379782" y="6026441"/>
                    </a:cubicBezTo>
                    <a:cubicBezTo>
                      <a:pt x="4385306" y="6017486"/>
                      <a:pt x="4385116" y="6004532"/>
                      <a:pt x="4386259" y="5993292"/>
                    </a:cubicBezTo>
                    <a:lnTo>
                      <a:pt x="4386259" y="5993290"/>
                    </a:lnTo>
                    <a:lnTo>
                      <a:pt x="4389712" y="5964477"/>
                    </a:lnTo>
                    <a:lnTo>
                      <a:pt x="4389878" y="5935950"/>
                    </a:lnTo>
                    <a:lnTo>
                      <a:pt x="4389878" y="5935949"/>
                    </a:lnTo>
                    <a:lnTo>
                      <a:pt x="4389877" y="5935946"/>
                    </a:lnTo>
                    <a:lnTo>
                      <a:pt x="4382997" y="5909351"/>
                    </a:lnTo>
                    <a:lnTo>
                      <a:pt x="4371974" y="5883757"/>
                    </a:lnTo>
                    <a:lnTo>
                      <a:pt x="4371973" y="5883751"/>
                    </a:lnTo>
                    <a:cubicBezTo>
                      <a:pt x="4350063" y="5837457"/>
                      <a:pt x="4322821" y="5794974"/>
                      <a:pt x="4283578" y="5760873"/>
                    </a:cubicBezTo>
                    <a:cubicBezTo>
                      <a:pt x="4278433" y="5756493"/>
                      <a:pt x="4276527" y="5747728"/>
                      <a:pt x="4274812" y="5740488"/>
                    </a:cubicBezTo>
                    <a:cubicBezTo>
                      <a:pt x="4271954" y="5728678"/>
                      <a:pt x="4269289" y="5716485"/>
                      <a:pt x="4268907" y="5704483"/>
                    </a:cubicBezTo>
                    <a:cubicBezTo>
                      <a:pt x="4267003" y="5646189"/>
                      <a:pt x="4240332" y="5600467"/>
                      <a:pt x="4197659" y="5562746"/>
                    </a:cubicBezTo>
                    <a:lnTo>
                      <a:pt x="4188085" y="5547578"/>
                    </a:lnTo>
                    <a:lnTo>
                      <a:pt x="4198231" y="5531694"/>
                    </a:lnTo>
                    <a:lnTo>
                      <a:pt x="4198232" y="5531692"/>
                    </a:lnTo>
                    <a:lnTo>
                      <a:pt x="4206630" y="5520422"/>
                    </a:lnTo>
                    <a:lnTo>
                      <a:pt x="4208850" y="5507668"/>
                    </a:lnTo>
                    <a:lnTo>
                      <a:pt x="4208850" y="5507667"/>
                    </a:lnTo>
                    <a:cubicBezTo>
                      <a:pt x="4208803" y="5498832"/>
                      <a:pt x="4206231" y="5489497"/>
                      <a:pt x="4204327" y="5480637"/>
                    </a:cubicBezTo>
                    <a:cubicBezTo>
                      <a:pt x="4200516" y="5462351"/>
                      <a:pt x="4196514" y="5443870"/>
                      <a:pt x="4192704" y="5425582"/>
                    </a:cubicBezTo>
                    <a:cubicBezTo>
                      <a:pt x="4190038" y="5412057"/>
                      <a:pt x="4187752" y="5398721"/>
                      <a:pt x="4184513" y="5385384"/>
                    </a:cubicBezTo>
                    <a:lnTo>
                      <a:pt x="4179637" y="5355014"/>
                    </a:lnTo>
                    <a:lnTo>
                      <a:pt x="4183557" y="5321350"/>
                    </a:lnTo>
                    <a:lnTo>
                      <a:pt x="4208517" y="5272797"/>
                    </a:lnTo>
                    <a:lnTo>
                      <a:pt x="4225669" y="5241089"/>
                    </a:lnTo>
                    <a:lnTo>
                      <a:pt x="4231973" y="5229433"/>
                    </a:lnTo>
                    <a:lnTo>
                      <a:pt x="4232139" y="5179068"/>
                    </a:lnTo>
                    <a:lnTo>
                      <a:pt x="4232139" y="5179067"/>
                    </a:lnTo>
                    <a:cubicBezTo>
                      <a:pt x="4231663" y="5176876"/>
                      <a:pt x="4230473" y="5174400"/>
                      <a:pt x="4229593" y="5172090"/>
                    </a:cubicBezTo>
                    <a:lnTo>
                      <a:pt x="4228901" y="5166114"/>
                    </a:lnTo>
                    <a:lnTo>
                      <a:pt x="4235616" y="5133225"/>
                    </a:lnTo>
                    <a:lnTo>
                      <a:pt x="4235616" y="5133224"/>
                    </a:lnTo>
                    <a:lnTo>
                      <a:pt x="4235615" y="5133220"/>
                    </a:lnTo>
                    <a:lnTo>
                      <a:pt x="4228473" y="5102461"/>
                    </a:lnTo>
                    <a:lnTo>
                      <a:pt x="4222587" y="5087441"/>
                    </a:lnTo>
                    <a:lnTo>
                      <a:pt x="4222582" y="5087423"/>
                    </a:lnTo>
                    <a:cubicBezTo>
                      <a:pt x="4216496" y="5072411"/>
                      <a:pt x="4210397" y="5057381"/>
                      <a:pt x="4209468" y="5041521"/>
                    </a:cubicBezTo>
                    <a:cubicBezTo>
                      <a:pt x="4208326" y="5022852"/>
                      <a:pt x="4194228" y="5003801"/>
                      <a:pt x="4182989" y="4987037"/>
                    </a:cubicBezTo>
                    <a:lnTo>
                      <a:pt x="4165707" y="4957454"/>
                    </a:lnTo>
                    <a:lnTo>
                      <a:pt x="4158155" y="4933805"/>
                    </a:lnTo>
                    <a:lnTo>
                      <a:pt x="4159557" y="4912169"/>
                    </a:lnTo>
                    <a:cubicBezTo>
                      <a:pt x="4161319" y="4904358"/>
                      <a:pt x="4161831" y="4896714"/>
                      <a:pt x="4161262" y="4889276"/>
                    </a:cubicBezTo>
                    <a:lnTo>
                      <a:pt x="4161262" y="4889275"/>
                    </a:lnTo>
                    <a:lnTo>
                      <a:pt x="4156484" y="4867614"/>
                    </a:lnTo>
                    <a:lnTo>
                      <a:pt x="4153733" y="4863343"/>
                    </a:lnTo>
                    <a:lnTo>
                      <a:pt x="4151983" y="4857317"/>
                    </a:lnTo>
                    <a:cubicBezTo>
                      <a:pt x="4146840" y="4847214"/>
                      <a:pt x="4139839" y="4837703"/>
                      <a:pt x="4131552" y="4828916"/>
                    </a:cubicBezTo>
                    <a:lnTo>
                      <a:pt x="4116716" y="4800483"/>
                    </a:lnTo>
                    <a:lnTo>
                      <a:pt x="4118025" y="4767765"/>
                    </a:lnTo>
                    <a:cubicBezTo>
                      <a:pt x="4123931" y="4738236"/>
                      <a:pt x="4124313" y="4707565"/>
                      <a:pt x="4127932" y="4677656"/>
                    </a:cubicBezTo>
                    <a:cubicBezTo>
                      <a:pt x="4128694" y="4671177"/>
                      <a:pt x="4131362" y="4662987"/>
                      <a:pt x="4135934" y="4659175"/>
                    </a:cubicBezTo>
                    <a:cubicBezTo>
                      <a:pt x="4192704" y="4612501"/>
                      <a:pt x="4193276" y="4546777"/>
                      <a:pt x="4195944" y="4482005"/>
                    </a:cubicBezTo>
                    <a:cubicBezTo>
                      <a:pt x="4197659" y="4442762"/>
                      <a:pt x="4197659" y="4403326"/>
                      <a:pt x="4196706" y="4363891"/>
                    </a:cubicBezTo>
                    <a:lnTo>
                      <a:pt x="4196706" y="4363890"/>
                    </a:lnTo>
                    <a:cubicBezTo>
                      <a:pt x="4196514" y="4350554"/>
                      <a:pt x="4193466" y="4336457"/>
                      <a:pt x="4187752" y="4324645"/>
                    </a:cubicBezTo>
                    <a:cubicBezTo>
                      <a:pt x="4175749" y="4300070"/>
                      <a:pt x="4160129" y="4277401"/>
                      <a:pt x="4147936" y="4253014"/>
                    </a:cubicBezTo>
                    <a:close/>
                    <a:moveTo>
                      <a:pt x="4211111" y="2836172"/>
                    </a:moveTo>
                    <a:lnTo>
                      <a:pt x="4202421" y="2848793"/>
                    </a:lnTo>
                    <a:cubicBezTo>
                      <a:pt x="4197421" y="2865010"/>
                      <a:pt x="4191562" y="2881307"/>
                      <a:pt x="4186816" y="2897785"/>
                    </a:cubicBezTo>
                    <a:lnTo>
                      <a:pt x="4185787" y="2903551"/>
                    </a:lnTo>
                    <a:lnTo>
                      <a:pt x="4182513" y="2914328"/>
                    </a:lnTo>
                    <a:lnTo>
                      <a:pt x="4177882" y="2947858"/>
                    </a:lnTo>
                    <a:lnTo>
                      <a:pt x="4177881" y="2947862"/>
                    </a:lnTo>
                    <a:lnTo>
                      <a:pt x="4177881" y="2947863"/>
                    </a:lnTo>
                    <a:cubicBezTo>
                      <a:pt x="4177512" y="2959157"/>
                      <a:pt x="4178512" y="2970576"/>
                      <a:pt x="4181465" y="2982149"/>
                    </a:cubicBezTo>
                    <a:lnTo>
                      <a:pt x="4193158" y="3077402"/>
                    </a:lnTo>
                    <a:lnTo>
                      <a:pt x="4180703" y="3172654"/>
                    </a:lnTo>
                    <a:cubicBezTo>
                      <a:pt x="4154794" y="3276480"/>
                      <a:pt x="4127362" y="3380305"/>
                      <a:pt x="4133076" y="3489467"/>
                    </a:cubicBezTo>
                    <a:cubicBezTo>
                      <a:pt x="4134028" y="3507563"/>
                      <a:pt x="4122407" y="3529090"/>
                      <a:pt x="4110977" y="3544713"/>
                    </a:cubicBezTo>
                    <a:cubicBezTo>
                      <a:pt x="4100119" y="3559668"/>
                      <a:pt x="4094260" y="3566812"/>
                      <a:pt x="4093355" y="3574408"/>
                    </a:cubicBezTo>
                    <a:lnTo>
                      <a:pt x="4093355" y="3574409"/>
                    </a:lnTo>
                    <a:cubicBezTo>
                      <a:pt x="4092450" y="3582005"/>
                      <a:pt x="4096499" y="3590054"/>
                      <a:pt x="4105453" y="3606818"/>
                    </a:cubicBezTo>
                    <a:cubicBezTo>
                      <a:pt x="4109835" y="3614820"/>
                      <a:pt x="4112501" y="3624726"/>
                      <a:pt x="4118979" y="3630633"/>
                    </a:cubicBezTo>
                    <a:lnTo>
                      <a:pt x="4136708" y="3654416"/>
                    </a:lnTo>
                    <a:lnTo>
                      <a:pt x="4140382" y="3668940"/>
                    </a:lnTo>
                    <a:lnTo>
                      <a:pt x="4143220" y="3680164"/>
                    </a:lnTo>
                    <a:lnTo>
                      <a:pt x="4139172" y="3734837"/>
                    </a:lnTo>
                    <a:lnTo>
                      <a:pt x="4139172" y="3734838"/>
                    </a:lnTo>
                    <a:cubicBezTo>
                      <a:pt x="4138220" y="3741316"/>
                      <a:pt x="4136886" y="3749126"/>
                      <a:pt x="4139554" y="3754653"/>
                    </a:cubicBezTo>
                    <a:lnTo>
                      <a:pt x="4145911" y="3789776"/>
                    </a:lnTo>
                    <a:lnTo>
                      <a:pt x="4130980" y="3822472"/>
                    </a:lnTo>
                    <a:cubicBezTo>
                      <a:pt x="4123932" y="3831902"/>
                      <a:pt x="4118312" y="3842046"/>
                      <a:pt x="4116645" y="3852619"/>
                    </a:cubicBezTo>
                    <a:lnTo>
                      <a:pt x="4116645" y="3852620"/>
                    </a:lnTo>
                    <a:lnTo>
                      <a:pt x="4117425" y="3868764"/>
                    </a:lnTo>
                    <a:lnTo>
                      <a:pt x="4126028" y="3885337"/>
                    </a:lnTo>
                    <a:lnTo>
                      <a:pt x="4126028" y="3885339"/>
                    </a:lnTo>
                    <a:cubicBezTo>
                      <a:pt x="4135744" y="3897722"/>
                      <a:pt x="4143150" y="3910319"/>
                      <a:pt x="4148409" y="3923125"/>
                    </a:cubicBezTo>
                    <a:lnTo>
                      <a:pt x="4157913" y="3962160"/>
                    </a:lnTo>
                    <a:lnTo>
                      <a:pt x="4142221" y="4043838"/>
                    </a:lnTo>
                    <a:lnTo>
                      <a:pt x="4142220" y="4043839"/>
                    </a:lnTo>
                    <a:cubicBezTo>
                      <a:pt x="4133457" y="4063842"/>
                      <a:pt x="4128075" y="4083702"/>
                      <a:pt x="4127099" y="4103825"/>
                    </a:cubicBezTo>
                    <a:lnTo>
                      <a:pt x="4127099" y="4103826"/>
                    </a:lnTo>
                    <a:lnTo>
                      <a:pt x="4129066" y="4134256"/>
                    </a:lnTo>
                    <a:lnTo>
                      <a:pt x="4138410" y="4165382"/>
                    </a:lnTo>
                    <a:lnTo>
                      <a:pt x="4138410" y="4165384"/>
                    </a:lnTo>
                    <a:lnTo>
                      <a:pt x="4142315" y="4192388"/>
                    </a:lnTo>
                    <a:lnTo>
                      <a:pt x="4142315" y="4192387"/>
                    </a:lnTo>
                    <a:cubicBezTo>
                      <a:pt x="4142411" y="4182767"/>
                      <a:pt x="4141839" y="4173480"/>
                      <a:pt x="4138410" y="4165383"/>
                    </a:cubicBezTo>
                    <a:lnTo>
                      <a:pt x="4138410" y="4165382"/>
                    </a:lnTo>
                    <a:lnTo>
                      <a:pt x="4127099" y="4103826"/>
                    </a:lnTo>
                    <a:lnTo>
                      <a:pt x="4142220" y="4043840"/>
                    </a:lnTo>
                    <a:lnTo>
                      <a:pt x="4142221" y="4043838"/>
                    </a:lnTo>
                    <a:lnTo>
                      <a:pt x="4155523" y="4002410"/>
                    </a:lnTo>
                    <a:lnTo>
                      <a:pt x="4157913" y="3962160"/>
                    </a:lnTo>
                    <a:lnTo>
                      <a:pt x="4157913" y="3962159"/>
                    </a:lnTo>
                    <a:cubicBezTo>
                      <a:pt x="4155651" y="3935727"/>
                      <a:pt x="4145460" y="3910104"/>
                      <a:pt x="4126028" y="3885338"/>
                    </a:cubicBezTo>
                    <a:lnTo>
                      <a:pt x="4126028" y="3885337"/>
                    </a:lnTo>
                    <a:lnTo>
                      <a:pt x="4116645" y="3852620"/>
                    </a:lnTo>
                    <a:lnTo>
                      <a:pt x="4130980" y="3822473"/>
                    </a:lnTo>
                    <a:cubicBezTo>
                      <a:pt x="4139172" y="3811614"/>
                      <a:pt x="4144316" y="3800897"/>
                      <a:pt x="4145911" y="3789777"/>
                    </a:cubicBezTo>
                    <a:lnTo>
                      <a:pt x="4145911" y="3789776"/>
                    </a:lnTo>
                    <a:cubicBezTo>
                      <a:pt x="4147507" y="3778655"/>
                      <a:pt x="4145554" y="3767130"/>
                      <a:pt x="4139554" y="3754652"/>
                    </a:cubicBezTo>
                    <a:lnTo>
                      <a:pt x="4139172" y="3734838"/>
                    </a:lnTo>
                    <a:lnTo>
                      <a:pt x="4143220" y="3680164"/>
                    </a:lnTo>
                    <a:lnTo>
                      <a:pt x="4143220" y="3680163"/>
                    </a:lnTo>
                    <a:lnTo>
                      <a:pt x="4140382" y="3668940"/>
                    </a:lnTo>
                    <a:lnTo>
                      <a:pt x="4136708" y="3654416"/>
                    </a:lnTo>
                    <a:lnTo>
                      <a:pt x="4136708" y="3654416"/>
                    </a:lnTo>
                    <a:lnTo>
                      <a:pt x="4136708" y="3654415"/>
                    </a:lnTo>
                    <a:cubicBezTo>
                      <a:pt x="4132898" y="3646123"/>
                      <a:pt x="4127219" y="3638157"/>
                      <a:pt x="4118979" y="3630632"/>
                    </a:cubicBezTo>
                    <a:cubicBezTo>
                      <a:pt x="4112501" y="3624725"/>
                      <a:pt x="4109835" y="3614819"/>
                      <a:pt x="4105453" y="3606817"/>
                    </a:cubicBezTo>
                    <a:cubicBezTo>
                      <a:pt x="4100976" y="3598435"/>
                      <a:pt x="4097725" y="3592232"/>
                      <a:pt x="4095707" y="3587174"/>
                    </a:cubicBezTo>
                    <a:lnTo>
                      <a:pt x="4093355" y="3574408"/>
                    </a:lnTo>
                    <a:lnTo>
                      <a:pt x="4098434" y="3562321"/>
                    </a:lnTo>
                    <a:cubicBezTo>
                      <a:pt x="4101369" y="3557716"/>
                      <a:pt x="4105548" y="3552191"/>
                      <a:pt x="4110977" y="3544714"/>
                    </a:cubicBezTo>
                    <a:cubicBezTo>
                      <a:pt x="4122407" y="3529091"/>
                      <a:pt x="4134028" y="3507564"/>
                      <a:pt x="4133076" y="3489468"/>
                    </a:cubicBezTo>
                    <a:cubicBezTo>
                      <a:pt x="4127362" y="3380306"/>
                      <a:pt x="4154794" y="3276481"/>
                      <a:pt x="4180703" y="3172655"/>
                    </a:cubicBezTo>
                    <a:cubicBezTo>
                      <a:pt x="4188705" y="3140650"/>
                      <a:pt x="4192943" y="3109026"/>
                      <a:pt x="4193158" y="3077402"/>
                    </a:cubicBezTo>
                    <a:lnTo>
                      <a:pt x="4193158" y="3077401"/>
                    </a:lnTo>
                    <a:cubicBezTo>
                      <a:pt x="4193372" y="3045777"/>
                      <a:pt x="4189562" y="3014153"/>
                      <a:pt x="4181465" y="2982148"/>
                    </a:cubicBezTo>
                    <a:lnTo>
                      <a:pt x="4177881" y="2947863"/>
                    </a:lnTo>
                    <a:lnTo>
                      <a:pt x="4177882" y="2947858"/>
                    </a:lnTo>
                    <a:lnTo>
                      <a:pt x="4185787" y="2903551"/>
                    </a:lnTo>
                    <a:lnTo>
                      <a:pt x="4202421" y="2848794"/>
                    </a:lnTo>
                    <a:cubicBezTo>
                      <a:pt x="4203754" y="2844317"/>
                      <a:pt x="4207040" y="2839983"/>
                      <a:pt x="4211111" y="2836173"/>
                    </a:cubicBezTo>
                    <a:close/>
                    <a:moveTo>
                      <a:pt x="3726625" y="1508458"/>
                    </a:moveTo>
                    <a:lnTo>
                      <a:pt x="3698531" y="1596214"/>
                    </a:lnTo>
                    <a:cubicBezTo>
                      <a:pt x="3696054" y="1604979"/>
                      <a:pt x="3697579" y="1615837"/>
                      <a:pt x="3700436" y="1624981"/>
                    </a:cubicBezTo>
                    <a:cubicBezTo>
                      <a:pt x="3710152" y="1656224"/>
                      <a:pt x="3734537" y="1676037"/>
                      <a:pt x="3757017" y="1697754"/>
                    </a:cubicBezTo>
                    <a:cubicBezTo>
                      <a:pt x="3766924" y="1707280"/>
                      <a:pt x="3773972" y="1720424"/>
                      <a:pt x="3779686" y="1733189"/>
                    </a:cubicBezTo>
                    <a:cubicBezTo>
                      <a:pt x="3794357" y="1766336"/>
                      <a:pt x="3807501" y="1800247"/>
                      <a:pt x="3821407" y="1833776"/>
                    </a:cubicBezTo>
                    <a:cubicBezTo>
                      <a:pt x="3822741" y="1837014"/>
                      <a:pt x="3826170" y="1839680"/>
                      <a:pt x="3829028" y="1842159"/>
                    </a:cubicBezTo>
                    <a:cubicBezTo>
                      <a:pt x="3859129" y="1866923"/>
                      <a:pt x="3889418" y="1891498"/>
                      <a:pt x="3919519" y="1916455"/>
                    </a:cubicBezTo>
                    <a:cubicBezTo>
                      <a:pt x="3925233" y="1921217"/>
                      <a:pt x="3929425" y="1928077"/>
                      <a:pt x="3934949" y="1933220"/>
                    </a:cubicBezTo>
                    <a:cubicBezTo>
                      <a:pt x="3942569" y="1940460"/>
                      <a:pt x="3949810" y="1949604"/>
                      <a:pt x="3958954" y="1953414"/>
                    </a:cubicBezTo>
                    <a:cubicBezTo>
                      <a:pt x="3987719" y="1965225"/>
                      <a:pt x="4000103" y="1987895"/>
                      <a:pt x="4005437" y="2016470"/>
                    </a:cubicBezTo>
                    <a:cubicBezTo>
                      <a:pt x="4010390" y="2042571"/>
                      <a:pt x="4014582" y="2068670"/>
                      <a:pt x="4020296" y="2094579"/>
                    </a:cubicBezTo>
                    <a:cubicBezTo>
                      <a:pt x="4027154" y="2126202"/>
                      <a:pt x="4034584" y="2157637"/>
                      <a:pt x="4042967" y="2188880"/>
                    </a:cubicBezTo>
                    <a:cubicBezTo>
                      <a:pt x="4046587" y="2202405"/>
                      <a:pt x="4050777" y="2216693"/>
                      <a:pt x="4058207" y="2228315"/>
                    </a:cubicBezTo>
                    <a:cubicBezTo>
                      <a:pt x="4078782" y="2260891"/>
                      <a:pt x="4092688" y="2295754"/>
                      <a:pt x="4087164" y="2334045"/>
                    </a:cubicBezTo>
                    <a:cubicBezTo>
                      <a:pt x="4082782" y="2364716"/>
                      <a:pt x="4094022" y="2390435"/>
                      <a:pt x="4111549" y="2409486"/>
                    </a:cubicBezTo>
                    <a:cubicBezTo>
                      <a:pt x="4119503" y="2418155"/>
                      <a:pt x="4125016" y="2426977"/>
                      <a:pt x="4128650" y="2435913"/>
                    </a:cubicBezTo>
                    <a:lnTo>
                      <a:pt x="4134481" y="2463018"/>
                    </a:lnTo>
                    <a:lnTo>
                      <a:pt x="4125839" y="2518262"/>
                    </a:lnTo>
                    <a:lnTo>
                      <a:pt x="4125838" y="2518264"/>
                    </a:lnTo>
                    <a:cubicBezTo>
                      <a:pt x="4123171" y="2527790"/>
                      <a:pt x="4122027" y="2536457"/>
                      <a:pt x="4122194" y="2545006"/>
                    </a:cubicBezTo>
                    <a:lnTo>
                      <a:pt x="4122194" y="2545007"/>
                    </a:lnTo>
                    <a:cubicBezTo>
                      <a:pt x="4122360" y="2553556"/>
                      <a:pt x="4123837" y="2561986"/>
                      <a:pt x="4126408" y="2571035"/>
                    </a:cubicBezTo>
                    <a:cubicBezTo>
                      <a:pt x="4138410" y="2612946"/>
                      <a:pt x="4170987" y="2640951"/>
                      <a:pt x="4199563" y="2668002"/>
                    </a:cubicBezTo>
                    <a:cubicBezTo>
                      <a:pt x="4223947" y="2691055"/>
                      <a:pt x="4237663" y="2716964"/>
                      <a:pt x="4247953" y="2745349"/>
                    </a:cubicBezTo>
                    <a:lnTo>
                      <a:pt x="4247954" y="2745352"/>
                    </a:lnTo>
                    <a:lnTo>
                      <a:pt x="4253873" y="2778006"/>
                    </a:lnTo>
                    <a:lnTo>
                      <a:pt x="4253453" y="2785440"/>
                    </a:lnTo>
                    <a:lnTo>
                      <a:pt x="4243374" y="2811780"/>
                    </a:lnTo>
                    <a:lnTo>
                      <a:pt x="4243371" y="2811787"/>
                    </a:lnTo>
                    <a:lnTo>
                      <a:pt x="4243372" y="2811787"/>
                    </a:lnTo>
                    <a:lnTo>
                      <a:pt x="4243374" y="2811780"/>
                    </a:lnTo>
                    <a:lnTo>
                      <a:pt x="4253025" y="2793023"/>
                    </a:lnTo>
                    <a:lnTo>
                      <a:pt x="4253453" y="2785440"/>
                    </a:lnTo>
                    <a:lnTo>
                      <a:pt x="4254654" y="2782305"/>
                    </a:lnTo>
                    <a:lnTo>
                      <a:pt x="4253873" y="2778006"/>
                    </a:lnTo>
                    <a:lnTo>
                      <a:pt x="4254284" y="2770758"/>
                    </a:lnTo>
                    <a:lnTo>
                      <a:pt x="4247954" y="2745352"/>
                    </a:lnTo>
                    <a:lnTo>
                      <a:pt x="4247953" y="2745348"/>
                    </a:lnTo>
                    <a:cubicBezTo>
                      <a:pt x="4237663" y="2716963"/>
                      <a:pt x="4223947" y="2691054"/>
                      <a:pt x="4199563" y="2668001"/>
                    </a:cubicBezTo>
                    <a:cubicBezTo>
                      <a:pt x="4170987" y="2640950"/>
                      <a:pt x="4138410" y="2612945"/>
                      <a:pt x="4126408" y="2571034"/>
                    </a:cubicBezTo>
                    <a:lnTo>
                      <a:pt x="4122194" y="2545007"/>
                    </a:lnTo>
                    <a:lnTo>
                      <a:pt x="4125838" y="2518265"/>
                    </a:lnTo>
                    <a:lnTo>
                      <a:pt x="4125839" y="2518262"/>
                    </a:lnTo>
                    <a:lnTo>
                      <a:pt x="4132419" y="2490551"/>
                    </a:lnTo>
                    <a:lnTo>
                      <a:pt x="4134481" y="2463018"/>
                    </a:lnTo>
                    <a:lnTo>
                      <a:pt x="4134481" y="2463017"/>
                    </a:lnTo>
                    <a:cubicBezTo>
                      <a:pt x="4133600" y="2444777"/>
                      <a:pt x="4127457" y="2426822"/>
                      <a:pt x="4111549" y="2409485"/>
                    </a:cubicBezTo>
                    <a:cubicBezTo>
                      <a:pt x="4094022" y="2390434"/>
                      <a:pt x="4082782" y="2364715"/>
                      <a:pt x="4087164" y="2334044"/>
                    </a:cubicBezTo>
                    <a:cubicBezTo>
                      <a:pt x="4092688" y="2295753"/>
                      <a:pt x="4078782" y="2260890"/>
                      <a:pt x="4058207" y="2228314"/>
                    </a:cubicBezTo>
                    <a:cubicBezTo>
                      <a:pt x="4050777" y="2216692"/>
                      <a:pt x="4046587" y="2202404"/>
                      <a:pt x="4042967" y="2188879"/>
                    </a:cubicBezTo>
                    <a:cubicBezTo>
                      <a:pt x="4034584" y="2157636"/>
                      <a:pt x="4027154" y="2126201"/>
                      <a:pt x="4020296" y="2094578"/>
                    </a:cubicBezTo>
                    <a:cubicBezTo>
                      <a:pt x="4014582" y="2068669"/>
                      <a:pt x="4010390" y="2042570"/>
                      <a:pt x="4005437" y="2016469"/>
                    </a:cubicBezTo>
                    <a:cubicBezTo>
                      <a:pt x="4000103" y="1987894"/>
                      <a:pt x="3987719" y="1965224"/>
                      <a:pt x="3958954" y="1953413"/>
                    </a:cubicBezTo>
                    <a:cubicBezTo>
                      <a:pt x="3949810" y="1949603"/>
                      <a:pt x="3942569" y="1940459"/>
                      <a:pt x="3934949" y="1933219"/>
                    </a:cubicBezTo>
                    <a:cubicBezTo>
                      <a:pt x="3929425" y="1928076"/>
                      <a:pt x="3925233" y="1921216"/>
                      <a:pt x="3919519" y="1916454"/>
                    </a:cubicBezTo>
                    <a:cubicBezTo>
                      <a:pt x="3889418" y="1891497"/>
                      <a:pt x="3859129" y="1866922"/>
                      <a:pt x="3829028" y="1842158"/>
                    </a:cubicBezTo>
                    <a:cubicBezTo>
                      <a:pt x="3826170" y="1839679"/>
                      <a:pt x="3822741" y="1837013"/>
                      <a:pt x="3821407" y="1833775"/>
                    </a:cubicBezTo>
                    <a:cubicBezTo>
                      <a:pt x="3807501" y="1800246"/>
                      <a:pt x="3794358" y="1766335"/>
                      <a:pt x="3779686" y="1733188"/>
                    </a:cubicBezTo>
                    <a:cubicBezTo>
                      <a:pt x="3773972" y="1720423"/>
                      <a:pt x="3766924" y="1707279"/>
                      <a:pt x="3757018" y="1697753"/>
                    </a:cubicBezTo>
                    <a:cubicBezTo>
                      <a:pt x="3734538" y="1676036"/>
                      <a:pt x="3710152" y="1656223"/>
                      <a:pt x="3700436" y="1624980"/>
                    </a:cubicBezTo>
                    <a:cubicBezTo>
                      <a:pt x="3697580" y="1615836"/>
                      <a:pt x="3696055" y="1604978"/>
                      <a:pt x="3698532" y="1596213"/>
                    </a:cubicBezTo>
                    <a:close/>
                    <a:moveTo>
                      <a:pt x="3745230" y="1459073"/>
                    </a:moveTo>
                    <a:lnTo>
                      <a:pt x="3745229" y="1459074"/>
                    </a:lnTo>
                    <a:lnTo>
                      <a:pt x="3736012" y="1481572"/>
                    </a:lnTo>
                    <a:close/>
                    <a:moveTo>
                      <a:pt x="3764423" y="1268758"/>
                    </a:moveTo>
                    <a:cubicBezTo>
                      <a:pt x="3764875" y="1275402"/>
                      <a:pt x="3766447" y="1281689"/>
                      <a:pt x="3769590" y="1286070"/>
                    </a:cubicBezTo>
                    <a:cubicBezTo>
                      <a:pt x="3784163" y="1306930"/>
                      <a:pt x="3790403" y="1328553"/>
                      <a:pt x="3791927" y="1350628"/>
                    </a:cubicBezTo>
                    <a:lnTo>
                      <a:pt x="3786333" y="1413840"/>
                    </a:lnTo>
                    <a:lnTo>
                      <a:pt x="3791928" y="1350627"/>
                    </a:lnTo>
                    <a:cubicBezTo>
                      <a:pt x="3790403" y="1328552"/>
                      <a:pt x="3784164" y="1306930"/>
                      <a:pt x="3769590" y="1286069"/>
                    </a:cubicBezTo>
                    <a:close/>
                    <a:moveTo>
                      <a:pt x="3706152" y="773035"/>
                    </a:moveTo>
                    <a:lnTo>
                      <a:pt x="3706152" y="773036"/>
                    </a:lnTo>
                    <a:cubicBezTo>
                      <a:pt x="3708438" y="800277"/>
                      <a:pt x="3711676" y="827330"/>
                      <a:pt x="3714152" y="854380"/>
                    </a:cubicBezTo>
                    <a:cubicBezTo>
                      <a:pt x="3716438" y="878957"/>
                      <a:pt x="3717200" y="903723"/>
                      <a:pt x="3745205" y="915344"/>
                    </a:cubicBezTo>
                    <a:cubicBezTo>
                      <a:pt x="3749587" y="917060"/>
                      <a:pt x="3752825" y="922774"/>
                      <a:pt x="3755683" y="927156"/>
                    </a:cubicBezTo>
                    <a:cubicBezTo>
                      <a:pt x="3799691" y="994786"/>
                      <a:pt x="3798547" y="1030981"/>
                      <a:pt x="3752063" y="1097088"/>
                    </a:cubicBezTo>
                    <a:cubicBezTo>
                      <a:pt x="3747301" y="1103946"/>
                      <a:pt x="3743871" y="1118614"/>
                      <a:pt x="3747681" y="1123186"/>
                    </a:cubicBezTo>
                    <a:cubicBezTo>
                      <a:pt x="3763493" y="1142618"/>
                      <a:pt x="3770542" y="1162954"/>
                      <a:pt x="3772400" y="1184029"/>
                    </a:cubicBezTo>
                    <a:cubicBezTo>
                      <a:pt x="3770542" y="1162954"/>
                      <a:pt x="3763494" y="1142617"/>
                      <a:pt x="3747682" y="1123185"/>
                    </a:cubicBezTo>
                    <a:cubicBezTo>
                      <a:pt x="3743872" y="1118613"/>
                      <a:pt x="3747302" y="1103945"/>
                      <a:pt x="3752064" y="1097087"/>
                    </a:cubicBezTo>
                    <a:cubicBezTo>
                      <a:pt x="3798548" y="1030980"/>
                      <a:pt x="3799692" y="994785"/>
                      <a:pt x="3755684" y="927155"/>
                    </a:cubicBezTo>
                    <a:cubicBezTo>
                      <a:pt x="3752826" y="922773"/>
                      <a:pt x="3749588" y="917059"/>
                      <a:pt x="3745206" y="915343"/>
                    </a:cubicBezTo>
                    <a:cubicBezTo>
                      <a:pt x="3717200" y="903722"/>
                      <a:pt x="3716438" y="878956"/>
                      <a:pt x="3714152" y="854379"/>
                    </a:cubicBezTo>
                    <a:close/>
                    <a:moveTo>
                      <a:pt x="3761553" y="517851"/>
                    </a:moveTo>
                    <a:lnTo>
                      <a:pt x="3752635" y="556048"/>
                    </a:lnTo>
                    <a:cubicBezTo>
                      <a:pt x="3750539" y="564049"/>
                      <a:pt x="3745015" y="572623"/>
                      <a:pt x="3746157" y="580051"/>
                    </a:cubicBezTo>
                    <a:cubicBezTo>
                      <a:pt x="3749491" y="601579"/>
                      <a:pt x="3747062" y="622201"/>
                      <a:pt x="3742776" y="642538"/>
                    </a:cubicBezTo>
                    <a:lnTo>
                      <a:pt x="3730253" y="694928"/>
                    </a:lnTo>
                    <a:lnTo>
                      <a:pt x="3742777" y="642537"/>
                    </a:lnTo>
                    <a:cubicBezTo>
                      <a:pt x="3747063" y="622201"/>
                      <a:pt x="3749492" y="601578"/>
                      <a:pt x="3746158" y="580050"/>
                    </a:cubicBezTo>
                    <a:cubicBezTo>
                      <a:pt x="3745016" y="572622"/>
                      <a:pt x="3750540" y="564048"/>
                      <a:pt x="3752636" y="556047"/>
                    </a:cubicBezTo>
                    <a:close/>
                    <a:moveTo>
                      <a:pt x="3774848" y="298169"/>
                    </a:moveTo>
                    <a:lnTo>
                      <a:pt x="3760065" y="313534"/>
                    </a:lnTo>
                    <a:cubicBezTo>
                      <a:pt x="3755873" y="316390"/>
                      <a:pt x="3758159" y="330299"/>
                      <a:pt x="3759493" y="338871"/>
                    </a:cubicBezTo>
                    <a:lnTo>
                      <a:pt x="3759500" y="338900"/>
                    </a:lnTo>
                    <a:lnTo>
                      <a:pt x="3769400" y="395640"/>
                    </a:lnTo>
                    <a:lnTo>
                      <a:pt x="3765590" y="367328"/>
                    </a:lnTo>
                    <a:lnTo>
                      <a:pt x="3759500" y="338900"/>
                    </a:lnTo>
                    <a:lnTo>
                      <a:pt x="3759494" y="338870"/>
                    </a:lnTo>
                    <a:cubicBezTo>
                      <a:pt x="3758160" y="330298"/>
                      <a:pt x="3755874" y="316389"/>
                      <a:pt x="3760066" y="313533"/>
                    </a:cubicBezTo>
                    <a:close/>
                    <a:moveTo>
                      <a:pt x="3782393" y="281568"/>
                    </a:moveTo>
                    <a:lnTo>
                      <a:pt x="3777498" y="295415"/>
                    </a:lnTo>
                    <a:lnTo>
                      <a:pt x="3777499" y="295415"/>
                    </a:lnTo>
                    <a:close/>
                    <a:moveTo>
                      <a:pt x="3769073" y="24486"/>
                    </a:moveTo>
                    <a:lnTo>
                      <a:pt x="3766810" y="74129"/>
                    </a:lnTo>
                    <a:cubicBezTo>
                      <a:pt x="3767733" y="91492"/>
                      <a:pt x="3770043" y="108703"/>
                      <a:pt x="3772734" y="125861"/>
                    </a:cubicBezTo>
                    <a:lnTo>
                      <a:pt x="3777129" y="153387"/>
                    </a:lnTo>
                    <a:lnTo>
                      <a:pt x="3785402" y="228944"/>
                    </a:lnTo>
                    <a:lnTo>
                      <a:pt x="3780943" y="177271"/>
                    </a:lnTo>
                    <a:lnTo>
                      <a:pt x="3777129" y="153387"/>
                    </a:lnTo>
                    <a:lnTo>
                      <a:pt x="3776930" y="151569"/>
                    </a:lnTo>
                    <a:cubicBezTo>
                      <a:pt x="3772700" y="125876"/>
                      <a:pt x="3768195" y="100174"/>
                      <a:pt x="3766811" y="74129"/>
                    </a:cubicBezTo>
                    <a:close/>
                    <a:moveTo>
                      <a:pt x="3766492" y="0"/>
                    </a:moveTo>
                    <a:lnTo>
                      <a:pt x="4230600" y="0"/>
                    </a:lnTo>
                    <a:lnTo>
                      <a:pt x="4229473" y="2817"/>
                    </a:lnTo>
                    <a:cubicBezTo>
                      <a:pt x="4221092" y="21486"/>
                      <a:pt x="4218423" y="43012"/>
                      <a:pt x="4215375" y="63587"/>
                    </a:cubicBezTo>
                    <a:cubicBezTo>
                      <a:pt x="4209851" y="101308"/>
                      <a:pt x="4206421" y="139219"/>
                      <a:pt x="4201468" y="176939"/>
                    </a:cubicBezTo>
                    <a:cubicBezTo>
                      <a:pt x="4200325" y="184941"/>
                      <a:pt x="4198231" y="194085"/>
                      <a:pt x="4193466" y="200182"/>
                    </a:cubicBezTo>
                    <a:cubicBezTo>
                      <a:pt x="4161461" y="241901"/>
                      <a:pt x="4152508" y="292579"/>
                      <a:pt x="4155554" y="340774"/>
                    </a:cubicBezTo>
                    <a:cubicBezTo>
                      <a:pt x="4157843" y="378686"/>
                      <a:pt x="4159557" y="415835"/>
                      <a:pt x="4156319" y="453364"/>
                    </a:cubicBezTo>
                    <a:cubicBezTo>
                      <a:pt x="4156127" y="456222"/>
                      <a:pt x="4156509" y="460032"/>
                      <a:pt x="4158033" y="462126"/>
                    </a:cubicBezTo>
                    <a:cubicBezTo>
                      <a:pt x="4168129" y="475081"/>
                      <a:pt x="4168891" y="488607"/>
                      <a:pt x="4170605" y="505182"/>
                    </a:cubicBezTo>
                    <a:cubicBezTo>
                      <a:pt x="4173083" y="528615"/>
                      <a:pt x="4171367" y="550141"/>
                      <a:pt x="4167177" y="571860"/>
                    </a:cubicBezTo>
                    <a:cubicBezTo>
                      <a:pt x="4164129" y="587672"/>
                      <a:pt x="4157843" y="603673"/>
                      <a:pt x="4149840" y="617772"/>
                    </a:cubicBezTo>
                    <a:cubicBezTo>
                      <a:pt x="4138600" y="637392"/>
                      <a:pt x="4134220" y="656255"/>
                      <a:pt x="4149078" y="674923"/>
                    </a:cubicBezTo>
                    <a:cubicBezTo>
                      <a:pt x="4164891" y="695116"/>
                      <a:pt x="4159367" y="717977"/>
                      <a:pt x="4159937" y="740268"/>
                    </a:cubicBezTo>
                    <a:cubicBezTo>
                      <a:pt x="4160129" y="749982"/>
                      <a:pt x="4159747" y="760270"/>
                      <a:pt x="4162223" y="769605"/>
                    </a:cubicBezTo>
                    <a:cubicBezTo>
                      <a:pt x="4169273" y="796655"/>
                      <a:pt x="4179941" y="822756"/>
                      <a:pt x="4184703" y="850189"/>
                    </a:cubicBezTo>
                    <a:cubicBezTo>
                      <a:pt x="4187370" y="865430"/>
                      <a:pt x="4182607" y="882384"/>
                      <a:pt x="4179179" y="898198"/>
                    </a:cubicBezTo>
                    <a:cubicBezTo>
                      <a:pt x="4175559" y="914200"/>
                      <a:pt x="4170035" y="930011"/>
                      <a:pt x="4164319" y="945444"/>
                    </a:cubicBezTo>
                    <a:cubicBezTo>
                      <a:pt x="4160509" y="955920"/>
                      <a:pt x="4156889" y="967350"/>
                      <a:pt x="4150030" y="975733"/>
                    </a:cubicBezTo>
                    <a:cubicBezTo>
                      <a:pt x="4134410" y="994785"/>
                      <a:pt x="4131742" y="1014406"/>
                      <a:pt x="4139934" y="1036887"/>
                    </a:cubicBezTo>
                    <a:cubicBezTo>
                      <a:pt x="4141268" y="1040315"/>
                      <a:pt x="4141268" y="1044315"/>
                      <a:pt x="4141458" y="1048125"/>
                    </a:cubicBezTo>
                    <a:cubicBezTo>
                      <a:pt x="4145458" y="1109091"/>
                      <a:pt x="4147936" y="1170051"/>
                      <a:pt x="4154032" y="1230633"/>
                    </a:cubicBezTo>
                    <a:cubicBezTo>
                      <a:pt x="4156509" y="1255206"/>
                      <a:pt x="4167367" y="1278829"/>
                      <a:pt x="4174225" y="1303024"/>
                    </a:cubicBezTo>
                    <a:cubicBezTo>
                      <a:pt x="4175559" y="1307978"/>
                      <a:pt x="4177655" y="1313504"/>
                      <a:pt x="4176701" y="1318456"/>
                    </a:cubicBezTo>
                    <a:cubicBezTo>
                      <a:pt x="4167177" y="1372368"/>
                      <a:pt x="4181083" y="1422854"/>
                      <a:pt x="4199372" y="1472575"/>
                    </a:cubicBezTo>
                    <a:cubicBezTo>
                      <a:pt x="4201278" y="1477717"/>
                      <a:pt x="4200706" y="1484004"/>
                      <a:pt x="4200325" y="1489720"/>
                    </a:cubicBezTo>
                    <a:cubicBezTo>
                      <a:pt x="4198993" y="1505724"/>
                      <a:pt x="4192324" y="1523059"/>
                      <a:pt x="4196324" y="1537537"/>
                    </a:cubicBezTo>
                    <a:cubicBezTo>
                      <a:pt x="4207374" y="1576019"/>
                      <a:pt x="4220709" y="1614120"/>
                      <a:pt x="4237474" y="1650317"/>
                    </a:cubicBezTo>
                    <a:cubicBezTo>
                      <a:pt x="4254428" y="1687086"/>
                      <a:pt x="4268716" y="1721185"/>
                      <a:pt x="4251572" y="1763287"/>
                    </a:cubicBezTo>
                    <a:cubicBezTo>
                      <a:pt x="4244332" y="1781194"/>
                      <a:pt x="4249476" y="1804816"/>
                      <a:pt x="4251380" y="1825393"/>
                    </a:cubicBezTo>
                    <a:cubicBezTo>
                      <a:pt x="4252904" y="1840441"/>
                      <a:pt x="4261478" y="1854920"/>
                      <a:pt x="4261478" y="1869780"/>
                    </a:cubicBezTo>
                    <a:cubicBezTo>
                      <a:pt x="4261478" y="1909408"/>
                      <a:pt x="4271574" y="1944649"/>
                      <a:pt x="4292149" y="1978940"/>
                    </a:cubicBezTo>
                    <a:cubicBezTo>
                      <a:pt x="4300150" y="1992279"/>
                      <a:pt x="4294815" y="2013043"/>
                      <a:pt x="4296911" y="2030378"/>
                    </a:cubicBezTo>
                    <a:cubicBezTo>
                      <a:pt x="4299388" y="2048668"/>
                      <a:pt x="4301673" y="2067525"/>
                      <a:pt x="4307201" y="2085054"/>
                    </a:cubicBezTo>
                    <a:cubicBezTo>
                      <a:pt x="4321679" y="2130393"/>
                      <a:pt x="4338062" y="2175163"/>
                      <a:pt x="4353302" y="2220312"/>
                    </a:cubicBezTo>
                    <a:cubicBezTo>
                      <a:pt x="4365877" y="2257459"/>
                      <a:pt x="4355970" y="2294039"/>
                      <a:pt x="4350636" y="2330806"/>
                    </a:cubicBezTo>
                    <a:cubicBezTo>
                      <a:pt x="4347205" y="2353859"/>
                      <a:pt x="4339013" y="2375383"/>
                      <a:pt x="4351206" y="2401292"/>
                    </a:cubicBezTo>
                    <a:cubicBezTo>
                      <a:pt x="4362828" y="2426059"/>
                      <a:pt x="4360160" y="2457492"/>
                      <a:pt x="4366446" y="2485307"/>
                    </a:cubicBezTo>
                    <a:cubicBezTo>
                      <a:pt x="4371781" y="2508742"/>
                      <a:pt x="4380354" y="2531409"/>
                      <a:pt x="4388736" y="2554079"/>
                    </a:cubicBezTo>
                    <a:cubicBezTo>
                      <a:pt x="4400168" y="2584942"/>
                      <a:pt x="4412167" y="2615421"/>
                      <a:pt x="4406453" y="2649143"/>
                    </a:cubicBezTo>
                    <a:cubicBezTo>
                      <a:pt x="4399976" y="2687436"/>
                      <a:pt x="4424359" y="2713723"/>
                      <a:pt x="4440554" y="2743826"/>
                    </a:cubicBezTo>
                    <a:cubicBezTo>
                      <a:pt x="4451603" y="2764590"/>
                      <a:pt x="4459795" y="2787259"/>
                      <a:pt x="4466653" y="2809930"/>
                    </a:cubicBezTo>
                    <a:cubicBezTo>
                      <a:pt x="4475607" y="2840219"/>
                      <a:pt x="4480941" y="2871462"/>
                      <a:pt x="4489705" y="2901943"/>
                    </a:cubicBezTo>
                    <a:cubicBezTo>
                      <a:pt x="4502848" y="2948047"/>
                      <a:pt x="4513137" y="2994722"/>
                      <a:pt x="4505897" y="3042728"/>
                    </a:cubicBezTo>
                    <a:cubicBezTo>
                      <a:pt x="4502659" y="3064827"/>
                      <a:pt x="4502848" y="3085403"/>
                      <a:pt x="4507613" y="3107500"/>
                    </a:cubicBezTo>
                    <a:cubicBezTo>
                      <a:pt x="4515422" y="3143695"/>
                      <a:pt x="4516376" y="3180844"/>
                      <a:pt x="4545521" y="3209993"/>
                    </a:cubicBezTo>
                    <a:cubicBezTo>
                      <a:pt x="4555811" y="3220280"/>
                      <a:pt x="4558477" y="3238758"/>
                      <a:pt x="4563811" y="3253809"/>
                    </a:cubicBezTo>
                    <a:cubicBezTo>
                      <a:pt x="4570099" y="3271145"/>
                      <a:pt x="4566858" y="3283908"/>
                      <a:pt x="4548570" y="3293244"/>
                    </a:cubicBezTo>
                    <a:cubicBezTo>
                      <a:pt x="4540379" y="3297434"/>
                      <a:pt x="4532378" y="3309437"/>
                      <a:pt x="4531043" y="3318771"/>
                    </a:cubicBezTo>
                    <a:cubicBezTo>
                      <a:pt x="4527043" y="3346776"/>
                      <a:pt x="4532950" y="3372495"/>
                      <a:pt x="4545904" y="3399546"/>
                    </a:cubicBezTo>
                    <a:cubicBezTo>
                      <a:pt x="4558096" y="3424883"/>
                      <a:pt x="4556762" y="3456508"/>
                      <a:pt x="4561524" y="3485275"/>
                    </a:cubicBezTo>
                    <a:cubicBezTo>
                      <a:pt x="4564954" y="3505657"/>
                      <a:pt x="4572002" y="3526042"/>
                      <a:pt x="4572002" y="3546617"/>
                    </a:cubicBezTo>
                    <a:cubicBezTo>
                      <a:pt x="4572002" y="3572146"/>
                      <a:pt x="4565907" y="3597482"/>
                      <a:pt x="4563620" y="3623201"/>
                    </a:cubicBezTo>
                    <a:cubicBezTo>
                      <a:pt x="4561716" y="3643204"/>
                      <a:pt x="4562478" y="3663589"/>
                      <a:pt x="4560192" y="3683591"/>
                    </a:cubicBezTo>
                    <a:cubicBezTo>
                      <a:pt x="4558477" y="3699976"/>
                      <a:pt x="4554096" y="3716168"/>
                      <a:pt x="4550476" y="3732361"/>
                    </a:cubicBezTo>
                    <a:cubicBezTo>
                      <a:pt x="4549142" y="3738267"/>
                      <a:pt x="4543998" y="3744173"/>
                      <a:pt x="4544759" y="3749506"/>
                    </a:cubicBezTo>
                    <a:cubicBezTo>
                      <a:pt x="4552953" y="3802467"/>
                      <a:pt x="4516376" y="3840569"/>
                      <a:pt x="4500182" y="3885338"/>
                    </a:cubicBezTo>
                    <a:cubicBezTo>
                      <a:pt x="4483035" y="3932394"/>
                      <a:pt x="4456748" y="3977925"/>
                      <a:pt x="4464557" y="4030503"/>
                    </a:cubicBezTo>
                    <a:cubicBezTo>
                      <a:pt x="4469319" y="4062318"/>
                      <a:pt x="4480369" y="4092989"/>
                      <a:pt x="4487039" y="4124614"/>
                    </a:cubicBezTo>
                    <a:cubicBezTo>
                      <a:pt x="4489324" y="4135854"/>
                      <a:pt x="4488943" y="4148427"/>
                      <a:pt x="4486656" y="4159667"/>
                    </a:cubicBezTo>
                    <a:cubicBezTo>
                      <a:pt x="4476177" y="4213961"/>
                      <a:pt x="4474653" y="4267493"/>
                      <a:pt x="4491801" y="4320837"/>
                    </a:cubicBezTo>
                    <a:cubicBezTo>
                      <a:pt x="4494659" y="4329979"/>
                      <a:pt x="4497325" y="4339695"/>
                      <a:pt x="4497325" y="4349222"/>
                    </a:cubicBezTo>
                    <a:cubicBezTo>
                      <a:pt x="4497325" y="4401419"/>
                      <a:pt x="4493324" y="4452665"/>
                      <a:pt x="4474653" y="4502579"/>
                    </a:cubicBezTo>
                    <a:cubicBezTo>
                      <a:pt x="4468368" y="4519343"/>
                      <a:pt x="4472368" y="4539728"/>
                      <a:pt x="4470844" y="4558207"/>
                    </a:cubicBezTo>
                    <a:cubicBezTo>
                      <a:pt x="4469511" y="4575351"/>
                      <a:pt x="4468940" y="4592878"/>
                      <a:pt x="4464557" y="4609452"/>
                    </a:cubicBezTo>
                    <a:cubicBezTo>
                      <a:pt x="4458082" y="4633647"/>
                      <a:pt x="4457320" y="4656126"/>
                      <a:pt x="4463033" y="4681083"/>
                    </a:cubicBezTo>
                    <a:cubicBezTo>
                      <a:pt x="4468368" y="4704895"/>
                      <a:pt x="4465702" y="4730614"/>
                      <a:pt x="4465891" y="4755381"/>
                    </a:cubicBezTo>
                    <a:cubicBezTo>
                      <a:pt x="4466082" y="4783004"/>
                      <a:pt x="4466272" y="4810627"/>
                      <a:pt x="4465319" y="4838250"/>
                    </a:cubicBezTo>
                    <a:cubicBezTo>
                      <a:pt x="4464940" y="4849300"/>
                      <a:pt x="4457320" y="4861873"/>
                      <a:pt x="4460367" y="4871019"/>
                    </a:cubicBezTo>
                    <a:cubicBezTo>
                      <a:pt x="4470653" y="4900546"/>
                      <a:pt x="4458271" y="4930075"/>
                      <a:pt x="4463795" y="4959602"/>
                    </a:cubicBezTo>
                    <a:cubicBezTo>
                      <a:pt x="4466653" y="4974082"/>
                      <a:pt x="4458844" y="4990465"/>
                      <a:pt x="4458082" y="5006086"/>
                    </a:cubicBezTo>
                    <a:cubicBezTo>
                      <a:pt x="4456748" y="5031614"/>
                      <a:pt x="4457320" y="5057141"/>
                      <a:pt x="4456937" y="5082670"/>
                    </a:cubicBezTo>
                    <a:cubicBezTo>
                      <a:pt x="4456748" y="5091052"/>
                      <a:pt x="4455986" y="5099245"/>
                      <a:pt x="4455603" y="5107627"/>
                    </a:cubicBezTo>
                    <a:cubicBezTo>
                      <a:pt x="4455223" y="5115057"/>
                      <a:pt x="4453508" y="5122867"/>
                      <a:pt x="4454840" y="5129916"/>
                    </a:cubicBezTo>
                    <a:cubicBezTo>
                      <a:pt x="4459605" y="5155445"/>
                      <a:pt x="4467415" y="5180591"/>
                      <a:pt x="4470464" y="5206308"/>
                    </a:cubicBezTo>
                    <a:cubicBezTo>
                      <a:pt x="4473130" y="5228597"/>
                      <a:pt x="4469511" y="5251650"/>
                      <a:pt x="4471415" y="5274129"/>
                    </a:cubicBezTo>
                    <a:cubicBezTo>
                      <a:pt x="4474653" y="5313754"/>
                      <a:pt x="4480369" y="5353379"/>
                      <a:pt x="4483990" y="5393005"/>
                    </a:cubicBezTo>
                    <a:cubicBezTo>
                      <a:pt x="4484752" y="5401579"/>
                      <a:pt x="4479988" y="5410531"/>
                      <a:pt x="4479607" y="5419295"/>
                    </a:cubicBezTo>
                    <a:cubicBezTo>
                      <a:pt x="4478656" y="5446728"/>
                      <a:pt x="4478464" y="5474161"/>
                      <a:pt x="4477894" y="5501594"/>
                    </a:cubicBezTo>
                    <a:cubicBezTo>
                      <a:pt x="4477702" y="5517215"/>
                      <a:pt x="4478273" y="5533027"/>
                      <a:pt x="4476560" y="5548460"/>
                    </a:cubicBezTo>
                    <a:cubicBezTo>
                      <a:pt x="4474273" y="5568842"/>
                      <a:pt x="4470844" y="5587321"/>
                      <a:pt x="4485703" y="5606372"/>
                    </a:cubicBezTo>
                    <a:cubicBezTo>
                      <a:pt x="4508755" y="5635711"/>
                      <a:pt x="4499801" y="5673050"/>
                      <a:pt x="4505134" y="5706959"/>
                    </a:cubicBezTo>
                    <a:cubicBezTo>
                      <a:pt x="4506468" y="5715723"/>
                      <a:pt x="4506659" y="5724678"/>
                      <a:pt x="4508183" y="5733440"/>
                    </a:cubicBezTo>
                    <a:cubicBezTo>
                      <a:pt x="4511041" y="5749634"/>
                      <a:pt x="4514279" y="5765635"/>
                      <a:pt x="4517519" y="5781830"/>
                    </a:cubicBezTo>
                    <a:cubicBezTo>
                      <a:pt x="4518089" y="5784686"/>
                      <a:pt x="4518281" y="5787924"/>
                      <a:pt x="4519234" y="5790592"/>
                    </a:cubicBezTo>
                    <a:cubicBezTo>
                      <a:pt x="4527233" y="5815169"/>
                      <a:pt x="4536378" y="5839361"/>
                      <a:pt x="4542855" y="5864318"/>
                    </a:cubicBezTo>
                    <a:cubicBezTo>
                      <a:pt x="4546095" y="5876511"/>
                      <a:pt x="4546476" y="5890037"/>
                      <a:pt x="4544759" y="5902610"/>
                    </a:cubicBezTo>
                    <a:cubicBezTo>
                      <a:pt x="4539808" y="5939377"/>
                      <a:pt x="4537712" y="5975764"/>
                      <a:pt x="4544951" y="6012723"/>
                    </a:cubicBezTo>
                    <a:cubicBezTo>
                      <a:pt x="4547808" y="6027392"/>
                      <a:pt x="4543045" y="6043776"/>
                      <a:pt x="4541332" y="6059397"/>
                    </a:cubicBezTo>
                    <a:cubicBezTo>
                      <a:pt x="4536759" y="6096736"/>
                      <a:pt x="4531805" y="6134075"/>
                      <a:pt x="4527426" y="6171605"/>
                    </a:cubicBezTo>
                    <a:cubicBezTo>
                      <a:pt x="4524758" y="6195037"/>
                      <a:pt x="4523234" y="6218660"/>
                      <a:pt x="4520568" y="6242093"/>
                    </a:cubicBezTo>
                    <a:cubicBezTo>
                      <a:pt x="4517327" y="6269144"/>
                      <a:pt x="4512375" y="6296005"/>
                      <a:pt x="4509706" y="6323058"/>
                    </a:cubicBezTo>
                    <a:cubicBezTo>
                      <a:pt x="4506659" y="6353919"/>
                      <a:pt x="4506089" y="6384972"/>
                      <a:pt x="4502848" y="6415833"/>
                    </a:cubicBezTo>
                    <a:cubicBezTo>
                      <a:pt x="4496563" y="6472225"/>
                      <a:pt x="4489132" y="6528424"/>
                      <a:pt x="4482084" y="6584812"/>
                    </a:cubicBezTo>
                    <a:cubicBezTo>
                      <a:pt x="4475226" y="6639488"/>
                      <a:pt x="4469129" y="6694164"/>
                      <a:pt x="4460557" y="6748458"/>
                    </a:cubicBezTo>
                    <a:cubicBezTo>
                      <a:pt x="4456937" y="6771319"/>
                      <a:pt x="4447030" y="6793035"/>
                      <a:pt x="4441507" y="6815516"/>
                    </a:cubicBezTo>
                    <a:lnTo>
                      <a:pt x="4431806" y="6858001"/>
                    </a:lnTo>
                    <a:lnTo>
                      <a:pt x="4259554" y="6858001"/>
                    </a:lnTo>
                    <a:lnTo>
                      <a:pt x="4259554" y="6858002"/>
                    </a:lnTo>
                    <a:lnTo>
                      <a:pt x="0" y="6858002"/>
                    </a:lnTo>
                    <a:lnTo>
                      <a:pt x="0" y="2"/>
                    </a:lnTo>
                    <a:lnTo>
                      <a:pt x="3766492" y="1"/>
                    </a:lnTo>
                    <a:lnTo>
                      <a:pt x="3769210" y="21486"/>
                    </a:lnTo>
                    <a:close/>
                  </a:path>
                </a:pathLst>
              </a:custGeom>
              <a:solidFill>
                <a:schemeClr val="bg1">
                  <a:alpha val="14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grpSp>
          <p:nvGrpSpPr>
            <p:cNvPr id="30" name="Group 29">
              <a:extLst>
                <a:ext uri="{FF2B5EF4-FFF2-40B4-BE49-F238E27FC236}">
                  <a16:creationId xmlns:a16="http://schemas.microsoft.com/office/drawing/2014/main" id="{1658D615-89F8-4EE3-A5C2-8B57E48744C2}"/>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3697284" y="-1"/>
              <a:ext cx="884241" cy="6858002"/>
              <a:chOff x="3697284" y="-1"/>
              <a:chExt cx="884241" cy="6858002"/>
            </a:xfrm>
          </p:grpSpPr>
          <p:grpSp>
            <p:nvGrpSpPr>
              <p:cNvPr id="31" name="Group 30">
                <a:extLst>
                  <a:ext uri="{FF2B5EF4-FFF2-40B4-BE49-F238E27FC236}">
                    <a16:creationId xmlns:a16="http://schemas.microsoft.com/office/drawing/2014/main" id="{4529F45F-9E0D-4469-B6FE-BFA23DC316E7}"/>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3697284" y="-1"/>
                <a:ext cx="884241" cy="6858001"/>
                <a:chOff x="3697284" y="-1"/>
                <a:chExt cx="884241" cy="6858001"/>
              </a:xfrm>
              <a:solidFill>
                <a:srgbClr val="FFFFFF"/>
              </a:solidFill>
              <a:effectLst/>
            </p:grpSpPr>
            <p:sp>
              <p:nvSpPr>
                <p:cNvPr id="35" name="Freeform: Shape 34">
                  <a:extLst>
                    <a:ext uri="{FF2B5EF4-FFF2-40B4-BE49-F238E27FC236}">
                      <a16:creationId xmlns:a16="http://schemas.microsoft.com/office/drawing/2014/main" id="{4D258C8B-77B4-43BA-8B2F-AB7C96C399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705641" y="2991642"/>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gr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6" name="Freeform: Shape 35">
                  <a:extLst>
                    <a:ext uri="{FF2B5EF4-FFF2-40B4-BE49-F238E27FC236}">
                      <a16:creationId xmlns:a16="http://schemas.microsoft.com/office/drawing/2014/main" id="{867E9E24-BE8C-47FF-BCF1-3E4BDF64DE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715166" y="2991642"/>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gr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grpSp>
            <p:nvGrpSpPr>
              <p:cNvPr id="32" name="Group 31">
                <a:extLst>
                  <a:ext uri="{FF2B5EF4-FFF2-40B4-BE49-F238E27FC236}">
                    <a16:creationId xmlns:a16="http://schemas.microsoft.com/office/drawing/2014/main" id="{BDD9DC28-AE74-45F4-8F16-49C6A59604F8}"/>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3697284" y="0"/>
                <a:ext cx="884241" cy="6858001"/>
                <a:chOff x="3697284" y="-1"/>
                <a:chExt cx="884241" cy="6858001"/>
              </a:xfrm>
              <a:blipFill>
                <a:blip r:embed="rId2">
                  <a:alphaModFix amt="57000"/>
                </a:blip>
                <a:tile tx="0" ty="0" sx="100000" sy="100000" flip="none" algn="tl"/>
              </a:blipFill>
              <a:effectLst/>
            </p:grpSpPr>
            <p:sp>
              <p:nvSpPr>
                <p:cNvPr id="33" name="Freeform: Shape 32">
                  <a:extLst>
                    <a:ext uri="{FF2B5EF4-FFF2-40B4-BE49-F238E27FC236}">
                      <a16:creationId xmlns:a16="http://schemas.microsoft.com/office/drawing/2014/main" id="{6DDBBC55-F5AB-4776-B58D-648EECAB54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705641" y="2991642"/>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gr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4" name="Freeform: Shape 33">
                  <a:extLst>
                    <a:ext uri="{FF2B5EF4-FFF2-40B4-BE49-F238E27FC236}">
                      <a16:creationId xmlns:a16="http://schemas.microsoft.com/office/drawing/2014/main" id="{30F7ABFF-600B-4509-83F7-177A4FE3DB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715166" y="2991642"/>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blipFill>
                  <a:blip r:embed="rId2">
                    <a:alphaModFix amt="57000"/>
                  </a:blip>
                  <a:tile tx="0" ty="0" sx="100000" sy="100000" flip="none" algn="tl"/>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grpSp>
      </p:grpSp>
      <p:sp>
        <p:nvSpPr>
          <p:cNvPr id="6" name="Slide Number Placeholder 3">
            <a:extLst>
              <a:ext uri="{FF2B5EF4-FFF2-40B4-BE49-F238E27FC236}">
                <a16:creationId xmlns:a16="http://schemas.microsoft.com/office/drawing/2014/main" id="{9ACFDC11-4125-4126-B894-03D300C80E50}"/>
              </a:ext>
            </a:extLst>
          </p:cNvPr>
          <p:cNvSpPr>
            <a:spLocks noGrp="1"/>
          </p:cNvSpPr>
          <p:nvPr>
            <p:ph type="sldNum" sz="quarter" idx="12"/>
          </p:nvPr>
        </p:nvSpPr>
        <p:spPr>
          <a:xfrm>
            <a:off x="8737600" y="466933"/>
            <a:ext cx="2635250" cy="707886"/>
          </a:xfrm>
        </p:spPr>
        <p:txBody>
          <a:bodyPr vert="horz" lIns="91440" tIns="45720" rIns="91440" bIns="45720" rtlCol="0" anchor="ctr">
            <a:normAutofit/>
          </a:bodyPr>
          <a:lstStyle/>
          <a:p>
            <a:pPr defTabSz="914400">
              <a:lnSpc>
                <a:spcPct val="90000"/>
              </a:lnSpc>
              <a:spcAft>
                <a:spcPts val="600"/>
              </a:spcAft>
            </a:pPr>
            <a:fld id="{3AFC719D-C4A7-4544-876E-D411D11AF6C9}" type="slidenum">
              <a:rPr lang="en-US" sz="4400">
                <a:solidFill>
                  <a:schemeClr val="bg1"/>
                </a:solidFill>
              </a:rPr>
              <a:pPr defTabSz="914400">
                <a:lnSpc>
                  <a:spcPct val="90000"/>
                </a:lnSpc>
                <a:spcAft>
                  <a:spcPts val="600"/>
                </a:spcAft>
              </a:pPr>
              <a:t>25</a:t>
            </a:fld>
            <a:endParaRPr lang="en-US" sz="4400" dirty="0">
              <a:solidFill>
                <a:schemeClr val="bg1"/>
              </a:solidFill>
            </a:endParaRPr>
          </a:p>
        </p:txBody>
      </p:sp>
      <p:pic>
        <p:nvPicPr>
          <p:cNvPr id="10" name="Graphic 9" descr="Upward trend">
            <a:extLst>
              <a:ext uri="{FF2B5EF4-FFF2-40B4-BE49-F238E27FC236}">
                <a16:creationId xmlns:a16="http://schemas.microsoft.com/office/drawing/2014/main" id="{5AD3A551-BDF6-660B-89E2-69C3F947037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35024" y="2387175"/>
            <a:ext cx="2663825" cy="2663825"/>
          </a:xfrm>
          <a:prstGeom prst="rect">
            <a:avLst/>
          </a:prstGeom>
        </p:spPr>
      </p:pic>
      <p:sp>
        <p:nvSpPr>
          <p:cNvPr id="3" name="Footer Placeholder 2">
            <a:extLst>
              <a:ext uri="{FF2B5EF4-FFF2-40B4-BE49-F238E27FC236}">
                <a16:creationId xmlns:a16="http://schemas.microsoft.com/office/drawing/2014/main" id="{DB674536-A498-4F19-9B73-1BEA752574CB}"/>
              </a:ext>
            </a:extLst>
          </p:cNvPr>
          <p:cNvSpPr>
            <a:spLocks noGrp="1"/>
          </p:cNvSpPr>
          <p:nvPr>
            <p:ph type="ftr" sz="quarter" idx="11"/>
          </p:nvPr>
        </p:nvSpPr>
        <p:spPr>
          <a:xfrm>
            <a:off x="7859713" y="6025942"/>
            <a:ext cx="3497262" cy="365125"/>
          </a:xfrm>
        </p:spPr>
        <p:txBody>
          <a:bodyPr vert="horz" lIns="91440" tIns="45720" rIns="91440" bIns="45720" rtlCol="0" anchor="ctr">
            <a:normAutofit/>
          </a:bodyPr>
          <a:lstStyle/>
          <a:p>
            <a:pPr algn="r" defTabSz="914400">
              <a:spcAft>
                <a:spcPts val="600"/>
              </a:spcAft>
            </a:pPr>
            <a:r>
              <a:rPr lang="en-US" sz="1000" kern="1200" dirty="0">
                <a:solidFill>
                  <a:schemeClr val="bg1">
                    <a:alpha val="60000"/>
                  </a:schemeClr>
                </a:solidFill>
                <a:latin typeface="+mn-lt"/>
                <a:ea typeface="+mn-ea"/>
                <a:cs typeface="+mn-cs"/>
              </a:rPr>
              <a:t>Key Benefit Administrators</a:t>
            </a:r>
          </a:p>
        </p:txBody>
      </p:sp>
    </p:spTree>
    <p:extLst>
      <p:ext uri="{BB962C8B-B14F-4D97-AF65-F5344CB8AC3E}">
        <p14:creationId xmlns:p14="http://schemas.microsoft.com/office/powerpoint/2010/main" val="26849719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748BE3BD-F9EE-3EE4-860C-3826F1F8465B}"/>
              </a:ext>
            </a:extLst>
          </p:cNvPr>
          <p:cNvSpPr>
            <a:spLocks noGrp="1"/>
          </p:cNvSpPr>
          <p:nvPr>
            <p:ph type="title"/>
          </p:nvPr>
        </p:nvSpPr>
        <p:spPr>
          <a:xfrm>
            <a:off x="474980" y="192960"/>
            <a:ext cx="11242040" cy="1325563"/>
          </a:xfrm>
        </p:spPr>
        <p:txBody>
          <a:bodyPr>
            <a:normAutofit/>
          </a:bodyPr>
          <a:lstStyle/>
          <a:p>
            <a:r>
              <a:rPr lang="en-US" sz="4000" b="1" dirty="0">
                <a:latin typeface="+mn-lt"/>
                <a:cs typeface="Arial" panose="020B0604020202020204" pitchFamily="34" charset="0"/>
              </a:rPr>
              <a:t>Estimation of SLUHN 2021 Inpatient Payer Mix</a:t>
            </a:r>
          </a:p>
        </p:txBody>
      </p:sp>
      <p:sp>
        <p:nvSpPr>
          <p:cNvPr id="3" name="Footer Placeholder 2">
            <a:extLst>
              <a:ext uri="{FF2B5EF4-FFF2-40B4-BE49-F238E27FC236}">
                <a16:creationId xmlns:a16="http://schemas.microsoft.com/office/drawing/2014/main" id="{F881BDBD-806B-1BF1-DC4C-DADBDE399686}"/>
              </a:ext>
            </a:extLst>
          </p:cNvPr>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300" normalizeH="0" baseline="0" noProof="0">
                <a:ln>
                  <a:noFill/>
                </a:ln>
                <a:solidFill>
                  <a:prstClr val="black">
                    <a:tint val="75000"/>
                  </a:prstClr>
                </a:solidFill>
                <a:effectLst/>
                <a:uLnTx/>
                <a:uFillTx/>
                <a:latin typeface="Arial" panose="020B0604020202020204" pitchFamily="34" charset="0"/>
                <a:cs typeface="Arial" panose="020B0604020202020204" pitchFamily="34" charset="0"/>
              </a:rPr>
              <a:t>Key Benefit Administrators</a:t>
            </a:r>
            <a:endParaRPr kumimoji="0" lang="en-US" sz="1200" b="0" i="0" u="none" strike="noStrike" kern="1200" cap="none" spc="300" normalizeH="0" baseline="0" noProof="0" dirty="0">
              <a:ln>
                <a:noFill/>
              </a:ln>
              <a:solidFill>
                <a:prstClr val="black">
                  <a:tint val="75000"/>
                </a:prstClr>
              </a:solidFill>
              <a:effectLst/>
              <a:uLnTx/>
              <a:uFillTx/>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E64A413-F33A-E029-FE1C-032E6F189EE6}"/>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pitchFamily="34" charset="0"/>
                <a:cs typeface="Arial" panose="020B0604020202020204" pitchFamily="34" charset="0"/>
              </a:rPr>
              <a:pPr marL="0" marR="0" lvl="0" indent="0" algn="r" defTabSz="4572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dirty="0">
              <a:ln>
                <a:noFill/>
              </a:ln>
              <a:solidFill>
                <a:prstClr val="black">
                  <a:tint val="75000"/>
                </a:prstClr>
              </a:solidFill>
              <a:effectLst/>
              <a:uLnTx/>
              <a:uFillTx/>
              <a:latin typeface="Arial" panose="020B0604020202020204" pitchFamily="34" charset="0"/>
              <a:cs typeface="Arial" panose="020B0604020202020204" pitchFamily="34" charset="0"/>
            </a:endParaRPr>
          </a:p>
        </p:txBody>
      </p:sp>
      <p:graphicFrame>
        <p:nvGraphicFramePr>
          <p:cNvPr id="5" name="Table 7">
            <a:extLst>
              <a:ext uri="{FF2B5EF4-FFF2-40B4-BE49-F238E27FC236}">
                <a16:creationId xmlns:a16="http://schemas.microsoft.com/office/drawing/2014/main" id="{713AD275-CC86-F2BC-8594-AECC0B66117F}"/>
              </a:ext>
            </a:extLst>
          </p:cNvPr>
          <p:cNvGraphicFramePr>
            <a:graphicFrameLocks noGrp="1"/>
          </p:cNvGraphicFramePr>
          <p:nvPr>
            <p:extLst>
              <p:ext uri="{D42A27DB-BD31-4B8C-83A1-F6EECF244321}">
                <p14:modId xmlns:p14="http://schemas.microsoft.com/office/powerpoint/2010/main" val="2872800614"/>
              </p:ext>
            </p:extLst>
          </p:nvPr>
        </p:nvGraphicFramePr>
        <p:xfrm>
          <a:off x="243838" y="1690689"/>
          <a:ext cx="5516882" cy="2560320"/>
        </p:xfrm>
        <a:graphic>
          <a:graphicData uri="http://schemas.openxmlformats.org/drawingml/2006/table">
            <a:tbl>
              <a:tblPr firstRow="1" bandRow="1">
                <a:tableStyleId>{5C22544A-7EE6-4342-B048-85BDC9FD1C3A}</a:tableStyleId>
              </a:tblPr>
              <a:tblGrid>
                <a:gridCol w="1970375">
                  <a:extLst>
                    <a:ext uri="{9D8B030D-6E8A-4147-A177-3AD203B41FA5}">
                      <a16:colId xmlns:a16="http://schemas.microsoft.com/office/drawing/2014/main" val="1990432805"/>
                    </a:ext>
                  </a:extLst>
                </a:gridCol>
                <a:gridCol w="1072861">
                  <a:extLst>
                    <a:ext uri="{9D8B030D-6E8A-4147-A177-3AD203B41FA5}">
                      <a16:colId xmlns:a16="http://schemas.microsoft.com/office/drawing/2014/main" val="2178546237"/>
                    </a:ext>
                  </a:extLst>
                </a:gridCol>
                <a:gridCol w="1326330">
                  <a:extLst>
                    <a:ext uri="{9D8B030D-6E8A-4147-A177-3AD203B41FA5}">
                      <a16:colId xmlns:a16="http://schemas.microsoft.com/office/drawing/2014/main" val="3494448363"/>
                    </a:ext>
                  </a:extLst>
                </a:gridCol>
                <a:gridCol w="1147316">
                  <a:extLst>
                    <a:ext uri="{9D8B030D-6E8A-4147-A177-3AD203B41FA5}">
                      <a16:colId xmlns:a16="http://schemas.microsoft.com/office/drawing/2014/main" val="3564552567"/>
                    </a:ext>
                  </a:extLst>
                </a:gridCol>
              </a:tblGrid>
              <a:tr h="569290">
                <a:tc>
                  <a:txBody>
                    <a:bodyPr/>
                    <a:lstStyle/>
                    <a:p>
                      <a:r>
                        <a:rPr lang="en-US" sz="1400" dirty="0"/>
                        <a:t>Payer Group</a:t>
                      </a:r>
                    </a:p>
                  </a:txBody>
                  <a:tcPr/>
                </a:tc>
                <a:tc>
                  <a:txBody>
                    <a:bodyPr/>
                    <a:lstStyle/>
                    <a:p>
                      <a:r>
                        <a:rPr lang="en-US" sz="1400" dirty="0"/>
                        <a:t>Total Inpatient Days</a:t>
                      </a:r>
                    </a:p>
                  </a:txBody>
                  <a:tcPr/>
                </a:tc>
                <a:tc>
                  <a:txBody>
                    <a:bodyPr/>
                    <a:lstStyle/>
                    <a:p>
                      <a:r>
                        <a:rPr lang="en-US" sz="1400" dirty="0"/>
                        <a:t>Revenue</a:t>
                      </a:r>
                    </a:p>
                  </a:txBody>
                  <a:tcPr/>
                </a:tc>
                <a:tc>
                  <a:txBody>
                    <a:bodyPr/>
                    <a:lstStyle/>
                    <a:p>
                      <a:r>
                        <a:rPr lang="en-US" sz="1400" dirty="0"/>
                        <a:t>Payer Mix</a:t>
                      </a:r>
                    </a:p>
                  </a:txBody>
                  <a:tcPr/>
                </a:tc>
                <a:extLst>
                  <a:ext uri="{0D108BD9-81ED-4DB2-BD59-A6C34878D82A}">
                    <a16:rowId xmlns:a16="http://schemas.microsoft.com/office/drawing/2014/main" val="1397373735"/>
                  </a:ext>
                </a:extLst>
              </a:tr>
              <a:tr h="237204">
                <a:tc>
                  <a:txBody>
                    <a:bodyPr/>
                    <a:lstStyle/>
                    <a:p>
                      <a:r>
                        <a:rPr lang="en-US" sz="1400" dirty="0"/>
                        <a:t>All SLUHN</a:t>
                      </a:r>
                    </a:p>
                  </a:txBody>
                  <a:tcPr>
                    <a:solidFill>
                      <a:schemeClr val="accent3">
                        <a:lumMod val="20000"/>
                        <a:lumOff val="80000"/>
                      </a:schemeClr>
                    </a:solidFill>
                  </a:tcPr>
                </a:tc>
                <a:tc>
                  <a:txBody>
                    <a:bodyPr/>
                    <a:lstStyle/>
                    <a:p>
                      <a:pPr algn="ctr"/>
                      <a:r>
                        <a:rPr lang="en-US" sz="1400" dirty="0">
                          <a:solidFill>
                            <a:schemeClr val="accent1">
                              <a:lumMod val="75000"/>
                            </a:schemeClr>
                          </a:solidFill>
                        </a:rPr>
                        <a:t>315,661</a:t>
                      </a:r>
                    </a:p>
                  </a:txBody>
                  <a:tcPr anchor="ctr">
                    <a:solidFill>
                      <a:schemeClr val="accent3">
                        <a:lumMod val="20000"/>
                        <a:lumOff val="80000"/>
                      </a:schemeClr>
                    </a:solidFill>
                  </a:tcPr>
                </a:tc>
                <a:tc>
                  <a:txBody>
                    <a:bodyPr/>
                    <a:lstStyle/>
                    <a:p>
                      <a:pPr algn="ctr"/>
                      <a:r>
                        <a:rPr lang="en-US" sz="1400" dirty="0">
                          <a:solidFill>
                            <a:schemeClr val="accent1">
                              <a:lumMod val="75000"/>
                            </a:schemeClr>
                          </a:solidFill>
                        </a:rPr>
                        <a:t>$7,431,607K</a:t>
                      </a:r>
                    </a:p>
                  </a:txBody>
                  <a:tcPr anchor="ctr">
                    <a:solidFill>
                      <a:schemeClr val="accent3">
                        <a:lumMod val="20000"/>
                        <a:lumOff val="80000"/>
                      </a:schemeClr>
                    </a:solidFill>
                  </a:tcPr>
                </a:tc>
                <a:tc>
                  <a:txBody>
                    <a:bodyPr/>
                    <a:lstStyle/>
                    <a:p>
                      <a:pPr algn="ctr"/>
                      <a:r>
                        <a:rPr lang="en-US" sz="1400" dirty="0">
                          <a:solidFill>
                            <a:schemeClr val="accent2">
                              <a:lumMod val="75000"/>
                            </a:schemeClr>
                          </a:solidFill>
                        </a:rPr>
                        <a:t>100%</a:t>
                      </a:r>
                    </a:p>
                  </a:txBody>
                  <a:tcPr anchor="ctr">
                    <a:solidFill>
                      <a:schemeClr val="accent3">
                        <a:lumMod val="20000"/>
                        <a:lumOff val="80000"/>
                      </a:schemeClr>
                    </a:solidFill>
                  </a:tcPr>
                </a:tc>
                <a:extLst>
                  <a:ext uri="{0D108BD9-81ED-4DB2-BD59-A6C34878D82A}">
                    <a16:rowId xmlns:a16="http://schemas.microsoft.com/office/drawing/2014/main" val="975973942"/>
                  </a:ext>
                </a:extLst>
              </a:tr>
              <a:tr h="237204">
                <a:tc>
                  <a:txBody>
                    <a:bodyPr/>
                    <a:lstStyle/>
                    <a:p>
                      <a:r>
                        <a:rPr lang="en-US" sz="1400" dirty="0"/>
                        <a:t>Medicare</a:t>
                      </a:r>
                    </a:p>
                  </a:txBody>
                  <a:tcPr>
                    <a:solidFill>
                      <a:schemeClr val="accent3">
                        <a:lumMod val="20000"/>
                        <a:lumOff val="80000"/>
                      </a:schemeClr>
                    </a:solidFill>
                  </a:tcPr>
                </a:tc>
                <a:tc>
                  <a:txBody>
                    <a:bodyPr/>
                    <a:lstStyle/>
                    <a:p>
                      <a:pPr algn="ctr"/>
                      <a:r>
                        <a:rPr lang="en-US" sz="1400" dirty="0">
                          <a:solidFill>
                            <a:schemeClr val="accent1">
                              <a:lumMod val="75000"/>
                            </a:schemeClr>
                          </a:solidFill>
                        </a:rPr>
                        <a:t>101,902</a:t>
                      </a:r>
                    </a:p>
                  </a:txBody>
                  <a:tcPr anchor="ctr">
                    <a:solidFill>
                      <a:schemeClr val="accent3">
                        <a:lumMod val="20000"/>
                        <a:lumOff val="80000"/>
                      </a:schemeClr>
                    </a:solidFill>
                  </a:tcPr>
                </a:tc>
                <a:tc>
                  <a:txBody>
                    <a:bodyPr/>
                    <a:lstStyle/>
                    <a:p>
                      <a:pPr algn="ctr"/>
                      <a:r>
                        <a:rPr lang="en-US" sz="1400" dirty="0">
                          <a:solidFill>
                            <a:schemeClr val="accent6">
                              <a:lumMod val="75000"/>
                            </a:schemeClr>
                          </a:solidFill>
                        </a:rPr>
                        <a:t>$2,544,554K</a:t>
                      </a:r>
                    </a:p>
                  </a:txBody>
                  <a:tcPr anchor="ctr">
                    <a:solidFill>
                      <a:schemeClr val="accent3">
                        <a:lumMod val="20000"/>
                        <a:lumOff val="80000"/>
                      </a:schemeClr>
                    </a:solidFill>
                  </a:tcPr>
                </a:tc>
                <a:tc>
                  <a:txBody>
                    <a:bodyPr/>
                    <a:lstStyle/>
                    <a:p>
                      <a:pPr algn="ctr"/>
                      <a:r>
                        <a:rPr lang="en-US" sz="1400" dirty="0">
                          <a:solidFill>
                            <a:schemeClr val="accent2">
                              <a:lumMod val="75000"/>
                            </a:schemeClr>
                          </a:solidFill>
                        </a:rPr>
                        <a:t>32%</a:t>
                      </a:r>
                    </a:p>
                  </a:txBody>
                  <a:tcPr anchor="ctr">
                    <a:solidFill>
                      <a:schemeClr val="accent3">
                        <a:lumMod val="20000"/>
                        <a:lumOff val="80000"/>
                      </a:schemeClr>
                    </a:solidFill>
                  </a:tcPr>
                </a:tc>
                <a:extLst>
                  <a:ext uri="{0D108BD9-81ED-4DB2-BD59-A6C34878D82A}">
                    <a16:rowId xmlns:a16="http://schemas.microsoft.com/office/drawing/2014/main" val="1145544718"/>
                  </a:ext>
                </a:extLst>
              </a:tr>
              <a:tr h="237204">
                <a:tc>
                  <a:txBody>
                    <a:bodyPr/>
                    <a:lstStyle/>
                    <a:p>
                      <a:r>
                        <a:rPr lang="en-US" sz="1400" dirty="0"/>
                        <a:t>Medicaid</a:t>
                      </a:r>
                    </a:p>
                  </a:txBody>
                  <a:tcPr>
                    <a:solidFill>
                      <a:schemeClr val="accent3">
                        <a:lumMod val="20000"/>
                        <a:lumOff val="80000"/>
                      </a:schemeClr>
                    </a:solidFill>
                  </a:tcPr>
                </a:tc>
                <a:tc>
                  <a:txBody>
                    <a:bodyPr/>
                    <a:lstStyle/>
                    <a:p>
                      <a:pPr algn="ctr"/>
                      <a:r>
                        <a:rPr lang="en-US" sz="1400" dirty="0">
                          <a:solidFill>
                            <a:schemeClr val="accent1">
                              <a:lumMod val="75000"/>
                            </a:schemeClr>
                          </a:solidFill>
                        </a:rPr>
                        <a:t>20,314</a:t>
                      </a:r>
                    </a:p>
                  </a:txBody>
                  <a:tcPr anchor="ctr">
                    <a:solidFill>
                      <a:schemeClr val="accent3">
                        <a:lumMod val="20000"/>
                        <a:lumOff val="80000"/>
                      </a:schemeClr>
                    </a:solidFill>
                  </a:tcPr>
                </a:tc>
                <a:tc rowSpan="2">
                  <a:txBody>
                    <a:bodyPr/>
                    <a:lstStyle/>
                    <a:p>
                      <a:pPr algn="ctr"/>
                      <a:r>
                        <a:rPr lang="en-US" sz="1400" dirty="0">
                          <a:solidFill>
                            <a:schemeClr val="accent2">
                              <a:lumMod val="75000"/>
                            </a:schemeClr>
                          </a:solidFill>
                        </a:rPr>
                        <a:t>$571,291K</a:t>
                      </a:r>
                    </a:p>
                  </a:txBody>
                  <a:tcPr anchor="ctr">
                    <a:solidFill>
                      <a:schemeClr val="accent3">
                        <a:lumMod val="20000"/>
                        <a:lumOff val="80000"/>
                      </a:schemeClr>
                    </a:solidFill>
                  </a:tcPr>
                </a:tc>
                <a:tc>
                  <a:txBody>
                    <a:bodyPr/>
                    <a:lstStyle/>
                    <a:p>
                      <a:pPr algn="ctr"/>
                      <a:r>
                        <a:rPr lang="en-US" sz="1400" dirty="0">
                          <a:solidFill>
                            <a:schemeClr val="accent2">
                              <a:lumMod val="75000"/>
                            </a:schemeClr>
                          </a:solidFill>
                        </a:rPr>
                        <a:t>6%</a:t>
                      </a:r>
                    </a:p>
                  </a:txBody>
                  <a:tcPr anchor="ctr">
                    <a:solidFill>
                      <a:schemeClr val="accent3">
                        <a:lumMod val="20000"/>
                        <a:lumOff val="80000"/>
                      </a:schemeClr>
                    </a:solidFill>
                  </a:tcPr>
                </a:tc>
                <a:extLst>
                  <a:ext uri="{0D108BD9-81ED-4DB2-BD59-A6C34878D82A}">
                    <a16:rowId xmlns:a16="http://schemas.microsoft.com/office/drawing/2014/main" val="680733009"/>
                  </a:ext>
                </a:extLst>
              </a:tr>
              <a:tr h="279964">
                <a:tc>
                  <a:txBody>
                    <a:bodyPr/>
                    <a:lstStyle/>
                    <a:p>
                      <a:r>
                        <a:rPr lang="en-US" sz="1400" dirty="0"/>
                        <a:t>Other Government Pay</a:t>
                      </a:r>
                    </a:p>
                  </a:txBody>
                  <a:tcPr>
                    <a:solidFill>
                      <a:schemeClr val="accent3">
                        <a:lumMod val="20000"/>
                        <a:lumOff val="80000"/>
                      </a:schemeClr>
                    </a:solidFill>
                  </a:tcPr>
                </a:tc>
                <a:tc>
                  <a:txBody>
                    <a:bodyPr/>
                    <a:lstStyle/>
                    <a:p>
                      <a:pPr algn="ctr"/>
                      <a:r>
                        <a:rPr lang="en-US" sz="1400" dirty="0">
                          <a:solidFill>
                            <a:schemeClr val="accent1">
                              <a:lumMod val="75000"/>
                            </a:schemeClr>
                          </a:solidFill>
                        </a:rPr>
                        <a:t>0</a:t>
                      </a:r>
                    </a:p>
                  </a:txBody>
                  <a:tcPr anchor="ctr">
                    <a:solidFill>
                      <a:schemeClr val="accent3">
                        <a:lumMod val="20000"/>
                        <a:lumOff val="80000"/>
                      </a:schemeClr>
                    </a:solidFill>
                  </a:tcPr>
                </a:tc>
                <a:tc vMerge="1">
                  <a:txBody>
                    <a:bodyPr/>
                    <a:lstStyle/>
                    <a:p>
                      <a:endParaRPr lang="en-US" sz="1400" dirty="0">
                        <a:solidFill>
                          <a:schemeClr val="accent2">
                            <a:lumMod val="75000"/>
                          </a:schemeClr>
                        </a:solidFill>
                      </a:endParaRPr>
                    </a:p>
                  </a:txBody>
                  <a:tcPr/>
                </a:tc>
                <a:tc>
                  <a:txBody>
                    <a:bodyPr/>
                    <a:lstStyle/>
                    <a:p>
                      <a:pPr algn="ctr"/>
                      <a:r>
                        <a:rPr lang="en-US" sz="1400" dirty="0">
                          <a:solidFill>
                            <a:schemeClr val="accent2">
                              <a:lumMod val="75000"/>
                            </a:schemeClr>
                          </a:solidFill>
                        </a:rPr>
                        <a:t>0%</a:t>
                      </a:r>
                    </a:p>
                  </a:txBody>
                  <a:tcPr anchor="ctr">
                    <a:solidFill>
                      <a:schemeClr val="accent3">
                        <a:lumMod val="20000"/>
                        <a:lumOff val="80000"/>
                      </a:schemeClr>
                    </a:solidFill>
                  </a:tcPr>
                </a:tc>
                <a:extLst>
                  <a:ext uri="{0D108BD9-81ED-4DB2-BD59-A6C34878D82A}">
                    <a16:rowId xmlns:a16="http://schemas.microsoft.com/office/drawing/2014/main" val="194994609"/>
                  </a:ext>
                </a:extLst>
              </a:tr>
              <a:tr h="237204">
                <a:tc>
                  <a:txBody>
                    <a:bodyPr/>
                    <a:lstStyle/>
                    <a:p>
                      <a:r>
                        <a:rPr lang="en-US" sz="1400" dirty="0"/>
                        <a:t>No-Pay, Charity Care</a:t>
                      </a:r>
                    </a:p>
                  </a:txBody>
                  <a:tcPr>
                    <a:solidFill>
                      <a:schemeClr val="accent3">
                        <a:lumMod val="20000"/>
                        <a:lumOff val="80000"/>
                      </a:schemeClr>
                    </a:solidFill>
                  </a:tcPr>
                </a:tc>
                <a:tc>
                  <a:txBody>
                    <a:bodyPr/>
                    <a:lstStyle/>
                    <a:p>
                      <a:pPr algn="ctr"/>
                      <a:r>
                        <a:rPr lang="en-US" sz="1400" dirty="0">
                          <a:solidFill>
                            <a:schemeClr val="accent2">
                              <a:lumMod val="75000"/>
                            </a:schemeClr>
                          </a:solidFill>
                        </a:rPr>
                        <a:t>1,983</a:t>
                      </a:r>
                    </a:p>
                  </a:txBody>
                  <a:tcPr anchor="ctr">
                    <a:solidFill>
                      <a:schemeClr val="accent3">
                        <a:lumMod val="20000"/>
                        <a:lumOff val="80000"/>
                      </a:schemeClr>
                    </a:solidFill>
                  </a:tcPr>
                </a:tc>
                <a:tc>
                  <a:txBody>
                    <a:bodyPr/>
                    <a:lstStyle/>
                    <a:p>
                      <a:pPr algn="ctr"/>
                      <a:r>
                        <a:rPr lang="en-US" sz="1400" dirty="0">
                          <a:solidFill>
                            <a:schemeClr val="accent1">
                              <a:lumMod val="75000"/>
                            </a:schemeClr>
                          </a:solidFill>
                        </a:rPr>
                        <a:t>$103,230K</a:t>
                      </a:r>
                    </a:p>
                  </a:txBody>
                  <a:tcPr anchor="ctr">
                    <a:solidFill>
                      <a:schemeClr val="accent3">
                        <a:lumMod val="20000"/>
                        <a:lumOff val="80000"/>
                      </a:schemeClr>
                    </a:solidFill>
                  </a:tcPr>
                </a:tc>
                <a:tc>
                  <a:txBody>
                    <a:bodyPr/>
                    <a:lstStyle/>
                    <a:p>
                      <a:pPr algn="ctr"/>
                      <a:r>
                        <a:rPr lang="en-US" sz="1400" dirty="0">
                          <a:solidFill>
                            <a:schemeClr val="accent2">
                              <a:lumMod val="75000"/>
                            </a:schemeClr>
                          </a:solidFill>
                        </a:rPr>
                        <a:t>1%</a:t>
                      </a:r>
                    </a:p>
                  </a:txBody>
                  <a:tcPr anchor="ctr">
                    <a:solidFill>
                      <a:schemeClr val="accent3">
                        <a:lumMod val="20000"/>
                        <a:lumOff val="80000"/>
                      </a:schemeClr>
                    </a:solidFill>
                  </a:tcPr>
                </a:tc>
                <a:extLst>
                  <a:ext uri="{0D108BD9-81ED-4DB2-BD59-A6C34878D82A}">
                    <a16:rowId xmlns:a16="http://schemas.microsoft.com/office/drawing/2014/main" val="1248958224"/>
                  </a:ext>
                </a:extLst>
              </a:tr>
              <a:tr h="237204">
                <a:tc>
                  <a:txBody>
                    <a:bodyPr/>
                    <a:lstStyle/>
                    <a:p>
                      <a:r>
                        <a:rPr lang="en-US" sz="1400" dirty="0"/>
                        <a:t>Commercial/Self Pay</a:t>
                      </a:r>
                    </a:p>
                  </a:txBody>
                  <a:tcPr>
                    <a:solidFill>
                      <a:schemeClr val="accent3">
                        <a:lumMod val="20000"/>
                        <a:lumOff val="80000"/>
                      </a:schemeClr>
                    </a:solidFill>
                  </a:tcPr>
                </a:tc>
                <a:tc>
                  <a:txBody>
                    <a:bodyPr/>
                    <a:lstStyle/>
                    <a:p>
                      <a:pPr algn="ctr"/>
                      <a:r>
                        <a:rPr lang="en-US" sz="1400" dirty="0">
                          <a:solidFill>
                            <a:schemeClr val="accent2">
                              <a:lumMod val="75000"/>
                            </a:schemeClr>
                          </a:solidFill>
                        </a:rPr>
                        <a:t>191,461</a:t>
                      </a:r>
                    </a:p>
                  </a:txBody>
                  <a:tcPr anchor="ctr">
                    <a:solidFill>
                      <a:schemeClr val="accent3">
                        <a:lumMod val="20000"/>
                        <a:lumOff val="80000"/>
                      </a:schemeClr>
                    </a:solidFill>
                  </a:tcPr>
                </a:tc>
                <a:tc>
                  <a:txBody>
                    <a:bodyPr/>
                    <a:lstStyle/>
                    <a:p>
                      <a:pPr marL="0" marR="0" lvl="0" indent="0" algn="ctr" defTabSz="914411" rtl="0" eaLnBrk="1" fontAlgn="auto" latinLnBrk="0" hangingPunct="1">
                        <a:lnSpc>
                          <a:spcPct val="100000"/>
                        </a:lnSpc>
                        <a:spcBef>
                          <a:spcPts val="0"/>
                        </a:spcBef>
                        <a:spcAft>
                          <a:spcPts val="0"/>
                        </a:spcAft>
                        <a:buClrTx/>
                        <a:buSzTx/>
                        <a:buFontTx/>
                        <a:buNone/>
                        <a:tabLst/>
                        <a:defRPr/>
                      </a:pPr>
                      <a:r>
                        <a:rPr lang="en-US" sz="1400" dirty="0">
                          <a:solidFill>
                            <a:schemeClr val="accent2">
                              <a:lumMod val="75000"/>
                            </a:schemeClr>
                          </a:solidFill>
                        </a:rPr>
                        <a:t>$4,315,762</a:t>
                      </a:r>
                    </a:p>
                  </a:txBody>
                  <a:tcPr anchor="ctr">
                    <a:solidFill>
                      <a:schemeClr val="accent3">
                        <a:lumMod val="20000"/>
                        <a:lumOff val="80000"/>
                      </a:schemeClr>
                    </a:solidFill>
                  </a:tcPr>
                </a:tc>
                <a:tc>
                  <a:txBody>
                    <a:bodyPr/>
                    <a:lstStyle/>
                    <a:p>
                      <a:pPr algn="ctr"/>
                      <a:r>
                        <a:rPr lang="en-US" sz="1400" dirty="0">
                          <a:solidFill>
                            <a:schemeClr val="accent2">
                              <a:lumMod val="75000"/>
                            </a:schemeClr>
                          </a:solidFill>
                        </a:rPr>
                        <a:t>61%</a:t>
                      </a:r>
                    </a:p>
                  </a:txBody>
                  <a:tcPr anchor="ctr">
                    <a:solidFill>
                      <a:schemeClr val="accent3">
                        <a:lumMod val="20000"/>
                        <a:lumOff val="80000"/>
                      </a:schemeClr>
                    </a:solidFill>
                  </a:tcPr>
                </a:tc>
                <a:extLst>
                  <a:ext uri="{0D108BD9-81ED-4DB2-BD59-A6C34878D82A}">
                    <a16:rowId xmlns:a16="http://schemas.microsoft.com/office/drawing/2014/main" val="1058780832"/>
                  </a:ext>
                </a:extLst>
              </a:tr>
            </a:tbl>
          </a:graphicData>
        </a:graphic>
      </p:graphicFrame>
      <p:sp>
        <p:nvSpPr>
          <p:cNvPr id="6" name="TextBox 8">
            <a:extLst>
              <a:ext uri="{FF2B5EF4-FFF2-40B4-BE49-F238E27FC236}">
                <a16:creationId xmlns:a16="http://schemas.microsoft.com/office/drawing/2014/main" id="{6AC02F6F-C422-9313-946A-CD28952173F8}"/>
              </a:ext>
            </a:extLst>
          </p:cNvPr>
          <p:cNvSpPr txBox="1"/>
          <p:nvPr/>
        </p:nvSpPr>
        <p:spPr>
          <a:xfrm>
            <a:off x="6431282" y="1690688"/>
            <a:ext cx="5648960" cy="181588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Estimating Payer Mix</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Medicare, Medicaid, and other government payer mixes are estimated as the percentage of inpatient days for each group divided by total inpatient days.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No-pay and charity care is estimated as the percentage of no-pay/charity care compared to total overall revenue.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Commercial/self pay is assumed to be the rest of the total payer mix share. </a:t>
            </a:r>
          </a:p>
        </p:txBody>
      </p:sp>
      <p:sp>
        <p:nvSpPr>
          <p:cNvPr id="7" name="TextBox 9">
            <a:extLst>
              <a:ext uri="{FF2B5EF4-FFF2-40B4-BE49-F238E27FC236}">
                <a16:creationId xmlns:a16="http://schemas.microsoft.com/office/drawing/2014/main" id="{ED0A6F50-C6BE-E59F-38A2-EFFA0AEF9616}"/>
              </a:ext>
            </a:extLst>
          </p:cNvPr>
          <p:cNvSpPr txBox="1"/>
          <p:nvPr/>
        </p:nvSpPr>
        <p:spPr>
          <a:xfrm>
            <a:off x="6431282" y="3552478"/>
            <a:ext cx="5648960" cy="1600438"/>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Estimating Revenue by Group</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Medicaid and Other Government Pay are estimated to be paying the same rate per inpatient day as Medicare (a conservative assumption).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Commercial/Self Pay is assumed to be all revenue not known to be paid by Medicare and not assumed to be paid by Medicaid or other government pay. </a:t>
            </a:r>
          </a:p>
        </p:txBody>
      </p:sp>
      <p:sp>
        <p:nvSpPr>
          <p:cNvPr id="8" name="TextBox 10">
            <a:extLst>
              <a:ext uri="{FF2B5EF4-FFF2-40B4-BE49-F238E27FC236}">
                <a16:creationId xmlns:a16="http://schemas.microsoft.com/office/drawing/2014/main" id="{E107289D-24BF-1E88-2683-BA2979EC32B6}"/>
              </a:ext>
            </a:extLst>
          </p:cNvPr>
          <p:cNvSpPr txBox="1"/>
          <p:nvPr/>
        </p:nvSpPr>
        <p:spPr>
          <a:xfrm>
            <a:off x="6431282" y="5123627"/>
            <a:ext cx="5648960" cy="116955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Estimating Total Inpatient Days</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Total inpatient days for ‘No Pay’ and ‘Commercial’ are estimated to be the payer mix estimates for “No Pay, Charity Care” and “Commercial/Self Pay” multiplied by the total number of inpatient days. </a:t>
            </a:r>
          </a:p>
        </p:txBody>
      </p:sp>
      <p:sp>
        <p:nvSpPr>
          <p:cNvPr id="9" name="TextBox 11">
            <a:extLst>
              <a:ext uri="{FF2B5EF4-FFF2-40B4-BE49-F238E27FC236}">
                <a16:creationId xmlns:a16="http://schemas.microsoft.com/office/drawing/2014/main" id="{B06F8AA7-185E-8401-4C51-579C44EE0B64}"/>
              </a:ext>
            </a:extLst>
          </p:cNvPr>
          <p:cNvSpPr txBox="1"/>
          <p:nvPr/>
        </p:nvSpPr>
        <p:spPr>
          <a:xfrm>
            <a:off x="416560" y="4435821"/>
            <a:ext cx="5161280" cy="60016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4472C4">
                    <a:lumMod val="75000"/>
                  </a:srgbClr>
                </a:solidFill>
                <a:effectLst/>
                <a:uLnTx/>
                <a:uFillTx/>
                <a:latin typeface="Arial" panose="020B0604020202020204" pitchFamily="34" charset="0"/>
                <a:cs typeface="Arial" panose="020B0604020202020204" pitchFamily="34" charset="0"/>
              </a:rPr>
              <a:t>Values in blue are taken from the 2021 Medicare Provider Cost Report (https://data.cms.gov/provider-compliance/cost-report/hospital-provider-cost-report/data)</a:t>
            </a:r>
          </a:p>
        </p:txBody>
      </p:sp>
      <p:sp>
        <p:nvSpPr>
          <p:cNvPr id="10" name="TextBox 12">
            <a:extLst>
              <a:ext uri="{FF2B5EF4-FFF2-40B4-BE49-F238E27FC236}">
                <a16:creationId xmlns:a16="http://schemas.microsoft.com/office/drawing/2014/main" id="{CF495B2A-50EF-4B94-1C1C-99E3DB78B211}"/>
              </a:ext>
            </a:extLst>
          </p:cNvPr>
          <p:cNvSpPr txBox="1"/>
          <p:nvPr/>
        </p:nvSpPr>
        <p:spPr>
          <a:xfrm>
            <a:off x="416560" y="5085955"/>
            <a:ext cx="5161280" cy="4308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70AD47">
                    <a:lumMod val="75000"/>
                  </a:srgbClr>
                </a:solidFill>
                <a:effectLst/>
                <a:uLnTx/>
                <a:uFillTx/>
                <a:latin typeface="Arial" panose="020B0604020202020204" pitchFamily="34" charset="0"/>
                <a:cs typeface="Arial" panose="020B0604020202020204" pitchFamily="34" charset="0"/>
              </a:rPr>
              <a:t>Total Medicare patient revenue is reported by CMS in the Medicare Provider Analysis and Review Report (</a:t>
            </a:r>
            <a:r>
              <a:rPr kumimoji="0" lang="en-US" sz="1100" b="0" i="0" u="none" strike="noStrike" kern="1200" cap="none" spc="0" normalizeH="0" baseline="0" noProof="0" dirty="0" err="1">
                <a:ln>
                  <a:noFill/>
                </a:ln>
                <a:solidFill>
                  <a:srgbClr val="70AD47">
                    <a:lumMod val="75000"/>
                  </a:srgbClr>
                </a:solidFill>
                <a:effectLst/>
                <a:uLnTx/>
                <a:uFillTx/>
                <a:latin typeface="Arial" panose="020B0604020202020204" pitchFamily="34" charset="0"/>
                <a:cs typeface="Arial" panose="020B0604020202020204" pitchFamily="34" charset="0"/>
              </a:rPr>
              <a:t>MedPAR</a:t>
            </a:r>
            <a:r>
              <a:rPr kumimoji="0" lang="en-US" sz="1100" b="0" i="0" u="none" strike="noStrike" kern="1200" cap="none" spc="0" normalizeH="0" baseline="0" noProof="0" dirty="0">
                <a:ln>
                  <a:noFill/>
                </a:ln>
                <a:solidFill>
                  <a:srgbClr val="70AD47">
                    <a:lumMod val="75000"/>
                  </a:srgbClr>
                </a:solidFill>
                <a:effectLst/>
                <a:uLnTx/>
                <a:uFillTx/>
                <a:latin typeface="Arial" panose="020B0604020202020204" pitchFamily="34" charset="0"/>
                <a:cs typeface="Arial" panose="020B0604020202020204" pitchFamily="34" charset="0"/>
              </a:rPr>
              <a:t>) </a:t>
            </a:r>
          </a:p>
        </p:txBody>
      </p:sp>
      <p:sp>
        <p:nvSpPr>
          <p:cNvPr id="11" name="Rectangle 16">
            <a:extLst>
              <a:ext uri="{FF2B5EF4-FFF2-40B4-BE49-F238E27FC236}">
                <a16:creationId xmlns:a16="http://schemas.microsoft.com/office/drawing/2014/main" id="{802290A3-B694-4505-9BF2-D6CD7AF07C8B}"/>
              </a:ext>
            </a:extLst>
          </p:cNvPr>
          <p:cNvSpPr/>
          <p:nvPr/>
        </p:nvSpPr>
        <p:spPr>
          <a:xfrm>
            <a:off x="1315720" y="5784630"/>
            <a:ext cx="3362960" cy="430887"/>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In other analysis, the outpatient payer mix is assumed to mirror the inpatient payer mix. </a:t>
            </a:r>
          </a:p>
        </p:txBody>
      </p:sp>
    </p:spTree>
    <p:extLst>
      <p:ext uri="{BB962C8B-B14F-4D97-AF65-F5344CB8AC3E}">
        <p14:creationId xmlns:p14="http://schemas.microsoft.com/office/powerpoint/2010/main" val="114740142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13EFE-107F-C70D-DA9D-3AACDFE5F414}"/>
              </a:ext>
            </a:extLst>
          </p:cNvPr>
          <p:cNvSpPr>
            <a:spLocks noGrp="1"/>
          </p:cNvSpPr>
          <p:nvPr>
            <p:ph type="title"/>
          </p:nvPr>
        </p:nvSpPr>
        <p:spPr/>
        <p:txBody>
          <a:bodyPr/>
          <a:lstStyle/>
          <a:p>
            <a:r>
              <a:rPr lang="en-US" b="1" dirty="0">
                <a:latin typeface="+mn-lt"/>
                <a:cs typeface="Arial" panose="020B0604020202020204" pitchFamily="34" charset="0"/>
              </a:rPr>
              <a:t>Estimation of Margin for Commercial vs. Government Pay</a:t>
            </a:r>
          </a:p>
        </p:txBody>
      </p:sp>
      <p:sp>
        <p:nvSpPr>
          <p:cNvPr id="3" name="Content Placeholder 2">
            <a:extLst>
              <a:ext uri="{FF2B5EF4-FFF2-40B4-BE49-F238E27FC236}">
                <a16:creationId xmlns:a16="http://schemas.microsoft.com/office/drawing/2014/main" id="{47D333E6-57DF-6C19-7BCA-1AE47F6C6568}"/>
              </a:ext>
            </a:extLst>
          </p:cNvPr>
          <p:cNvSpPr>
            <a:spLocks noGrp="1"/>
          </p:cNvSpPr>
          <p:nvPr>
            <p:ph idx="1"/>
          </p:nvPr>
        </p:nvSpPr>
        <p:spPr>
          <a:xfrm>
            <a:off x="838202" y="1825625"/>
            <a:ext cx="10515600" cy="917575"/>
          </a:xfrm>
        </p:spPr>
        <p:txBody>
          <a:bodyPr/>
          <a:lstStyle/>
          <a:p>
            <a:pPr marL="0" indent="0">
              <a:buNone/>
            </a:pPr>
            <a:r>
              <a:rPr lang="en-US" dirty="0">
                <a:latin typeface="Arial" panose="020B0604020202020204" pitchFamily="34" charset="0"/>
                <a:cs typeface="Arial" panose="020B0604020202020204" pitchFamily="34" charset="0"/>
              </a:rPr>
              <a:t>The RAND data for SLUHN estimates commercial insurance reimbursements at 233% of Medicare Rates</a:t>
            </a:r>
          </a:p>
        </p:txBody>
      </p:sp>
      <p:sp>
        <p:nvSpPr>
          <p:cNvPr id="4" name="Footer Placeholder 3">
            <a:extLst>
              <a:ext uri="{FF2B5EF4-FFF2-40B4-BE49-F238E27FC236}">
                <a16:creationId xmlns:a16="http://schemas.microsoft.com/office/drawing/2014/main" id="{AFDF3D97-D614-8EA4-3954-16EBCFCE0752}"/>
              </a:ext>
            </a:extLst>
          </p:cNvPr>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300" normalizeH="0" baseline="0" noProof="0">
                <a:ln>
                  <a:noFill/>
                </a:ln>
                <a:solidFill>
                  <a:prstClr val="black">
                    <a:tint val="75000"/>
                  </a:prstClr>
                </a:solidFill>
                <a:effectLst/>
                <a:uLnTx/>
                <a:uFillTx/>
                <a:latin typeface="Arial" panose="020B0604020202020204" pitchFamily="34" charset="0"/>
                <a:cs typeface="Arial" panose="020B0604020202020204" pitchFamily="34" charset="0"/>
              </a:rPr>
              <a:t>Key Benefit Administrators</a:t>
            </a:r>
            <a:endParaRPr kumimoji="0" lang="en-US" sz="1200" b="0" i="0" u="none" strike="noStrike" kern="1200" cap="none" spc="300" normalizeH="0" baseline="0" noProof="0" dirty="0">
              <a:ln>
                <a:noFill/>
              </a:ln>
              <a:solidFill>
                <a:prstClr val="black">
                  <a:tint val="75000"/>
                </a:prstClr>
              </a:solidFill>
              <a:effectLst/>
              <a:uLnTx/>
              <a:uFillTx/>
              <a:latin typeface="Arial" panose="020B060402020202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EDD4D069-E3A2-B95F-CBCE-DE712439D970}"/>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pitchFamily="34" charset="0"/>
                <a:cs typeface="Arial" panose="020B0604020202020204" pitchFamily="34" charset="0"/>
              </a:rPr>
              <a:pPr marL="0" marR="0" lvl="0" indent="0" algn="r" defTabSz="4572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dirty="0">
              <a:ln>
                <a:noFill/>
              </a:ln>
              <a:solidFill>
                <a:prstClr val="black">
                  <a:tint val="75000"/>
                </a:prstClr>
              </a:solidFill>
              <a:effectLst/>
              <a:uLnTx/>
              <a:uFillTx/>
              <a:latin typeface="Arial" panose="020B0604020202020204" pitchFamily="34" charset="0"/>
              <a:cs typeface="Arial" panose="020B0604020202020204" pitchFamily="34" charset="0"/>
            </a:endParaRPr>
          </a:p>
        </p:txBody>
      </p:sp>
      <p:sp>
        <p:nvSpPr>
          <p:cNvPr id="6" name="Content Placeholder 2">
            <a:extLst>
              <a:ext uri="{FF2B5EF4-FFF2-40B4-BE49-F238E27FC236}">
                <a16:creationId xmlns:a16="http://schemas.microsoft.com/office/drawing/2014/main" id="{18BFBD36-1E96-1E59-E3A7-CCEF02D0CF96}"/>
              </a:ext>
            </a:extLst>
          </p:cNvPr>
          <p:cNvSpPr txBox="1">
            <a:spLocks/>
          </p:cNvSpPr>
          <p:nvPr/>
        </p:nvSpPr>
        <p:spPr>
          <a:xfrm>
            <a:off x="838200" y="2970212"/>
            <a:ext cx="4526280" cy="917575"/>
          </a:xfrm>
          <a:prstGeom prst="rect">
            <a:avLst/>
          </a:prstGeom>
        </p:spPr>
        <p:txBody>
          <a:bodyPr vert="horz" lIns="91440" tIns="45720" rIns="91440" bIns="45720" rtlCol="0">
            <a:normAutofit/>
          </a:bodyPr>
          <a:lst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11"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8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sp>
        <p:nvSpPr>
          <p:cNvPr id="7" name="TextBox 7">
            <a:extLst>
              <a:ext uri="{FF2B5EF4-FFF2-40B4-BE49-F238E27FC236}">
                <a16:creationId xmlns:a16="http://schemas.microsoft.com/office/drawing/2014/main" id="{85163DF1-EB5C-1C3C-A93D-5F16CEEC2B92}"/>
              </a:ext>
            </a:extLst>
          </p:cNvPr>
          <p:cNvSpPr txBox="1"/>
          <p:nvPr/>
        </p:nvSpPr>
        <p:spPr>
          <a:xfrm>
            <a:off x="838199" y="2878137"/>
            <a:ext cx="4742179" cy="89255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400" b="1"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Estimating Commercial Margin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4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(Calculated through counterfactual of assuming all CMS/Government pay was paying at commercial rates)</a:t>
            </a:r>
          </a:p>
        </p:txBody>
      </p:sp>
      <p:sp>
        <p:nvSpPr>
          <p:cNvPr id="8" name="TextBox 8">
            <a:extLst>
              <a:ext uri="{FF2B5EF4-FFF2-40B4-BE49-F238E27FC236}">
                <a16:creationId xmlns:a16="http://schemas.microsoft.com/office/drawing/2014/main" id="{020B90EA-11B9-6E81-60B7-F3AFEA7FC5A7}"/>
              </a:ext>
            </a:extLst>
          </p:cNvPr>
          <p:cNvSpPr txBox="1"/>
          <p:nvPr/>
        </p:nvSpPr>
        <p:spPr>
          <a:xfrm>
            <a:off x="6827522" y="2878137"/>
            <a:ext cx="4358640" cy="89255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400" b="1"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Estimating Gov-Pay Margin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4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(Calculated through counterfactual of assuming all commercial pay was paying at Medicare rate)</a:t>
            </a:r>
          </a:p>
        </p:txBody>
      </p:sp>
      <p:graphicFrame>
        <p:nvGraphicFramePr>
          <p:cNvPr id="9" name="Table 10">
            <a:extLst>
              <a:ext uri="{FF2B5EF4-FFF2-40B4-BE49-F238E27FC236}">
                <a16:creationId xmlns:a16="http://schemas.microsoft.com/office/drawing/2014/main" id="{30CE50B1-E66B-B63F-C96E-A434E7ECFB6C}"/>
              </a:ext>
            </a:extLst>
          </p:cNvPr>
          <p:cNvGraphicFramePr>
            <a:graphicFrameLocks noGrp="1"/>
          </p:cNvGraphicFramePr>
          <p:nvPr>
            <p:extLst>
              <p:ext uri="{D42A27DB-BD31-4B8C-83A1-F6EECF244321}">
                <p14:modId xmlns:p14="http://schemas.microsoft.com/office/powerpoint/2010/main" val="2045778911"/>
              </p:ext>
            </p:extLst>
          </p:nvPr>
        </p:nvGraphicFramePr>
        <p:xfrm>
          <a:off x="1018541" y="4114799"/>
          <a:ext cx="3997958" cy="2489200"/>
        </p:xfrm>
        <a:graphic>
          <a:graphicData uri="http://schemas.openxmlformats.org/drawingml/2006/table">
            <a:tbl>
              <a:tblPr bandRow="1">
                <a:tableStyleId>{2D5ABB26-0587-4C30-8999-92F81FD0307C}</a:tableStyleId>
              </a:tblPr>
              <a:tblGrid>
                <a:gridCol w="2486659">
                  <a:extLst>
                    <a:ext uri="{9D8B030D-6E8A-4147-A177-3AD203B41FA5}">
                      <a16:colId xmlns:a16="http://schemas.microsoft.com/office/drawing/2014/main" val="1477699201"/>
                    </a:ext>
                  </a:extLst>
                </a:gridCol>
                <a:gridCol w="1511299">
                  <a:extLst>
                    <a:ext uri="{9D8B030D-6E8A-4147-A177-3AD203B41FA5}">
                      <a16:colId xmlns:a16="http://schemas.microsoft.com/office/drawing/2014/main" val="3897938436"/>
                    </a:ext>
                  </a:extLst>
                </a:gridCol>
              </a:tblGrid>
              <a:tr h="370840">
                <a:tc>
                  <a:txBody>
                    <a:bodyPr/>
                    <a:lstStyle/>
                    <a:p>
                      <a:r>
                        <a:rPr lang="en-US" dirty="0">
                          <a:solidFill>
                            <a:schemeClr val="tx1"/>
                          </a:solidFill>
                        </a:rPr>
                        <a:t>Commercial Revenue</a:t>
                      </a:r>
                    </a:p>
                  </a:txBody>
                  <a:tcPr>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411" rtl="0" eaLnBrk="1" fontAlgn="auto" latinLnBrk="0" hangingPunct="1">
                        <a:lnSpc>
                          <a:spcPct val="100000"/>
                        </a:lnSpc>
                        <a:spcBef>
                          <a:spcPts val="0"/>
                        </a:spcBef>
                        <a:spcAft>
                          <a:spcPts val="0"/>
                        </a:spcAft>
                        <a:buClrTx/>
                        <a:buSzTx/>
                        <a:buFontTx/>
                        <a:buNone/>
                        <a:tabLst/>
                        <a:defRPr/>
                      </a:pPr>
                      <a:r>
                        <a:rPr lang="en-US" sz="1800" dirty="0">
                          <a:solidFill>
                            <a:schemeClr val="tx1"/>
                          </a:solidFill>
                        </a:rPr>
                        <a:t>$</a:t>
                      </a:r>
                      <a:r>
                        <a:rPr lang="en-US" dirty="0"/>
                        <a:t>4,315,762K</a:t>
                      </a:r>
                      <a:endParaRPr lang="en-US" sz="1800" dirty="0">
                        <a:solidFill>
                          <a:schemeClr val="tx1"/>
                        </a:solidFill>
                      </a:endParaRPr>
                    </a:p>
                  </a:txBody>
                  <a:tcPr>
                    <a:lnL w="12700" cap="flat" cmpd="sng" algn="ctr">
                      <a:solidFill>
                        <a:schemeClr val="bg1">
                          <a:lumMod val="85000"/>
                        </a:schemeClr>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62808004"/>
                  </a:ext>
                </a:extLst>
              </a:tr>
              <a:tr h="370840">
                <a:tc>
                  <a:txBody>
                    <a:bodyPr/>
                    <a:lstStyle/>
                    <a:p>
                      <a:r>
                        <a:rPr lang="en-US" dirty="0">
                          <a:solidFill>
                            <a:schemeClr val="tx1"/>
                          </a:solidFill>
                        </a:rPr>
                        <a:t>Gov-pay revenue at </a:t>
                      </a:r>
                      <a:r>
                        <a:rPr lang="en-US" dirty="0"/>
                        <a:t>233</a:t>
                      </a:r>
                      <a:r>
                        <a:rPr lang="en-US" dirty="0">
                          <a:solidFill>
                            <a:schemeClr val="tx1"/>
                          </a:solidFill>
                        </a:rPr>
                        <a:t>% current rate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a:t>
                      </a:r>
                      <a:r>
                        <a:rPr lang="en-US" dirty="0"/>
                        <a:t>7,247,457K</a:t>
                      </a:r>
                      <a:endParaRPr lang="en-US" dirty="0">
                        <a:solidFill>
                          <a:schemeClr val="tx1"/>
                        </a:solidFill>
                      </a:endParaRP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420689008"/>
                  </a:ext>
                </a:extLst>
              </a:tr>
              <a:tr h="370840">
                <a:tc>
                  <a:txBody>
                    <a:bodyPr/>
                    <a:lstStyle/>
                    <a:p>
                      <a:r>
                        <a:rPr lang="en-US" dirty="0">
                          <a:solidFill>
                            <a:schemeClr val="tx1"/>
                          </a:solidFill>
                        </a:rPr>
                        <a:t>Total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$11,563,219K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002538134"/>
                  </a:ext>
                </a:extLst>
              </a:tr>
              <a:tr h="370840">
                <a:tc>
                  <a:txBody>
                    <a:bodyPr/>
                    <a:lstStyle/>
                    <a:p>
                      <a:r>
                        <a:rPr lang="en-US" dirty="0">
                          <a:solidFill>
                            <a:schemeClr val="tx1"/>
                          </a:solidFill>
                        </a:rPr>
                        <a:t>Total Costs</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a:t>
                      </a:r>
                      <a:r>
                        <a:rPr lang="en-US" sz="1800" dirty="0"/>
                        <a:t>7,317,948</a:t>
                      </a:r>
                      <a:endParaRPr lang="en-US" dirty="0">
                        <a:solidFill>
                          <a:schemeClr val="tx1"/>
                        </a:solidFill>
                      </a:endParaRP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61334033"/>
                  </a:ext>
                </a:extLst>
              </a:tr>
              <a:tr h="370840">
                <a:tc>
                  <a:txBody>
                    <a:bodyPr/>
                    <a:lstStyle/>
                    <a:p>
                      <a:r>
                        <a:rPr lang="en-US" dirty="0">
                          <a:solidFill>
                            <a:schemeClr val="tx1"/>
                          </a:solidFill>
                        </a:rPr>
                        <a:t>Net Income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accent6">
                              <a:lumMod val="75000"/>
                            </a:schemeClr>
                          </a:solidFill>
                        </a:rPr>
                        <a:t>$4,245,270</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855813019"/>
                  </a:ext>
                </a:extLst>
              </a:tr>
              <a:tr h="276861">
                <a:tc>
                  <a:txBody>
                    <a:bodyPr/>
                    <a:lstStyle/>
                    <a:p>
                      <a:endParaRPr lang="en-US" dirty="0">
                        <a:solidFill>
                          <a:schemeClr val="tx1"/>
                        </a:solidFill>
                      </a:endParaRP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tcPr>
                </a:tc>
                <a:tc>
                  <a:txBody>
                    <a:bodyPr/>
                    <a:lstStyle/>
                    <a:p>
                      <a:r>
                        <a:rPr lang="en-US" b="1" dirty="0">
                          <a:solidFill>
                            <a:schemeClr val="accent6">
                              <a:lumMod val="75000"/>
                            </a:schemeClr>
                          </a:solidFill>
                        </a:rPr>
                        <a:t>37%</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2280887445"/>
                  </a:ext>
                </a:extLst>
              </a:tr>
            </a:tbl>
          </a:graphicData>
        </a:graphic>
      </p:graphicFrame>
      <p:graphicFrame>
        <p:nvGraphicFramePr>
          <p:cNvPr id="10" name="Table 11">
            <a:extLst>
              <a:ext uri="{FF2B5EF4-FFF2-40B4-BE49-F238E27FC236}">
                <a16:creationId xmlns:a16="http://schemas.microsoft.com/office/drawing/2014/main" id="{BB254502-CBB2-8520-631D-31E05AB0F371}"/>
              </a:ext>
            </a:extLst>
          </p:cNvPr>
          <p:cNvGraphicFramePr>
            <a:graphicFrameLocks noGrp="1"/>
          </p:cNvGraphicFramePr>
          <p:nvPr>
            <p:extLst>
              <p:ext uri="{D42A27DB-BD31-4B8C-83A1-F6EECF244321}">
                <p14:modId xmlns:p14="http://schemas.microsoft.com/office/powerpoint/2010/main" val="483686367"/>
              </p:ext>
            </p:extLst>
          </p:nvPr>
        </p:nvGraphicFramePr>
        <p:xfrm>
          <a:off x="6611622" y="4079368"/>
          <a:ext cx="3997958" cy="2494280"/>
        </p:xfrm>
        <a:graphic>
          <a:graphicData uri="http://schemas.openxmlformats.org/drawingml/2006/table">
            <a:tbl>
              <a:tblPr bandRow="1">
                <a:tableStyleId>{2D5ABB26-0587-4C30-8999-92F81FD0307C}</a:tableStyleId>
              </a:tblPr>
              <a:tblGrid>
                <a:gridCol w="2486659">
                  <a:extLst>
                    <a:ext uri="{9D8B030D-6E8A-4147-A177-3AD203B41FA5}">
                      <a16:colId xmlns:a16="http://schemas.microsoft.com/office/drawing/2014/main" val="1477699201"/>
                    </a:ext>
                  </a:extLst>
                </a:gridCol>
                <a:gridCol w="1511299">
                  <a:extLst>
                    <a:ext uri="{9D8B030D-6E8A-4147-A177-3AD203B41FA5}">
                      <a16:colId xmlns:a16="http://schemas.microsoft.com/office/drawing/2014/main" val="3897938436"/>
                    </a:ext>
                  </a:extLst>
                </a:gridCol>
              </a:tblGrid>
              <a:tr h="370840">
                <a:tc>
                  <a:txBody>
                    <a:bodyPr/>
                    <a:lstStyle/>
                    <a:p>
                      <a:r>
                        <a:rPr lang="en-US" dirty="0">
                          <a:solidFill>
                            <a:schemeClr val="tx1"/>
                          </a:solidFill>
                        </a:rPr>
                        <a:t>Commercial Revenue Divided by 233%</a:t>
                      </a:r>
                    </a:p>
                  </a:txBody>
                  <a:tcPr>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411" rtl="0" eaLnBrk="1" fontAlgn="auto" latinLnBrk="0" hangingPunct="1">
                        <a:lnSpc>
                          <a:spcPct val="100000"/>
                        </a:lnSpc>
                        <a:spcBef>
                          <a:spcPts val="0"/>
                        </a:spcBef>
                        <a:spcAft>
                          <a:spcPts val="0"/>
                        </a:spcAft>
                        <a:buClrTx/>
                        <a:buSzTx/>
                        <a:buFontTx/>
                        <a:buNone/>
                        <a:tabLst/>
                        <a:defRPr/>
                      </a:pPr>
                      <a:r>
                        <a:rPr lang="en-US" sz="1800" dirty="0">
                          <a:solidFill>
                            <a:schemeClr val="tx1"/>
                          </a:solidFill>
                        </a:rPr>
                        <a:t>$</a:t>
                      </a:r>
                      <a:r>
                        <a:rPr lang="en-US" dirty="0"/>
                        <a:t>1,855,443</a:t>
                      </a:r>
                      <a:endParaRPr lang="en-US" sz="1800" dirty="0">
                        <a:solidFill>
                          <a:schemeClr val="tx1"/>
                        </a:solidFill>
                      </a:endParaRPr>
                    </a:p>
                  </a:txBody>
                  <a:tcPr>
                    <a:lnL w="12700" cap="flat" cmpd="sng" algn="ctr">
                      <a:solidFill>
                        <a:schemeClr val="bg1">
                          <a:lumMod val="85000"/>
                        </a:schemeClr>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62808004"/>
                  </a:ext>
                </a:extLst>
              </a:tr>
              <a:tr h="370840">
                <a:tc>
                  <a:txBody>
                    <a:bodyPr/>
                    <a:lstStyle/>
                    <a:p>
                      <a:r>
                        <a:rPr lang="en-US" dirty="0">
                          <a:solidFill>
                            <a:schemeClr val="tx1"/>
                          </a:solidFill>
                        </a:rPr>
                        <a:t>Gov-pay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$3,115,845</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420689008"/>
                  </a:ext>
                </a:extLst>
              </a:tr>
              <a:tr h="370840">
                <a:tc>
                  <a:txBody>
                    <a:bodyPr/>
                    <a:lstStyle/>
                    <a:p>
                      <a:r>
                        <a:rPr lang="en-US" dirty="0">
                          <a:solidFill>
                            <a:schemeClr val="tx1"/>
                          </a:solidFill>
                        </a:rPr>
                        <a:t>Total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$4,971,289</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002538134"/>
                  </a:ext>
                </a:extLst>
              </a:tr>
              <a:tr h="370840">
                <a:tc>
                  <a:txBody>
                    <a:bodyPr/>
                    <a:lstStyle/>
                    <a:p>
                      <a:r>
                        <a:rPr lang="en-US" dirty="0">
                          <a:solidFill>
                            <a:schemeClr val="tx1"/>
                          </a:solidFill>
                        </a:rPr>
                        <a:t>Total Costs</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$7,317,948</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61334033"/>
                  </a:ext>
                </a:extLst>
              </a:tr>
              <a:tr h="370840">
                <a:tc>
                  <a:txBody>
                    <a:bodyPr/>
                    <a:lstStyle/>
                    <a:p>
                      <a:r>
                        <a:rPr lang="en-US" dirty="0">
                          <a:solidFill>
                            <a:schemeClr val="tx1"/>
                          </a:solidFill>
                        </a:rPr>
                        <a:t>Net Income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accent2">
                              <a:lumMod val="75000"/>
                            </a:schemeClr>
                          </a:solidFill>
                        </a:rPr>
                        <a:t>$-2,346,659</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855813019"/>
                  </a:ext>
                </a:extLst>
              </a:tr>
              <a:tr h="370840">
                <a:tc>
                  <a:txBody>
                    <a:bodyPr/>
                    <a:lstStyle/>
                    <a:p>
                      <a:endParaRPr lang="en-US" dirty="0">
                        <a:solidFill>
                          <a:schemeClr val="tx1"/>
                        </a:solidFill>
                      </a:endParaRP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tcPr>
                </a:tc>
                <a:tc>
                  <a:txBody>
                    <a:bodyPr/>
                    <a:lstStyle/>
                    <a:p>
                      <a:r>
                        <a:rPr lang="en-US" b="1" dirty="0">
                          <a:solidFill>
                            <a:schemeClr val="accent2">
                              <a:lumMod val="75000"/>
                            </a:schemeClr>
                          </a:solidFill>
                        </a:rPr>
                        <a:t>-47%</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2280887445"/>
                  </a:ext>
                </a:extLst>
              </a:tr>
            </a:tbl>
          </a:graphicData>
        </a:graphic>
      </p:graphicFrame>
    </p:spTree>
    <p:extLst>
      <p:ext uri="{BB962C8B-B14F-4D97-AF65-F5344CB8AC3E}">
        <p14:creationId xmlns:p14="http://schemas.microsoft.com/office/powerpoint/2010/main" val="367918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2">
            <a:extLst>
              <a:ext uri="{FF2B5EF4-FFF2-40B4-BE49-F238E27FC236}">
                <a16:creationId xmlns:a16="http://schemas.microsoft.com/office/drawing/2014/main" id="{4E8EAD19-4774-4C90-71AE-EC2459799810}"/>
              </a:ext>
            </a:extLst>
          </p:cNvPr>
          <p:cNvGraphicFramePr>
            <a:graphicFrameLocks noGrp="1"/>
          </p:cNvGraphicFramePr>
          <p:nvPr>
            <p:extLst>
              <p:ext uri="{D42A27DB-BD31-4B8C-83A1-F6EECF244321}">
                <p14:modId xmlns:p14="http://schemas.microsoft.com/office/powerpoint/2010/main" val="245926596"/>
              </p:ext>
            </p:extLst>
          </p:nvPr>
        </p:nvGraphicFramePr>
        <p:xfrm>
          <a:off x="1079500" y="931917"/>
          <a:ext cx="10033000" cy="4873890"/>
        </p:xfrm>
        <a:graphic>
          <a:graphicData uri="http://schemas.openxmlformats.org/drawingml/2006/table">
            <a:tbl>
              <a:tblPr/>
              <a:tblGrid>
                <a:gridCol w="3203988">
                  <a:extLst>
                    <a:ext uri="{9D8B030D-6E8A-4147-A177-3AD203B41FA5}">
                      <a16:colId xmlns:a16="http://schemas.microsoft.com/office/drawing/2014/main" val="20000"/>
                    </a:ext>
                  </a:extLst>
                </a:gridCol>
                <a:gridCol w="955035">
                  <a:extLst>
                    <a:ext uri="{9D8B030D-6E8A-4147-A177-3AD203B41FA5}">
                      <a16:colId xmlns:a16="http://schemas.microsoft.com/office/drawing/2014/main" val="20001"/>
                    </a:ext>
                  </a:extLst>
                </a:gridCol>
                <a:gridCol w="1170688">
                  <a:extLst>
                    <a:ext uri="{9D8B030D-6E8A-4147-A177-3AD203B41FA5}">
                      <a16:colId xmlns:a16="http://schemas.microsoft.com/office/drawing/2014/main" val="20002"/>
                    </a:ext>
                  </a:extLst>
                </a:gridCol>
                <a:gridCol w="1622532">
                  <a:extLst>
                    <a:ext uri="{9D8B030D-6E8A-4147-A177-3AD203B41FA5}">
                      <a16:colId xmlns:a16="http://schemas.microsoft.com/office/drawing/2014/main" val="20003"/>
                    </a:ext>
                  </a:extLst>
                </a:gridCol>
                <a:gridCol w="1458225">
                  <a:extLst>
                    <a:ext uri="{9D8B030D-6E8A-4147-A177-3AD203B41FA5}">
                      <a16:colId xmlns:a16="http://schemas.microsoft.com/office/drawing/2014/main" val="20004"/>
                    </a:ext>
                  </a:extLst>
                </a:gridCol>
                <a:gridCol w="1622532">
                  <a:extLst>
                    <a:ext uri="{9D8B030D-6E8A-4147-A177-3AD203B41FA5}">
                      <a16:colId xmlns:a16="http://schemas.microsoft.com/office/drawing/2014/main" val="20005"/>
                    </a:ext>
                  </a:extLst>
                </a:gridCol>
              </a:tblGrid>
              <a:tr h="745991">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Hospital Name</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dirty="0">
                          <a:solidFill>
                            <a:srgbClr val="000000">
                              <a:alpha val="100000"/>
                            </a:srgbClr>
                          </a:solidFill>
                          <a:latin typeface="Arial"/>
                          <a:cs typeface="Arial"/>
                          <a:sym typeface="Arial"/>
                        </a:rPr>
                        <a:t>Number of Beds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Inpatient Total Charges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Outpatient Total Charges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Inpatient Percent of Market Total</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dirty="0">
                          <a:solidFill>
                            <a:srgbClr val="000000">
                              <a:alpha val="100000"/>
                            </a:srgbClr>
                          </a:solidFill>
                          <a:latin typeface="Arial"/>
                          <a:cs typeface="Arial"/>
                          <a:sym typeface="Arial"/>
                        </a:rPr>
                        <a:t>Outpatient Percent of Market Total (Assuming 56% of Physicians Employed by Hospitals)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extLst>
                  <a:ext uri="{0D108BD9-81ED-4DB2-BD59-A6C34878D82A}">
                    <a16:rowId xmlns:a16="http://schemas.microsoft.com/office/drawing/2014/main" val="10000"/>
                  </a:ext>
                </a:extLst>
              </a:tr>
              <a:tr h="146057">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St Lukes Warren Hospital</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chemeClr val="accent1"/>
                          </a:solidFill>
                          <a:latin typeface="Arial"/>
                          <a:cs typeface="Arial"/>
                          <a:sym typeface="Arial"/>
                        </a:rPr>
                        <a:t>92</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chemeClr val="accent1"/>
                          </a:solidFill>
                          <a:latin typeface="Arial"/>
                          <a:cs typeface="Arial"/>
                          <a:sym typeface="Arial"/>
                        </a:rPr>
                        <a:t>$  368,161.2K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dirty="0">
                          <a:solidFill>
                            <a:schemeClr val="accent1"/>
                          </a:solidFill>
                          <a:latin typeface="Arial"/>
                          <a:cs typeface="Arial"/>
                          <a:sym typeface="Arial"/>
                        </a:rPr>
                        <a:t>$  628,908.6K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2%</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2%</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1"/>
                  </a:ext>
                </a:extLst>
              </a:tr>
              <a:tr h="146057">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St Lukes Quakertown Hospital</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59</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chemeClr val="accent1"/>
                          </a:solidFill>
                          <a:latin typeface="Arial"/>
                          <a:cs typeface="Arial"/>
                          <a:sym typeface="Arial"/>
                        </a:rPr>
                        <a:t>$  279,999.3K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chemeClr val="accent1"/>
                          </a:solidFill>
                          <a:latin typeface="Arial"/>
                          <a:cs typeface="Arial"/>
                          <a:sym typeface="Arial"/>
                        </a:rPr>
                        <a:t>$  443,390.2K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2%</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1%</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2"/>
                  </a:ext>
                </a:extLst>
              </a:tr>
              <a:tr h="146057">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St Luk</a:t>
                      </a:r>
                      <a:r>
                        <a:rPr lang="en-US" sz="1000" b="0" i="0" u="none" cap="none" dirty="0">
                          <a:solidFill>
                            <a:schemeClr val="accent1"/>
                          </a:solidFill>
                          <a:latin typeface="Arial"/>
                          <a:cs typeface="Arial"/>
                          <a:sym typeface="Arial"/>
                        </a:rPr>
                        <a:t>e</a:t>
                      </a:r>
                      <a:r>
                        <a:rPr sz="1000" b="0" i="0" u="none" cap="none" dirty="0">
                          <a:solidFill>
                            <a:schemeClr val="accent1"/>
                          </a:solidFill>
                          <a:latin typeface="Arial"/>
                          <a:cs typeface="Arial"/>
                          <a:sym typeface="Arial"/>
                        </a:rPr>
                        <a:t>s Hospital Bethlehem</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476</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dirty="0">
                          <a:solidFill>
                            <a:schemeClr val="accent1"/>
                          </a:solidFill>
                          <a:latin typeface="Arial"/>
                          <a:cs typeface="Arial"/>
                          <a:sym typeface="Arial"/>
                        </a:rPr>
                        <a:t>$3,198,742.0K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dirty="0">
                          <a:solidFill>
                            <a:schemeClr val="accent1"/>
                          </a:solidFill>
                          <a:latin typeface="Arial"/>
                          <a:cs typeface="Arial"/>
                          <a:sym typeface="Arial"/>
                        </a:rPr>
                        <a:t>$2,640,398.0K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21%</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9%</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3"/>
                  </a:ext>
                </a:extLst>
              </a:tr>
              <a:tr h="146057">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St Lukes Hospital - Easton Campus</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164</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dirty="0">
                          <a:solidFill>
                            <a:schemeClr val="accent1"/>
                          </a:solidFill>
                          <a:latin typeface="Arial"/>
                          <a:cs typeface="Arial"/>
                          <a:sym typeface="Arial"/>
                        </a:rPr>
                        <a:t>$  352,608.5K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dirty="0">
                          <a:solidFill>
                            <a:schemeClr val="accent1"/>
                          </a:solidFill>
                          <a:latin typeface="Arial"/>
                          <a:cs typeface="Arial"/>
                          <a:sym typeface="Arial"/>
                        </a:rPr>
                        <a:t>$  429,718.2K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2%</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1%</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4"/>
                  </a:ext>
                </a:extLst>
              </a:tr>
              <a:tr h="146057">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St Lukes Miners Memorial Hospital</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49</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dirty="0">
                          <a:solidFill>
                            <a:schemeClr val="accent1"/>
                          </a:solidFill>
                          <a:latin typeface="Arial"/>
                          <a:cs typeface="Arial"/>
                          <a:sym typeface="Arial"/>
                        </a:rPr>
                        <a:t>$  122,533.8K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dirty="0">
                          <a:solidFill>
                            <a:schemeClr val="accent1"/>
                          </a:solidFill>
                          <a:latin typeface="Arial"/>
                          <a:cs typeface="Arial"/>
                          <a:sym typeface="Arial"/>
                        </a:rPr>
                        <a:t>$  316,335.6K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1%</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1%</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5"/>
                  </a:ext>
                </a:extLst>
              </a:tr>
              <a:tr h="196226">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St Lukes Hospital - Anderson Campus</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chemeClr val="accent1"/>
                          </a:solidFill>
                          <a:latin typeface="Arial"/>
                          <a:cs typeface="Arial"/>
                          <a:sym typeface="Arial"/>
                        </a:rPr>
                        <a:t>146</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dirty="0">
                          <a:solidFill>
                            <a:schemeClr val="accent1"/>
                          </a:solidFill>
                          <a:latin typeface="Arial"/>
                          <a:cs typeface="Arial"/>
                          <a:sym typeface="Arial"/>
                        </a:rPr>
                        <a:t>$  680,242.5K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solidFill>
                      <a:prstDash val="solid"/>
                      <a:round/>
                      <a:headEnd type="none" w="med" len="med"/>
                      <a:tailEnd type="none" w="med" len="me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dirty="0">
                          <a:solidFill>
                            <a:schemeClr val="accent1"/>
                          </a:solidFill>
                          <a:latin typeface="Arial"/>
                          <a:cs typeface="Arial"/>
                          <a:sym typeface="Arial"/>
                        </a:rPr>
                        <a:t>$1,131,691.6K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solidFill>
                      <a:prstDash val="solid"/>
                      <a:round/>
                      <a:headEnd type="none" w="med" len="med"/>
                      <a:tailEnd type="none" w="med" len="me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4%</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solidFill>
                      <a:prstDash val="solid"/>
                      <a:round/>
                      <a:headEnd type="none" w="med" len="med"/>
                      <a:tailEnd type="none" w="med" len="me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4%</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solidFill>
                      <a:prstDash val="solid"/>
                      <a:round/>
                      <a:headEnd type="none" w="med" len="med"/>
                      <a:tailEnd type="none" w="med" len="med"/>
                    </a:lnB>
                    <a:solidFill>
                      <a:srgbClr val="FFFFFF">
                        <a:alpha val="0"/>
                      </a:srgbClr>
                    </a:solidFill>
                  </a:tcPr>
                </a:tc>
                <a:extLst>
                  <a:ext uri="{0D108BD9-81ED-4DB2-BD59-A6C34878D82A}">
                    <a16:rowId xmlns:a16="http://schemas.microsoft.com/office/drawing/2014/main" val="10006"/>
                  </a:ext>
                </a:extLst>
              </a:tr>
              <a:tr h="146057">
                <a:tc>
                  <a:txBody>
                    <a:bodyPr/>
                    <a:lstStyle/>
                    <a:p>
                      <a:pPr marL="63500" marR="63500" algn="l">
                        <a:lnSpc>
                          <a:spcPct val="100000"/>
                        </a:lnSpc>
                        <a:spcBef>
                          <a:spcPts val="500"/>
                        </a:spcBef>
                        <a:spcAft>
                          <a:spcPts val="500"/>
                        </a:spcAft>
                        <a:buNone/>
                      </a:pPr>
                      <a:r>
                        <a:rPr lang="en-US" sz="1000" b="0" i="0" u="none" kern="1200" cap="none" dirty="0">
                          <a:solidFill>
                            <a:schemeClr val="accent1"/>
                          </a:solidFill>
                          <a:latin typeface="Arial"/>
                          <a:ea typeface="+mn-ea"/>
                          <a:cs typeface="Arial"/>
                          <a:sym typeface="Arial"/>
                        </a:rPr>
                        <a:t>St. Lukes Hospital –Monroe Campus</a:t>
                      </a:r>
                      <a:endParaRPr sz="1000" b="0" i="0" u="none" kern="1200" cap="none" dirty="0">
                        <a:solidFill>
                          <a:schemeClr val="accent1"/>
                        </a:solidFill>
                        <a:latin typeface="Arial"/>
                        <a:ea typeface="+mn-ea"/>
                        <a:cs typeface="Arial"/>
                        <a:sym typeface="Arial"/>
                      </a:endParaRPr>
                    </a:p>
                  </a:txBody>
                  <a:tcPr marL="0" marR="0" marT="18288" marB="18288" anchor="ctr">
                    <a:lnL w="12700" cap="flat" cmpd="sng" algn="ctr">
                      <a:solidFill>
                        <a:srgbClr val="666666">
                          <a:alpha val="100000"/>
                        </a:srgbClr>
                      </a:solidFill>
                      <a:prstDash val="solid"/>
                    </a:lnL>
                    <a:lnR w="12700" cap="flat" cmpd="sng" algn="ctr">
                      <a:solidFill>
                        <a:srgbClr val="666666"/>
                      </a:solidFill>
                      <a:prstDash val="solid"/>
                      <a:round/>
                      <a:headEnd type="none" w="med" len="med"/>
                      <a:tailEnd type="none" w="med" len="med"/>
                    </a:lnR>
                    <a:lnT w="12700" cap="flat" cmpd="sng" algn="ctr">
                      <a:solidFill>
                        <a:srgbClr val="666666">
                          <a:alpha val="100000"/>
                        </a:srgbClr>
                      </a:solidFill>
                      <a:prstDash val="solid"/>
                    </a:lnT>
                    <a:lnB w="12700" cap="flat" cmpd="sng" algn="ctr">
                      <a:solidFill>
                        <a:srgbClr val="666666"/>
                      </a:solidFill>
                      <a:prstDash val="solid"/>
                      <a:round/>
                      <a:headEnd type="none" w="med" len="med"/>
                      <a:tailEnd type="none" w="med" len="med"/>
                    </a:lnB>
                    <a:solidFill>
                      <a:srgbClr val="FFFFFF">
                        <a:alpha val="0"/>
                      </a:srgbClr>
                    </a:solidFill>
                  </a:tcPr>
                </a:tc>
                <a:tc>
                  <a:txBody>
                    <a:bodyPr/>
                    <a:lstStyle/>
                    <a:p>
                      <a:pPr marL="63500" marR="63500" algn="l">
                        <a:lnSpc>
                          <a:spcPct val="100000"/>
                        </a:lnSpc>
                        <a:spcBef>
                          <a:spcPts val="500"/>
                        </a:spcBef>
                        <a:spcAft>
                          <a:spcPts val="500"/>
                        </a:spcAft>
                        <a:buNone/>
                      </a:pPr>
                      <a:r>
                        <a:rPr lang="en-US" sz="1000" b="0" i="0" u="none" kern="1200" cap="none" dirty="0">
                          <a:solidFill>
                            <a:schemeClr val="accent1"/>
                          </a:solidFill>
                          <a:latin typeface="Arial"/>
                          <a:ea typeface="+mn-ea"/>
                          <a:cs typeface="Arial"/>
                          <a:sym typeface="Arial"/>
                        </a:rPr>
                        <a:t>98</a:t>
                      </a:r>
                    </a:p>
                  </a:txBody>
                  <a:tcPr marL="0" marR="0" marT="18288" marB="18288"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alpha val="100000"/>
                        </a:srgbClr>
                      </a:solidFill>
                      <a:prstDash val="solid"/>
                    </a:lnT>
                    <a:lnB w="12700" cap="flat" cmpd="sng" algn="ctr">
                      <a:solidFill>
                        <a:srgbClr val="666666"/>
                      </a:solidFill>
                      <a:prstDash val="solid"/>
                      <a:round/>
                      <a:headEnd type="none" w="med" len="med"/>
                      <a:tailEnd type="none" w="med" len="med"/>
                    </a:lnB>
                    <a:solidFill>
                      <a:srgbClr val="FFFFFF">
                        <a:alpha val="0"/>
                      </a:srgbClr>
                    </a:solidFill>
                  </a:tcPr>
                </a:tc>
                <a:tc>
                  <a:txBody>
                    <a:bodyPr/>
                    <a:lstStyle/>
                    <a:p>
                      <a:pPr marL="63500" marR="63500" algn="r">
                        <a:lnSpc>
                          <a:spcPct val="100000"/>
                        </a:lnSpc>
                        <a:spcBef>
                          <a:spcPts val="500"/>
                        </a:spcBef>
                        <a:spcAft>
                          <a:spcPts val="500"/>
                        </a:spcAft>
                        <a:buNone/>
                      </a:pPr>
                      <a:r>
                        <a:rPr sz="1000" b="0" i="0" u="none" kern="1200" cap="none" dirty="0">
                          <a:solidFill>
                            <a:schemeClr val="accent1"/>
                          </a:solidFill>
                          <a:latin typeface="Arial"/>
                          <a:ea typeface="+mn-ea"/>
                          <a:cs typeface="Arial"/>
                          <a:sym typeface="Arial"/>
                        </a:rPr>
                        <a:t>$  542,096.7K</a:t>
                      </a:r>
                    </a:p>
                  </a:txBody>
                  <a:tcPr marL="0" marR="0" marT="18288" marB="18288"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alpha val="100000"/>
                        </a:srgbClr>
                      </a:solidFill>
                      <a:prstDash val="solid"/>
                    </a:lnT>
                    <a:lnB w="12700" cap="flat" cmpd="sng" algn="ctr">
                      <a:solidFill>
                        <a:srgbClr val="666666"/>
                      </a:solidFill>
                      <a:prstDash val="solid"/>
                      <a:round/>
                      <a:headEnd type="none" w="med" len="med"/>
                      <a:tailEnd type="none" w="med" len="med"/>
                    </a:lnB>
                    <a:solidFill>
                      <a:srgbClr val="FFFFFF">
                        <a:alpha val="0"/>
                      </a:srgbClr>
                    </a:solidFill>
                  </a:tcPr>
                </a:tc>
                <a:tc>
                  <a:txBody>
                    <a:bodyPr/>
                    <a:lstStyle/>
                    <a:p>
                      <a:pPr marL="63500" marR="63500" algn="r">
                        <a:lnSpc>
                          <a:spcPct val="100000"/>
                        </a:lnSpc>
                        <a:spcBef>
                          <a:spcPts val="500"/>
                        </a:spcBef>
                        <a:spcAft>
                          <a:spcPts val="500"/>
                        </a:spcAft>
                        <a:buNone/>
                      </a:pPr>
                      <a:r>
                        <a:rPr sz="1000" b="0" i="0" u="none" kern="1200" cap="none" dirty="0">
                          <a:solidFill>
                            <a:schemeClr val="accent1"/>
                          </a:solidFill>
                          <a:latin typeface="Arial"/>
                          <a:ea typeface="+mn-ea"/>
                          <a:cs typeface="Arial"/>
                          <a:sym typeface="Arial"/>
                        </a:rPr>
                        <a:t>$  704,753.1K</a:t>
                      </a:r>
                    </a:p>
                  </a:txBody>
                  <a:tcPr marL="0" marR="0" marT="18288" marB="18288"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alpha val="100000"/>
                        </a:srgbClr>
                      </a:solidFill>
                      <a:prstDash val="solid"/>
                    </a:lnT>
                    <a:lnB w="12700" cap="flat" cmpd="sng" algn="ctr">
                      <a:solidFill>
                        <a:srgbClr val="666666"/>
                      </a:solidFill>
                      <a:prstDash val="solid"/>
                      <a:round/>
                      <a:headEnd type="none" w="med" len="med"/>
                      <a:tailEnd type="none" w="med" len="med"/>
                    </a:lnB>
                    <a:solidFill>
                      <a:srgbClr val="FFFFFF">
                        <a:alpha val="0"/>
                      </a:srgbClr>
                    </a:solidFill>
                  </a:tcPr>
                </a:tc>
                <a:tc>
                  <a:txBody>
                    <a:bodyPr/>
                    <a:lstStyle/>
                    <a:p>
                      <a:pPr marL="63500" marR="63500" algn="l">
                        <a:lnSpc>
                          <a:spcPct val="100000"/>
                        </a:lnSpc>
                        <a:spcBef>
                          <a:spcPts val="500"/>
                        </a:spcBef>
                        <a:spcAft>
                          <a:spcPts val="500"/>
                        </a:spcAft>
                        <a:buNone/>
                      </a:pPr>
                      <a:r>
                        <a:rPr sz="1000" b="0" i="0" u="none" kern="1200" cap="none" dirty="0">
                          <a:solidFill>
                            <a:schemeClr val="accent1"/>
                          </a:solidFill>
                          <a:latin typeface="Arial"/>
                          <a:ea typeface="+mn-ea"/>
                          <a:cs typeface="Arial"/>
                          <a:sym typeface="Arial"/>
                        </a:rPr>
                        <a:t>4%</a:t>
                      </a:r>
                    </a:p>
                  </a:txBody>
                  <a:tcPr marL="0" marR="0" marT="18288" marB="18288"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alpha val="100000"/>
                        </a:srgbClr>
                      </a:solidFill>
                      <a:prstDash val="solid"/>
                    </a:lnT>
                    <a:lnB w="12700" cap="flat" cmpd="sng" algn="ctr">
                      <a:solidFill>
                        <a:srgbClr val="666666"/>
                      </a:solidFill>
                      <a:prstDash val="solid"/>
                      <a:round/>
                      <a:headEnd type="none" w="med" len="med"/>
                      <a:tailEnd type="none" w="med" len="med"/>
                    </a:lnB>
                    <a:solidFill>
                      <a:srgbClr val="FFFFFF">
                        <a:alpha val="0"/>
                      </a:srgbClr>
                    </a:solidFill>
                  </a:tcPr>
                </a:tc>
                <a:tc>
                  <a:txBody>
                    <a:bodyPr/>
                    <a:lstStyle/>
                    <a:p>
                      <a:pPr marL="63500" marR="63500" algn="l">
                        <a:lnSpc>
                          <a:spcPct val="100000"/>
                        </a:lnSpc>
                        <a:spcBef>
                          <a:spcPts val="500"/>
                        </a:spcBef>
                        <a:spcAft>
                          <a:spcPts val="500"/>
                        </a:spcAft>
                        <a:buNone/>
                      </a:pPr>
                      <a:r>
                        <a:rPr sz="1000" b="0" i="0" u="none" kern="1200" cap="none" dirty="0">
                          <a:solidFill>
                            <a:schemeClr val="accent1"/>
                          </a:solidFill>
                          <a:latin typeface="Arial"/>
                          <a:ea typeface="+mn-ea"/>
                          <a:cs typeface="Arial"/>
                          <a:sym typeface="Arial"/>
                        </a:rPr>
                        <a:t>3%</a:t>
                      </a:r>
                    </a:p>
                  </a:txBody>
                  <a:tcPr marL="0" marR="0" marT="18288" marB="18288" anchor="ctr">
                    <a:lnL w="12700" cap="flat" cmpd="sng" algn="ctr">
                      <a:solidFill>
                        <a:srgbClr val="666666"/>
                      </a:solidFill>
                      <a:prstDash val="solid"/>
                      <a:round/>
                      <a:headEnd type="none" w="med" len="med"/>
                      <a:tailEnd type="none" w="med" len="me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solidFill>
                      <a:prstDash val="solid"/>
                      <a:round/>
                      <a:headEnd type="none" w="med" len="med"/>
                      <a:tailEnd type="none" w="med" len="med"/>
                    </a:lnB>
                    <a:solidFill>
                      <a:srgbClr val="FFFFFF">
                        <a:alpha val="0"/>
                      </a:srgbClr>
                    </a:solidFill>
                  </a:tcPr>
                </a:tc>
                <a:extLst>
                  <a:ext uri="{0D108BD9-81ED-4DB2-BD59-A6C34878D82A}">
                    <a16:rowId xmlns:a16="http://schemas.microsoft.com/office/drawing/2014/main" val="3035165995"/>
                  </a:ext>
                </a:extLst>
              </a:tr>
              <a:tr h="146057">
                <a:tc>
                  <a:txBody>
                    <a:bodyPr/>
                    <a:lstStyle/>
                    <a:p>
                      <a:pPr marL="63500" marR="63500" algn="l">
                        <a:lnSpc>
                          <a:spcPct val="100000"/>
                        </a:lnSpc>
                        <a:spcBef>
                          <a:spcPts val="500"/>
                        </a:spcBef>
                        <a:spcAft>
                          <a:spcPts val="500"/>
                        </a:spcAft>
                        <a:buNone/>
                      </a:pPr>
                      <a:r>
                        <a:rPr lang="en-US" sz="1000" b="0" i="0" u="none" kern="1200" cap="none" dirty="0">
                          <a:solidFill>
                            <a:schemeClr val="accent1"/>
                          </a:solidFill>
                          <a:latin typeface="Arial"/>
                          <a:ea typeface="+mn-ea"/>
                          <a:cs typeface="Arial"/>
                          <a:sym typeface="Arial"/>
                        </a:rPr>
                        <a:t>*St. Lukes Hospital – Carbon County</a:t>
                      </a:r>
                      <a:endParaRPr sz="1000" b="0" i="0" u="none" kern="1200" cap="none" dirty="0">
                        <a:solidFill>
                          <a:schemeClr val="accent1"/>
                        </a:solidFill>
                        <a:latin typeface="Arial"/>
                        <a:ea typeface="+mn-ea"/>
                        <a:cs typeface="Arial"/>
                        <a:sym typeface="Arial"/>
                      </a:endParaRPr>
                    </a:p>
                  </a:txBody>
                  <a:tcPr marL="0" marR="0" marT="18288" marB="18288" anchor="ctr">
                    <a:lnL w="12700" cap="flat" cmpd="sng" algn="ctr">
                      <a:solidFill>
                        <a:srgbClr val="666666">
                          <a:alpha val="100000"/>
                        </a:srgbClr>
                      </a:solidFill>
                      <a:prstDash val="solid"/>
                    </a:lnL>
                    <a:lnR w="12700" cap="flat" cmpd="sng" algn="ctr">
                      <a:solidFill>
                        <a:srgbClr val="666666"/>
                      </a:solidFill>
                      <a:prstDash val="solid"/>
                      <a:round/>
                      <a:headEnd type="none" w="med" len="med"/>
                      <a:tailEnd type="none" w="med" len="med"/>
                    </a:lnR>
                    <a:lnT w="12700" cap="flat" cmpd="sng" algn="ctr">
                      <a:solidFill>
                        <a:srgbClr val="666666">
                          <a:alpha val="100000"/>
                        </a:srgbClr>
                      </a:solidFill>
                      <a:prstDash val="solid"/>
                    </a:lnT>
                    <a:lnB w="12700" cap="flat" cmpd="sng" algn="ctr">
                      <a:solidFill>
                        <a:srgbClr val="666666"/>
                      </a:solidFill>
                      <a:prstDash val="solid"/>
                      <a:round/>
                      <a:headEnd type="none" w="med" len="med"/>
                      <a:tailEnd type="none" w="med" len="med"/>
                    </a:lnB>
                    <a:solidFill>
                      <a:srgbClr val="FFFFFF">
                        <a:alpha val="0"/>
                      </a:srgbClr>
                    </a:solidFill>
                  </a:tcPr>
                </a:tc>
                <a:tc>
                  <a:txBody>
                    <a:bodyPr/>
                    <a:lstStyle/>
                    <a:p>
                      <a:pPr marL="63500" marR="63500" algn="l">
                        <a:lnSpc>
                          <a:spcPct val="100000"/>
                        </a:lnSpc>
                        <a:spcBef>
                          <a:spcPts val="500"/>
                        </a:spcBef>
                        <a:spcAft>
                          <a:spcPts val="500"/>
                        </a:spcAft>
                        <a:buNone/>
                      </a:pPr>
                      <a:r>
                        <a:rPr lang="en-US" sz="1000" b="0" i="0" u="none" kern="1200" cap="none" dirty="0">
                          <a:solidFill>
                            <a:schemeClr val="accent1"/>
                          </a:solidFill>
                          <a:latin typeface="Arial"/>
                          <a:ea typeface="+mn-ea"/>
                          <a:cs typeface="Arial"/>
                          <a:sym typeface="Arial"/>
                        </a:rPr>
                        <a:t>80</a:t>
                      </a:r>
                      <a:endParaRPr sz="1000" b="0" i="0" u="none" kern="1200" cap="none" dirty="0">
                        <a:solidFill>
                          <a:schemeClr val="accent1"/>
                        </a:solidFill>
                        <a:latin typeface="Arial"/>
                        <a:ea typeface="+mn-ea"/>
                        <a:cs typeface="Arial"/>
                        <a:sym typeface="Arial"/>
                      </a:endParaRPr>
                    </a:p>
                  </a:txBody>
                  <a:tcPr marL="0" marR="0" marT="18288" marB="18288"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alpha val="100000"/>
                        </a:srgbClr>
                      </a:solidFill>
                      <a:prstDash val="solid"/>
                    </a:lnT>
                    <a:lnB w="12700" cap="flat" cmpd="sng" algn="ctr">
                      <a:solidFill>
                        <a:srgbClr val="666666"/>
                      </a:solidFill>
                      <a:prstDash val="solid"/>
                      <a:round/>
                      <a:headEnd type="none" w="med" len="med"/>
                      <a:tailEnd type="none" w="med" len="med"/>
                    </a:lnB>
                    <a:solidFill>
                      <a:srgbClr val="FFFFFF">
                        <a:alpha val="0"/>
                      </a:srgbClr>
                    </a:solidFill>
                  </a:tcPr>
                </a:tc>
                <a:tc>
                  <a:txBody>
                    <a:bodyPr/>
                    <a:lstStyle/>
                    <a:p>
                      <a:pPr marL="63500" marR="63500" algn="r">
                        <a:lnSpc>
                          <a:spcPct val="100000"/>
                        </a:lnSpc>
                        <a:spcBef>
                          <a:spcPts val="500"/>
                        </a:spcBef>
                        <a:spcAft>
                          <a:spcPts val="500"/>
                        </a:spcAft>
                        <a:buNone/>
                      </a:pPr>
                      <a:endParaRPr sz="1000" b="0" i="0" u="none" kern="1200" cap="none" dirty="0">
                        <a:solidFill>
                          <a:schemeClr val="accent1"/>
                        </a:solidFill>
                        <a:latin typeface="Arial"/>
                        <a:ea typeface="+mn-ea"/>
                        <a:cs typeface="Arial"/>
                        <a:sym typeface="Arial"/>
                      </a:endParaRPr>
                    </a:p>
                  </a:txBody>
                  <a:tcPr marL="0" marR="0" marT="18288" marB="18288"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FFFFFF">
                        <a:alpha val="0"/>
                      </a:srgbClr>
                    </a:solidFill>
                  </a:tcPr>
                </a:tc>
                <a:tc>
                  <a:txBody>
                    <a:bodyPr/>
                    <a:lstStyle/>
                    <a:p>
                      <a:pPr marL="63500" marR="63500" algn="r">
                        <a:lnSpc>
                          <a:spcPct val="100000"/>
                        </a:lnSpc>
                        <a:spcBef>
                          <a:spcPts val="500"/>
                        </a:spcBef>
                        <a:spcAft>
                          <a:spcPts val="500"/>
                        </a:spcAft>
                        <a:buNone/>
                      </a:pPr>
                      <a:endParaRPr sz="1000" b="0" i="0" u="none" kern="1200" cap="none" dirty="0">
                        <a:solidFill>
                          <a:schemeClr val="accent1"/>
                        </a:solidFill>
                        <a:latin typeface="Arial"/>
                        <a:ea typeface="+mn-ea"/>
                        <a:cs typeface="Arial"/>
                        <a:sym typeface="Arial"/>
                      </a:endParaRPr>
                    </a:p>
                  </a:txBody>
                  <a:tcPr marL="0" marR="0" marT="18288" marB="18288"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FFFFFF">
                        <a:alpha val="0"/>
                      </a:srgbClr>
                    </a:solidFill>
                  </a:tcPr>
                </a:tc>
                <a:tc>
                  <a:txBody>
                    <a:bodyPr/>
                    <a:lstStyle/>
                    <a:p>
                      <a:pPr marL="63500" marR="63500" algn="l">
                        <a:lnSpc>
                          <a:spcPct val="100000"/>
                        </a:lnSpc>
                        <a:spcBef>
                          <a:spcPts val="500"/>
                        </a:spcBef>
                        <a:spcAft>
                          <a:spcPts val="500"/>
                        </a:spcAft>
                        <a:buNone/>
                      </a:pPr>
                      <a:r>
                        <a:rPr lang="en-US" sz="1000" b="0" i="0" u="none" kern="1200" cap="none" dirty="0">
                          <a:solidFill>
                            <a:schemeClr val="accent1"/>
                          </a:solidFill>
                          <a:latin typeface="Arial"/>
                          <a:ea typeface="+mn-ea"/>
                          <a:cs typeface="Arial"/>
                          <a:sym typeface="Arial"/>
                        </a:rPr>
                        <a:t>2%</a:t>
                      </a:r>
                      <a:endParaRPr sz="1000" b="0" i="0" u="none" kern="1200" cap="none" dirty="0">
                        <a:solidFill>
                          <a:schemeClr val="accent1"/>
                        </a:solidFill>
                        <a:latin typeface="Arial"/>
                        <a:ea typeface="+mn-ea"/>
                        <a:cs typeface="Arial"/>
                        <a:sym typeface="Arial"/>
                      </a:endParaRPr>
                    </a:p>
                  </a:txBody>
                  <a:tcPr marL="0" marR="0" marT="18288" marB="18288"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FFFFFF">
                        <a:alpha val="0"/>
                      </a:srgbClr>
                    </a:solidFill>
                  </a:tcPr>
                </a:tc>
                <a:tc>
                  <a:txBody>
                    <a:bodyPr/>
                    <a:lstStyle/>
                    <a:p>
                      <a:pPr marL="63500" marR="63500" algn="l">
                        <a:lnSpc>
                          <a:spcPct val="100000"/>
                        </a:lnSpc>
                        <a:spcBef>
                          <a:spcPts val="500"/>
                        </a:spcBef>
                        <a:spcAft>
                          <a:spcPts val="500"/>
                        </a:spcAft>
                        <a:buNone/>
                      </a:pPr>
                      <a:r>
                        <a:rPr lang="en-US" sz="1000" b="0" i="0" u="none" kern="1200" cap="none" dirty="0">
                          <a:solidFill>
                            <a:schemeClr val="accent1"/>
                          </a:solidFill>
                          <a:latin typeface="Arial"/>
                          <a:ea typeface="+mn-ea"/>
                          <a:cs typeface="Arial"/>
                          <a:sym typeface="Arial"/>
                        </a:rPr>
                        <a:t>2%</a:t>
                      </a:r>
                      <a:endParaRPr sz="1000" b="0" i="0" u="none" kern="1200" cap="none" dirty="0">
                        <a:solidFill>
                          <a:schemeClr val="accent1"/>
                        </a:solidFill>
                        <a:latin typeface="Arial"/>
                        <a:ea typeface="+mn-ea"/>
                        <a:cs typeface="Arial"/>
                        <a:sym typeface="Arial"/>
                      </a:endParaRPr>
                    </a:p>
                  </a:txBody>
                  <a:tcPr marL="0" marR="0" marT="18288" marB="18288" anchor="ctr">
                    <a:lnL w="12700" cap="flat" cmpd="sng" algn="ctr">
                      <a:solidFill>
                        <a:srgbClr val="666666"/>
                      </a:solidFill>
                      <a:prstDash val="solid"/>
                      <a:round/>
                      <a:headEnd type="none" w="med" len="med"/>
                      <a:tailEnd type="none" w="med" len="me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FFFFFF">
                        <a:alpha val="0"/>
                      </a:srgbClr>
                    </a:solidFill>
                  </a:tcPr>
                </a:tc>
                <a:extLst>
                  <a:ext uri="{0D108BD9-81ED-4DB2-BD59-A6C34878D82A}">
                    <a16:rowId xmlns:a16="http://schemas.microsoft.com/office/drawing/2014/main" val="562188481"/>
                  </a:ext>
                </a:extLst>
              </a:tr>
              <a:tr h="146057">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Hunterdon Medical Center</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184</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  301,818.9K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  448,678.7K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2%</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1%</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7"/>
                  </a:ext>
                </a:extLst>
              </a:tr>
              <a:tr h="146057">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Lansdale Hospital</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140</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176,684.4K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164,286.6K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1%</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1%</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8"/>
                  </a:ext>
                </a:extLst>
              </a:tr>
              <a:tr h="146057">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Reading Hospital</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538</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$1,593,063.7K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$1,526,971.0K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10%</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5%</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9"/>
                  </a:ext>
                </a:extLst>
              </a:tr>
              <a:tr h="146057">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Grand View Health</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155</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229,623.2K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316,907.9K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1%</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1%</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0"/>
                  </a:ext>
                </a:extLst>
              </a:tr>
              <a:tr h="146057">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Pottstown Hospital</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183</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465,072.2K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441,982.0K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1%</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1"/>
                  </a:ext>
                </a:extLst>
              </a:tr>
              <a:tr h="240288">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Lehigh Valley Hospital</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endParaRP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$4,967,638.2K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$5,033,370.6K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32%</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17%</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2"/>
                  </a:ext>
                </a:extLst>
              </a:tr>
              <a:tr h="146057">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Lehigh Valley Hospital - Hazleton</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122</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214,053.4K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443,957.1K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1%</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3"/>
                  </a:ext>
                </a:extLst>
              </a:tr>
              <a:tr h="146057">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Lehigh Valley Hospital - Pocono</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217</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473,920.8K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739,891.7K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2%</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4"/>
                  </a:ext>
                </a:extLst>
              </a:tr>
              <a:tr h="146057">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Doylestown Hospital</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239</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482,710.4K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638,299.8K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2%</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5"/>
                  </a:ext>
                </a:extLst>
              </a:tr>
              <a:tr h="146057">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St Mary Medical Center</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348</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836,819.8K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695,324.9K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2%</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6"/>
                  </a:ext>
                </a:extLst>
              </a:tr>
              <a:tr h="146057">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Physicians Care Surgical Hospital</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12</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83,225.4K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88,359.5K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0%</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7"/>
                  </a:ext>
                </a:extLst>
              </a:tr>
              <a:tr h="146057">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St Luke's Hospital - Monroe Campus</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98</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542,096.7K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704,753.1K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2%</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8"/>
                  </a:ext>
                </a:extLst>
              </a:tr>
            </a:tbl>
          </a:graphicData>
        </a:graphic>
      </p:graphicFrame>
      <p:sp>
        <p:nvSpPr>
          <p:cNvPr id="2" name="Title 1">
            <a:extLst>
              <a:ext uri="{FF2B5EF4-FFF2-40B4-BE49-F238E27FC236}">
                <a16:creationId xmlns:a16="http://schemas.microsoft.com/office/drawing/2014/main" id="{BDC7C8AA-0E66-B861-59D6-F381D95EE319}"/>
              </a:ext>
            </a:extLst>
          </p:cNvPr>
          <p:cNvSpPr>
            <a:spLocks noGrp="1"/>
          </p:cNvSpPr>
          <p:nvPr>
            <p:ph type="title"/>
          </p:nvPr>
        </p:nvSpPr>
        <p:spPr>
          <a:xfrm>
            <a:off x="838200" y="-184997"/>
            <a:ext cx="10515600" cy="1325563"/>
          </a:xfrm>
        </p:spPr>
        <p:txBody>
          <a:bodyPr/>
          <a:lstStyle/>
          <a:p>
            <a:r>
              <a:rPr lang="en-US" b="1" dirty="0">
                <a:latin typeface="Arial" panose="020B0604020202020204" pitchFamily="34" charset="0"/>
                <a:cs typeface="Arial" panose="020B0604020202020204" pitchFamily="34" charset="0"/>
              </a:rPr>
              <a:t>Estimating Market Share</a:t>
            </a:r>
          </a:p>
        </p:txBody>
      </p:sp>
      <p:sp>
        <p:nvSpPr>
          <p:cNvPr id="4" name="Footer Placeholder 3">
            <a:extLst>
              <a:ext uri="{FF2B5EF4-FFF2-40B4-BE49-F238E27FC236}">
                <a16:creationId xmlns:a16="http://schemas.microsoft.com/office/drawing/2014/main" id="{E092F34F-7748-D9DB-3EE4-D064EA0B844B}"/>
              </a:ext>
            </a:extLst>
          </p:cNvPr>
          <p:cNvSpPr>
            <a:spLocks noGrp="1"/>
          </p:cNvSpPr>
          <p:nvPr>
            <p:ph type="ftr" sz="quarter" idx="11"/>
          </p:nvPr>
        </p:nvSpPr>
        <p:spPr/>
        <p:txBody>
          <a:bodyPr/>
          <a:lstStyle/>
          <a:p>
            <a:r>
              <a:rPr lang="en-US"/>
              <a:t>Key Benefit Administrators</a:t>
            </a:r>
            <a:endParaRPr lang="en-US" dirty="0"/>
          </a:p>
        </p:txBody>
      </p:sp>
      <p:sp>
        <p:nvSpPr>
          <p:cNvPr id="5" name="Slide Number Placeholder 4">
            <a:extLst>
              <a:ext uri="{FF2B5EF4-FFF2-40B4-BE49-F238E27FC236}">
                <a16:creationId xmlns:a16="http://schemas.microsoft.com/office/drawing/2014/main" id="{D40FF682-D105-5BF8-1FB9-A89C8D2FA780}"/>
              </a:ext>
            </a:extLst>
          </p:cNvPr>
          <p:cNvSpPr>
            <a:spLocks noGrp="1"/>
          </p:cNvSpPr>
          <p:nvPr>
            <p:ph type="sldNum" sz="quarter" idx="12"/>
          </p:nvPr>
        </p:nvSpPr>
        <p:spPr/>
        <p:txBody>
          <a:bodyPr/>
          <a:lstStyle/>
          <a:p>
            <a:fld id="{3AFC719D-C4A7-4544-876E-D411D11AF6C9}" type="slidenum">
              <a:rPr lang="en-US" smtClean="0"/>
              <a:t>28</a:t>
            </a:fld>
            <a:endParaRPr lang="en-US" dirty="0"/>
          </a:p>
        </p:txBody>
      </p:sp>
      <p:sp>
        <p:nvSpPr>
          <p:cNvPr id="10" name="TextBox 9">
            <a:extLst>
              <a:ext uri="{FF2B5EF4-FFF2-40B4-BE49-F238E27FC236}">
                <a16:creationId xmlns:a16="http://schemas.microsoft.com/office/drawing/2014/main" id="{DD333F58-1E5B-D213-65EE-BB627B8B12A8}"/>
              </a:ext>
            </a:extLst>
          </p:cNvPr>
          <p:cNvSpPr txBox="1"/>
          <p:nvPr/>
        </p:nvSpPr>
        <p:spPr>
          <a:xfrm>
            <a:off x="838200" y="5849910"/>
            <a:ext cx="10515600" cy="784830"/>
          </a:xfrm>
          <a:prstGeom prst="rect">
            <a:avLst/>
          </a:prstGeom>
          <a:noFill/>
        </p:spPr>
        <p:txBody>
          <a:bodyPr wrap="square" rtlCol="0">
            <a:spAutoFit/>
          </a:bodyPr>
          <a:lstStyle/>
          <a:p>
            <a:r>
              <a:rPr lang="en-US" sz="900" dirty="0">
                <a:latin typeface="Arial" panose="020B0604020202020204" pitchFamily="34" charset="0"/>
                <a:cs typeface="Arial" panose="020B0604020202020204" pitchFamily="34" charset="0"/>
              </a:rPr>
              <a:t>For outpatient market share, it is estimated that only 56% of local physicians are employed by area hospitals (Research from the Physician Advocacy Institute:  </a:t>
            </a:r>
            <a:r>
              <a:rPr lang="en-US" sz="900" dirty="0">
                <a:latin typeface="Arial" panose="020B0604020202020204" pitchFamily="34" charset="0"/>
                <a:cs typeface="Arial" panose="020B0604020202020204" pitchFamily="34" charset="0"/>
                <a:hlinkClick r:id="rId2"/>
              </a:rPr>
              <a:t>https://www.physiciansadvocacyinstitute.org/Portals/0/assets/docs/PAI-Research/PAI-Avalere%20Physician%20Employment%20Trends%20Study%202019-2023%20Final.pdf?ver=uGHF46u1GSeZgYXMKFyYvw%3d%3d</a:t>
            </a:r>
            <a:r>
              <a:rPr lang="en-US" sz="900" dirty="0">
                <a:latin typeface="Arial" panose="020B0604020202020204" pitchFamily="34" charset="0"/>
                <a:cs typeface="Arial" panose="020B0604020202020204" pitchFamily="34" charset="0"/>
              </a:rPr>
              <a:t>)</a:t>
            </a:r>
          </a:p>
          <a:p>
            <a:r>
              <a:rPr lang="en-US" sz="900" dirty="0">
                <a:latin typeface="Arial" panose="020B0604020202020204" pitchFamily="34" charset="0"/>
                <a:cs typeface="Arial" panose="020B0604020202020204" pitchFamily="34" charset="0"/>
              </a:rPr>
              <a:t>*Inpatient and outpatient charges are not known for St Lukes Hospital – Carbon County because this hospital is not currently included in the Medicare Provider Cost Report. Market share is estimated at 2%, similar to Warren Hospital</a:t>
            </a:r>
          </a:p>
        </p:txBody>
      </p:sp>
    </p:spTree>
    <p:extLst>
      <p:ext uri="{BB962C8B-B14F-4D97-AF65-F5344CB8AC3E}">
        <p14:creationId xmlns:p14="http://schemas.microsoft.com/office/powerpoint/2010/main" val="303492300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Content Placeholder 2">
            <a:extLst>
              <a:ext uri="{FF2B5EF4-FFF2-40B4-BE49-F238E27FC236}">
                <a16:creationId xmlns:a16="http://schemas.microsoft.com/office/drawing/2014/main" id="{415132D4-67E4-39DF-32CA-C066E2D592A6}"/>
              </a:ext>
            </a:extLst>
          </p:cNvPr>
          <p:cNvGraphicFramePr>
            <a:graphicFrameLocks noGrp="1"/>
          </p:cNvGraphicFramePr>
          <p:nvPr>
            <p:extLst>
              <p:ext uri="{D42A27DB-BD31-4B8C-83A1-F6EECF244321}">
                <p14:modId xmlns:p14="http://schemas.microsoft.com/office/powerpoint/2010/main" val="2661146430"/>
              </p:ext>
            </p:extLst>
          </p:nvPr>
        </p:nvGraphicFramePr>
        <p:xfrm>
          <a:off x="0" y="0"/>
          <a:ext cx="12211050" cy="6648443"/>
        </p:xfrm>
        <a:graphic>
          <a:graphicData uri="http://schemas.openxmlformats.org/drawingml/2006/table">
            <a:tbl>
              <a:tblPr/>
              <a:tblGrid>
                <a:gridCol w="1931783">
                  <a:extLst>
                    <a:ext uri="{9D8B030D-6E8A-4147-A177-3AD203B41FA5}">
                      <a16:colId xmlns:a16="http://schemas.microsoft.com/office/drawing/2014/main" val="20000"/>
                    </a:ext>
                  </a:extLst>
                </a:gridCol>
                <a:gridCol w="1320106">
                  <a:extLst>
                    <a:ext uri="{9D8B030D-6E8A-4147-A177-3AD203B41FA5}">
                      <a16:colId xmlns:a16="http://schemas.microsoft.com/office/drawing/2014/main" val="20001"/>
                    </a:ext>
                  </a:extLst>
                </a:gridCol>
                <a:gridCol w="1688424">
                  <a:extLst>
                    <a:ext uri="{9D8B030D-6E8A-4147-A177-3AD203B41FA5}">
                      <a16:colId xmlns:a16="http://schemas.microsoft.com/office/drawing/2014/main" val="20002"/>
                    </a:ext>
                  </a:extLst>
                </a:gridCol>
                <a:gridCol w="1432101">
                  <a:extLst>
                    <a:ext uri="{9D8B030D-6E8A-4147-A177-3AD203B41FA5}">
                      <a16:colId xmlns:a16="http://schemas.microsoft.com/office/drawing/2014/main" val="20003"/>
                    </a:ext>
                  </a:extLst>
                </a:gridCol>
                <a:gridCol w="1553316">
                  <a:extLst>
                    <a:ext uri="{9D8B030D-6E8A-4147-A177-3AD203B41FA5}">
                      <a16:colId xmlns:a16="http://schemas.microsoft.com/office/drawing/2014/main" val="20004"/>
                    </a:ext>
                  </a:extLst>
                </a:gridCol>
                <a:gridCol w="1180204">
                  <a:extLst>
                    <a:ext uri="{9D8B030D-6E8A-4147-A177-3AD203B41FA5}">
                      <a16:colId xmlns:a16="http://schemas.microsoft.com/office/drawing/2014/main" val="20005"/>
                    </a:ext>
                  </a:extLst>
                </a:gridCol>
                <a:gridCol w="1576551">
                  <a:extLst>
                    <a:ext uri="{9D8B030D-6E8A-4147-A177-3AD203B41FA5}">
                      <a16:colId xmlns:a16="http://schemas.microsoft.com/office/drawing/2014/main" val="20006"/>
                    </a:ext>
                  </a:extLst>
                </a:gridCol>
                <a:gridCol w="1528565">
                  <a:extLst>
                    <a:ext uri="{9D8B030D-6E8A-4147-A177-3AD203B41FA5}">
                      <a16:colId xmlns:a16="http://schemas.microsoft.com/office/drawing/2014/main" val="20007"/>
                    </a:ext>
                  </a:extLst>
                </a:gridCol>
              </a:tblGrid>
              <a:tr h="206546">
                <a:tc gridSpan="8">
                  <a:txBody>
                    <a:bodyPr/>
                    <a:lstStyle/>
                    <a:p>
                      <a:pPr marL="63500" marR="63500" algn="ctr">
                        <a:lnSpc>
                          <a:spcPct val="100000"/>
                        </a:lnSpc>
                        <a:spcBef>
                          <a:spcPts val="500"/>
                        </a:spcBef>
                        <a:spcAft>
                          <a:spcPts val="500"/>
                        </a:spcAft>
                        <a:buNone/>
                      </a:pPr>
                      <a:r>
                        <a:rPr sz="1100" b="1" i="0" u="none" cap="none" dirty="0">
                          <a:solidFill>
                            <a:srgbClr val="000000">
                              <a:alpha val="100000"/>
                            </a:srgbClr>
                          </a:solidFill>
                          <a:latin typeface="Arial"/>
                          <a:cs typeface="Arial"/>
                          <a:sym typeface="Arial"/>
                        </a:rPr>
                        <a:t>Hospital Metrics</a:t>
                      </a:r>
                    </a:p>
                  </a:txBody>
                  <a:tcPr marL="0" marR="0" marT="9144" marB="9144"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579007">
                <a:tc>
                  <a:txBody>
                    <a:bodyPr/>
                    <a:lstStyle/>
                    <a:p>
                      <a:pPr marL="63500" marR="63500" algn="ctr">
                        <a:lnSpc>
                          <a:spcPct val="100000"/>
                        </a:lnSpc>
                        <a:spcBef>
                          <a:spcPts val="500"/>
                        </a:spcBef>
                        <a:spcAft>
                          <a:spcPts val="500"/>
                        </a:spcAft>
                        <a:buNone/>
                      </a:pPr>
                      <a:r>
                        <a:rPr sz="1100" b="1" i="0" u="none" cap="none" dirty="0">
                          <a:solidFill>
                            <a:srgbClr val="000000">
                              <a:alpha val="100000"/>
                            </a:srgbClr>
                          </a:solidFill>
                          <a:latin typeface="Arial"/>
                          <a:cs typeface="Arial"/>
                          <a:sym typeface="Arial"/>
                        </a:rPr>
                        <a:t>Metric</a:t>
                      </a:r>
                    </a:p>
                  </a:txBody>
                  <a:tcPr marL="0" marR="0" marT="9144" marB="9144"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St Luke's Hospital Bethlehem</a:t>
                      </a:r>
                    </a:p>
                  </a:txBody>
                  <a:tcPr marL="0" marR="0" marT="9144" marB="9144"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St Luke's Hospital - Anderson Campus</a:t>
                      </a:r>
                    </a:p>
                  </a:txBody>
                  <a:tcPr marL="0" marR="0" marT="9144" marB="9144"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St. Luke's Upper Bucks Campus</a:t>
                      </a:r>
                    </a:p>
                  </a:txBody>
                  <a:tcPr marL="0" marR="0" marT="9144" marB="9144"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St Luke's Miners Memorial Hospital</a:t>
                      </a:r>
                    </a:p>
                  </a:txBody>
                  <a:tcPr marL="0" marR="0" marT="9144" marB="9144"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St Luke's Warren Hospital</a:t>
                      </a:r>
                    </a:p>
                  </a:txBody>
                  <a:tcPr marL="0" marR="0" marT="9144" marB="9144"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St Luke's Hospital - Easton Campus</a:t>
                      </a:r>
                    </a:p>
                  </a:txBody>
                  <a:tcPr marL="0" marR="0" marT="9144" marB="9144"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dirty="0">
                          <a:solidFill>
                            <a:srgbClr val="000000">
                              <a:alpha val="100000"/>
                            </a:srgbClr>
                          </a:solidFill>
                          <a:latin typeface="Arial"/>
                          <a:cs typeface="Arial"/>
                          <a:sym typeface="Arial"/>
                        </a:rPr>
                        <a:t>St Lukes Hospital Monroe Campus</a:t>
                      </a:r>
                    </a:p>
                  </a:txBody>
                  <a:tcPr marL="0" marR="0" marT="9144" marB="9144"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1"/>
                  </a:ext>
                </a:extLst>
              </a:tr>
              <a:tr h="172686">
                <a:tc>
                  <a:txBody>
                    <a:bodyPr/>
                    <a:lstStyle/>
                    <a:p>
                      <a:pPr marL="63500" marR="63500" algn="l">
                        <a:lnSpc>
                          <a:spcPct val="100000"/>
                        </a:lnSpc>
                        <a:spcBef>
                          <a:spcPts val="500"/>
                        </a:spcBef>
                        <a:spcAft>
                          <a:spcPts val="500"/>
                        </a:spcAft>
                        <a:buNone/>
                      </a:pPr>
                      <a:r>
                        <a:rPr sz="900" b="0" i="0" u="none" cap="none" dirty="0">
                          <a:solidFill>
                            <a:srgbClr val="000000">
                              <a:alpha val="100000"/>
                            </a:srgbClr>
                          </a:solidFill>
                          <a:latin typeface="Arial"/>
                          <a:cs typeface="Arial"/>
                          <a:sym typeface="Arial"/>
                        </a:rPr>
                        <a:t>Total Hospital Days</a:t>
                      </a:r>
                    </a:p>
                  </a:txBody>
                  <a:tcPr marL="0" marR="0" marT="9144" marB="9144"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175,348</a:t>
                      </a:r>
                    </a:p>
                  </a:txBody>
                  <a:tcPr marL="0" marR="0" marT="9144" marB="9144"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50,266</a:t>
                      </a:r>
                    </a:p>
                  </a:txBody>
                  <a:tcPr marL="0" marR="0" marT="9144" marB="9144"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22,200</a:t>
                      </a:r>
                    </a:p>
                  </a:txBody>
                  <a:tcPr marL="0" marR="0" marT="9144" marB="9144"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10,032</a:t>
                      </a:r>
                    </a:p>
                  </a:txBody>
                  <a:tcPr marL="0" marR="0" marT="9144" marB="9144"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19,488</a:t>
                      </a:r>
                    </a:p>
                  </a:txBody>
                  <a:tcPr marL="0" marR="0" marT="9144" marB="9144"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4,553</a:t>
                      </a:r>
                    </a:p>
                  </a:txBody>
                  <a:tcPr marL="0" marR="0" marT="9144" marB="9144"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33,774</a:t>
                      </a:r>
                    </a:p>
                  </a:txBody>
                  <a:tcPr marL="0" marR="0" marT="9144" marB="9144"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5F5F0">
                        <a:alpha val="100000"/>
                      </a:srgbClr>
                    </a:solidFill>
                  </a:tcPr>
                </a:tc>
                <a:extLst>
                  <a:ext uri="{0D108BD9-81ED-4DB2-BD59-A6C34878D82A}">
                    <a16:rowId xmlns:a16="http://schemas.microsoft.com/office/drawing/2014/main" val="10002"/>
                  </a:ext>
                </a:extLst>
              </a:tr>
              <a:tr h="172686">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Total Medicare Days</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dirty="0">
                          <a:solidFill>
                            <a:srgbClr val="000000">
                              <a:alpha val="100000"/>
                            </a:srgbClr>
                          </a:solidFill>
                          <a:latin typeface="Arial"/>
                          <a:cs typeface="Arial"/>
                          <a:sym typeface="Arial"/>
                        </a:rPr>
                        <a:t>52,829</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15,729</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6,831</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4,324</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8,271</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1,739</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12,179</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03"/>
                  </a:ext>
                </a:extLst>
              </a:tr>
              <a:tr h="172686">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Total Medicaid Days</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11,581</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4,726</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1,513</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210</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653</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139</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1,492</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04"/>
                  </a:ext>
                </a:extLst>
              </a:tr>
              <a:tr h="325056">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Total Other Government Payer Days</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dirty="0">
                          <a:solidFill>
                            <a:srgbClr val="000000">
                              <a:alpha val="100000"/>
                            </a:srgbClr>
                          </a:solidFill>
                          <a:latin typeface="Arial"/>
                          <a:cs typeface="Arial"/>
                          <a:sym typeface="Arial"/>
                        </a:rPr>
                        <a:t>0</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0</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0</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0</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0</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0</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0</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extLst>
                  <a:ext uri="{0D108BD9-81ED-4DB2-BD59-A6C34878D82A}">
                    <a16:rowId xmlns:a16="http://schemas.microsoft.com/office/drawing/2014/main" val="10005"/>
                  </a:ext>
                </a:extLst>
              </a:tr>
              <a:tr h="172686">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Total Inpatient Patient Revenue</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$4,405,903K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dirty="0">
                          <a:solidFill>
                            <a:srgbClr val="000000">
                              <a:alpha val="100000"/>
                            </a:srgbClr>
                          </a:solidFill>
                          <a:latin typeface="Arial"/>
                          <a:cs typeface="Arial"/>
                          <a:sym typeface="Arial"/>
                        </a:rPr>
                        <a:t>$1,147,293K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$445,030.1K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$148,635.9K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$476,397.8K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$95,781.93K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$712,566.3K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6"/>
                  </a:ext>
                </a:extLst>
              </a:tr>
              <a:tr h="210363">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Total Outpatient Patient Revenue</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$4,200,213K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$1,399,166K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$622,566.5K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$391,107.5K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$893,500.7K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$266,747.9K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$964,344.9K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7"/>
                  </a:ext>
                </a:extLst>
              </a:tr>
              <a:tr h="172686">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Total Medicare Revenue</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$1,429,700K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dirty="0">
                          <a:solidFill>
                            <a:srgbClr val="000000">
                              <a:alpha val="100000"/>
                            </a:srgbClr>
                          </a:solidFill>
                          <a:latin typeface="Arial"/>
                          <a:cs typeface="Arial"/>
                          <a:sym typeface="Arial"/>
                        </a:rPr>
                        <a:t>$388,982.3K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$180,820.5K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$54,446.66K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$201,411.5K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$35,132.22K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$254,061.4K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8"/>
                  </a:ext>
                </a:extLst>
              </a:tr>
              <a:tr h="325056">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Estimated Medicaid and Other Government-Pay Revenue</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$337,708.1K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$125,411.7K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$43,999.84K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$4,049.943K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$18,222.38K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$4,162.523K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$37,736.93K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9"/>
                  </a:ext>
                </a:extLst>
              </a:tr>
              <a:tr h="210363">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Estimated Commercial Revenue</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$2,638,495K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$632,899K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dirty="0">
                          <a:solidFill>
                            <a:srgbClr val="000000">
                              <a:alpha val="100000"/>
                            </a:srgbClr>
                          </a:solidFill>
                          <a:latin typeface="Arial"/>
                          <a:cs typeface="Arial"/>
                          <a:sym typeface="Arial"/>
                        </a:rPr>
                        <a:t>$220,209.8K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$90,139.27K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$256,763.9K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$56,487.18K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$420,768K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10"/>
                  </a:ext>
                </a:extLst>
              </a:tr>
              <a:tr h="172686">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Total Uncompensated Care</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$44,285.54K</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$17,607.8K</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$7,224.374K</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$6,073.798K</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$6,732.363K</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$5,417.753K</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$15,888.7K</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extLst>
                  <a:ext uri="{0D108BD9-81ED-4DB2-BD59-A6C34878D82A}">
                    <a16:rowId xmlns:a16="http://schemas.microsoft.com/office/drawing/2014/main" val="10011"/>
                  </a:ext>
                </a:extLst>
              </a:tr>
              <a:tr h="172686">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Estimated Inpatient Costs</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$4,331,130K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$1,120,753K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$444,925.3K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$146,792.1K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$467,292.5K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$97,195.85K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$709,859.5K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extLst>
                  <a:ext uri="{0D108BD9-81ED-4DB2-BD59-A6C34878D82A}">
                    <a16:rowId xmlns:a16="http://schemas.microsoft.com/office/drawing/2014/main" val="10012"/>
                  </a:ext>
                </a:extLst>
              </a:tr>
              <a:tr h="172686">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Estimated Outpatient Costs</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$4,128,932K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$1,366,800K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$622,419.8K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$386,255.9K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$876,423.4K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$270,685.6K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$960,681.8K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extLst>
                  <a:ext uri="{0D108BD9-81ED-4DB2-BD59-A6C34878D82A}">
                    <a16:rowId xmlns:a16="http://schemas.microsoft.com/office/drawing/2014/main" val="10013"/>
                  </a:ext>
                </a:extLst>
              </a:tr>
              <a:tr h="172686">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Estimated Total Costs</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$8,460,062K</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$2,487,552K</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$1,067,345K</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dirty="0">
                          <a:solidFill>
                            <a:srgbClr val="000000">
                              <a:alpha val="100000"/>
                            </a:srgbClr>
                          </a:solidFill>
                          <a:latin typeface="Arial"/>
                          <a:cs typeface="Arial"/>
                          <a:sym typeface="Arial"/>
                        </a:rPr>
                        <a:t>$533,048K</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$1,343,716K</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$367,881.4K</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$1,670,541K</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extLst>
                  <a:ext uri="{0D108BD9-81ED-4DB2-BD59-A6C34878D82A}">
                    <a16:rowId xmlns:a16="http://schemas.microsoft.com/office/drawing/2014/main" val="10014"/>
                  </a:ext>
                </a:extLst>
              </a:tr>
              <a:tr h="172686">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Net Income</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$190,339.8K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$76,514.7K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$7,475.856K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$12,769.15K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$32,914.92K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$66.121K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$22,258.59K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extLst>
                  <a:ext uri="{0D108BD9-81ED-4DB2-BD59-A6C34878D82A}">
                    <a16:rowId xmlns:a16="http://schemas.microsoft.com/office/drawing/2014/main" val="10015"/>
                  </a:ext>
                </a:extLst>
              </a:tr>
              <a:tr h="325056">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Estimated Payer Mix Percent Medicare</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30.1%</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31.3%</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30.8%</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dirty="0">
                          <a:solidFill>
                            <a:srgbClr val="000000">
                              <a:alpha val="100000"/>
                            </a:srgbClr>
                          </a:solidFill>
                          <a:latin typeface="Arial"/>
                          <a:cs typeface="Arial"/>
                          <a:sym typeface="Arial"/>
                        </a:rPr>
                        <a:t>43.1%</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42.4%</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38.2%</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36.1%</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6"/>
                  </a:ext>
                </a:extLst>
              </a:tr>
              <a:tr h="325056">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Estimated Payer Mix Percent Medicaid</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6.6%</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9.4%</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6.8%</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2.1%</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3.4%</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3.1%</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4.4%</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7"/>
                  </a:ext>
                </a:extLst>
              </a:tr>
              <a:tr h="325056">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Estimated Payer Mix Percent Other Government-Pay</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0.0%</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0.0%</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0.0%</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0.0%</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0.0%</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0.0%</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0.0%</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8"/>
                  </a:ext>
                </a:extLst>
              </a:tr>
              <a:tr h="172686">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Payer Mix Percent No Pay</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0.5%</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0.7%</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0.7%</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1.1%</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0.5%</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1.5%</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0.9%</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9"/>
                  </a:ext>
                </a:extLst>
              </a:tr>
              <a:tr h="325056">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Estimated Payer Mix Percent Commerical</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62.8%</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58.6%</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61.7%</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53.7%</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dirty="0">
                          <a:solidFill>
                            <a:srgbClr val="000000">
                              <a:alpha val="100000"/>
                            </a:srgbClr>
                          </a:solidFill>
                          <a:latin typeface="Arial"/>
                          <a:cs typeface="Arial"/>
                          <a:sym typeface="Arial"/>
                        </a:rPr>
                        <a:t>53.7%</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57.3%</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58.6%</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extLst>
                  <a:ext uri="{0D108BD9-81ED-4DB2-BD59-A6C34878D82A}">
                    <a16:rowId xmlns:a16="http://schemas.microsoft.com/office/drawing/2014/main" val="10020"/>
                  </a:ext>
                </a:extLst>
              </a:tr>
              <a:tr h="325056">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Estimated Inpatient Commercial Profit Margin</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35.8%</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38.7%</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40.1%</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35.1%</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39.1%</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34.3%</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35.4%</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extLst>
                  <a:ext uri="{0D108BD9-81ED-4DB2-BD59-A6C34878D82A}">
                    <a16:rowId xmlns:a16="http://schemas.microsoft.com/office/drawing/2014/main" val="10021"/>
                  </a:ext>
                </a:extLst>
              </a:tr>
              <a:tr h="210363">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Estimated Inpatient Market Share</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23.7%</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5.0%</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2.1%</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0.9%</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2.7%</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2.6%</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4.0%</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22"/>
                  </a:ext>
                </a:extLst>
              </a:tr>
              <a:tr h="210363">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Estimated Outpatient Market Share</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 9.8%</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4.2%</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1.6%</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1.2%</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dirty="0">
                          <a:solidFill>
                            <a:srgbClr val="000000">
                              <a:alpha val="100000"/>
                            </a:srgbClr>
                          </a:solidFill>
                          <a:latin typeface="Arial"/>
                          <a:cs typeface="Arial"/>
                          <a:sym typeface="Arial"/>
                        </a:rPr>
                        <a:t>2.3%</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1.6%</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2.6%</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23"/>
                  </a:ext>
                </a:extLst>
              </a:tr>
              <a:tr h="291196">
                <a:tc>
                  <a:txBody>
                    <a:bodyPr/>
                    <a:lstStyle/>
                    <a:p>
                      <a:pPr marL="63500" marR="63500" algn="l">
                        <a:lnSpc>
                          <a:spcPct val="100000"/>
                        </a:lnSpc>
                        <a:spcBef>
                          <a:spcPts val="500"/>
                        </a:spcBef>
                        <a:spcAft>
                          <a:spcPts val="500"/>
                        </a:spcAft>
                        <a:buNone/>
                      </a:pPr>
                      <a:endParaRPr sz="1600"/>
                    </a:p>
                  </a:txBody>
                  <a:tcPr marL="0" marR="0" marT="9144" marB="9144" anchor="ctr">
                    <a:lnL w="0" cap="flat" cmpd="sng" algn="ctr">
                      <a:noFill/>
                      <a:prstDash val="solid"/>
                    </a:lnL>
                    <a:lnR w="0" cap="flat" cmpd="sng" algn="ctr">
                      <a:noFill/>
                      <a:prstDash val="solid"/>
                    </a:lnR>
                    <a:lnT w="0" cap="flat" cmpd="sng" algn="ctr">
                      <a:noFill/>
                      <a:prstDash val="solid"/>
                    </a:lnT>
                    <a:lnB w="19050" cap="flat" cmpd="sng" algn="ctr">
                      <a:solidFill>
                        <a:srgbClr val="666666">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NA%</a:t>
                      </a:r>
                    </a:p>
                  </a:txBody>
                  <a:tcPr marL="0" marR="0" marT="9144" marB="9144" anchor="ctr">
                    <a:lnL w="0" cap="flat" cmpd="sng" algn="ctr">
                      <a:noFill/>
                      <a:prstDash val="solid"/>
                    </a:lnL>
                    <a:lnR w="0" cap="flat" cmpd="sng" algn="ctr">
                      <a:noFill/>
                      <a:prstDash val="solid"/>
                    </a:lnR>
                    <a:lnT w="0" cap="flat" cmpd="sng" algn="ctr">
                      <a:noFill/>
                      <a:prstDash val="solid"/>
                    </a:lnT>
                    <a:lnB w="19050" cap="flat" cmpd="sng" algn="ctr">
                      <a:solidFill>
                        <a:srgbClr val="666666">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NA%</a:t>
                      </a:r>
                    </a:p>
                  </a:txBody>
                  <a:tcPr marL="0" marR="0" marT="9144" marB="9144" anchor="ctr">
                    <a:lnL w="0" cap="flat" cmpd="sng" algn="ctr">
                      <a:noFill/>
                      <a:prstDash val="solid"/>
                    </a:lnL>
                    <a:lnR w="0" cap="flat" cmpd="sng" algn="ctr">
                      <a:noFill/>
                      <a:prstDash val="solid"/>
                    </a:lnR>
                    <a:lnT w="0" cap="flat" cmpd="sng" algn="ctr">
                      <a:noFill/>
                      <a:prstDash val="solid"/>
                    </a:lnT>
                    <a:lnB w="19050" cap="flat" cmpd="sng" algn="ctr">
                      <a:solidFill>
                        <a:srgbClr val="666666">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NA%</a:t>
                      </a:r>
                    </a:p>
                  </a:txBody>
                  <a:tcPr marL="0" marR="0" marT="9144" marB="9144" anchor="ctr">
                    <a:lnL w="0" cap="flat" cmpd="sng" algn="ctr">
                      <a:noFill/>
                      <a:prstDash val="solid"/>
                    </a:lnL>
                    <a:lnR w="0" cap="flat" cmpd="sng" algn="ctr">
                      <a:noFill/>
                      <a:prstDash val="solid"/>
                    </a:lnR>
                    <a:lnT w="0" cap="flat" cmpd="sng" algn="ctr">
                      <a:noFill/>
                      <a:prstDash val="solid"/>
                    </a:lnT>
                    <a:lnB w="19050" cap="flat" cmpd="sng" algn="ctr">
                      <a:solidFill>
                        <a:srgbClr val="666666">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NA%</a:t>
                      </a:r>
                    </a:p>
                  </a:txBody>
                  <a:tcPr marL="0" marR="0" marT="9144" marB="9144" anchor="ctr">
                    <a:lnL w="0" cap="flat" cmpd="sng" algn="ctr">
                      <a:noFill/>
                      <a:prstDash val="solid"/>
                    </a:lnL>
                    <a:lnR w="0" cap="flat" cmpd="sng" algn="ctr">
                      <a:noFill/>
                      <a:prstDash val="solid"/>
                    </a:lnR>
                    <a:lnT w="0" cap="flat" cmpd="sng" algn="ctr">
                      <a:noFill/>
                      <a:prstDash val="solid"/>
                    </a:lnT>
                    <a:lnB w="19050" cap="flat" cmpd="sng" algn="ctr">
                      <a:solidFill>
                        <a:srgbClr val="666666">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NA%</a:t>
                      </a:r>
                    </a:p>
                  </a:txBody>
                  <a:tcPr marL="0" marR="0" marT="9144" marB="9144" anchor="ctr">
                    <a:lnL w="0" cap="flat" cmpd="sng" algn="ctr">
                      <a:noFill/>
                      <a:prstDash val="solid"/>
                    </a:lnL>
                    <a:lnR w="0" cap="flat" cmpd="sng" algn="ctr">
                      <a:noFill/>
                      <a:prstDash val="solid"/>
                    </a:lnR>
                    <a:lnT w="0" cap="flat" cmpd="sng" algn="ctr">
                      <a:noFill/>
                      <a:prstDash val="solid"/>
                    </a:lnT>
                    <a:lnB w="19050" cap="flat" cmpd="sng" algn="ctr">
                      <a:solidFill>
                        <a:srgbClr val="666666">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NA%</a:t>
                      </a:r>
                    </a:p>
                  </a:txBody>
                  <a:tcPr marL="0" marR="0" marT="9144" marB="9144" anchor="ctr">
                    <a:lnL w="0" cap="flat" cmpd="sng" algn="ctr">
                      <a:noFill/>
                      <a:prstDash val="solid"/>
                    </a:lnL>
                    <a:lnR w="0" cap="flat" cmpd="sng" algn="ctr">
                      <a:noFill/>
                      <a:prstDash val="solid"/>
                    </a:lnR>
                    <a:lnT w="0" cap="flat" cmpd="sng" algn="ctr">
                      <a:noFill/>
                      <a:prstDash val="solid"/>
                    </a:lnT>
                    <a:lnB w="19050" cap="flat" cmpd="sng" algn="ctr">
                      <a:solidFill>
                        <a:srgbClr val="666666">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Arial"/>
                          <a:cs typeface="Arial"/>
                          <a:sym typeface="Arial"/>
                        </a:rPr>
                        <a:t>NA%</a:t>
                      </a:r>
                    </a:p>
                  </a:txBody>
                  <a:tcPr marL="0" marR="0" marT="9144" marB="9144" anchor="ctr">
                    <a:lnL w="0" cap="flat" cmpd="sng" algn="ctr">
                      <a:noFill/>
                      <a:prstDash val="solid"/>
                    </a:lnL>
                    <a:lnR w="0" cap="flat" cmpd="sng" algn="ctr">
                      <a:noFill/>
                      <a:prstDash val="solid"/>
                    </a:lnR>
                    <a:lnT w="0" cap="flat" cmpd="sng" algn="ctr">
                      <a:noFill/>
                      <a:prstDash val="solid"/>
                    </a:lnT>
                    <a:lnB w="19050" cap="flat" cmpd="sng" algn="ctr">
                      <a:solidFill>
                        <a:srgbClr val="666666">
                          <a:alpha val="100000"/>
                        </a:srgbClr>
                      </a:solidFill>
                      <a:prstDash val="solid"/>
                    </a:lnB>
                    <a:solidFill>
                      <a:srgbClr val="F0F5F5">
                        <a:alpha val="100000"/>
                      </a:srgbClr>
                    </a:solidFill>
                  </a:tcPr>
                </a:tc>
                <a:extLst>
                  <a:ext uri="{0D108BD9-81ED-4DB2-BD59-A6C34878D82A}">
                    <a16:rowId xmlns:a16="http://schemas.microsoft.com/office/drawing/2014/main" val="10024"/>
                  </a:ext>
                </a:extLst>
              </a:tr>
              <a:tr h="138826">
                <a:tc gridSpan="8">
                  <a:txBody>
                    <a:bodyPr/>
                    <a:lstStyle/>
                    <a:p>
                      <a:pPr marL="63500" marR="63500" algn="l">
                        <a:lnSpc>
                          <a:spcPct val="100000"/>
                        </a:lnSpc>
                        <a:spcBef>
                          <a:spcPts val="500"/>
                        </a:spcBef>
                        <a:spcAft>
                          <a:spcPts val="500"/>
                        </a:spcAft>
                        <a:buNone/>
                      </a:pPr>
                      <a:r>
                        <a:rPr sz="700" b="0" i="0" u="none" cap="none" dirty="0">
                          <a:solidFill>
                            <a:srgbClr val="666666">
                              <a:alpha val="100000"/>
                            </a:srgbClr>
                          </a:solidFill>
                          <a:latin typeface="Arial"/>
                          <a:cs typeface="Arial"/>
                          <a:sym typeface="Arial"/>
                        </a:rPr>
                        <a:t>1. Most data is taken from the CMS provider cost report</a:t>
                      </a:r>
                      <a:r>
                        <a:rPr lang="en-US" sz="700" b="0" i="0" u="none" cap="none" dirty="0">
                          <a:solidFill>
                            <a:srgbClr val="666666">
                              <a:alpha val="100000"/>
                            </a:srgbClr>
                          </a:solidFill>
                          <a:latin typeface="Arial"/>
                          <a:cs typeface="Arial"/>
                          <a:sym typeface="Arial"/>
                        </a:rPr>
                        <a:t>. St. Lukes Hospital of Carbon County is currently not included in the CMS provider cost report and so can not be included here. </a:t>
                      </a:r>
                      <a:endParaRPr sz="700" b="0" i="0" u="none" cap="none" dirty="0">
                        <a:solidFill>
                          <a:srgbClr val="666666">
                            <a:alpha val="100000"/>
                          </a:srgbClr>
                        </a:solidFill>
                        <a:latin typeface="Arial"/>
                        <a:cs typeface="Arial"/>
                        <a:sym typeface="Arial"/>
                      </a:endParaRPr>
                    </a:p>
                  </a:txBody>
                  <a:tcPr marL="0" marR="0" marT="9144" marB="9144"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5"/>
                  </a:ext>
                </a:extLst>
              </a:tr>
              <a:tr h="138826">
                <a:tc gridSpan="8">
                  <a:txBody>
                    <a:bodyPr/>
                    <a:lstStyle/>
                    <a:p>
                      <a:pPr marL="63500" marR="63500" algn="l">
                        <a:lnSpc>
                          <a:spcPct val="100000"/>
                        </a:lnSpc>
                        <a:spcBef>
                          <a:spcPts val="500"/>
                        </a:spcBef>
                        <a:spcAft>
                          <a:spcPts val="500"/>
                        </a:spcAft>
                        <a:buNone/>
                      </a:pPr>
                      <a:r>
                        <a:rPr sz="700" b="0" i="0" u="none" cap="none">
                          <a:solidFill>
                            <a:srgbClr val="666666">
                              <a:alpha val="100000"/>
                            </a:srgbClr>
                          </a:solidFill>
                          <a:latin typeface="Arial"/>
                          <a:cs typeface="Arial"/>
                          <a:sym typeface="Arial"/>
                        </a:rPr>
                        <a:t>2. Medicare costs are taken from the Medicare Provider Analysis and Review (MedPAR)</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6"/>
                  </a:ext>
                </a:extLst>
              </a:tr>
              <a:tr h="138826">
                <a:tc gridSpan="8">
                  <a:txBody>
                    <a:bodyPr/>
                    <a:lstStyle/>
                    <a:p>
                      <a:pPr marL="63500" marR="63500" algn="l">
                        <a:lnSpc>
                          <a:spcPct val="100000"/>
                        </a:lnSpc>
                        <a:spcBef>
                          <a:spcPts val="500"/>
                        </a:spcBef>
                        <a:spcAft>
                          <a:spcPts val="500"/>
                        </a:spcAft>
                        <a:buNone/>
                      </a:pPr>
                      <a:r>
                        <a:rPr sz="700" b="0" i="0" u="none" cap="none">
                          <a:solidFill>
                            <a:srgbClr val="666666">
                              <a:alpha val="100000"/>
                            </a:srgbClr>
                          </a:solidFill>
                          <a:latin typeface="Arial"/>
                          <a:cs typeface="Arial"/>
                          <a:sym typeface="Arial"/>
                        </a:rPr>
                        <a:t>3. Data with 'Estimated' in the title are derived from other data points.</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7"/>
                  </a:ext>
                </a:extLst>
              </a:tr>
              <a:tr h="138826">
                <a:tc gridSpan="8">
                  <a:txBody>
                    <a:bodyPr/>
                    <a:lstStyle/>
                    <a:p>
                      <a:pPr marL="63500" marR="63500" algn="l">
                        <a:lnSpc>
                          <a:spcPct val="100000"/>
                        </a:lnSpc>
                        <a:spcBef>
                          <a:spcPts val="500"/>
                        </a:spcBef>
                        <a:spcAft>
                          <a:spcPts val="500"/>
                        </a:spcAft>
                        <a:buNone/>
                      </a:pPr>
                      <a:r>
                        <a:rPr sz="700" b="0" i="0" u="none" cap="none" dirty="0">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8"/>
                  </a:ext>
                </a:extLst>
              </a:tr>
            </a:tbl>
          </a:graphicData>
        </a:graphic>
      </p:graphicFrame>
      <p:sp>
        <p:nvSpPr>
          <p:cNvPr id="2" name="Rectangle 1">
            <a:extLst>
              <a:ext uri="{FF2B5EF4-FFF2-40B4-BE49-F238E27FC236}">
                <a16:creationId xmlns:a16="http://schemas.microsoft.com/office/drawing/2014/main" id="{A1B7988D-1E03-5753-2FC9-AA4D8B6E7A05}"/>
              </a:ext>
            </a:extLst>
          </p:cNvPr>
          <p:cNvSpPr/>
          <p:nvPr/>
        </p:nvSpPr>
        <p:spPr>
          <a:xfrm>
            <a:off x="-495300" y="2590800"/>
            <a:ext cx="13011150" cy="1162050"/>
          </a:xfrm>
          <a:prstGeom prst="rect">
            <a:avLst/>
          </a:prstGeom>
          <a:noFill/>
          <a:ln w="571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54E0CA3-8729-0C22-A99D-64AA84C3DC78}"/>
              </a:ext>
            </a:extLst>
          </p:cNvPr>
          <p:cNvSpPr/>
          <p:nvPr/>
        </p:nvSpPr>
        <p:spPr>
          <a:xfrm>
            <a:off x="0" y="0"/>
            <a:ext cx="12192000" cy="6858000"/>
          </a:xfrm>
          <a:prstGeom prst="rect">
            <a:avLst/>
          </a:prstGeom>
          <a:solidFill>
            <a:srgbClr val="D6DCE5">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C883DE4-3AC3-AC60-06C5-41C0EE69E332}"/>
              </a:ext>
            </a:extLst>
          </p:cNvPr>
          <p:cNvSpPr>
            <a:spLocks noGrp="1"/>
          </p:cNvSpPr>
          <p:nvPr>
            <p:ph type="title"/>
          </p:nvPr>
        </p:nvSpPr>
        <p:spPr>
          <a:xfrm>
            <a:off x="611635" y="389125"/>
            <a:ext cx="10955969" cy="1325563"/>
          </a:xfrm>
        </p:spPr>
        <p:txBody>
          <a:bodyPr/>
          <a:lstStyle/>
          <a:p>
            <a:r>
              <a:rPr lang="en-US" b="1" dirty="0">
                <a:latin typeface="Arial" panose="020B0604020202020204" pitchFamily="34" charset="0"/>
                <a:cs typeface="Arial" panose="020B0604020202020204" pitchFamily="34" charset="0"/>
              </a:rPr>
              <a:t>Estimating PMPY Spend (KBA Data)</a:t>
            </a:r>
          </a:p>
        </p:txBody>
      </p:sp>
      <p:graphicFrame>
        <p:nvGraphicFramePr>
          <p:cNvPr id="6" name="Content Placeholder 5">
            <a:extLst>
              <a:ext uri="{FF2B5EF4-FFF2-40B4-BE49-F238E27FC236}">
                <a16:creationId xmlns:a16="http://schemas.microsoft.com/office/drawing/2014/main" id="{3C07E302-CC45-B04C-2C2D-C436C7863084}"/>
              </a:ext>
            </a:extLst>
          </p:cNvPr>
          <p:cNvGraphicFramePr>
            <a:graphicFrameLocks noGrp="1"/>
          </p:cNvGraphicFramePr>
          <p:nvPr>
            <p:ph idx="1"/>
            <p:extLst>
              <p:ext uri="{D42A27DB-BD31-4B8C-83A1-F6EECF244321}">
                <p14:modId xmlns:p14="http://schemas.microsoft.com/office/powerpoint/2010/main" val="1246512063"/>
              </p:ext>
            </p:extLst>
          </p:nvPr>
        </p:nvGraphicFramePr>
        <p:xfrm>
          <a:off x="727045" y="2103813"/>
          <a:ext cx="10955969" cy="1977078"/>
        </p:xfrm>
        <a:graphic>
          <a:graphicData uri="http://schemas.openxmlformats.org/drawingml/2006/table">
            <a:tbl>
              <a:tblPr>
                <a:tableStyleId>{0E3FDE45-AF77-4B5C-9715-49D594BDF05E}</a:tableStyleId>
              </a:tblPr>
              <a:tblGrid>
                <a:gridCol w="1547010">
                  <a:extLst>
                    <a:ext uri="{9D8B030D-6E8A-4147-A177-3AD203B41FA5}">
                      <a16:colId xmlns:a16="http://schemas.microsoft.com/office/drawing/2014/main" val="3362999399"/>
                    </a:ext>
                  </a:extLst>
                </a:gridCol>
                <a:gridCol w="1623242">
                  <a:extLst>
                    <a:ext uri="{9D8B030D-6E8A-4147-A177-3AD203B41FA5}">
                      <a16:colId xmlns:a16="http://schemas.microsoft.com/office/drawing/2014/main" val="2451770454"/>
                    </a:ext>
                  </a:extLst>
                </a:gridCol>
                <a:gridCol w="1926454">
                  <a:extLst>
                    <a:ext uri="{9D8B030D-6E8A-4147-A177-3AD203B41FA5}">
                      <a16:colId xmlns:a16="http://schemas.microsoft.com/office/drawing/2014/main" val="502797257"/>
                    </a:ext>
                  </a:extLst>
                </a:gridCol>
                <a:gridCol w="1677880">
                  <a:extLst>
                    <a:ext uri="{9D8B030D-6E8A-4147-A177-3AD203B41FA5}">
                      <a16:colId xmlns:a16="http://schemas.microsoft.com/office/drawing/2014/main" val="922876968"/>
                    </a:ext>
                  </a:extLst>
                </a:gridCol>
                <a:gridCol w="1633491">
                  <a:extLst>
                    <a:ext uri="{9D8B030D-6E8A-4147-A177-3AD203B41FA5}">
                      <a16:colId xmlns:a16="http://schemas.microsoft.com/office/drawing/2014/main" val="182128588"/>
                    </a:ext>
                  </a:extLst>
                </a:gridCol>
                <a:gridCol w="2547892">
                  <a:extLst>
                    <a:ext uri="{9D8B030D-6E8A-4147-A177-3AD203B41FA5}">
                      <a16:colId xmlns:a16="http://schemas.microsoft.com/office/drawing/2014/main" val="3900443217"/>
                    </a:ext>
                  </a:extLst>
                </a:gridCol>
              </a:tblGrid>
              <a:tr h="620649">
                <a:tc>
                  <a:txBody>
                    <a:bodyPr/>
                    <a:lstStyle/>
                    <a:p>
                      <a:pPr algn="l" fontAlgn="b"/>
                      <a:r>
                        <a:rPr lang="en-US" sz="1400" u="none" strike="noStrike" dirty="0">
                          <a:effectLst/>
                        </a:rPr>
                        <a:t>Category</a:t>
                      </a:r>
                      <a:endParaRPr lang="en-U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u="none" strike="noStrike" dirty="0">
                          <a:effectLst/>
                        </a:rPr>
                        <a:t>Standardized Allowed Charges</a:t>
                      </a:r>
                      <a:endParaRPr lang="en-U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u="none" strike="noStrike" dirty="0">
                          <a:effectLst/>
                        </a:rPr>
                        <a:t>Standardized Paid Charges</a:t>
                      </a:r>
                      <a:endParaRPr lang="en-U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u="none" strike="noStrike" dirty="0">
                          <a:effectLst/>
                        </a:rPr>
                        <a:t>Member Years</a:t>
                      </a:r>
                      <a:endParaRPr lang="en-U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u="none" strike="noStrike" dirty="0">
                          <a:effectLst/>
                        </a:rPr>
                        <a:t>Nationwide Average of Paid Claims</a:t>
                      </a:r>
                      <a:endParaRPr lang="en-U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1" u="none" strike="noStrike" dirty="0">
                          <a:effectLst/>
                        </a:rPr>
                        <a:t>Adjusted to Bethlehem, PA Healthcare Rates</a:t>
                      </a:r>
                      <a:endParaRPr lang="en-US" sz="1400" b="1" i="0" u="none" strike="noStrike" dirty="0">
                        <a:solidFill>
                          <a:srgbClr val="000000"/>
                        </a:solidFill>
                        <a:effectLst/>
                        <a:latin typeface="Calibri" panose="020F0502020204030204" pitchFamily="34" charset="0"/>
                      </a:endParaRPr>
                    </a:p>
                  </a:txBody>
                  <a:tcPr marL="9525" marR="9525" marT="9525" marB="0" anchor="b">
                    <a:solidFill>
                      <a:schemeClr val="accent1">
                        <a:lumMod val="20000"/>
                        <a:lumOff val="80000"/>
                      </a:schemeClr>
                    </a:solidFill>
                  </a:tcPr>
                </a:tc>
                <a:extLst>
                  <a:ext uri="{0D108BD9-81ED-4DB2-BD59-A6C34878D82A}">
                    <a16:rowId xmlns:a16="http://schemas.microsoft.com/office/drawing/2014/main" val="3953059960"/>
                  </a:ext>
                </a:extLst>
              </a:tr>
              <a:tr h="452143">
                <a:tc>
                  <a:txBody>
                    <a:bodyPr/>
                    <a:lstStyle/>
                    <a:p>
                      <a:pPr algn="l" fontAlgn="b"/>
                      <a:r>
                        <a:rPr lang="en-US" sz="1400" u="none" strike="noStrike" dirty="0">
                          <a:effectLst/>
                        </a:rPr>
                        <a:t>Inpatient</a:t>
                      </a:r>
                      <a:endParaRPr lang="en-US" sz="14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$ 561,766,609 </a:t>
                      </a: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$ 358,815,229 </a:t>
                      </a:r>
                    </a:p>
                  </a:txBody>
                  <a:tcPr marL="9525" marR="9525" marT="9525" marB="0" anchor="b"/>
                </a:tc>
                <a:tc rowSpan="3">
                  <a:txBody>
                    <a:bodyPr/>
                    <a:lstStyle/>
                    <a:p>
                      <a:pPr algn="ctr" fontAlgn="b"/>
                      <a:r>
                        <a:rPr lang="en-US" sz="1400" b="0" i="0" u="none" strike="noStrike" dirty="0">
                          <a:solidFill>
                            <a:srgbClr val="000000"/>
                          </a:solidFill>
                          <a:effectLst/>
                          <a:latin typeface="Calibri" panose="020F0502020204030204" pitchFamily="34" charset="0"/>
                        </a:rPr>
                        <a:t> 105,492 </a:t>
                      </a:r>
                    </a:p>
                    <a:p>
                      <a:pPr algn="ctr" fontAlgn="b"/>
                      <a:r>
                        <a:rPr lang="en-US" sz="1400" b="0" i="0" u="none" strike="noStrike" dirty="0">
                          <a:solidFill>
                            <a:srgbClr val="000000"/>
                          </a:solidFill>
                          <a:effectLst/>
                          <a:latin typeface="Calibri" panose="020F0502020204030204" pitchFamily="34" charset="0"/>
                        </a:rPr>
                        <a:t> </a:t>
                      </a:r>
                    </a:p>
                    <a:p>
                      <a:pPr algn="ctr" fontAlgn="b"/>
                      <a:endParaRPr lang="en-US" sz="1400" b="0" i="0" u="none" strike="noStrike" dirty="0">
                        <a:solidFill>
                          <a:srgbClr val="000000"/>
                        </a:solidFill>
                        <a:effectLst/>
                        <a:latin typeface="Calibri" panose="020F0502020204030204" pitchFamily="34" charset="0"/>
                      </a:endParaRPr>
                    </a:p>
                    <a:p>
                      <a:pPr algn="ctr" fontAlgn="b"/>
                      <a:endParaRPr lang="en-US" sz="14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$ 3,401 </a:t>
                      </a:r>
                    </a:p>
                  </a:txBody>
                  <a:tcPr marL="9525" marR="9525" marT="9525" marB="0" anchor="b"/>
                </a:tc>
                <a:tc>
                  <a:txBody>
                    <a:bodyPr/>
                    <a:lstStyle/>
                    <a:p>
                      <a:pPr algn="ctr" fontAlgn="b"/>
                      <a:r>
                        <a:rPr lang="en-US" sz="1400" b="1" i="0" u="none" strike="noStrike" dirty="0">
                          <a:solidFill>
                            <a:srgbClr val="000000"/>
                          </a:solidFill>
                          <a:effectLst/>
                          <a:latin typeface="Calibri" panose="020F0502020204030204" pitchFamily="34" charset="0"/>
                        </a:rPr>
                        <a:t> $ 3,939</a:t>
                      </a:r>
                    </a:p>
                  </a:txBody>
                  <a:tcPr marL="9525" marR="9525" marT="9525" marB="0" anchor="b">
                    <a:solidFill>
                      <a:schemeClr val="accent1">
                        <a:lumMod val="20000"/>
                        <a:lumOff val="80000"/>
                      </a:schemeClr>
                    </a:solidFill>
                  </a:tcPr>
                </a:tc>
                <a:extLst>
                  <a:ext uri="{0D108BD9-81ED-4DB2-BD59-A6C34878D82A}">
                    <a16:rowId xmlns:a16="http://schemas.microsoft.com/office/drawing/2014/main" val="405929793"/>
                  </a:ext>
                </a:extLst>
              </a:tr>
              <a:tr h="452143">
                <a:tc>
                  <a:txBody>
                    <a:bodyPr/>
                    <a:lstStyle/>
                    <a:p>
                      <a:pPr algn="l" fontAlgn="b"/>
                      <a:r>
                        <a:rPr lang="en-US" sz="1400" u="none" strike="noStrike">
                          <a:effectLst/>
                        </a:rPr>
                        <a:t>OutPatient</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$ 1,223,989,466 </a:t>
                      </a: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$ 652,333,702 </a:t>
                      </a:r>
                    </a:p>
                  </a:txBody>
                  <a:tcPr marL="9525" marR="9525" marT="9525" marB="0" anchor="b"/>
                </a:tc>
                <a:tc vMerge="1">
                  <a:txBody>
                    <a:bodyPr/>
                    <a:lstStyle/>
                    <a:p>
                      <a:endParaRPr/>
                    </a:p>
                  </a:txBody>
                  <a:tcPr marL="9525" marR="9525" marT="9525" marB="0" anchor="b"/>
                </a:tc>
                <a:tc>
                  <a:txBody>
                    <a:bodyPr/>
                    <a:lstStyle/>
                    <a:p>
                      <a:pPr algn="ctr" fontAlgn="b"/>
                      <a:r>
                        <a:rPr lang="en-US" sz="1400" b="0" i="0" u="none" strike="noStrike">
                          <a:solidFill>
                            <a:srgbClr val="000000"/>
                          </a:solidFill>
                          <a:effectLst/>
                          <a:latin typeface="Calibri" panose="020F0502020204030204" pitchFamily="34" charset="0"/>
                        </a:rPr>
                        <a:t> $ 6,184 </a:t>
                      </a:r>
                    </a:p>
                  </a:txBody>
                  <a:tcPr marL="9525" marR="9525" marT="9525" marB="0" anchor="b"/>
                </a:tc>
                <a:tc>
                  <a:txBody>
                    <a:bodyPr/>
                    <a:lstStyle/>
                    <a:p>
                      <a:pPr algn="ctr" fontAlgn="b"/>
                      <a:r>
                        <a:rPr lang="en-US" sz="1400" b="1" i="0" u="none" strike="noStrike" dirty="0">
                          <a:solidFill>
                            <a:srgbClr val="000000"/>
                          </a:solidFill>
                          <a:effectLst/>
                          <a:latin typeface="Calibri" panose="020F0502020204030204" pitchFamily="34" charset="0"/>
                        </a:rPr>
                        <a:t> $ 6,616</a:t>
                      </a:r>
                    </a:p>
                  </a:txBody>
                  <a:tcPr marL="9525" marR="9525" marT="9525" marB="0" anchor="b">
                    <a:solidFill>
                      <a:schemeClr val="accent1">
                        <a:lumMod val="20000"/>
                        <a:lumOff val="80000"/>
                      </a:schemeClr>
                    </a:solidFill>
                  </a:tcPr>
                </a:tc>
                <a:extLst>
                  <a:ext uri="{0D108BD9-81ED-4DB2-BD59-A6C34878D82A}">
                    <a16:rowId xmlns:a16="http://schemas.microsoft.com/office/drawing/2014/main" val="1220429663"/>
                  </a:ext>
                </a:extLst>
              </a:tr>
              <a:tr h="452143">
                <a:tc>
                  <a:txBody>
                    <a:bodyPr/>
                    <a:lstStyle/>
                    <a:p>
                      <a:pPr algn="l" fontAlgn="b"/>
                      <a:r>
                        <a:rPr lang="en-US" sz="1400" u="none" strike="noStrike">
                          <a:effectLst/>
                        </a:rPr>
                        <a:t>Professional</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0" i="0" u="none" strike="noStrike">
                          <a:solidFill>
                            <a:srgbClr val="000000"/>
                          </a:solidFill>
                          <a:effectLst/>
                          <a:latin typeface="Calibri" panose="020F0502020204030204" pitchFamily="34" charset="0"/>
                        </a:rPr>
                        <a:t> $ 549,353,224 </a:t>
                      </a: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$ 304,634,120 </a:t>
                      </a:r>
                    </a:p>
                  </a:txBody>
                  <a:tcPr marL="9525" marR="9525" marT="9525" marB="0" anchor="b"/>
                </a:tc>
                <a:tc vMerge="1">
                  <a:txBody>
                    <a:bodyPr/>
                    <a:lstStyle/>
                    <a:p>
                      <a:endParaRPr dirty="0"/>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$ 2,888 </a:t>
                      </a:r>
                    </a:p>
                  </a:txBody>
                  <a:tcPr marL="9525" marR="9525" marT="9525" marB="0" anchor="b"/>
                </a:tc>
                <a:tc>
                  <a:txBody>
                    <a:bodyPr/>
                    <a:lstStyle/>
                    <a:p>
                      <a:pPr algn="ctr" fontAlgn="b"/>
                      <a:r>
                        <a:rPr lang="en-US" sz="1400" b="1" i="0" u="none" strike="noStrike" dirty="0">
                          <a:solidFill>
                            <a:srgbClr val="000000"/>
                          </a:solidFill>
                          <a:effectLst/>
                          <a:latin typeface="Calibri" panose="020F0502020204030204" pitchFamily="34" charset="0"/>
                        </a:rPr>
                        <a:t> </a:t>
                      </a:r>
                      <a:r>
                        <a:rPr lang="en-US" sz="1400" b="1" i="0" u="none" strike="noStrike">
                          <a:solidFill>
                            <a:srgbClr val="000000"/>
                          </a:solidFill>
                          <a:effectLst/>
                          <a:latin typeface="Calibri" panose="020F0502020204030204" pitchFamily="34" charset="0"/>
                        </a:rPr>
                        <a:t>$ 3,089</a:t>
                      </a:r>
                      <a:endParaRPr lang="en-US" sz="1400" b="1" i="0" u="none" strike="noStrike" dirty="0">
                        <a:solidFill>
                          <a:srgbClr val="000000"/>
                        </a:solidFill>
                        <a:effectLst/>
                        <a:latin typeface="Calibri" panose="020F0502020204030204" pitchFamily="34" charset="0"/>
                      </a:endParaRPr>
                    </a:p>
                  </a:txBody>
                  <a:tcPr marL="9525" marR="9525" marT="9525" marB="0" anchor="b">
                    <a:solidFill>
                      <a:schemeClr val="accent1">
                        <a:lumMod val="20000"/>
                        <a:lumOff val="80000"/>
                      </a:schemeClr>
                    </a:solidFill>
                  </a:tcPr>
                </a:tc>
                <a:extLst>
                  <a:ext uri="{0D108BD9-81ED-4DB2-BD59-A6C34878D82A}">
                    <a16:rowId xmlns:a16="http://schemas.microsoft.com/office/drawing/2014/main" val="3164641254"/>
                  </a:ext>
                </a:extLst>
              </a:tr>
            </a:tbl>
          </a:graphicData>
        </a:graphic>
      </p:graphicFrame>
      <p:sp>
        <p:nvSpPr>
          <p:cNvPr id="4" name="Footer Placeholder 3">
            <a:extLst>
              <a:ext uri="{FF2B5EF4-FFF2-40B4-BE49-F238E27FC236}">
                <a16:creationId xmlns:a16="http://schemas.microsoft.com/office/drawing/2014/main" id="{7BA580EB-C284-801F-0C01-7F0E0784CDF5}"/>
              </a:ext>
            </a:extLst>
          </p:cNvPr>
          <p:cNvSpPr>
            <a:spLocks noGrp="1"/>
          </p:cNvSpPr>
          <p:nvPr>
            <p:ph type="ftr" sz="quarter" idx="11"/>
          </p:nvPr>
        </p:nvSpPr>
        <p:spPr/>
        <p:txBody>
          <a:bodyPr/>
          <a:lstStyle/>
          <a:p>
            <a:r>
              <a:rPr lang="en-US"/>
              <a:t>Key Benefit Administrators</a:t>
            </a:r>
            <a:endParaRPr lang="en-US" dirty="0"/>
          </a:p>
        </p:txBody>
      </p:sp>
      <p:sp>
        <p:nvSpPr>
          <p:cNvPr id="5" name="Slide Number Placeholder 4">
            <a:extLst>
              <a:ext uri="{FF2B5EF4-FFF2-40B4-BE49-F238E27FC236}">
                <a16:creationId xmlns:a16="http://schemas.microsoft.com/office/drawing/2014/main" id="{61D448FD-C0CB-66DA-9574-CB79C1BD7A9D}"/>
              </a:ext>
            </a:extLst>
          </p:cNvPr>
          <p:cNvSpPr>
            <a:spLocks noGrp="1"/>
          </p:cNvSpPr>
          <p:nvPr>
            <p:ph type="sldNum" sz="quarter" idx="12"/>
          </p:nvPr>
        </p:nvSpPr>
        <p:spPr/>
        <p:txBody>
          <a:bodyPr/>
          <a:lstStyle/>
          <a:p>
            <a:fld id="{3AFC719D-C4A7-4544-876E-D411D11AF6C9}" type="slidenum">
              <a:rPr lang="en-US" smtClean="0"/>
              <a:t>30</a:t>
            </a:fld>
            <a:endParaRPr lang="en-US" dirty="0"/>
          </a:p>
        </p:txBody>
      </p:sp>
      <p:sp>
        <p:nvSpPr>
          <p:cNvPr id="7" name="TextBox 6">
            <a:extLst>
              <a:ext uri="{FF2B5EF4-FFF2-40B4-BE49-F238E27FC236}">
                <a16:creationId xmlns:a16="http://schemas.microsoft.com/office/drawing/2014/main" id="{CD602C75-9647-2A81-5720-669FD6EEB5F4}"/>
              </a:ext>
            </a:extLst>
          </p:cNvPr>
          <p:cNvSpPr txBox="1"/>
          <p:nvPr/>
        </p:nvSpPr>
        <p:spPr>
          <a:xfrm>
            <a:off x="1012053" y="4583495"/>
            <a:ext cx="10555551" cy="1384995"/>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KBA utilizes its data warehouse with greater than $3B in yearly adjudicated charges to estimate PMPY spend by inpatient, outpatient and professional charges. Pharmacy and non-health-system charges are excluded. </a:t>
            </a:r>
          </a:p>
          <a:p>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Using the Milliman area adjustment factors by zip code, charges are standardized to local estimates. </a:t>
            </a:r>
          </a:p>
          <a:p>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These estimated charges are conservative as KBA claims average ~15% below the market average. </a:t>
            </a:r>
          </a:p>
        </p:txBody>
      </p:sp>
    </p:spTree>
    <p:extLst>
      <p:ext uri="{BB962C8B-B14F-4D97-AF65-F5344CB8AC3E}">
        <p14:creationId xmlns:p14="http://schemas.microsoft.com/office/powerpoint/2010/main" val="9494411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75B7D0B-6778-5BAB-C7D4-9C15D73239FD}"/>
              </a:ext>
            </a:extLst>
          </p:cNvPr>
          <p:cNvSpPr/>
          <p:nvPr/>
        </p:nvSpPr>
        <p:spPr>
          <a:xfrm>
            <a:off x="0" y="0"/>
            <a:ext cx="12192000" cy="6858000"/>
          </a:xfrm>
          <a:prstGeom prst="rect">
            <a:avLst/>
          </a:prstGeom>
          <a:solidFill>
            <a:srgbClr val="D6DCE5">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953670C-7BD0-B908-CA73-21D945CCB08B}"/>
              </a:ext>
            </a:extLst>
          </p:cNvPr>
          <p:cNvSpPr>
            <a:spLocks noGrp="1"/>
          </p:cNvSpPr>
          <p:nvPr>
            <p:ph type="title"/>
          </p:nvPr>
        </p:nvSpPr>
        <p:spPr/>
        <p:txBody>
          <a:bodyPr>
            <a:normAutofit/>
          </a:bodyPr>
          <a:lstStyle/>
          <a:p>
            <a:r>
              <a:rPr lang="en-US" sz="4000" b="1" dirty="0">
                <a:latin typeface="Arial" panose="020B0604020202020204" pitchFamily="34" charset="0"/>
                <a:cs typeface="Arial" panose="020B0604020202020204" pitchFamily="34" charset="0"/>
              </a:rPr>
              <a:t>Estimating Expected Steerage (KBA Data)</a:t>
            </a:r>
          </a:p>
        </p:txBody>
      </p:sp>
      <p:sp>
        <p:nvSpPr>
          <p:cNvPr id="4" name="Footer Placeholder 3">
            <a:extLst>
              <a:ext uri="{FF2B5EF4-FFF2-40B4-BE49-F238E27FC236}">
                <a16:creationId xmlns:a16="http://schemas.microsoft.com/office/drawing/2014/main" id="{7FE81BA0-6CC4-7AA2-91FB-5DA5805980DF}"/>
              </a:ext>
            </a:extLst>
          </p:cNvPr>
          <p:cNvSpPr>
            <a:spLocks noGrp="1"/>
          </p:cNvSpPr>
          <p:nvPr>
            <p:ph type="ftr" sz="quarter" idx="11"/>
          </p:nvPr>
        </p:nvSpPr>
        <p:spPr/>
        <p:txBody>
          <a:bodyPr/>
          <a:lstStyle/>
          <a:p>
            <a:r>
              <a:rPr lang="en-US"/>
              <a:t>Key Benefit Administrators</a:t>
            </a:r>
            <a:endParaRPr lang="en-US" dirty="0"/>
          </a:p>
        </p:txBody>
      </p:sp>
      <p:sp>
        <p:nvSpPr>
          <p:cNvPr id="5" name="Slide Number Placeholder 4">
            <a:extLst>
              <a:ext uri="{FF2B5EF4-FFF2-40B4-BE49-F238E27FC236}">
                <a16:creationId xmlns:a16="http://schemas.microsoft.com/office/drawing/2014/main" id="{7A5BE937-4283-AC8F-5066-93360F2AD61D}"/>
              </a:ext>
            </a:extLst>
          </p:cNvPr>
          <p:cNvSpPr>
            <a:spLocks noGrp="1"/>
          </p:cNvSpPr>
          <p:nvPr>
            <p:ph type="sldNum" sz="quarter" idx="12"/>
          </p:nvPr>
        </p:nvSpPr>
        <p:spPr/>
        <p:txBody>
          <a:bodyPr/>
          <a:lstStyle/>
          <a:p>
            <a:fld id="{3AFC719D-C4A7-4544-876E-D411D11AF6C9}" type="slidenum">
              <a:rPr lang="en-US" smtClean="0"/>
              <a:t>31</a:t>
            </a:fld>
            <a:endParaRPr lang="en-US" dirty="0"/>
          </a:p>
        </p:txBody>
      </p:sp>
      <p:graphicFrame>
        <p:nvGraphicFramePr>
          <p:cNvPr id="6" name="Table 5">
            <a:extLst>
              <a:ext uri="{FF2B5EF4-FFF2-40B4-BE49-F238E27FC236}">
                <a16:creationId xmlns:a16="http://schemas.microsoft.com/office/drawing/2014/main" id="{A3BBF012-AA0D-5710-B532-CE355455856C}"/>
              </a:ext>
            </a:extLst>
          </p:cNvPr>
          <p:cNvGraphicFramePr>
            <a:graphicFrameLocks noGrp="1"/>
          </p:cNvGraphicFramePr>
          <p:nvPr>
            <p:extLst>
              <p:ext uri="{D42A27DB-BD31-4B8C-83A1-F6EECF244321}">
                <p14:modId xmlns:p14="http://schemas.microsoft.com/office/powerpoint/2010/main" val="2552478786"/>
              </p:ext>
            </p:extLst>
          </p:nvPr>
        </p:nvGraphicFramePr>
        <p:xfrm>
          <a:off x="629020" y="1690688"/>
          <a:ext cx="9282575" cy="4626660"/>
        </p:xfrm>
        <a:graphic>
          <a:graphicData uri="http://schemas.openxmlformats.org/drawingml/2006/table">
            <a:tbl>
              <a:tblPr/>
              <a:tblGrid>
                <a:gridCol w="1560295">
                  <a:extLst>
                    <a:ext uri="{9D8B030D-6E8A-4147-A177-3AD203B41FA5}">
                      <a16:colId xmlns:a16="http://schemas.microsoft.com/office/drawing/2014/main" val="2016668870"/>
                    </a:ext>
                  </a:extLst>
                </a:gridCol>
                <a:gridCol w="1770126">
                  <a:extLst>
                    <a:ext uri="{9D8B030D-6E8A-4147-A177-3AD203B41FA5}">
                      <a16:colId xmlns:a16="http://schemas.microsoft.com/office/drawing/2014/main" val="2087362137"/>
                    </a:ext>
                  </a:extLst>
                </a:gridCol>
                <a:gridCol w="1318786">
                  <a:extLst>
                    <a:ext uri="{9D8B030D-6E8A-4147-A177-3AD203B41FA5}">
                      <a16:colId xmlns:a16="http://schemas.microsoft.com/office/drawing/2014/main" val="1244890546"/>
                    </a:ext>
                  </a:extLst>
                </a:gridCol>
                <a:gridCol w="1806154">
                  <a:extLst>
                    <a:ext uri="{9D8B030D-6E8A-4147-A177-3AD203B41FA5}">
                      <a16:colId xmlns:a16="http://schemas.microsoft.com/office/drawing/2014/main" val="3152637151"/>
                    </a:ext>
                  </a:extLst>
                </a:gridCol>
                <a:gridCol w="1282758">
                  <a:extLst>
                    <a:ext uri="{9D8B030D-6E8A-4147-A177-3AD203B41FA5}">
                      <a16:colId xmlns:a16="http://schemas.microsoft.com/office/drawing/2014/main" val="663229898"/>
                    </a:ext>
                  </a:extLst>
                </a:gridCol>
                <a:gridCol w="1544456">
                  <a:extLst>
                    <a:ext uri="{9D8B030D-6E8A-4147-A177-3AD203B41FA5}">
                      <a16:colId xmlns:a16="http://schemas.microsoft.com/office/drawing/2014/main" val="1905754699"/>
                    </a:ext>
                  </a:extLst>
                </a:gridCol>
              </a:tblGrid>
              <a:tr h="322321">
                <a:tc>
                  <a:txBody>
                    <a:bodyPr/>
                    <a:lstStyle/>
                    <a:p>
                      <a:endParaRPr lang="en-US" sz="160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gridSpan="4">
                  <a:txBody>
                    <a:bodyPr/>
                    <a:lstStyle/>
                    <a:p>
                      <a:r>
                        <a:rPr lang="en-US" sz="1600" b="1" u="sng" dirty="0">
                          <a:latin typeface="Arial" panose="020B0604020202020204" pitchFamily="34" charset="0"/>
                          <a:cs typeface="Arial" panose="020B0604020202020204" pitchFamily="34" charset="0"/>
                        </a:rPr>
                        <a:t>DTE Health Plan Tier 1 Utilization –  </a:t>
                      </a:r>
                      <a:r>
                        <a:rPr lang="en-US" sz="1600" b="1" u="sng" dirty="0">
                          <a:solidFill>
                            <a:schemeClr val="accent2"/>
                          </a:solidFill>
                          <a:latin typeface="Arial" panose="020B0604020202020204" pitchFamily="34" charset="0"/>
                          <a:cs typeface="Arial" panose="020B0604020202020204" pitchFamily="34" charset="0"/>
                        </a:rPr>
                        <a:t>Q1 2024</a:t>
                      </a:r>
                      <a:endParaRPr lang="en-US" sz="1600" dirty="0">
                        <a:solidFill>
                          <a:schemeClr val="accent2"/>
                        </a:solidFill>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extLst>
                  <a:ext uri="{0D108BD9-81ED-4DB2-BD59-A6C34878D82A}">
                    <a16:rowId xmlns:a16="http://schemas.microsoft.com/office/drawing/2014/main" val="3238454985"/>
                  </a:ext>
                </a:extLst>
              </a:tr>
              <a:tr h="564062">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pPr algn="ctr"/>
                      <a:r>
                        <a:rPr lang="en-US" sz="1600" b="1" u="sng" dirty="0">
                          <a:latin typeface="Arial" panose="020B0604020202020204" pitchFamily="34" charset="0"/>
                          <a:cs typeface="Arial" panose="020B0604020202020204" pitchFamily="34" charset="0"/>
                        </a:rPr>
                        <a:t>Charges</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b="1" u="sng" dirty="0">
                          <a:latin typeface="Arial" panose="020B0604020202020204" pitchFamily="34" charset="0"/>
                          <a:cs typeface="Arial" panose="020B0604020202020204" pitchFamily="34" charset="0"/>
                        </a:rPr>
                        <a:t>%</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b="1" u="sng" dirty="0">
                          <a:latin typeface="Arial" panose="020B0604020202020204" pitchFamily="34" charset="0"/>
                          <a:cs typeface="Arial" panose="020B0604020202020204" pitchFamily="34" charset="0"/>
                        </a:rPr>
                        <a:t>Paid</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b="1" u="sng" dirty="0">
                          <a:latin typeface="Arial" panose="020B0604020202020204" pitchFamily="34" charset="0"/>
                          <a:cs typeface="Arial" panose="020B0604020202020204" pitchFamily="34" charset="0"/>
                        </a:rPr>
                        <a:t>%</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b="1" dirty="0">
                          <a:latin typeface="Arial" panose="020B0604020202020204" pitchFamily="34" charset="0"/>
                          <a:cs typeface="Arial" panose="020B0604020202020204" pitchFamily="34" charset="0"/>
                        </a:rPr>
                        <a:t>Discount Equivalent</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extLst>
                  <a:ext uri="{0D108BD9-81ED-4DB2-BD59-A6C34878D82A}">
                    <a16:rowId xmlns:a16="http://schemas.microsoft.com/office/drawing/2014/main" val="3978587454"/>
                  </a:ext>
                </a:extLst>
              </a:tr>
              <a:tr h="322321">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b="1" dirty="0">
                          <a:latin typeface="Arial" panose="020B0604020202020204" pitchFamily="34" charset="0"/>
                          <a:cs typeface="Arial" panose="020B0604020202020204" pitchFamily="34" charset="0"/>
                        </a:rPr>
                        <a:t>Charge to Paid</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extLst>
                  <a:ext uri="{0D108BD9-81ED-4DB2-BD59-A6C34878D82A}">
                    <a16:rowId xmlns:a16="http://schemas.microsoft.com/office/drawing/2014/main" val="2651634651"/>
                  </a:ext>
                </a:extLst>
              </a:tr>
              <a:tr h="322321">
                <a:tc>
                  <a:txBody>
                    <a:bodyPr/>
                    <a:lstStyle/>
                    <a:p>
                      <a:r>
                        <a:rPr lang="en-US" sz="1600" b="1" u="sng">
                          <a:latin typeface="Arial" panose="020B0604020202020204" pitchFamily="34" charset="0"/>
                          <a:cs typeface="Arial" panose="020B0604020202020204" pitchFamily="34" charset="0"/>
                        </a:rPr>
                        <a:t>Tier 1</a:t>
                      </a:r>
                      <a:endParaRPr lang="en-US" sz="160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pPr algn="ctr"/>
                      <a:r>
                        <a:rPr lang="en-US" sz="1600" b="1">
                          <a:latin typeface="Arial" panose="020B0604020202020204" pitchFamily="34" charset="0"/>
                          <a:cs typeface="Arial" panose="020B0604020202020204" pitchFamily="34" charset="0"/>
                        </a:rPr>
                        <a:t>81.26%</a:t>
                      </a:r>
                      <a:endParaRPr lang="en-US" sz="160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pPr algn="ctr"/>
                      <a:r>
                        <a:rPr lang="en-US" sz="1600" b="1" dirty="0">
                          <a:latin typeface="Arial" panose="020B0604020202020204" pitchFamily="34" charset="0"/>
                          <a:cs typeface="Arial" panose="020B0604020202020204" pitchFamily="34" charset="0"/>
                        </a:rPr>
                        <a:t>77.42%</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extLst>
                  <a:ext uri="{0D108BD9-81ED-4DB2-BD59-A6C34878D82A}">
                    <a16:rowId xmlns:a16="http://schemas.microsoft.com/office/drawing/2014/main" val="3423413711"/>
                  </a:ext>
                </a:extLst>
              </a:tr>
              <a:tr h="564062">
                <a:tc>
                  <a:txBody>
                    <a:bodyPr/>
                    <a:lstStyle/>
                    <a:p>
                      <a:r>
                        <a:rPr lang="en-US" sz="1600" dirty="0">
                          <a:latin typeface="Arial" panose="020B0604020202020204" pitchFamily="34" charset="0"/>
                          <a:cs typeface="Arial" panose="020B0604020202020204" pitchFamily="34" charset="0"/>
                        </a:rPr>
                        <a:t>Current DTE Network #1</a:t>
                      </a: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17,913,805.69</a:t>
                      </a: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54.82%</a:t>
                      </a: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6,907,327.88</a:t>
                      </a: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58.63%</a:t>
                      </a:r>
                    </a:p>
                  </a:txBody>
                  <a:tcPr marL="80580" marR="80580" marT="40290" marB="40290" anchor="ctr">
                    <a:lnL>
                      <a:noFill/>
                    </a:lnL>
                    <a:lnR>
                      <a:noFill/>
                    </a:lnR>
                    <a:lnT>
                      <a:noFill/>
                    </a:lnT>
                    <a:lnB>
                      <a:noFill/>
                    </a:lnB>
                  </a:tcPr>
                </a:tc>
                <a:tc>
                  <a:txBody>
                    <a:bodyPr/>
                    <a:lstStyle/>
                    <a:p>
                      <a:pPr algn="ctr"/>
                      <a:r>
                        <a:rPr lang="en-US" sz="1600" b="1">
                          <a:latin typeface="Arial" panose="020B0604020202020204" pitchFamily="34" charset="0"/>
                          <a:cs typeface="Arial" panose="020B0604020202020204" pitchFamily="34" charset="0"/>
                        </a:rPr>
                        <a:t>-61.44%</a:t>
                      </a:r>
                      <a:endParaRPr lang="en-US" sz="160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extLst>
                  <a:ext uri="{0D108BD9-81ED-4DB2-BD59-A6C34878D82A}">
                    <a16:rowId xmlns:a16="http://schemas.microsoft.com/office/drawing/2014/main" val="1979987418"/>
                  </a:ext>
                </a:extLst>
              </a:tr>
              <a:tr h="564062">
                <a:tc>
                  <a:txBody>
                    <a:bodyPr/>
                    <a:lstStyle/>
                    <a:p>
                      <a:r>
                        <a:rPr lang="en-US" sz="1600" dirty="0">
                          <a:latin typeface="Arial" panose="020B0604020202020204" pitchFamily="34" charset="0"/>
                          <a:cs typeface="Arial" panose="020B0604020202020204" pitchFamily="34" charset="0"/>
                        </a:rPr>
                        <a:t>Current DTE Network #2</a:t>
                      </a: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8,460,570.40</a:t>
                      </a: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78.37%</a:t>
                      </a: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3,280,571.45</a:t>
                      </a: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77.62%</a:t>
                      </a:r>
                    </a:p>
                  </a:txBody>
                  <a:tcPr marL="80580" marR="80580" marT="40290" marB="40290" anchor="ctr">
                    <a:lnL>
                      <a:noFill/>
                    </a:lnL>
                    <a:lnR>
                      <a:noFill/>
                    </a:lnR>
                    <a:lnT>
                      <a:noFill/>
                    </a:lnT>
                    <a:lnB>
                      <a:noFill/>
                    </a:lnB>
                  </a:tcPr>
                </a:tc>
                <a:tc>
                  <a:txBody>
                    <a:bodyPr/>
                    <a:lstStyle/>
                    <a:p>
                      <a:pPr algn="ctr"/>
                      <a:r>
                        <a:rPr lang="en-US" sz="1600" b="1">
                          <a:latin typeface="Arial" panose="020B0604020202020204" pitchFamily="34" charset="0"/>
                          <a:cs typeface="Arial" panose="020B0604020202020204" pitchFamily="34" charset="0"/>
                        </a:rPr>
                        <a:t>-61.23%</a:t>
                      </a:r>
                      <a:endParaRPr lang="en-US" sz="160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extLst>
                  <a:ext uri="{0D108BD9-81ED-4DB2-BD59-A6C34878D82A}">
                    <a16:rowId xmlns:a16="http://schemas.microsoft.com/office/drawing/2014/main" val="3238957396"/>
                  </a:ext>
                </a:extLst>
              </a:tr>
              <a:tr h="564062">
                <a:tc>
                  <a:txBody>
                    <a:bodyPr/>
                    <a:lstStyle/>
                    <a:p>
                      <a:r>
                        <a:rPr lang="en-US" sz="1600" dirty="0">
                          <a:latin typeface="Arial" panose="020B0604020202020204" pitchFamily="34" charset="0"/>
                          <a:cs typeface="Arial" panose="020B0604020202020204" pitchFamily="34" charset="0"/>
                        </a:rPr>
                        <a:t>Current DTE Network #3</a:t>
                      </a: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629,748.27</a:t>
                      </a: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72.98%</a:t>
                      </a: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198,216.95</a:t>
                      </a: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80.64%</a:t>
                      </a:r>
                    </a:p>
                  </a:txBody>
                  <a:tcPr marL="80580" marR="80580" marT="40290" marB="40290" anchor="ctr">
                    <a:lnL>
                      <a:noFill/>
                    </a:lnL>
                    <a:lnR>
                      <a:noFill/>
                    </a:lnR>
                    <a:lnT>
                      <a:noFill/>
                    </a:lnT>
                    <a:lnB>
                      <a:noFill/>
                    </a:lnB>
                  </a:tcPr>
                </a:tc>
                <a:tc>
                  <a:txBody>
                    <a:bodyPr/>
                    <a:lstStyle/>
                    <a:p>
                      <a:pPr algn="ctr"/>
                      <a:r>
                        <a:rPr lang="en-US" sz="1600" b="1">
                          <a:latin typeface="Arial" panose="020B0604020202020204" pitchFamily="34" charset="0"/>
                          <a:cs typeface="Arial" panose="020B0604020202020204" pitchFamily="34" charset="0"/>
                        </a:rPr>
                        <a:t>-68.52%</a:t>
                      </a:r>
                      <a:endParaRPr lang="en-US" sz="160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extLst>
                  <a:ext uri="{0D108BD9-81ED-4DB2-BD59-A6C34878D82A}">
                    <a16:rowId xmlns:a16="http://schemas.microsoft.com/office/drawing/2014/main" val="2512199195"/>
                  </a:ext>
                </a:extLst>
              </a:tr>
              <a:tr h="564062">
                <a:tc>
                  <a:txBody>
                    <a:bodyPr/>
                    <a:lstStyle/>
                    <a:p>
                      <a:r>
                        <a:rPr lang="en-US" sz="1600" dirty="0">
                          <a:latin typeface="Arial" panose="020B0604020202020204" pitchFamily="34" charset="0"/>
                          <a:cs typeface="Arial" panose="020B0604020202020204" pitchFamily="34" charset="0"/>
                        </a:rPr>
                        <a:t>Current DTE Network #4</a:t>
                      </a:r>
                    </a:p>
                  </a:txBody>
                  <a:tcPr marL="80580" marR="80580" marT="40290" marB="40290" anchor="ctr">
                    <a:lnL>
                      <a:noFill/>
                    </a:lnL>
                    <a:lnR>
                      <a:noFill/>
                    </a:lnR>
                    <a:lnT>
                      <a:noFill/>
                    </a:lnT>
                    <a:lnB>
                      <a:noFill/>
                    </a:lnB>
                  </a:tcPr>
                </a:tc>
                <a:tc>
                  <a:txBody>
                    <a:bodyPr/>
                    <a:lstStyle/>
                    <a:p>
                      <a:pPr algn="ctr"/>
                      <a:r>
                        <a:rPr lang="en-US" sz="1600" u="sng" dirty="0">
                          <a:latin typeface="Arial" panose="020B0604020202020204" pitchFamily="34" charset="0"/>
                          <a:cs typeface="Arial" panose="020B0604020202020204" pitchFamily="34" charset="0"/>
                        </a:rPr>
                        <a:t>$      58,261,069.02</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96.15%</a:t>
                      </a:r>
                    </a:p>
                  </a:txBody>
                  <a:tcPr marL="80580" marR="80580" marT="40290" marB="40290" anchor="ctr">
                    <a:lnL>
                      <a:noFill/>
                    </a:lnL>
                    <a:lnR>
                      <a:noFill/>
                    </a:lnR>
                    <a:lnT>
                      <a:noFill/>
                    </a:lnT>
                    <a:lnB>
                      <a:noFill/>
                    </a:lnB>
                  </a:tcPr>
                </a:tc>
                <a:tc>
                  <a:txBody>
                    <a:bodyPr/>
                    <a:lstStyle/>
                    <a:p>
                      <a:pPr algn="ctr"/>
                      <a:r>
                        <a:rPr lang="en-US" sz="1600" u="sng" dirty="0">
                          <a:latin typeface="Arial" panose="020B0604020202020204" pitchFamily="34" charset="0"/>
                          <a:cs typeface="Arial" panose="020B0604020202020204" pitchFamily="34" charset="0"/>
                        </a:rPr>
                        <a:t>$    12,968,046.77</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93.20%</a:t>
                      </a:r>
                    </a:p>
                  </a:txBody>
                  <a:tcPr marL="80580" marR="80580" marT="40290" marB="40290" anchor="ctr">
                    <a:lnL>
                      <a:noFill/>
                    </a:lnL>
                    <a:lnR>
                      <a:noFill/>
                    </a:lnR>
                    <a:lnT>
                      <a:noFill/>
                    </a:lnT>
                    <a:lnB>
                      <a:noFill/>
                    </a:lnB>
                  </a:tcPr>
                </a:tc>
                <a:tc>
                  <a:txBody>
                    <a:bodyPr/>
                    <a:lstStyle/>
                    <a:p>
                      <a:pPr algn="ctr"/>
                      <a:r>
                        <a:rPr lang="en-US" sz="1600" b="1" dirty="0">
                          <a:latin typeface="Arial" panose="020B0604020202020204" pitchFamily="34" charset="0"/>
                          <a:cs typeface="Arial" panose="020B0604020202020204" pitchFamily="34" charset="0"/>
                        </a:rPr>
                        <a:t>-77.74%</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extLst>
                  <a:ext uri="{0D108BD9-81ED-4DB2-BD59-A6C34878D82A}">
                    <a16:rowId xmlns:a16="http://schemas.microsoft.com/office/drawing/2014/main" val="61225875"/>
                  </a:ext>
                </a:extLst>
              </a:tr>
              <a:tr h="564062">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b="1" dirty="0">
                          <a:latin typeface="Arial" panose="020B0604020202020204" pitchFamily="34" charset="0"/>
                          <a:cs typeface="Arial" panose="020B0604020202020204" pitchFamily="34" charset="0"/>
                        </a:rPr>
                        <a:t>$   85,265,193.38 </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b="1" dirty="0">
                          <a:latin typeface="Arial" panose="020B0604020202020204" pitchFamily="34" charset="0"/>
                          <a:cs typeface="Arial" panose="020B0604020202020204" pitchFamily="34" charset="0"/>
                        </a:rPr>
                        <a:t>$   23,354,163.05</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r>
                        <a:rPr lang="en-US" sz="1600" dirty="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dirty="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extLst>
                  <a:ext uri="{0D108BD9-81ED-4DB2-BD59-A6C34878D82A}">
                    <a16:rowId xmlns:a16="http://schemas.microsoft.com/office/drawing/2014/main" val="2643862706"/>
                  </a:ext>
                </a:extLst>
              </a:tr>
            </a:tbl>
          </a:graphicData>
        </a:graphic>
      </p:graphicFrame>
      <p:sp>
        <p:nvSpPr>
          <p:cNvPr id="7" name="Oval 6">
            <a:extLst>
              <a:ext uri="{FF2B5EF4-FFF2-40B4-BE49-F238E27FC236}">
                <a16:creationId xmlns:a16="http://schemas.microsoft.com/office/drawing/2014/main" id="{C6C12282-6958-DC81-53E7-8B55DA976476}"/>
              </a:ext>
            </a:extLst>
          </p:cNvPr>
          <p:cNvSpPr/>
          <p:nvPr/>
        </p:nvSpPr>
        <p:spPr>
          <a:xfrm>
            <a:off x="7338974" y="3119767"/>
            <a:ext cx="814428" cy="390525"/>
          </a:xfrm>
          <a:prstGeom prst="ellipse">
            <a:avLst/>
          </a:prstGeom>
          <a:noFill/>
          <a:ln w="3810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Callout: Line 7">
            <a:extLst>
              <a:ext uri="{FF2B5EF4-FFF2-40B4-BE49-F238E27FC236}">
                <a16:creationId xmlns:a16="http://schemas.microsoft.com/office/drawing/2014/main" id="{C48E1780-AC25-9BD2-86FC-FF9298ADEAFD}"/>
              </a:ext>
            </a:extLst>
          </p:cNvPr>
          <p:cNvSpPr/>
          <p:nvPr/>
        </p:nvSpPr>
        <p:spPr>
          <a:xfrm>
            <a:off x="10022411" y="3047196"/>
            <a:ext cx="1863635" cy="1123406"/>
          </a:xfrm>
          <a:prstGeom prst="borderCallout1">
            <a:avLst>
              <a:gd name="adj1" fmla="val 10057"/>
              <a:gd name="adj2" fmla="val -3093"/>
              <a:gd name="adj3" fmla="val 17609"/>
              <a:gd name="adj4" fmla="val -95140"/>
            </a:avLst>
          </a:prstGeom>
          <a:ln>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Arial" panose="020B0604020202020204" pitchFamily="34" charset="0"/>
                <a:cs typeface="Arial" panose="020B0604020202020204" pitchFamily="34" charset="0"/>
              </a:rPr>
              <a:t>DTE Steerage Impact on an EPO Plan Structure</a:t>
            </a:r>
          </a:p>
        </p:txBody>
      </p:sp>
    </p:spTree>
    <p:extLst>
      <p:ext uri="{BB962C8B-B14F-4D97-AF65-F5344CB8AC3E}">
        <p14:creationId xmlns:p14="http://schemas.microsoft.com/office/powerpoint/2010/main" val="361650228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3E4D1330-6559-4480-ECC7-66909D09D0BD}"/>
              </a:ext>
            </a:extLst>
          </p:cNvPr>
          <p:cNvSpPr>
            <a:spLocks noGrp="1"/>
          </p:cNvSpPr>
          <p:nvPr>
            <p:ph type="ftr" sz="quarter" idx="11"/>
          </p:nvPr>
        </p:nvSpPr>
        <p:spPr/>
        <p:txBody>
          <a:bodyPr/>
          <a:lstStyle/>
          <a:p>
            <a:r>
              <a:rPr lang="en-US">
                <a:latin typeface="Arial" panose="020B0604020202020204" pitchFamily="34" charset="0"/>
                <a:cs typeface="Arial" panose="020B0604020202020204" pitchFamily="34" charset="0"/>
              </a:rPr>
              <a:t>Key Benefit Administrators</a:t>
            </a:r>
            <a:endParaRPr lang="en-US" dirty="0">
              <a:latin typeface="Arial" panose="020B060402020202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FAD03FEC-C905-CEF4-1EA9-88A1334154D0}"/>
              </a:ext>
            </a:extLst>
          </p:cNvPr>
          <p:cNvSpPr>
            <a:spLocks noGrp="1"/>
          </p:cNvSpPr>
          <p:nvPr>
            <p:ph type="sldNum" sz="quarter" idx="12"/>
          </p:nvPr>
        </p:nvSpPr>
        <p:spPr/>
        <p:txBody>
          <a:bodyPr/>
          <a:lstStyle/>
          <a:p>
            <a:fld id="{3AFC719D-C4A7-4544-876E-D411D11AF6C9}" type="slidenum">
              <a:rPr lang="en-US" smtClean="0">
                <a:latin typeface="Arial" panose="020B0604020202020204" pitchFamily="34" charset="0"/>
                <a:cs typeface="Arial" panose="020B0604020202020204" pitchFamily="34" charset="0"/>
              </a:rPr>
              <a:t>32</a:t>
            </a:fld>
            <a:endParaRPr lang="en-US" dirty="0">
              <a:latin typeface="Arial" panose="020B0604020202020204" pitchFamily="34" charset="0"/>
              <a:cs typeface="Arial" panose="020B0604020202020204" pitchFamily="34" charset="0"/>
            </a:endParaRPr>
          </a:p>
        </p:txBody>
      </p:sp>
      <p:graphicFrame>
        <p:nvGraphicFramePr>
          <p:cNvPr id="6" name="Table 5">
            <a:extLst>
              <a:ext uri="{FF2B5EF4-FFF2-40B4-BE49-F238E27FC236}">
                <a16:creationId xmlns:a16="http://schemas.microsoft.com/office/drawing/2014/main" id="{176BAF2A-5136-E457-9AAC-D0878752F10C}"/>
              </a:ext>
            </a:extLst>
          </p:cNvPr>
          <p:cNvGraphicFramePr>
            <a:graphicFrameLocks noGrp="1"/>
          </p:cNvGraphicFramePr>
          <p:nvPr>
            <p:extLst>
              <p:ext uri="{D42A27DB-BD31-4B8C-83A1-F6EECF244321}">
                <p14:modId xmlns:p14="http://schemas.microsoft.com/office/powerpoint/2010/main" val="2529316433"/>
              </p:ext>
            </p:extLst>
          </p:nvPr>
        </p:nvGraphicFramePr>
        <p:xfrm>
          <a:off x="438153" y="362843"/>
          <a:ext cx="6972297" cy="132080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69647">
                  <a:extLst>
                    <a:ext uri="{9D8B030D-6E8A-4147-A177-3AD203B41FA5}">
                      <a16:colId xmlns:a16="http://schemas.microsoft.com/office/drawing/2014/main" val="3987862389"/>
                    </a:ext>
                  </a:extLst>
                </a:gridCol>
                <a:gridCol w="1291169">
                  <a:extLst>
                    <a:ext uri="{9D8B030D-6E8A-4147-A177-3AD203B41FA5}">
                      <a16:colId xmlns:a16="http://schemas.microsoft.com/office/drawing/2014/main" val="2775330707"/>
                    </a:ext>
                  </a:extLst>
                </a:gridCol>
              </a:tblGrid>
              <a:tr h="370840">
                <a:tc>
                  <a:txBody>
                    <a:bodyPr/>
                    <a:lstStyle/>
                    <a:p>
                      <a:r>
                        <a:rPr lang="en-US" sz="1600" b="1" dirty="0">
                          <a:solidFill>
                            <a:schemeClr val="bg1"/>
                          </a:solidFill>
                        </a:rPr>
                        <a:t>Pre-DTE Cohort of 5,000 Members</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2">
                        <a:lumMod val="50000"/>
                      </a:schemeClr>
                    </a:solidFill>
                  </a:tcPr>
                </a:tc>
                <a:tc>
                  <a:txBody>
                    <a:bodyPr/>
                    <a:lstStyle/>
                    <a:p>
                      <a:r>
                        <a:rPr lang="en-US" sz="1600" dirty="0">
                          <a:solidFill>
                            <a:schemeClr val="bg1"/>
                          </a:solidFill>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2">
                        <a:lumMod val="50000"/>
                      </a:schemeClr>
                    </a:solidFill>
                  </a:tcPr>
                </a:tc>
                <a:tc>
                  <a:txBody>
                    <a:bodyPr/>
                    <a:lstStyle/>
                    <a:p>
                      <a:r>
                        <a:rPr lang="en-US" sz="1600" dirty="0">
                          <a:solidFill>
                            <a:schemeClr val="bg1"/>
                          </a:solidFill>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2">
                        <a:lumMod val="50000"/>
                      </a:schemeClr>
                    </a:solidFill>
                  </a:tcPr>
                </a:tc>
                <a:tc>
                  <a:txBody>
                    <a:bodyPr/>
                    <a:lstStyle/>
                    <a:p>
                      <a:r>
                        <a:rPr lang="en-US" sz="1600" dirty="0">
                          <a:solidFill>
                            <a:schemeClr val="bg1"/>
                          </a:solidFill>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2">
                        <a:lumMod val="50000"/>
                      </a:schemeClr>
                    </a:solidFill>
                  </a:tcPr>
                </a:tc>
                <a:tc>
                  <a:txBody>
                    <a:bodyPr/>
                    <a:lstStyle/>
                    <a:p>
                      <a:r>
                        <a:rPr lang="en-US" sz="1600" dirty="0">
                          <a:solidFill>
                            <a:schemeClr val="bg1"/>
                          </a:solidFill>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2">
                        <a:lumMod val="50000"/>
                      </a:schemeClr>
                    </a:solidFill>
                  </a:tcPr>
                </a:tc>
                <a:extLst>
                  <a:ext uri="{0D108BD9-81ED-4DB2-BD59-A6C34878D82A}">
                    <a16:rowId xmlns:a16="http://schemas.microsoft.com/office/drawing/2014/main" val="2532424019"/>
                  </a:ext>
                </a:extLst>
              </a:tr>
              <a:tr h="370840">
                <a:tc>
                  <a:txBody>
                    <a:bodyPr/>
                    <a:lstStyle/>
                    <a:p>
                      <a:r>
                        <a:rPr lang="en-US" sz="1600" dirty="0"/>
                        <a:t>Revenue†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Aptos Narrow" panose="020B0004020202020204" pitchFamily="34" charset="0"/>
                        </a:rPr>
                        <a:t> $ 7,852,356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Aptos Narrow" panose="020B0004020202020204" pitchFamily="34" charset="0"/>
                        </a:rPr>
                        <a:t> $ 14,276,225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Aptos Narrow" panose="020B0004020202020204" pitchFamily="34" charset="0"/>
                        </a:rPr>
                        <a:t> $ 3,904,686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Aptos Narrow" panose="020B0004020202020204" pitchFamily="34" charset="0"/>
                        </a:rPr>
                        <a:t> $ 26,033,267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370840">
                <a:tc>
                  <a:txBody>
                    <a:bodyPr/>
                    <a:lstStyle/>
                    <a:p>
                      <a:r>
                        <a:rPr lang="en-US" sz="1600" dirty="0"/>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$ 2,015,913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$ 3,665,094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$ 1,002,439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$ 6,683,446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cxnSp>
        <p:nvCxnSpPr>
          <p:cNvPr id="14" name="Straight Connector 13">
            <a:extLst>
              <a:ext uri="{FF2B5EF4-FFF2-40B4-BE49-F238E27FC236}">
                <a16:creationId xmlns:a16="http://schemas.microsoft.com/office/drawing/2014/main" id="{8EA958C5-E105-8A94-794A-7A8EB2DFEBDC}"/>
              </a:ext>
            </a:extLst>
          </p:cNvPr>
          <p:cNvCxnSpPr/>
          <p:nvPr/>
        </p:nvCxnSpPr>
        <p:spPr>
          <a:xfrm>
            <a:off x="336551" y="3314684"/>
            <a:ext cx="6464300" cy="0"/>
          </a:xfrm>
          <a:prstGeom prst="line">
            <a:avLst/>
          </a:prstGeom>
          <a:ln w="571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graphicFrame>
        <p:nvGraphicFramePr>
          <p:cNvPr id="15" name="Table 14">
            <a:extLst>
              <a:ext uri="{FF2B5EF4-FFF2-40B4-BE49-F238E27FC236}">
                <a16:creationId xmlns:a16="http://schemas.microsoft.com/office/drawing/2014/main" id="{FF3ACACB-7F38-7EAA-4BDF-1A816CA00AAE}"/>
              </a:ext>
            </a:extLst>
          </p:cNvPr>
          <p:cNvGraphicFramePr>
            <a:graphicFrameLocks noGrp="1"/>
          </p:cNvGraphicFramePr>
          <p:nvPr>
            <p:extLst>
              <p:ext uri="{D42A27DB-BD31-4B8C-83A1-F6EECF244321}">
                <p14:modId xmlns:p14="http://schemas.microsoft.com/office/powerpoint/2010/main" val="2701812096"/>
              </p:ext>
            </p:extLst>
          </p:nvPr>
        </p:nvGraphicFramePr>
        <p:xfrm>
          <a:off x="482600" y="3684017"/>
          <a:ext cx="6927847" cy="2225040"/>
        </p:xfrm>
        <a:graphic>
          <a:graphicData uri="http://schemas.openxmlformats.org/drawingml/2006/table">
            <a:tbl>
              <a:tblPr firstRow="1" bandRow="1">
                <a:tableStyleId>{5940675A-B579-460E-94D1-54222C63F5DA}</a:tableStyleId>
              </a:tblPr>
              <a:tblGrid>
                <a:gridCol w="5622925">
                  <a:extLst>
                    <a:ext uri="{9D8B030D-6E8A-4147-A177-3AD203B41FA5}">
                      <a16:colId xmlns:a16="http://schemas.microsoft.com/office/drawing/2014/main" val="1938271373"/>
                    </a:ext>
                  </a:extLst>
                </a:gridCol>
                <a:gridCol w="1304922">
                  <a:extLst>
                    <a:ext uri="{9D8B030D-6E8A-4147-A177-3AD203B41FA5}">
                      <a16:colId xmlns:a16="http://schemas.microsoft.com/office/drawing/2014/main" val="232002059"/>
                    </a:ext>
                  </a:extLst>
                </a:gridCol>
              </a:tblGrid>
              <a:tr h="370840">
                <a:tc>
                  <a:txBody>
                    <a:bodyPr/>
                    <a:lstStyle/>
                    <a:p>
                      <a:r>
                        <a:rPr lang="en-US" dirty="0"/>
                        <a:t>Total Increase in 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6">
                              <a:lumMod val="75000"/>
                            </a:schemeClr>
                          </a:solidFill>
                        </a:rPr>
                        <a:t>$ 3,944,966</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02265742"/>
                  </a:ext>
                </a:extLst>
              </a:tr>
              <a:tr h="370840">
                <a:tc>
                  <a:txBody>
                    <a:bodyPr/>
                    <a:lstStyle/>
                    <a:p>
                      <a:r>
                        <a:rPr lang="en-US" dirty="0"/>
                        <a:t>Network Access Fee (Revenue) of $1 PMPM</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6">
                              <a:lumMod val="75000"/>
                            </a:schemeClr>
                          </a:solidFill>
                        </a:rPr>
                        <a:t>$ 60,000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504911518"/>
                  </a:ext>
                </a:extLst>
              </a:tr>
              <a:tr h="370840">
                <a:tc>
                  <a:txBody>
                    <a:bodyPr/>
                    <a:lstStyle/>
                    <a:p>
                      <a:r>
                        <a:rPr lang="en-US" dirty="0"/>
                        <a:t>Total Profit Growth</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6">
                              <a:lumMod val="75000"/>
                            </a:schemeClr>
                          </a:solidFill>
                        </a:rPr>
                        <a:t>$ 4,006,966</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634671075"/>
                  </a:ext>
                </a:extLst>
              </a:tr>
              <a:tr h="370840">
                <a:tc>
                  <a:txBody>
                    <a:bodyPr/>
                    <a:lstStyle/>
                    <a:p>
                      <a:r>
                        <a:rPr lang="en-US" dirty="0"/>
                        <a:t>Minus Implementation Fee (One Time)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2"/>
                          </a:solidFill>
                        </a:rPr>
                        <a:t>-$ 150,000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56359922"/>
                  </a:ext>
                </a:extLst>
              </a:tr>
              <a:tr h="370840">
                <a:tc>
                  <a:txBody>
                    <a:bodyPr/>
                    <a:lstStyle/>
                    <a:p>
                      <a:r>
                        <a:rPr lang="en-US" dirty="0"/>
                        <a:t>Minus Sales and Marketing (Annual – Ongoing)</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2"/>
                          </a:solidFill>
                        </a:rPr>
                        <a:t>-$ 180,000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792837724"/>
                  </a:ext>
                </a:extLst>
              </a:tr>
              <a:tr h="370840">
                <a:tc>
                  <a:txBody>
                    <a:bodyPr/>
                    <a:lstStyle/>
                    <a:p>
                      <a:r>
                        <a:rPr lang="en-US" b="1" dirty="0"/>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b="1" dirty="0">
                          <a:solidFill>
                            <a:schemeClr val="accent6">
                              <a:lumMod val="75000"/>
                            </a:schemeClr>
                          </a:solidFill>
                        </a:rPr>
                        <a:t>$ 3,724,966</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159790193"/>
                  </a:ext>
                </a:extLst>
              </a:tr>
            </a:tbl>
          </a:graphicData>
        </a:graphic>
      </p:graphicFrame>
      <p:graphicFrame>
        <p:nvGraphicFramePr>
          <p:cNvPr id="16" name="Table 15">
            <a:extLst>
              <a:ext uri="{FF2B5EF4-FFF2-40B4-BE49-F238E27FC236}">
                <a16:creationId xmlns:a16="http://schemas.microsoft.com/office/drawing/2014/main" id="{32A51F3A-032C-30E2-F635-DD59B5A29A34}"/>
              </a:ext>
            </a:extLst>
          </p:cNvPr>
          <p:cNvGraphicFramePr>
            <a:graphicFrameLocks noGrp="1"/>
          </p:cNvGraphicFramePr>
          <p:nvPr>
            <p:extLst>
              <p:ext uri="{D42A27DB-BD31-4B8C-83A1-F6EECF244321}">
                <p14:modId xmlns:p14="http://schemas.microsoft.com/office/powerpoint/2010/main" val="236691930"/>
              </p:ext>
            </p:extLst>
          </p:nvPr>
        </p:nvGraphicFramePr>
        <p:xfrm>
          <a:off x="438152" y="1832834"/>
          <a:ext cx="6972296" cy="100584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58888">
                  <a:extLst>
                    <a:ext uri="{9D8B030D-6E8A-4147-A177-3AD203B41FA5}">
                      <a16:colId xmlns:a16="http://schemas.microsoft.com/office/drawing/2014/main" val="3987862389"/>
                    </a:ext>
                  </a:extLst>
                </a:gridCol>
                <a:gridCol w="1301927">
                  <a:extLst>
                    <a:ext uri="{9D8B030D-6E8A-4147-A177-3AD203B41FA5}">
                      <a16:colId xmlns:a16="http://schemas.microsoft.com/office/drawing/2014/main" val="2775330707"/>
                    </a:ext>
                  </a:extLst>
                </a:gridCol>
              </a:tblGrid>
              <a:tr h="272069">
                <a:tc>
                  <a:txBody>
                    <a:bodyPr/>
                    <a:lstStyle/>
                    <a:p>
                      <a:r>
                        <a:rPr lang="en-US" sz="1600" b="1" dirty="0">
                          <a:solidFill>
                            <a:schemeClr val="bg1"/>
                          </a:solidFill>
                        </a:rPr>
                        <a:t>With DTE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1">
                        <a:lumMod val="50000"/>
                      </a:schemeClr>
                    </a:solidFill>
                  </a:tcPr>
                </a:tc>
                <a:tc>
                  <a:txBody>
                    <a:bodyPr/>
                    <a:lstStyle/>
                    <a:p>
                      <a:r>
                        <a:rPr lang="en-US" sz="1600" b="1" dirty="0">
                          <a:solidFill>
                            <a:schemeClr val="bg1"/>
                          </a:solidFill>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1">
                        <a:lumMod val="50000"/>
                      </a:schemeClr>
                    </a:solidFill>
                  </a:tcPr>
                </a:tc>
                <a:tc>
                  <a:txBody>
                    <a:bodyPr/>
                    <a:lstStyle/>
                    <a:p>
                      <a:r>
                        <a:rPr lang="en-US" sz="1600" b="1" dirty="0">
                          <a:solidFill>
                            <a:schemeClr val="bg1"/>
                          </a:solidFill>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1">
                        <a:lumMod val="50000"/>
                      </a:schemeClr>
                    </a:solidFill>
                  </a:tcPr>
                </a:tc>
                <a:tc>
                  <a:txBody>
                    <a:bodyPr/>
                    <a:lstStyle/>
                    <a:p>
                      <a:r>
                        <a:rPr lang="en-US" sz="1600" b="1" dirty="0">
                          <a:solidFill>
                            <a:schemeClr val="bg1"/>
                          </a:solidFill>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1">
                        <a:lumMod val="50000"/>
                      </a:schemeClr>
                    </a:solidFill>
                  </a:tcPr>
                </a:tc>
                <a:tc>
                  <a:txBody>
                    <a:bodyPr/>
                    <a:lstStyle/>
                    <a:p>
                      <a:r>
                        <a:rPr lang="en-US" sz="1600" b="1" dirty="0">
                          <a:solidFill>
                            <a:schemeClr val="bg1"/>
                          </a:solidFill>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2532424019"/>
                  </a:ext>
                </a:extLst>
              </a:tr>
              <a:tr h="299554">
                <a:tc>
                  <a:txBody>
                    <a:bodyPr/>
                    <a:lstStyle/>
                    <a:p>
                      <a:r>
                        <a:rPr lang="en-US" sz="1600" dirty="0"/>
                        <a:t>Revenue⁰</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Aptos Narrow" panose="020B0004020202020204" pitchFamily="34" charset="0"/>
                        </a:rPr>
                        <a:t> $ 14,086,569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Aptos Narrow" panose="020B0004020202020204" pitchFamily="34" charset="0"/>
                        </a:rPr>
                        <a:t> $ 25,610,536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Aptos Narrow" panose="020B0004020202020204" pitchFamily="34" charset="0"/>
                        </a:rPr>
                        <a:t> $ 11,957,519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Aptos Narrow" panose="020B0004020202020204" pitchFamily="34" charset="0"/>
                        </a:rPr>
                        <a:t> $ 51,654,624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272069">
                <a:tc>
                  <a:txBody>
                    <a:bodyPr/>
                    <a:lstStyle/>
                    <a:p>
                      <a:r>
                        <a:rPr lang="en-US" sz="1600" dirty="0"/>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$ 2,912,076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$ 5,294,392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$ 2,471,943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$ 10,678,411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sp>
        <p:nvSpPr>
          <p:cNvPr id="2" name="TextBox 1">
            <a:extLst>
              <a:ext uri="{FF2B5EF4-FFF2-40B4-BE49-F238E27FC236}">
                <a16:creationId xmlns:a16="http://schemas.microsoft.com/office/drawing/2014/main" id="{60820A86-1B9D-21A4-BBB6-DDFB73605882}"/>
              </a:ext>
            </a:extLst>
          </p:cNvPr>
          <p:cNvSpPr txBox="1"/>
          <p:nvPr/>
        </p:nvSpPr>
        <p:spPr>
          <a:xfrm>
            <a:off x="7772647" y="875949"/>
            <a:ext cx="4318001" cy="523220"/>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 Assuming proportional revenues from market shares of 38% (inpatient) and 23% (outpatient)</a:t>
            </a:r>
          </a:p>
        </p:txBody>
      </p:sp>
      <p:sp>
        <p:nvSpPr>
          <p:cNvPr id="3" name="TextBox 2">
            <a:extLst>
              <a:ext uri="{FF2B5EF4-FFF2-40B4-BE49-F238E27FC236}">
                <a16:creationId xmlns:a16="http://schemas.microsoft.com/office/drawing/2014/main" id="{6CDBA057-BBD2-8F54-E977-26B782E37F88}"/>
              </a:ext>
            </a:extLst>
          </p:cNvPr>
          <p:cNvSpPr txBox="1"/>
          <p:nvPr/>
        </p:nvSpPr>
        <p:spPr>
          <a:xfrm>
            <a:off x="7772646" y="1399169"/>
            <a:ext cx="4318001" cy="523220"/>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 Conservatively assuming a commercial margin of 27% (70% of the estimated commercial margin)</a:t>
            </a:r>
          </a:p>
        </p:txBody>
      </p:sp>
      <p:sp>
        <p:nvSpPr>
          <p:cNvPr id="7" name="TextBox 6">
            <a:extLst>
              <a:ext uri="{FF2B5EF4-FFF2-40B4-BE49-F238E27FC236}">
                <a16:creationId xmlns:a16="http://schemas.microsoft.com/office/drawing/2014/main" id="{C690F22E-C9CA-61DC-5584-149573110610}"/>
              </a:ext>
            </a:extLst>
          </p:cNvPr>
          <p:cNvSpPr txBox="1"/>
          <p:nvPr/>
        </p:nvSpPr>
        <p:spPr>
          <a:xfrm>
            <a:off x="7772646" y="2133704"/>
            <a:ext cx="4318001" cy="523220"/>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⁰ Assuming 77.42% market share based on KBA narrow network DTE experience</a:t>
            </a:r>
          </a:p>
        </p:txBody>
      </p:sp>
      <p:sp>
        <p:nvSpPr>
          <p:cNvPr id="8" name="TextBox 7">
            <a:extLst>
              <a:ext uri="{FF2B5EF4-FFF2-40B4-BE49-F238E27FC236}">
                <a16:creationId xmlns:a16="http://schemas.microsoft.com/office/drawing/2014/main" id="{A897897D-C568-B204-6568-514AD4B71A5C}"/>
              </a:ext>
            </a:extLst>
          </p:cNvPr>
          <p:cNvSpPr txBox="1"/>
          <p:nvPr/>
        </p:nvSpPr>
        <p:spPr>
          <a:xfrm>
            <a:off x="7772646" y="2690336"/>
            <a:ext cx="4318001" cy="954107"/>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 Conservatively assuming a commercial margin of 22%, with a 10 percentage-point reduction to reflect competitive-edge rates and a 5 percentage-point increase to reflect lower billing costs.  </a:t>
            </a:r>
          </a:p>
        </p:txBody>
      </p:sp>
    </p:spTree>
    <p:extLst>
      <p:ext uri="{BB962C8B-B14F-4D97-AF65-F5344CB8AC3E}">
        <p14:creationId xmlns:p14="http://schemas.microsoft.com/office/powerpoint/2010/main" val="141981655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2"/>
          <p:cNvGraphicFramePr>
            <a:graphicFrameLocks noGrp="1"/>
          </p:cNvGraphicFramePr>
          <p:nvPr>
            <p:extLst>
              <p:ext uri="{D42A27DB-BD31-4B8C-83A1-F6EECF244321}">
                <p14:modId xmlns:p14="http://schemas.microsoft.com/office/powerpoint/2010/main" val="3986353963"/>
              </p:ext>
            </p:extLst>
          </p:nvPr>
        </p:nvGraphicFramePr>
        <p:xfrm>
          <a:off x="0" y="-95250"/>
          <a:ext cx="12192002" cy="6780062"/>
        </p:xfrm>
        <a:graphic>
          <a:graphicData uri="http://schemas.openxmlformats.org/drawingml/2006/table">
            <a:tbl>
              <a:tblPr/>
              <a:tblGrid>
                <a:gridCol w="3585882">
                  <a:extLst>
                    <a:ext uri="{9D8B030D-6E8A-4147-A177-3AD203B41FA5}">
                      <a16:colId xmlns:a16="http://schemas.microsoft.com/office/drawing/2014/main" val="20000"/>
                    </a:ext>
                  </a:extLst>
                </a:gridCol>
                <a:gridCol w="1721224">
                  <a:extLst>
                    <a:ext uri="{9D8B030D-6E8A-4147-A177-3AD203B41FA5}">
                      <a16:colId xmlns:a16="http://schemas.microsoft.com/office/drawing/2014/main" val="20001"/>
                    </a:ext>
                  </a:extLst>
                </a:gridCol>
                <a:gridCol w="1721224">
                  <a:extLst>
                    <a:ext uri="{9D8B030D-6E8A-4147-A177-3AD203B41FA5}">
                      <a16:colId xmlns:a16="http://schemas.microsoft.com/office/drawing/2014/main" val="20002"/>
                    </a:ext>
                  </a:extLst>
                </a:gridCol>
                <a:gridCol w="1721224">
                  <a:extLst>
                    <a:ext uri="{9D8B030D-6E8A-4147-A177-3AD203B41FA5}">
                      <a16:colId xmlns:a16="http://schemas.microsoft.com/office/drawing/2014/main" val="20003"/>
                    </a:ext>
                  </a:extLst>
                </a:gridCol>
                <a:gridCol w="1721224">
                  <a:extLst>
                    <a:ext uri="{9D8B030D-6E8A-4147-A177-3AD203B41FA5}">
                      <a16:colId xmlns:a16="http://schemas.microsoft.com/office/drawing/2014/main" val="20004"/>
                    </a:ext>
                  </a:extLst>
                </a:gridCol>
                <a:gridCol w="1721224">
                  <a:extLst>
                    <a:ext uri="{9D8B030D-6E8A-4147-A177-3AD203B41FA5}">
                      <a16:colId xmlns:a16="http://schemas.microsoft.com/office/drawing/2014/main" val="20005"/>
                    </a:ext>
                  </a:extLst>
                </a:gridCol>
              </a:tblGrid>
              <a:tr h="868513">
                <a:tc gridSpan="6">
                  <a:txBody>
                    <a:bodyPr/>
                    <a:lstStyle/>
                    <a:p>
                      <a:pPr marL="127000" marR="127000" algn="l">
                        <a:lnSpc>
                          <a:spcPct val="100000"/>
                        </a:lnSpc>
                        <a:spcBef>
                          <a:spcPts val="1000"/>
                        </a:spcBef>
                        <a:spcAft>
                          <a:spcPts val="1000"/>
                        </a:spcAft>
                        <a:buNone/>
                      </a:pPr>
                      <a:r>
                        <a:rPr lang="en-US" sz="2000" b="1" i="0" u="none" cap="none" dirty="0">
                          <a:solidFill>
                            <a:srgbClr val="FFFFFF">
                              <a:alpha val="100000"/>
                            </a:srgbClr>
                          </a:solidFill>
                          <a:latin typeface="Arial"/>
                          <a:cs typeface="Arial"/>
                          <a:sym typeface="Arial"/>
                        </a:rPr>
                        <a:t>Overall System </a:t>
                      </a:r>
                      <a:r>
                        <a:rPr sz="2000" b="1" i="0" u="none" cap="none" dirty="0">
                          <a:solidFill>
                            <a:srgbClr val="FFFFFF">
                              <a:alpha val="100000"/>
                            </a:srgbClr>
                          </a:solidFill>
                          <a:latin typeface="Arial"/>
                          <a:cs typeface="Arial"/>
                          <a:sym typeface="Arial"/>
                        </a:rPr>
                        <a:t>Financial Metrics Estimated With Conservative Margin Estimate of 26%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Financial Metrics Estimated With Conservative Margin Estimate of 26%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Financial Metrics Estimated With Conservative Margin Estimate of 26%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Financial Metrics Estimated With Conservative Margin Estimate of 26%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Financial Metrics Estimated With Conservative Margin Estimate of 26%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Financial Metrics Estimated With Conservative Margin Estimate of 26%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0"/>
                  </a:ext>
                </a:extLst>
              </a:tr>
              <a:tr h="470019">
                <a:tc gridSpan="6">
                  <a:txBody>
                    <a:bodyPr/>
                    <a:lstStyle/>
                    <a:p>
                      <a:pPr marL="127000" marR="127000" algn="l">
                        <a:lnSpc>
                          <a:spcPct val="100000"/>
                        </a:lnSpc>
                        <a:spcBef>
                          <a:spcPts val="1000"/>
                        </a:spcBef>
                        <a:spcAft>
                          <a:spcPts val="1000"/>
                        </a:spcAft>
                        <a:buNone/>
                      </a:pPr>
                      <a:r>
                        <a:rPr sz="1400" b="1" i="0" u="none" cap="none" dirty="0">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1"/>
                  </a:ext>
                </a:extLst>
              </a:tr>
              <a:tr h="761226">
                <a:tc>
                  <a:txBody>
                    <a:bodyPr/>
                    <a:lstStyle/>
                    <a:p>
                      <a:pPr marL="127000" marR="127000" algn="l">
                        <a:lnSpc>
                          <a:spcPct val="100000"/>
                        </a:lnSpc>
                        <a:spcBef>
                          <a:spcPts val="1000"/>
                        </a:spcBef>
                        <a:spcAft>
                          <a:spcPts val="1000"/>
                        </a:spcAft>
                        <a:buNone/>
                      </a:pPr>
                      <a:r>
                        <a:rPr sz="1200" b="1" i="0" u="none" cap="none" dirty="0">
                          <a:solidFill>
                            <a:srgbClr val="000000">
                              <a:alpha val="100000"/>
                            </a:srgbClr>
                          </a:solidFill>
                          <a:latin typeface="Arial"/>
                          <a:cs typeface="Arial"/>
                          <a:sym typeface="Arial"/>
                        </a:rPr>
                        <a:t>Metric</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200" b="1" i="0" u="none" cap="none">
                          <a:solidFill>
                            <a:srgbClr val="000000">
                              <a:alpha val="100000"/>
                            </a:srgbClr>
                          </a:solidFill>
                          <a:latin typeface="Arial"/>
                          <a:cs typeface="Arial"/>
                          <a:sym typeface="Arial"/>
                        </a:rPr>
                        <a:t>500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200" b="1" i="0" u="none" cap="none">
                          <a:solidFill>
                            <a:srgbClr val="000000">
                              <a:alpha val="100000"/>
                            </a:srgbClr>
                          </a:solidFill>
                          <a:latin typeface="Arial"/>
                          <a:cs typeface="Arial"/>
                          <a:sym typeface="Arial"/>
                        </a:rPr>
                        <a:t>1000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200" b="1" i="0" u="none" cap="none">
                          <a:solidFill>
                            <a:srgbClr val="000000">
                              <a:alpha val="100000"/>
                            </a:srgbClr>
                          </a:solidFill>
                          <a:latin typeface="Arial"/>
                          <a:cs typeface="Arial"/>
                          <a:sym typeface="Arial"/>
                        </a:rPr>
                        <a:t>5000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200" b="1" i="0" u="none" cap="none">
                          <a:solidFill>
                            <a:srgbClr val="000000">
                              <a:alpha val="100000"/>
                            </a:srgbClr>
                          </a:solidFill>
                          <a:latin typeface="Arial"/>
                          <a:cs typeface="Arial"/>
                          <a:sym typeface="Arial"/>
                        </a:rPr>
                        <a:t>10000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200" b="1" i="0" u="none" cap="none">
                          <a:solidFill>
                            <a:srgbClr val="000000">
                              <a:alpha val="100000"/>
                            </a:srgbClr>
                          </a:solidFill>
                          <a:latin typeface="Arial"/>
                          <a:cs typeface="Arial"/>
                          <a:sym typeface="Arial"/>
                        </a:rPr>
                        <a:t>20000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424039">
                <a:tc>
                  <a:txBody>
                    <a:bodyPr/>
                    <a:lstStyle/>
                    <a:p>
                      <a:pPr marL="127000" marR="127000" algn="l">
                        <a:lnSpc>
                          <a:spcPct val="100000"/>
                        </a:lnSpc>
                        <a:spcBef>
                          <a:spcPts val="1000"/>
                        </a:spcBef>
                        <a:spcAft>
                          <a:spcPts val="1000"/>
                        </a:spcAft>
                        <a:buNone/>
                      </a:pPr>
                      <a:r>
                        <a:rPr sz="1200" b="0" i="0" u="none" cap="none" dirty="0">
                          <a:solidFill>
                            <a:srgbClr val="000000">
                              <a:alpha val="100000"/>
                            </a:srgbClr>
                          </a:solidFill>
                          <a:latin typeface="Arial"/>
                          <a:cs typeface="Arial"/>
                          <a:sym typeface="Arial"/>
                        </a:rPr>
                        <a:t>Pre-DTE Group Total Revenue</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$2,536.6</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$5,073.2</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$25,366.1</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$50,732.1</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dirty="0">
                          <a:solidFill>
                            <a:srgbClr val="000000">
                              <a:alpha val="100000"/>
                            </a:srgbClr>
                          </a:solidFill>
                          <a:latin typeface="Arial"/>
                          <a:cs typeface="Arial"/>
                          <a:sym typeface="Arial"/>
                        </a:rPr>
                        <a:t>$101,464.3</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1"/>
                  </a:ext>
                </a:extLst>
              </a:tr>
              <a:tr h="424039">
                <a:tc>
                  <a:txBody>
                    <a:bodyPr/>
                    <a:lstStyle/>
                    <a:p>
                      <a:pPr marL="127000" marR="127000" algn="l">
                        <a:lnSpc>
                          <a:spcPct val="100000"/>
                        </a:lnSpc>
                        <a:spcBef>
                          <a:spcPts val="1000"/>
                        </a:spcBef>
                        <a:spcAft>
                          <a:spcPts val="1000"/>
                        </a:spcAft>
                        <a:buNone/>
                      </a:pPr>
                      <a:r>
                        <a:rPr sz="1200" b="0" i="0" u="none" cap="none">
                          <a:solidFill>
                            <a:srgbClr val="000000">
                              <a:alpha val="100000"/>
                            </a:srgbClr>
                          </a:solidFill>
                          <a:latin typeface="Arial"/>
                          <a:cs typeface="Arial"/>
                          <a:sym typeface="Arial"/>
                        </a:rPr>
                        <a:t>Pre-DTE Group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$651.2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$1,302.4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$6,512.2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$13,024.3</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$26,048.6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2"/>
                  </a:ext>
                </a:extLst>
              </a:tr>
              <a:tr h="424039">
                <a:tc>
                  <a:txBody>
                    <a:bodyPr/>
                    <a:lstStyle/>
                    <a:p>
                      <a:pPr marL="127000" marR="127000" algn="l">
                        <a:lnSpc>
                          <a:spcPct val="100000"/>
                        </a:lnSpc>
                        <a:spcBef>
                          <a:spcPts val="1000"/>
                        </a:spcBef>
                        <a:spcAft>
                          <a:spcPts val="1000"/>
                        </a:spcAft>
                        <a:buNone/>
                      </a:pPr>
                      <a:r>
                        <a:rPr sz="1200" b="0" i="0" u="none" cap="none">
                          <a:solidFill>
                            <a:srgbClr val="000000">
                              <a:alpha val="100000"/>
                            </a:srgbClr>
                          </a:solidFill>
                          <a:latin typeface="Arial"/>
                          <a:cs typeface="Arial"/>
                          <a:sym typeface="Arial"/>
                        </a:rPr>
                        <a:t>DTE Group Total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$5,165.5</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$10,330.9</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$51,654.6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$103,309.2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$206,618.5</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3"/>
                  </a:ext>
                </a:extLst>
              </a:tr>
              <a:tr h="592632">
                <a:tc>
                  <a:txBody>
                    <a:bodyPr/>
                    <a:lstStyle/>
                    <a:p>
                      <a:pPr marL="127000" marR="127000" algn="l">
                        <a:lnSpc>
                          <a:spcPct val="100000"/>
                        </a:lnSpc>
                        <a:spcBef>
                          <a:spcPts val="1000"/>
                        </a:spcBef>
                        <a:spcAft>
                          <a:spcPts val="1000"/>
                        </a:spcAft>
                        <a:buNone/>
                      </a:pPr>
                      <a:r>
                        <a:rPr sz="1200" b="0" i="0" u="none" cap="none">
                          <a:solidFill>
                            <a:srgbClr val="000000">
                              <a:alpha val="100000"/>
                            </a:srgbClr>
                          </a:solidFill>
                          <a:latin typeface="Arial"/>
                          <a:cs typeface="Arial"/>
                          <a:sym typeface="Arial"/>
                        </a:rPr>
                        <a:t>DTE Group Incremental Total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dirty="0">
                          <a:solidFill>
                            <a:srgbClr val="000000">
                              <a:alpha val="100000"/>
                            </a:srgbClr>
                          </a:solidFill>
                          <a:latin typeface="Arial"/>
                          <a:cs typeface="Arial"/>
                          <a:sym typeface="Arial"/>
                        </a:rPr>
                        <a:t>$2,628.9</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$5,257.7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$26,288.6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$52,577.1</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$105,154.2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4"/>
                  </a:ext>
                </a:extLst>
              </a:tr>
              <a:tr h="424039">
                <a:tc>
                  <a:txBody>
                    <a:bodyPr/>
                    <a:lstStyle/>
                    <a:p>
                      <a:pPr marL="127000" marR="127000" algn="l">
                        <a:lnSpc>
                          <a:spcPct val="100000"/>
                        </a:lnSpc>
                        <a:spcBef>
                          <a:spcPts val="1000"/>
                        </a:spcBef>
                        <a:spcAft>
                          <a:spcPts val="1000"/>
                        </a:spcAft>
                        <a:buNone/>
                      </a:pPr>
                      <a:r>
                        <a:rPr sz="1200" b="0" i="0" u="none" cap="none">
                          <a:solidFill>
                            <a:srgbClr val="000000">
                              <a:alpha val="100000"/>
                            </a:srgbClr>
                          </a:solidFill>
                          <a:latin typeface="Arial"/>
                          <a:cs typeface="Arial"/>
                          <a:sym typeface="Arial"/>
                        </a:rPr>
                        <a:t>DTE Group Group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dirty="0">
                          <a:solidFill>
                            <a:srgbClr val="000000">
                              <a:alpha val="100000"/>
                            </a:srgbClr>
                          </a:solidFill>
                          <a:latin typeface="Arial"/>
                          <a:cs typeface="Arial"/>
                          <a:sym typeface="Arial"/>
                        </a:rPr>
                        <a:t>$1,067.8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$2,135.7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$10,678.4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$21,356.8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$42,713.6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5"/>
                  </a:ext>
                </a:extLst>
              </a:tr>
              <a:tr h="592632">
                <a:tc>
                  <a:txBody>
                    <a:bodyPr/>
                    <a:lstStyle/>
                    <a:p>
                      <a:pPr marL="127000" marR="127000" algn="l">
                        <a:lnSpc>
                          <a:spcPct val="100000"/>
                        </a:lnSpc>
                        <a:spcBef>
                          <a:spcPts val="1000"/>
                        </a:spcBef>
                        <a:spcAft>
                          <a:spcPts val="1000"/>
                        </a:spcAft>
                        <a:buNone/>
                      </a:pPr>
                      <a:r>
                        <a:rPr sz="1200" b="0" i="0" u="none" cap="none">
                          <a:solidFill>
                            <a:srgbClr val="000000">
                              <a:alpha val="100000"/>
                            </a:srgbClr>
                          </a:solidFill>
                          <a:latin typeface="Arial"/>
                          <a:cs typeface="Arial"/>
                          <a:sym typeface="Arial"/>
                        </a:rPr>
                        <a:t>DTE Group Incremental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$416.6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dirty="0">
                          <a:solidFill>
                            <a:srgbClr val="000000">
                              <a:alpha val="100000"/>
                            </a:srgbClr>
                          </a:solidFill>
                          <a:latin typeface="Arial"/>
                          <a:cs typeface="Arial"/>
                          <a:sym typeface="Arial"/>
                        </a:rPr>
                        <a:t>$833.3</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$4,166.3</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$8,332.5</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$16,665.0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6"/>
                  </a:ext>
                </a:extLst>
              </a:tr>
              <a:tr h="424039">
                <a:tc>
                  <a:txBody>
                    <a:bodyPr/>
                    <a:lstStyle/>
                    <a:p>
                      <a:pPr marL="127000" marR="127000" algn="l">
                        <a:lnSpc>
                          <a:spcPct val="100000"/>
                        </a:lnSpc>
                        <a:spcBef>
                          <a:spcPts val="1000"/>
                        </a:spcBef>
                        <a:spcAft>
                          <a:spcPts val="1000"/>
                        </a:spcAft>
                        <a:buNone/>
                      </a:pPr>
                      <a:r>
                        <a:rPr sz="1200" b="0" i="0" u="none" cap="none">
                          <a:solidFill>
                            <a:srgbClr val="000000">
                              <a:alpha val="100000"/>
                            </a:srgbClr>
                          </a:solidFill>
                          <a:latin typeface="Arial"/>
                          <a:cs typeface="Arial"/>
                          <a:sym typeface="Arial"/>
                        </a:rPr>
                        <a:t>Wellness Share</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$6.0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$12.0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dirty="0">
                          <a:solidFill>
                            <a:srgbClr val="000000">
                              <a:alpha val="100000"/>
                            </a:srgbClr>
                          </a:solidFill>
                          <a:latin typeface="Arial"/>
                          <a:cs typeface="Arial"/>
                          <a:sym typeface="Arial"/>
                        </a:rPr>
                        <a:t>$60.0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$120.0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$240.0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7"/>
                  </a:ext>
                </a:extLst>
              </a:tr>
              <a:tr h="424039">
                <a:tc>
                  <a:txBody>
                    <a:bodyPr/>
                    <a:lstStyle/>
                    <a:p>
                      <a:pPr marL="127000" marR="127000" algn="l">
                        <a:lnSpc>
                          <a:spcPct val="100000"/>
                        </a:lnSpc>
                        <a:spcBef>
                          <a:spcPts val="1000"/>
                        </a:spcBef>
                        <a:spcAft>
                          <a:spcPts val="1000"/>
                        </a:spcAft>
                        <a:buNone/>
                      </a:pPr>
                      <a:r>
                        <a:rPr sz="1200" b="0" i="0" u="none" cap="none">
                          <a:solidFill>
                            <a:srgbClr val="000000">
                              <a:alpha val="100000"/>
                            </a:srgbClr>
                          </a:solidFill>
                          <a:latin typeface="Arial"/>
                          <a:cs typeface="Arial"/>
                          <a:sym typeface="Arial"/>
                        </a:rPr>
                        <a:t>Implementation Fee (One Time)</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$150.0</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$150.0</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$150.0</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dirty="0">
                          <a:solidFill>
                            <a:srgbClr val="000000">
                              <a:alpha val="100000"/>
                            </a:srgbClr>
                          </a:solidFill>
                          <a:latin typeface="Arial"/>
                          <a:cs typeface="Arial"/>
                          <a:sym typeface="Arial"/>
                        </a:rPr>
                        <a:t>$150.0</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$150.0</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8"/>
                  </a:ext>
                </a:extLst>
              </a:tr>
              <a:tr h="424039">
                <a:tc>
                  <a:txBody>
                    <a:bodyPr/>
                    <a:lstStyle/>
                    <a:p>
                      <a:pPr marL="127000" marR="127000" algn="l">
                        <a:lnSpc>
                          <a:spcPct val="100000"/>
                        </a:lnSpc>
                        <a:spcBef>
                          <a:spcPts val="1000"/>
                        </a:spcBef>
                        <a:spcAft>
                          <a:spcPts val="1000"/>
                        </a:spcAft>
                        <a:buNone/>
                      </a:pPr>
                      <a:r>
                        <a:rPr sz="1200" b="0" i="0" u="none" cap="none">
                          <a:solidFill>
                            <a:srgbClr val="000000">
                              <a:alpha val="100000"/>
                            </a:srgbClr>
                          </a:solidFill>
                          <a:latin typeface="Arial"/>
                          <a:cs typeface="Arial"/>
                          <a:sym typeface="Arial"/>
                        </a:rPr>
                        <a:t>Sales and Marketing Annual Fee</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$180.0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$180.0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$180.0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dirty="0">
                          <a:solidFill>
                            <a:srgbClr val="000000">
                              <a:alpha val="100000"/>
                            </a:srgbClr>
                          </a:solidFill>
                          <a:latin typeface="Arial"/>
                          <a:cs typeface="Arial"/>
                          <a:sym typeface="Arial"/>
                        </a:rPr>
                        <a:t>$180.0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dirty="0">
                          <a:solidFill>
                            <a:srgbClr val="000000">
                              <a:alpha val="100000"/>
                            </a:srgbClr>
                          </a:solidFill>
                          <a:latin typeface="Arial"/>
                          <a:cs typeface="Arial"/>
                          <a:sym typeface="Arial"/>
                        </a:rPr>
                        <a:t>$180.0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9"/>
                  </a:ext>
                </a:extLst>
              </a:tr>
              <a:tr h="424039">
                <a:tc>
                  <a:txBody>
                    <a:bodyPr/>
                    <a:lstStyle/>
                    <a:p>
                      <a:pPr marL="127000" marR="127000" algn="l">
                        <a:lnSpc>
                          <a:spcPct val="100000"/>
                        </a:lnSpc>
                        <a:spcBef>
                          <a:spcPts val="1000"/>
                        </a:spcBef>
                        <a:spcAft>
                          <a:spcPts val="1000"/>
                        </a:spcAft>
                        <a:buNone/>
                      </a:pPr>
                      <a:r>
                        <a:rPr sz="1200" b="1" i="0" u="none" cap="none">
                          <a:solidFill>
                            <a:srgbClr val="000000">
                              <a:alpha val="100000"/>
                            </a:srgbClr>
                          </a:solidFill>
                          <a:latin typeface="Arial"/>
                          <a:cs typeface="Arial"/>
                          <a:sym typeface="Arial"/>
                        </a:rPr>
                        <a:t>Net Margin Less DTE Fees</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$92.6</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$515.3</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$3,896.3</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$8,122.5</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1" i="0" u="none" cap="none" dirty="0">
                          <a:solidFill>
                            <a:srgbClr val="000000">
                              <a:alpha val="100000"/>
                            </a:srgbClr>
                          </a:solidFill>
                          <a:latin typeface="Arial"/>
                          <a:cs typeface="Arial"/>
                          <a:sym typeface="Arial"/>
                        </a:rPr>
                        <a:t>$16,575.0</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30"/>
                  </a:ext>
                </a:extLst>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2"/>
          <p:cNvGraphicFramePr>
            <a:graphicFrameLocks noGrp="1"/>
          </p:cNvGraphicFramePr>
          <p:nvPr>
            <p:extLst>
              <p:ext uri="{D42A27DB-BD31-4B8C-83A1-F6EECF244321}">
                <p14:modId xmlns:p14="http://schemas.microsoft.com/office/powerpoint/2010/main" val="3913178980"/>
              </p:ext>
            </p:extLst>
          </p:nvPr>
        </p:nvGraphicFramePr>
        <p:xfrm>
          <a:off x="0" y="-95249"/>
          <a:ext cx="12192002" cy="6811264"/>
        </p:xfrm>
        <a:graphic>
          <a:graphicData uri="http://schemas.openxmlformats.org/drawingml/2006/table">
            <a:tbl>
              <a:tblPr/>
              <a:tblGrid>
                <a:gridCol w="3585882">
                  <a:extLst>
                    <a:ext uri="{9D8B030D-6E8A-4147-A177-3AD203B41FA5}">
                      <a16:colId xmlns:a16="http://schemas.microsoft.com/office/drawing/2014/main" val="20000"/>
                    </a:ext>
                  </a:extLst>
                </a:gridCol>
                <a:gridCol w="1721224">
                  <a:extLst>
                    <a:ext uri="{9D8B030D-6E8A-4147-A177-3AD203B41FA5}">
                      <a16:colId xmlns:a16="http://schemas.microsoft.com/office/drawing/2014/main" val="20001"/>
                    </a:ext>
                  </a:extLst>
                </a:gridCol>
                <a:gridCol w="1721224">
                  <a:extLst>
                    <a:ext uri="{9D8B030D-6E8A-4147-A177-3AD203B41FA5}">
                      <a16:colId xmlns:a16="http://schemas.microsoft.com/office/drawing/2014/main" val="20002"/>
                    </a:ext>
                  </a:extLst>
                </a:gridCol>
                <a:gridCol w="1721224">
                  <a:extLst>
                    <a:ext uri="{9D8B030D-6E8A-4147-A177-3AD203B41FA5}">
                      <a16:colId xmlns:a16="http://schemas.microsoft.com/office/drawing/2014/main" val="20003"/>
                    </a:ext>
                  </a:extLst>
                </a:gridCol>
                <a:gridCol w="1721224">
                  <a:extLst>
                    <a:ext uri="{9D8B030D-6E8A-4147-A177-3AD203B41FA5}">
                      <a16:colId xmlns:a16="http://schemas.microsoft.com/office/drawing/2014/main" val="20004"/>
                    </a:ext>
                  </a:extLst>
                </a:gridCol>
                <a:gridCol w="1721224">
                  <a:extLst>
                    <a:ext uri="{9D8B030D-6E8A-4147-A177-3AD203B41FA5}">
                      <a16:colId xmlns:a16="http://schemas.microsoft.com/office/drawing/2014/main" val="20005"/>
                    </a:ext>
                  </a:extLst>
                </a:gridCol>
              </a:tblGrid>
              <a:tr h="0">
                <a:tc gridSpan="6">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Financial Metrics Estimated With Conservative Margin Estimate of 26%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Financial Metrics Estimated With Conservative Margin Estimate of 26%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Financial Metrics Estimated With Conservative Margin Estimate of 26%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Financial Metrics Estimated With Conservative Margin Estimate of 26%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Financial Metrics Estimated With Conservative Margin Estimate of 26%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Financial Metrics Estimated With Conservative Margin Estimate of 26%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0"/>
                  </a:ext>
                </a:extLst>
              </a:tr>
              <a:tr h="0">
                <a:tc gridSpan="6">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1"/>
                  </a:ext>
                </a:extLst>
              </a:tr>
              <a:tr h="0">
                <a:tc>
                  <a:txBody>
                    <a:bodyPr/>
                    <a:lstStyle/>
                    <a:p>
                      <a:pPr marL="127000" marR="127000" algn="l">
                        <a:lnSpc>
                          <a:spcPct val="100000"/>
                        </a:lnSpc>
                        <a:spcBef>
                          <a:spcPts val="1000"/>
                        </a:spcBef>
                        <a:spcAft>
                          <a:spcPts val="1000"/>
                        </a:spcAft>
                        <a:buNone/>
                      </a:pPr>
                      <a:r>
                        <a:rPr sz="1100" b="1" i="0" u="none" cap="none" dirty="0">
                          <a:solidFill>
                            <a:srgbClr val="000000">
                              <a:alpha val="100000"/>
                            </a:srgbClr>
                          </a:solidFill>
                          <a:latin typeface="Arial"/>
                          <a:cs typeface="Arial"/>
                          <a:sym typeface="Arial"/>
                        </a:rPr>
                        <a:t>Metric</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a:solidFill>
                            <a:srgbClr val="000000">
                              <a:alpha val="100000"/>
                            </a:srgbClr>
                          </a:solidFill>
                          <a:latin typeface="Arial"/>
                          <a:cs typeface="Arial"/>
                          <a:sym typeface="Arial"/>
                        </a:rPr>
                        <a:t>500 DTE Covered Lives</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a:solidFill>
                            <a:srgbClr val="000000">
                              <a:alpha val="100000"/>
                            </a:srgbClr>
                          </a:solidFill>
                          <a:latin typeface="Arial"/>
                          <a:cs typeface="Arial"/>
                          <a:sym typeface="Arial"/>
                        </a:rPr>
                        <a:t>1000 DTE Covered Lives</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a:solidFill>
                            <a:srgbClr val="000000">
                              <a:alpha val="100000"/>
                            </a:srgbClr>
                          </a:solidFill>
                          <a:latin typeface="Arial"/>
                          <a:cs typeface="Arial"/>
                          <a:sym typeface="Arial"/>
                        </a:rPr>
                        <a:t>5000 DTE Covered Lives</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a:solidFill>
                            <a:srgbClr val="000000">
                              <a:alpha val="100000"/>
                            </a:srgbClr>
                          </a:solidFill>
                          <a:latin typeface="Arial"/>
                          <a:cs typeface="Arial"/>
                          <a:sym typeface="Arial"/>
                        </a:rPr>
                        <a:t>10000 DTE Covered Lives</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a:solidFill>
                            <a:srgbClr val="000000">
                              <a:alpha val="100000"/>
                            </a:srgbClr>
                          </a:solidFill>
                          <a:latin typeface="Arial"/>
                          <a:cs typeface="Arial"/>
                          <a:sym typeface="Arial"/>
                        </a:rPr>
                        <a:t>20000 DTE Covered Lives</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0">
                <a:tc>
                  <a:txBody>
                    <a:bodyPr/>
                    <a:lstStyle/>
                    <a:p>
                      <a:pPr marL="127000" marR="127000" algn="l">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Pre-DTE Group Inpatient Revenue</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$767.0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$1,534.1</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$7,670.4</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$15,340.8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$30,681.6</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Pre-DTE Group Inpatient Margin</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$196.9</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$393.8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$1,969.2</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$3,938.4</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$7,876.8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0">
                <a:tc>
                  <a:txBody>
                    <a:bodyPr/>
                    <a:lstStyle/>
                    <a:p>
                      <a:pPr marL="127000" marR="127000" algn="l">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DTE Group Inpatient Revenue</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$1,408.7</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$2,817.3</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$14,086.6</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$28,173.1</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$56,346.3</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Group Inpatient Margin</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$291.2</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$582.4</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$2,912.1</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$5,824.2</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$11,648.3</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Incremental Inpatient Revenue</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$641.6</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$1,283.2</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$6,416.2</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$12,832.3</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$25,664.7</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Incremental Inpatient Margin</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$94.3</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$188.6</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$942.9</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$1,885.7</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$3,771.5</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8"/>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Pre-DTE Group Outpatient Revenue</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$1,394.5</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$2,789.1</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$13,945.4</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$27,890.9</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$55,781.7</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9"/>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Pre-DTE Group Outpatient Margin</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$358.0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$716.0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$3,580.2</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$7,160.3</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$14,320.7</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Outpatient Revenue</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$2,561.1</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$5,122.1</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$25,610.5</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$51,221.1</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$102,442.1</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1"/>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Group Outpatient Margin</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$529.4</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$1,058.9</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$5,294.4</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$10,588.8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$21,177.6</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Incremental Outpatient Revenue</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$1,166.5</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$2,333.0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$11,665.1</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$23,330.2</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$46,660.4</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Incremental Outpatient Margin</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$171.4</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$342.8</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$1,714.2</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$3,428.4</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$6,856.9</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4"/>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Pre-DTE Group Professional Revenue</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$375.0</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$750.0</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$3,750.2</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$7,500.5</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$15,000.9</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5"/>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Pre-DTE Group Professional Margin</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$96.3</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$192.6</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$962.8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$1,925.6</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$3,851.1</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6"/>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Professional Revenue</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$1,195.8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$2,391.5</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$11,957.5</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$23,915.0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$47,830.1</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7"/>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Group Professional Margin</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$247.2</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$494.4</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$2,471.9</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$4,943.9</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$9,887.8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8"/>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Incremental Professional Revenue</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$820.7</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$1,641.5</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$8,207.3</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$16,414.6</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$32,829.1</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9"/>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Incremental Professional Margin</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$150.9</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$301.8</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$1,509.2</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$3,018.3</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$6,036.6</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0"/>
                  </a:ext>
                </a:extLst>
              </a:tr>
            </a:tbl>
          </a:graphicData>
        </a:graphic>
      </p:graphicFrame>
    </p:spTree>
    <p:extLst>
      <p:ext uri="{BB962C8B-B14F-4D97-AF65-F5344CB8AC3E}">
        <p14:creationId xmlns:p14="http://schemas.microsoft.com/office/powerpoint/2010/main" val="388617726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2"/>
          <p:cNvGraphicFramePr>
            <a:graphicFrameLocks noGrp="1"/>
          </p:cNvGraphicFramePr>
          <p:nvPr>
            <p:extLst>
              <p:ext uri="{D42A27DB-BD31-4B8C-83A1-F6EECF244321}">
                <p14:modId xmlns:p14="http://schemas.microsoft.com/office/powerpoint/2010/main" val="533238150"/>
              </p:ext>
            </p:extLst>
          </p:nvPr>
        </p:nvGraphicFramePr>
        <p:xfrm>
          <a:off x="0" y="0"/>
          <a:ext cx="12192002" cy="6380480"/>
        </p:xfrm>
        <a:graphic>
          <a:graphicData uri="http://schemas.openxmlformats.org/drawingml/2006/table">
            <a:tbl>
              <a:tblPr/>
              <a:tblGrid>
                <a:gridCol w="3585882">
                  <a:extLst>
                    <a:ext uri="{9D8B030D-6E8A-4147-A177-3AD203B41FA5}">
                      <a16:colId xmlns:a16="http://schemas.microsoft.com/office/drawing/2014/main" val="20000"/>
                    </a:ext>
                  </a:extLst>
                </a:gridCol>
                <a:gridCol w="1721224">
                  <a:extLst>
                    <a:ext uri="{9D8B030D-6E8A-4147-A177-3AD203B41FA5}">
                      <a16:colId xmlns:a16="http://schemas.microsoft.com/office/drawing/2014/main" val="20001"/>
                    </a:ext>
                  </a:extLst>
                </a:gridCol>
                <a:gridCol w="1721224">
                  <a:extLst>
                    <a:ext uri="{9D8B030D-6E8A-4147-A177-3AD203B41FA5}">
                      <a16:colId xmlns:a16="http://schemas.microsoft.com/office/drawing/2014/main" val="20002"/>
                    </a:ext>
                  </a:extLst>
                </a:gridCol>
                <a:gridCol w="1721224">
                  <a:extLst>
                    <a:ext uri="{9D8B030D-6E8A-4147-A177-3AD203B41FA5}">
                      <a16:colId xmlns:a16="http://schemas.microsoft.com/office/drawing/2014/main" val="20003"/>
                    </a:ext>
                  </a:extLst>
                </a:gridCol>
                <a:gridCol w="1721224">
                  <a:extLst>
                    <a:ext uri="{9D8B030D-6E8A-4147-A177-3AD203B41FA5}">
                      <a16:colId xmlns:a16="http://schemas.microsoft.com/office/drawing/2014/main" val="20004"/>
                    </a:ext>
                  </a:extLst>
                </a:gridCol>
                <a:gridCol w="1721224">
                  <a:extLst>
                    <a:ext uri="{9D8B030D-6E8A-4147-A177-3AD203B41FA5}">
                      <a16:colId xmlns:a16="http://schemas.microsoft.com/office/drawing/2014/main" val="20005"/>
                    </a:ext>
                  </a:extLst>
                </a:gridCol>
              </a:tblGrid>
              <a:tr h="0">
                <a:tc gridSpan="6">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Financial Metrics With Less-Conservative Margin Estimate of 37%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Financial Metrics With Less-Conservative Margin Estimate of 37%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Financial Metrics With Less-Conservative Margin Estimate of 37%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Financial Metrics With Less-Conservative Margin Estimate of 37%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Financial Metrics With Less-Conservative Margin Estimate of 37%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Financial Metrics With Less-Conservative Margin Estimate of 37%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0"/>
                  </a:ext>
                </a:extLst>
              </a:tr>
              <a:tr h="0">
                <a:tc gridSpan="6">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1"/>
                  </a:ext>
                </a:extLst>
              </a:tr>
              <a:tr h="0">
                <a:tc>
                  <a:txBody>
                    <a:bodyPr/>
                    <a:lstStyle/>
                    <a:p>
                      <a:pPr marL="127000" marR="127000" algn="l">
                        <a:lnSpc>
                          <a:spcPct val="100000"/>
                        </a:lnSpc>
                        <a:spcBef>
                          <a:spcPts val="1000"/>
                        </a:spcBef>
                        <a:spcAft>
                          <a:spcPts val="1000"/>
                        </a:spcAft>
                        <a:buNone/>
                      </a:pPr>
                      <a:r>
                        <a:rPr sz="1400" b="1" i="0" u="none" cap="none" dirty="0">
                          <a:solidFill>
                            <a:srgbClr val="000000">
                              <a:alpha val="100000"/>
                            </a:srgbClr>
                          </a:solidFill>
                          <a:latin typeface="Arial"/>
                          <a:cs typeface="Arial"/>
                          <a:sym typeface="Arial"/>
                        </a:rPr>
                        <a:t>Metric</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400" b="1" i="0" u="none" cap="none">
                          <a:solidFill>
                            <a:srgbClr val="000000">
                              <a:alpha val="100000"/>
                            </a:srgbClr>
                          </a:solidFill>
                          <a:latin typeface="Arial"/>
                          <a:cs typeface="Arial"/>
                          <a:sym typeface="Arial"/>
                        </a:rPr>
                        <a:t>500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400" b="1" i="0" u="none" cap="none">
                          <a:solidFill>
                            <a:srgbClr val="000000">
                              <a:alpha val="100000"/>
                            </a:srgbClr>
                          </a:solidFill>
                          <a:latin typeface="Arial"/>
                          <a:cs typeface="Arial"/>
                          <a:sym typeface="Arial"/>
                        </a:rPr>
                        <a:t>1000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400" b="1" i="0" u="none" cap="none">
                          <a:solidFill>
                            <a:srgbClr val="000000">
                              <a:alpha val="100000"/>
                            </a:srgbClr>
                          </a:solidFill>
                          <a:latin typeface="Arial"/>
                          <a:cs typeface="Arial"/>
                          <a:sym typeface="Arial"/>
                        </a:rPr>
                        <a:t>5000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400" b="1" i="0" u="none" cap="none">
                          <a:solidFill>
                            <a:srgbClr val="000000">
                              <a:alpha val="100000"/>
                            </a:srgbClr>
                          </a:solidFill>
                          <a:latin typeface="Arial"/>
                          <a:cs typeface="Arial"/>
                          <a:sym typeface="Arial"/>
                        </a:rPr>
                        <a:t>10000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400" b="1" i="0" u="none" cap="none">
                          <a:solidFill>
                            <a:srgbClr val="000000">
                              <a:alpha val="100000"/>
                            </a:srgbClr>
                          </a:solidFill>
                          <a:latin typeface="Arial"/>
                          <a:cs typeface="Arial"/>
                          <a:sym typeface="Arial"/>
                        </a:rPr>
                        <a:t>20000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0">
                <a:tc>
                  <a:txBody>
                    <a:bodyPr/>
                    <a:lstStyle/>
                    <a:p>
                      <a:pPr marL="127000" marR="127000" algn="l">
                        <a:lnSpc>
                          <a:spcPct val="100000"/>
                        </a:lnSpc>
                        <a:spcBef>
                          <a:spcPts val="1000"/>
                        </a:spcBef>
                        <a:spcAft>
                          <a:spcPts val="1000"/>
                        </a:spcAft>
                        <a:buNone/>
                      </a:pPr>
                      <a:r>
                        <a:rPr sz="1400" b="0" i="0" u="none" cap="none" dirty="0">
                          <a:solidFill>
                            <a:srgbClr val="000000">
                              <a:alpha val="100000"/>
                            </a:srgbClr>
                          </a:solidFill>
                          <a:latin typeface="Arial"/>
                          <a:cs typeface="Arial"/>
                          <a:sym typeface="Arial"/>
                        </a:rPr>
                        <a:t>Pre-DTE Group Total Revenue</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$2,469.9</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$4,939.8</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$24,698.9</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$49,397.7</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dirty="0">
                          <a:solidFill>
                            <a:srgbClr val="000000">
                              <a:alpha val="100000"/>
                            </a:srgbClr>
                          </a:solidFill>
                          <a:latin typeface="Arial"/>
                          <a:cs typeface="Arial"/>
                          <a:sym typeface="Arial"/>
                        </a:rPr>
                        <a:t>$98,795.5</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1"/>
                  </a:ext>
                </a:extLst>
              </a:tr>
              <a:tr h="0">
                <a:tc>
                  <a:txBody>
                    <a:bodyPr/>
                    <a:lstStyle/>
                    <a:p>
                      <a:pPr marL="127000" marR="127000" algn="l">
                        <a:lnSpc>
                          <a:spcPct val="100000"/>
                        </a:lnSpc>
                        <a:spcBef>
                          <a:spcPts val="1000"/>
                        </a:spcBef>
                        <a:spcAft>
                          <a:spcPts val="1000"/>
                        </a:spcAft>
                        <a:buNone/>
                      </a:pPr>
                      <a:r>
                        <a:rPr sz="1400" b="0" i="0" u="none" cap="none" dirty="0">
                          <a:solidFill>
                            <a:srgbClr val="000000">
                              <a:alpha val="100000"/>
                            </a:srgbClr>
                          </a:solidFill>
                          <a:latin typeface="Arial"/>
                          <a:cs typeface="Arial"/>
                          <a:sym typeface="Arial"/>
                        </a:rPr>
                        <a:t>Pre-DTE Group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$905.8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$1,811.7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$9,058.4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$18,116.8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$36,233.5</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2"/>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DTE Group Total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$5,165.5</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$10,330.9</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$51,654.6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$103,309.2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$206,618.5</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3"/>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DTE Group Incremental Total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$2,695.6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$5,391.2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$26,955.8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$53,911.5</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$107,823.0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4"/>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DTE Group Group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dirty="0">
                          <a:solidFill>
                            <a:srgbClr val="000000">
                              <a:alpha val="100000"/>
                            </a:srgbClr>
                          </a:solidFill>
                          <a:latin typeface="Arial"/>
                          <a:cs typeface="Arial"/>
                          <a:sym typeface="Arial"/>
                        </a:rPr>
                        <a:t>$1,636.2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$3,272.4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$16,361.8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$32,723.5</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$65,447.0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5"/>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DTE Group Incremental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$730.3</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dirty="0">
                          <a:solidFill>
                            <a:srgbClr val="000000">
                              <a:alpha val="100000"/>
                            </a:srgbClr>
                          </a:solidFill>
                          <a:latin typeface="Arial"/>
                          <a:cs typeface="Arial"/>
                          <a:sym typeface="Arial"/>
                        </a:rPr>
                        <a:t>$1,460.7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$7,303.4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$14,606.7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$29,213.5</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6"/>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Wellness Share</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$6.0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$12.0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$60.0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$120.0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$240.0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7"/>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Implementation Fee (One Time)</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$150.0</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$150.0</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dirty="0">
                          <a:solidFill>
                            <a:srgbClr val="000000">
                              <a:alpha val="100000"/>
                            </a:srgbClr>
                          </a:solidFill>
                          <a:latin typeface="Arial"/>
                          <a:cs typeface="Arial"/>
                          <a:sym typeface="Arial"/>
                        </a:rPr>
                        <a:t>$150.0</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$150.0</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$150.0</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8"/>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Sales and Marketing Annual Fee</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$180.0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$180.0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dirty="0">
                          <a:solidFill>
                            <a:srgbClr val="000000">
                              <a:alpha val="100000"/>
                            </a:srgbClr>
                          </a:solidFill>
                          <a:latin typeface="Arial"/>
                          <a:cs typeface="Arial"/>
                          <a:sym typeface="Arial"/>
                        </a:rPr>
                        <a:t>$180.0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$180.0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$180.0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9"/>
                  </a:ext>
                </a:extLst>
              </a:tr>
              <a:tr h="0">
                <a:tc>
                  <a:txBody>
                    <a:bodyPr/>
                    <a:lstStyle/>
                    <a:p>
                      <a:pPr marL="127000" marR="127000" algn="l">
                        <a:lnSpc>
                          <a:spcPct val="100000"/>
                        </a:lnSpc>
                        <a:spcBef>
                          <a:spcPts val="1000"/>
                        </a:spcBef>
                        <a:spcAft>
                          <a:spcPts val="1000"/>
                        </a:spcAft>
                        <a:buNone/>
                      </a:pPr>
                      <a:r>
                        <a:rPr sz="1400" b="1" i="0" u="none" cap="none" dirty="0">
                          <a:solidFill>
                            <a:srgbClr val="000000">
                              <a:alpha val="100000"/>
                            </a:srgbClr>
                          </a:solidFill>
                          <a:latin typeface="Arial"/>
                          <a:cs typeface="Arial"/>
                          <a:sym typeface="Arial"/>
                        </a:rPr>
                        <a:t>Net Margin Less DTE Fees</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1" i="0" u="none" cap="none">
                          <a:solidFill>
                            <a:srgbClr val="000000">
                              <a:alpha val="100000"/>
                            </a:srgbClr>
                          </a:solidFill>
                          <a:latin typeface="Arial"/>
                          <a:cs typeface="Arial"/>
                          <a:sym typeface="Arial"/>
                        </a:rPr>
                        <a:t>$406.3</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1" i="0" u="none" cap="none">
                          <a:solidFill>
                            <a:srgbClr val="000000">
                              <a:alpha val="100000"/>
                            </a:srgbClr>
                          </a:solidFill>
                          <a:latin typeface="Arial"/>
                          <a:cs typeface="Arial"/>
                          <a:sym typeface="Arial"/>
                        </a:rPr>
                        <a:t>$1,142.7</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1" i="0" u="none" cap="none">
                          <a:solidFill>
                            <a:srgbClr val="000000">
                              <a:alpha val="100000"/>
                            </a:srgbClr>
                          </a:solidFill>
                          <a:latin typeface="Arial"/>
                          <a:cs typeface="Arial"/>
                          <a:sym typeface="Arial"/>
                        </a:rPr>
                        <a:t>$7,033.4</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1" i="0" u="none" cap="none" dirty="0">
                          <a:solidFill>
                            <a:srgbClr val="000000">
                              <a:alpha val="100000"/>
                            </a:srgbClr>
                          </a:solidFill>
                          <a:latin typeface="Arial"/>
                          <a:cs typeface="Arial"/>
                          <a:sym typeface="Arial"/>
                        </a:rPr>
                        <a:t>$14,396.7</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1" i="0" u="none" cap="none" dirty="0">
                          <a:solidFill>
                            <a:srgbClr val="000000">
                              <a:alpha val="100000"/>
                            </a:srgbClr>
                          </a:solidFill>
                          <a:latin typeface="Arial"/>
                          <a:cs typeface="Arial"/>
                          <a:sym typeface="Arial"/>
                        </a:rPr>
                        <a:t>$29,123.5</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30"/>
                  </a:ext>
                </a:extLst>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2"/>
          <p:cNvGraphicFramePr>
            <a:graphicFrameLocks noGrp="1"/>
          </p:cNvGraphicFramePr>
          <p:nvPr>
            <p:extLst>
              <p:ext uri="{D42A27DB-BD31-4B8C-83A1-F6EECF244321}">
                <p14:modId xmlns:p14="http://schemas.microsoft.com/office/powerpoint/2010/main" val="942430452"/>
              </p:ext>
            </p:extLst>
          </p:nvPr>
        </p:nvGraphicFramePr>
        <p:xfrm>
          <a:off x="0" y="0"/>
          <a:ext cx="12192002" cy="6811264"/>
        </p:xfrm>
        <a:graphic>
          <a:graphicData uri="http://schemas.openxmlformats.org/drawingml/2006/table">
            <a:tbl>
              <a:tblPr/>
              <a:tblGrid>
                <a:gridCol w="3585882">
                  <a:extLst>
                    <a:ext uri="{9D8B030D-6E8A-4147-A177-3AD203B41FA5}">
                      <a16:colId xmlns:a16="http://schemas.microsoft.com/office/drawing/2014/main" val="20000"/>
                    </a:ext>
                  </a:extLst>
                </a:gridCol>
                <a:gridCol w="1721224">
                  <a:extLst>
                    <a:ext uri="{9D8B030D-6E8A-4147-A177-3AD203B41FA5}">
                      <a16:colId xmlns:a16="http://schemas.microsoft.com/office/drawing/2014/main" val="20001"/>
                    </a:ext>
                  </a:extLst>
                </a:gridCol>
                <a:gridCol w="1721224">
                  <a:extLst>
                    <a:ext uri="{9D8B030D-6E8A-4147-A177-3AD203B41FA5}">
                      <a16:colId xmlns:a16="http://schemas.microsoft.com/office/drawing/2014/main" val="20002"/>
                    </a:ext>
                  </a:extLst>
                </a:gridCol>
                <a:gridCol w="1721224">
                  <a:extLst>
                    <a:ext uri="{9D8B030D-6E8A-4147-A177-3AD203B41FA5}">
                      <a16:colId xmlns:a16="http://schemas.microsoft.com/office/drawing/2014/main" val="20003"/>
                    </a:ext>
                  </a:extLst>
                </a:gridCol>
                <a:gridCol w="1721224">
                  <a:extLst>
                    <a:ext uri="{9D8B030D-6E8A-4147-A177-3AD203B41FA5}">
                      <a16:colId xmlns:a16="http://schemas.microsoft.com/office/drawing/2014/main" val="20004"/>
                    </a:ext>
                  </a:extLst>
                </a:gridCol>
                <a:gridCol w="1721224">
                  <a:extLst>
                    <a:ext uri="{9D8B030D-6E8A-4147-A177-3AD203B41FA5}">
                      <a16:colId xmlns:a16="http://schemas.microsoft.com/office/drawing/2014/main" val="20005"/>
                    </a:ext>
                  </a:extLst>
                </a:gridCol>
              </a:tblGrid>
              <a:tr h="0">
                <a:tc gridSpan="6">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Financial Metrics With Less-Conservative Margin Estimate of 37%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Financial Metrics With Less-Conservative Margin Estimate of 37%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Financial Metrics With Less-Conservative Margin Estimate of 37%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Financial Metrics With Less-Conservative Margin Estimate of 37%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Financial Metrics With Less-Conservative Margin Estimate of 37%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Financial Metrics With Less-Conservative Margin Estimate of 37%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0"/>
                  </a:ext>
                </a:extLst>
              </a:tr>
              <a:tr h="0">
                <a:tc gridSpan="6">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1"/>
                  </a:ext>
                </a:extLst>
              </a:tr>
              <a:tr h="0">
                <a:tc>
                  <a:txBody>
                    <a:bodyPr/>
                    <a:lstStyle/>
                    <a:p>
                      <a:pPr marL="127000" marR="127000" algn="l">
                        <a:lnSpc>
                          <a:spcPct val="100000"/>
                        </a:lnSpc>
                        <a:spcBef>
                          <a:spcPts val="1000"/>
                        </a:spcBef>
                        <a:spcAft>
                          <a:spcPts val="1000"/>
                        </a:spcAft>
                        <a:buNone/>
                      </a:pPr>
                      <a:r>
                        <a:rPr sz="1100" b="1" i="0" u="none" cap="none" dirty="0">
                          <a:solidFill>
                            <a:srgbClr val="000000">
                              <a:alpha val="100000"/>
                            </a:srgbClr>
                          </a:solidFill>
                          <a:latin typeface="Arial"/>
                          <a:cs typeface="Arial"/>
                          <a:sym typeface="Arial"/>
                        </a:rPr>
                        <a:t>Metric</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a:solidFill>
                            <a:srgbClr val="000000">
                              <a:alpha val="100000"/>
                            </a:srgbClr>
                          </a:solidFill>
                          <a:latin typeface="Arial"/>
                          <a:cs typeface="Arial"/>
                          <a:sym typeface="Arial"/>
                        </a:rPr>
                        <a:t>500 DTE Covered Lives</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a:solidFill>
                            <a:srgbClr val="000000">
                              <a:alpha val="100000"/>
                            </a:srgbClr>
                          </a:solidFill>
                          <a:latin typeface="Arial"/>
                          <a:cs typeface="Arial"/>
                          <a:sym typeface="Arial"/>
                        </a:rPr>
                        <a:t>1000 DTE Covered Lives</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a:solidFill>
                            <a:srgbClr val="000000">
                              <a:alpha val="100000"/>
                            </a:srgbClr>
                          </a:solidFill>
                          <a:latin typeface="Arial"/>
                          <a:cs typeface="Arial"/>
                          <a:sym typeface="Arial"/>
                        </a:rPr>
                        <a:t>5000 DTE Covered Lives</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a:solidFill>
                            <a:srgbClr val="000000">
                              <a:alpha val="100000"/>
                            </a:srgbClr>
                          </a:solidFill>
                          <a:latin typeface="Arial"/>
                          <a:cs typeface="Arial"/>
                          <a:sym typeface="Arial"/>
                        </a:rPr>
                        <a:t>10000 DTE Covered Lives</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a:solidFill>
                            <a:srgbClr val="000000">
                              <a:alpha val="100000"/>
                            </a:srgbClr>
                          </a:solidFill>
                          <a:latin typeface="Arial"/>
                          <a:cs typeface="Arial"/>
                          <a:sym typeface="Arial"/>
                        </a:rPr>
                        <a:t>20000 DTE Covered Lives</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Pre-DTE Group Inpatient Revenue</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$748.8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$1,497.7</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$7,488.5</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$14,976.9</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$29,953.8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Pre-DTE Group Inpatient Margin</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$274.6</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$549.3</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$2,746.4</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$5,492.8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$10,985.7</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Inpatient Revenue</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$1,408.7</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$2,817.3</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$14,086.6</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$28,173.1</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$56,346.3</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Group Inpatient Margin</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$446.2</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$892.4</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$4,462.0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$8,923.9</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$17,847.9</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Incremental Inpatient Revenue</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$659.8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$1,319.6</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$6,598.1</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$13,196.2</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$26,392.5</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Incremental Inpatient Margin</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$171.6</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$343.1</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$1,715.5</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$3,431.1</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$6,862.2</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8"/>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Pre-DTE Group Outpatient Revenue</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$1,361.5</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$2,722.9</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$13,614.6</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$27,229.3</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$54,458.5</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9"/>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Pre-DTE Group Outpatient Margin</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$499.3</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$998.6</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$4,993.2</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$9,986.4</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$19,972.8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Outpatient Revenue</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$2,561.1</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$5,122.1</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$25,610.5</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$51,221.1</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$102,442.1</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1"/>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Group Outpatient Margin</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$811.2</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$1,622.4</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$8,112.2</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$16,224.4</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$32,448.9</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Incremental Outpatient Revenue</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$1,199.6</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$2,399.2</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$11,995.9</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$23,991.8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$47,983.6</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Incremental Outpatient Margin</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$311.9</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$623.8</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$3,119.0</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$6,238.0</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$12,476.0</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4"/>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Pre-DTE Group Professional Revenue</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$359.6</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$719.2</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$3,595.8</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$7,191.6</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$14,383.1</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5"/>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Pre-DTE Group Professional Margin</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$131.9</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$263.8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$1,318.8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$2,637.5</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$5,275.1</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6"/>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Professional Revenue</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$1,195.8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$2,391.5</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$11,957.5</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$23,915.0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$47,830.1</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7"/>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Group Professional Margin</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$378.8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$757.5</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$3,787.6</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$7,575.2</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$15,150.3</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8"/>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Incremental Professional Revenue</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$836.2</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$1,672.3</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$8,361.7</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$16,723.5</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$33,446.9</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9"/>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Incremental Professional Margin</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$246.9</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$493.8</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$2,468.8</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$4,937.6</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$9,875.3</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0"/>
                  </a:ext>
                </a:extLst>
              </a:tr>
            </a:tbl>
          </a:graphicData>
        </a:graphic>
      </p:graphicFrame>
    </p:spTree>
    <p:extLst>
      <p:ext uri="{BB962C8B-B14F-4D97-AF65-F5344CB8AC3E}">
        <p14:creationId xmlns:p14="http://schemas.microsoft.com/office/powerpoint/2010/main" val="59896248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Rounded Corners 6">
            <a:extLst>
              <a:ext uri="{FF2B5EF4-FFF2-40B4-BE49-F238E27FC236}">
                <a16:creationId xmlns:a16="http://schemas.microsoft.com/office/drawing/2014/main" id="{1170DD0A-05C2-4268-9BEE-34CB1FB2DDC3}"/>
              </a:ext>
            </a:extLst>
          </p:cNvPr>
          <p:cNvSpPr/>
          <p:nvPr/>
        </p:nvSpPr>
        <p:spPr>
          <a:xfrm>
            <a:off x="3320170" y="2278363"/>
            <a:ext cx="2743200" cy="4180864"/>
          </a:xfrm>
          <a:prstGeom prst="roundRect">
            <a:avLst>
              <a:gd name="adj" fmla="val 5098"/>
            </a:avLst>
          </a:prstGeom>
          <a:solidFill>
            <a:srgbClr val="254F96"/>
          </a:solidFill>
          <a:ln>
            <a:solidFill>
              <a:srgbClr val="ED7623"/>
            </a:solid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500" spc="70" dirty="0">
                <a:latin typeface="+mj-lt"/>
              </a:rPr>
              <a:t>Incremental Revenues and Margin</a:t>
            </a:r>
          </a:p>
          <a:p>
            <a:pPr marL="285753" indent="-285753">
              <a:spcAft>
                <a:spcPts val="200"/>
              </a:spcAft>
              <a:buFont typeface="Wingdings" panose="05000000000000000000" pitchFamily="2" charset="2"/>
              <a:buChar char="§"/>
            </a:pPr>
            <a:r>
              <a:rPr lang="en-US" sz="1500" spc="70" dirty="0">
                <a:latin typeface="+mj-lt"/>
              </a:rPr>
              <a:t>Branding &amp; Messaging</a:t>
            </a:r>
          </a:p>
          <a:p>
            <a:pPr marL="285753" indent="-285753">
              <a:spcAft>
                <a:spcPts val="200"/>
              </a:spcAft>
              <a:buFont typeface="Wingdings" panose="05000000000000000000" pitchFamily="2" charset="2"/>
              <a:buChar char="§"/>
            </a:pPr>
            <a:r>
              <a:rPr lang="en-US" sz="1500" spc="70" dirty="0">
                <a:latin typeface="+mj-lt"/>
              </a:rPr>
              <a:t>Benefit Plan Integration</a:t>
            </a:r>
          </a:p>
          <a:p>
            <a:pPr marL="285753" indent="-285753">
              <a:spcAft>
                <a:spcPts val="200"/>
              </a:spcAft>
              <a:buFont typeface="Wingdings" panose="05000000000000000000" pitchFamily="2" charset="2"/>
              <a:buChar char="§"/>
            </a:pPr>
            <a:r>
              <a:rPr lang="en-US" sz="1500" spc="70" dirty="0">
                <a:latin typeface="+mj-lt"/>
              </a:rPr>
              <a:t>Network Steerage</a:t>
            </a:r>
          </a:p>
          <a:p>
            <a:pPr marL="285753" indent="-285753">
              <a:spcAft>
                <a:spcPts val="200"/>
              </a:spcAft>
              <a:buFont typeface="Wingdings" panose="05000000000000000000" pitchFamily="2" charset="2"/>
              <a:buChar char="§"/>
            </a:pPr>
            <a:r>
              <a:rPr lang="en-US" sz="1500" spc="70" dirty="0">
                <a:latin typeface="+mj-lt"/>
              </a:rPr>
              <a:t>Direct Employer/Member Access</a:t>
            </a:r>
          </a:p>
          <a:p>
            <a:pPr marL="285753" indent="-285753">
              <a:spcAft>
                <a:spcPts val="200"/>
              </a:spcAft>
              <a:buFont typeface="Wingdings" panose="05000000000000000000" pitchFamily="2" charset="2"/>
              <a:buChar char="§"/>
            </a:pPr>
            <a:r>
              <a:rPr lang="en-US" sz="1500" spc="70" dirty="0">
                <a:latin typeface="+mj-lt"/>
              </a:rPr>
              <a:t>Referral Authorization</a:t>
            </a:r>
          </a:p>
          <a:p>
            <a:pPr marL="285753" indent="-285753">
              <a:spcAft>
                <a:spcPts val="200"/>
              </a:spcAft>
              <a:buFont typeface="Wingdings" panose="05000000000000000000" pitchFamily="2" charset="2"/>
              <a:buChar char="§"/>
            </a:pPr>
            <a:r>
              <a:rPr lang="en-US" sz="1500" spc="70" dirty="0">
                <a:latin typeface="+mj-lt"/>
              </a:rPr>
              <a:t>Plan Transparency</a:t>
            </a:r>
          </a:p>
          <a:p>
            <a:pPr marL="285753" indent="-285753">
              <a:spcAft>
                <a:spcPts val="200"/>
              </a:spcAft>
              <a:buFont typeface="Wingdings" panose="05000000000000000000" pitchFamily="2" charset="2"/>
              <a:buChar char="§"/>
            </a:pPr>
            <a:r>
              <a:rPr lang="en-US" sz="1500" spc="70" dirty="0">
                <a:latin typeface="+mj-lt"/>
              </a:rPr>
              <a:t>Direct Access to Members</a:t>
            </a:r>
          </a:p>
        </p:txBody>
      </p:sp>
      <p:sp>
        <p:nvSpPr>
          <p:cNvPr id="15" name="Rectangle: Rounded Corners 14">
            <a:extLst>
              <a:ext uri="{FF2B5EF4-FFF2-40B4-BE49-F238E27FC236}">
                <a16:creationId xmlns:a16="http://schemas.microsoft.com/office/drawing/2014/main" id="{A3776881-4D82-4E5B-9D20-1D9004AEFF9F}"/>
              </a:ext>
            </a:extLst>
          </p:cNvPr>
          <p:cNvSpPr/>
          <p:nvPr/>
        </p:nvSpPr>
        <p:spPr>
          <a:xfrm>
            <a:off x="3297324" y="2014404"/>
            <a:ext cx="2772550" cy="920386"/>
          </a:xfrm>
          <a:prstGeom prst="roundRect">
            <a:avLst>
              <a:gd name="adj" fmla="val 8168"/>
            </a:avLst>
          </a:prstGeom>
          <a:solidFill>
            <a:srgbClr val="59CAE8"/>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b="1" spc="300" dirty="0"/>
              <a:t>SLUHN’s DTE</a:t>
            </a:r>
          </a:p>
        </p:txBody>
      </p:sp>
      <p:sp>
        <p:nvSpPr>
          <p:cNvPr id="13" name="Rectangle: Rounded Corners 12">
            <a:extLst>
              <a:ext uri="{FF2B5EF4-FFF2-40B4-BE49-F238E27FC236}">
                <a16:creationId xmlns:a16="http://schemas.microsoft.com/office/drawing/2014/main" id="{19A4738F-4400-47B5-AF42-3846B7BB42F5}"/>
              </a:ext>
            </a:extLst>
          </p:cNvPr>
          <p:cNvSpPr/>
          <p:nvPr/>
        </p:nvSpPr>
        <p:spPr>
          <a:xfrm>
            <a:off x="3290788" y="640792"/>
            <a:ext cx="2752344" cy="1638357"/>
          </a:xfrm>
          <a:prstGeom prst="roundRect">
            <a:avLst>
              <a:gd name="adj" fmla="val 5098"/>
            </a:avLst>
          </a:prstGeom>
          <a:blipFill>
            <a:blip r:embed="rId2"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Rounded Corners 4">
            <a:extLst>
              <a:ext uri="{FF2B5EF4-FFF2-40B4-BE49-F238E27FC236}">
                <a16:creationId xmlns:a16="http://schemas.microsoft.com/office/drawing/2014/main" id="{033B2561-9797-4F6F-A55B-F4CC8AEBE7EA}"/>
              </a:ext>
            </a:extLst>
          </p:cNvPr>
          <p:cNvSpPr/>
          <p:nvPr/>
        </p:nvSpPr>
        <p:spPr>
          <a:xfrm>
            <a:off x="419877" y="2268991"/>
            <a:ext cx="2743200" cy="4206240"/>
          </a:xfrm>
          <a:prstGeom prst="roundRect">
            <a:avLst>
              <a:gd name="adj" fmla="val 5098"/>
            </a:avLst>
          </a:prstGeom>
          <a:solidFill>
            <a:srgbClr val="000B2E"/>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500" spc="70" dirty="0">
                <a:latin typeface="+mj-lt"/>
              </a:rPr>
              <a:t>Full TPA Administration</a:t>
            </a:r>
          </a:p>
          <a:p>
            <a:pPr marL="285753" indent="-285753">
              <a:spcAft>
                <a:spcPts val="200"/>
              </a:spcAft>
              <a:buFont typeface="Wingdings" panose="05000000000000000000" pitchFamily="2" charset="2"/>
              <a:buChar char="§"/>
            </a:pPr>
            <a:r>
              <a:rPr lang="en-US" sz="1500" spc="70" dirty="0">
                <a:latin typeface="+mj-lt"/>
              </a:rPr>
              <a:t>Stop-Loss Administration</a:t>
            </a:r>
          </a:p>
          <a:p>
            <a:pPr marL="285753" indent="-285753">
              <a:spcAft>
                <a:spcPts val="200"/>
              </a:spcAft>
              <a:buFont typeface="Wingdings" panose="05000000000000000000" pitchFamily="2" charset="2"/>
              <a:buChar char="§"/>
            </a:pPr>
            <a:r>
              <a:rPr lang="en-US" sz="1500" spc="70" dirty="0">
                <a:latin typeface="+mj-lt"/>
              </a:rPr>
              <a:t>True Transparency &amp; Analytics</a:t>
            </a:r>
          </a:p>
          <a:p>
            <a:pPr marL="285753" indent="-285753">
              <a:spcAft>
                <a:spcPts val="200"/>
              </a:spcAft>
              <a:buFont typeface="Wingdings" panose="05000000000000000000" pitchFamily="2" charset="2"/>
              <a:buChar char="§"/>
            </a:pPr>
            <a:r>
              <a:rPr lang="en-US" sz="1500" spc="70" dirty="0">
                <a:latin typeface="+mj-lt"/>
              </a:rPr>
              <a:t>Population Health  Management</a:t>
            </a:r>
          </a:p>
          <a:p>
            <a:pPr marL="285753" indent="-285753">
              <a:spcAft>
                <a:spcPts val="200"/>
              </a:spcAft>
              <a:buFont typeface="Wingdings" panose="05000000000000000000" pitchFamily="2" charset="2"/>
              <a:buChar char="§"/>
            </a:pPr>
            <a:r>
              <a:rPr lang="en-US" sz="1500" spc="70" dirty="0">
                <a:latin typeface="+mj-lt"/>
              </a:rPr>
              <a:t>Utilization &amp; Case Management</a:t>
            </a:r>
          </a:p>
          <a:p>
            <a:pPr marL="285753" indent="-285753">
              <a:spcAft>
                <a:spcPts val="200"/>
              </a:spcAft>
              <a:buFont typeface="Wingdings" panose="05000000000000000000" pitchFamily="2" charset="2"/>
              <a:buChar char="§"/>
            </a:pPr>
            <a:r>
              <a:rPr lang="en-US" sz="1500" spc="70" dirty="0">
                <a:latin typeface="+mj-lt"/>
              </a:rPr>
              <a:t>Sales &amp; Marketing</a:t>
            </a:r>
          </a:p>
          <a:p>
            <a:pPr marL="285753" indent="-285753">
              <a:spcAft>
                <a:spcPts val="200"/>
              </a:spcAft>
              <a:buFont typeface="Wingdings" panose="05000000000000000000" pitchFamily="2" charset="2"/>
              <a:buChar char="§"/>
            </a:pPr>
            <a:r>
              <a:rPr lang="en-US" sz="1500" spc="70" dirty="0">
                <a:latin typeface="+mj-lt"/>
              </a:rPr>
              <a:t>Transparent PBM</a:t>
            </a:r>
          </a:p>
          <a:p>
            <a:pPr marL="285753" indent="-285753">
              <a:spcAft>
                <a:spcPts val="200"/>
              </a:spcAft>
              <a:buFont typeface="Wingdings" panose="05000000000000000000" pitchFamily="2" charset="2"/>
              <a:buChar char="§"/>
            </a:pPr>
            <a:r>
              <a:rPr lang="en-US" sz="1500" spc="70" dirty="0">
                <a:latin typeface="+mj-lt"/>
              </a:rPr>
              <a:t>Website &amp; Mobile App</a:t>
            </a:r>
          </a:p>
          <a:p>
            <a:pPr marL="285753" indent="-285753">
              <a:spcAft>
                <a:spcPts val="200"/>
              </a:spcAft>
              <a:buFont typeface="Wingdings" panose="05000000000000000000" pitchFamily="2" charset="2"/>
              <a:buChar char="§"/>
            </a:pPr>
            <a:r>
              <a:rPr lang="en-US" sz="1500" spc="70" dirty="0">
                <a:latin typeface="+mj-lt"/>
              </a:rPr>
              <a:t>Customizable options &amp;  plans</a:t>
            </a:r>
          </a:p>
        </p:txBody>
      </p:sp>
      <p:sp>
        <p:nvSpPr>
          <p:cNvPr id="8" name="Rectangle: Rounded Corners 7">
            <a:extLst>
              <a:ext uri="{FF2B5EF4-FFF2-40B4-BE49-F238E27FC236}">
                <a16:creationId xmlns:a16="http://schemas.microsoft.com/office/drawing/2014/main" id="{7E2632F1-6823-4C7E-A144-BBB7C0B6DEF9}"/>
              </a:ext>
            </a:extLst>
          </p:cNvPr>
          <p:cNvSpPr/>
          <p:nvPr/>
        </p:nvSpPr>
        <p:spPr>
          <a:xfrm>
            <a:off x="9080246" y="2252987"/>
            <a:ext cx="2743200" cy="4206240"/>
          </a:xfrm>
          <a:prstGeom prst="roundRect">
            <a:avLst>
              <a:gd name="adj" fmla="val 5098"/>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500" spc="70" dirty="0">
                <a:latin typeface="+mj-lt"/>
              </a:rPr>
              <a:t>Reduced Out of Pocket</a:t>
            </a:r>
          </a:p>
          <a:p>
            <a:pPr marL="285753" indent="-285753">
              <a:spcAft>
                <a:spcPts val="200"/>
              </a:spcAft>
              <a:buFont typeface="Wingdings" panose="05000000000000000000" pitchFamily="2" charset="2"/>
              <a:buChar char="§"/>
            </a:pPr>
            <a:r>
              <a:rPr lang="en-US" sz="1500" spc="70" dirty="0">
                <a:latin typeface="+mj-lt"/>
              </a:rPr>
              <a:t>Improved Health</a:t>
            </a:r>
          </a:p>
          <a:p>
            <a:pPr marL="285753" indent="-285753">
              <a:spcAft>
                <a:spcPts val="200"/>
              </a:spcAft>
              <a:buFont typeface="Wingdings" panose="05000000000000000000" pitchFamily="2" charset="2"/>
              <a:buChar char="§"/>
            </a:pPr>
            <a:r>
              <a:rPr lang="en-US" sz="1500" spc="70" dirty="0">
                <a:latin typeface="+mj-lt"/>
              </a:rPr>
              <a:t>Better Coordination of Health</a:t>
            </a:r>
          </a:p>
          <a:p>
            <a:pPr marL="285753" indent="-285753">
              <a:spcAft>
                <a:spcPts val="200"/>
              </a:spcAft>
              <a:buFont typeface="Wingdings" panose="05000000000000000000" pitchFamily="2" charset="2"/>
              <a:buChar char="§"/>
            </a:pPr>
            <a:r>
              <a:rPr lang="en-US" sz="1500" spc="70" dirty="0">
                <a:latin typeface="+mj-lt"/>
              </a:rPr>
              <a:t>Direct Access to the Best Medical Providers</a:t>
            </a:r>
          </a:p>
        </p:txBody>
      </p:sp>
      <p:sp>
        <p:nvSpPr>
          <p:cNvPr id="9" name="Rectangle: Rounded Corners 8">
            <a:extLst>
              <a:ext uri="{FF2B5EF4-FFF2-40B4-BE49-F238E27FC236}">
                <a16:creationId xmlns:a16="http://schemas.microsoft.com/office/drawing/2014/main" id="{452F9C72-ACBF-4B37-96AA-5B488724CF16}"/>
              </a:ext>
            </a:extLst>
          </p:cNvPr>
          <p:cNvSpPr/>
          <p:nvPr/>
        </p:nvSpPr>
        <p:spPr>
          <a:xfrm>
            <a:off x="417144" y="767141"/>
            <a:ext cx="2743200" cy="2194560"/>
          </a:xfrm>
          <a:prstGeom prst="roundRect">
            <a:avLst>
              <a:gd name="adj" fmla="val 8168"/>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b="1" spc="300" dirty="0"/>
              <a:t>Key Benefit Administrators</a:t>
            </a:r>
          </a:p>
        </p:txBody>
      </p:sp>
      <p:sp>
        <p:nvSpPr>
          <p:cNvPr id="12" name="Rectangle: Rounded Corners 11">
            <a:extLst>
              <a:ext uri="{FF2B5EF4-FFF2-40B4-BE49-F238E27FC236}">
                <a16:creationId xmlns:a16="http://schemas.microsoft.com/office/drawing/2014/main" id="{28D58689-51BB-4F50-AD3D-5F57EB09F0A5}"/>
              </a:ext>
            </a:extLst>
          </p:cNvPr>
          <p:cNvSpPr/>
          <p:nvPr/>
        </p:nvSpPr>
        <p:spPr>
          <a:xfrm>
            <a:off x="418323" y="614629"/>
            <a:ext cx="2752344" cy="1663734"/>
          </a:xfrm>
          <a:prstGeom prst="roundRect">
            <a:avLst>
              <a:gd name="adj" fmla="val 5098"/>
            </a:avLst>
          </a:prstGeom>
          <a:blipFill>
            <a:blip r:embed="rId3" cstate="screen">
              <a:duotone>
                <a:schemeClr val="accent3">
                  <a:shade val="45000"/>
                  <a:satMod val="135000"/>
                </a:schemeClr>
                <a:prstClr val="white"/>
              </a:duotone>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Rounded Corners 15">
            <a:extLst>
              <a:ext uri="{FF2B5EF4-FFF2-40B4-BE49-F238E27FC236}">
                <a16:creationId xmlns:a16="http://schemas.microsoft.com/office/drawing/2014/main" id="{1588ACF9-8E0F-4A2C-A1CE-0329366276D0}"/>
              </a:ext>
            </a:extLst>
          </p:cNvPr>
          <p:cNvSpPr/>
          <p:nvPr/>
        </p:nvSpPr>
        <p:spPr>
          <a:xfrm>
            <a:off x="9067800" y="751136"/>
            <a:ext cx="2760326" cy="2194560"/>
          </a:xfrm>
          <a:prstGeom prst="roundRect">
            <a:avLst>
              <a:gd name="adj" fmla="val 8168"/>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b="1" spc="300" dirty="0"/>
              <a:t>Employee</a:t>
            </a:r>
          </a:p>
        </p:txBody>
      </p:sp>
      <p:sp>
        <p:nvSpPr>
          <p:cNvPr id="14" name="Rectangle: Rounded Corners 13">
            <a:extLst>
              <a:ext uri="{FF2B5EF4-FFF2-40B4-BE49-F238E27FC236}">
                <a16:creationId xmlns:a16="http://schemas.microsoft.com/office/drawing/2014/main" id="{9CADBD40-EFBC-4DA0-9488-76FEF832A3DA}"/>
              </a:ext>
            </a:extLst>
          </p:cNvPr>
          <p:cNvSpPr/>
          <p:nvPr/>
        </p:nvSpPr>
        <p:spPr>
          <a:xfrm>
            <a:off x="9069166" y="598625"/>
            <a:ext cx="2758959" cy="1663734"/>
          </a:xfrm>
          <a:prstGeom prst="roundRect">
            <a:avLst>
              <a:gd name="adj" fmla="val 5098"/>
            </a:avLst>
          </a:prstGeom>
          <a:blipFill>
            <a:blip r:embed="rId5" cstate="screen">
              <a:duotone>
                <a:prstClr val="black"/>
                <a:schemeClr val="accent3">
                  <a:tint val="45000"/>
                  <a:satMod val="400000"/>
                </a:schemeClr>
              </a:duotone>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Rounded Corners 18">
            <a:extLst>
              <a:ext uri="{FF2B5EF4-FFF2-40B4-BE49-F238E27FC236}">
                <a16:creationId xmlns:a16="http://schemas.microsoft.com/office/drawing/2014/main" id="{E603E0FD-1B79-43C3-ABAE-5EA24846155A}"/>
              </a:ext>
            </a:extLst>
          </p:cNvPr>
          <p:cNvSpPr/>
          <p:nvPr/>
        </p:nvSpPr>
        <p:spPr>
          <a:xfrm>
            <a:off x="6190866" y="2268991"/>
            <a:ext cx="2743200" cy="4206240"/>
          </a:xfrm>
          <a:prstGeom prst="roundRect">
            <a:avLst>
              <a:gd name="adj" fmla="val 5098"/>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500" spc="70" dirty="0">
                <a:latin typeface="+mj-lt"/>
              </a:rPr>
              <a:t>Reduced Spend</a:t>
            </a:r>
          </a:p>
          <a:p>
            <a:pPr marL="285753" indent="-285753">
              <a:spcAft>
                <a:spcPts val="200"/>
              </a:spcAft>
              <a:buFont typeface="Wingdings" panose="05000000000000000000" pitchFamily="2" charset="2"/>
              <a:buChar char="§"/>
            </a:pPr>
            <a:r>
              <a:rPr lang="en-US" sz="1500" spc="70" dirty="0">
                <a:latin typeface="+mj-lt"/>
              </a:rPr>
              <a:t>“At The Table” with SLUHN</a:t>
            </a:r>
          </a:p>
          <a:p>
            <a:pPr marL="285753" indent="-285753">
              <a:spcAft>
                <a:spcPts val="200"/>
              </a:spcAft>
              <a:buFont typeface="Wingdings" panose="05000000000000000000" pitchFamily="2" charset="2"/>
              <a:buChar char="§"/>
            </a:pPr>
            <a:r>
              <a:rPr lang="en-US" sz="1500" spc="70" dirty="0">
                <a:latin typeface="+mj-lt"/>
              </a:rPr>
              <a:t>Incentivized Gain Share Potential</a:t>
            </a:r>
          </a:p>
          <a:p>
            <a:pPr marL="285753" indent="-285753">
              <a:spcAft>
                <a:spcPts val="200"/>
              </a:spcAft>
              <a:buFont typeface="Wingdings" panose="05000000000000000000" pitchFamily="2" charset="2"/>
              <a:buChar char="§"/>
            </a:pPr>
            <a:r>
              <a:rPr lang="en-US" sz="1500" spc="70" dirty="0">
                <a:latin typeface="+mj-lt"/>
              </a:rPr>
              <a:t>Improved Analytics</a:t>
            </a:r>
          </a:p>
          <a:p>
            <a:pPr marL="285753" indent="-285753">
              <a:spcAft>
                <a:spcPts val="200"/>
              </a:spcAft>
              <a:buFont typeface="Wingdings" panose="05000000000000000000" pitchFamily="2" charset="2"/>
              <a:buChar char="§"/>
            </a:pPr>
            <a:r>
              <a:rPr lang="en-US" sz="1500" spc="70" dirty="0">
                <a:latin typeface="+mj-lt"/>
              </a:rPr>
              <a:t>Lower Stop-Loss</a:t>
            </a:r>
          </a:p>
          <a:p>
            <a:pPr marL="285753" indent="-285753">
              <a:spcAft>
                <a:spcPts val="200"/>
              </a:spcAft>
              <a:buFont typeface="Wingdings" panose="05000000000000000000" pitchFamily="2" charset="2"/>
              <a:buChar char="§"/>
            </a:pPr>
            <a:r>
              <a:rPr lang="en-US" sz="1500" spc="70" dirty="0">
                <a:latin typeface="+mj-lt"/>
              </a:rPr>
              <a:t>Stabilization </a:t>
            </a:r>
          </a:p>
          <a:p>
            <a:pPr marL="285753" indent="-285753">
              <a:spcAft>
                <a:spcPts val="200"/>
              </a:spcAft>
              <a:buFont typeface="Wingdings" panose="05000000000000000000" pitchFamily="2" charset="2"/>
              <a:buChar char="§"/>
            </a:pPr>
            <a:r>
              <a:rPr lang="en-US" sz="1500" spc="70" dirty="0">
                <a:latin typeface="+mj-lt"/>
              </a:rPr>
              <a:t>Healthier Population</a:t>
            </a:r>
          </a:p>
        </p:txBody>
      </p:sp>
      <p:sp>
        <p:nvSpPr>
          <p:cNvPr id="20" name="Rectangle: Rounded Corners 19">
            <a:extLst>
              <a:ext uri="{FF2B5EF4-FFF2-40B4-BE49-F238E27FC236}">
                <a16:creationId xmlns:a16="http://schemas.microsoft.com/office/drawing/2014/main" id="{706CA18C-73A5-4798-ADEA-6A91A9CA3E3F}"/>
              </a:ext>
            </a:extLst>
          </p:cNvPr>
          <p:cNvSpPr/>
          <p:nvPr/>
        </p:nvSpPr>
        <p:spPr>
          <a:xfrm>
            <a:off x="6190866" y="767140"/>
            <a:ext cx="2743200" cy="2194560"/>
          </a:xfrm>
          <a:prstGeom prst="roundRect">
            <a:avLst>
              <a:gd name="adj" fmla="val 8168"/>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b="1" spc="300" dirty="0"/>
              <a:t>Employer</a:t>
            </a:r>
          </a:p>
        </p:txBody>
      </p:sp>
      <p:sp>
        <p:nvSpPr>
          <p:cNvPr id="21" name="Rectangle: Rounded Corners 20">
            <a:extLst>
              <a:ext uri="{FF2B5EF4-FFF2-40B4-BE49-F238E27FC236}">
                <a16:creationId xmlns:a16="http://schemas.microsoft.com/office/drawing/2014/main" id="{EC389E6D-655C-44F7-A512-D251981967B7}"/>
              </a:ext>
            </a:extLst>
          </p:cNvPr>
          <p:cNvSpPr/>
          <p:nvPr/>
        </p:nvSpPr>
        <p:spPr>
          <a:xfrm>
            <a:off x="6189312" y="614629"/>
            <a:ext cx="2743200" cy="1646474"/>
          </a:xfrm>
          <a:prstGeom prst="roundRect">
            <a:avLst>
              <a:gd name="adj" fmla="val 5098"/>
            </a:avLst>
          </a:prstGeom>
          <a:blipFill>
            <a:blip r:embed="rId6" cstate="screen">
              <a:duotone>
                <a:schemeClr val="accent3">
                  <a:shade val="45000"/>
                  <a:satMod val="135000"/>
                </a:schemeClr>
                <a:prstClr val="white"/>
              </a:duotone>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TextBox 28">
            <a:extLst>
              <a:ext uri="{FF2B5EF4-FFF2-40B4-BE49-F238E27FC236}">
                <a16:creationId xmlns:a16="http://schemas.microsoft.com/office/drawing/2014/main" id="{4729117A-BB8C-4EBB-A387-7A08741A215C}"/>
              </a:ext>
            </a:extLst>
          </p:cNvPr>
          <p:cNvSpPr txBox="1"/>
          <p:nvPr/>
        </p:nvSpPr>
        <p:spPr>
          <a:xfrm>
            <a:off x="0" y="88118"/>
            <a:ext cx="12192000" cy="400110"/>
          </a:xfrm>
          <a:prstGeom prst="rect">
            <a:avLst/>
          </a:prstGeom>
          <a:noFill/>
        </p:spPr>
        <p:txBody>
          <a:bodyPr wrap="square" rtlCol="0">
            <a:spAutoFit/>
          </a:bodyPr>
          <a:lstStyle/>
          <a:p>
            <a:pPr algn="ctr"/>
            <a:r>
              <a:rPr lang="en-US" sz="2000" b="1" spc="600" dirty="0">
                <a:solidFill>
                  <a:schemeClr val="tx1">
                    <a:lumMod val="50000"/>
                    <a:lumOff val="50000"/>
                  </a:schemeClr>
                </a:solidFill>
                <a:latin typeface="Arial" panose="020B0604020202020204" pitchFamily="34" charset="0"/>
                <a:cs typeface="Arial" panose="020B0604020202020204" pitchFamily="34" charset="0"/>
              </a:rPr>
              <a:t>COLLABORATION OF STAKEHOLDERS</a:t>
            </a:r>
          </a:p>
        </p:txBody>
      </p:sp>
      <p:sp>
        <p:nvSpPr>
          <p:cNvPr id="2" name="Footer Placeholder 1">
            <a:extLst>
              <a:ext uri="{FF2B5EF4-FFF2-40B4-BE49-F238E27FC236}">
                <a16:creationId xmlns:a16="http://schemas.microsoft.com/office/drawing/2014/main" id="{201E1F3B-34DC-4814-B207-BFA0952F846F}"/>
              </a:ext>
            </a:extLst>
          </p:cNvPr>
          <p:cNvSpPr>
            <a:spLocks noGrp="1"/>
          </p:cNvSpPr>
          <p:nvPr>
            <p:ph type="ftr" sz="quarter" idx="11"/>
          </p:nvPr>
        </p:nvSpPr>
        <p:spPr/>
        <p:txBody>
          <a:bodyPr/>
          <a:lstStyle/>
          <a:p>
            <a:r>
              <a:rPr lang="en-US" dirty="0"/>
              <a:t>Key Benefit Administrators</a:t>
            </a:r>
          </a:p>
        </p:txBody>
      </p:sp>
      <p:sp>
        <p:nvSpPr>
          <p:cNvPr id="23" name="Slide Number Placeholder 4">
            <a:extLst>
              <a:ext uri="{FF2B5EF4-FFF2-40B4-BE49-F238E27FC236}">
                <a16:creationId xmlns:a16="http://schemas.microsoft.com/office/drawing/2014/main" id="{F2BFC0BE-4983-4495-8C0B-3B2676EE2347}"/>
              </a:ext>
            </a:extLst>
          </p:cNvPr>
          <p:cNvSpPr>
            <a:spLocks noGrp="1"/>
          </p:cNvSpPr>
          <p:nvPr>
            <p:ph type="sldNum" sz="quarter" idx="12"/>
          </p:nvPr>
        </p:nvSpPr>
        <p:spPr>
          <a:xfrm>
            <a:off x="8610600" y="6471095"/>
            <a:ext cx="2743200" cy="250380"/>
          </a:xfrm>
        </p:spPr>
        <p:txBody>
          <a:bodyPr/>
          <a:lstStyle/>
          <a:p>
            <a:fld id="{3AFC719D-C4A7-4544-876E-D411D11AF6C9}" type="slidenum">
              <a:rPr lang="en-US" smtClean="0"/>
              <a:t>37</a:t>
            </a:fld>
            <a:endParaRPr lang="en-US" dirty="0"/>
          </a:p>
        </p:txBody>
      </p:sp>
    </p:spTree>
    <p:extLst>
      <p:ext uri="{BB962C8B-B14F-4D97-AF65-F5344CB8AC3E}">
        <p14:creationId xmlns:p14="http://schemas.microsoft.com/office/powerpoint/2010/main" val="314419213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BBB1F-796B-4271-AAA8-C6BA52CFC027}"/>
              </a:ext>
            </a:extLst>
          </p:cNvPr>
          <p:cNvSpPr>
            <a:spLocks noGrp="1"/>
          </p:cNvSpPr>
          <p:nvPr>
            <p:ph type="title"/>
          </p:nvPr>
        </p:nvSpPr>
        <p:spPr>
          <a:xfrm>
            <a:off x="1013460" y="262490"/>
            <a:ext cx="9576783" cy="528085"/>
          </a:xfrm>
        </p:spPr>
        <p:txBody>
          <a:bodyPr>
            <a:noAutofit/>
          </a:bodyPr>
          <a:lstStyle/>
          <a:p>
            <a:r>
              <a:rPr lang="en-US" sz="2400" dirty="0">
                <a:solidFill>
                  <a:srgbClr val="0063A3"/>
                </a:solidFill>
              </a:rPr>
              <a:t>ROLES &amp; RESPONSBILITIES</a:t>
            </a:r>
          </a:p>
        </p:txBody>
      </p:sp>
      <p:graphicFrame>
        <p:nvGraphicFramePr>
          <p:cNvPr id="5" name="Table 4">
            <a:extLst>
              <a:ext uri="{FF2B5EF4-FFF2-40B4-BE49-F238E27FC236}">
                <a16:creationId xmlns:a16="http://schemas.microsoft.com/office/drawing/2014/main" id="{3DE2040A-C011-4979-87CF-A22C198DE3CA}"/>
              </a:ext>
            </a:extLst>
          </p:cNvPr>
          <p:cNvGraphicFramePr>
            <a:graphicFrameLocks noGrp="1"/>
          </p:cNvGraphicFramePr>
          <p:nvPr>
            <p:extLst>
              <p:ext uri="{D42A27DB-BD31-4B8C-83A1-F6EECF244321}">
                <p14:modId xmlns:p14="http://schemas.microsoft.com/office/powerpoint/2010/main" val="3347937976"/>
              </p:ext>
            </p:extLst>
          </p:nvPr>
        </p:nvGraphicFramePr>
        <p:xfrm>
          <a:off x="1013460" y="857025"/>
          <a:ext cx="10121264" cy="5560539"/>
        </p:xfrm>
        <a:graphic>
          <a:graphicData uri="http://schemas.openxmlformats.org/drawingml/2006/table">
            <a:tbl>
              <a:tblPr firstRow="1">
                <a:tableStyleId>{8799B23B-EC83-4686-B30A-512413B5E67A}</a:tableStyleId>
              </a:tblPr>
              <a:tblGrid>
                <a:gridCol w="4941454">
                  <a:extLst>
                    <a:ext uri="{9D8B030D-6E8A-4147-A177-3AD203B41FA5}">
                      <a16:colId xmlns:a16="http://schemas.microsoft.com/office/drawing/2014/main" val="2456270069"/>
                    </a:ext>
                  </a:extLst>
                </a:gridCol>
                <a:gridCol w="5179810">
                  <a:extLst>
                    <a:ext uri="{9D8B030D-6E8A-4147-A177-3AD203B41FA5}">
                      <a16:colId xmlns:a16="http://schemas.microsoft.com/office/drawing/2014/main" val="88257443"/>
                    </a:ext>
                  </a:extLst>
                </a:gridCol>
              </a:tblGrid>
              <a:tr h="274854">
                <a:tc gridSpan="2">
                  <a:txBody>
                    <a:bodyPr/>
                    <a:lstStyle/>
                    <a:p>
                      <a:pPr marL="0" marR="0" algn="ctr">
                        <a:spcBef>
                          <a:spcPts val="0"/>
                        </a:spcBef>
                        <a:spcAft>
                          <a:spcPts val="0"/>
                        </a:spcAft>
                        <a:tabLst>
                          <a:tab pos="4465955" algn="l"/>
                        </a:tabLst>
                      </a:pPr>
                      <a:r>
                        <a:rPr lang="en-US" sz="1400" spc="300" dirty="0">
                          <a:solidFill>
                            <a:schemeClr val="bg1"/>
                          </a:solidFill>
                          <a:effectLst/>
                        </a:rPr>
                        <a:t>SERVICES &amp; ADMINISTRATIVE SYSTEMS PROVIDED BY:</a:t>
                      </a:r>
                      <a:endParaRPr lang="en-US" sz="1400" spc="3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0B2E"/>
                    </a:solidFill>
                  </a:tcPr>
                </a:tc>
                <a:tc hMerge="1">
                  <a:txBody>
                    <a:bodyPr/>
                    <a:lstStyle/>
                    <a:p>
                      <a:endParaRPr lang="en-US"/>
                    </a:p>
                  </a:txBody>
                  <a:tcPr/>
                </a:tc>
                <a:extLst>
                  <a:ext uri="{0D108BD9-81ED-4DB2-BD59-A6C34878D82A}">
                    <a16:rowId xmlns:a16="http://schemas.microsoft.com/office/drawing/2014/main" val="2661458497"/>
                  </a:ext>
                </a:extLst>
              </a:tr>
              <a:tr h="273577">
                <a:tc>
                  <a:txBody>
                    <a:bodyPr/>
                    <a:lstStyle/>
                    <a:p>
                      <a:pPr marL="0" marR="0" algn="ctr">
                        <a:spcBef>
                          <a:spcPts val="0"/>
                        </a:spcBef>
                        <a:spcAft>
                          <a:spcPts val="0"/>
                        </a:spcAft>
                        <a:tabLst>
                          <a:tab pos="4465955" algn="l"/>
                        </a:tabLst>
                      </a:pPr>
                      <a:r>
                        <a:rPr lang="en-US" sz="1200" b="1" u="none"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SLUHN</a:t>
                      </a: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9CAE8"/>
                    </a:solidFill>
                  </a:tcPr>
                </a:tc>
                <a:tc>
                  <a:txBody>
                    <a:bodyPr/>
                    <a:lstStyle/>
                    <a:p>
                      <a:pPr marL="0" marR="0" algn="ctr">
                        <a:spcBef>
                          <a:spcPts val="0"/>
                        </a:spcBef>
                        <a:spcAft>
                          <a:spcPts val="0"/>
                        </a:spcAft>
                        <a:tabLst>
                          <a:tab pos="4465955" algn="l"/>
                        </a:tabLst>
                      </a:pPr>
                      <a:r>
                        <a:rPr lang="en-US" sz="1200" b="1" u="none" dirty="0">
                          <a:solidFill>
                            <a:schemeClr val="bg1"/>
                          </a:solidFill>
                          <a:effectLst/>
                        </a:rPr>
                        <a:t>KBA Operations</a:t>
                      </a:r>
                      <a:endParaRPr lang="en-US" sz="1200" b="1" u="none"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63A3"/>
                    </a:solidFill>
                  </a:tcPr>
                </a:tc>
                <a:extLst>
                  <a:ext uri="{0D108BD9-81ED-4DB2-BD59-A6C34878D82A}">
                    <a16:rowId xmlns:a16="http://schemas.microsoft.com/office/drawing/2014/main" val="2994131152"/>
                  </a:ext>
                </a:extLst>
              </a:tr>
              <a:tr h="2243128">
                <a:tc>
                  <a:txBody>
                    <a:bodyPr/>
                    <a:lstStyle/>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Tier 1 Provider Network </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Provider Recruitment – If Necessary</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Network Pricing &amp; Contract Terms</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Referral Management Protocols &amp; Approvals</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Medical Director Oversight</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Practice Improvement Program using KBA/AHDI Data with Assistance from KBA</a:t>
                      </a: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3">
                  <a:txBody>
                    <a:bodyPr/>
                    <a:lstStyle/>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Network Evaluation – Actuarial Pricing</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PPO Wrap &amp; Tertiary Transplant Network, if needed</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Claims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Plan Design Development, Testing, and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Employer/Member/Provider Customer Service</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Customized Member/Provider/Agent/HR Portal</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Billing, Enrollment (Electronic/Paper), and Premium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Fulfilment – SPD &amp; Customized ID Cards  </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COBRA/HIPAA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Out of Network Negotiations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Wrap PPO Repricing</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Nurse Coaching for Chronically Ill</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Nurse Triage to Physicians and Facilities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Stop-Loss Underwriting, Pricing, and Placement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Stop Loss Claims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Complex Case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PBM Administration Interface</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Reporting</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Utilization &amp; Gaps in Care</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Clinically Based Physician Profiling</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Referrals</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Gain Share Calculations &amp; Distribution</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Chronic Disease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Employer Health Risk Management Reports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Ancillary Administration – Dental, Vision, Weekly Income, 5500, Life, etc.</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Health Savings Account (HSA), Flexible Spending (FSA), Health Reimbursement Account (HRA)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Sales &amp; Marketing Plan</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Strategy Development: Branding, Brochures, Web Site</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Distribution System Development</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Sales Management</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29600542"/>
                  </a:ext>
                </a:extLst>
              </a:tr>
              <a:tr h="293678">
                <a:tc>
                  <a:txBody>
                    <a:bodyPr/>
                    <a:lstStyle/>
                    <a:p>
                      <a:pPr marL="0" marR="0" algn="ctr">
                        <a:spcBef>
                          <a:spcPts val="0"/>
                        </a:spcBef>
                        <a:spcAft>
                          <a:spcPts val="0"/>
                        </a:spcAft>
                        <a:tabLst>
                          <a:tab pos="4465955" algn="l"/>
                        </a:tabLst>
                      </a:pPr>
                      <a:r>
                        <a:rPr lang="en-US" sz="1200" b="1" u="none" dirty="0">
                          <a:solidFill>
                            <a:schemeClr val="tx1"/>
                          </a:solidFill>
                          <a:effectLst/>
                        </a:rPr>
                        <a:t>KBA Consulting</a:t>
                      </a: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vMerge="1">
                  <a:txBody>
                    <a:bodyPr/>
                    <a:lstStyle/>
                    <a:p>
                      <a:endParaRPr lang="en-US"/>
                    </a:p>
                  </a:txBody>
                  <a:tcPr/>
                </a:tc>
                <a:extLst>
                  <a:ext uri="{0D108BD9-81ED-4DB2-BD59-A6C34878D82A}">
                    <a16:rowId xmlns:a16="http://schemas.microsoft.com/office/drawing/2014/main" val="2629869834"/>
                  </a:ext>
                </a:extLst>
              </a:tr>
              <a:tr h="2475302">
                <a:tc>
                  <a:txBody>
                    <a:bodyPr/>
                    <a:lstStyle/>
                    <a:p>
                      <a:pPr marL="171450" marR="0" lvl="0" indent="-171450">
                        <a:spcBef>
                          <a:spcPts val="0"/>
                        </a:spcBef>
                        <a:spcAft>
                          <a:spcPts val="0"/>
                        </a:spcAft>
                        <a:buClrTx/>
                        <a:buFont typeface="Arial" panose="020B0604020202020204" pitchFamily="34" charset="0"/>
                        <a:buChar char="•"/>
                      </a:pPr>
                      <a:endParaRPr lang="en-US" sz="1200" dirty="0">
                        <a:effectLst/>
                      </a:endParaRPr>
                    </a:p>
                    <a:p>
                      <a:pPr marL="400050" marR="0" lvl="1" indent="-171450">
                        <a:spcBef>
                          <a:spcPts val="0"/>
                        </a:spcBef>
                        <a:spcAft>
                          <a:spcPts val="0"/>
                        </a:spcAft>
                        <a:buClrTx/>
                        <a:buFont typeface="Wingdings" panose="05000000000000000000" pitchFamily="2" charset="2"/>
                        <a:buChar char="§"/>
                      </a:pPr>
                      <a:r>
                        <a:rPr lang="en-US" sz="1200" dirty="0">
                          <a:effectLst/>
                        </a:rPr>
                        <a:t>Program oversight and integration across the enterprise</a:t>
                      </a:r>
                    </a:p>
                    <a:p>
                      <a:pPr marL="400050" marR="0" lvl="1" indent="-171450">
                        <a:spcBef>
                          <a:spcPts val="0"/>
                        </a:spcBef>
                        <a:spcAft>
                          <a:spcPts val="0"/>
                        </a:spcAft>
                        <a:buClrTx/>
                        <a:buFont typeface="Wingdings" panose="05000000000000000000" pitchFamily="2" charset="2"/>
                        <a:buChar char="§"/>
                      </a:pPr>
                      <a:r>
                        <a:rPr lang="en-US" sz="1200" dirty="0">
                          <a:effectLst/>
                        </a:rPr>
                        <a:t>Goal development, agreement and tracking</a:t>
                      </a:r>
                    </a:p>
                    <a:p>
                      <a:pPr marL="400050" marR="0" lvl="1" indent="-171450">
                        <a:spcBef>
                          <a:spcPts val="0"/>
                        </a:spcBef>
                        <a:spcAft>
                          <a:spcPts val="0"/>
                        </a:spcAft>
                        <a:buClrTx/>
                        <a:buFont typeface="Wingdings" panose="05000000000000000000" pitchFamily="2" charset="2"/>
                        <a:buChar char="§"/>
                      </a:pPr>
                      <a:r>
                        <a:rPr lang="en-US" sz="1200" dirty="0">
                          <a:effectLst/>
                        </a:rPr>
                        <a:t>Start-up assessments: market, network, operational and readiness</a:t>
                      </a:r>
                    </a:p>
                    <a:p>
                      <a:pPr marL="400050" marR="0" lvl="1" indent="-171450">
                        <a:spcBef>
                          <a:spcPts val="0"/>
                        </a:spcBef>
                        <a:spcAft>
                          <a:spcPts val="0"/>
                        </a:spcAft>
                        <a:buClrTx/>
                        <a:buFont typeface="Wingdings" panose="05000000000000000000" pitchFamily="2" charset="2"/>
                        <a:buChar char="§"/>
                      </a:pPr>
                      <a:r>
                        <a:rPr lang="en-US" sz="1200" dirty="0">
                          <a:effectLst/>
                        </a:rPr>
                        <a:t>Draft business plan with financial projections</a:t>
                      </a:r>
                    </a:p>
                    <a:p>
                      <a:pPr marL="400050" marR="0" lvl="1" indent="-171450">
                        <a:spcBef>
                          <a:spcPts val="0"/>
                        </a:spcBef>
                        <a:spcAft>
                          <a:spcPts val="0"/>
                        </a:spcAft>
                        <a:buClrTx/>
                        <a:buFont typeface="Wingdings" panose="05000000000000000000" pitchFamily="2" charset="2"/>
                        <a:buChar char="§"/>
                      </a:pPr>
                      <a:r>
                        <a:rPr lang="en-US" sz="1200" dirty="0">
                          <a:effectLst/>
                        </a:rPr>
                        <a:t>Facilitate program communication and engagement with SLUHN departments including  system c-suite, operations, HR, managed care, marketing, strategy and business development </a:t>
                      </a:r>
                    </a:p>
                    <a:p>
                      <a:pPr marL="0" marR="0">
                        <a:spcBef>
                          <a:spcPts val="0"/>
                        </a:spcBef>
                        <a:spcAft>
                          <a:spcPts val="0"/>
                        </a:spcAft>
                        <a:tabLst>
                          <a:tab pos="4465955" algn="l"/>
                        </a:tabLst>
                      </a:pP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5819" marR="45819" marT="0"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endParaRPr lang="en-US"/>
                    </a:p>
                  </a:txBody>
                  <a:tcPr/>
                </a:tc>
                <a:extLst>
                  <a:ext uri="{0D108BD9-81ED-4DB2-BD59-A6C34878D82A}">
                    <a16:rowId xmlns:a16="http://schemas.microsoft.com/office/drawing/2014/main" val="111150367"/>
                  </a:ext>
                </a:extLst>
              </a:tr>
            </a:tbl>
          </a:graphicData>
        </a:graphic>
      </p:graphicFrame>
      <p:sp>
        <p:nvSpPr>
          <p:cNvPr id="6" name="Slide Number Placeholder 3">
            <a:extLst>
              <a:ext uri="{FF2B5EF4-FFF2-40B4-BE49-F238E27FC236}">
                <a16:creationId xmlns:a16="http://schemas.microsoft.com/office/drawing/2014/main" id="{9ACFDC11-4125-4126-B894-03D300C80E50}"/>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38</a:t>
            </a:fld>
            <a:endParaRPr lang="en-US" sz="1100" dirty="0">
              <a:solidFill>
                <a:schemeClr val="tx1">
                  <a:lumMod val="50000"/>
                  <a:lumOff val="50000"/>
                </a:schemeClr>
              </a:solidFill>
            </a:endParaRPr>
          </a:p>
        </p:txBody>
      </p:sp>
      <p:sp>
        <p:nvSpPr>
          <p:cNvPr id="3" name="Footer Placeholder 2">
            <a:extLst>
              <a:ext uri="{FF2B5EF4-FFF2-40B4-BE49-F238E27FC236}">
                <a16:creationId xmlns:a16="http://schemas.microsoft.com/office/drawing/2014/main" id="{DB674536-A498-4F19-9B73-1BEA752574CB}"/>
              </a:ext>
            </a:extLst>
          </p:cNvPr>
          <p:cNvSpPr>
            <a:spLocks noGrp="1"/>
          </p:cNvSpPr>
          <p:nvPr>
            <p:ph type="ftr" sz="quarter" idx="11"/>
          </p:nvPr>
        </p:nvSpPr>
        <p:spPr/>
        <p:txBody>
          <a:bodyPr/>
          <a:lstStyle/>
          <a:p>
            <a:r>
              <a:rPr lang="en-US" dirty="0"/>
              <a:t>Key Benefit Administrators</a:t>
            </a:r>
          </a:p>
        </p:txBody>
      </p:sp>
    </p:spTree>
    <p:extLst>
      <p:ext uri="{BB962C8B-B14F-4D97-AF65-F5344CB8AC3E}">
        <p14:creationId xmlns:p14="http://schemas.microsoft.com/office/powerpoint/2010/main" val="21195150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665DD-54C9-427B-B984-8F56210F94C4}"/>
              </a:ext>
            </a:extLst>
          </p:cNvPr>
          <p:cNvSpPr>
            <a:spLocks noGrp="1"/>
          </p:cNvSpPr>
          <p:nvPr>
            <p:ph type="title"/>
          </p:nvPr>
        </p:nvSpPr>
        <p:spPr>
          <a:xfrm>
            <a:off x="5000625" y="629269"/>
            <a:ext cx="6551296" cy="1286160"/>
          </a:xfrm>
        </p:spPr>
        <p:txBody>
          <a:bodyPr vert="horz" lIns="91440" tIns="45720" rIns="91440" bIns="45720" rtlCol="0" anchor="b">
            <a:normAutofit/>
          </a:bodyPr>
          <a:lstStyle/>
          <a:p>
            <a:r>
              <a:rPr lang="en-US" sz="3200" dirty="0">
                <a:solidFill>
                  <a:srgbClr val="244F9A"/>
                </a:solidFill>
              </a:rPr>
              <a:t>PRE-IMPLEMENTATION</a:t>
            </a:r>
          </a:p>
        </p:txBody>
      </p:sp>
      <p:pic>
        <p:nvPicPr>
          <p:cNvPr id="23558" name="Picture 6" descr="What is a project manager responsible for? Here's everything you ...">
            <a:extLst>
              <a:ext uri="{FF2B5EF4-FFF2-40B4-BE49-F238E27FC236}">
                <a16:creationId xmlns:a16="http://schemas.microsoft.com/office/drawing/2014/main" id="{7071A93F-3113-4918-BF68-954498625668}"/>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20" y="10"/>
            <a:ext cx="4524355" cy="6857990"/>
          </a:xfrm>
          <a:prstGeom prst="rect">
            <a:avLst/>
          </a:prstGeom>
          <a:noFill/>
          <a:effectLst/>
          <a:extLst>
            <a:ext uri="{909E8E84-426E-40DD-AFC4-6F175D3DCCD1}">
              <a14:hiddenFill xmlns:a14="http://schemas.microsoft.com/office/drawing/2010/main">
                <a:solidFill>
                  <a:srgbClr val="FFFFFF"/>
                </a:solidFill>
              </a14:hiddenFill>
            </a:ext>
          </a:extLst>
        </p:spPr>
      </p:pic>
      <p:cxnSp>
        <p:nvCxnSpPr>
          <p:cNvPr id="75" name="Straight Connector 74">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 name="Slide Number Placeholder 3">
            <a:extLst>
              <a:ext uri="{FF2B5EF4-FFF2-40B4-BE49-F238E27FC236}">
                <a16:creationId xmlns:a16="http://schemas.microsoft.com/office/drawing/2014/main" id="{E6F508EF-CDD8-4582-B29F-B030745C679B}"/>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39</a:t>
            </a:fld>
            <a:endParaRPr lang="en-US" sz="1100" dirty="0">
              <a:solidFill>
                <a:schemeClr val="tx1">
                  <a:lumMod val="50000"/>
                  <a:lumOff val="50000"/>
                </a:schemeClr>
              </a:solidFill>
            </a:endParaRPr>
          </a:p>
        </p:txBody>
      </p:sp>
      <p:sp>
        <p:nvSpPr>
          <p:cNvPr id="3" name="Footer Placeholder 2">
            <a:extLst>
              <a:ext uri="{FF2B5EF4-FFF2-40B4-BE49-F238E27FC236}">
                <a16:creationId xmlns:a16="http://schemas.microsoft.com/office/drawing/2014/main" id="{3249CCBB-8F5A-413D-9647-DB8B3F633066}"/>
              </a:ext>
            </a:extLst>
          </p:cNvPr>
          <p:cNvSpPr>
            <a:spLocks noGrp="1"/>
          </p:cNvSpPr>
          <p:nvPr>
            <p:ph type="ftr" sz="quarter" idx="11"/>
          </p:nvPr>
        </p:nvSpPr>
        <p:spPr>
          <a:xfrm>
            <a:off x="6312471" y="6449669"/>
            <a:ext cx="4114800" cy="365125"/>
          </a:xfrm>
        </p:spPr>
        <p:txBody>
          <a:bodyPr/>
          <a:lstStyle/>
          <a:p>
            <a:r>
              <a:rPr lang="en-US" dirty="0"/>
              <a:t>Key Benefit Administrators</a:t>
            </a:r>
          </a:p>
        </p:txBody>
      </p:sp>
      <p:graphicFrame>
        <p:nvGraphicFramePr>
          <p:cNvPr id="4" name="Diagram 3">
            <a:extLst>
              <a:ext uri="{FF2B5EF4-FFF2-40B4-BE49-F238E27FC236}">
                <a16:creationId xmlns:a16="http://schemas.microsoft.com/office/drawing/2014/main" id="{84E03A31-9E21-4107-85E9-ECD8397925B4}"/>
              </a:ext>
            </a:extLst>
          </p:cNvPr>
          <p:cNvGraphicFramePr/>
          <p:nvPr>
            <p:extLst>
              <p:ext uri="{D42A27DB-BD31-4B8C-83A1-F6EECF244321}">
                <p14:modId xmlns:p14="http://schemas.microsoft.com/office/powerpoint/2010/main" val="1976902650"/>
              </p:ext>
            </p:extLst>
          </p:nvPr>
        </p:nvGraphicFramePr>
        <p:xfrm>
          <a:off x="5000625" y="2314806"/>
          <a:ext cx="7044979" cy="38673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2542228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665DD-54C9-427B-B984-8F56210F94C4}"/>
              </a:ext>
            </a:extLst>
          </p:cNvPr>
          <p:cNvSpPr>
            <a:spLocks noGrp="1"/>
          </p:cNvSpPr>
          <p:nvPr>
            <p:ph type="title"/>
          </p:nvPr>
        </p:nvSpPr>
        <p:spPr>
          <a:xfrm>
            <a:off x="5000625" y="629269"/>
            <a:ext cx="6551296" cy="1286160"/>
          </a:xfrm>
        </p:spPr>
        <p:txBody>
          <a:bodyPr vert="horz" lIns="91440" tIns="45720" rIns="91440" bIns="45720" rtlCol="0" anchor="b">
            <a:normAutofit/>
          </a:bodyPr>
          <a:lstStyle/>
          <a:p>
            <a:r>
              <a:rPr lang="en-US" sz="3200" dirty="0">
                <a:solidFill>
                  <a:srgbClr val="244F9A"/>
                </a:solidFill>
              </a:rPr>
              <a:t>IMPLEMENTATION</a:t>
            </a:r>
          </a:p>
        </p:txBody>
      </p:sp>
      <p:pic>
        <p:nvPicPr>
          <p:cNvPr id="23558" name="Picture 6" descr="What is a project manager responsible for? Here's everything you ...">
            <a:extLst>
              <a:ext uri="{FF2B5EF4-FFF2-40B4-BE49-F238E27FC236}">
                <a16:creationId xmlns:a16="http://schemas.microsoft.com/office/drawing/2014/main" id="{7071A93F-3113-4918-BF68-954498625668}"/>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20" y="10"/>
            <a:ext cx="4524355" cy="6857990"/>
          </a:xfrm>
          <a:prstGeom prst="rect">
            <a:avLst/>
          </a:prstGeom>
          <a:noFill/>
          <a:effectLst/>
          <a:extLst>
            <a:ext uri="{909E8E84-426E-40DD-AFC4-6F175D3DCCD1}">
              <a14:hiddenFill xmlns:a14="http://schemas.microsoft.com/office/drawing/2010/main">
                <a:solidFill>
                  <a:srgbClr val="FFFFFF"/>
                </a:solidFill>
              </a14:hiddenFill>
            </a:ext>
          </a:extLst>
        </p:spPr>
      </p:pic>
      <p:cxnSp>
        <p:nvCxnSpPr>
          <p:cNvPr id="75" name="Straight Connector 74">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aphicFrame>
        <p:nvGraphicFramePr>
          <p:cNvPr id="5" name="Diagram 4">
            <a:extLst>
              <a:ext uri="{FF2B5EF4-FFF2-40B4-BE49-F238E27FC236}">
                <a16:creationId xmlns:a16="http://schemas.microsoft.com/office/drawing/2014/main" id="{8E6E34C3-E019-4EEA-855C-769086D79D48}"/>
              </a:ext>
            </a:extLst>
          </p:cNvPr>
          <p:cNvGraphicFramePr/>
          <p:nvPr>
            <p:extLst>
              <p:ext uri="{D42A27DB-BD31-4B8C-83A1-F6EECF244321}">
                <p14:modId xmlns:p14="http://schemas.microsoft.com/office/powerpoint/2010/main" val="2883504333"/>
              </p:ext>
            </p:extLst>
          </p:nvPr>
        </p:nvGraphicFramePr>
        <p:xfrm>
          <a:off x="4807387" y="2238738"/>
          <a:ext cx="7124969" cy="391792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Slide Number Placeholder 3">
            <a:extLst>
              <a:ext uri="{FF2B5EF4-FFF2-40B4-BE49-F238E27FC236}">
                <a16:creationId xmlns:a16="http://schemas.microsoft.com/office/drawing/2014/main" id="{E6F508EF-CDD8-4582-B29F-B030745C679B}"/>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40</a:t>
            </a:fld>
            <a:endParaRPr lang="en-US" sz="1100" dirty="0">
              <a:solidFill>
                <a:schemeClr val="tx1">
                  <a:lumMod val="50000"/>
                  <a:lumOff val="50000"/>
                </a:schemeClr>
              </a:solidFill>
            </a:endParaRPr>
          </a:p>
        </p:txBody>
      </p:sp>
      <p:sp>
        <p:nvSpPr>
          <p:cNvPr id="3" name="Footer Placeholder 2">
            <a:extLst>
              <a:ext uri="{FF2B5EF4-FFF2-40B4-BE49-F238E27FC236}">
                <a16:creationId xmlns:a16="http://schemas.microsoft.com/office/drawing/2014/main" id="{3249CCBB-8F5A-413D-9647-DB8B3F633066}"/>
              </a:ext>
            </a:extLst>
          </p:cNvPr>
          <p:cNvSpPr>
            <a:spLocks noGrp="1"/>
          </p:cNvSpPr>
          <p:nvPr>
            <p:ph type="ftr" sz="quarter" idx="11"/>
          </p:nvPr>
        </p:nvSpPr>
        <p:spPr>
          <a:xfrm>
            <a:off x="6312471" y="6449669"/>
            <a:ext cx="4114800" cy="365125"/>
          </a:xfrm>
        </p:spPr>
        <p:txBody>
          <a:bodyPr/>
          <a:lstStyle/>
          <a:p>
            <a:r>
              <a:rPr lang="en-US" dirty="0"/>
              <a:t>Key Benefit Administrators</a:t>
            </a:r>
          </a:p>
        </p:txBody>
      </p:sp>
    </p:spTree>
    <p:extLst>
      <p:ext uri="{BB962C8B-B14F-4D97-AF65-F5344CB8AC3E}">
        <p14:creationId xmlns:p14="http://schemas.microsoft.com/office/powerpoint/2010/main" val="266012424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BB5D2E5F-7796-4A80-A1F0-244E8AA938D3}"/>
              </a:ext>
            </a:extLst>
          </p:cNvPr>
          <p:cNvSpPr/>
          <p:nvPr/>
        </p:nvSpPr>
        <p:spPr>
          <a:xfrm>
            <a:off x="0" y="0"/>
            <a:ext cx="3095625" cy="6845654"/>
          </a:xfrm>
          <a:prstGeom prst="rect">
            <a:avLst/>
          </a:prstGeom>
          <a:gradFill flip="none" rotWithShape="1">
            <a:gsLst>
              <a:gs pos="0">
                <a:srgbClr val="C6C5C5"/>
              </a:gs>
              <a:gs pos="68000">
                <a:srgbClr val="B7B6B6"/>
              </a:gs>
              <a:gs pos="43000">
                <a:srgbClr val="A8A7A7"/>
              </a:gs>
              <a:gs pos="93000">
                <a:srgbClr val="A8A7A7"/>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172" name="Picture 4" descr="Key Benefit Administrators Office Photos | Glassdoor">
            <a:extLst>
              <a:ext uri="{FF2B5EF4-FFF2-40B4-BE49-F238E27FC236}">
                <a16:creationId xmlns:a16="http://schemas.microsoft.com/office/drawing/2014/main" id="{6CEA05B0-D867-49BD-BC20-745975B6F4C1}"/>
              </a:ext>
            </a:extLst>
          </p:cNvPr>
          <p:cNvPicPr>
            <a:picLocks noChangeAspect="1" noChangeArrowheads="1"/>
          </p:cNvPicPr>
          <p:nvPr/>
        </p:nvPicPr>
        <p:blipFill rotWithShape="1">
          <a:blip r:embed="rId2" cstate="screen">
            <a:duotone>
              <a:schemeClr val="bg2">
                <a:shade val="45000"/>
                <a:satMod val="135000"/>
              </a:schemeClr>
              <a:prstClr val="white"/>
            </a:duotone>
            <a:extLst>
              <a:ext uri="{28A0092B-C50C-407E-A947-70E740481C1C}">
                <a14:useLocalDpi xmlns:a14="http://schemas.microsoft.com/office/drawing/2010/main"/>
              </a:ext>
            </a:extLst>
          </a:blip>
          <a:srcRect/>
          <a:stretch/>
        </p:blipFill>
        <p:spPr bwMode="auto">
          <a:xfrm>
            <a:off x="2828926" y="0"/>
            <a:ext cx="9363075" cy="6858000"/>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21">
            <a:extLst>
              <a:ext uri="{FF2B5EF4-FFF2-40B4-BE49-F238E27FC236}">
                <a16:creationId xmlns:a16="http://schemas.microsoft.com/office/drawing/2014/main" id="{F9E7BDA1-C2F0-47FC-8E35-E6C155FA11C4}"/>
              </a:ext>
            </a:extLst>
          </p:cNvPr>
          <p:cNvPicPr>
            <a:picLocks noChangeAspect="1"/>
          </p:cNvPicPr>
          <p:nvPr/>
        </p:nvPicPr>
        <p:blipFill>
          <a:blip r:embed="rId3"/>
          <a:stretch>
            <a:fillRect/>
          </a:stretch>
        </p:blipFill>
        <p:spPr>
          <a:xfrm rot="10800000">
            <a:off x="0" y="-4227"/>
            <a:ext cx="3000375" cy="1000125"/>
          </a:xfrm>
          <a:prstGeom prst="rect">
            <a:avLst/>
          </a:prstGeom>
        </p:spPr>
      </p:pic>
      <p:sp>
        <p:nvSpPr>
          <p:cNvPr id="4" name="Slide Number Placeholder 3">
            <a:extLst>
              <a:ext uri="{FF2B5EF4-FFF2-40B4-BE49-F238E27FC236}">
                <a16:creationId xmlns:a16="http://schemas.microsoft.com/office/drawing/2014/main" id="{49B0828E-DA28-4FBB-9235-C683F78A9575}"/>
              </a:ext>
            </a:extLst>
          </p:cNvPr>
          <p:cNvSpPr>
            <a:spLocks noGrp="1"/>
          </p:cNvSpPr>
          <p:nvPr>
            <p:ph type="sldNum" sz="quarter" idx="12"/>
          </p:nvPr>
        </p:nvSpPr>
        <p:spPr/>
        <p:txBody>
          <a:bodyPr/>
          <a:lstStyle/>
          <a:p>
            <a:fld id="{3AFC719D-C4A7-4544-876E-D411D11AF6C9}" type="slidenum">
              <a:rPr lang="en-US" smtClean="0"/>
              <a:t>41</a:t>
            </a:fld>
            <a:endParaRPr lang="en-US" dirty="0"/>
          </a:p>
        </p:txBody>
      </p:sp>
      <p:sp>
        <p:nvSpPr>
          <p:cNvPr id="24" name="Rectangle 23">
            <a:extLst>
              <a:ext uri="{FF2B5EF4-FFF2-40B4-BE49-F238E27FC236}">
                <a16:creationId xmlns:a16="http://schemas.microsoft.com/office/drawing/2014/main" id="{88F9B5E8-D3C0-4885-9F6B-379525D51687}"/>
              </a:ext>
            </a:extLst>
          </p:cNvPr>
          <p:cNvSpPr/>
          <p:nvPr/>
        </p:nvSpPr>
        <p:spPr>
          <a:xfrm>
            <a:off x="-3796" y="1415180"/>
            <a:ext cx="7385671" cy="5439997"/>
          </a:xfrm>
          <a:prstGeom prst="rect">
            <a:avLst/>
          </a:prstGeom>
          <a:gradFill flip="none" rotWithShape="1">
            <a:gsLst>
              <a:gs pos="0">
                <a:srgbClr val="C6C5C5"/>
              </a:gs>
              <a:gs pos="68000">
                <a:srgbClr val="B7B6B6"/>
              </a:gs>
              <a:gs pos="43000">
                <a:srgbClr val="A8A7A7"/>
              </a:gs>
              <a:gs pos="93000">
                <a:srgbClr val="A8A7A7"/>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Single Corner Rounded 4">
            <a:extLst>
              <a:ext uri="{FF2B5EF4-FFF2-40B4-BE49-F238E27FC236}">
                <a16:creationId xmlns:a16="http://schemas.microsoft.com/office/drawing/2014/main" id="{AD1D7B3D-91CE-4826-90BB-5F92F8BB9481}"/>
              </a:ext>
            </a:extLst>
          </p:cNvPr>
          <p:cNvSpPr/>
          <p:nvPr/>
        </p:nvSpPr>
        <p:spPr>
          <a:xfrm>
            <a:off x="0" y="1009650"/>
            <a:ext cx="7477760" cy="5845528"/>
          </a:xfrm>
          <a:prstGeom prst="round1Rect">
            <a:avLst>
              <a:gd name="adj" fmla="val 12082"/>
            </a:avLst>
          </a:prstGeom>
          <a:solidFill>
            <a:srgbClr val="254F96">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Ins="274320" rtlCol="0" anchor="ctr"/>
          <a:lstStyle/>
          <a:p>
            <a:pPr marL="457206" lvl="1" defTabSz="914411" fontAlgn="base">
              <a:defRPr/>
            </a:pPr>
            <a:endParaRPr lang="en-US" dirty="0">
              <a:solidFill>
                <a:prstClr val="white"/>
              </a:solidFill>
              <a:latin typeface="Arial" panose="020B0604020202020204" pitchFamily="34" charset="0"/>
              <a:cs typeface="Arial" panose="020B0604020202020204" pitchFamily="34" charset="0"/>
            </a:endParaRPr>
          </a:p>
        </p:txBody>
      </p:sp>
      <p:sp>
        <p:nvSpPr>
          <p:cNvPr id="6" name="Freeform: Shape 5">
            <a:extLst>
              <a:ext uri="{FF2B5EF4-FFF2-40B4-BE49-F238E27FC236}">
                <a16:creationId xmlns:a16="http://schemas.microsoft.com/office/drawing/2014/main" id="{D616A404-B324-4680-9ED6-0746BB2B3A16}"/>
              </a:ext>
            </a:extLst>
          </p:cNvPr>
          <p:cNvSpPr/>
          <p:nvPr/>
        </p:nvSpPr>
        <p:spPr>
          <a:xfrm rot="16200000">
            <a:off x="5385400" y="4759020"/>
            <a:ext cx="1873602" cy="2318710"/>
          </a:xfrm>
          <a:custGeom>
            <a:avLst/>
            <a:gdLst>
              <a:gd name="connsiteX0" fmla="*/ 2160577 w 2160577"/>
              <a:gd name="connsiteY0" fmla="*/ 3114245 h 3114245"/>
              <a:gd name="connsiteX1" fmla="*/ 0 w 2160577"/>
              <a:gd name="connsiteY1" fmla="*/ 3114245 h 3114245"/>
              <a:gd name="connsiteX2" fmla="*/ 0 w 2160577"/>
              <a:gd name="connsiteY2" fmla="*/ 0 h 3114245"/>
              <a:gd name="connsiteX3" fmla="*/ 40185 w 2160577"/>
              <a:gd name="connsiteY3" fmla="*/ 231682 h 3114245"/>
              <a:gd name="connsiteX4" fmla="*/ 2101086 w 2160577"/>
              <a:gd name="connsiteY4" fmla="*/ 3114244 h 3114245"/>
              <a:gd name="connsiteX5" fmla="*/ 2158168 w 2160577"/>
              <a:gd name="connsiteY5" fmla="*/ 3108162 h 311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60577" h="3114245">
                <a:moveTo>
                  <a:pt x="2160577" y="3114245"/>
                </a:moveTo>
                <a:lnTo>
                  <a:pt x="0" y="3114245"/>
                </a:lnTo>
                <a:lnTo>
                  <a:pt x="0" y="0"/>
                </a:lnTo>
                <a:lnTo>
                  <a:pt x="40185" y="231682"/>
                </a:lnTo>
                <a:cubicBezTo>
                  <a:pt x="379730" y="1925643"/>
                  <a:pt x="1174627" y="3114244"/>
                  <a:pt x="2101086" y="3114244"/>
                </a:cubicBezTo>
                <a:lnTo>
                  <a:pt x="2158168" y="3108162"/>
                </a:lnTo>
                <a:close/>
              </a:path>
            </a:pathLst>
          </a:custGeom>
          <a:solidFill>
            <a:srgbClr val="59CAE8">
              <a:alpha val="5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4411">
              <a:defRPr/>
            </a:pPr>
            <a:endParaRPr lang="en-US" dirty="0">
              <a:solidFill>
                <a:prstClr val="white"/>
              </a:solidFill>
              <a:latin typeface="Calibri" panose="020F0502020204030204"/>
            </a:endParaRPr>
          </a:p>
        </p:txBody>
      </p:sp>
      <p:sp>
        <p:nvSpPr>
          <p:cNvPr id="7" name="TextBox 6">
            <a:extLst>
              <a:ext uri="{FF2B5EF4-FFF2-40B4-BE49-F238E27FC236}">
                <a16:creationId xmlns:a16="http://schemas.microsoft.com/office/drawing/2014/main" id="{B009B747-65C4-4EA6-8340-1E1EB3FE580D}"/>
              </a:ext>
            </a:extLst>
          </p:cNvPr>
          <p:cNvSpPr txBox="1"/>
          <p:nvPr/>
        </p:nvSpPr>
        <p:spPr>
          <a:xfrm>
            <a:off x="452402" y="2374741"/>
            <a:ext cx="6650809" cy="3785652"/>
          </a:xfrm>
          <a:prstGeom prst="rect">
            <a:avLst/>
          </a:prstGeom>
          <a:noFill/>
        </p:spPr>
        <p:txBody>
          <a:bodyPr wrap="square" rtlCol="0">
            <a:spAutoFit/>
          </a:bodyPr>
          <a:lstStyle/>
          <a:p>
            <a:pPr marL="285753"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Founded in 1979 and headquartered in Indianapolis, IN​</a:t>
            </a:r>
          </a:p>
          <a:p>
            <a:pPr marL="285753"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Full-service TPA specializing in the administration of self-funded health plans and population health management​</a:t>
            </a:r>
          </a:p>
          <a:p>
            <a:pPr marL="285753"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One of the country’s largest independently-owned TPAs </a:t>
            </a:r>
          </a:p>
          <a:p>
            <a:pPr marL="285753"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The Key Family is a commonly-held group of benefits related organizations with:​</a:t>
            </a:r>
          </a:p>
          <a:p>
            <a:pPr marL="742960" lvl="1"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3,000+ corporate clients​</a:t>
            </a:r>
          </a:p>
          <a:p>
            <a:pPr marL="742960" lvl="1"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3.0 million members under management​</a:t>
            </a:r>
          </a:p>
          <a:p>
            <a:pPr marL="742960" lvl="1"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700 Employees</a:t>
            </a:r>
          </a:p>
          <a:p>
            <a:pPr marL="285753" indent="-285753" defTabSz="914411">
              <a:lnSpc>
                <a:spcPct val="150000"/>
              </a:lnSpc>
              <a:spcAft>
                <a:spcPts val="600"/>
              </a:spcAft>
              <a:buFont typeface="Wingdings" panose="05000000000000000000" pitchFamily="2" charset="2"/>
              <a:buChar char="§"/>
            </a:pPr>
            <a:r>
              <a:rPr lang="en-US" sz="1600" spc="150" dirty="0">
                <a:solidFill>
                  <a:schemeClr val="bg1"/>
                </a:solidFill>
                <a:latin typeface="Arial" panose="020B0604020202020204" pitchFamily="34" charset="0"/>
                <a:cs typeface="Arial" panose="020B0604020202020204" pitchFamily="34" charset="0"/>
              </a:rPr>
              <a:t>Exclusive Relationships</a:t>
            </a:r>
          </a:p>
          <a:p>
            <a:pPr marL="285753" indent="-285753" defTabSz="914411">
              <a:spcAft>
                <a:spcPts val="600"/>
              </a:spcAft>
              <a:buFont typeface="Wingdings" panose="05000000000000000000" pitchFamily="2" charset="2"/>
              <a:buChar char="§"/>
            </a:pPr>
            <a:r>
              <a:rPr lang="en-US" sz="1600" spc="150" dirty="0">
                <a:solidFill>
                  <a:schemeClr val="bg1"/>
                </a:solidFill>
                <a:latin typeface="Arial" panose="020B0604020202020204" pitchFamily="34" charset="0"/>
                <a:cs typeface="Arial" panose="020B0604020202020204" pitchFamily="34" charset="0"/>
              </a:rPr>
              <a:t>We know The Market – Agents, Networks, and MGAs</a:t>
            </a:r>
          </a:p>
        </p:txBody>
      </p:sp>
      <p:sp>
        <p:nvSpPr>
          <p:cNvPr id="3" name="Footer Placeholder 2">
            <a:extLst>
              <a:ext uri="{FF2B5EF4-FFF2-40B4-BE49-F238E27FC236}">
                <a16:creationId xmlns:a16="http://schemas.microsoft.com/office/drawing/2014/main" id="{EFB33B55-1AEB-4BBC-9F3F-C887F0C42EF5}"/>
              </a:ext>
            </a:extLst>
          </p:cNvPr>
          <p:cNvSpPr>
            <a:spLocks noGrp="1"/>
          </p:cNvSpPr>
          <p:nvPr>
            <p:ph type="ftr" sz="quarter" idx="11"/>
          </p:nvPr>
        </p:nvSpPr>
        <p:spPr>
          <a:xfrm>
            <a:off x="1307458" y="6360415"/>
            <a:ext cx="4114800" cy="365125"/>
          </a:xfrm>
        </p:spPr>
        <p:txBody>
          <a:bodyPr/>
          <a:lstStyle/>
          <a:p>
            <a:r>
              <a:rPr lang="en-US" dirty="0"/>
              <a:t>Key Benefit Administrators</a:t>
            </a:r>
          </a:p>
        </p:txBody>
      </p:sp>
      <p:pic>
        <p:nvPicPr>
          <p:cNvPr id="9220" name="Picture 4">
            <a:extLst>
              <a:ext uri="{FF2B5EF4-FFF2-40B4-BE49-F238E27FC236}">
                <a16:creationId xmlns:a16="http://schemas.microsoft.com/office/drawing/2014/main" id="{BA081F8A-34EF-4672-9370-DBC0CA8BE7A3}"/>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452402" y="1312679"/>
            <a:ext cx="3951647" cy="7677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1913510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4" descr="Key Benefit Administrators Office Photos | Glassdoor">
            <a:extLst>
              <a:ext uri="{FF2B5EF4-FFF2-40B4-BE49-F238E27FC236}">
                <a16:creationId xmlns:a16="http://schemas.microsoft.com/office/drawing/2014/main" id="{1892E4D4-7A08-4B2B-AE4B-53A6D73CC08E}"/>
              </a:ext>
            </a:extLst>
          </p:cNvPr>
          <p:cNvPicPr>
            <a:picLocks noChangeAspect="1" noChangeArrowheads="1"/>
          </p:cNvPicPr>
          <p:nvPr/>
        </p:nvPicPr>
        <p:blipFill rotWithShape="1">
          <a:blip r:embed="rId2" cstate="screen">
            <a:duotone>
              <a:schemeClr val="bg2">
                <a:shade val="45000"/>
                <a:satMod val="135000"/>
              </a:schemeClr>
              <a:prstClr val="white"/>
            </a:duotone>
            <a:extLst>
              <a:ext uri="{28A0092B-C50C-407E-A947-70E740481C1C}">
                <a14:useLocalDpi xmlns:a14="http://schemas.microsoft.com/office/drawing/2010/main"/>
              </a:ext>
            </a:extLst>
          </a:blip>
          <a:srcRect l="-14"/>
          <a:stretch/>
        </p:blipFill>
        <p:spPr bwMode="auto">
          <a:xfrm>
            <a:off x="0" y="-1057"/>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ABE43D6C-8B57-42E8-B1DC-2390ECA42EAC}"/>
              </a:ext>
            </a:extLst>
          </p:cNvPr>
          <p:cNvSpPr/>
          <p:nvPr/>
        </p:nvSpPr>
        <p:spPr>
          <a:xfrm>
            <a:off x="1" y="-1057"/>
            <a:ext cx="12203289" cy="6865412"/>
          </a:xfrm>
          <a:prstGeom prst="rect">
            <a:avLst/>
          </a:prstGeom>
          <a:solidFill>
            <a:srgbClr val="59CAE8">
              <a:alpha val="7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BB9A266-2718-4687-903B-B87AB1E45652}"/>
              </a:ext>
            </a:extLst>
          </p:cNvPr>
          <p:cNvSpPr>
            <a:spLocks noGrp="1"/>
          </p:cNvSpPr>
          <p:nvPr>
            <p:ph type="title"/>
          </p:nvPr>
        </p:nvSpPr>
        <p:spPr>
          <a:xfrm>
            <a:off x="532266" y="560444"/>
            <a:ext cx="6850224" cy="782540"/>
          </a:xfrm>
        </p:spPr>
        <p:txBody>
          <a:bodyPr/>
          <a:lstStyle/>
          <a:p>
            <a:r>
              <a:rPr lang="en-US" dirty="0">
                <a:solidFill>
                  <a:schemeClr val="bg1"/>
                </a:solidFill>
              </a:rPr>
              <a:t>A Partner You Can Trust</a:t>
            </a:r>
          </a:p>
        </p:txBody>
      </p:sp>
      <p:sp>
        <p:nvSpPr>
          <p:cNvPr id="3" name="Footer Placeholder 2">
            <a:extLst>
              <a:ext uri="{FF2B5EF4-FFF2-40B4-BE49-F238E27FC236}">
                <a16:creationId xmlns:a16="http://schemas.microsoft.com/office/drawing/2014/main" id="{049F6874-178E-4F82-9DAB-D6100F3B66A6}"/>
              </a:ext>
            </a:extLst>
          </p:cNvPr>
          <p:cNvSpPr>
            <a:spLocks noGrp="1"/>
          </p:cNvSpPr>
          <p:nvPr>
            <p:ph type="ftr" sz="quarter" idx="11"/>
          </p:nvPr>
        </p:nvSpPr>
        <p:spPr>
          <a:xfrm>
            <a:off x="4038600" y="6480530"/>
            <a:ext cx="4114800" cy="365125"/>
          </a:xfrm>
        </p:spPr>
        <p:txBody>
          <a:bodyPr/>
          <a:lstStyle/>
          <a:p>
            <a:r>
              <a:rPr lang="en-US" dirty="0">
                <a:solidFill>
                  <a:schemeClr val="bg1"/>
                </a:solidFill>
              </a:rPr>
              <a:t>Key Benefit Administrators</a:t>
            </a:r>
          </a:p>
        </p:txBody>
      </p:sp>
      <p:sp>
        <p:nvSpPr>
          <p:cNvPr id="4" name="Slide Number Placeholder 3">
            <a:extLst>
              <a:ext uri="{FF2B5EF4-FFF2-40B4-BE49-F238E27FC236}">
                <a16:creationId xmlns:a16="http://schemas.microsoft.com/office/drawing/2014/main" id="{777C4E82-3249-4BC7-AAC4-401977969277}"/>
              </a:ext>
            </a:extLst>
          </p:cNvPr>
          <p:cNvSpPr>
            <a:spLocks noGrp="1"/>
          </p:cNvSpPr>
          <p:nvPr>
            <p:ph type="sldNum" sz="quarter" idx="12"/>
          </p:nvPr>
        </p:nvSpPr>
        <p:spPr/>
        <p:txBody>
          <a:bodyPr/>
          <a:lstStyle/>
          <a:p>
            <a:fld id="{3AFC719D-C4A7-4544-876E-D411D11AF6C9}" type="slidenum">
              <a:rPr lang="en-US" smtClean="0">
                <a:solidFill>
                  <a:schemeClr val="bg1"/>
                </a:solidFill>
              </a:rPr>
              <a:t>42</a:t>
            </a:fld>
            <a:endParaRPr lang="en-US" dirty="0">
              <a:solidFill>
                <a:schemeClr val="bg1"/>
              </a:solidFill>
            </a:endParaRPr>
          </a:p>
        </p:txBody>
      </p:sp>
      <p:grpSp>
        <p:nvGrpSpPr>
          <p:cNvPr id="27" name="Group 26">
            <a:extLst>
              <a:ext uri="{FF2B5EF4-FFF2-40B4-BE49-F238E27FC236}">
                <a16:creationId xmlns:a16="http://schemas.microsoft.com/office/drawing/2014/main" id="{CE5A4C1D-715F-46F5-A80B-647078B97ADE}"/>
              </a:ext>
            </a:extLst>
          </p:cNvPr>
          <p:cNvGrpSpPr/>
          <p:nvPr/>
        </p:nvGrpSpPr>
        <p:grpSpPr>
          <a:xfrm>
            <a:off x="667280" y="3021140"/>
            <a:ext cx="10857442" cy="1200329"/>
            <a:chOff x="908754" y="2695500"/>
            <a:chExt cx="10558665" cy="1200329"/>
          </a:xfrm>
        </p:grpSpPr>
        <p:sp>
          <p:nvSpPr>
            <p:cNvPr id="22" name="Rectangle 21">
              <a:extLst>
                <a:ext uri="{FF2B5EF4-FFF2-40B4-BE49-F238E27FC236}">
                  <a16:creationId xmlns:a16="http://schemas.microsoft.com/office/drawing/2014/main" id="{E53A35DC-3649-45F8-BE1C-71234D1F47FC}"/>
                </a:ext>
              </a:extLst>
            </p:cNvPr>
            <p:cNvSpPr/>
            <p:nvPr/>
          </p:nvSpPr>
          <p:spPr>
            <a:xfrm>
              <a:off x="908754" y="2695500"/>
              <a:ext cx="2058812" cy="646331"/>
            </a:xfrm>
            <a:prstGeom prst="rect">
              <a:avLst/>
            </a:prstGeom>
          </p:spPr>
          <p:txBody>
            <a:bodyPr wrap="square">
              <a:spAutoFit/>
            </a:bodyPr>
            <a:lstStyle/>
            <a:p>
              <a:r>
                <a:rPr lang="en-US" b="1" dirty="0">
                  <a:solidFill>
                    <a:schemeClr val="bg1"/>
                  </a:solidFill>
                </a:rPr>
                <a:t>OUR OBJECTIVES ARE ALIGNED</a:t>
              </a:r>
            </a:p>
          </p:txBody>
        </p:sp>
        <p:sp>
          <p:nvSpPr>
            <p:cNvPr id="24" name="Rectangle 23">
              <a:extLst>
                <a:ext uri="{FF2B5EF4-FFF2-40B4-BE49-F238E27FC236}">
                  <a16:creationId xmlns:a16="http://schemas.microsoft.com/office/drawing/2014/main" id="{9BB7B37B-58E4-4EF5-8BCD-B5AFD3FF7576}"/>
                </a:ext>
              </a:extLst>
            </p:cNvPr>
            <p:cNvSpPr/>
            <p:nvPr/>
          </p:nvSpPr>
          <p:spPr>
            <a:xfrm>
              <a:off x="3464860" y="2695500"/>
              <a:ext cx="2096575" cy="646331"/>
            </a:xfrm>
            <a:prstGeom prst="rect">
              <a:avLst/>
            </a:prstGeom>
          </p:spPr>
          <p:txBody>
            <a:bodyPr wrap="square">
              <a:spAutoFit/>
            </a:bodyPr>
            <a:lstStyle/>
            <a:p>
              <a:r>
                <a:rPr lang="en-US" b="1" dirty="0">
                  <a:solidFill>
                    <a:schemeClr val="bg1"/>
                  </a:solidFill>
                </a:rPr>
                <a:t>WE KNOW THE </a:t>
              </a:r>
            </a:p>
            <a:p>
              <a:r>
                <a:rPr lang="en-US" b="1" dirty="0">
                  <a:solidFill>
                    <a:schemeClr val="bg1"/>
                  </a:solidFill>
                </a:rPr>
                <a:t>MARKET</a:t>
              </a:r>
            </a:p>
          </p:txBody>
        </p:sp>
        <p:sp>
          <p:nvSpPr>
            <p:cNvPr id="25" name="Rectangle 24">
              <a:extLst>
                <a:ext uri="{FF2B5EF4-FFF2-40B4-BE49-F238E27FC236}">
                  <a16:creationId xmlns:a16="http://schemas.microsoft.com/office/drawing/2014/main" id="{712D71E1-CFC6-401F-B564-C6DB174E5C25}"/>
                </a:ext>
              </a:extLst>
            </p:cNvPr>
            <p:cNvSpPr/>
            <p:nvPr/>
          </p:nvSpPr>
          <p:spPr>
            <a:xfrm>
              <a:off x="6105045" y="2695500"/>
              <a:ext cx="1861517" cy="646331"/>
            </a:xfrm>
            <a:prstGeom prst="rect">
              <a:avLst/>
            </a:prstGeom>
          </p:spPr>
          <p:txBody>
            <a:bodyPr wrap="square">
              <a:spAutoFit/>
            </a:bodyPr>
            <a:lstStyle/>
            <a:p>
              <a:r>
                <a:rPr lang="en-US" b="1" dirty="0">
                  <a:solidFill>
                    <a:schemeClr val="bg1"/>
                  </a:solidFill>
                </a:rPr>
                <a:t>COMPLETELY TRANSPARENT</a:t>
              </a:r>
            </a:p>
          </p:txBody>
        </p:sp>
        <p:sp>
          <p:nvSpPr>
            <p:cNvPr id="26" name="Rectangle 25">
              <a:extLst>
                <a:ext uri="{FF2B5EF4-FFF2-40B4-BE49-F238E27FC236}">
                  <a16:creationId xmlns:a16="http://schemas.microsoft.com/office/drawing/2014/main" id="{3219F81E-41A2-4D21-B41F-E66CCE1EAA9D}"/>
                </a:ext>
              </a:extLst>
            </p:cNvPr>
            <p:cNvSpPr/>
            <p:nvPr/>
          </p:nvSpPr>
          <p:spPr>
            <a:xfrm>
              <a:off x="9062157" y="2695500"/>
              <a:ext cx="2405262" cy="1200329"/>
            </a:xfrm>
            <a:prstGeom prst="rect">
              <a:avLst/>
            </a:prstGeom>
          </p:spPr>
          <p:txBody>
            <a:bodyPr wrap="square">
              <a:spAutoFit/>
            </a:bodyPr>
            <a:lstStyle/>
            <a:p>
              <a:r>
                <a:rPr lang="en-US" b="1" dirty="0">
                  <a:solidFill>
                    <a:schemeClr val="bg1"/>
                  </a:solidFill>
                </a:rPr>
                <a:t>WE HAVE THE SOPHISTICATION AND INFRASTRUCTURE TO EFFECTIVELY COMPETE</a:t>
              </a:r>
            </a:p>
          </p:txBody>
        </p:sp>
      </p:grpSp>
      <p:cxnSp>
        <p:nvCxnSpPr>
          <p:cNvPr id="29" name="Straight Connector 28">
            <a:extLst>
              <a:ext uri="{FF2B5EF4-FFF2-40B4-BE49-F238E27FC236}">
                <a16:creationId xmlns:a16="http://schemas.microsoft.com/office/drawing/2014/main" id="{E6766B73-ED58-4B01-BD6B-A7599019575A}"/>
              </a:ext>
            </a:extLst>
          </p:cNvPr>
          <p:cNvCxnSpPr>
            <a:cxnSpLocks/>
          </p:cNvCxnSpPr>
          <p:nvPr/>
        </p:nvCxnSpPr>
        <p:spPr>
          <a:xfrm>
            <a:off x="2917120"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C9A43ED8-AB6C-4F7E-9885-C690563292F2}"/>
              </a:ext>
            </a:extLst>
          </p:cNvPr>
          <p:cNvCxnSpPr>
            <a:cxnSpLocks/>
          </p:cNvCxnSpPr>
          <p:nvPr/>
        </p:nvCxnSpPr>
        <p:spPr>
          <a:xfrm>
            <a:off x="8372475"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1BD031DC-C93A-4161-9A46-6F11F2AEF085}"/>
              </a:ext>
            </a:extLst>
          </p:cNvPr>
          <p:cNvCxnSpPr>
            <a:cxnSpLocks/>
          </p:cNvCxnSpPr>
          <p:nvPr/>
        </p:nvCxnSpPr>
        <p:spPr>
          <a:xfrm>
            <a:off x="5468408"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49" name="Group 48">
            <a:extLst>
              <a:ext uri="{FF2B5EF4-FFF2-40B4-BE49-F238E27FC236}">
                <a16:creationId xmlns:a16="http://schemas.microsoft.com/office/drawing/2014/main" id="{4CFD71DC-84A4-44EC-928A-6D9297F1CEFD}"/>
              </a:ext>
            </a:extLst>
          </p:cNvPr>
          <p:cNvGrpSpPr/>
          <p:nvPr/>
        </p:nvGrpSpPr>
        <p:grpSpPr>
          <a:xfrm>
            <a:off x="1051119" y="1991365"/>
            <a:ext cx="9064429" cy="723514"/>
            <a:chOff x="1051119" y="1877065"/>
            <a:chExt cx="8870575" cy="723514"/>
          </a:xfrm>
        </p:grpSpPr>
        <p:pic>
          <p:nvPicPr>
            <p:cNvPr id="36" name="Graphic 35" descr="Cycle with people">
              <a:extLst>
                <a:ext uri="{FF2B5EF4-FFF2-40B4-BE49-F238E27FC236}">
                  <a16:creationId xmlns:a16="http://schemas.microsoft.com/office/drawing/2014/main" id="{DD87A908-9804-4DB4-9FF4-150E55D0A4D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51119" y="1877065"/>
              <a:ext cx="723514" cy="723514"/>
            </a:xfrm>
            <a:prstGeom prst="rect">
              <a:avLst/>
            </a:prstGeom>
          </p:spPr>
        </p:pic>
        <p:pic>
          <p:nvPicPr>
            <p:cNvPr id="38" name="Graphic 37" descr="Bar graph with upward trend">
              <a:extLst>
                <a:ext uri="{FF2B5EF4-FFF2-40B4-BE49-F238E27FC236}">
                  <a16:creationId xmlns:a16="http://schemas.microsoft.com/office/drawing/2014/main" id="{A43C7D21-D600-499C-ADE1-3389B478D59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742481" y="1952990"/>
              <a:ext cx="571664" cy="571664"/>
            </a:xfrm>
            <a:prstGeom prst="rect">
              <a:avLst/>
            </a:prstGeom>
          </p:spPr>
        </p:pic>
        <p:pic>
          <p:nvPicPr>
            <p:cNvPr id="42" name="Graphic 41" descr="Research">
              <a:extLst>
                <a:ext uri="{FF2B5EF4-FFF2-40B4-BE49-F238E27FC236}">
                  <a16:creationId xmlns:a16="http://schemas.microsoft.com/office/drawing/2014/main" id="{EB5D0031-3DC4-4608-96CB-BE0770B1915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17105" y="1930239"/>
              <a:ext cx="617166" cy="617166"/>
            </a:xfrm>
            <a:prstGeom prst="rect">
              <a:avLst/>
            </a:prstGeom>
          </p:spPr>
        </p:pic>
        <p:pic>
          <p:nvPicPr>
            <p:cNvPr id="48" name="Graphic 47" descr="Bullseye">
              <a:extLst>
                <a:ext uri="{FF2B5EF4-FFF2-40B4-BE49-F238E27FC236}">
                  <a16:creationId xmlns:a16="http://schemas.microsoft.com/office/drawing/2014/main" id="{F0079980-31B3-4896-9D2D-D82AEDFA3E2C}"/>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285554" y="1920753"/>
              <a:ext cx="636140" cy="636140"/>
            </a:xfrm>
            <a:prstGeom prst="rect">
              <a:avLst/>
            </a:prstGeom>
          </p:spPr>
        </p:pic>
      </p:grpSp>
      <p:pic>
        <p:nvPicPr>
          <p:cNvPr id="28" name="Picture 4">
            <a:extLst>
              <a:ext uri="{FF2B5EF4-FFF2-40B4-BE49-F238E27FC236}">
                <a16:creationId xmlns:a16="http://schemas.microsoft.com/office/drawing/2014/main" id="{9A68CCDA-F69E-4E1A-9343-202FFC37DCD4}"/>
              </a:ext>
            </a:extLst>
          </p:cNvPr>
          <p:cNvPicPr>
            <a:picLocks noChangeAspect="1" noChangeArrowheads="1"/>
          </p:cNvPicPr>
          <p:nvPr/>
        </p:nvPicPr>
        <p:blipFill>
          <a:blip r:embed="rId11" cstate="screen">
            <a:extLst>
              <a:ext uri="{28A0092B-C50C-407E-A947-70E740481C1C}">
                <a14:useLocalDpi xmlns:a14="http://schemas.microsoft.com/office/drawing/2010/main"/>
              </a:ext>
            </a:extLst>
          </a:blip>
          <a:srcRect/>
          <a:stretch>
            <a:fillRect/>
          </a:stretch>
        </p:blipFill>
        <p:spPr bwMode="auto">
          <a:xfrm>
            <a:off x="4120176" y="4961762"/>
            <a:ext cx="3951647" cy="767730"/>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37AD4757-49A8-4E8D-B5EB-262D21C155F1}"/>
              </a:ext>
            </a:extLst>
          </p:cNvPr>
          <p:cNvSpPr txBox="1"/>
          <p:nvPr/>
        </p:nvSpPr>
        <p:spPr>
          <a:xfrm>
            <a:off x="2976561" y="5746908"/>
            <a:ext cx="6238875" cy="646331"/>
          </a:xfrm>
          <a:prstGeom prst="rect">
            <a:avLst/>
          </a:prstGeom>
          <a:solidFill>
            <a:srgbClr val="244F9A"/>
          </a:solidFill>
          <a:ln>
            <a:noFill/>
          </a:ln>
          <a:effectLst/>
          <a:scene3d>
            <a:camera prst="orthographicFront">
              <a:rot lat="0" lon="0" rev="0"/>
            </a:camera>
            <a:lightRig rig="contrasting" dir="t">
              <a:rot lat="0" lon="0" rev="7800000"/>
            </a:lightRig>
          </a:scene3d>
          <a:sp3d>
            <a:bevelT w="139700" h="139700"/>
          </a:sp3d>
        </p:spPr>
        <p:txBody>
          <a:bodyPr wrap="square" rtlCol="0">
            <a:spAutoFit/>
          </a:bodyPr>
          <a:lstStyle/>
          <a:p>
            <a:pPr algn="ctr"/>
            <a:r>
              <a:rPr lang="en-US" dirty="0">
                <a:solidFill>
                  <a:schemeClr val="bg1"/>
                </a:solidFill>
                <a:latin typeface="Arial" panose="020B0604020202020204" pitchFamily="34" charset="0"/>
                <a:cs typeface="Arial" panose="020B0604020202020204" pitchFamily="34" charset="0"/>
              </a:rPr>
              <a:t>Derek Moore, Senior Vice President – KBA</a:t>
            </a:r>
          </a:p>
          <a:p>
            <a:pPr algn="ctr"/>
            <a:r>
              <a:rPr lang="en-US" dirty="0">
                <a:solidFill>
                  <a:schemeClr val="bg1"/>
                </a:solidFill>
                <a:latin typeface="Arial" panose="020B0604020202020204" pitchFamily="34" charset="0"/>
                <a:cs typeface="Arial" panose="020B0604020202020204" pitchFamily="34" charset="0"/>
              </a:rPr>
              <a:t>845-283-9973 * derek.moore@keybenefit.com</a:t>
            </a:r>
          </a:p>
        </p:txBody>
      </p:sp>
    </p:spTree>
    <p:extLst>
      <p:ext uri="{BB962C8B-B14F-4D97-AF65-F5344CB8AC3E}">
        <p14:creationId xmlns:p14="http://schemas.microsoft.com/office/powerpoint/2010/main" val="231728394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29"/>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Theme">
  <a:themeElements>
    <a:clrScheme name="Custom 3">
      <a:dk1>
        <a:srgbClr val="5B5B5B"/>
      </a:dk1>
      <a:lt1>
        <a:sysClr val="window" lastClr="FFFFFF"/>
      </a:lt1>
      <a:dk2>
        <a:srgbClr val="323F4F"/>
      </a:dk2>
      <a:lt2>
        <a:srgbClr val="E7E6E6"/>
      </a:lt2>
      <a:accent1>
        <a:srgbClr val="DBA660"/>
      </a:accent1>
      <a:accent2>
        <a:srgbClr val="44A1C4"/>
      </a:accent2>
      <a:accent3>
        <a:srgbClr val="FFE699"/>
      </a:accent3>
      <a:accent4>
        <a:srgbClr val="935E1B"/>
      </a:accent4>
      <a:accent5>
        <a:srgbClr val="2D6B83"/>
      </a:accent5>
      <a:accent6>
        <a:srgbClr val="80734D"/>
      </a:accent6>
      <a:hlink>
        <a:srgbClr val="9FA0A6"/>
      </a:hlink>
      <a:folHlink>
        <a:srgbClr val="A4CD88"/>
      </a:folHlink>
    </a:clrScheme>
    <a:fontScheme name="Custom 1">
      <a:majorFont>
        <a:latin typeface="Aileron"/>
        <a:ea typeface=""/>
        <a:cs typeface=""/>
      </a:majorFont>
      <a:minorFont>
        <a:latin typeface="Aileron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0643EB6F1B5124D9F8A552D994B00B3" ma:contentTypeVersion="15" ma:contentTypeDescription="Create a new document." ma:contentTypeScope="" ma:versionID="07f1af8f4acde182c1b3188558a15fee">
  <xsd:schema xmlns:xsd="http://www.w3.org/2001/XMLSchema" xmlns:xs="http://www.w3.org/2001/XMLSchema" xmlns:p="http://schemas.microsoft.com/office/2006/metadata/properties" xmlns:ns1="http://schemas.microsoft.com/sharepoint/v3" xmlns:ns3="73b4665c-884a-4375-a2af-95b1b9fefebd" xmlns:ns4="f00513cd-d03f-4a36-8031-96ec2b1a2332" targetNamespace="http://schemas.microsoft.com/office/2006/metadata/properties" ma:root="true" ma:fieldsID="b940c9d8acf570648efc7a679d034003" ns1:_="" ns3:_="" ns4:_="">
    <xsd:import namespace="http://schemas.microsoft.com/sharepoint/v3"/>
    <xsd:import namespace="73b4665c-884a-4375-a2af-95b1b9fefebd"/>
    <xsd:import namespace="f00513cd-d03f-4a36-8031-96ec2b1a2332"/>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DateTaken" minOccurs="0"/>
                <xsd:element ref="ns3:MediaServiceOCR" minOccurs="0"/>
                <xsd:element ref="ns3:MediaServiceEventHashCode" minOccurs="0"/>
                <xsd:element ref="ns3:MediaServiceGenerationTime" minOccurs="0"/>
                <xsd:element ref="ns3:MediaServiceLocation" minOccurs="0"/>
                <xsd:element ref="ns1:_ip_UnifiedCompliancePolicyProperties" minOccurs="0"/>
                <xsd:element ref="ns1:_ip_UnifiedCompliancePolicyUIAction" minOccurs="0"/>
                <xsd:element ref="ns4:SharedWithUsers" minOccurs="0"/>
                <xsd:element ref="ns4:SharedWithDetails" minOccurs="0"/>
                <xsd:element ref="ns4:SharingHintHash"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6" nillable="true" ma:displayName="Unified Compliance Policy Properties" ma:hidden="true" ma:internalName="_ip_UnifiedCompliancePolicyProperties">
      <xsd:simpleType>
        <xsd:restriction base="dms:Note"/>
      </xsd:simpleType>
    </xsd:element>
    <xsd:element name="_ip_UnifiedCompliancePolicyUIAction" ma:index="1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3b4665c-884a-4375-a2af-95b1b9fefeb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MediaServiceDateTaken" ma:index="11" nillable="true" ma:displayName="MediaServiceDateTaken" ma:hidden="true" ma:internalName="MediaServiceDateTaken" ma:readOnly="true">
      <xsd:simpleType>
        <xsd:restriction base="dms:Text"/>
      </xsd:simpleType>
    </xsd:element>
    <xsd:element name="MediaServiceOCR" ma:index="12" nillable="true" ma:displayName="MediaServiceOCR" ma:internalName="MediaServiceOCR" ma:readOnly="true">
      <xsd:simpleType>
        <xsd:restriction base="dms:Note">
          <xsd:maxLength value="255"/>
        </xsd:restriction>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00513cd-d03f-4a36-8031-96ec2b1a2332"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2DF0AA1-9465-45DA-A905-9501DB639AB6}">
  <ds:schemaRefs>
    <ds:schemaRef ds:uri="http://schemas.openxmlformats.org/package/2006/metadata/core-properties"/>
    <ds:schemaRef ds:uri="http://schemas.microsoft.com/sharepoint/v3"/>
    <ds:schemaRef ds:uri="http://schemas.microsoft.com/office/2006/metadata/properties"/>
    <ds:schemaRef ds:uri="http://schemas.microsoft.com/office/2006/documentManagement/types"/>
    <ds:schemaRef ds:uri="http://purl.org/dc/dcmitype/"/>
    <ds:schemaRef ds:uri="http://purl.org/dc/terms/"/>
    <ds:schemaRef ds:uri="http://purl.org/dc/elements/1.1/"/>
    <ds:schemaRef ds:uri="73b4665c-884a-4375-a2af-95b1b9fefebd"/>
    <ds:schemaRef ds:uri="http://www.w3.org/XML/1998/namespace"/>
    <ds:schemaRef ds:uri="http://schemas.microsoft.com/office/infopath/2007/PartnerControls"/>
    <ds:schemaRef ds:uri="f00513cd-d03f-4a36-8031-96ec2b1a2332"/>
  </ds:schemaRefs>
</ds:datastoreItem>
</file>

<file path=customXml/itemProps2.xml><?xml version="1.0" encoding="utf-8"?>
<ds:datastoreItem xmlns:ds="http://schemas.openxmlformats.org/officeDocument/2006/customXml" ds:itemID="{56F5604B-F201-4300-A086-2482203EA6BC}">
  <ds:schemaRefs>
    <ds:schemaRef ds:uri="http://schemas.microsoft.com/sharepoint/v3/contenttype/forms"/>
  </ds:schemaRefs>
</ds:datastoreItem>
</file>

<file path=customXml/itemProps3.xml><?xml version="1.0" encoding="utf-8"?>
<ds:datastoreItem xmlns:ds="http://schemas.openxmlformats.org/officeDocument/2006/customXml" ds:itemID="{BF208B6D-7736-4F94-9580-EE469D7406F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3b4665c-884a-4375-a2af-95b1b9fefebd"/>
    <ds:schemaRef ds:uri="f00513cd-d03f-4a36-8031-96ec2b1a233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44284</TotalTime>
  <Words>5362</Words>
  <Application>Microsoft Office PowerPoint</Application>
  <PresentationFormat>Widescreen</PresentationFormat>
  <Paragraphs>1543</Paragraphs>
  <Slides>42</Slides>
  <Notes>1</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42</vt:i4>
      </vt:variant>
    </vt:vector>
  </HeadingPairs>
  <TitlesOfParts>
    <vt:vector size="53" baseType="lpstr">
      <vt:lpstr>Aileron</vt:lpstr>
      <vt:lpstr>Aileron Light</vt:lpstr>
      <vt:lpstr>Aptos Narrow</vt:lpstr>
      <vt:lpstr>Arial</vt:lpstr>
      <vt:lpstr>Arial Black</vt:lpstr>
      <vt:lpstr>Calibri</vt:lpstr>
      <vt:lpstr>Calibri Light</vt:lpstr>
      <vt:lpstr>Century Gothic</vt:lpstr>
      <vt:lpstr>Wingdings</vt:lpstr>
      <vt:lpstr>Office Theme</vt:lpstr>
      <vt:lpstr>2_Office Theme</vt:lpstr>
      <vt:lpstr>PowerPoint Presentation</vt:lpstr>
      <vt:lpstr>Healthcare Leader in Private Labeled DTE Plans</vt:lpstr>
      <vt:lpstr>Direct-to-Employer (DTE)  Your plan focused on Your relationship with Employers</vt:lpstr>
      <vt:lpstr>Every $1 of Care</vt:lpstr>
      <vt:lpstr>Direct-to-Employer Strategy: Increased Capture of Commercial Market Share</vt:lpstr>
      <vt:lpstr>Direct-to-Employer Strategy: Powerful Employer Value</vt:lpstr>
      <vt:lpstr>Significant Opportunity for SLUHS</vt:lpstr>
      <vt:lpstr>PowerPoint Presentation</vt:lpstr>
      <vt:lpstr>FOUR-YEAR PROJECTIONS</vt:lpstr>
      <vt:lpstr>Direct-to-Employer Strategy: Only Available to Premier Health Systems</vt:lpstr>
      <vt:lpstr>SLUHS Advantage: Strong Brand Quality</vt:lpstr>
      <vt:lpstr>SLUHS Advantage: Best-in-Area Patient Access</vt:lpstr>
      <vt:lpstr>SLUHS Advantage: Leading Care Quality</vt:lpstr>
      <vt:lpstr>SLUHS Advantage: Care at Value Pricing</vt:lpstr>
      <vt:lpstr>SLUHN NETWORK </vt:lpstr>
      <vt:lpstr>PowerPoint Presentation</vt:lpstr>
      <vt:lpstr>SINGLE YEAR SUMMARY</vt:lpstr>
      <vt:lpstr>the missing piece to population health success</vt:lpstr>
      <vt:lpstr>PowerPoint Presentation</vt:lpstr>
      <vt:lpstr>Transparent PBM Integration </vt:lpstr>
      <vt:lpstr>STOP-LOSS INSURANCE</vt:lpstr>
      <vt:lpstr>DTE  PROGRAM MARKETING  &amp; SALES</vt:lpstr>
      <vt:lpstr>Complete Sales Distribution System</vt:lpstr>
      <vt:lpstr>Complete Marketing System</vt:lpstr>
      <vt:lpstr>FINANCIAL PROJECTIONS &amp; ASSUMPTIONS</vt:lpstr>
      <vt:lpstr>Estimation of SLUHN 2021 Inpatient Payer Mix</vt:lpstr>
      <vt:lpstr>Estimation of Margin for Commercial vs. Government Pay</vt:lpstr>
      <vt:lpstr>Estimating Market Share</vt:lpstr>
      <vt:lpstr>PowerPoint Presentation</vt:lpstr>
      <vt:lpstr>Estimating PMPY Spend (KBA Data)</vt:lpstr>
      <vt:lpstr>Estimating Expected Steerage (KBA Data)</vt:lpstr>
      <vt:lpstr>PowerPoint Presentation</vt:lpstr>
      <vt:lpstr>PowerPoint Presentation</vt:lpstr>
      <vt:lpstr>PowerPoint Presentation</vt:lpstr>
      <vt:lpstr>PowerPoint Presentation</vt:lpstr>
      <vt:lpstr>PowerPoint Presentation</vt:lpstr>
      <vt:lpstr>PowerPoint Presentation</vt:lpstr>
      <vt:lpstr>ROLES &amp; RESPONSBILITIES</vt:lpstr>
      <vt:lpstr>PRE-IMPLEMENTATION</vt:lpstr>
      <vt:lpstr>IMPLEMENTATION</vt:lpstr>
      <vt:lpstr>PowerPoint Presentation</vt:lpstr>
      <vt:lpstr>A Partner You Can Trust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Hill, Jack</dc:creator>
  <cp:lastModifiedBy>Taylor Davis</cp:lastModifiedBy>
  <cp:revision>104</cp:revision>
  <cp:lastPrinted>2023-07-13T10:24:43Z</cp:lastPrinted>
  <dcterms:created xsi:type="dcterms:W3CDTF">2021-01-20T14:12:11Z</dcterms:created>
  <dcterms:modified xsi:type="dcterms:W3CDTF">2024-09-10T13:36:17Z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0x01010070643EB6F1B5124D9F8A552D994B00B3</vt:lpwstr>
  </property>
</Properties>
</file>