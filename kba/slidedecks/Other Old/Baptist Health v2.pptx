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Lst>
  <p:notesMasterIdLst>
    <p:notesMasterId r:id="rId50"/>
  </p:notesMasterIdLst>
  <p:sldIdLst>
    <p:sldId id="488" r:id="rId6"/>
    <p:sldId id="495" r:id="rId7"/>
    <p:sldId id="487" r:id="rId8"/>
    <p:sldId id="518" r:id="rId9"/>
    <p:sldId id="520" r:id="rId10"/>
    <p:sldId id="521" r:id="rId11"/>
    <p:sldId id="450" r:id="rId12"/>
    <p:sldId id="499" r:id="rId13"/>
    <p:sldId id="519" r:id="rId14"/>
    <p:sldId id="451" r:id="rId15"/>
    <p:sldId id="452" r:id="rId16"/>
    <p:sldId id="497" r:id="rId17"/>
    <p:sldId id="454" r:id="rId18"/>
    <p:sldId id="455" r:id="rId19"/>
    <p:sldId id="492" r:id="rId20"/>
    <p:sldId id="498" r:id="rId21"/>
    <p:sldId id="456" r:id="rId22"/>
    <p:sldId id="458" r:id="rId23"/>
    <p:sldId id="445" r:id="rId24"/>
    <p:sldId id="446" r:id="rId25"/>
    <p:sldId id="461" r:id="rId26"/>
    <p:sldId id="462" r:id="rId27"/>
    <p:sldId id="466" r:id="rId28"/>
    <p:sldId id="517" r:id="rId29"/>
    <p:sldId id="489" r:id="rId30"/>
    <p:sldId id="469" r:id="rId31"/>
    <p:sldId id="336" r:id="rId32"/>
    <p:sldId id="337" r:id="rId33"/>
    <p:sldId id="470" r:id="rId34"/>
    <p:sldId id="325" r:id="rId35"/>
    <p:sldId id="501" r:id="rId36"/>
    <p:sldId id="524" r:id="rId37"/>
    <p:sldId id="525" r:id="rId38"/>
    <p:sldId id="527" r:id="rId39"/>
    <p:sldId id="513" r:id="rId40"/>
    <p:sldId id="531" r:id="rId41"/>
    <p:sldId id="526" r:id="rId42"/>
    <p:sldId id="544" r:id="rId43"/>
    <p:sldId id="545" r:id="rId44"/>
    <p:sldId id="543" r:id="rId45"/>
    <p:sldId id="256" r:id="rId46"/>
    <p:sldId id="326" r:id="rId47"/>
    <p:sldId id="491" r:id="rId48"/>
    <p:sldId id="472" r:id="rId49"/>
  </p:sldIdLst>
  <p:sldSz cx="12192000" cy="6858000"/>
  <p:notesSz cx="7315200" cy="96012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A050"/>
    <a:srgbClr val="30589B"/>
    <a:srgbClr val="6A8C98"/>
    <a:srgbClr val="59CAE8"/>
    <a:srgbClr val="244F9A"/>
    <a:srgbClr val="254F96"/>
    <a:srgbClr val="61A606"/>
    <a:srgbClr val="019CA5"/>
    <a:srgbClr val="7D32AA"/>
    <a:srgbClr val="CBA6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037DD1-5F34-4934-8712-236CC41754A3}" v="57" dt="2024-07-19T00:36:50.49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50" d="100"/>
          <a:sy n="50" d="100"/>
        </p:scale>
        <p:origin x="2058" y="134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FB037DD1-5F34-4934-8712-236CC41754A3}"/>
    <pc:docChg chg="undo custSel addSld delSld modSld sldOrd">
      <pc:chgData name="Taylor Davis" userId="5c9e72a0-c39f-4aa1-9d7d-64125e78cbe6" providerId="ADAL" clId="{FB037DD1-5F34-4934-8712-236CC41754A3}" dt="2024-07-19T00:38:00.730" v="812" actId="1076"/>
      <pc:docMkLst>
        <pc:docMk/>
      </pc:docMkLst>
      <pc:sldChg chg="modSp add del mod ord">
        <pc:chgData name="Taylor Davis" userId="5c9e72a0-c39f-4aa1-9d7d-64125e78cbe6" providerId="ADAL" clId="{FB037DD1-5F34-4934-8712-236CC41754A3}" dt="2024-07-19T00:34:56.449" v="767" actId="20577"/>
        <pc:sldMkLst>
          <pc:docMk/>
          <pc:sldMk cId="0" sldId="256"/>
        </pc:sldMkLst>
        <pc:graphicFrameChg chg="mod modGraphic">
          <ac:chgData name="Taylor Davis" userId="5c9e72a0-c39f-4aa1-9d7d-64125e78cbe6" providerId="ADAL" clId="{FB037DD1-5F34-4934-8712-236CC41754A3}" dt="2024-07-19T00:34:56.449" v="767" actId="20577"/>
          <ac:graphicFrameMkLst>
            <pc:docMk/>
            <pc:sldMk cId="0" sldId="256"/>
            <ac:graphicFrameMk id="2" creationId="{00000000-0000-0000-0000-000000000000}"/>
          </ac:graphicFrameMkLst>
        </pc:graphicFrameChg>
      </pc:sldChg>
      <pc:sldChg chg="modSp mod">
        <pc:chgData name="Taylor Davis" userId="5c9e72a0-c39f-4aa1-9d7d-64125e78cbe6" providerId="ADAL" clId="{FB037DD1-5F34-4934-8712-236CC41754A3}" dt="2024-07-18T03:48:37.977" v="348" actId="20577"/>
        <pc:sldMkLst>
          <pc:docMk/>
          <pc:sldMk cId="3325436177" sldId="489"/>
        </pc:sldMkLst>
        <pc:spChg chg="mod">
          <ac:chgData name="Taylor Davis" userId="5c9e72a0-c39f-4aa1-9d7d-64125e78cbe6" providerId="ADAL" clId="{FB037DD1-5F34-4934-8712-236CC41754A3}" dt="2024-07-18T03:48:37.977" v="348" actId="20577"/>
          <ac:spMkLst>
            <pc:docMk/>
            <pc:sldMk cId="3325436177" sldId="489"/>
            <ac:spMk id="17" creationId="{F2E566E5-041D-4247-A79E-A185C1420D0E}"/>
          </ac:spMkLst>
        </pc:spChg>
      </pc:sldChg>
      <pc:sldChg chg="addSp delSp modSp mod">
        <pc:chgData name="Taylor Davis" userId="5c9e72a0-c39f-4aa1-9d7d-64125e78cbe6" providerId="ADAL" clId="{FB037DD1-5F34-4934-8712-236CC41754A3}" dt="2024-07-19T00:37:07.355" v="804" actId="1076"/>
        <pc:sldMkLst>
          <pc:docMk/>
          <pc:sldMk cId="2203540903" sldId="499"/>
        </pc:sldMkLst>
        <pc:spChg chg="mod ord">
          <ac:chgData name="Taylor Davis" userId="5c9e72a0-c39f-4aa1-9d7d-64125e78cbe6" providerId="ADAL" clId="{FB037DD1-5F34-4934-8712-236CC41754A3}" dt="2024-07-19T00:37:03.275" v="803" actId="1076"/>
          <ac:spMkLst>
            <pc:docMk/>
            <pc:sldMk cId="2203540903" sldId="499"/>
            <ac:spMk id="9" creationId="{AB8821D0-DEDE-002D-E87D-13E033D5D75F}"/>
          </ac:spMkLst>
        </pc:spChg>
        <pc:graphicFrameChg chg="add del mod modGraphic">
          <ac:chgData name="Taylor Davis" userId="5c9e72a0-c39f-4aa1-9d7d-64125e78cbe6" providerId="ADAL" clId="{FB037DD1-5F34-4934-8712-236CC41754A3}" dt="2024-07-19T00:08:34.637" v="473" actId="478"/>
          <ac:graphicFrameMkLst>
            <pc:docMk/>
            <pc:sldMk cId="2203540903" sldId="499"/>
            <ac:graphicFrameMk id="2" creationId="{FC178E2F-9E4B-3ADC-F133-000D375682EC}"/>
          </ac:graphicFrameMkLst>
        </pc:graphicFrameChg>
        <pc:graphicFrameChg chg="add del mod">
          <ac:chgData name="Taylor Davis" userId="5c9e72a0-c39f-4aa1-9d7d-64125e78cbe6" providerId="ADAL" clId="{FB037DD1-5F34-4934-8712-236CC41754A3}" dt="2024-07-19T00:16:09.314" v="573" actId="478"/>
          <ac:graphicFrameMkLst>
            <pc:docMk/>
            <pc:sldMk cId="2203540903" sldId="499"/>
            <ac:graphicFrameMk id="6" creationId="{99D43726-B21F-38D1-3E54-764F7F96C044}"/>
          </ac:graphicFrameMkLst>
        </pc:graphicFrameChg>
        <pc:graphicFrameChg chg="add del mod">
          <ac:chgData name="Taylor Davis" userId="5c9e72a0-c39f-4aa1-9d7d-64125e78cbe6" providerId="ADAL" clId="{FB037DD1-5F34-4934-8712-236CC41754A3}" dt="2024-07-19T00:36:42.408" v="796" actId="478"/>
          <ac:graphicFrameMkLst>
            <pc:docMk/>
            <pc:sldMk cId="2203540903" sldId="499"/>
            <ac:graphicFrameMk id="10" creationId="{FAE82F78-802C-69A9-4658-AB745999217A}"/>
          </ac:graphicFrameMkLst>
        </pc:graphicFrameChg>
        <pc:graphicFrameChg chg="add mod">
          <ac:chgData name="Taylor Davis" userId="5c9e72a0-c39f-4aa1-9d7d-64125e78cbe6" providerId="ADAL" clId="{FB037DD1-5F34-4934-8712-236CC41754A3}" dt="2024-07-19T00:37:07.355" v="804" actId="1076"/>
          <ac:graphicFrameMkLst>
            <pc:docMk/>
            <pc:sldMk cId="2203540903" sldId="499"/>
            <ac:graphicFrameMk id="11" creationId="{91FBDBA5-8D65-81B2-670C-ED329496AF09}"/>
          </ac:graphicFrameMkLst>
        </pc:graphicFrameChg>
        <pc:picChg chg="del">
          <ac:chgData name="Taylor Davis" userId="5c9e72a0-c39f-4aa1-9d7d-64125e78cbe6" providerId="ADAL" clId="{FB037DD1-5F34-4934-8712-236CC41754A3}" dt="2024-07-18T03:18:08.135" v="9" actId="478"/>
          <ac:picMkLst>
            <pc:docMk/>
            <pc:sldMk cId="2203540903" sldId="499"/>
            <ac:picMk id="12" creationId="{08EC7586-1A1E-3E02-52FE-A69A64B35221}"/>
          </ac:picMkLst>
        </pc:picChg>
      </pc:sldChg>
      <pc:sldChg chg="addSp modSp mod">
        <pc:chgData name="Taylor Davis" userId="5c9e72a0-c39f-4aa1-9d7d-64125e78cbe6" providerId="ADAL" clId="{FB037DD1-5F34-4934-8712-236CC41754A3}" dt="2024-07-18T03:40:22.841" v="264" actId="403"/>
        <pc:sldMkLst>
          <pc:docMk/>
          <pc:sldMk cId="3680080401" sldId="517"/>
        </pc:sldMkLst>
        <pc:spChg chg="add mod">
          <ac:chgData name="Taylor Davis" userId="5c9e72a0-c39f-4aa1-9d7d-64125e78cbe6" providerId="ADAL" clId="{FB037DD1-5F34-4934-8712-236CC41754A3}" dt="2024-07-18T03:40:22.841" v="264" actId="403"/>
          <ac:spMkLst>
            <pc:docMk/>
            <pc:sldMk cId="3680080401" sldId="517"/>
            <ac:spMk id="7" creationId="{509E9E6C-FC87-0010-5016-866581AD4DB9}"/>
          </ac:spMkLst>
        </pc:spChg>
      </pc:sldChg>
      <pc:sldChg chg="addSp delSp modSp mod">
        <pc:chgData name="Taylor Davis" userId="5c9e72a0-c39f-4aa1-9d7d-64125e78cbe6" providerId="ADAL" clId="{FB037DD1-5F34-4934-8712-236CC41754A3}" dt="2024-07-19T00:38:00.730" v="812" actId="1076"/>
        <pc:sldMkLst>
          <pc:docMk/>
          <pc:sldMk cId="1206251189" sldId="519"/>
        </pc:sldMkLst>
        <pc:spChg chg="add del mod">
          <ac:chgData name="Taylor Davis" userId="5c9e72a0-c39f-4aa1-9d7d-64125e78cbe6" providerId="ADAL" clId="{FB037DD1-5F34-4934-8712-236CC41754A3}" dt="2024-07-18T03:16:34.049" v="1" actId="22"/>
          <ac:spMkLst>
            <pc:docMk/>
            <pc:sldMk cId="1206251189" sldId="519"/>
            <ac:spMk id="3" creationId="{B227A66C-7504-B830-E070-B194C122CE1B}"/>
          </ac:spMkLst>
        </pc:spChg>
        <pc:spChg chg="add del mod">
          <ac:chgData name="Taylor Davis" userId="5c9e72a0-c39f-4aa1-9d7d-64125e78cbe6" providerId="ADAL" clId="{FB037DD1-5F34-4934-8712-236CC41754A3}" dt="2024-07-18T03:16:39.198" v="3" actId="478"/>
          <ac:spMkLst>
            <pc:docMk/>
            <pc:sldMk cId="1206251189" sldId="519"/>
            <ac:spMk id="12" creationId="{CE28186B-7E07-74C2-BC57-C1AE534780CA}"/>
          </ac:spMkLst>
        </pc:spChg>
        <pc:spChg chg="mod">
          <ac:chgData name="Taylor Davis" userId="5c9e72a0-c39f-4aa1-9d7d-64125e78cbe6" providerId="ADAL" clId="{FB037DD1-5F34-4934-8712-236CC41754A3}" dt="2024-07-19T00:09:57.381" v="495" actId="20577"/>
          <ac:spMkLst>
            <pc:docMk/>
            <pc:sldMk cId="1206251189" sldId="519"/>
            <ac:spMk id="16" creationId="{5CD262C4-7EB6-BACC-2D76-818773A77342}"/>
          </ac:spMkLst>
        </pc:spChg>
        <pc:picChg chg="add del mod">
          <ac:chgData name="Taylor Davis" userId="5c9e72a0-c39f-4aa1-9d7d-64125e78cbe6" providerId="ADAL" clId="{FB037DD1-5F34-4934-8712-236CC41754A3}" dt="2024-07-19T00:12:30.252" v="496" actId="478"/>
          <ac:picMkLst>
            <pc:docMk/>
            <pc:sldMk cId="1206251189" sldId="519"/>
            <ac:picMk id="3" creationId="{8B42E06E-FEDE-7CD6-3DD3-A051EE204F6C}"/>
          </ac:picMkLst>
        </pc:picChg>
        <pc:picChg chg="add del mod">
          <ac:chgData name="Taylor Davis" userId="5c9e72a0-c39f-4aa1-9d7d-64125e78cbe6" providerId="ADAL" clId="{FB037DD1-5F34-4934-8712-236CC41754A3}" dt="2024-07-19T00:37:14.262" v="805" actId="478"/>
          <ac:picMkLst>
            <pc:docMk/>
            <pc:sldMk cId="1206251189" sldId="519"/>
            <ac:picMk id="10" creationId="{0D66EEB1-B59B-A065-EEB4-ABFC774D6288}"/>
          </ac:picMkLst>
        </pc:picChg>
        <pc:picChg chg="add del mod ord">
          <ac:chgData name="Taylor Davis" userId="5c9e72a0-c39f-4aa1-9d7d-64125e78cbe6" providerId="ADAL" clId="{FB037DD1-5F34-4934-8712-236CC41754A3}" dt="2024-07-18T03:16:37.943" v="2" actId="478"/>
          <ac:picMkLst>
            <pc:docMk/>
            <pc:sldMk cId="1206251189" sldId="519"/>
            <ac:picMk id="10" creationId="{19F454A2-8251-EDC8-ED87-BD79642DBB16}"/>
          </ac:picMkLst>
        </pc:picChg>
        <pc:picChg chg="add mod">
          <ac:chgData name="Taylor Davis" userId="5c9e72a0-c39f-4aa1-9d7d-64125e78cbe6" providerId="ADAL" clId="{FB037DD1-5F34-4934-8712-236CC41754A3}" dt="2024-07-19T00:38:00.730" v="812" actId="1076"/>
          <ac:picMkLst>
            <pc:docMk/>
            <pc:sldMk cId="1206251189" sldId="519"/>
            <ac:picMk id="12" creationId="{785F1725-003F-9CC3-1263-0760AD02B9CD}"/>
          </ac:picMkLst>
        </pc:picChg>
        <pc:picChg chg="del">
          <ac:chgData name="Taylor Davis" userId="5c9e72a0-c39f-4aa1-9d7d-64125e78cbe6" providerId="ADAL" clId="{FB037DD1-5F34-4934-8712-236CC41754A3}" dt="2024-07-18T03:16:32.197" v="0" actId="478"/>
          <ac:picMkLst>
            <pc:docMk/>
            <pc:sldMk cId="1206251189" sldId="519"/>
            <ac:picMk id="14" creationId="{34F6E46D-E5F4-F7DC-690D-965710149C58}"/>
          </ac:picMkLst>
        </pc:picChg>
        <pc:picChg chg="add del">
          <ac:chgData name="Taylor Davis" userId="5c9e72a0-c39f-4aa1-9d7d-64125e78cbe6" providerId="ADAL" clId="{FB037DD1-5F34-4934-8712-236CC41754A3}" dt="2024-07-18T03:16:42.035" v="5" actId="22"/>
          <ac:picMkLst>
            <pc:docMk/>
            <pc:sldMk cId="1206251189" sldId="519"/>
            <ac:picMk id="17" creationId="{4947EAE5-ABE5-488F-DA9B-19A3D19499BD}"/>
          </ac:picMkLst>
        </pc:picChg>
        <pc:picChg chg="add del mod">
          <ac:chgData name="Taylor Davis" userId="5c9e72a0-c39f-4aa1-9d7d-64125e78cbe6" providerId="ADAL" clId="{FB037DD1-5F34-4934-8712-236CC41754A3}" dt="2024-07-18T03:38:20.703" v="122" actId="478"/>
          <ac:picMkLst>
            <pc:docMk/>
            <pc:sldMk cId="1206251189" sldId="519"/>
            <ac:picMk id="19" creationId="{7E12A7AC-7573-8AF3-EEBA-2D88EFEC48AF}"/>
          </ac:picMkLst>
        </pc:picChg>
        <pc:picChg chg="add del mod ord">
          <ac:chgData name="Taylor Davis" userId="5c9e72a0-c39f-4aa1-9d7d-64125e78cbe6" providerId="ADAL" clId="{FB037DD1-5F34-4934-8712-236CC41754A3}" dt="2024-07-19T00:09:36.994" v="476" actId="478"/>
          <ac:picMkLst>
            <pc:docMk/>
            <pc:sldMk cId="1206251189" sldId="519"/>
            <ac:picMk id="21" creationId="{C81E8B0D-4B48-451F-85ED-D19AB16D6897}"/>
          </ac:picMkLst>
        </pc:picChg>
      </pc:sldChg>
      <pc:sldChg chg="del">
        <pc:chgData name="Taylor Davis" userId="5c9e72a0-c39f-4aa1-9d7d-64125e78cbe6" providerId="ADAL" clId="{FB037DD1-5F34-4934-8712-236CC41754A3}" dt="2024-07-18T03:31:46.266" v="80" actId="47"/>
        <pc:sldMkLst>
          <pc:docMk/>
          <pc:sldMk cId="80908549" sldId="522"/>
        </pc:sldMkLst>
      </pc:sldChg>
      <pc:sldChg chg="del">
        <pc:chgData name="Taylor Davis" userId="5c9e72a0-c39f-4aa1-9d7d-64125e78cbe6" providerId="ADAL" clId="{FB037DD1-5F34-4934-8712-236CC41754A3}" dt="2024-07-18T03:18:24.921" v="10" actId="47"/>
        <pc:sldMkLst>
          <pc:docMk/>
          <pc:sldMk cId="2546020257" sldId="523"/>
        </pc:sldMkLst>
      </pc:sldChg>
      <pc:sldChg chg="modSp mod">
        <pc:chgData name="Taylor Davis" userId="5c9e72a0-c39f-4aa1-9d7d-64125e78cbe6" providerId="ADAL" clId="{FB037DD1-5F34-4934-8712-236CC41754A3}" dt="2024-07-18T03:47:11.480" v="341" actId="20577"/>
        <pc:sldMkLst>
          <pc:docMk/>
          <pc:sldMk cId="36791873" sldId="525"/>
        </pc:sldMkLst>
        <pc:graphicFrameChg chg="modGraphic">
          <ac:chgData name="Taylor Davis" userId="5c9e72a0-c39f-4aa1-9d7d-64125e78cbe6" providerId="ADAL" clId="{FB037DD1-5F34-4934-8712-236CC41754A3}" dt="2024-07-18T03:47:11.480" v="341" actId="20577"/>
          <ac:graphicFrameMkLst>
            <pc:docMk/>
            <pc:sldMk cId="36791873" sldId="525"/>
            <ac:graphicFrameMk id="11" creationId="{30CE50B1-E66B-B63F-C96E-A434E7ECFB6C}"/>
          </ac:graphicFrameMkLst>
        </pc:graphicFrameChg>
        <pc:graphicFrameChg chg="modGraphic">
          <ac:chgData name="Taylor Davis" userId="5c9e72a0-c39f-4aa1-9d7d-64125e78cbe6" providerId="ADAL" clId="{FB037DD1-5F34-4934-8712-236CC41754A3}" dt="2024-07-18T03:46:07.643" v="326" actId="20577"/>
          <ac:graphicFrameMkLst>
            <pc:docMk/>
            <pc:sldMk cId="36791873" sldId="525"/>
            <ac:graphicFrameMk id="12" creationId="{BB254502-CBB2-8520-631D-31E05AB0F371}"/>
          </ac:graphicFrameMkLst>
        </pc:graphicFrameChg>
      </pc:sldChg>
      <pc:sldChg chg="addSp delSp modSp mod">
        <pc:chgData name="Taylor Davis" userId="5c9e72a0-c39f-4aa1-9d7d-64125e78cbe6" providerId="ADAL" clId="{FB037DD1-5F34-4934-8712-236CC41754A3}" dt="2024-07-19T00:33:17.111" v="727" actId="20577"/>
        <pc:sldMkLst>
          <pc:docMk/>
          <pc:sldMk cId="2977719417" sldId="526"/>
        </pc:sldMkLst>
        <pc:spChg chg="mod">
          <ac:chgData name="Taylor Davis" userId="5c9e72a0-c39f-4aa1-9d7d-64125e78cbe6" providerId="ADAL" clId="{FB037DD1-5F34-4934-8712-236CC41754A3}" dt="2024-07-19T00:25:57.125" v="694" actId="1076"/>
          <ac:spMkLst>
            <pc:docMk/>
            <pc:sldMk cId="2977719417" sldId="526"/>
            <ac:spMk id="9" creationId="{60820A86-1B9D-21A4-BBB6-DDFB73605882}"/>
          </ac:spMkLst>
        </pc:spChg>
        <pc:spChg chg="mod">
          <ac:chgData name="Taylor Davis" userId="5c9e72a0-c39f-4aa1-9d7d-64125e78cbe6" providerId="ADAL" clId="{FB037DD1-5F34-4934-8712-236CC41754A3}" dt="2024-07-19T00:25:59.755" v="695" actId="1076"/>
          <ac:spMkLst>
            <pc:docMk/>
            <pc:sldMk cId="2977719417" sldId="526"/>
            <ac:spMk id="10" creationId="{6CDBA057-BBD2-8F54-E977-26B782E37F88}"/>
          </ac:spMkLst>
        </pc:spChg>
        <pc:spChg chg="mod">
          <ac:chgData name="Taylor Davis" userId="5c9e72a0-c39f-4aa1-9d7d-64125e78cbe6" providerId="ADAL" clId="{FB037DD1-5F34-4934-8712-236CC41754A3}" dt="2024-07-19T00:26:02.842" v="696" actId="1076"/>
          <ac:spMkLst>
            <pc:docMk/>
            <pc:sldMk cId="2977719417" sldId="526"/>
            <ac:spMk id="11" creationId="{C690F22E-C9CA-61DC-5584-149573110610}"/>
          </ac:spMkLst>
        </pc:spChg>
        <pc:spChg chg="mod">
          <ac:chgData name="Taylor Davis" userId="5c9e72a0-c39f-4aa1-9d7d-64125e78cbe6" providerId="ADAL" clId="{FB037DD1-5F34-4934-8712-236CC41754A3}" dt="2024-07-19T00:26:07.865" v="697" actId="14100"/>
          <ac:spMkLst>
            <pc:docMk/>
            <pc:sldMk cId="2977719417" sldId="526"/>
            <ac:spMk id="12" creationId="{A897897D-C568-B204-6568-514AD4B71A5C}"/>
          </ac:spMkLst>
        </pc:spChg>
        <pc:graphicFrameChg chg="mod modGraphic">
          <ac:chgData name="Taylor Davis" userId="5c9e72a0-c39f-4aa1-9d7d-64125e78cbe6" providerId="ADAL" clId="{FB037DD1-5F34-4934-8712-236CC41754A3}" dt="2024-07-19T00:32:00.998" v="705"/>
          <ac:graphicFrameMkLst>
            <pc:docMk/>
            <pc:sldMk cId="2977719417" sldId="526"/>
            <ac:graphicFrameMk id="6" creationId="{176BAF2A-5136-E457-9AAC-D0878752F10C}"/>
          </ac:graphicFrameMkLst>
        </pc:graphicFrameChg>
        <pc:graphicFrameChg chg="mod modGraphic">
          <ac:chgData name="Taylor Davis" userId="5c9e72a0-c39f-4aa1-9d7d-64125e78cbe6" providerId="ADAL" clId="{FB037DD1-5F34-4934-8712-236CC41754A3}" dt="2024-07-19T00:33:17.111" v="727" actId="20577"/>
          <ac:graphicFrameMkLst>
            <pc:docMk/>
            <pc:sldMk cId="2977719417" sldId="526"/>
            <ac:graphicFrameMk id="15" creationId="{FF3ACACB-7F38-7EAA-4BDF-1A816CA00AAE}"/>
          </ac:graphicFrameMkLst>
        </pc:graphicFrameChg>
        <pc:graphicFrameChg chg="mod modGraphic">
          <ac:chgData name="Taylor Davis" userId="5c9e72a0-c39f-4aa1-9d7d-64125e78cbe6" providerId="ADAL" clId="{FB037DD1-5F34-4934-8712-236CC41754A3}" dt="2024-07-19T00:32:35.029" v="709"/>
          <ac:graphicFrameMkLst>
            <pc:docMk/>
            <pc:sldMk cId="2977719417" sldId="526"/>
            <ac:graphicFrameMk id="16" creationId="{32A51F3A-032C-30E2-F635-DD59B5A29A34}"/>
          </ac:graphicFrameMkLst>
        </pc:graphicFrameChg>
        <pc:picChg chg="add del">
          <ac:chgData name="Taylor Davis" userId="5c9e72a0-c39f-4aa1-9d7d-64125e78cbe6" providerId="ADAL" clId="{FB037DD1-5F34-4934-8712-236CC41754A3}" dt="2024-07-18T03:18:27.840" v="12" actId="22"/>
          <ac:picMkLst>
            <pc:docMk/>
            <pc:sldMk cId="2977719417" sldId="526"/>
            <ac:picMk id="3" creationId="{404530F4-65CE-DDA4-1FA4-F14770803C75}"/>
          </ac:picMkLst>
        </pc:picChg>
      </pc:sldChg>
      <pc:sldChg chg="del">
        <pc:chgData name="Taylor Davis" userId="5c9e72a0-c39f-4aa1-9d7d-64125e78cbe6" providerId="ADAL" clId="{FB037DD1-5F34-4934-8712-236CC41754A3}" dt="2024-07-18T03:18:24.921" v="10" actId="47"/>
        <pc:sldMkLst>
          <pc:docMk/>
          <pc:sldMk cId="1631404453" sldId="528"/>
        </pc:sldMkLst>
      </pc:sldChg>
      <pc:sldChg chg="modSp add del mod">
        <pc:chgData name="Taylor Davis" userId="5c9e72a0-c39f-4aa1-9d7d-64125e78cbe6" providerId="ADAL" clId="{FB037DD1-5F34-4934-8712-236CC41754A3}" dt="2024-07-19T00:02:39.670" v="349" actId="47"/>
        <pc:sldMkLst>
          <pc:docMk/>
          <pc:sldMk cId="3176251627" sldId="528"/>
        </pc:sldMkLst>
        <pc:graphicFrameChg chg="modGraphic">
          <ac:chgData name="Taylor Davis" userId="5c9e72a0-c39f-4aa1-9d7d-64125e78cbe6" providerId="ADAL" clId="{FB037DD1-5F34-4934-8712-236CC41754A3}" dt="2024-07-18T03:29:09.580" v="75" actId="20577"/>
          <ac:graphicFrameMkLst>
            <pc:docMk/>
            <pc:sldMk cId="3176251627" sldId="528"/>
            <ac:graphicFrameMk id="2" creationId="{00000000-0000-0000-0000-000000000000}"/>
          </ac:graphicFrameMkLst>
        </pc:graphicFrameChg>
      </pc:sldChg>
      <pc:sldChg chg="modSp add del mod">
        <pc:chgData name="Taylor Davis" userId="5c9e72a0-c39f-4aa1-9d7d-64125e78cbe6" providerId="ADAL" clId="{FB037DD1-5F34-4934-8712-236CC41754A3}" dt="2024-07-18T03:28:05.948" v="43" actId="47"/>
        <pc:sldMkLst>
          <pc:docMk/>
          <pc:sldMk cId="3782676237" sldId="528"/>
        </pc:sldMkLst>
        <pc:graphicFrameChg chg="mod modGraphic">
          <ac:chgData name="Taylor Davis" userId="5c9e72a0-c39f-4aa1-9d7d-64125e78cbe6" providerId="ADAL" clId="{FB037DD1-5F34-4934-8712-236CC41754A3}" dt="2024-07-18T03:19:28.597" v="35" actId="20577"/>
          <ac:graphicFrameMkLst>
            <pc:docMk/>
            <pc:sldMk cId="3782676237" sldId="528"/>
            <ac:graphicFrameMk id="2" creationId="{00000000-0000-0000-0000-000000000000}"/>
          </ac:graphicFrameMkLst>
        </pc:graphicFrameChg>
      </pc:sldChg>
      <pc:sldChg chg="modSp add del mod">
        <pc:chgData name="Taylor Davis" userId="5c9e72a0-c39f-4aa1-9d7d-64125e78cbe6" providerId="ADAL" clId="{FB037DD1-5F34-4934-8712-236CC41754A3}" dt="2024-07-18T03:33:10.153" v="110" actId="47"/>
        <pc:sldMkLst>
          <pc:docMk/>
          <pc:sldMk cId="0" sldId="529"/>
        </pc:sldMkLst>
        <pc:graphicFrameChg chg="mod modGraphic">
          <ac:chgData name="Taylor Davis" userId="5c9e72a0-c39f-4aa1-9d7d-64125e78cbe6" providerId="ADAL" clId="{FB037DD1-5F34-4934-8712-236CC41754A3}" dt="2024-07-18T03:29:32.879" v="78" actId="14100"/>
          <ac:graphicFrameMkLst>
            <pc:docMk/>
            <pc:sldMk cId="0" sldId="529"/>
            <ac:graphicFrameMk id="2" creationId="{00000000-0000-0000-0000-000000000000}"/>
          </ac:graphicFrameMkLst>
        </pc:graphicFrameChg>
      </pc:sldChg>
      <pc:sldChg chg="add del">
        <pc:chgData name="Taylor Davis" userId="5c9e72a0-c39f-4aa1-9d7d-64125e78cbe6" providerId="ADAL" clId="{FB037DD1-5F34-4934-8712-236CC41754A3}" dt="2024-07-18T03:33:10.153" v="110" actId="47"/>
        <pc:sldMkLst>
          <pc:docMk/>
          <pc:sldMk cId="1470594867" sldId="530"/>
        </pc:sldMkLst>
      </pc:sldChg>
      <pc:sldChg chg="modSp add del mod">
        <pc:chgData name="Taylor Davis" userId="5c9e72a0-c39f-4aa1-9d7d-64125e78cbe6" providerId="ADAL" clId="{FB037DD1-5F34-4934-8712-236CC41754A3}" dt="2024-07-18T03:28:01.933" v="42" actId="47"/>
        <pc:sldMkLst>
          <pc:docMk/>
          <pc:sldMk cId="3791010219" sldId="530"/>
        </pc:sldMkLst>
        <pc:graphicFrameChg chg="modGraphic">
          <ac:chgData name="Taylor Davis" userId="5c9e72a0-c39f-4aa1-9d7d-64125e78cbe6" providerId="ADAL" clId="{FB037DD1-5F34-4934-8712-236CC41754A3}" dt="2024-07-18T03:20:22.268" v="41" actId="2165"/>
          <ac:graphicFrameMkLst>
            <pc:docMk/>
            <pc:sldMk cId="3791010219" sldId="530"/>
            <ac:graphicFrameMk id="2" creationId="{00000000-0000-0000-0000-000000000000}"/>
          </ac:graphicFrameMkLst>
        </pc:graphicFrameChg>
      </pc:sldChg>
      <pc:sldChg chg="modSp add mod">
        <pc:chgData name="Taylor Davis" userId="5c9e72a0-c39f-4aa1-9d7d-64125e78cbe6" providerId="ADAL" clId="{FB037DD1-5F34-4934-8712-236CC41754A3}" dt="2024-07-18T03:32:51.088" v="109" actId="1036"/>
        <pc:sldMkLst>
          <pc:docMk/>
          <pc:sldMk cId="0" sldId="531"/>
        </pc:sldMkLst>
        <pc:graphicFrameChg chg="mod modGraphic">
          <ac:chgData name="Taylor Davis" userId="5c9e72a0-c39f-4aa1-9d7d-64125e78cbe6" providerId="ADAL" clId="{FB037DD1-5F34-4934-8712-236CC41754A3}" dt="2024-07-18T03:32:51.088" v="109" actId="1036"/>
          <ac:graphicFrameMkLst>
            <pc:docMk/>
            <pc:sldMk cId="0" sldId="531"/>
            <ac:graphicFrameMk id="2" creationId="{00000000-0000-0000-0000-000000000000}"/>
          </ac:graphicFrameMkLst>
        </pc:graphicFrameChg>
      </pc:sldChg>
      <pc:sldChg chg="modSp add del mod">
        <pc:chgData name="Taylor Davis" userId="5c9e72a0-c39f-4aa1-9d7d-64125e78cbe6" providerId="ADAL" clId="{FB037DD1-5F34-4934-8712-236CC41754A3}" dt="2024-07-19T00:05:26.196" v="379" actId="47"/>
        <pc:sldMkLst>
          <pc:docMk/>
          <pc:sldMk cId="0" sldId="532"/>
        </pc:sldMkLst>
        <pc:graphicFrameChg chg="mod modGraphic">
          <ac:chgData name="Taylor Davis" userId="5c9e72a0-c39f-4aa1-9d7d-64125e78cbe6" providerId="ADAL" clId="{FB037DD1-5F34-4934-8712-236CC41754A3}" dt="2024-07-18T03:35:19.418" v="115" actId="2165"/>
          <ac:graphicFrameMkLst>
            <pc:docMk/>
            <pc:sldMk cId="0" sldId="532"/>
            <ac:graphicFrameMk id="2" creationId="{00000000-0000-0000-0000-000000000000}"/>
          </ac:graphicFrameMkLst>
        </pc:graphicFrameChg>
      </pc:sldChg>
      <pc:sldChg chg="modSp add del mod">
        <pc:chgData name="Taylor Davis" userId="5c9e72a0-c39f-4aa1-9d7d-64125e78cbe6" providerId="ADAL" clId="{FB037DD1-5F34-4934-8712-236CC41754A3}" dt="2024-07-19T00:05:26.196" v="379" actId="47"/>
        <pc:sldMkLst>
          <pc:docMk/>
          <pc:sldMk cId="3675135280" sldId="533"/>
        </pc:sldMkLst>
        <pc:graphicFrameChg chg="modGraphic">
          <ac:chgData name="Taylor Davis" userId="5c9e72a0-c39f-4aa1-9d7d-64125e78cbe6" providerId="ADAL" clId="{FB037DD1-5F34-4934-8712-236CC41754A3}" dt="2024-07-18T03:35:28.629" v="116" actId="2165"/>
          <ac:graphicFrameMkLst>
            <pc:docMk/>
            <pc:sldMk cId="3675135280" sldId="533"/>
            <ac:graphicFrameMk id="2" creationId="{00000000-0000-0000-0000-000000000000}"/>
          </ac:graphicFrameMkLst>
        </pc:graphicFrameChg>
      </pc:sldChg>
      <pc:sldChg chg="modSp add del mod">
        <pc:chgData name="Taylor Davis" userId="5c9e72a0-c39f-4aa1-9d7d-64125e78cbe6" providerId="ADAL" clId="{FB037DD1-5F34-4934-8712-236CC41754A3}" dt="2024-07-19T00:13:16.859" v="500" actId="47"/>
        <pc:sldMkLst>
          <pc:docMk/>
          <pc:sldMk cId="4003027901" sldId="534"/>
        </pc:sldMkLst>
        <pc:graphicFrameChg chg="modGraphic">
          <ac:chgData name="Taylor Davis" userId="5c9e72a0-c39f-4aa1-9d7d-64125e78cbe6" providerId="ADAL" clId="{FB037DD1-5F34-4934-8712-236CC41754A3}" dt="2024-07-19T00:07:42.489" v="472" actId="20577"/>
          <ac:graphicFrameMkLst>
            <pc:docMk/>
            <pc:sldMk cId="4003027901" sldId="534"/>
            <ac:graphicFrameMk id="2" creationId="{00000000-0000-0000-0000-000000000000}"/>
          </ac:graphicFrameMkLst>
        </pc:graphicFrameChg>
      </pc:sldChg>
      <pc:sldChg chg="modSp add del mod">
        <pc:chgData name="Taylor Davis" userId="5c9e72a0-c39f-4aa1-9d7d-64125e78cbe6" providerId="ADAL" clId="{FB037DD1-5F34-4934-8712-236CC41754A3}" dt="2024-07-19T00:14:43.182" v="539" actId="47"/>
        <pc:sldMkLst>
          <pc:docMk/>
          <pc:sldMk cId="0" sldId="535"/>
        </pc:sldMkLst>
        <pc:graphicFrameChg chg="mod modGraphic">
          <ac:chgData name="Taylor Davis" userId="5c9e72a0-c39f-4aa1-9d7d-64125e78cbe6" providerId="ADAL" clId="{FB037DD1-5F34-4934-8712-236CC41754A3}" dt="2024-07-19T00:07:29.542" v="451" actId="20577"/>
          <ac:graphicFrameMkLst>
            <pc:docMk/>
            <pc:sldMk cId="0" sldId="535"/>
            <ac:graphicFrameMk id="2" creationId="{00000000-0000-0000-0000-000000000000}"/>
          </ac:graphicFrameMkLst>
        </pc:graphicFrameChg>
      </pc:sldChg>
      <pc:sldChg chg="modSp add del mod">
        <pc:chgData name="Taylor Davis" userId="5c9e72a0-c39f-4aa1-9d7d-64125e78cbe6" providerId="ADAL" clId="{FB037DD1-5F34-4934-8712-236CC41754A3}" dt="2024-07-19T00:14:43.182" v="539" actId="47"/>
        <pc:sldMkLst>
          <pc:docMk/>
          <pc:sldMk cId="4049187462" sldId="536"/>
        </pc:sldMkLst>
        <pc:graphicFrameChg chg="modGraphic">
          <ac:chgData name="Taylor Davis" userId="5c9e72a0-c39f-4aa1-9d7d-64125e78cbe6" providerId="ADAL" clId="{FB037DD1-5F34-4934-8712-236CC41754A3}" dt="2024-07-19T00:07:17.822" v="420" actId="20577"/>
          <ac:graphicFrameMkLst>
            <pc:docMk/>
            <pc:sldMk cId="4049187462" sldId="536"/>
            <ac:graphicFrameMk id="2" creationId="{00000000-0000-0000-0000-000000000000}"/>
          </ac:graphicFrameMkLst>
        </pc:graphicFrameChg>
      </pc:sldChg>
      <pc:sldChg chg="modSp add del mod">
        <pc:chgData name="Taylor Davis" userId="5c9e72a0-c39f-4aa1-9d7d-64125e78cbe6" providerId="ADAL" clId="{FB037DD1-5F34-4934-8712-236CC41754A3}" dt="2024-07-19T00:23:10.271" v="618" actId="47"/>
        <pc:sldMkLst>
          <pc:docMk/>
          <pc:sldMk cId="3131924084" sldId="537"/>
        </pc:sldMkLst>
        <pc:graphicFrameChg chg="modGraphic">
          <ac:chgData name="Taylor Davis" userId="5c9e72a0-c39f-4aa1-9d7d-64125e78cbe6" providerId="ADAL" clId="{FB037DD1-5F34-4934-8712-236CC41754A3}" dt="2024-07-19T00:14:28.240" v="538" actId="403"/>
          <ac:graphicFrameMkLst>
            <pc:docMk/>
            <pc:sldMk cId="3131924084" sldId="537"/>
            <ac:graphicFrameMk id="2" creationId="{00000000-0000-0000-0000-000000000000}"/>
          </ac:graphicFrameMkLst>
        </pc:graphicFrameChg>
      </pc:sldChg>
      <pc:sldChg chg="modSp add del mod">
        <pc:chgData name="Taylor Davis" userId="5c9e72a0-c39f-4aa1-9d7d-64125e78cbe6" providerId="ADAL" clId="{FB037DD1-5F34-4934-8712-236CC41754A3}" dt="2024-07-19T00:24:15.775" v="646" actId="47"/>
        <pc:sldMkLst>
          <pc:docMk/>
          <pc:sldMk cId="0" sldId="538"/>
        </pc:sldMkLst>
        <pc:graphicFrameChg chg="mod modGraphic">
          <ac:chgData name="Taylor Davis" userId="5c9e72a0-c39f-4aa1-9d7d-64125e78cbe6" providerId="ADAL" clId="{FB037DD1-5F34-4934-8712-236CC41754A3}" dt="2024-07-19T00:15:44.256" v="572" actId="20577"/>
          <ac:graphicFrameMkLst>
            <pc:docMk/>
            <pc:sldMk cId="0" sldId="538"/>
            <ac:graphicFrameMk id="2" creationId="{00000000-0000-0000-0000-000000000000}"/>
          </ac:graphicFrameMkLst>
        </pc:graphicFrameChg>
      </pc:sldChg>
      <pc:sldChg chg="addSp delSp modSp add del mod">
        <pc:chgData name="Taylor Davis" userId="5c9e72a0-c39f-4aa1-9d7d-64125e78cbe6" providerId="ADAL" clId="{FB037DD1-5F34-4934-8712-236CC41754A3}" dt="2024-07-19T00:24:15.775" v="646" actId="47"/>
        <pc:sldMkLst>
          <pc:docMk/>
          <pc:sldMk cId="2790409400" sldId="539"/>
        </pc:sldMkLst>
        <pc:spChg chg="add del">
          <ac:chgData name="Taylor Davis" userId="5c9e72a0-c39f-4aa1-9d7d-64125e78cbe6" providerId="ADAL" clId="{FB037DD1-5F34-4934-8712-236CC41754A3}" dt="2024-07-19T00:23:13.422" v="620" actId="22"/>
          <ac:spMkLst>
            <pc:docMk/>
            <pc:sldMk cId="2790409400" sldId="539"/>
            <ac:spMk id="4" creationId="{AE0E628E-E6CD-9558-D917-011AED53A969}"/>
          </ac:spMkLst>
        </pc:spChg>
        <pc:graphicFrameChg chg="modGraphic">
          <ac:chgData name="Taylor Davis" userId="5c9e72a0-c39f-4aa1-9d7d-64125e78cbe6" providerId="ADAL" clId="{FB037DD1-5F34-4934-8712-236CC41754A3}" dt="2024-07-19T00:15:37.641" v="559" actId="20577"/>
          <ac:graphicFrameMkLst>
            <pc:docMk/>
            <pc:sldMk cId="2790409400" sldId="539"/>
            <ac:graphicFrameMk id="2" creationId="{00000000-0000-0000-0000-000000000000}"/>
          </ac:graphicFrameMkLst>
        </pc:graphicFrameChg>
      </pc:sldChg>
      <pc:sldChg chg="modSp add del mod">
        <pc:chgData name="Taylor Davis" userId="5c9e72a0-c39f-4aa1-9d7d-64125e78cbe6" providerId="ADAL" clId="{FB037DD1-5F34-4934-8712-236CC41754A3}" dt="2024-07-19T00:33:38.695" v="728" actId="47"/>
        <pc:sldMkLst>
          <pc:docMk/>
          <pc:sldMk cId="1371843158" sldId="540"/>
        </pc:sldMkLst>
        <pc:graphicFrameChg chg="modGraphic">
          <ac:chgData name="Taylor Davis" userId="5c9e72a0-c39f-4aa1-9d7d-64125e78cbe6" providerId="ADAL" clId="{FB037DD1-5F34-4934-8712-236CC41754A3}" dt="2024-07-19T00:25:38.242" v="693" actId="20577"/>
          <ac:graphicFrameMkLst>
            <pc:docMk/>
            <pc:sldMk cId="1371843158" sldId="540"/>
            <ac:graphicFrameMk id="2" creationId="{00000000-0000-0000-0000-000000000000}"/>
          </ac:graphicFrameMkLst>
        </pc:graphicFrameChg>
      </pc:sldChg>
      <pc:sldChg chg="modSp add del mod">
        <pc:chgData name="Taylor Davis" userId="5c9e72a0-c39f-4aa1-9d7d-64125e78cbe6" providerId="ADAL" clId="{FB037DD1-5F34-4934-8712-236CC41754A3}" dt="2024-07-19T00:35:03.690" v="768" actId="47"/>
        <pc:sldMkLst>
          <pc:docMk/>
          <pc:sldMk cId="0" sldId="541"/>
        </pc:sldMkLst>
        <pc:graphicFrameChg chg="mod modGraphic">
          <ac:chgData name="Taylor Davis" userId="5c9e72a0-c39f-4aa1-9d7d-64125e78cbe6" providerId="ADAL" clId="{FB037DD1-5F34-4934-8712-236CC41754A3}" dt="2024-07-19T00:25:13.257" v="674" actId="20577"/>
          <ac:graphicFrameMkLst>
            <pc:docMk/>
            <pc:sldMk cId="0" sldId="541"/>
            <ac:graphicFrameMk id="2" creationId="{00000000-0000-0000-0000-000000000000}"/>
          </ac:graphicFrameMkLst>
        </pc:graphicFrameChg>
      </pc:sldChg>
      <pc:sldChg chg="modSp add del mod">
        <pc:chgData name="Taylor Davis" userId="5c9e72a0-c39f-4aa1-9d7d-64125e78cbe6" providerId="ADAL" clId="{FB037DD1-5F34-4934-8712-236CC41754A3}" dt="2024-07-19T00:35:03.690" v="768" actId="47"/>
        <pc:sldMkLst>
          <pc:docMk/>
          <pc:sldMk cId="2742274949" sldId="542"/>
        </pc:sldMkLst>
        <pc:graphicFrameChg chg="modGraphic">
          <ac:chgData name="Taylor Davis" userId="5c9e72a0-c39f-4aa1-9d7d-64125e78cbe6" providerId="ADAL" clId="{FB037DD1-5F34-4934-8712-236CC41754A3}" dt="2024-07-19T00:25:30.987" v="685" actId="20577"/>
          <ac:graphicFrameMkLst>
            <pc:docMk/>
            <pc:sldMk cId="2742274949" sldId="542"/>
            <ac:graphicFrameMk id="2" creationId="{00000000-0000-0000-0000-000000000000}"/>
          </ac:graphicFrameMkLst>
        </pc:graphicFrameChg>
      </pc:sldChg>
      <pc:sldChg chg="modSp add mod">
        <pc:chgData name="Taylor Davis" userId="5c9e72a0-c39f-4aa1-9d7d-64125e78cbe6" providerId="ADAL" clId="{FB037DD1-5F34-4934-8712-236CC41754A3}" dt="2024-07-19T00:34:50.771" v="759" actId="20577"/>
        <pc:sldMkLst>
          <pc:docMk/>
          <pc:sldMk cId="1094723212" sldId="543"/>
        </pc:sldMkLst>
        <pc:graphicFrameChg chg="modGraphic">
          <ac:chgData name="Taylor Davis" userId="5c9e72a0-c39f-4aa1-9d7d-64125e78cbe6" providerId="ADAL" clId="{FB037DD1-5F34-4934-8712-236CC41754A3}" dt="2024-07-19T00:34:50.771" v="759" actId="20577"/>
          <ac:graphicFrameMkLst>
            <pc:docMk/>
            <pc:sldMk cId="1094723212" sldId="543"/>
            <ac:graphicFrameMk id="2" creationId="{00000000-0000-0000-0000-000000000000}"/>
          </ac:graphicFrameMkLst>
        </pc:graphicFrameChg>
      </pc:sldChg>
      <pc:sldChg chg="modSp add mod">
        <pc:chgData name="Taylor Davis" userId="5c9e72a0-c39f-4aa1-9d7d-64125e78cbe6" providerId="ADAL" clId="{FB037DD1-5F34-4934-8712-236CC41754A3}" dt="2024-07-19T00:35:58.146" v="792" actId="20577"/>
        <pc:sldMkLst>
          <pc:docMk/>
          <pc:sldMk cId="0" sldId="544"/>
        </pc:sldMkLst>
        <pc:graphicFrameChg chg="mod modGraphic">
          <ac:chgData name="Taylor Davis" userId="5c9e72a0-c39f-4aa1-9d7d-64125e78cbe6" providerId="ADAL" clId="{FB037DD1-5F34-4934-8712-236CC41754A3}" dt="2024-07-19T00:35:58.146" v="792" actId="20577"/>
          <ac:graphicFrameMkLst>
            <pc:docMk/>
            <pc:sldMk cId="0" sldId="544"/>
            <ac:graphicFrameMk id="2" creationId="{00000000-0000-0000-0000-000000000000}"/>
          </ac:graphicFrameMkLst>
        </pc:graphicFrameChg>
      </pc:sldChg>
      <pc:sldChg chg="modSp add mod">
        <pc:chgData name="Taylor Davis" userId="5c9e72a0-c39f-4aa1-9d7d-64125e78cbe6" providerId="ADAL" clId="{FB037DD1-5F34-4934-8712-236CC41754A3}" dt="2024-07-19T00:36:12.312" v="795" actId="403"/>
        <pc:sldMkLst>
          <pc:docMk/>
          <pc:sldMk cId="1004199999" sldId="545"/>
        </pc:sldMkLst>
        <pc:graphicFrameChg chg="modGraphic">
          <ac:chgData name="Taylor Davis" userId="5c9e72a0-c39f-4aa1-9d7d-64125e78cbe6" providerId="ADAL" clId="{FB037DD1-5F34-4934-8712-236CC41754A3}" dt="2024-07-19T00:36:12.312" v="795" actId="403"/>
          <ac:graphicFrameMkLst>
            <pc:docMk/>
            <pc:sldMk cId="1004199999" sldId="545"/>
            <ac:graphicFrameMk id="2" creationId="{00000000-0000-0000-0000-000000000000}"/>
          </ac:graphicFrameMkLst>
        </pc:graphicFrameChg>
      </pc:sldChg>
      <pc:sldChg chg="add del">
        <pc:chgData name="Taylor Davis" userId="5c9e72a0-c39f-4aa1-9d7d-64125e78cbe6" providerId="ADAL" clId="{FB037DD1-5F34-4934-8712-236CC41754A3}" dt="2024-07-19T00:36:44.527" v="798"/>
        <pc:sldMkLst>
          <pc:docMk/>
          <pc:sldMk cId="1800827525" sldId="546"/>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image" Target="../media/image41.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image" Target="../media/image41.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Baptist Health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print">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print">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print">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Baptist Health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Baptist Health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Baptist Health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print">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Baptist Health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Baptist Health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7/18/2024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7/18/2024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7/18/2024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7/18/2024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7/18/2024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7/18/2024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7/18/2024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7/18/2024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7/18/2024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7/18/2024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7/18/2024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7/18/2024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A04A-7E5A-41ED-8CEB-7462680D14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3ABCD4-5472-4449-A56D-204BDE9BF389}"/>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0AB7F-EBF2-41EA-90FE-98F29B82E637}"/>
              </a:ext>
            </a:extLst>
          </p:cNvPr>
          <p:cNvSpPr>
            <a:spLocks noGrp="1"/>
          </p:cNvSpPr>
          <p:nvPr>
            <p:ph type="dt" sz="half" idx="10"/>
          </p:nvPr>
        </p:nvSpPr>
        <p:spPr/>
        <p:txBody>
          <a:bodyPr/>
          <a:lstStyle/>
          <a:p>
            <a:fld id="{9E671881-058E-49DE-BDC6-E3A67E2F1B35}" type="datetime1">
              <a:rPr lang="en-US" smtClean="0"/>
              <a:t>7/18/2024</a:t>
            </a:fld>
            <a:endParaRPr lang="en-US" dirty="0"/>
          </a:p>
        </p:txBody>
      </p:sp>
      <p:sp>
        <p:nvSpPr>
          <p:cNvPr id="5" name="Footer Placeholder 4">
            <a:extLst>
              <a:ext uri="{FF2B5EF4-FFF2-40B4-BE49-F238E27FC236}">
                <a16:creationId xmlns:a16="http://schemas.microsoft.com/office/drawing/2014/main" id="{D74D1392-959B-429E-BB3A-2B6E7AFD5EEF}"/>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4BA0DCC8-454C-4C7F-8DA1-69EA0C1CA567}"/>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2699921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A5C7-781A-4B3D-9E00-F6A240429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8E319B-34AD-4F4A-93BA-78F3D6F605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D4865D-4AB7-4439-BD10-42B34B7403D0}"/>
              </a:ext>
            </a:extLst>
          </p:cNvPr>
          <p:cNvSpPr>
            <a:spLocks noGrp="1"/>
          </p:cNvSpPr>
          <p:nvPr>
            <p:ph type="dt" sz="half" idx="10"/>
          </p:nvPr>
        </p:nvSpPr>
        <p:spPr/>
        <p:txBody>
          <a:bodyPr/>
          <a:lstStyle/>
          <a:p>
            <a:fld id="{00A02F79-73F7-4737-80FA-07E8434DB957}" type="datetime1">
              <a:rPr lang="en-US" smtClean="0"/>
              <a:t>7/18/2024</a:t>
            </a:fld>
            <a:endParaRPr lang="en-US" dirty="0"/>
          </a:p>
        </p:txBody>
      </p:sp>
      <p:sp>
        <p:nvSpPr>
          <p:cNvPr id="5" name="Footer Placeholder 4">
            <a:extLst>
              <a:ext uri="{FF2B5EF4-FFF2-40B4-BE49-F238E27FC236}">
                <a16:creationId xmlns:a16="http://schemas.microsoft.com/office/drawing/2014/main" id="{C231FFAA-E0AD-4E37-A14A-6A9A057F7877}"/>
              </a:ext>
            </a:extLst>
          </p:cNvPr>
          <p:cNvSpPr>
            <a:spLocks noGrp="1"/>
          </p:cNvSpPr>
          <p:nvPr>
            <p:ph type="ftr" sz="quarter" idx="11"/>
          </p:nvPr>
        </p:nvSpPr>
        <p:spPr>
          <a:xfrm>
            <a:off x="7841478" y="6363176"/>
            <a:ext cx="4114800" cy="365125"/>
          </a:xfrm>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CAA66C55-3850-4211-8CFC-B6032B919DB7}"/>
              </a:ext>
            </a:extLst>
          </p:cNvPr>
          <p:cNvSpPr>
            <a:spLocks noGrp="1"/>
          </p:cNvSpPr>
          <p:nvPr>
            <p:ph type="sldNum" sz="quarter" idx="12"/>
          </p:nvPr>
        </p:nvSpPr>
        <p:spPr>
          <a:xfrm>
            <a:off x="4350523" y="6363176"/>
            <a:ext cx="2743200" cy="365125"/>
          </a:xfrm>
        </p:spPr>
        <p:txBody>
          <a:bodyPr/>
          <a:lstStyle>
            <a:lvl1pPr algn="ctr">
              <a:defRPr/>
            </a:lvl1pPr>
          </a:lstStyle>
          <a:p>
            <a:fld id="{C41B7D62-7D4B-4EC0-9445-56A6951E1D90}" type="slidenum">
              <a:rPr lang="en-US" smtClean="0"/>
              <a:pPr/>
              <a:t>‹#›</a:t>
            </a:fld>
            <a:endParaRPr lang="en-US" dirty="0"/>
          </a:p>
        </p:txBody>
      </p:sp>
    </p:spTree>
    <p:extLst>
      <p:ext uri="{BB962C8B-B14F-4D97-AF65-F5344CB8AC3E}">
        <p14:creationId xmlns:p14="http://schemas.microsoft.com/office/powerpoint/2010/main" val="471974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7B5-3B5E-4912-9B94-07967374B75B}"/>
              </a:ext>
            </a:extLst>
          </p:cNvPr>
          <p:cNvSpPr>
            <a:spLocks noGrp="1"/>
          </p:cNvSpPr>
          <p:nvPr>
            <p:ph type="title"/>
          </p:nvPr>
        </p:nvSpPr>
        <p:spPr>
          <a:xfrm>
            <a:off x="831852"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277039-3B6E-46AC-B4C8-75E04685D26C}"/>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0C6CA0-9C58-4CD6-85FF-8D0170A86118}"/>
              </a:ext>
            </a:extLst>
          </p:cNvPr>
          <p:cNvSpPr>
            <a:spLocks noGrp="1"/>
          </p:cNvSpPr>
          <p:nvPr>
            <p:ph type="dt" sz="half" idx="10"/>
          </p:nvPr>
        </p:nvSpPr>
        <p:spPr/>
        <p:txBody>
          <a:bodyPr/>
          <a:lstStyle/>
          <a:p>
            <a:fld id="{C1E30093-D3F0-48D0-812E-614D267F0112}" type="datetime1">
              <a:rPr lang="en-US" smtClean="0"/>
              <a:t>7/18/2024</a:t>
            </a:fld>
            <a:endParaRPr lang="en-US" dirty="0"/>
          </a:p>
        </p:txBody>
      </p:sp>
      <p:sp>
        <p:nvSpPr>
          <p:cNvPr id="5" name="Footer Placeholder 4">
            <a:extLst>
              <a:ext uri="{FF2B5EF4-FFF2-40B4-BE49-F238E27FC236}">
                <a16:creationId xmlns:a16="http://schemas.microsoft.com/office/drawing/2014/main" id="{9C5663E7-8698-48C3-8B4A-48AB5CB8649C}"/>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146E4DCD-84D2-436A-B9E3-EDDBB8E934F5}"/>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3291774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0247-24EA-43BE-A1E4-E6120DE2C5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7C7678-CB91-439B-BB84-C43FBBE95F68}"/>
              </a:ext>
            </a:extLst>
          </p:cNvPr>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605A33-9A42-4A71-9255-B88EF29B5A94}"/>
              </a:ext>
            </a:extLst>
          </p:cNvPr>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A8EB5C-F88F-4BFB-B423-57DD3F7DF6F1}"/>
              </a:ext>
            </a:extLst>
          </p:cNvPr>
          <p:cNvSpPr>
            <a:spLocks noGrp="1"/>
          </p:cNvSpPr>
          <p:nvPr>
            <p:ph type="dt" sz="half" idx="10"/>
          </p:nvPr>
        </p:nvSpPr>
        <p:spPr/>
        <p:txBody>
          <a:bodyPr/>
          <a:lstStyle/>
          <a:p>
            <a:fld id="{FA577E92-631E-4F71-80EC-71EDC97513D1}" type="datetime1">
              <a:rPr lang="en-US" smtClean="0"/>
              <a:t>7/18/2024</a:t>
            </a:fld>
            <a:endParaRPr lang="en-US" dirty="0"/>
          </a:p>
        </p:txBody>
      </p:sp>
      <p:sp>
        <p:nvSpPr>
          <p:cNvPr id="6" name="Footer Placeholder 5">
            <a:extLst>
              <a:ext uri="{FF2B5EF4-FFF2-40B4-BE49-F238E27FC236}">
                <a16:creationId xmlns:a16="http://schemas.microsoft.com/office/drawing/2014/main" id="{944887F0-DC4B-4F74-9EF8-0DA8B602ABDC}"/>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4EDDB6C9-5C8F-4D9E-A02D-52729812C280}"/>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748183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A084-EF04-408E-ADA9-21EDFF386B50}"/>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8AE67C-D248-4250-96BB-ABE14F91E939}"/>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9270C4-7DBF-450B-8A8B-A13AE328ADA0}"/>
              </a:ext>
            </a:extLst>
          </p:cNvPr>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C5CAD4-29EE-4F14-9F13-97FDE42DEB33}"/>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5ABDE0-1505-4A5F-BFBA-41E8CD716319}"/>
              </a:ext>
            </a:extLst>
          </p:cNvPr>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97D3FB-4F84-4004-88ED-847B6DDC294D}"/>
              </a:ext>
            </a:extLst>
          </p:cNvPr>
          <p:cNvSpPr>
            <a:spLocks noGrp="1"/>
          </p:cNvSpPr>
          <p:nvPr>
            <p:ph type="dt" sz="half" idx="10"/>
          </p:nvPr>
        </p:nvSpPr>
        <p:spPr/>
        <p:txBody>
          <a:bodyPr/>
          <a:lstStyle/>
          <a:p>
            <a:fld id="{4924474F-F4C8-4FFA-91EC-B7FB5E6D8D17}" type="datetime1">
              <a:rPr lang="en-US" smtClean="0"/>
              <a:t>7/18/2024</a:t>
            </a:fld>
            <a:endParaRPr lang="en-US" dirty="0"/>
          </a:p>
        </p:txBody>
      </p:sp>
      <p:sp>
        <p:nvSpPr>
          <p:cNvPr id="8" name="Footer Placeholder 7">
            <a:extLst>
              <a:ext uri="{FF2B5EF4-FFF2-40B4-BE49-F238E27FC236}">
                <a16:creationId xmlns:a16="http://schemas.microsoft.com/office/drawing/2014/main" id="{5FDA0231-DB90-40D1-B4F8-9F43A5B777AD}"/>
              </a:ext>
            </a:extLst>
          </p:cNvPr>
          <p:cNvSpPr>
            <a:spLocks noGrp="1"/>
          </p:cNvSpPr>
          <p:nvPr>
            <p:ph type="ftr" sz="quarter" idx="11"/>
          </p:nvPr>
        </p:nvSpPr>
        <p:spPr/>
        <p:txBody>
          <a:bodyPr/>
          <a:lstStyle/>
          <a:p>
            <a:r>
              <a:rPr lang="en-US" dirty="0"/>
              <a:t>Key Benefit Administrators</a:t>
            </a:r>
          </a:p>
        </p:txBody>
      </p:sp>
      <p:sp>
        <p:nvSpPr>
          <p:cNvPr id="9" name="Slide Number Placeholder 8">
            <a:extLst>
              <a:ext uri="{FF2B5EF4-FFF2-40B4-BE49-F238E27FC236}">
                <a16:creationId xmlns:a16="http://schemas.microsoft.com/office/drawing/2014/main" id="{FC2E6C55-61C4-4613-8CCD-F135ED907066}"/>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297577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420F5-4606-497A-8F46-E3269BFAF4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328507-CB3E-49F4-B5F9-E63BE18AD815}"/>
              </a:ext>
            </a:extLst>
          </p:cNvPr>
          <p:cNvSpPr>
            <a:spLocks noGrp="1"/>
          </p:cNvSpPr>
          <p:nvPr>
            <p:ph type="dt" sz="half" idx="10"/>
          </p:nvPr>
        </p:nvSpPr>
        <p:spPr/>
        <p:txBody>
          <a:bodyPr/>
          <a:lstStyle/>
          <a:p>
            <a:fld id="{7DD000B1-05D1-4C31-8A89-104D96CAD3FD}" type="datetime1">
              <a:rPr lang="en-US" smtClean="0"/>
              <a:t>7/18/2024</a:t>
            </a:fld>
            <a:endParaRPr lang="en-US" dirty="0"/>
          </a:p>
        </p:txBody>
      </p:sp>
      <p:sp>
        <p:nvSpPr>
          <p:cNvPr id="4" name="Footer Placeholder 3">
            <a:extLst>
              <a:ext uri="{FF2B5EF4-FFF2-40B4-BE49-F238E27FC236}">
                <a16:creationId xmlns:a16="http://schemas.microsoft.com/office/drawing/2014/main" id="{28A47880-01F8-4D16-A2D4-183A494DF17F}"/>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00D2B4E5-7F45-4473-806D-31091CC5032D}"/>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7324796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FE5346-0FD0-446A-8F0D-F46A629FD6BB}"/>
              </a:ext>
            </a:extLst>
          </p:cNvPr>
          <p:cNvSpPr>
            <a:spLocks noGrp="1"/>
          </p:cNvSpPr>
          <p:nvPr>
            <p:ph type="dt" sz="half" idx="10"/>
          </p:nvPr>
        </p:nvSpPr>
        <p:spPr/>
        <p:txBody>
          <a:bodyPr/>
          <a:lstStyle/>
          <a:p>
            <a:fld id="{423DC078-35E0-4CA7-87FC-DCD9C6DD34CF}" type="datetime1">
              <a:rPr lang="en-US" smtClean="0"/>
              <a:t>7/18/2024</a:t>
            </a:fld>
            <a:endParaRPr lang="en-US" dirty="0"/>
          </a:p>
        </p:txBody>
      </p:sp>
      <p:sp>
        <p:nvSpPr>
          <p:cNvPr id="3" name="Footer Placeholder 2">
            <a:extLst>
              <a:ext uri="{FF2B5EF4-FFF2-40B4-BE49-F238E27FC236}">
                <a16:creationId xmlns:a16="http://schemas.microsoft.com/office/drawing/2014/main" id="{72CB3FEF-0968-4681-8E63-5D7539CA05E9}"/>
              </a:ext>
            </a:extLst>
          </p:cNvPr>
          <p:cNvSpPr>
            <a:spLocks noGrp="1"/>
          </p:cNvSpPr>
          <p:nvPr>
            <p:ph type="ftr" sz="quarter" idx="11"/>
          </p:nvPr>
        </p:nvSpPr>
        <p:spPr>
          <a:xfrm>
            <a:off x="7841480" y="635462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D43C2B3-7D2B-4F8C-90D7-36C643EAC587}"/>
              </a:ext>
            </a:extLst>
          </p:cNvPr>
          <p:cNvSpPr>
            <a:spLocks noGrp="1"/>
          </p:cNvSpPr>
          <p:nvPr>
            <p:ph type="sldNum" sz="quarter" idx="12"/>
          </p:nvPr>
        </p:nvSpPr>
        <p:spPr>
          <a:xfrm>
            <a:off x="4724400" y="6354629"/>
            <a:ext cx="2743200" cy="365125"/>
          </a:xfrm>
        </p:spPr>
        <p:txBody>
          <a:bodyPr/>
          <a:lstStyle>
            <a:lvl1pPr algn="ctr">
              <a:defRPr/>
            </a:lvl1pPr>
          </a:lstStyle>
          <a:p>
            <a:fld id="{C41B7D62-7D4B-4EC0-9445-56A6951E1D90}" type="slidenum">
              <a:rPr lang="en-US" smtClean="0"/>
              <a:pPr/>
              <a:t>‹#›</a:t>
            </a:fld>
            <a:endParaRPr lang="en-US" dirty="0"/>
          </a:p>
        </p:txBody>
      </p:sp>
    </p:spTree>
    <p:extLst>
      <p:ext uri="{BB962C8B-B14F-4D97-AF65-F5344CB8AC3E}">
        <p14:creationId xmlns:p14="http://schemas.microsoft.com/office/powerpoint/2010/main" val="22895256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D1C5-59CB-4797-823C-49381B1A2993}"/>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4FC69-F32D-4F89-A1CF-9B3F7CFC4909}"/>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3574A2-0E50-43F9-8F03-3DB2DCEBE775}"/>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6F1214-8CA4-4A0F-918B-8F2D841E5C25}"/>
              </a:ext>
            </a:extLst>
          </p:cNvPr>
          <p:cNvSpPr>
            <a:spLocks noGrp="1"/>
          </p:cNvSpPr>
          <p:nvPr>
            <p:ph type="dt" sz="half" idx="10"/>
          </p:nvPr>
        </p:nvSpPr>
        <p:spPr/>
        <p:txBody>
          <a:bodyPr/>
          <a:lstStyle/>
          <a:p>
            <a:fld id="{77F72B20-C1C4-4B5D-A204-C4007526A65E}" type="datetime1">
              <a:rPr lang="en-US" smtClean="0"/>
              <a:t>7/18/2024</a:t>
            </a:fld>
            <a:endParaRPr lang="en-US" dirty="0"/>
          </a:p>
        </p:txBody>
      </p:sp>
      <p:sp>
        <p:nvSpPr>
          <p:cNvPr id="6" name="Footer Placeholder 5">
            <a:extLst>
              <a:ext uri="{FF2B5EF4-FFF2-40B4-BE49-F238E27FC236}">
                <a16:creationId xmlns:a16="http://schemas.microsoft.com/office/drawing/2014/main" id="{C39821E8-B08F-45C5-9407-17BF3AE98DF9}"/>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FD1DD895-5EF8-475A-B708-1F9482C2DDE4}"/>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3014149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F575-20D6-438A-8EC0-8A6F86000306}"/>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846FCB-C632-4AE8-B7CC-88099A895DC8}"/>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dirty="0"/>
          </a:p>
        </p:txBody>
      </p:sp>
      <p:sp>
        <p:nvSpPr>
          <p:cNvPr id="4" name="Text Placeholder 3">
            <a:extLst>
              <a:ext uri="{FF2B5EF4-FFF2-40B4-BE49-F238E27FC236}">
                <a16:creationId xmlns:a16="http://schemas.microsoft.com/office/drawing/2014/main" id="{CB96D8A1-7E6F-4B48-9966-4AEE8E6B63CA}"/>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567910-A198-46DA-906A-A00F3E86FD84}"/>
              </a:ext>
            </a:extLst>
          </p:cNvPr>
          <p:cNvSpPr>
            <a:spLocks noGrp="1"/>
          </p:cNvSpPr>
          <p:nvPr>
            <p:ph type="dt" sz="half" idx="10"/>
          </p:nvPr>
        </p:nvSpPr>
        <p:spPr/>
        <p:txBody>
          <a:bodyPr/>
          <a:lstStyle/>
          <a:p>
            <a:fld id="{49595E64-EDA6-4124-8163-ABE10497D1B7}" type="datetime1">
              <a:rPr lang="en-US" smtClean="0"/>
              <a:t>7/18/2024</a:t>
            </a:fld>
            <a:endParaRPr lang="en-US" dirty="0"/>
          </a:p>
        </p:txBody>
      </p:sp>
      <p:sp>
        <p:nvSpPr>
          <p:cNvPr id="6" name="Footer Placeholder 5">
            <a:extLst>
              <a:ext uri="{FF2B5EF4-FFF2-40B4-BE49-F238E27FC236}">
                <a16:creationId xmlns:a16="http://schemas.microsoft.com/office/drawing/2014/main" id="{6DF0BD25-1257-400A-A846-0788A97AB21C}"/>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735117CA-857E-4F7B-AE46-1E2051279118}"/>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4284616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02E3-238A-49EF-BD30-2CC9B1C7A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C651A6-BBF7-493E-B41B-6B2CF49C7A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028B8-20B1-453B-856B-E232DC757F5F}"/>
              </a:ext>
            </a:extLst>
          </p:cNvPr>
          <p:cNvSpPr>
            <a:spLocks noGrp="1"/>
          </p:cNvSpPr>
          <p:nvPr>
            <p:ph type="dt" sz="half" idx="10"/>
          </p:nvPr>
        </p:nvSpPr>
        <p:spPr/>
        <p:txBody>
          <a:bodyPr/>
          <a:lstStyle/>
          <a:p>
            <a:fld id="{97F60CF3-1E2F-4ECA-BB24-C501103BAC8D}" type="datetime1">
              <a:rPr lang="en-US" smtClean="0"/>
              <a:t>7/18/2024</a:t>
            </a:fld>
            <a:endParaRPr lang="en-US" dirty="0"/>
          </a:p>
        </p:txBody>
      </p:sp>
      <p:sp>
        <p:nvSpPr>
          <p:cNvPr id="5" name="Footer Placeholder 4">
            <a:extLst>
              <a:ext uri="{FF2B5EF4-FFF2-40B4-BE49-F238E27FC236}">
                <a16:creationId xmlns:a16="http://schemas.microsoft.com/office/drawing/2014/main" id="{4329732D-10F3-4373-8618-B8F78586DDBC}"/>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D8DCE766-6C7E-4E88-BCC0-23F0CEC12FB3}"/>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857225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E500D5-F5BC-499B-8592-F26732F84C01}"/>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076694-E3BC-4EDB-9386-741C07D102FC}"/>
              </a:ext>
            </a:extLst>
          </p:cNvPr>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55E5F-5910-4B6C-9240-BBD067429806}"/>
              </a:ext>
            </a:extLst>
          </p:cNvPr>
          <p:cNvSpPr>
            <a:spLocks noGrp="1"/>
          </p:cNvSpPr>
          <p:nvPr>
            <p:ph type="dt" sz="half" idx="10"/>
          </p:nvPr>
        </p:nvSpPr>
        <p:spPr/>
        <p:txBody>
          <a:bodyPr/>
          <a:lstStyle/>
          <a:p>
            <a:fld id="{A859E21A-F666-4B00-93A3-A32F7AC50575}" type="datetime1">
              <a:rPr lang="en-US" smtClean="0"/>
              <a:t>7/18/2024</a:t>
            </a:fld>
            <a:endParaRPr lang="en-US" dirty="0"/>
          </a:p>
        </p:txBody>
      </p:sp>
      <p:sp>
        <p:nvSpPr>
          <p:cNvPr id="5" name="Footer Placeholder 4">
            <a:extLst>
              <a:ext uri="{FF2B5EF4-FFF2-40B4-BE49-F238E27FC236}">
                <a16:creationId xmlns:a16="http://schemas.microsoft.com/office/drawing/2014/main" id="{5325C43F-1442-47BB-B1A9-060E9F035EBE}"/>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2F3904EC-62F1-4608-B751-533533F6661D}"/>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88156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7/18/2024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B51140-C23B-45C0-B1FB-D7EA759F66EC}"/>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AA45C9-EA98-45C3-82AA-05460373C853}"/>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FDF4F-D3D1-4511-BF40-F17702C09459}"/>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39DD42-D7EB-418A-8239-F7FD4CE5A224}" type="datetime1">
              <a:rPr lang="en-US" smtClean="0"/>
              <a:t>7/18/2024</a:t>
            </a:fld>
            <a:endParaRPr lang="en-US" dirty="0"/>
          </a:p>
        </p:txBody>
      </p:sp>
      <p:sp>
        <p:nvSpPr>
          <p:cNvPr id="5" name="Footer Placeholder 4">
            <a:extLst>
              <a:ext uri="{FF2B5EF4-FFF2-40B4-BE49-F238E27FC236}">
                <a16:creationId xmlns:a16="http://schemas.microsoft.com/office/drawing/2014/main" id="{DF9C521E-7FA6-4F70-832E-72E430F2D578}"/>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Key Benefit Administrators</a:t>
            </a:r>
          </a:p>
        </p:txBody>
      </p:sp>
      <p:sp>
        <p:nvSpPr>
          <p:cNvPr id="6" name="Slide Number Placeholder 5">
            <a:extLst>
              <a:ext uri="{FF2B5EF4-FFF2-40B4-BE49-F238E27FC236}">
                <a16:creationId xmlns:a16="http://schemas.microsoft.com/office/drawing/2014/main" id="{E38196BC-C87C-4997-9858-64C1882D1F5E}"/>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B7D62-7D4B-4EC0-9445-56A6951E1D90}" type="slidenum">
              <a:rPr lang="en-US" smtClean="0"/>
              <a:t>‹#›</a:t>
            </a:fld>
            <a:endParaRPr lang="en-US" dirty="0"/>
          </a:p>
        </p:txBody>
      </p:sp>
    </p:spTree>
    <p:extLst>
      <p:ext uri="{BB962C8B-B14F-4D97-AF65-F5344CB8AC3E}">
        <p14:creationId xmlns:p14="http://schemas.microsoft.com/office/powerpoint/2010/main" val="250634880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jpeg"/><Relationship Id="rId12" Type="http://schemas.openxmlformats.org/officeDocument/2006/relationships/image" Target="../media/image27.jpe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3.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0.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jpeg"/><Relationship Id="rId7" Type="http://schemas.openxmlformats.org/officeDocument/2006/relationships/image" Target="../media/image49.jpeg"/><Relationship Id="rId2" Type="http://schemas.openxmlformats.org/officeDocument/2006/relationships/image" Target="../media/image44.png"/><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3.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6.xml"/><Relationship Id="rId4" Type="http://schemas.openxmlformats.org/officeDocument/2006/relationships/image" Target="../media/image5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7.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7.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hyperlink" Target="mailto:jack.hill@keybenefit.com" TargetMode="Externa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image" Target="../media/image62.svg"/><Relationship Id="rId11" Type="http://schemas.openxmlformats.org/officeDocument/2006/relationships/image" Target="../media/image16.pn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17,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Health Matters: Baptist Health Hospital reaches huge milestone with 300th  heart transplant | KARK">
            <a:extLst>
              <a:ext uri="{FF2B5EF4-FFF2-40B4-BE49-F238E27FC236}">
                <a16:creationId xmlns:a16="http://schemas.microsoft.com/office/drawing/2014/main" id="{C610B09C-55C6-5EBE-6389-01FC6A2E5329}"/>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36711" y="397719"/>
            <a:ext cx="2661713" cy="14974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388EB57-683A-D0AC-CB85-5350D636F337}"/>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981075" y="1651247"/>
            <a:ext cx="11201399" cy="5206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418531"/>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Why 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dirty="0">
                <a:solidFill>
                  <a:schemeClr val="tx1">
                    <a:lumMod val="75000"/>
                    <a:lumOff val="25000"/>
                  </a:schemeClr>
                </a:solidFill>
                <a:latin typeface="Arial" panose="020B0604020202020204" pitchFamily="34" charset="0"/>
                <a:cs typeface="Arial" panose="020B0604020202020204" pitchFamily="34" charset="0"/>
              </a:rPr>
              <a:t>It is time you have a say in your community's healthcare</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D916C96C-A20E-4C43-93A0-514379E86986}"/>
              </a:ext>
            </a:extLst>
          </p:cNvPr>
          <p:cNvSpPr txBox="1"/>
          <p:nvPr/>
        </p:nvSpPr>
        <p:spPr>
          <a:xfrm>
            <a:off x="5064863" y="648765"/>
            <a:ext cx="7091475" cy="4811445"/>
          </a:xfrm>
          <a:prstGeom prst="rect">
            <a:avLst/>
          </a:prstGeom>
          <a:noFill/>
        </p:spPr>
        <p:txBody>
          <a:bodyPr wrap="square">
            <a:spAutoFit/>
          </a:bodyPr>
          <a:lstStyle/>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Capture commercial pay market share</a:t>
            </a: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Connect employers and employees with Baptist Health</a:t>
            </a:r>
            <a:r>
              <a:rPr lang="en-US" sz="3200" b="1" dirty="0">
                <a:latin typeface="Calibri" panose="020F0502020204030204" pitchFamily="34" charset="0"/>
                <a:ea typeface="Calibri" panose="020F0502020204030204" pitchFamily="34" charset="0"/>
                <a:cs typeface="Times New Roman" panose="02020603050405020304" pitchFamily="18" charset="0"/>
              </a:rPr>
              <a:t> p</a:t>
            </a:r>
            <a:r>
              <a:rPr lang="en-US" sz="3200" b="1" dirty="0">
                <a:effectLst/>
                <a:latin typeface="Calibri" panose="020F0502020204030204" pitchFamily="34" charset="0"/>
                <a:ea typeface="Calibri" panose="020F0502020204030204" pitchFamily="34" charset="0"/>
                <a:cs typeface="Times New Roman" panose="02020603050405020304" pitchFamily="18" charset="0"/>
              </a:rPr>
              <a:t>roviders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Increase the census and directed care for Baptist Health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Cut out carriers to lower the price of healthcare in the marketplace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Improve the health of the covered population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9040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53922" y="-160244"/>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177381" y="-71645"/>
            <a:ext cx="1814286" cy="102066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Creates</a:t>
            </a:r>
          </a:p>
          <a:p>
            <a:pPr algn="ctr"/>
            <a:r>
              <a:rPr lang="en-US" sz="4000" dirty="0">
                <a:solidFill>
                  <a:schemeClr val="accent2"/>
                </a:solidFill>
              </a:rPr>
              <a:t>~$.25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~$.53 of profit</a:t>
            </a:r>
          </a:p>
        </p:txBody>
      </p:sp>
    </p:spTree>
    <p:extLst>
      <p:ext uri="{BB962C8B-B14F-4D97-AF65-F5344CB8AC3E}">
        <p14:creationId xmlns:p14="http://schemas.microsoft.com/office/powerpoint/2010/main" val="334873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9143" y="2046514"/>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3657" y="2061029"/>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9143" y="2046514"/>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82171" y="2322286"/>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12465"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BH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52661"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72759"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5543" y="1828800"/>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32563"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3543" y="1741714"/>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2914" y="1828800"/>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10286" y="1727200"/>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2914" y="1828800"/>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9143" y="1756229"/>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0" y="711190"/>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12465" y="625041"/>
            <a:ext cx="2887933" cy="162467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17577AE-8F82-2A0F-1540-500008EECC4E}"/>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837897" y="661790"/>
            <a:ext cx="3703405" cy="16246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University of Arkansas Medical School">
            <a:extLst>
              <a:ext uri="{FF2B5EF4-FFF2-40B4-BE49-F238E27FC236}">
                <a16:creationId xmlns:a16="http://schemas.microsoft.com/office/drawing/2014/main" id="{FF7B095B-1D77-BE07-C43A-585663A996F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77200" y="795388"/>
            <a:ext cx="2474685" cy="1237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269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2" descr="Health Matters: Baptist Health Hospital reaches huge milestone with 300th  heart transplant | KARK">
            <a:extLst>
              <a:ext uri="{FF2B5EF4-FFF2-40B4-BE49-F238E27FC236}">
                <a16:creationId xmlns:a16="http://schemas.microsoft.com/office/drawing/2014/main" id="{CCDBD195-A044-D3B6-D537-EA062F6F6005}"/>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708094" y="2621720"/>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471593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Rectangle 5">
            <a:extLst>
              <a:ext uri="{FF2B5EF4-FFF2-40B4-BE49-F238E27FC236}">
                <a16:creationId xmlns:a16="http://schemas.microsoft.com/office/drawing/2014/main" id="{6E5722BE-2B2D-4795-BCAF-25B00D3C9E01}"/>
              </a:ext>
            </a:extLst>
          </p:cNvPr>
          <p:cNvSpPr/>
          <p:nvPr/>
        </p:nvSpPr>
        <p:spPr>
          <a:xfrm>
            <a:off x="5375023" y="2074277"/>
            <a:ext cx="6096000" cy="3397853"/>
          </a:xfrm>
          <a:prstGeom prst="rect">
            <a:avLst/>
          </a:prstGeom>
        </p:spPr>
        <p:txBody>
          <a:bodyPr>
            <a:spAutoFit/>
          </a:bodyPr>
          <a:lstStyle/>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and Re-Insurer assume all risk for the program</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is responsible for payment/funding of all fees, premiums, and claims</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Baptist Health Receives: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Fee-For-Service payments </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Care Coordination fees (Baptist Health)</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Reimbursement for Standards of Care Services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Potential Upside </a:t>
            </a:r>
            <a:r>
              <a:rPr lang="en-US" dirty="0">
                <a:solidFill>
                  <a:schemeClr val="tx1">
                    <a:lumMod val="75000"/>
                    <a:lumOff val="25000"/>
                  </a:schemeClr>
                </a:solidFill>
                <a:highlight>
                  <a:srgbClr val="FFFF00"/>
                </a:highlight>
              </a:rPr>
              <a:t>Gain Sharing</a:t>
            </a:r>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a:off x="5375023" y="643468"/>
            <a:ext cx="5911043" cy="1079436"/>
          </a:xfrm>
        </p:spPr>
        <p:txBody>
          <a:bodyPr>
            <a:noAutofit/>
          </a:bodyPr>
          <a:lstStyle/>
          <a:p>
            <a:pPr>
              <a:lnSpc>
                <a:spcPct val="100000"/>
              </a:lnSpc>
              <a:spcBef>
                <a:spcPts val="600"/>
              </a:spcBef>
            </a:pPr>
            <a:r>
              <a:rPr lang="en-US" sz="3600" dirty="0">
                <a:solidFill>
                  <a:srgbClr val="59CAE8"/>
                </a:solidFill>
              </a:rPr>
              <a:t>DIRECT-TO-EMPLOYER</a:t>
            </a:r>
            <a:br>
              <a:rPr lang="en-US" sz="3600" dirty="0">
                <a:solidFill>
                  <a:srgbClr val="000B2E"/>
                </a:solidFill>
              </a:rPr>
            </a:br>
            <a:r>
              <a:rPr lang="en-US" sz="2000" dirty="0">
                <a:solidFill>
                  <a:srgbClr val="000B2E"/>
                </a:solidFill>
              </a:rPr>
              <a:t>Focused on Self-Funded Employers</a:t>
            </a:r>
            <a:endParaRPr lang="en-US" sz="3600" dirty="0">
              <a:solidFill>
                <a:srgbClr val="000B2E"/>
              </a:solidFill>
            </a:endParaRPr>
          </a:p>
        </p:txBody>
      </p:sp>
      <p:sp>
        <p:nvSpPr>
          <p:cNvPr id="7" name="Rectangle 6">
            <a:extLst>
              <a:ext uri="{FF2B5EF4-FFF2-40B4-BE49-F238E27FC236}">
                <a16:creationId xmlns:a16="http://schemas.microsoft.com/office/drawing/2014/main" id="{16B699B2-0ED4-420C-8D6A-E40BF532CD0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Our Business - Vertical Tech Solutions">
            <a:extLst>
              <a:ext uri="{FF2B5EF4-FFF2-40B4-BE49-F238E27FC236}">
                <a16:creationId xmlns:a16="http://schemas.microsoft.com/office/drawing/2014/main" id="{2787B40A-2BFF-48B0-AC4D-7383581E4F8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582514" y="1275071"/>
            <a:ext cx="3550906" cy="430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836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466318" y="2975599"/>
            <a:ext cx="5911043" cy="752041"/>
          </a:xfrm>
        </p:spPr>
        <p:txBody>
          <a:bodyPr>
            <a:noAutofit/>
          </a:bodyPr>
          <a:lstStyle/>
          <a:p>
            <a:pPr>
              <a:lnSpc>
                <a:spcPct val="100000"/>
              </a:lnSpc>
              <a:spcBef>
                <a:spcPts val="600"/>
              </a:spcBef>
            </a:pPr>
            <a:r>
              <a:rPr lang="en-US" sz="3600" dirty="0">
                <a:solidFill>
                  <a:schemeClr val="bg1"/>
                </a:solidFill>
              </a:rPr>
              <a:t>FINANCIAL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197483" y="5568477"/>
            <a:ext cx="10881335"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highlight>
                  <a:srgbClr val="FFFF00"/>
                </a:highlight>
              </a:rPr>
              <a:t>NOTE:  Please see detailed financial analysis and assumptions used starting on page 31.  </a:t>
            </a:r>
          </a:p>
          <a:p>
            <a:pPr marL="285750" indent="-285750">
              <a:buFont typeface="Arial" panose="020B0604020202020204" pitchFamily="34" charset="0"/>
              <a:buChar char="•"/>
            </a:pPr>
            <a:r>
              <a:rPr lang="en-US" sz="1400" dirty="0">
                <a:highlight>
                  <a:srgbClr val="FFFF00"/>
                </a:highlight>
              </a:rPr>
              <a:t>Financial projections do not include 340B contribution margin, which could represent $136 pmpm based upon optimizing 340B through plan design, Baptist Health approved site(s) with network integration, and development of Baptist Health’s proprietary PBM program.    </a:t>
            </a:r>
          </a:p>
        </p:txBody>
      </p:sp>
      <p:graphicFrame>
        <p:nvGraphicFramePr>
          <p:cNvPr id="11" name="Content Placeholder 2">
            <a:extLst>
              <a:ext uri="{FF2B5EF4-FFF2-40B4-BE49-F238E27FC236}">
                <a16:creationId xmlns:a16="http://schemas.microsoft.com/office/drawing/2014/main" id="{91FBDBA5-8D65-81B2-670C-ED329496AF09}"/>
              </a:ext>
            </a:extLst>
          </p:cNvPr>
          <p:cNvGraphicFramePr>
            <a:graphicFrameLocks noGrp="1"/>
          </p:cNvGraphicFramePr>
          <p:nvPr>
            <p:extLst>
              <p:ext uri="{D42A27DB-BD31-4B8C-83A1-F6EECF244321}">
                <p14:modId xmlns:p14="http://schemas.microsoft.com/office/powerpoint/2010/main" val="1072881896"/>
              </p:ext>
            </p:extLst>
          </p:nvPr>
        </p:nvGraphicFramePr>
        <p:xfrm>
          <a:off x="2111870" y="645569"/>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$ 21,000K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$ 12,969K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$ 51,876K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$4,799K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$4,589K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$64,249K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$103,753K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$9,598K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$9,508K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r>
                        <a:rPr sz="1000" b="0" i="0" u="none" cap="none" dirty="0">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704ED7B9-92F8-AFD1-B5A1-41759F44ED98}"/>
              </a:ext>
            </a:extLst>
          </p:cNvPr>
          <p:cNvSpPr txBox="1">
            <a:spLocks/>
          </p:cNvSpPr>
          <p:nvPr/>
        </p:nvSpPr>
        <p:spPr>
          <a:xfrm rot="16200000">
            <a:off x="-2466318" y="2975599"/>
            <a:ext cx="5911043"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a:solidFill>
                  <a:schemeClr val="bg1"/>
                </a:solidFill>
              </a:rPr>
              <a:t>FINANCIAL SUMMARY</a:t>
            </a:r>
            <a:endParaRPr lang="en-US" sz="3600" dirty="0">
              <a:solidFill>
                <a:schemeClr val="bg1"/>
              </a:solidFill>
            </a:endParaRPr>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C492FF3-DF1B-F12B-D5ED-5B279CB47C24}"/>
              </a:ext>
            </a:extLst>
          </p:cNvPr>
          <p:cNvSpPr txBox="1"/>
          <p:nvPr/>
        </p:nvSpPr>
        <p:spPr>
          <a:xfrm>
            <a:off x="8853714" y="1756228"/>
            <a:ext cx="3390800" cy="461665"/>
          </a:xfrm>
          <a:prstGeom prst="rect">
            <a:avLst/>
          </a:prstGeom>
          <a:noFill/>
        </p:spPr>
        <p:txBody>
          <a:bodyPr wrap="none" rtlCol="0">
            <a:spAutoFit/>
          </a:bodyPr>
          <a:lstStyle/>
          <a:p>
            <a:r>
              <a:rPr lang="en-US" sz="2400" b="1" dirty="0"/>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care margin modeled at both 17% (low estimate) and 35% (high estimate)</a:t>
            </a:r>
          </a:p>
          <a:p>
            <a:pPr marL="285750" indent="-285750">
              <a:buFont typeface="Arial" panose="020B0604020202020204" pitchFamily="34" charset="0"/>
              <a:buChar char="•"/>
            </a:pPr>
            <a:r>
              <a:rPr lang="en-US" dirty="0"/>
              <a:t>DTE pricing is 5% below current commercial levels (employers pay ~10% less but BH saves with easier billing)</a:t>
            </a:r>
          </a:p>
          <a:p>
            <a:pPr marL="285750" indent="-285750">
              <a:buFont typeface="Arial" panose="020B0604020202020204" pitchFamily="34" charset="0"/>
              <a:buChar char="•"/>
            </a:pPr>
            <a:r>
              <a:rPr lang="en-US" dirty="0"/>
              <a:t> Current 37% inpatient market share</a:t>
            </a:r>
          </a:p>
          <a:p>
            <a:pPr marL="285750" indent="-285750">
              <a:buFont typeface="Arial" panose="020B0604020202020204" pitchFamily="34" charset="0"/>
              <a:buChar char="•"/>
            </a:pPr>
            <a:r>
              <a:rPr lang="en-US" dirty="0"/>
              <a:t>Current 14% outpatient market share</a:t>
            </a:r>
          </a:p>
        </p:txBody>
      </p:sp>
      <p:pic>
        <p:nvPicPr>
          <p:cNvPr id="12" name="Picture 11">
            <a:extLst>
              <a:ext uri="{FF2B5EF4-FFF2-40B4-BE49-F238E27FC236}">
                <a16:creationId xmlns:a16="http://schemas.microsoft.com/office/drawing/2014/main" id="{785F1725-003F-9CC3-1263-0760AD02B9CD}"/>
              </a:ext>
            </a:extLst>
          </p:cNvPr>
          <p:cNvPicPr>
            <a:picLocks noChangeAspect="1"/>
          </p:cNvPicPr>
          <p:nvPr/>
        </p:nvPicPr>
        <p:blipFill>
          <a:blip r:embed="rId2"/>
          <a:stretch>
            <a:fillRect/>
          </a:stretch>
        </p:blipFill>
        <p:spPr>
          <a:xfrm>
            <a:off x="1350955" y="535604"/>
            <a:ext cx="7502759" cy="5731060"/>
          </a:xfrm>
          <a:prstGeom prst="rect">
            <a:avLst/>
          </a:prstGeom>
        </p:spPr>
      </p:pic>
    </p:spTree>
    <p:extLst>
      <p:ext uri="{BB962C8B-B14F-4D97-AF65-F5344CB8AC3E}">
        <p14:creationId xmlns:p14="http://schemas.microsoft.com/office/powerpoint/2010/main" val="1206251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pic>
        <p:nvPicPr>
          <p:cNvPr id="5128" name="Picture 8" descr="The Benefits of Seeing a Doctor Regularly - Bethesda Health Group">
            <a:extLst>
              <a:ext uri="{FF2B5EF4-FFF2-40B4-BE49-F238E27FC236}">
                <a16:creationId xmlns:a16="http://schemas.microsoft.com/office/drawing/2014/main" id="{D48E317B-E618-444A-AE9E-7DE4D21C491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6543673" y="-2821"/>
            <a:ext cx="5648326" cy="6858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7AEF790-4820-4494-9FC1-0A245D6577A0}"/>
              </a:ext>
            </a:extLst>
          </p:cNvPr>
          <p:cNvSpPr/>
          <p:nvPr/>
        </p:nvSpPr>
        <p:spPr>
          <a:xfrm>
            <a:off x="-1" y="0"/>
            <a:ext cx="6543675" cy="6858000"/>
          </a:xfrm>
          <a:prstGeom prst="rect">
            <a:avLst/>
          </a:prstGeom>
          <a:solidFill>
            <a:srgbClr val="254F96">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9E5270D8-D91A-4D35-BF28-FCA32645E5F8}"/>
              </a:ext>
            </a:extLst>
          </p:cNvPr>
          <p:cNvSpPr>
            <a:spLocks noGrp="1"/>
          </p:cNvSpPr>
          <p:nvPr>
            <p:ph type="ftr" sz="quarter" idx="11"/>
          </p:nvPr>
        </p:nvSpPr>
        <p:spPr>
          <a:xfrm>
            <a:off x="1214436" y="635158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10FF8DEF-CD4D-4B66-8B1F-3C2B3B5BFB50}"/>
              </a:ext>
            </a:extLst>
          </p:cNvPr>
          <p:cNvSpPr>
            <a:spLocks noGrp="1"/>
          </p:cNvSpPr>
          <p:nvPr>
            <p:ph type="sldNum" sz="quarter" idx="12"/>
          </p:nvPr>
        </p:nvSpPr>
        <p:spPr>
          <a:xfrm>
            <a:off x="8542866" y="6480529"/>
            <a:ext cx="2229909" cy="365125"/>
          </a:xfrm>
        </p:spPr>
        <p:txBody>
          <a:bodyPr/>
          <a:lstStyle/>
          <a:p>
            <a:fld id="{3AFC719D-C4A7-4544-876E-D411D11AF6C9}" type="slidenum">
              <a:rPr lang="en-US" smtClean="0"/>
              <a:t>10</a:t>
            </a:fld>
            <a:endParaRPr lang="en-US" dirty="0"/>
          </a:p>
        </p:txBody>
      </p:sp>
      <p:sp>
        <p:nvSpPr>
          <p:cNvPr id="5" name="Rectangle 4">
            <a:extLst>
              <a:ext uri="{FF2B5EF4-FFF2-40B4-BE49-F238E27FC236}">
                <a16:creationId xmlns:a16="http://schemas.microsoft.com/office/drawing/2014/main" id="{579C780F-FF60-4470-A8DE-F4D593671BFE}"/>
              </a:ext>
            </a:extLst>
          </p:cNvPr>
          <p:cNvSpPr/>
          <p:nvPr/>
        </p:nvSpPr>
        <p:spPr>
          <a:xfrm>
            <a:off x="628650" y="1718408"/>
            <a:ext cx="5169152" cy="4267200"/>
          </a:xfrm>
          <a:prstGeom prst="rect">
            <a:avLst/>
          </a:prstGeom>
        </p:spPr>
        <p:txBody>
          <a:bodyPr vert="horz" lIns="91440" tIns="45720" rIns="91440" bIns="45720" rtlCol="0" anchor="t">
            <a:noAutofit/>
          </a:bodyPr>
          <a:lstStyle/>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“Directly” contract </a:t>
            </a:r>
            <a:r>
              <a:rPr lang="en-US" sz="2000" dirty="0">
                <a:solidFill>
                  <a:schemeClr val="bg1"/>
                </a:solidFill>
              </a:rPr>
              <a:t>with self-funded employer(s) for FFS with potential for gain share – upside and downside possibilities</a:t>
            </a:r>
          </a:p>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Baptist Health is the “center” of the relationship</a:t>
            </a:r>
            <a:r>
              <a:rPr lang="en-US" sz="2000" dirty="0">
                <a:solidFill>
                  <a:schemeClr val="bg1"/>
                </a:solidFill>
              </a:rPr>
              <a:t> with the employer – not an insurance carrier</a:t>
            </a:r>
          </a:p>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Financially incent members to use Baptist Health medical provider(s) </a:t>
            </a:r>
            <a:r>
              <a:rPr lang="en-US" sz="2000" dirty="0">
                <a:solidFill>
                  <a:schemeClr val="bg1"/>
                </a:solidFill>
              </a:rPr>
              <a:t>and adhere to protocols intended to address gaps in care and to manage appropriate utilization</a:t>
            </a:r>
          </a:p>
        </p:txBody>
      </p:sp>
      <p:sp>
        <p:nvSpPr>
          <p:cNvPr id="6" name="Title 1">
            <a:extLst>
              <a:ext uri="{FF2B5EF4-FFF2-40B4-BE49-F238E27FC236}">
                <a16:creationId xmlns:a16="http://schemas.microsoft.com/office/drawing/2014/main" id="{15D926EE-2F61-4F98-8422-760EE07038B5}"/>
              </a:ext>
            </a:extLst>
          </p:cNvPr>
          <p:cNvSpPr>
            <a:spLocks noGrp="1"/>
          </p:cNvSpPr>
          <p:nvPr>
            <p:ph type="title"/>
          </p:nvPr>
        </p:nvSpPr>
        <p:spPr>
          <a:xfrm>
            <a:off x="687260" y="496711"/>
            <a:ext cx="5169152" cy="1051629"/>
          </a:xfrm>
        </p:spPr>
        <p:txBody>
          <a:bodyPr>
            <a:normAutofit fontScale="90000"/>
          </a:bodyPr>
          <a:lstStyle/>
          <a:p>
            <a:pPr>
              <a:lnSpc>
                <a:spcPct val="100000"/>
              </a:lnSpc>
              <a:spcBef>
                <a:spcPts val="600"/>
              </a:spcBef>
              <a:spcAft>
                <a:spcPts val="600"/>
              </a:spcAft>
            </a:pPr>
            <a:r>
              <a:rPr lang="en-US" sz="3600" dirty="0">
                <a:solidFill>
                  <a:schemeClr val="bg1"/>
                </a:solidFill>
              </a:rPr>
              <a:t>DIRECT-TO-EMPLOYER</a:t>
            </a:r>
            <a:br>
              <a:rPr lang="en-US" sz="3600" dirty="0">
                <a:solidFill>
                  <a:schemeClr val="bg1"/>
                </a:solidFill>
              </a:rPr>
            </a:br>
            <a:r>
              <a:rPr lang="en-US" sz="2000" dirty="0">
                <a:solidFill>
                  <a:schemeClr val="bg1"/>
                </a:solidFill>
              </a:rPr>
              <a:t>Health Plan Strategy</a:t>
            </a:r>
            <a:endParaRPr lang="en-US" sz="3600" dirty="0">
              <a:solidFill>
                <a:schemeClr val="bg1"/>
              </a:solidFill>
            </a:endParaRPr>
          </a:p>
        </p:txBody>
      </p:sp>
    </p:spTree>
    <p:extLst>
      <p:ext uri="{BB962C8B-B14F-4D97-AF65-F5344CB8AC3E}">
        <p14:creationId xmlns:p14="http://schemas.microsoft.com/office/powerpoint/2010/main" val="373678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print">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561975" y="320684"/>
            <a:ext cx="10515600" cy="1325563"/>
          </a:xfrm>
        </p:spPr>
        <p:txBody>
          <a:bodyPr>
            <a:normAutofit fontScale="90000"/>
          </a:bodyPr>
          <a:lstStyle/>
          <a:p>
            <a:r>
              <a:rPr lang="en-US" sz="3600" dirty="0">
                <a:solidFill>
                  <a:schemeClr val="tx1">
                    <a:lumMod val="75000"/>
                    <a:lumOff val="25000"/>
                  </a:schemeClr>
                </a:solidFill>
              </a:rPr>
              <a:t>There Are </a:t>
            </a:r>
            <a:r>
              <a:rPr lang="en-US" sz="3600" dirty="0">
                <a:solidFill>
                  <a:srgbClr val="000B2E"/>
                </a:solidFill>
              </a:rPr>
              <a:t>5 Main Reasons </a:t>
            </a:r>
            <a:r>
              <a:rPr lang="en-US" sz="3600" dirty="0">
                <a:solidFill>
                  <a:schemeClr val="tx1">
                    <a:lumMod val="75000"/>
                    <a:lumOff val="25000"/>
                  </a:schemeClr>
                </a:solidFill>
              </a:rPr>
              <a:t>the DTE Program is Strategically Important for Baptist Health: </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11</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504703" y="3175019"/>
            <a:ext cx="11182594" cy="2086725"/>
            <a:chOff x="539823" y="2622568"/>
            <a:chExt cx="11182594" cy="2086725"/>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1089529"/>
            </a:xfrm>
            <a:prstGeom prst="rect">
              <a:avLst/>
            </a:prstGeom>
          </p:spPr>
          <p:txBody>
            <a:bodyPr wrap="square">
              <a:spAutoFit/>
            </a:bodyPr>
            <a:lstStyle/>
            <a:p>
              <a:pPr defTabSz="914411">
                <a:lnSpc>
                  <a:spcPct val="90000"/>
                </a:lnSpc>
                <a:spcAft>
                  <a:spcPts val="1200"/>
                </a:spcAft>
                <a:buClr>
                  <a:schemeClr val="tx1"/>
                </a:buClr>
              </a:pPr>
              <a:r>
                <a:rPr lang="en-US" dirty="0"/>
                <a:t>Millions in NEW incremental net revenue and net margins </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590931"/>
            </a:xfrm>
            <a:prstGeom prst="rect">
              <a:avLst/>
            </a:prstGeom>
          </p:spPr>
          <p:txBody>
            <a:bodyPr wrap="square">
              <a:spAutoFit/>
            </a:bodyPr>
            <a:lstStyle/>
            <a:p>
              <a:pPr defTabSz="914411">
                <a:lnSpc>
                  <a:spcPct val="90000"/>
                </a:lnSpc>
                <a:spcAft>
                  <a:spcPts val="1200"/>
                </a:spcAft>
                <a:buClr>
                  <a:schemeClr val="tx1"/>
                </a:buClr>
              </a:pPr>
              <a:r>
                <a:rPr lang="en-US" dirty="0"/>
                <a:t>Control over your own network</a:t>
              </a:r>
            </a:p>
          </p:txBody>
        </p:sp>
        <p:sp>
          <p:nvSpPr>
            <p:cNvPr id="8" name="Rectangle 7">
              <a:extLst>
                <a:ext uri="{FF2B5EF4-FFF2-40B4-BE49-F238E27FC236}">
                  <a16:creationId xmlns:a16="http://schemas.microsoft.com/office/drawing/2014/main" id="{9EEC6943-2052-4989-AFDB-0DA3D01CD9BC}"/>
                </a:ext>
              </a:extLst>
            </p:cNvPr>
            <p:cNvSpPr/>
            <p:nvPr/>
          </p:nvSpPr>
          <p:spPr>
            <a:xfrm>
              <a:off x="4517472" y="2622568"/>
              <a:ext cx="2194560" cy="1588127"/>
            </a:xfrm>
            <a:prstGeom prst="rect">
              <a:avLst/>
            </a:prstGeom>
          </p:spPr>
          <p:txBody>
            <a:bodyPr wrap="square">
              <a:spAutoFit/>
            </a:bodyPr>
            <a:lstStyle/>
            <a:p>
              <a:pPr defTabSz="914411">
                <a:lnSpc>
                  <a:spcPct val="90000"/>
                </a:lnSpc>
                <a:spcAft>
                  <a:spcPts val="1200"/>
                </a:spcAft>
                <a:buClr>
                  <a:schemeClr val="tx1"/>
                </a:buClr>
              </a:pPr>
              <a:r>
                <a:rPr lang="en-US" dirty="0"/>
                <a:t>Employers directly connect with Baptist Health without a middleman for better patient care and lower costs</a:t>
              </a:r>
            </a:p>
          </p:txBody>
        </p:sp>
        <p:sp>
          <p:nvSpPr>
            <p:cNvPr id="9" name="Rectangle 8">
              <a:extLst>
                <a:ext uri="{FF2B5EF4-FFF2-40B4-BE49-F238E27FC236}">
                  <a16:creationId xmlns:a16="http://schemas.microsoft.com/office/drawing/2014/main" id="{9560E049-3D97-445B-A793-900EDA1D90C3}"/>
                </a:ext>
              </a:extLst>
            </p:cNvPr>
            <p:cNvSpPr/>
            <p:nvPr/>
          </p:nvSpPr>
          <p:spPr>
            <a:xfrm>
              <a:off x="7056120" y="2622568"/>
              <a:ext cx="2194560" cy="2086725"/>
            </a:xfrm>
            <a:prstGeom prst="rect">
              <a:avLst/>
            </a:prstGeom>
          </p:spPr>
          <p:txBody>
            <a:bodyPr wrap="square">
              <a:spAutoFit/>
            </a:bodyPr>
            <a:lstStyle/>
            <a:p>
              <a:pPr defTabSz="914411">
                <a:lnSpc>
                  <a:spcPct val="90000"/>
                </a:lnSpc>
                <a:spcAft>
                  <a:spcPts val="1200"/>
                </a:spcAft>
                <a:buClr>
                  <a:schemeClr val="tx1"/>
                </a:buClr>
              </a:pPr>
              <a:r>
                <a:rPr lang="en-US" dirty="0"/>
                <a:t>Baptist Health has a </a:t>
              </a:r>
              <a:r>
                <a:rPr lang="en-US" b="1" dirty="0"/>
                <a:t>complete employer health plan</a:t>
              </a:r>
              <a:r>
                <a:rPr lang="en-US" dirty="0"/>
                <a:t> strategy and robust source of new fees and revenues  - low financial and execution risk</a:t>
              </a:r>
            </a:p>
          </p:txBody>
        </p:sp>
        <p:sp>
          <p:nvSpPr>
            <p:cNvPr id="10" name="Rectangle 9">
              <a:extLst>
                <a:ext uri="{FF2B5EF4-FFF2-40B4-BE49-F238E27FC236}">
                  <a16:creationId xmlns:a16="http://schemas.microsoft.com/office/drawing/2014/main" id="{FE4FEE64-C08B-4274-8DE0-E40202493C89}"/>
                </a:ext>
              </a:extLst>
            </p:cNvPr>
            <p:cNvSpPr/>
            <p:nvPr/>
          </p:nvSpPr>
          <p:spPr>
            <a:xfrm>
              <a:off x="9527857" y="2622568"/>
              <a:ext cx="2194560" cy="2086725"/>
            </a:xfrm>
            <a:prstGeom prst="rect">
              <a:avLst/>
            </a:prstGeom>
          </p:spPr>
          <p:txBody>
            <a:bodyPr wrap="square">
              <a:spAutoFit/>
            </a:bodyPr>
            <a:lstStyle/>
            <a:p>
              <a:pPr defTabSz="914411">
                <a:lnSpc>
                  <a:spcPct val="90000"/>
                </a:lnSpc>
                <a:spcAft>
                  <a:spcPts val="1200"/>
                </a:spcAft>
                <a:buClr>
                  <a:schemeClr val="tx1"/>
                </a:buClr>
              </a:pPr>
              <a:r>
                <a:rPr lang="en-US" dirty="0"/>
                <a:t>Increases the ability to achieve the quadruple aim – increased member satisfaction, better outcomes, reduced cost, and provider satisfaction</a:t>
              </a:r>
            </a:p>
          </p:txBody>
        </p:sp>
      </p:grpSp>
      <p:grpSp>
        <p:nvGrpSpPr>
          <p:cNvPr id="18" name="Group 17">
            <a:extLst>
              <a:ext uri="{FF2B5EF4-FFF2-40B4-BE49-F238E27FC236}">
                <a16:creationId xmlns:a16="http://schemas.microsoft.com/office/drawing/2014/main" id="{4B9F9B26-0A0F-4CF8-9DA0-5059868C5CB2}"/>
              </a:ext>
            </a:extLst>
          </p:cNvPr>
          <p:cNvGrpSpPr/>
          <p:nvPr/>
        </p:nvGrpSpPr>
        <p:grpSpPr>
          <a:xfrm>
            <a:off x="2305050" y="3013093"/>
            <a:ext cx="7015285" cy="2425682"/>
            <a:chOff x="2305050" y="3013093"/>
            <a:chExt cx="7015285" cy="2425682"/>
          </a:xfrm>
        </p:grpSpPr>
        <p:cxnSp>
          <p:nvCxnSpPr>
            <p:cNvPr id="14" name="Straight Connector 13">
              <a:extLst>
                <a:ext uri="{FF2B5EF4-FFF2-40B4-BE49-F238E27FC236}">
                  <a16:creationId xmlns:a16="http://schemas.microsoft.com/office/drawing/2014/main" id="{DD477D80-386D-4C49-BB5B-4192EF9C3FCB}"/>
                </a:ext>
              </a:extLst>
            </p:cNvPr>
            <p:cNvCxnSpPr/>
            <p:nvPr/>
          </p:nvCxnSpPr>
          <p:spPr>
            <a:xfrm>
              <a:off x="2305050"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0E56FE-A6BB-45BA-AD2C-5C733B41A4AB}"/>
                </a:ext>
              </a:extLst>
            </p:cNvPr>
            <p:cNvCxnSpPr/>
            <p:nvPr/>
          </p:nvCxnSpPr>
          <p:spPr>
            <a:xfrm>
              <a:off x="9320335"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E21D51-5C46-4E4F-89AD-9E1626EA1395}"/>
                </a:ext>
              </a:extLst>
            </p:cNvPr>
            <p:cNvCxnSpPr/>
            <p:nvPr/>
          </p:nvCxnSpPr>
          <p:spPr>
            <a:xfrm>
              <a:off x="6829425"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BEBD8C5-A657-4991-8D27-1779D21F4E6F}"/>
                </a:ext>
              </a:extLst>
            </p:cNvPr>
            <p:cNvCxnSpPr/>
            <p:nvPr/>
          </p:nvCxnSpPr>
          <p:spPr>
            <a:xfrm>
              <a:off x="4343400"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52309E96-4A70-4D55-BD3A-FD937C216BA4}"/>
              </a:ext>
            </a:extLst>
          </p:cNvPr>
          <p:cNvGrpSpPr/>
          <p:nvPr/>
        </p:nvGrpSpPr>
        <p:grpSpPr>
          <a:xfrm>
            <a:off x="1104900" y="2498744"/>
            <a:ext cx="9704192" cy="438150"/>
            <a:chOff x="1104900" y="2336819"/>
            <a:chExt cx="9704192" cy="438150"/>
          </a:xfrm>
          <a:effectLst>
            <a:outerShdw blurRad="50800" dist="38100" dir="2700000" algn="tl" rotWithShape="0">
              <a:prstClr val="black">
                <a:alpha val="40000"/>
              </a:prstClr>
            </a:outerShdw>
          </a:effectLst>
        </p:grpSpPr>
        <p:sp>
          <p:nvSpPr>
            <p:cNvPr id="19" name="Oval 18">
              <a:extLst>
                <a:ext uri="{FF2B5EF4-FFF2-40B4-BE49-F238E27FC236}">
                  <a16:creationId xmlns:a16="http://schemas.microsoft.com/office/drawing/2014/main" id="{6E3306A4-A22E-44B4-B28D-02A4477CAE09}"/>
                </a:ext>
              </a:extLst>
            </p:cNvPr>
            <p:cNvSpPr/>
            <p:nvPr/>
          </p:nvSpPr>
          <p:spPr>
            <a:xfrm>
              <a:off x="1104900"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3165988"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AC92C3ED-CA43-4359-8184-F49D4D5F61C8}"/>
                </a:ext>
              </a:extLst>
            </p:cNvPr>
            <p:cNvSpPr/>
            <p:nvPr/>
          </p:nvSpPr>
          <p:spPr>
            <a:xfrm>
              <a:off x="535781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CC957790-747E-4EC8-AE97-A7D0FBDA3700}"/>
                </a:ext>
              </a:extLst>
            </p:cNvPr>
            <p:cNvSpPr/>
            <p:nvPr/>
          </p:nvSpPr>
          <p:spPr>
            <a:xfrm>
              <a:off x="766334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F654282D-D293-405A-A40C-6C061ED59255}"/>
                </a:ext>
              </a:extLst>
            </p:cNvPr>
            <p:cNvSpPr/>
            <p:nvPr/>
          </p:nvSpPr>
          <p:spPr>
            <a:xfrm>
              <a:off x="1037094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grpSp>
    </p:spTree>
    <p:extLst>
      <p:ext uri="{BB962C8B-B14F-4D97-AF65-F5344CB8AC3E}">
        <p14:creationId xmlns:p14="http://schemas.microsoft.com/office/powerpoint/2010/main" val="4059548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1062CA-52E9-06A0-5FC7-4275D5D1A998}"/>
              </a:ext>
            </a:extLst>
          </p:cNvPr>
          <p:cNvSpPr txBox="1"/>
          <p:nvPr/>
        </p:nvSpPr>
        <p:spPr>
          <a:xfrm>
            <a:off x="225860" y="190180"/>
            <a:ext cx="5108964" cy="1956841"/>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3400" dirty="0">
                <a:latin typeface="+mj-lt"/>
                <a:ea typeface="+mj-ea"/>
                <a:cs typeface="+mj-cs"/>
              </a:rPr>
              <a:t>Why does the DTE Strategy Work for Baptist Health? </a:t>
            </a:r>
          </a:p>
        </p:txBody>
      </p:sp>
      <p:sp>
        <p:nvSpPr>
          <p:cNvPr id="8" name="TextBox 7">
            <a:extLst>
              <a:ext uri="{FF2B5EF4-FFF2-40B4-BE49-F238E27FC236}">
                <a16:creationId xmlns:a16="http://schemas.microsoft.com/office/drawing/2014/main" id="{3AA1C844-EEF7-1AE4-E6A8-89B4BF629228}"/>
              </a:ext>
            </a:extLst>
          </p:cNvPr>
          <p:cNvSpPr txBox="1"/>
          <p:nvPr/>
        </p:nvSpPr>
        <p:spPr>
          <a:xfrm>
            <a:off x="35884" y="2596138"/>
            <a:ext cx="5199618" cy="4181278"/>
          </a:xfrm>
          <a:prstGeom prst="rect">
            <a:avLst/>
          </a:prstGeom>
        </p:spPr>
        <p:txBody>
          <a:bodyPr vert="horz" lIns="91440" tIns="45720" rIns="91440" bIns="45720" rtlCol="0">
            <a:normAutofit fontScale="92500" lnSpcReduction="10000"/>
          </a:bodyPr>
          <a:lstStyle/>
          <a:p>
            <a:pPr marL="285750" indent="-228600" defTabSz="914400">
              <a:lnSpc>
                <a:spcPct val="90000"/>
              </a:lnSpc>
              <a:spcAft>
                <a:spcPts val="600"/>
              </a:spcAft>
              <a:buFont typeface="Arial" panose="020B0604020202020204" pitchFamily="34" charset="0"/>
              <a:buChar char="•"/>
            </a:pPr>
            <a:endParaRPr lang="en-US" sz="1200" dirty="0"/>
          </a:p>
          <a:p>
            <a:pPr marL="285750" indent="-228600" defTabSz="914400">
              <a:lnSpc>
                <a:spcPct val="90000"/>
              </a:lnSpc>
              <a:spcAft>
                <a:spcPts val="600"/>
              </a:spcAft>
              <a:buFont typeface="Arial" panose="020B0604020202020204" pitchFamily="34" charset="0"/>
              <a:buChar char="•"/>
            </a:pPr>
            <a:r>
              <a:rPr lang="en-US" sz="1500" dirty="0"/>
              <a:t>KBA has been successful in selling employer self-funded health plans for over 40 years without the added benefit of active integration by healthcare providers, or the lowest unit prices compared to the largest payers. </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Baptist Health can quantify its value proposition to employers as the lowest cost and highest quality provider using KBA’s proven population health management system from day one.</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Baptist Health can deploy a “turn-key” health plan for employer sponsored health plans in 6 months without the millions in capital contribution to start and operate an insurance company.</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KBA provides Baptist Health with a comprehensive sales, marketing, and social media system to promote Baptist Health’s value proposition directly to the employer community while working with insurance agents and brokers to drive employer adoption.</a:t>
            </a:r>
          </a:p>
        </p:txBody>
      </p:sp>
      <p:pic>
        <p:nvPicPr>
          <p:cNvPr id="1026" name="Picture 2" descr="Strategy Definition – What Is Strategy? | Marketing91">
            <a:extLst>
              <a:ext uri="{FF2B5EF4-FFF2-40B4-BE49-F238E27FC236}">
                <a16:creationId xmlns:a16="http://schemas.microsoft.com/office/drawing/2014/main" id="{7DF77012-62E5-D016-CD8B-EBF287DFD01A}"/>
              </a:ext>
            </a:extLst>
          </p:cNvPr>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B682664-45E4-6547-A7F0-E6E452829584}"/>
              </a:ext>
            </a:extLst>
          </p:cNvPr>
          <p:cNvSpPr>
            <a:spLocks noGrp="1"/>
          </p:cNvSpPr>
          <p:nvPr>
            <p:ph type="ftr" sz="quarter" idx="11"/>
          </p:nvPr>
        </p:nvSpPr>
        <p:spPr>
          <a:xfrm>
            <a:off x="6248400" y="6356350"/>
            <a:ext cx="4114800" cy="365125"/>
          </a:xfrm>
        </p:spPr>
        <p:txBody>
          <a:bodyPr vert="horz" lIns="91440" tIns="45720" rIns="91440" bIns="45720" rtlCol="0" anchor="ctr">
            <a:normAutofit/>
          </a:bodyPr>
          <a:lstStyle/>
          <a:p>
            <a:pPr algn="l" defTabSz="914400">
              <a:spcAft>
                <a:spcPts val="600"/>
              </a:spcAft>
              <a:defRPr/>
            </a:pPr>
            <a:r>
              <a:rPr lang="en-US" kern="1200" spc="0" dirty="0">
                <a:solidFill>
                  <a:srgbClr val="FFFFFF"/>
                </a:solidFill>
                <a:latin typeface="Calibri" panose="020F0502020204030204"/>
                <a:ea typeface="+mn-ea"/>
                <a:cs typeface="+mn-cs"/>
              </a:rPr>
              <a:t>Key Benefit Administrators</a:t>
            </a:r>
          </a:p>
        </p:txBody>
      </p:sp>
      <p:sp>
        <p:nvSpPr>
          <p:cNvPr id="4" name="Slide Number Placeholder 3">
            <a:extLst>
              <a:ext uri="{FF2B5EF4-FFF2-40B4-BE49-F238E27FC236}">
                <a16:creationId xmlns:a16="http://schemas.microsoft.com/office/drawing/2014/main" id="{917BAF0B-7A3F-A415-DDF1-E26CF729B2C4}"/>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defTabSz="914400">
              <a:spcAft>
                <a:spcPts val="600"/>
              </a:spcAft>
              <a:defRPr/>
            </a:pPr>
            <a:fld id="{3AFC719D-C4A7-4544-876E-D411D11AF6C9}" type="slidenum">
              <a:rPr lang="en-US">
                <a:solidFill>
                  <a:srgbClr val="FFFFFF"/>
                </a:solidFill>
                <a:latin typeface="Calibri" panose="020F0502020204030204"/>
              </a:rPr>
              <a:pPr defTabSz="914400">
                <a:spcAft>
                  <a:spcPts val="600"/>
                </a:spcAft>
                <a:defRPr/>
              </a:pPr>
              <a:t>12</a:t>
            </a:fld>
            <a:endParaRPr lang="en-US" dirty="0">
              <a:solidFill>
                <a:srgbClr val="FFFFFF"/>
              </a:solidFill>
              <a:latin typeface="Calibri" panose="020F0502020204030204"/>
            </a:endParaRPr>
          </a:p>
        </p:txBody>
      </p:sp>
    </p:spTree>
    <p:extLst>
      <p:ext uri="{BB962C8B-B14F-4D97-AF65-F5344CB8AC3E}">
        <p14:creationId xmlns:p14="http://schemas.microsoft.com/office/powerpoint/2010/main" val="785295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462486"/>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3B2D3D-737D-4332-BAC2-07DB57394469}"/>
              </a:ext>
            </a:extLst>
          </p:cNvPr>
          <p:cNvSpPr/>
          <p:nvPr/>
        </p:nvSpPr>
        <p:spPr>
          <a:xfrm>
            <a:off x="4857751" y="0"/>
            <a:ext cx="602932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8" name="TextBox 7">
            <a:extLst>
              <a:ext uri="{FF2B5EF4-FFF2-40B4-BE49-F238E27FC236}">
                <a16:creationId xmlns:a16="http://schemas.microsoft.com/office/drawing/2014/main" id="{1A87AF45-3420-4F7A-959C-0F2A3AD826A3}"/>
              </a:ext>
            </a:extLst>
          </p:cNvPr>
          <p:cNvSpPr txBox="1"/>
          <p:nvPr/>
        </p:nvSpPr>
        <p:spPr>
          <a:xfrm>
            <a:off x="5582738" y="666751"/>
            <a:ext cx="5537700" cy="6054725"/>
          </a:xfrm>
          <a:prstGeom prst="rect">
            <a:avLst/>
          </a:prstGeom>
        </p:spPr>
        <p:txBody>
          <a:bodyPr vert="horz" lIns="91440" tIns="45720" rIns="91440" bIns="45720" rtlCol="0" anchor="ctr">
            <a:noAutofit/>
          </a:bodyPr>
          <a:lstStyle/>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Companion Life </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Crum &amp; Forster</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Fidelity Security</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Kemper</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National General</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Transamerica</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US Fire</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University of Louisville Health (OneHealthPlan.net)</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Anderson Regional Medical Ctr. (AffinityHealthPlan.net)</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25 Independent Third Party Administrators</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State of Indiana</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Coefficient (Google)</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CHS (NW AR)</a:t>
            </a:r>
          </a:p>
          <a:p>
            <a:pPr marL="400055" indent="-342905" defTabSz="914411">
              <a:lnSpc>
                <a:spcPct val="90000"/>
              </a:lnSpc>
              <a:spcAft>
                <a:spcPts val="600"/>
              </a:spcAft>
              <a:buFont typeface="Wingdings" panose="05000000000000000000" pitchFamily="2" charset="2"/>
              <a:buChar char="§"/>
            </a:pPr>
            <a:endParaRPr lang="en-US" sz="2000" b="1" dirty="0"/>
          </a:p>
          <a:p>
            <a:pPr marL="400055" indent="-342905" defTabSz="914411">
              <a:lnSpc>
                <a:spcPct val="90000"/>
              </a:lnSpc>
              <a:spcAft>
                <a:spcPts val="600"/>
              </a:spcAft>
              <a:buFont typeface="Wingdings" panose="05000000000000000000" pitchFamily="2" charset="2"/>
              <a:buChar char="§"/>
            </a:pPr>
            <a:endParaRPr lang="en-US" sz="2000" b="1"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110130" y="2069523"/>
            <a:ext cx="4582820" cy="826473"/>
          </a:xfrm>
          <a:noFill/>
        </p:spPr>
        <p:txBody>
          <a:bodyPr vert="horz" lIns="91440" tIns="45720" rIns="91440" bIns="45720" rtlCol="0" anchor="t">
            <a:normAutofit fontScale="90000"/>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Plans</a:t>
            </a:r>
            <a:endParaRPr lang="en-US" sz="2800" b="1" cap="all" spc="150" dirty="0">
              <a:solidFill>
                <a:srgbClr val="0F5DA6"/>
              </a:solidFill>
              <a:latin typeface="Arial" panose="020B0604020202020204" pitchFamily="34" charset="0"/>
              <a:cs typeface="Arial" panose="020B0604020202020204" pitchFamily="34" charset="0"/>
            </a:endParaRPr>
          </a:p>
        </p:txBody>
      </p:sp>
      <p:sp>
        <p:nvSpPr>
          <p:cNvPr id="26" name="Arrow: Right 25">
            <a:extLst>
              <a:ext uri="{FF2B5EF4-FFF2-40B4-BE49-F238E27FC236}">
                <a16:creationId xmlns:a16="http://schemas.microsoft.com/office/drawing/2014/main" id="{485B1D89-F2E0-4440-BD76-569F230AFB8F}"/>
              </a:ext>
            </a:extLst>
          </p:cNvPr>
          <p:cNvSpPr/>
          <p:nvPr/>
        </p:nvSpPr>
        <p:spPr>
          <a:xfrm>
            <a:off x="-8251" y="1680923"/>
            <a:ext cx="5261386" cy="415588"/>
          </a:xfrm>
          <a:prstGeom prst="rightArrow">
            <a:avLst/>
          </a:prstGeom>
          <a:solidFill>
            <a:srgbClr val="A8A7A7">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519872" y="788680"/>
            <a:ext cx="3645898" cy="6299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ext&#10;&#10;Description automatically generated">
            <a:extLst>
              <a:ext uri="{FF2B5EF4-FFF2-40B4-BE49-F238E27FC236}">
                <a16:creationId xmlns:a16="http://schemas.microsoft.com/office/drawing/2014/main" id="{4EA87FCC-3873-28CC-224C-B928F158A3D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28984" y="3033466"/>
            <a:ext cx="1487514" cy="636129"/>
          </a:xfrm>
          <a:prstGeom prst="rect">
            <a:avLst/>
          </a:prstGeom>
        </p:spPr>
      </p:pic>
      <p:pic>
        <p:nvPicPr>
          <p:cNvPr id="11" name="Picture 10" descr="Logo&#10;&#10;Description automatically generated">
            <a:extLst>
              <a:ext uri="{FF2B5EF4-FFF2-40B4-BE49-F238E27FC236}">
                <a16:creationId xmlns:a16="http://schemas.microsoft.com/office/drawing/2014/main" id="{AF0229D7-B381-7222-F0F7-3C0EFD996D1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00030" y="3823597"/>
            <a:ext cx="1560217" cy="415588"/>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302EAFAD-4D74-1297-7878-222631BEF45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283313" y="3127550"/>
            <a:ext cx="2418683" cy="382591"/>
          </a:xfrm>
          <a:prstGeom prst="rect">
            <a:avLst/>
          </a:prstGeom>
        </p:spPr>
      </p:pic>
      <p:pic>
        <p:nvPicPr>
          <p:cNvPr id="15" name="Picture 14" descr="A picture containing icon&#10;&#10;Description automatically generated">
            <a:extLst>
              <a:ext uri="{FF2B5EF4-FFF2-40B4-BE49-F238E27FC236}">
                <a16:creationId xmlns:a16="http://schemas.microsoft.com/office/drawing/2014/main" id="{45B07F8C-C742-C10D-36BD-BDB919DF2959}"/>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283313" y="4552641"/>
            <a:ext cx="2273700" cy="414671"/>
          </a:xfrm>
          <a:prstGeom prst="rect">
            <a:avLst/>
          </a:prstGeom>
        </p:spPr>
      </p:pic>
      <p:pic>
        <p:nvPicPr>
          <p:cNvPr id="17" name="Picture 16" descr="A picture containing text, clipart&#10;&#10;Description automatically generated">
            <a:extLst>
              <a:ext uri="{FF2B5EF4-FFF2-40B4-BE49-F238E27FC236}">
                <a16:creationId xmlns:a16="http://schemas.microsoft.com/office/drawing/2014/main" id="{2E6ABA23-91D7-C235-CD17-7D93C6DFFF16}"/>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50061" y="3818080"/>
            <a:ext cx="1490090" cy="507562"/>
          </a:xfrm>
          <a:prstGeom prst="rect">
            <a:avLst/>
          </a:prstGeom>
        </p:spPr>
      </p:pic>
      <p:pic>
        <p:nvPicPr>
          <p:cNvPr id="19" name="Picture 18" descr="A picture containing text&#10;&#10;Description automatically generated">
            <a:extLst>
              <a:ext uri="{FF2B5EF4-FFF2-40B4-BE49-F238E27FC236}">
                <a16:creationId xmlns:a16="http://schemas.microsoft.com/office/drawing/2014/main" id="{318F1A40-12E3-8E0E-A19E-4113C17326D5}"/>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191179" y="4574391"/>
            <a:ext cx="1646591" cy="299915"/>
          </a:xfrm>
          <a:prstGeom prst="rect">
            <a:avLst/>
          </a:prstGeom>
        </p:spPr>
      </p:pic>
      <p:pic>
        <p:nvPicPr>
          <p:cNvPr id="21" name="Picture 20" descr="Logo&#10;&#10;Description automatically generated with medium confidence">
            <a:extLst>
              <a:ext uri="{FF2B5EF4-FFF2-40B4-BE49-F238E27FC236}">
                <a16:creationId xmlns:a16="http://schemas.microsoft.com/office/drawing/2014/main" id="{D6FE0FC9-D851-98CB-3235-19DA6451610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283313" y="5137240"/>
            <a:ext cx="1403470" cy="302816"/>
          </a:xfrm>
          <a:prstGeom prst="rect">
            <a:avLst/>
          </a:prstGeom>
        </p:spPr>
      </p:pic>
      <p:pic>
        <p:nvPicPr>
          <p:cNvPr id="23" name="Picture 22" descr="A picture containing text, clipart&#10;&#10;Description automatically generated">
            <a:extLst>
              <a:ext uri="{FF2B5EF4-FFF2-40B4-BE49-F238E27FC236}">
                <a16:creationId xmlns:a16="http://schemas.microsoft.com/office/drawing/2014/main" id="{55744992-9258-EE27-8898-FED62438CC48}"/>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50061" y="5814652"/>
            <a:ext cx="1487514" cy="297503"/>
          </a:xfrm>
          <a:prstGeom prst="rect">
            <a:avLst/>
          </a:prstGeom>
        </p:spPr>
      </p:pic>
      <p:pic>
        <p:nvPicPr>
          <p:cNvPr id="1026" name="Picture 2" descr="Home">
            <a:extLst>
              <a:ext uri="{FF2B5EF4-FFF2-40B4-BE49-F238E27FC236}">
                <a16:creationId xmlns:a16="http://schemas.microsoft.com/office/drawing/2014/main" id="{DE19A654-5987-2533-04FD-0F2EAB94314D}"/>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278640" y="5081313"/>
            <a:ext cx="1658684" cy="4146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QA Logo">
            <a:extLst>
              <a:ext uri="{FF2B5EF4-FFF2-40B4-BE49-F238E27FC236}">
                <a16:creationId xmlns:a16="http://schemas.microsoft.com/office/drawing/2014/main" id="{30B067E7-06B1-2B7B-D62A-7838888DD20B}"/>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a:off x="2283313" y="5739745"/>
            <a:ext cx="1544883" cy="32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880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Diagram&#10;&#10;Description automatically generated">
            <a:extLst>
              <a:ext uri="{FF2B5EF4-FFF2-40B4-BE49-F238E27FC236}">
                <a16:creationId xmlns:a16="http://schemas.microsoft.com/office/drawing/2014/main" id="{9BD78704-6439-095B-3EBA-562D6CAAF6E2}"/>
              </a:ext>
            </a:extLst>
          </p:cNvPr>
          <p:cNvPicPr>
            <a:picLocks noChangeAspect="1"/>
          </p:cNvPicPr>
          <p:nvPr/>
        </p:nvPicPr>
        <p:blipFill>
          <a:blip r:embed="rId3"/>
          <a:stretch>
            <a:fillRect/>
          </a:stretch>
        </p:blipFill>
        <p:spPr>
          <a:xfrm>
            <a:off x="955646" y="1526797"/>
            <a:ext cx="8767194" cy="4518352"/>
          </a:xfrm>
          <a:prstGeom prst="rect">
            <a:avLst/>
          </a:prstGeom>
        </p:spPr>
      </p:pic>
    </p:spTree>
    <p:extLst>
      <p:ext uri="{BB962C8B-B14F-4D97-AF65-F5344CB8AC3E}">
        <p14:creationId xmlns:p14="http://schemas.microsoft.com/office/powerpoint/2010/main" val="1297738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Baptist Health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print">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Baptist Health</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print">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16</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201424"/>
          </a:xfrm>
          <a:prstGeom prst="rect">
            <a:avLst/>
          </a:prstGeom>
        </p:spPr>
        <p:txBody>
          <a:bodyPr wrap="square">
            <a:spAutoFit/>
          </a:bodyPr>
          <a:lstStyle/>
          <a:p>
            <a:pPr>
              <a:spcAft>
                <a:spcPts val="1200"/>
              </a:spcAft>
            </a:pPr>
            <a:r>
              <a:rPr lang="en-US" b="1" cap="all" dirty="0">
                <a:solidFill>
                  <a:srgbClr val="000B2E"/>
                </a:solidFill>
              </a:rPr>
              <a:t>Baptist health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are part of your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a:t>
            </a:r>
            <a:r>
              <a:rPr lang="en-US" dirty="0">
                <a:solidFill>
                  <a:schemeClr val="tx1">
                    <a:lumMod val="75000"/>
                    <a:lumOff val="25000"/>
                  </a:schemeClr>
                </a:solidFill>
                <a:highlight>
                  <a:srgbClr val="FFFF00"/>
                </a:highlight>
              </a:rPr>
              <a:t>gain</a:t>
            </a:r>
            <a:r>
              <a:rPr lang="en-US" dirty="0">
                <a:solidFill>
                  <a:schemeClr val="tx1">
                    <a:lumMod val="75000"/>
                    <a:lumOff val="25000"/>
                  </a:schemeClr>
                </a:solidFill>
              </a:rPr>
              <a:t> share distribution! </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direction of Baptist 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 OF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BHS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695881639"/>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DCA04CCA-0A73-323F-55DE-89B35F1809AE}"/>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p:blipFill>
        <p:spPr bwMode="auto">
          <a:xfrm>
            <a:off x="9598392" y="4227968"/>
            <a:ext cx="1201334" cy="283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0" y="-1833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Our population health management processes have been proven effective regardless of network affiliation or contracts</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If Baptist Health’s DTE program does nothing more than utilize our proven population health processes, this will be your result:</a:t>
            </a:r>
          </a:p>
          <a:p>
            <a:pPr marL="828685" lvl="1" indent="-342905" defTabSz="914411">
              <a:lnSpc>
                <a:spcPct val="90000"/>
              </a:lnSpc>
              <a:spcAft>
                <a:spcPts val="1200"/>
              </a:spcAft>
              <a:buClr>
                <a:schemeClr val="bg1"/>
              </a:buClr>
              <a:buFont typeface="Arial" panose="020B0604020202020204" pitchFamily="34" charset="0"/>
              <a:buChar char="•"/>
            </a:pPr>
            <a:r>
              <a:rPr lang="en-US" sz="2000" dirty="0">
                <a:solidFill>
                  <a:schemeClr val="bg1"/>
                </a:solidFill>
              </a:rPr>
              <a:t>Greater Completion Rates for Standards of Care for the Chronically Ill</a:t>
            </a:r>
          </a:p>
          <a:p>
            <a:pPr marL="828685" lvl="1" indent="-342905" defTabSz="914411">
              <a:lnSpc>
                <a:spcPct val="90000"/>
              </a:lnSpc>
              <a:spcAft>
                <a:spcPts val="1200"/>
              </a:spcAft>
              <a:buClr>
                <a:schemeClr val="bg1"/>
              </a:buClr>
              <a:buFont typeface="Arial" panose="020B0604020202020204" pitchFamily="34" charset="0"/>
              <a:buChar char="•"/>
            </a:pPr>
            <a:r>
              <a:rPr lang="en-US" sz="2000" dirty="0">
                <a:solidFill>
                  <a:schemeClr val="bg1"/>
                </a:solidFill>
              </a:rPr>
              <a:t>Reduced Employer Spend Regardless of the Contract Rates</a:t>
            </a:r>
          </a:p>
          <a:p>
            <a:pPr marL="828685" lvl="1" indent="-342905" defTabSz="914411">
              <a:lnSpc>
                <a:spcPct val="90000"/>
              </a:lnSpc>
              <a:spcAft>
                <a:spcPts val="1200"/>
              </a:spcAft>
              <a:buClr>
                <a:schemeClr val="bg1"/>
              </a:buClr>
              <a:buFont typeface="Arial" panose="020B0604020202020204" pitchFamily="34" charset="0"/>
              <a:buChar char="•"/>
            </a:pPr>
            <a:r>
              <a:rPr lang="en-US" sz="2000" b="1" dirty="0">
                <a:solidFill>
                  <a:schemeClr val="bg1"/>
                </a:solidFill>
              </a:rPr>
              <a:t>Quantifiable 11%-17% in Reduced Employer Health Plan Costs</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Baptist Health’s managed care processes will only turbocharge the overall results – Truly Transformative in the Market Place</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530578" y="689833"/>
            <a:ext cx="3053314" cy="2504922"/>
          </a:xfrm>
        </p:spPr>
        <p:txBody>
          <a:bodyPr vert="horz" lIns="91440" tIns="45720" rIns="91440" bIns="45720" rtlCol="0" anchor="t">
            <a:normAutofit fontScale="90000"/>
          </a:bodyPr>
          <a:lstStyle/>
          <a:p>
            <a:r>
              <a:rPr lang="en-US" sz="3600" cap="all" dirty="0">
                <a:solidFill>
                  <a:schemeClr val="bg1"/>
                </a:solidFill>
              </a:rPr>
              <a:t>Your Partner IN POPULATION HEALTH</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Baptist Health </a:t>
            </a:r>
            <a:r>
              <a:rPr lang="en-US" sz="2400" b="1" cap="small" dirty="0">
                <a:solidFill>
                  <a:srgbClr val="000B2E"/>
                </a:solidFill>
              </a:rPr>
              <a:t>CAN PROMOTE THESE RESULTS FOR YOUR OWN PROGRAM FROM DAY ONE!!</a:t>
            </a:r>
          </a:p>
        </p:txBody>
      </p:sp>
      <p:grpSp>
        <p:nvGrpSpPr>
          <p:cNvPr id="11" name="Group 10">
            <a:extLst>
              <a:ext uri="{FF2B5EF4-FFF2-40B4-BE49-F238E27FC236}">
                <a16:creationId xmlns:a16="http://schemas.microsoft.com/office/drawing/2014/main" id="{64927658-C8B4-4AE5-8522-21AFC8A5E865}"/>
              </a:ext>
            </a:extLst>
          </p:cNvPr>
          <p:cNvGrpSpPr/>
          <p:nvPr/>
        </p:nvGrpSpPr>
        <p:grpSpPr>
          <a:xfrm>
            <a:off x="415510" y="3519985"/>
            <a:ext cx="3283450" cy="2966192"/>
            <a:chOff x="4703781" y="1634723"/>
            <a:chExt cx="5153961" cy="4655967"/>
          </a:xfrm>
          <a:effectLst>
            <a:outerShdw blurRad="50800" dist="38100" dir="2700000" algn="tl" rotWithShape="0">
              <a:prstClr val="black">
                <a:alpha val="40000"/>
              </a:prstClr>
            </a:outerShdw>
          </a:effectLst>
        </p:grpSpPr>
        <p:sp>
          <p:nvSpPr>
            <p:cNvPr id="12" name="Freeform: Shape 11">
              <a:extLst>
                <a:ext uri="{FF2B5EF4-FFF2-40B4-BE49-F238E27FC236}">
                  <a16:creationId xmlns:a16="http://schemas.microsoft.com/office/drawing/2014/main" id="{CC7E1DE5-B251-4D86-B35B-C6F84DA3BDAC}"/>
                </a:ext>
              </a:extLst>
            </p:cNvPr>
            <p:cNvSpPr/>
            <p:nvPr/>
          </p:nvSpPr>
          <p:spPr>
            <a:xfrm>
              <a:off x="4703781" y="2358770"/>
              <a:ext cx="5153961" cy="3931920"/>
            </a:xfrm>
            <a:custGeom>
              <a:avLst/>
              <a:gdLst>
                <a:gd name="connsiteX0" fmla="*/ 1965960 w 5153961"/>
                <a:gd name="connsiteY0" fmla="*/ 0 h 3931920"/>
                <a:gd name="connsiteX1" fmla="*/ 3921770 w 5153961"/>
                <a:gd name="connsiteY1" fmla="*/ 1764952 h 3931920"/>
                <a:gd name="connsiteX2" fmla="*/ 3925790 w 5153961"/>
                <a:gd name="connsiteY2" fmla="*/ 1844571 h 3931920"/>
                <a:gd name="connsiteX3" fmla="*/ 4938190 w 5153961"/>
                <a:gd name="connsiteY3" fmla="*/ 1844571 h 3931920"/>
                <a:gd name="connsiteX4" fmla="*/ 5153961 w 5153961"/>
                <a:gd name="connsiteY4" fmla="*/ 2060343 h 3931920"/>
                <a:gd name="connsiteX5" fmla="*/ 4938190 w 5153961"/>
                <a:gd name="connsiteY5" fmla="*/ 2276114 h 3931920"/>
                <a:gd name="connsiteX6" fmla="*/ 3905112 w 5153961"/>
                <a:gd name="connsiteY6" fmla="*/ 2276114 h 3931920"/>
                <a:gd name="connsiteX7" fmla="*/ 3891979 w 5153961"/>
                <a:gd name="connsiteY7" fmla="*/ 2362170 h 3931920"/>
                <a:gd name="connsiteX8" fmla="*/ 1965960 w 5153961"/>
                <a:gd name="connsiteY8" fmla="*/ 3931920 h 3931920"/>
                <a:gd name="connsiteX9" fmla="*/ 0 w 5153961"/>
                <a:gd name="connsiteY9" fmla="*/ 1965960 h 3931920"/>
                <a:gd name="connsiteX10" fmla="*/ 1965960 w 5153961"/>
                <a:gd name="connsiteY10" fmla="*/ 0 h 3931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53961" h="3931920">
                  <a:moveTo>
                    <a:pt x="1965960" y="0"/>
                  </a:moveTo>
                  <a:cubicBezTo>
                    <a:pt x="2983870" y="0"/>
                    <a:pt x="3821093" y="773605"/>
                    <a:pt x="3921770" y="1764952"/>
                  </a:cubicBezTo>
                  <a:lnTo>
                    <a:pt x="3925790" y="1844571"/>
                  </a:lnTo>
                  <a:lnTo>
                    <a:pt x="4938190" y="1844571"/>
                  </a:lnTo>
                  <a:lnTo>
                    <a:pt x="5153961" y="2060343"/>
                  </a:lnTo>
                  <a:lnTo>
                    <a:pt x="4938190" y="2276114"/>
                  </a:lnTo>
                  <a:lnTo>
                    <a:pt x="3905112" y="2276114"/>
                  </a:lnTo>
                  <a:lnTo>
                    <a:pt x="3891979" y="2362170"/>
                  </a:lnTo>
                  <a:cubicBezTo>
                    <a:pt x="3708660" y="3258025"/>
                    <a:pt x="2916009" y="3931920"/>
                    <a:pt x="1965960" y="3931920"/>
                  </a:cubicBezTo>
                  <a:cubicBezTo>
                    <a:pt x="880190" y="3931920"/>
                    <a:pt x="0" y="3051730"/>
                    <a:pt x="0" y="1965960"/>
                  </a:cubicBezTo>
                  <a:cubicBezTo>
                    <a:pt x="0" y="880190"/>
                    <a:pt x="880190" y="0"/>
                    <a:pt x="1965960" y="0"/>
                  </a:cubicBezTo>
                  <a:close/>
                </a:path>
              </a:pathLst>
            </a:custGeom>
            <a:solidFill>
              <a:srgbClr val="61A606"/>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BC7B9F41-BE56-4A64-A790-37BD7466EAC1}"/>
                </a:ext>
              </a:extLst>
            </p:cNvPr>
            <p:cNvSpPr/>
            <p:nvPr/>
          </p:nvSpPr>
          <p:spPr>
            <a:xfrm>
              <a:off x="5160980" y="2507998"/>
              <a:ext cx="3812657" cy="3298433"/>
            </a:xfrm>
            <a:custGeom>
              <a:avLst/>
              <a:gdLst>
                <a:gd name="connsiteX0" fmla="*/ 3509732 w 3812657"/>
                <a:gd name="connsiteY0" fmla="*/ 0 h 3298433"/>
                <a:gd name="connsiteX1" fmla="*/ 3812657 w 3812657"/>
                <a:gd name="connsiteY1" fmla="*/ 36764 h 3298433"/>
                <a:gd name="connsiteX2" fmla="*/ 3775894 w 3812657"/>
                <a:gd name="connsiteY2" fmla="*/ 339688 h 3298433"/>
                <a:gd name="connsiteX3" fmla="*/ 2837549 w 3812657"/>
                <a:gd name="connsiteY3" fmla="*/ 1074927 h 3298433"/>
                <a:gd name="connsiteX4" fmla="*/ 2898954 w 3812657"/>
                <a:gd name="connsiteY4" fmla="*/ 1202396 h 3298433"/>
                <a:gd name="connsiteX5" fmla="*/ 3017520 w 3812657"/>
                <a:gd name="connsiteY5" fmla="*/ 1789673 h 3298433"/>
                <a:gd name="connsiteX6" fmla="*/ 1508760 w 3812657"/>
                <a:gd name="connsiteY6" fmla="*/ 3298433 h 3298433"/>
                <a:gd name="connsiteX7" fmla="*/ 0 w 3812657"/>
                <a:gd name="connsiteY7" fmla="*/ 1789673 h 3298433"/>
                <a:gd name="connsiteX8" fmla="*/ 1508760 w 3812657"/>
                <a:gd name="connsiteY8" fmla="*/ 280913 h 3298433"/>
                <a:gd name="connsiteX9" fmla="*/ 2575615 w 3812657"/>
                <a:gd name="connsiteY9" fmla="*/ 722819 h 3298433"/>
                <a:gd name="connsiteX10" fmla="*/ 2580450 w 3812657"/>
                <a:gd name="connsiteY10" fmla="*/ 728139 h 329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2657" h="3298433">
                  <a:moveTo>
                    <a:pt x="3509732" y="0"/>
                  </a:moveTo>
                  <a:lnTo>
                    <a:pt x="3812657" y="36764"/>
                  </a:lnTo>
                  <a:lnTo>
                    <a:pt x="3775894" y="339688"/>
                  </a:lnTo>
                  <a:lnTo>
                    <a:pt x="2837549" y="1074927"/>
                  </a:lnTo>
                  <a:lnTo>
                    <a:pt x="2898954" y="1202396"/>
                  </a:lnTo>
                  <a:cubicBezTo>
                    <a:pt x="2975302" y="1382901"/>
                    <a:pt x="3017520" y="1581357"/>
                    <a:pt x="3017520" y="1789673"/>
                  </a:cubicBezTo>
                  <a:cubicBezTo>
                    <a:pt x="3017520" y="2622938"/>
                    <a:pt x="2342025" y="3298433"/>
                    <a:pt x="1508760" y="3298433"/>
                  </a:cubicBezTo>
                  <a:cubicBezTo>
                    <a:pt x="675495" y="3298433"/>
                    <a:pt x="0" y="2622938"/>
                    <a:pt x="0" y="1789673"/>
                  </a:cubicBezTo>
                  <a:cubicBezTo>
                    <a:pt x="0" y="956408"/>
                    <a:pt x="675495" y="280913"/>
                    <a:pt x="1508760" y="280913"/>
                  </a:cubicBezTo>
                  <a:cubicBezTo>
                    <a:pt x="1925393" y="280913"/>
                    <a:pt x="2302583" y="449787"/>
                    <a:pt x="2575615" y="722819"/>
                  </a:cubicBezTo>
                  <a:lnTo>
                    <a:pt x="2580450" y="728139"/>
                  </a:lnTo>
                  <a:close/>
                </a:path>
              </a:pathLst>
            </a:custGeom>
            <a:solidFill>
              <a:srgbClr val="019CA5"/>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CC128022-076E-41BE-A355-2BDF9D741879}"/>
                </a:ext>
              </a:extLst>
            </p:cNvPr>
            <p:cNvSpPr/>
            <p:nvPr/>
          </p:nvSpPr>
          <p:spPr>
            <a:xfrm>
              <a:off x="5755341" y="1634723"/>
              <a:ext cx="1828800" cy="3577348"/>
            </a:xfrm>
            <a:custGeom>
              <a:avLst/>
              <a:gdLst>
                <a:gd name="connsiteX0" fmla="*/ 914400 w 1828800"/>
                <a:gd name="connsiteY0" fmla="*/ 0 h 3577348"/>
                <a:gd name="connsiteX1" fmla="*/ 1130171 w 1828800"/>
                <a:gd name="connsiteY1" fmla="*/ 215771 h 3577348"/>
                <a:gd name="connsiteX2" fmla="*/ 1130171 w 1828800"/>
                <a:gd name="connsiteY2" fmla="*/ 1776900 h 3577348"/>
                <a:gd name="connsiteX3" fmla="*/ 1270326 w 1828800"/>
                <a:gd name="connsiteY3" fmla="*/ 1820406 h 3577348"/>
                <a:gd name="connsiteX4" fmla="*/ 1828800 w 1828800"/>
                <a:gd name="connsiteY4" fmla="*/ 2662948 h 3577348"/>
                <a:gd name="connsiteX5" fmla="*/ 914400 w 1828800"/>
                <a:gd name="connsiteY5" fmla="*/ 3577348 h 3577348"/>
                <a:gd name="connsiteX6" fmla="*/ 0 w 1828800"/>
                <a:gd name="connsiteY6" fmla="*/ 2662948 h 3577348"/>
                <a:gd name="connsiteX7" fmla="*/ 558475 w 1828800"/>
                <a:gd name="connsiteY7" fmla="*/ 1820406 h 3577348"/>
                <a:gd name="connsiteX8" fmla="*/ 698628 w 1828800"/>
                <a:gd name="connsiteY8" fmla="*/ 1776900 h 3577348"/>
                <a:gd name="connsiteX9" fmla="*/ 698628 w 1828800"/>
                <a:gd name="connsiteY9" fmla="*/ 215771 h 357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800" h="3577348">
                  <a:moveTo>
                    <a:pt x="914400" y="0"/>
                  </a:moveTo>
                  <a:lnTo>
                    <a:pt x="1130171" y="215771"/>
                  </a:lnTo>
                  <a:lnTo>
                    <a:pt x="1130171" y="1776900"/>
                  </a:lnTo>
                  <a:lnTo>
                    <a:pt x="1270326" y="1820406"/>
                  </a:lnTo>
                  <a:cubicBezTo>
                    <a:pt x="1598518" y="1959220"/>
                    <a:pt x="1828800" y="2284191"/>
                    <a:pt x="1828800" y="2662948"/>
                  </a:cubicBezTo>
                  <a:cubicBezTo>
                    <a:pt x="1828800" y="3167957"/>
                    <a:pt x="1419409" y="3577348"/>
                    <a:pt x="914400" y="3577348"/>
                  </a:cubicBezTo>
                  <a:cubicBezTo>
                    <a:pt x="409391" y="3577348"/>
                    <a:pt x="0" y="3167957"/>
                    <a:pt x="0" y="2662948"/>
                  </a:cubicBezTo>
                  <a:cubicBezTo>
                    <a:pt x="0" y="2284191"/>
                    <a:pt x="230283" y="1959220"/>
                    <a:pt x="558475" y="1820406"/>
                  </a:cubicBezTo>
                  <a:lnTo>
                    <a:pt x="698628" y="1776900"/>
                  </a:lnTo>
                  <a:lnTo>
                    <a:pt x="698628" y="215771"/>
                  </a:lnTo>
                  <a:close/>
                </a:path>
              </a:pathLst>
            </a:custGeom>
            <a:solidFill>
              <a:srgbClr val="59CAE8"/>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extBox 14">
              <a:extLst>
                <a:ext uri="{FF2B5EF4-FFF2-40B4-BE49-F238E27FC236}">
                  <a16:creationId xmlns:a16="http://schemas.microsoft.com/office/drawing/2014/main" id="{36D0F9FB-8E21-4A59-9F0B-6252FFDD31A8}"/>
                </a:ext>
              </a:extLst>
            </p:cNvPr>
            <p:cNvSpPr txBox="1"/>
            <p:nvPr/>
          </p:nvSpPr>
          <p:spPr>
            <a:xfrm>
              <a:off x="5895300" y="3653707"/>
              <a:ext cx="1548882" cy="1401019"/>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cs typeface="Arial" panose="020B0604020202020204" pitchFamily="34" charset="0"/>
                </a:rPr>
                <a:t>20%</a:t>
              </a:r>
            </a:p>
            <a:p>
              <a:pPr algn="ctr"/>
              <a:r>
                <a:rPr lang="en-US" sz="1200" dirty="0">
                  <a:solidFill>
                    <a:schemeClr val="bg1"/>
                  </a:solidFill>
                </a:rPr>
                <a:t>Driving</a:t>
              </a:r>
            </a:p>
            <a:p>
              <a:pPr algn="ctr"/>
              <a:r>
                <a:rPr lang="en-US" sz="1400" b="1" dirty="0">
                  <a:solidFill>
                    <a:schemeClr val="bg1"/>
                  </a:solidFill>
                  <a:latin typeface="Arial" panose="020B0604020202020204" pitchFamily="34" charset="0"/>
                  <a:cs typeface="Arial" panose="020B0604020202020204" pitchFamily="34" charset="0"/>
                </a:rPr>
                <a:t>80% </a:t>
              </a:r>
            </a:p>
            <a:p>
              <a:pPr algn="ctr"/>
              <a:r>
                <a:rPr lang="en-US" sz="1200" dirty="0">
                  <a:solidFill>
                    <a:schemeClr val="bg1"/>
                  </a:solidFill>
                </a:rPr>
                <a:t>of Cost</a:t>
              </a:r>
            </a:p>
          </p:txBody>
        </p:sp>
      </p:grpSp>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A1E786-80E3-4086-A822-161ED0B972BD}"/>
              </a:ext>
            </a:extLst>
          </p:cNvPr>
          <p:cNvSpPr/>
          <p:nvPr/>
        </p:nvSpPr>
        <p:spPr>
          <a:xfrm>
            <a:off x="0" y="1"/>
            <a:ext cx="12192000" cy="6857999"/>
          </a:xfrm>
          <a:prstGeom prst="rect">
            <a:avLst/>
          </a:prstGeom>
          <a:solidFill>
            <a:srgbClr val="244F9A"/>
          </a:solidFill>
        </p:spPr>
        <p:txBody>
          <a:bodyPr wrap="square">
            <a:noAutofit/>
          </a:bodyPr>
          <a:lstStyle/>
          <a:p>
            <a:pPr algn="ctr"/>
            <a:r>
              <a:rPr lang="en-US" b="1" cap="all" spc="300" dirty="0">
                <a:solidFill>
                  <a:srgbClr val="FFFFFF"/>
                </a:solidFill>
              </a:rPr>
              <a:t>ACTIONABLE ANALYTICS BASED UPON SEVERITY OF ILLNESS AND GAPS IN CARE</a:t>
            </a:r>
          </a:p>
          <a:p>
            <a:pPr algn="ctr"/>
            <a:r>
              <a:rPr lang="en-US" dirty="0">
                <a:solidFill>
                  <a:srgbClr val="FFFFFF"/>
                </a:solidFill>
              </a:rPr>
              <a:t>All data available to Baptist Health</a:t>
            </a:r>
            <a:endParaRPr lang="en-US" dirty="0"/>
          </a:p>
        </p:txBody>
      </p:sp>
      <p:grpSp>
        <p:nvGrpSpPr>
          <p:cNvPr id="18" name="Group 17">
            <a:extLst>
              <a:ext uri="{FF2B5EF4-FFF2-40B4-BE49-F238E27FC236}">
                <a16:creationId xmlns:a16="http://schemas.microsoft.com/office/drawing/2014/main" id="{BE7E8AA3-6686-4683-863D-039F4B9F4ECF}"/>
              </a:ext>
            </a:extLst>
          </p:cNvPr>
          <p:cNvGrpSpPr/>
          <p:nvPr/>
        </p:nvGrpSpPr>
        <p:grpSpPr>
          <a:xfrm>
            <a:off x="1567178" y="715711"/>
            <a:ext cx="9057640" cy="5400675"/>
            <a:chOff x="1567178" y="1319078"/>
            <a:chExt cx="9057640" cy="5400675"/>
          </a:xfrm>
        </p:grpSpPr>
        <p:pic>
          <p:nvPicPr>
            <p:cNvPr id="7" name="Picture 6">
              <a:extLst>
                <a:ext uri="{FF2B5EF4-FFF2-40B4-BE49-F238E27FC236}">
                  <a16:creationId xmlns:a16="http://schemas.microsoft.com/office/drawing/2014/main" id="{17377C34-25B9-4425-A9D0-632127AD8249}"/>
                </a:ext>
              </a:extLst>
            </p:cNvPr>
            <p:cNvPicPr/>
            <p:nvPr/>
          </p:nvPicPr>
          <p:blipFill>
            <a:blip r:embed="rId2">
              <a:extLst>
                <a:ext uri="{28A0092B-C50C-407E-A947-70E740481C1C}">
                  <a14:useLocalDpi xmlns:a14="http://schemas.microsoft.com/office/drawing/2010/main"/>
                </a:ext>
              </a:extLst>
            </a:blip>
            <a:stretch>
              <a:fillRect/>
            </a:stretch>
          </p:blipFill>
          <p:spPr>
            <a:xfrm>
              <a:off x="1567178" y="1319078"/>
              <a:ext cx="9057640" cy="5400675"/>
            </a:xfrm>
            <a:prstGeom prst="rect">
              <a:avLst/>
            </a:prstGeom>
          </p:spPr>
        </p:pic>
        <p:sp>
          <p:nvSpPr>
            <p:cNvPr id="11" name="Rectangle 10">
              <a:extLst>
                <a:ext uri="{FF2B5EF4-FFF2-40B4-BE49-F238E27FC236}">
                  <a16:creationId xmlns:a16="http://schemas.microsoft.com/office/drawing/2014/main" id="{BD91CA6F-7193-4C55-81B2-D73039FE2B3E}"/>
                </a:ext>
              </a:extLst>
            </p:cNvPr>
            <p:cNvSpPr/>
            <p:nvPr/>
          </p:nvSpPr>
          <p:spPr>
            <a:xfrm>
              <a:off x="5023945" y="2879834"/>
              <a:ext cx="5370784" cy="283780"/>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2B6CC832-77C3-4E6A-8D26-6F422247D41E}"/>
                </a:ext>
              </a:extLst>
            </p:cNvPr>
            <p:cNvSpPr/>
            <p:nvPr/>
          </p:nvSpPr>
          <p:spPr>
            <a:xfrm>
              <a:off x="5023945" y="3673391"/>
              <a:ext cx="2543504" cy="131353"/>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2E074EC1-9219-490A-9E38-4C2A7C3F3754}"/>
                </a:ext>
              </a:extLst>
            </p:cNvPr>
            <p:cNvSpPr/>
            <p:nvPr/>
          </p:nvSpPr>
          <p:spPr>
            <a:xfrm>
              <a:off x="7851225" y="3804744"/>
              <a:ext cx="2543504"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AE90F4AD-BE15-4925-A5D5-EDCEFF21D8A4}"/>
                </a:ext>
              </a:extLst>
            </p:cNvPr>
            <p:cNvSpPr/>
            <p:nvPr/>
          </p:nvSpPr>
          <p:spPr>
            <a:xfrm>
              <a:off x="1619728" y="3916437"/>
              <a:ext cx="3125692"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grpSp>
      <p:sp>
        <p:nvSpPr>
          <p:cNvPr id="3" name="Speech Bubble: Rectangle 2">
            <a:extLst>
              <a:ext uri="{FF2B5EF4-FFF2-40B4-BE49-F238E27FC236}">
                <a16:creationId xmlns:a16="http://schemas.microsoft.com/office/drawing/2014/main" id="{B9C9D577-CEBE-4AC8-923F-BA769D4BB565}"/>
              </a:ext>
            </a:extLst>
          </p:cNvPr>
          <p:cNvSpPr/>
          <p:nvPr/>
        </p:nvSpPr>
        <p:spPr>
          <a:xfrm>
            <a:off x="200549" y="1052042"/>
            <a:ext cx="1166080" cy="1773591"/>
          </a:xfrm>
          <a:prstGeom prst="wedgeRectCallout">
            <a:avLst>
              <a:gd name="adj1" fmla="val 72005"/>
              <a:gd name="adj2" fmla="val -20467"/>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All Patient, Provider, and Location Data Regardless of Network Affiliation  </a:t>
            </a:r>
          </a:p>
        </p:txBody>
      </p:sp>
      <p:sp>
        <p:nvSpPr>
          <p:cNvPr id="9" name="Speech Bubble: Rectangle 8">
            <a:extLst>
              <a:ext uri="{FF2B5EF4-FFF2-40B4-BE49-F238E27FC236}">
                <a16:creationId xmlns:a16="http://schemas.microsoft.com/office/drawing/2014/main" id="{23E0A51F-5DA6-4A3F-8D20-0C13E6E9FAFA}"/>
              </a:ext>
            </a:extLst>
          </p:cNvPr>
          <p:cNvSpPr/>
          <p:nvPr/>
        </p:nvSpPr>
        <p:spPr>
          <a:xfrm>
            <a:off x="10825367" y="1643233"/>
            <a:ext cx="1197614" cy="738339"/>
          </a:xfrm>
          <a:prstGeom prst="wedgeRectCallout">
            <a:avLst>
              <a:gd name="adj1" fmla="val -76447"/>
              <a:gd name="adj2" fmla="val 35320"/>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Identify the sickest of the sick</a:t>
            </a:r>
          </a:p>
        </p:txBody>
      </p:sp>
      <p:sp>
        <p:nvSpPr>
          <p:cNvPr id="12" name="Speech Bubble: Rectangle 11">
            <a:extLst>
              <a:ext uri="{FF2B5EF4-FFF2-40B4-BE49-F238E27FC236}">
                <a16:creationId xmlns:a16="http://schemas.microsoft.com/office/drawing/2014/main" id="{99C9C8C9-BC21-4EF2-BCCF-61138AF197CA}"/>
              </a:ext>
            </a:extLst>
          </p:cNvPr>
          <p:cNvSpPr/>
          <p:nvPr/>
        </p:nvSpPr>
        <p:spPr>
          <a:xfrm>
            <a:off x="3841105" y="5880172"/>
            <a:ext cx="1566042" cy="885482"/>
          </a:xfrm>
          <a:prstGeom prst="wedgeRectCallout">
            <a:avLst>
              <a:gd name="adj1" fmla="val 36269"/>
              <a:gd name="adj2" fmla="val -136788"/>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Regimens of Care for Chronic Illnesses</a:t>
            </a:r>
          </a:p>
        </p:txBody>
      </p:sp>
      <p:sp>
        <p:nvSpPr>
          <p:cNvPr id="15" name="Speech Bubble: Rectangle 14">
            <a:extLst>
              <a:ext uri="{FF2B5EF4-FFF2-40B4-BE49-F238E27FC236}">
                <a16:creationId xmlns:a16="http://schemas.microsoft.com/office/drawing/2014/main" id="{B2C42829-971C-4412-819E-B9C8B2DE95F5}"/>
              </a:ext>
            </a:extLst>
          </p:cNvPr>
          <p:cNvSpPr/>
          <p:nvPr/>
        </p:nvSpPr>
        <p:spPr>
          <a:xfrm>
            <a:off x="10800007" y="2996396"/>
            <a:ext cx="1191444" cy="1849822"/>
          </a:xfrm>
          <a:prstGeom prst="wedgeRectCallout">
            <a:avLst>
              <a:gd name="adj1" fmla="val -76411"/>
              <a:gd name="adj2" fmla="val -20782"/>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Monitor Compliance with Nurse Coaching and Triage to Providers</a:t>
            </a:r>
          </a:p>
        </p:txBody>
      </p:sp>
      <p:sp>
        <p:nvSpPr>
          <p:cNvPr id="14" name="Speech Bubble: Rectangle 13">
            <a:extLst>
              <a:ext uri="{FF2B5EF4-FFF2-40B4-BE49-F238E27FC236}">
                <a16:creationId xmlns:a16="http://schemas.microsoft.com/office/drawing/2014/main" id="{9BA67BD1-7D54-4D98-B3FF-4D310F8932AA}"/>
              </a:ext>
            </a:extLst>
          </p:cNvPr>
          <p:cNvSpPr/>
          <p:nvPr/>
        </p:nvSpPr>
        <p:spPr>
          <a:xfrm>
            <a:off x="200549" y="3454963"/>
            <a:ext cx="1166080" cy="1912883"/>
          </a:xfrm>
          <a:prstGeom prst="wedgeRectCallout">
            <a:avLst>
              <a:gd name="adj1" fmla="val 72005"/>
              <a:gd name="adj2" fmla="val -20467"/>
            </a:avLst>
          </a:prstGeom>
          <a:solidFill>
            <a:srgbClr val="59CAE8">
              <a:alpha val="71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Identify Every Chronic Condition by Patient for Intervention</a:t>
            </a:r>
          </a:p>
        </p:txBody>
      </p:sp>
      <p:sp>
        <p:nvSpPr>
          <p:cNvPr id="2" name="Footer Placeholder 1">
            <a:extLst>
              <a:ext uri="{FF2B5EF4-FFF2-40B4-BE49-F238E27FC236}">
                <a16:creationId xmlns:a16="http://schemas.microsoft.com/office/drawing/2014/main" id="{BCD0416D-DA68-4454-8941-57609268D905}"/>
              </a:ext>
            </a:extLst>
          </p:cNvPr>
          <p:cNvSpPr>
            <a:spLocks noGrp="1"/>
          </p:cNvSpPr>
          <p:nvPr>
            <p:ph type="ftr" sz="quarter" idx="11"/>
          </p:nvPr>
        </p:nvSpPr>
        <p:spPr>
          <a:xfrm>
            <a:off x="5793825" y="6307509"/>
            <a:ext cx="4114800" cy="365125"/>
          </a:xfrm>
        </p:spPr>
        <p:txBody>
          <a:bodyPr/>
          <a:lstStyle/>
          <a:p>
            <a:pPr algn="l"/>
            <a:r>
              <a:rPr lang="en-US" spc="300" dirty="0">
                <a:solidFill>
                  <a:schemeClr val="tx1">
                    <a:lumMod val="75000"/>
                    <a:lumOff val="25000"/>
                  </a:schemeClr>
                </a:solidFill>
              </a:rPr>
              <a:t>Key Benefit Administrators</a:t>
            </a:r>
          </a:p>
        </p:txBody>
      </p:sp>
      <p:sp>
        <p:nvSpPr>
          <p:cNvPr id="4" name="Slide Number Placeholder 3">
            <a:extLst>
              <a:ext uri="{FF2B5EF4-FFF2-40B4-BE49-F238E27FC236}">
                <a16:creationId xmlns:a16="http://schemas.microsoft.com/office/drawing/2014/main" id="{FAD6E8A8-C8D4-4941-8541-74F6A1B7F1BC}"/>
              </a:ext>
            </a:extLst>
          </p:cNvPr>
          <p:cNvSpPr>
            <a:spLocks noGrp="1"/>
          </p:cNvSpPr>
          <p:nvPr>
            <p:ph type="sldNum" sz="quarter" idx="12"/>
          </p:nvPr>
        </p:nvSpPr>
        <p:spPr>
          <a:xfrm>
            <a:off x="9285018" y="6311396"/>
            <a:ext cx="2743200" cy="365125"/>
          </a:xfrm>
        </p:spPr>
        <p:txBody>
          <a:bodyPr/>
          <a:lstStyle/>
          <a:p>
            <a:pPr algn="r"/>
            <a:fld id="{C41B7D62-7D4B-4EC0-9445-56A6951E1D90}" type="slidenum">
              <a:rPr lang="en-US" smtClean="0">
                <a:solidFill>
                  <a:schemeClr val="tx1">
                    <a:lumMod val="75000"/>
                    <a:lumOff val="25000"/>
                  </a:schemeClr>
                </a:solidFill>
              </a:rPr>
              <a:pPr algn="r"/>
              <a:t>19</a:t>
            </a:fld>
            <a:endParaRPr lang="en-US" dirty="0">
              <a:solidFill>
                <a:schemeClr val="tx1">
                  <a:lumMod val="75000"/>
                  <a:lumOff val="25000"/>
                </a:schemeClr>
              </a:solidFill>
            </a:endParaRPr>
          </a:p>
        </p:txBody>
      </p:sp>
    </p:spTree>
    <p:extLst>
      <p:ext uri="{BB962C8B-B14F-4D97-AF65-F5344CB8AC3E}">
        <p14:creationId xmlns:p14="http://schemas.microsoft.com/office/powerpoint/2010/main" val="3174320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altLang="en-US" dirty="0">
              <a:solidFill>
                <a:schemeClr val="bg1"/>
              </a:solidFill>
            </a:endParaRPr>
          </a:p>
          <a:p>
            <a:pPr>
              <a:spcBef>
                <a:spcPct val="0"/>
              </a:spcBef>
              <a:buClrTx/>
              <a:buSzTx/>
              <a:buFontTx/>
              <a:buNone/>
            </a:pPr>
            <a:endParaRPr lang="en-US" altLang="en-US" spc="150" dirty="0">
              <a:solidFill>
                <a:schemeClr val="bg1"/>
              </a:solidFill>
            </a:endParaRPr>
          </a:p>
          <a:p>
            <a:pPr>
              <a:spcBef>
                <a:spcPct val="0"/>
              </a:spcBef>
              <a:buClrTx/>
              <a:buSzTx/>
              <a:buFontTx/>
              <a:buNone/>
            </a:pPr>
            <a:r>
              <a:rPr lang="en-US" sz="1600" spc="120" dirty="0">
                <a:solidFill>
                  <a:srgbClr val="FFFFFF"/>
                </a:solidFill>
                <a:ea typeface="+mj-ea"/>
                <a:cs typeface="+mj-cs"/>
              </a:rPr>
              <a:t>Using Evidence-Based standards of care for 27 chronic conditions and co-morbidities we can directly impact the overall cost of care substantially.  For example, a diabetic that meets the prescribed standards of care for treatment can save a health plan over $6,000 per year over their lifetime (AHDI CDM Comparison of Regimens of Care for Diabetic Patients, 2017-2021). </a:t>
            </a:r>
            <a:br>
              <a:rPr lang="en-US" sz="1600" spc="120" dirty="0">
                <a:solidFill>
                  <a:srgbClr val="FFFFFF"/>
                </a:solidFill>
                <a:ea typeface="+mj-ea"/>
                <a:cs typeface="+mj-cs"/>
              </a:rPr>
            </a:br>
            <a:br>
              <a:rPr lang="en-US" sz="1600" spc="120" dirty="0">
                <a:solidFill>
                  <a:srgbClr val="FFFFFF"/>
                </a:solidFill>
                <a:ea typeface="+mj-ea"/>
                <a:cs typeface="+mj-cs"/>
              </a:rPr>
            </a:br>
            <a:r>
              <a:rPr lang="en-US" sz="1600" b="1" spc="120" dirty="0">
                <a:solidFill>
                  <a:srgbClr val="FFFFFF"/>
                </a:solidFill>
                <a:ea typeface="+mj-ea"/>
                <a:cs typeface="+mj-cs"/>
              </a:rPr>
              <a:t>Good Health is Good Business</a:t>
            </a: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PROVEN POPULATION HEALTH MANAGEMENT</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Baptist 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Baptist 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Baptist Health to create their own PBM program</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Gerber Life Insurance</a:t>
            </a:r>
          </a:p>
          <a:p>
            <a:pPr algn="ctr">
              <a:lnSpc>
                <a:spcPct val="200000"/>
              </a:lnSpc>
            </a:pPr>
            <a:r>
              <a:rPr lang="en-US" dirty="0"/>
              <a:t>Nationwide</a:t>
            </a:r>
          </a:p>
          <a:p>
            <a:pPr algn="ctr">
              <a:lnSpc>
                <a:spcPct val="200000"/>
              </a:lnSpc>
            </a:pPr>
            <a:r>
              <a:rPr lang="en-US" dirty="0"/>
              <a:t>Sirius Group</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909036"/>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a:t>
            </a:r>
          </a:p>
          <a:p>
            <a:pPr marL="285753" indent="-285753">
              <a:spcAft>
                <a:spcPts val="600"/>
              </a:spcAft>
              <a:buFont typeface="Wingdings" panose="05000000000000000000" pitchFamily="2" charset="2"/>
              <a:buChar char="§"/>
            </a:pPr>
            <a:r>
              <a:rPr lang="en-US" dirty="0"/>
              <a:t>KBA performs a comprehensive analysis of each stop-loss partner in order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to ensure proper pricing;</a:t>
            </a:r>
          </a:p>
          <a:p>
            <a:pPr marL="285753" indent="-285753">
              <a:spcAft>
                <a:spcPts val="600"/>
              </a:spcAft>
              <a:buFont typeface="Wingdings" panose="05000000000000000000" pitchFamily="2" charset="2"/>
              <a:buChar char="§"/>
            </a:pPr>
            <a:r>
              <a:rPr lang="en-US" dirty="0"/>
              <a:t>KBA is also evaluated by the stop-loss markets in order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23</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42FB80-C911-47BE-AB6A-45B5849C73D3}"/>
              </a:ext>
            </a:extLst>
          </p:cNvPr>
          <p:cNvSpPr>
            <a:spLocks noGrp="1"/>
          </p:cNvSpPr>
          <p:nvPr>
            <p:ph type="title"/>
          </p:nvPr>
        </p:nvSpPr>
        <p:spPr>
          <a:xfrm>
            <a:off x="6457950" y="1001793"/>
            <a:ext cx="5092462" cy="1325563"/>
          </a:xfrm>
        </p:spPr>
        <p:txBody>
          <a:bodyPr>
            <a:normAutofit/>
          </a:bodyPr>
          <a:lstStyle/>
          <a:p>
            <a:r>
              <a:rPr lang="en-US" sz="3200" dirty="0">
                <a:solidFill>
                  <a:srgbClr val="244F9A"/>
                </a:solidFill>
              </a:rPr>
              <a:t>BENEFITS FOR THE EMPLOYER</a:t>
            </a:r>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Baptist Health </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Tree>
    <p:extLst>
      <p:ext uri="{BB962C8B-B14F-4D97-AF65-F5344CB8AC3E}">
        <p14:creationId xmlns:p14="http://schemas.microsoft.com/office/powerpoint/2010/main" val="1714126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24</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394360"/>
            <a:ext cx="11737910" cy="646331"/>
          </a:xfrm>
          <a:prstGeom prst="rect">
            <a:avLst/>
          </a:prstGeom>
          <a:noFill/>
        </p:spPr>
        <p:txBody>
          <a:bodyPr wrap="square">
            <a:spAutoFit/>
          </a:bodyPr>
          <a:lstStyle/>
          <a:p>
            <a:pPr algn="ctr"/>
            <a:r>
              <a:rPr lang="en-US" sz="1800" spc="200">
                <a:latin typeface="+mj-lt"/>
                <a:cs typeface="+mj-cs"/>
              </a:rPr>
              <a:t>DEMOGRAPHICS</a:t>
            </a:r>
            <a:br>
              <a:rPr lang="en-US" sz="1800" spc="200">
                <a:latin typeface="+mj-lt"/>
                <a:cs typeface="+mj-cs"/>
              </a:rPr>
            </a:br>
            <a:r>
              <a:rPr lang="en-US" sz="1800" spc="200">
                <a:latin typeface="+mj-lt"/>
                <a:cs typeface="+mj-cs"/>
              </a:rPr>
              <a:t>21,000+ Employers       244</a:t>
            </a:r>
            <a:r>
              <a:rPr lang="en-US" sz="1800" spc="200">
                <a:latin typeface="+mj-lt"/>
                <a:cs typeface="+mj-cs"/>
                <a:sym typeface="Wingdings" panose="05000000000000000000" pitchFamily="2" charset="2"/>
              </a:rPr>
              <a:t>,000+ Employees       536,000+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511042" y="775061"/>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457586" y="766384"/>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2" name="Table 1">
            <a:extLst>
              <a:ext uri="{FF2B5EF4-FFF2-40B4-BE49-F238E27FC236}">
                <a16:creationId xmlns:a16="http://schemas.microsoft.com/office/drawing/2014/main" id="{8B2650CC-8DDD-32A4-5087-ABC4146B4E07}"/>
              </a:ext>
            </a:extLst>
          </p:cNvPr>
          <p:cNvGraphicFramePr>
            <a:graphicFrameLocks noGrp="1"/>
          </p:cNvGraphicFramePr>
          <p:nvPr>
            <p:extLst>
              <p:ext uri="{D42A27DB-BD31-4B8C-83A1-F6EECF244321}">
                <p14:modId xmlns:p14="http://schemas.microsoft.com/office/powerpoint/2010/main" val="1373395539"/>
              </p:ext>
            </p:extLst>
          </p:nvPr>
        </p:nvGraphicFramePr>
        <p:xfrm>
          <a:off x="4215189" y="1186606"/>
          <a:ext cx="7749766" cy="3066876"/>
        </p:xfrm>
        <a:graphic>
          <a:graphicData uri="http://schemas.openxmlformats.org/drawingml/2006/table">
            <a:tbl>
              <a:tblPr>
                <a:tableStyleId>{5FD0F851-EC5A-4D38-B0AD-8093EC10F338}</a:tableStyleId>
              </a:tblPr>
              <a:tblGrid>
                <a:gridCol w="2555236">
                  <a:extLst>
                    <a:ext uri="{9D8B030D-6E8A-4147-A177-3AD203B41FA5}">
                      <a16:colId xmlns:a16="http://schemas.microsoft.com/office/drawing/2014/main" val="1276038589"/>
                    </a:ext>
                  </a:extLst>
                </a:gridCol>
                <a:gridCol w="1731510">
                  <a:extLst>
                    <a:ext uri="{9D8B030D-6E8A-4147-A177-3AD203B41FA5}">
                      <a16:colId xmlns:a16="http://schemas.microsoft.com/office/drawing/2014/main" val="3117790426"/>
                    </a:ext>
                  </a:extLst>
                </a:gridCol>
                <a:gridCol w="1731510">
                  <a:extLst>
                    <a:ext uri="{9D8B030D-6E8A-4147-A177-3AD203B41FA5}">
                      <a16:colId xmlns:a16="http://schemas.microsoft.com/office/drawing/2014/main" val="167344824"/>
                    </a:ext>
                  </a:extLst>
                </a:gridCol>
                <a:gridCol w="1731510">
                  <a:extLst>
                    <a:ext uri="{9D8B030D-6E8A-4147-A177-3AD203B41FA5}">
                      <a16:colId xmlns:a16="http://schemas.microsoft.com/office/drawing/2014/main" val="3456291151"/>
                    </a:ext>
                  </a:extLst>
                </a:gridCol>
              </a:tblGrid>
              <a:tr h="243357">
                <a:tc>
                  <a:txBody>
                    <a:bodyPr/>
                    <a:lstStyle/>
                    <a:p>
                      <a:pPr algn="l" fontAlgn="b"/>
                      <a:r>
                        <a:rPr lang="en-US" sz="1600" u="sng" strike="noStrike" dirty="0">
                          <a:effectLst/>
                        </a:rPr>
                        <a:t>CHATTANOOGA MSA</a:t>
                      </a:r>
                      <a:endParaRPr lang="en-US" sz="1600" b="1"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44511600"/>
                  </a:ext>
                </a:extLst>
              </a:tr>
              <a:tr h="243357">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EMPLOYERS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EMPLOYEES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MEMBERS</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6217789"/>
                  </a:ext>
                </a:extLst>
              </a:tr>
              <a:tr h="243357">
                <a:tc>
                  <a:txBody>
                    <a:bodyPr/>
                    <a:lstStyle/>
                    <a:p>
                      <a:pPr algn="l" fontAlgn="b"/>
                      <a:r>
                        <a:rPr lang="en-US" sz="1600" u="none" strike="noStrike" dirty="0">
                          <a:effectLst/>
                        </a:rPr>
                        <a:t>2 TO 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14,372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43,116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94,855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33713114"/>
                  </a:ext>
                </a:extLst>
              </a:tr>
              <a:tr h="243357">
                <a:tc>
                  <a:txBody>
                    <a:bodyPr/>
                    <a:lstStyle/>
                    <a:p>
                      <a:pPr algn="l" fontAlgn="b"/>
                      <a:r>
                        <a:rPr lang="en-US" sz="1600" u="none" strike="noStrike" dirty="0">
                          <a:effectLst/>
                        </a:rPr>
                        <a:t>10 TO 19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4,384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48,224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106,093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8536306"/>
                  </a:ext>
                </a:extLst>
              </a:tr>
              <a:tr h="243357">
                <a:tc>
                  <a:txBody>
                    <a:bodyPr/>
                    <a:lstStyle/>
                    <a:p>
                      <a:pPr algn="l" fontAlgn="b"/>
                      <a:r>
                        <a:rPr lang="en-US" sz="1600" u="none" strike="noStrike" dirty="0">
                          <a:effectLst/>
                        </a:rPr>
                        <a:t>20 TO 49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1,947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64,251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141,352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68450314"/>
                  </a:ext>
                </a:extLst>
              </a:tr>
              <a:tr h="243357">
                <a:tc>
                  <a:txBody>
                    <a:bodyPr/>
                    <a:lstStyle/>
                    <a:p>
                      <a:pPr algn="l" fontAlgn="b"/>
                      <a:r>
                        <a:rPr lang="en-US" sz="1600" u="none" strike="noStrike" dirty="0">
                          <a:effectLst/>
                        </a:rPr>
                        <a:t>50 TO 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328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20,008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44,018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2952117"/>
                  </a:ext>
                </a:extLst>
              </a:tr>
              <a:tr h="243357">
                <a:tc>
                  <a:txBody>
                    <a:bodyPr/>
                    <a:lstStyle/>
                    <a:p>
                      <a:pPr algn="l" fontAlgn="b"/>
                      <a:r>
                        <a:rPr lang="en-US" sz="1600" u="none" strike="noStrike" dirty="0">
                          <a:effectLst/>
                        </a:rPr>
                        <a:t>100 TO 249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174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25,926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57,037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30523293"/>
                  </a:ext>
                </a:extLst>
              </a:tr>
              <a:tr h="243357">
                <a:tc>
                  <a:txBody>
                    <a:bodyPr/>
                    <a:lstStyle/>
                    <a:p>
                      <a:pPr algn="l" fontAlgn="b"/>
                      <a:r>
                        <a:rPr lang="en-US" sz="1600" u="none" strike="noStrike" dirty="0">
                          <a:effectLst/>
                        </a:rPr>
                        <a:t>250-499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51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13,974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30,743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58700628"/>
                  </a:ext>
                </a:extLst>
              </a:tr>
              <a:tr h="243357">
                <a:tc>
                  <a:txBody>
                    <a:bodyPr/>
                    <a:lstStyle/>
                    <a:p>
                      <a:pPr algn="l" fontAlgn="b"/>
                      <a:r>
                        <a:rPr lang="en-US" sz="1600" u="none" strike="noStrike" dirty="0">
                          <a:effectLst/>
                        </a:rPr>
                        <a:t>500 TO 999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19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10,887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23,951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5711975"/>
                  </a:ext>
                </a:extLst>
              </a:tr>
              <a:tr h="243357">
                <a:tc>
                  <a:txBody>
                    <a:bodyPr/>
                    <a:lstStyle/>
                    <a:p>
                      <a:pPr algn="l" fontAlgn="b"/>
                      <a:r>
                        <a:rPr lang="en-US" sz="1600" u="none" strike="noStrike" dirty="0">
                          <a:effectLst/>
                        </a:rPr>
                        <a:t>1,000 TO 4,999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12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17,676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38,887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99614234"/>
                  </a:ext>
                </a:extLst>
              </a:tr>
              <a:tr h="279861">
                <a:tc>
                  <a:txBody>
                    <a:bodyPr/>
                    <a:lstStyle/>
                    <a:p>
                      <a:pPr algn="l" fontAlgn="b"/>
                      <a:r>
                        <a:rPr lang="en-US" sz="1600" u="none" strike="noStrike" dirty="0">
                          <a:effectLst/>
                        </a:rPr>
                        <a:t>5,000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4 </a:t>
                      </a:r>
                      <a:endParaRPr lang="en-US" sz="16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21,756 </a:t>
                      </a:r>
                      <a:endParaRPr lang="en-US" sz="16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47,863 </a:t>
                      </a:r>
                      <a:endParaRPr lang="en-US" sz="1600" b="0" i="0" u="sng"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05740800"/>
                  </a:ext>
                </a:extLst>
              </a:tr>
              <a:tr h="243357">
                <a:tc>
                  <a:txBody>
                    <a:bodyPr/>
                    <a:lstStyle/>
                    <a:p>
                      <a:pPr algn="l" fontAlgn="b"/>
                      <a:endParaRPr lang="en-US" sz="1600" b="0" i="0" u="none" strike="noStrike" dirty="0">
                        <a:solidFill>
                          <a:srgbClr val="000000"/>
                        </a:solidFill>
                        <a:effectLst/>
                        <a:latin typeface="Calibri" panose="020F0502020204030204" pitchFamily="34" charset="0"/>
                      </a:endParaRPr>
                    </a:p>
                  </a:txBody>
                  <a:tcPr marL="85725" marR="9525" marT="9525" marB="0" anchor="b"/>
                </a:tc>
                <a:tc>
                  <a:txBody>
                    <a:bodyPr/>
                    <a:lstStyle/>
                    <a:p>
                      <a:pPr algn="l" fontAlgn="b"/>
                      <a:r>
                        <a:rPr lang="en-US" sz="1600" u="none" strike="noStrike" dirty="0">
                          <a:effectLst/>
                        </a:rPr>
                        <a:t>                  21,291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244,062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536,936 </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81711525"/>
                  </a:ext>
                </a:extLst>
              </a:tr>
            </a:tbl>
          </a:graphicData>
        </a:graphic>
      </p:graphicFrame>
      <p:pic>
        <p:nvPicPr>
          <p:cNvPr id="5" name="Picture 2" descr="Health Matters: Baptist Health Hospital reaches huge milestone with 300th  heart transplant | KARK">
            <a:extLst>
              <a:ext uri="{FF2B5EF4-FFF2-40B4-BE49-F238E27FC236}">
                <a16:creationId xmlns:a16="http://schemas.microsoft.com/office/drawing/2014/main" id="{CA00BFD4-1883-85B7-3264-316179F79F64}"/>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107682" y="4878709"/>
            <a:ext cx="2661713" cy="14974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8A3CFAF-BE21-7172-F63F-981EFD57F58A}"/>
              </a:ext>
            </a:extLst>
          </p:cNvPr>
          <p:cNvPicPr>
            <a:picLocks noChangeAspect="1"/>
          </p:cNvPicPr>
          <p:nvPr/>
        </p:nvPicPr>
        <p:blipFill>
          <a:blip r:embed="rId3"/>
          <a:stretch>
            <a:fillRect/>
          </a:stretch>
        </p:blipFill>
        <p:spPr>
          <a:xfrm>
            <a:off x="298154" y="2748896"/>
            <a:ext cx="3161905" cy="3114286"/>
          </a:xfrm>
          <a:prstGeom prst="rect">
            <a:avLst/>
          </a:prstGeom>
        </p:spPr>
      </p:pic>
      <p:sp>
        <p:nvSpPr>
          <p:cNvPr id="7" name="Rectangle 6">
            <a:extLst>
              <a:ext uri="{FF2B5EF4-FFF2-40B4-BE49-F238E27FC236}">
                <a16:creationId xmlns:a16="http://schemas.microsoft.com/office/drawing/2014/main" id="{509E9E6C-FC87-0010-5016-866581AD4DB9}"/>
              </a:ext>
            </a:extLst>
          </p:cNvPr>
          <p:cNvSpPr/>
          <p:nvPr/>
        </p:nvSpPr>
        <p:spPr>
          <a:xfrm rot="20286230">
            <a:off x="3338286" y="2521951"/>
            <a:ext cx="8737600" cy="7547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Employer demographic data coming</a:t>
            </a:r>
          </a:p>
        </p:txBody>
      </p:sp>
    </p:spTree>
    <p:extLst>
      <p:ext uri="{BB962C8B-B14F-4D97-AF65-F5344CB8AC3E}">
        <p14:creationId xmlns:p14="http://schemas.microsoft.com/office/powerpoint/2010/main" val="3680080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25</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PLAN DESIGNS THAT OPTIMIZE PLAN STEERAGE TO BAPTIST HEALTH</a:t>
            </a:r>
          </a:p>
        </p:txBody>
      </p:sp>
      <p:pic>
        <p:nvPicPr>
          <p:cNvPr id="2" name="Picture 2" descr="Health Matters: Baptist Health Hospital reaches huge milestone with 300th  heart transplant | KARK">
            <a:extLst>
              <a:ext uri="{FF2B5EF4-FFF2-40B4-BE49-F238E27FC236}">
                <a16:creationId xmlns:a16="http://schemas.microsoft.com/office/drawing/2014/main" id="{D7123FBC-4D1F-6964-5090-98A6FC416938}"/>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013817" y="5014361"/>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print">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a:t>
            </a:r>
            <a:r>
              <a:rPr lang="en-US" sz="2000" dirty="0">
                <a:solidFill>
                  <a:schemeClr val="bg1"/>
                </a:solidFill>
                <a:highlight>
                  <a:srgbClr val="FFFF00"/>
                </a:highlight>
              </a:rPr>
              <a:t>2</a:t>
            </a:r>
            <a:r>
              <a:rPr lang="en-US" sz="2000" dirty="0">
                <a:solidFill>
                  <a:schemeClr val="bg1"/>
                </a:solidFill>
              </a:rPr>
              <a:t>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26</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print">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594102366"/>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27</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28</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T must think like a business and go beyond traditional business  partnerships | CIO">
            <a:extLst>
              <a:ext uri="{FF2B5EF4-FFF2-40B4-BE49-F238E27FC236}">
                <a16:creationId xmlns:a16="http://schemas.microsoft.com/office/drawing/2014/main" id="{ACA8F3D6-1566-49F6-82EF-EBB7909EF6A8}"/>
              </a:ext>
            </a:extLst>
          </p:cNvPr>
          <p:cNvPicPr>
            <a:picLocks noChangeAspect="1" noChangeArrowheads="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1234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F2A2384-87B4-4D78-9869-9D594EF48401}"/>
              </a:ext>
            </a:extLst>
          </p:cNvPr>
          <p:cNvSpPr/>
          <p:nvPr/>
        </p:nvSpPr>
        <p:spPr>
          <a:xfrm>
            <a:off x="6096000" y="1524000"/>
            <a:ext cx="6096000" cy="5331178"/>
          </a:xfrm>
          <a:prstGeom prst="rect">
            <a:avLst/>
          </a:prstGeom>
          <a:solidFill>
            <a:srgbClr val="244F9A">
              <a:alpha val="88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D9B523-DB99-459B-80E1-2F51A15AC941}"/>
              </a:ext>
            </a:extLst>
          </p:cNvPr>
          <p:cNvSpPr>
            <a:spLocks noGrp="1"/>
          </p:cNvSpPr>
          <p:nvPr>
            <p:ph type="title"/>
          </p:nvPr>
        </p:nvSpPr>
        <p:spPr>
          <a:xfrm>
            <a:off x="6580465" y="248736"/>
            <a:ext cx="5257800" cy="835025"/>
          </a:xfrm>
        </p:spPr>
        <p:txBody>
          <a:bodyPr>
            <a:normAutofit/>
          </a:bodyPr>
          <a:lstStyle/>
          <a:p>
            <a:r>
              <a:rPr lang="en-US" sz="3200" dirty="0"/>
              <a:t>DTE COLLABORATION</a:t>
            </a:r>
          </a:p>
        </p:txBody>
      </p:sp>
      <p:sp>
        <p:nvSpPr>
          <p:cNvPr id="3" name="Footer Placeholder 2">
            <a:extLst>
              <a:ext uri="{FF2B5EF4-FFF2-40B4-BE49-F238E27FC236}">
                <a16:creationId xmlns:a16="http://schemas.microsoft.com/office/drawing/2014/main" id="{9EB172EF-A405-49F9-8A5A-0E1B773CE5B1}"/>
              </a:ext>
            </a:extLst>
          </p:cNvPr>
          <p:cNvSpPr>
            <a:spLocks noGrp="1"/>
          </p:cNvSpPr>
          <p:nvPr>
            <p:ph type="ftr" sz="quarter" idx="11"/>
          </p:nvPr>
        </p:nvSpPr>
        <p:spPr>
          <a:xfrm>
            <a:off x="714300" y="6223353"/>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F78A55D-A3BC-4D3C-A7BB-6CE4D36A530A}"/>
              </a:ext>
            </a:extLst>
          </p:cNvPr>
          <p:cNvSpPr>
            <a:spLocks noGrp="1"/>
          </p:cNvSpPr>
          <p:nvPr>
            <p:ph type="sldNum" sz="quarter" idx="12"/>
          </p:nvPr>
        </p:nvSpPr>
        <p:spPr>
          <a:xfrm>
            <a:off x="8828616" y="6223354"/>
            <a:ext cx="2743200" cy="365125"/>
          </a:xfrm>
        </p:spPr>
        <p:txBody>
          <a:bodyPr/>
          <a:lstStyle/>
          <a:p>
            <a:fld id="{3AFC719D-C4A7-4544-876E-D411D11AF6C9}" type="slidenum">
              <a:rPr lang="en-US" smtClean="0"/>
              <a:t>29</a:t>
            </a:fld>
            <a:endParaRPr lang="en-US" dirty="0"/>
          </a:p>
        </p:txBody>
      </p:sp>
      <p:sp>
        <p:nvSpPr>
          <p:cNvPr id="5" name="Rectangle 4">
            <a:extLst>
              <a:ext uri="{FF2B5EF4-FFF2-40B4-BE49-F238E27FC236}">
                <a16:creationId xmlns:a16="http://schemas.microsoft.com/office/drawing/2014/main" id="{210BE480-D272-4AD8-AA3A-7DC62A437E89}"/>
              </a:ext>
            </a:extLst>
          </p:cNvPr>
          <p:cNvSpPr/>
          <p:nvPr/>
        </p:nvSpPr>
        <p:spPr>
          <a:xfrm>
            <a:off x="781276" y="2843066"/>
            <a:ext cx="3714600" cy="2693045"/>
          </a:xfrm>
          <a:prstGeom prst="rect">
            <a:avLst/>
          </a:prstGeom>
        </p:spPr>
        <p:txBody>
          <a:bodyPr vert="horz" wrap="square">
            <a:noAutofit/>
          </a:bodyPr>
          <a:lstStyle/>
          <a:p>
            <a:pPr>
              <a:spcAft>
                <a:spcPts val="1200"/>
              </a:spcAft>
            </a:pPr>
            <a:endParaRPr lang="en-US" sz="2400" b="1" dirty="0"/>
          </a:p>
          <a:p>
            <a:pPr marL="342905" indent="-342905">
              <a:spcAft>
                <a:spcPts val="1200"/>
              </a:spcAft>
              <a:buFont typeface="Wingdings" panose="05000000000000000000" pitchFamily="2" charset="2"/>
              <a:buChar char="§"/>
            </a:pPr>
            <a:r>
              <a:rPr lang="en-US" dirty="0"/>
              <a:t>Tier 1 Provider Network</a:t>
            </a:r>
          </a:p>
          <a:p>
            <a:pPr marL="342905" indent="-342905">
              <a:spcAft>
                <a:spcPts val="1200"/>
              </a:spcAft>
              <a:buFont typeface="Wingdings" panose="05000000000000000000" pitchFamily="2" charset="2"/>
              <a:buChar char="§"/>
            </a:pPr>
            <a:r>
              <a:rPr lang="en-US" dirty="0"/>
              <a:t>Population Management</a:t>
            </a:r>
          </a:p>
          <a:p>
            <a:pPr marL="342905" indent="-342905">
              <a:spcAft>
                <a:spcPts val="1200"/>
              </a:spcAft>
              <a:buFont typeface="Wingdings" panose="05000000000000000000" pitchFamily="2" charset="2"/>
              <a:buChar char="§"/>
            </a:pPr>
            <a:r>
              <a:rPr lang="en-US" dirty="0"/>
              <a:t>Medical Director oversight</a:t>
            </a:r>
          </a:p>
          <a:p>
            <a:pPr marL="342905" indent="-342905">
              <a:spcAft>
                <a:spcPts val="1200"/>
              </a:spcAft>
              <a:buFont typeface="Wingdings" panose="05000000000000000000" pitchFamily="2" charset="2"/>
              <a:buChar char="§"/>
            </a:pPr>
            <a:r>
              <a:rPr lang="en-US" dirty="0"/>
              <a:t>Local Provider Recruitment</a:t>
            </a:r>
          </a:p>
          <a:p>
            <a:pPr marL="342905" indent="-342905">
              <a:spcAft>
                <a:spcPts val="1200"/>
              </a:spcAft>
              <a:buFont typeface="Wingdings" panose="05000000000000000000" pitchFamily="2" charset="2"/>
              <a:buChar char="§"/>
            </a:pPr>
            <a:r>
              <a:rPr lang="en-US" dirty="0"/>
              <a:t>Network Management</a:t>
            </a:r>
          </a:p>
        </p:txBody>
      </p:sp>
      <p:sp>
        <p:nvSpPr>
          <p:cNvPr id="6" name="Rectangle 5">
            <a:extLst>
              <a:ext uri="{FF2B5EF4-FFF2-40B4-BE49-F238E27FC236}">
                <a16:creationId xmlns:a16="http://schemas.microsoft.com/office/drawing/2014/main" id="{8CFD1E14-A946-4490-8975-0AF059BD64C7}"/>
              </a:ext>
            </a:extLst>
          </p:cNvPr>
          <p:cNvSpPr/>
          <p:nvPr/>
        </p:nvSpPr>
        <p:spPr>
          <a:xfrm>
            <a:off x="6741080" y="1673509"/>
            <a:ext cx="4936570" cy="4935755"/>
          </a:xfrm>
          <a:prstGeom prst="rect">
            <a:avLst/>
          </a:prstGeom>
        </p:spPr>
        <p:txBody>
          <a:bodyPr vert="horz" lIns="91440" tIns="45720" rIns="91440" bIns="45720" rtlCol="0" anchor="t">
            <a:noAutofit/>
          </a:bodyPr>
          <a:lstStyle/>
          <a:p>
            <a:pPr marL="114302" defTabSz="914411">
              <a:spcAft>
                <a:spcPts val="1200"/>
              </a:spcAft>
            </a:pPr>
            <a:r>
              <a:rPr lang="en-US" sz="2400" b="1" dirty="0">
                <a:solidFill>
                  <a:schemeClr val="bg1"/>
                </a:solidFill>
              </a:rPr>
              <a:t>KBA</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Full Health Plan Administration</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Direct Contracting on Behalf of Baptist Health</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Wrap Networks For Gaps And Members In Other Areas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Acquire &amp; Retain Customers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Population Management</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Transparent PBM </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Stop-loss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Employer/Broker Support </a:t>
            </a:r>
          </a:p>
        </p:txBody>
      </p:sp>
      <p:pic>
        <p:nvPicPr>
          <p:cNvPr id="8" name="Picture 2" descr="Health Matters: Baptist Health Hospital reaches huge milestone with 300th  heart transplant | KARK">
            <a:extLst>
              <a:ext uri="{FF2B5EF4-FFF2-40B4-BE49-F238E27FC236}">
                <a16:creationId xmlns:a16="http://schemas.microsoft.com/office/drawing/2014/main" id="{A3232024-EAA6-A7BE-AB78-FBEB5F4172A6}"/>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9683" y="573184"/>
            <a:ext cx="2661713" cy="1497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818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612068607"/>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rPr>
                        <a:t>Baptist Health</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Gain Sharing Determination</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Physician Formulas – With KBA Assistance</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Hospital Formulas – With KBA Assistance</a:t>
                      </a:r>
                    </a:p>
                    <a:p>
                      <a:pPr marL="0" marR="0">
                        <a:spcBef>
                          <a:spcPts val="0"/>
                        </a:spcBef>
                        <a:spcAft>
                          <a:spcPts val="0"/>
                        </a:spcAft>
                        <a:tabLst>
                          <a:tab pos="4465955" algn="l"/>
                        </a:tabLs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Baptist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31</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8BE3BD-F9EE-3EE4-860C-3826F1F8465B}"/>
              </a:ext>
            </a:extLst>
          </p:cNvPr>
          <p:cNvSpPr>
            <a:spLocks noGrp="1"/>
          </p:cNvSpPr>
          <p:nvPr>
            <p:ph type="title"/>
          </p:nvPr>
        </p:nvSpPr>
        <p:spPr/>
        <p:txBody>
          <a:bodyPr/>
          <a:lstStyle/>
          <a:p>
            <a:r>
              <a:rPr lang="en-US" dirty="0"/>
              <a:t>Estimation of BH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fld id="{3AFC719D-C4A7-4544-876E-D411D11AF6C9}" type="slidenum">
              <a:rPr lang="en-US" smtClean="0"/>
              <a:t>32</a:t>
            </a:fld>
            <a:endParaRPr lang="en-US" dirty="0"/>
          </a:p>
        </p:txBody>
      </p:sp>
      <p:graphicFrame>
        <p:nvGraphicFramePr>
          <p:cNvPr id="8"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575143545"/>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Little-Rock Area BH</a:t>
                      </a:r>
                    </a:p>
                  </a:txBody>
                  <a:tcPr/>
                </a:tc>
                <a:tc>
                  <a:txBody>
                    <a:bodyPr/>
                    <a:lstStyle/>
                    <a:p>
                      <a:r>
                        <a:rPr lang="en-US" sz="1400" dirty="0">
                          <a:solidFill>
                            <a:schemeClr val="accent1">
                              <a:lumMod val="75000"/>
                            </a:schemeClr>
                          </a:solidFill>
                        </a:rPr>
                        <a:t>253,841</a:t>
                      </a:r>
                    </a:p>
                  </a:txBody>
                  <a:tcPr/>
                </a:tc>
                <a:tc>
                  <a:txBody>
                    <a:bodyPr/>
                    <a:lstStyle/>
                    <a:p>
                      <a:r>
                        <a:rPr lang="en-US" sz="1400" dirty="0">
                          <a:solidFill>
                            <a:schemeClr val="accent1">
                              <a:lumMod val="75000"/>
                            </a:schemeClr>
                          </a:solidFill>
                        </a:rPr>
                        <a:t>$2,486,361K</a:t>
                      </a:r>
                    </a:p>
                  </a:txBody>
                  <a:tcPr/>
                </a:tc>
                <a:tc>
                  <a:txBody>
                    <a:bodyPr/>
                    <a:lstStyle/>
                    <a:p>
                      <a:r>
                        <a:rPr lang="en-US" sz="1400" dirty="0">
                          <a:solidFill>
                            <a:schemeClr val="accent2">
                              <a:lumMod val="75000"/>
                            </a:schemeClr>
                          </a:solidFill>
                        </a:rPr>
                        <a:t>100%</a:t>
                      </a:r>
                    </a:p>
                  </a:txBody>
                  <a:tcPr/>
                </a:tc>
                <a:extLst>
                  <a:ext uri="{0D108BD9-81ED-4DB2-BD59-A6C34878D82A}">
                    <a16:rowId xmlns:a16="http://schemas.microsoft.com/office/drawing/2014/main" val="975973942"/>
                  </a:ext>
                </a:extLst>
              </a:tr>
              <a:tr h="237204">
                <a:tc>
                  <a:txBody>
                    <a:bodyPr/>
                    <a:lstStyle/>
                    <a:p>
                      <a:r>
                        <a:rPr lang="en-US" sz="1400" dirty="0"/>
                        <a:t>Medicare</a:t>
                      </a:r>
                    </a:p>
                  </a:txBody>
                  <a:tcPr/>
                </a:tc>
                <a:tc>
                  <a:txBody>
                    <a:bodyPr/>
                    <a:lstStyle/>
                    <a:p>
                      <a:r>
                        <a:rPr lang="en-US" sz="1400" dirty="0">
                          <a:solidFill>
                            <a:schemeClr val="accent1">
                              <a:lumMod val="75000"/>
                            </a:schemeClr>
                          </a:solidFill>
                        </a:rPr>
                        <a:t>79,569</a:t>
                      </a:r>
                    </a:p>
                  </a:txBody>
                  <a:tcPr/>
                </a:tc>
                <a:tc>
                  <a:txBody>
                    <a:bodyPr/>
                    <a:lstStyle/>
                    <a:p>
                      <a:r>
                        <a:rPr lang="en-US" sz="1400" dirty="0">
                          <a:solidFill>
                            <a:schemeClr val="accent6">
                              <a:lumMod val="75000"/>
                            </a:schemeClr>
                          </a:solidFill>
                        </a:rPr>
                        <a:t>$880,756K</a:t>
                      </a:r>
                    </a:p>
                  </a:txBody>
                  <a:tcPr/>
                </a:tc>
                <a:tc>
                  <a:txBody>
                    <a:bodyPr/>
                    <a:lstStyle/>
                    <a:p>
                      <a:r>
                        <a:rPr lang="en-US" sz="1400" dirty="0">
                          <a:solidFill>
                            <a:schemeClr val="accent2">
                              <a:lumMod val="75000"/>
                            </a:schemeClr>
                          </a:solidFill>
                        </a:rPr>
                        <a:t>31%</a:t>
                      </a:r>
                    </a:p>
                  </a:txBody>
                  <a:tcPr/>
                </a:tc>
                <a:extLst>
                  <a:ext uri="{0D108BD9-81ED-4DB2-BD59-A6C34878D82A}">
                    <a16:rowId xmlns:a16="http://schemas.microsoft.com/office/drawing/2014/main" val="1145544718"/>
                  </a:ext>
                </a:extLst>
              </a:tr>
              <a:tr h="237204">
                <a:tc>
                  <a:txBody>
                    <a:bodyPr/>
                    <a:lstStyle/>
                    <a:p>
                      <a:r>
                        <a:rPr lang="en-US" sz="1400" dirty="0"/>
                        <a:t>Medicaid</a:t>
                      </a:r>
                    </a:p>
                  </a:txBody>
                  <a:tcPr/>
                </a:tc>
                <a:tc>
                  <a:txBody>
                    <a:bodyPr/>
                    <a:lstStyle/>
                    <a:p>
                      <a:r>
                        <a:rPr lang="en-US" sz="1400" dirty="0">
                          <a:solidFill>
                            <a:schemeClr val="accent1">
                              <a:lumMod val="75000"/>
                            </a:schemeClr>
                          </a:solidFill>
                        </a:rPr>
                        <a:t>25811</a:t>
                      </a:r>
                    </a:p>
                  </a:txBody>
                  <a:tcPr/>
                </a:tc>
                <a:tc rowSpan="2">
                  <a:txBody>
                    <a:bodyPr/>
                    <a:lstStyle/>
                    <a:p>
                      <a:r>
                        <a:rPr lang="en-US" sz="1400" dirty="0">
                          <a:solidFill>
                            <a:schemeClr val="accent2">
                              <a:lumMod val="75000"/>
                            </a:schemeClr>
                          </a:solidFill>
                        </a:rPr>
                        <a:t>$500,175K</a:t>
                      </a:r>
                    </a:p>
                  </a:txBody>
                  <a:tcPr/>
                </a:tc>
                <a:tc>
                  <a:txBody>
                    <a:bodyPr/>
                    <a:lstStyle/>
                    <a:p>
                      <a:r>
                        <a:rPr lang="en-US" sz="1400" dirty="0">
                          <a:solidFill>
                            <a:schemeClr val="accent2">
                              <a:lumMod val="75000"/>
                            </a:schemeClr>
                          </a:solidFill>
                        </a:rPr>
                        <a:t>10%</a:t>
                      </a:r>
                    </a:p>
                  </a:txBody>
                  <a:tcPr/>
                </a:tc>
                <a:extLst>
                  <a:ext uri="{0D108BD9-81ED-4DB2-BD59-A6C34878D82A}">
                    <a16:rowId xmlns:a16="http://schemas.microsoft.com/office/drawing/2014/main" val="680733009"/>
                  </a:ext>
                </a:extLst>
              </a:tr>
              <a:tr h="279964">
                <a:tc>
                  <a:txBody>
                    <a:bodyPr/>
                    <a:lstStyle/>
                    <a:p>
                      <a:r>
                        <a:rPr lang="en-US" sz="1400" dirty="0"/>
                        <a:t>Other Government Pay</a:t>
                      </a:r>
                    </a:p>
                  </a:txBody>
                  <a:tcPr/>
                </a:tc>
                <a:tc>
                  <a:txBody>
                    <a:bodyPr/>
                    <a:lstStyle/>
                    <a:p>
                      <a:r>
                        <a:rPr lang="en-US" sz="1400" dirty="0">
                          <a:solidFill>
                            <a:schemeClr val="accent1">
                              <a:lumMod val="75000"/>
                            </a:schemeClr>
                          </a:solidFill>
                        </a:rPr>
                        <a:t>16948</a:t>
                      </a:r>
                    </a:p>
                  </a:txBody>
                  <a:tcPr/>
                </a:tc>
                <a:tc vMerge="1">
                  <a:txBody>
                    <a:bodyPr/>
                    <a:lstStyle/>
                    <a:p>
                      <a:endParaRPr lang="en-US" sz="1400" dirty="0">
                        <a:solidFill>
                          <a:schemeClr val="accent2">
                            <a:lumMod val="75000"/>
                          </a:schemeClr>
                        </a:solidFill>
                      </a:endParaRPr>
                    </a:p>
                  </a:txBody>
                  <a:tcPr/>
                </a:tc>
                <a:tc>
                  <a:txBody>
                    <a:bodyPr/>
                    <a:lstStyle/>
                    <a:p>
                      <a:r>
                        <a:rPr lang="en-US" sz="1400" dirty="0">
                          <a:solidFill>
                            <a:schemeClr val="accent2">
                              <a:lumMod val="75000"/>
                            </a:schemeClr>
                          </a:solidFill>
                        </a:rPr>
                        <a:t>7%</a:t>
                      </a:r>
                    </a:p>
                  </a:txBody>
                  <a:tcPr/>
                </a:tc>
                <a:extLst>
                  <a:ext uri="{0D108BD9-81ED-4DB2-BD59-A6C34878D82A}">
                    <a16:rowId xmlns:a16="http://schemas.microsoft.com/office/drawing/2014/main" val="194994609"/>
                  </a:ext>
                </a:extLst>
              </a:tr>
              <a:tr h="237204">
                <a:tc>
                  <a:txBody>
                    <a:bodyPr/>
                    <a:lstStyle/>
                    <a:p>
                      <a:r>
                        <a:rPr lang="en-US" sz="1400" dirty="0"/>
                        <a:t>No-Pay, Charity Care</a:t>
                      </a:r>
                    </a:p>
                  </a:txBody>
                  <a:tcPr/>
                </a:tc>
                <a:tc>
                  <a:txBody>
                    <a:bodyPr/>
                    <a:lstStyle/>
                    <a:p>
                      <a:r>
                        <a:rPr lang="en-US" sz="1400" dirty="0">
                          <a:solidFill>
                            <a:schemeClr val="accent2">
                              <a:lumMod val="75000"/>
                            </a:schemeClr>
                          </a:solidFill>
                        </a:rPr>
                        <a:t>3,037</a:t>
                      </a:r>
                    </a:p>
                  </a:txBody>
                  <a:tcPr/>
                </a:tc>
                <a:tc>
                  <a:txBody>
                    <a:bodyPr/>
                    <a:lstStyle/>
                    <a:p>
                      <a:r>
                        <a:rPr lang="en-US" sz="1400" dirty="0">
                          <a:solidFill>
                            <a:schemeClr val="accent1">
                              <a:lumMod val="75000"/>
                            </a:schemeClr>
                          </a:solidFill>
                        </a:rPr>
                        <a:t>$48,872K</a:t>
                      </a:r>
                    </a:p>
                  </a:txBody>
                  <a:tcPr/>
                </a:tc>
                <a:tc>
                  <a:txBody>
                    <a:bodyPr/>
                    <a:lstStyle/>
                    <a:p>
                      <a:r>
                        <a:rPr lang="en-US" sz="1400" dirty="0">
                          <a:solidFill>
                            <a:schemeClr val="accent2">
                              <a:lumMod val="75000"/>
                            </a:schemeClr>
                          </a:solidFill>
                        </a:rPr>
                        <a:t>1%</a:t>
                      </a:r>
                    </a:p>
                  </a:txBody>
                  <a:tcPr/>
                </a:tc>
                <a:extLst>
                  <a:ext uri="{0D108BD9-81ED-4DB2-BD59-A6C34878D82A}">
                    <a16:rowId xmlns:a16="http://schemas.microsoft.com/office/drawing/2014/main" val="1248958224"/>
                  </a:ext>
                </a:extLst>
              </a:tr>
              <a:tr h="237204">
                <a:tc>
                  <a:txBody>
                    <a:bodyPr/>
                    <a:lstStyle/>
                    <a:p>
                      <a:r>
                        <a:rPr lang="en-US" sz="1400" dirty="0"/>
                        <a:t>Commercial/Self Pay</a:t>
                      </a:r>
                    </a:p>
                  </a:txBody>
                  <a:tcPr/>
                </a:tc>
                <a:tc>
                  <a:txBody>
                    <a:bodyPr/>
                    <a:lstStyle/>
                    <a:p>
                      <a:r>
                        <a:rPr lang="en-US" sz="1400" dirty="0">
                          <a:solidFill>
                            <a:schemeClr val="accent2">
                              <a:lumMod val="75000"/>
                            </a:schemeClr>
                          </a:solidFill>
                        </a:rPr>
                        <a:t>128,475</a:t>
                      </a:r>
                    </a:p>
                  </a:txBody>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$1,105,426K</a:t>
                      </a:r>
                    </a:p>
                  </a:txBody>
                  <a:tcPr/>
                </a:tc>
                <a:tc>
                  <a:txBody>
                    <a:bodyPr/>
                    <a:lstStyle/>
                    <a:p>
                      <a:r>
                        <a:rPr lang="en-US" sz="1400" dirty="0">
                          <a:solidFill>
                            <a:schemeClr val="accent2">
                              <a:lumMod val="75000"/>
                            </a:schemeClr>
                          </a:solidFill>
                        </a:rPr>
                        <a:t>51%</a:t>
                      </a:r>
                    </a:p>
                  </a:txBody>
                  <a:tcPr/>
                </a:tc>
                <a:extLst>
                  <a:ext uri="{0D108BD9-81ED-4DB2-BD59-A6C34878D82A}">
                    <a16:rowId xmlns:a16="http://schemas.microsoft.com/office/drawing/2014/main" val="1058780832"/>
                  </a:ext>
                </a:extLst>
              </a:tr>
            </a:tbl>
          </a:graphicData>
        </a:graphic>
      </p:graphicFrame>
      <p:sp>
        <p:nvSpPr>
          <p:cNvPr id="9"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r>
              <a:rPr lang="en-US" sz="1400" b="1" dirty="0">
                <a:solidFill>
                  <a:schemeClr val="accent2">
                    <a:lumMod val="75000"/>
                  </a:schemeClr>
                </a:solidFill>
              </a:rPr>
              <a:t>Estimating Payer Mix</a:t>
            </a:r>
          </a:p>
          <a:p>
            <a:pPr marL="285750" indent="-285750">
              <a:buFont typeface="Arial" panose="020B0604020202020204" pitchFamily="34" charset="0"/>
              <a:buChar char="•"/>
            </a:pPr>
            <a:r>
              <a:rPr lang="en-US" sz="1400" dirty="0">
                <a:solidFill>
                  <a:schemeClr val="accent2">
                    <a:lumMod val="75000"/>
                  </a:schemeClr>
                </a:solidFill>
              </a:rPr>
              <a:t>Medicare, Medicaid, and other government payer mixes are estimated as the percentage of inpatient days for each group divided by total inpatient days. </a:t>
            </a:r>
          </a:p>
          <a:p>
            <a:pPr marL="285750" indent="-285750">
              <a:buFont typeface="Arial" panose="020B0604020202020204" pitchFamily="34" charset="0"/>
              <a:buChar char="•"/>
            </a:pPr>
            <a:r>
              <a:rPr lang="en-US" sz="1400" dirty="0">
                <a:solidFill>
                  <a:schemeClr val="accent2">
                    <a:lumMod val="75000"/>
                  </a:schemeClr>
                </a:solidFill>
              </a:rPr>
              <a:t>No-pay and charity care is estimated as the percentage of no-pay/charity care compared to total overall revenue. </a:t>
            </a:r>
          </a:p>
          <a:p>
            <a:pPr marL="285750" indent="-285750">
              <a:buFont typeface="Arial" panose="020B0604020202020204" pitchFamily="34" charset="0"/>
              <a:buChar char="•"/>
            </a:pPr>
            <a:r>
              <a:rPr lang="en-US" sz="1400" dirty="0">
                <a:solidFill>
                  <a:schemeClr val="accent2">
                    <a:lumMod val="75000"/>
                  </a:schemeClr>
                </a:solidFill>
              </a:rPr>
              <a:t>Commercial/self pay is assumed to be the rest of the total payer mix share. </a:t>
            </a:r>
          </a:p>
        </p:txBody>
      </p:sp>
      <p:sp>
        <p:nvSpPr>
          <p:cNvPr id="10" name="TextBox 9">
            <a:extLst>
              <a:ext uri="{FF2B5EF4-FFF2-40B4-BE49-F238E27FC236}">
                <a16:creationId xmlns:a16="http://schemas.microsoft.com/office/drawing/2014/main" id="{ED0A6F50-C6BE-E59F-38A2-EFFA0AEF9616}"/>
              </a:ext>
            </a:extLst>
          </p:cNvPr>
          <p:cNvSpPr txBox="1"/>
          <p:nvPr/>
        </p:nvSpPr>
        <p:spPr>
          <a:xfrm>
            <a:off x="6431282" y="3552478"/>
            <a:ext cx="5648960" cy="1384995"/>
          </a:xfrm>
          <a:prstGeom prst="rect">
            <a:avLst/>
          </a:prstGeom>
          <a:noFill/>
        </p:spPr>
        <p:txBody>
          <a:bodyPr wrap="square" rtlCol="0">
            <a:spAutoFit/>
          </a:bodyPr>
          <a:lstStyle/>
          <a:p>
            <a:r>
              <a:rPr lang="en-US" sz="1400" b="1" dirty="0">
                <a:solidFill>
                  <a:schemeClr val="accent2">
                    <a:lumMod val="75000"/>
                  </a:schemeClr>
                </a:solidFill>
              </a:rPr>
              <a:t>Estimating Revenue by Group</a:t>
            </a:r>
          </a:p>
          <a:p>
            <a:pPr marL="285750" indent="-285750">
              <a:buFont typeface="Arial" panose="020B0604020202020204" pitchFamily="34" charset="0"/>
              <a:buChar char="•"/>
            </a:pPr>
            <a:r>
              <a:rPr lang="en-US" sz="1400" dirty="0">
                <a:solidFill>
                  <a:schemeClr val="accent2">
                    <a:lumMod val="75000"/>
                  </a:schemeClr>
                </a:solidFill>
              </a:rPr>
              <a:t>Medicaid and Other Government Pay are estimated to be paying the same rate per inpatient day as Medicare (a conservative assumption). </a:t>
            </a:r>
          </a:p>
          <a:p>
            <a:pPr marL="285750" indent="-285750">
              <a:buFont typeface="Arial" panose="020B0604020202020204" pitchFamily="34" charset="0"/>
              <a:buChar char="•"/>
            </a:pPr>
            <a:r>
              <a:rPr lang="en-US" sz="1400" dirty="0">
                <a:solidFill>
                  <a:schemeClr val="accent2">
                    <a:lumMod val="75000"/>
                  </a:schemeClr>
                </a:solidFill>
              </a:rPr>
              <a:t>Commercial/Self Pay is assumed to be all revenue not known to be paid by Medicare and not assumed to be paid by Medicaid or other government pay. </a:t>
            </a:r>
          </a:p>
        </p:txBody>
      </p:sp>
      <p:sp>
        <p:nvSpPr>
          <p:cNvPr id="11" name="TextBox 10">
            <a:extLst>
              <a:ext uri="{FF2B5EF4-FFF2-40B4-BE49-F238E27FC236}">
                <a16:creationId xmlns:a16="http://schemas.microsoft.com/office/drawing/2014/main" id="{E107289D-24BF-1E88-2683-BA2979EC32B6}"/>
              </a:ext>
            </a:extLst>
          </p:cNvPr>
          <p:cNvSpPr txBox="1"/>
          <p:nvPr/>
        </p:nvSpPr>
        <p:spPr>
          <a:xfrm>
            <a:off x="6431282" y="4971227"/>
            <a:ext cx="5648960" cy="1169551"/>
          </a:xfrm>
          <a:prstGeom prst="rect">
            <a:avLst/>
          </a:prstGeom>
          <a:noFill/>
        </p:spPr>
        <p:txBody>
          <a:bodyPr wrap="square" rtlCol="0">
            <a:spAutoFit/>
          </a:bodyPr>
          <a:lstStyle/>
          <a:p>
            <a:r>
              <a:rPr lang="en-US" sz="1400" b="1" dirty="0">
                <a:solidFill>
                  <a:schemeClr val="accent2">
                    <a:lumMod val="75000"/>
                  </a:schemeClr>
                </a:solidFill>
              </a:rPr>
              <a:t>Estimating Total Inpatient Days</a:t>
            </a:r>
          </a:p>
          <a:p>
            <a:pPr marL="285750" indent="-285750">
              <a:buFont typeface="Arial" panose="020B0604020202020204" pitchFamily="34" charset="0"/>
              <a:buChar char="•"/>
            </a:pPr>
            <a:r>
              <a:rPr lang="en-US" sz="1400" dirty="0">
                <a:solidFill>
                  <a:schemeClr val="accent2">
                    <a:lumMod val="75000"/>
                  </a:schemeClr>
                </a:solidFill>
              </a:rPr>
              <a:t>Total inpatient days for ‘No Pay’ and ‘Commercial’ are estimated to be the payer mix estimates for “No Pay, Charity Care” and “Commercial/Self Pay” multiplied by the total number of inpatient days. </a:t>
            </a:r>
          </a:p>
        </p:txBody>
      </p:sp>
      <p:sp>
        <p:nvSpPr>
          <p:cNvPr id="12"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r>
              <a:rPr lang="en-US" sz="1100" dirty="0">
                <a:solidFill>
                  <a:schemeClr val="accent1">
                    <a:lumMod val="75000"/>
                  </a:schemeClr>
                </a:solidFill>
              </a:rPr>
              <a:t>Values in blue are taken from the 2021 Medicare Provider Cost Report (https://data.cms.gov/provider-compliance/cost-report/hospital-provider-cost-report/data)</a:t>
            </a:r>
          </a:p>
        </p:txBody>
      </p:sp>
      <p:sp>
        <p:nvSpPr>
          <p:cNvPr id="13"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r>
              <a:rPr lang="en-US" sz="1100" dirty="0">
                <a:solidFill>
                  <a:schemeClr val="accent6">
                    <a:lumMod val="75000"/>
                  </a:schemeClr>
                </a:solidFill>
              </a:rPr>
              <a:t>Total Medicare patient revenue is reported by CMS in the Medicare Provider Analysis and Review Report (</a:t>
            </a:r>
            <a:r>
              <a:rPr lang="en-US" sz="1100" dirty="0" err="1">
                <a:solidFill>
                  <a:schemeClr val="accent6">
                    <a:lumMod val="75000"/>
                  </a:schemeClr>
                </a:solidFill>
              </a:rPr>
              <a:t>MedPAR</a:t>
            </a:r>
            <a:r>
              <a:rPr lang="en-US" sz="1100" dirty="0">
                <a:solidFill>
                  <a:schemeClr val="accent6">
                    <a:lumMod val="75000"/>
                  </a:schemeClr>
                </a:solidFill>
              </a:rPr>
              <a:t>) </a:t>
            </a:r>
          </a:p>
        </p:txBody>
      </p:sp>
      <p:sp>
        <p:nvSpPr>
          <p:cNvPr id="17"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dirty="0"/>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t>The RAND estimate for Baptist Health that commercial insurance is paying at 203%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fld id="{3AFC719D-C4A7-4544-876E-D411D11AF6C9}" type="slidenum">
              <a:rPr lang="en-US" smtClean="0"/>
              <a:t>33</a:t>
            </a:fld>
            <a:endParaRPr lang="en-US" dirty="0"/>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8" name="TextBox 7">
            <a:extLst>
              <a:ext uri="{FF2B5EF4-FFF2-40B4-BE49-F238E27FC236}">
                <a16:creationId xmlns:a16="http://schemas.microsoft.com/office/drawing/2014/main" id="{85163DF1-EB5C-1C3C-A93D-5F16CEEC2B92}"/>
              </a:ext>
            </a:extLst>
          </p:cNvPr>
          <p:cNvSpPr txBox="1"/>
          <p:nvPr/>
        </p:nvSpPr>
        <p:spPr>
          <a:xfrm>
            <a:off x="838200" y="2878137"/>
            <a:ext cx="4358640" cy="892552"/>
          </a:xfrm>
          <a:prstGeom prst="rect">
            <a:avLst/>
          </a:prstGeom>
          <a:noFill/>
        </p:spPr>
        <p:txBody>
          <a:bodyPr wrap="square">
            <a:spAutoFit/>
          </a:bodyPr>
          <a:lstStyle/>
          <a:p>
            <a:pPr marL="0" indent="0">
              <a:buFont typeface="Arial" panose="020B0604020202020204" pitchFamily="34" charset="0"/>
              <a:buNone/>
            </a:pPr>
            <a:r>
              <a:rPr lang="en-US" sz="2400" b="1" dirty="0"/>
              <a:t>Estimating Commercial Margin</a:t>
            </a:r>
          </a:p>
          <a:p>
            <a:pPr marL="0" indent="0">
              <a:buFont typeface="Arial" panose="020B0604020202020204" pitchFamily="34" charset="0"/>
              <a:buNone/>
            </a:pPr>
            <a:r>
              <a:rPr lang="en-US" sz="1400" dirty="0"/>
              <a:t>(Calculated through counterfactual of assuming all CMS/Government pay was paying at commercial rates)</a:t>
            </a:r>
          </a:p>
        </p:txBody>
      </p:sp>
      <p:sp>
        <p:nvSpPr>
          <p:cNvPr id="9"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indent="0">
              <a:buFont typeface="Arial" panose="020B0604020202020204" pitchFamily="34" charset="0"/>
              <a:buNone/>
            </a:pPr>
            <a:r>
              <a:rPr lang="en-US" sz="2400" b="1" dirty="0"/>
              <a:t>Estimating Gov-Pay Margin</a:t>
            </a:r>
          </a:p>
          <a:p>
            <a:pPr marL="0" indent="0">
              <a:buFont typeface="Arial" panose="020B0604020202020204" pitchFamily="34" charset="0"/>
              <a:buNone/>
            </a:pPr>
            <a:r>
              <a:rPr lang="en-US" sz="1400" dirty="0"/>
              <a:t>(Calculated through counterfactual of assuming all commercial pay was paying at Medicare rate)</a:t>
            </a:r>
          </a:p>
        </p:txBody>
      </p:sp>
      <p:graphicFrame>
        <p:nvGraphicFramePr>
          <p:cNvPr id="11"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829119848"/>
              </p:ext>
            </p:extLst>
          </p:nvPr>
        </p:nvGraphicFramePr>
        <p:xfrm>
          <a:off x="1018541" y="4114799"/>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$1,105,426K</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203%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$2,803,296K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3,908,723K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2,551,315K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1,356,408K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2"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417412509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203%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$544,545K</a:t>
                      </a: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$1,380,931K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1,925,476K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2,551,315K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-625,836K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--33%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p:txBody>
          <a:bodyPr/>
          <a:lstStyle/>
          <a:p>
            <a:r>
              <a:rPr lang="en-US" dirty="0"/>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34</a:t>
            </a:fld>
            <a:endParaRPr lang="en-US" dirty="0"/>
          </a:p>
        </p:txBody>
      </p:sp>
      <p:graphicFrame>
        <p:nvGraphicFramePr>
          <p:cNvPr id="9" name="Content Placeholder 8">
            <a:extLst>
              <a:ext uri="{FF2B5EF4-FFF2-40B4-BE49-F238E27FC236}">
                <a16:creationId xmlns:a16="http://schemas.microsoft.com/office/drawing/2014/main" id="{E2DA6A74-0986-09CC-BCDF-BC2303BED876}"/>
              </a:ext>
            </a:extLst>
          </p:cNvPr>
          <p:cNvGraphicFramePr>
            <a:graphicFrameLocks noGrp="1"/>
          </p:cNvGraphicFramePr>
          <p:nvPr>
            <p:ph idx="1"/>
            <p:extLst>
              <p:ext uri="{D42A27DB-BD31-4B8C-83A1-F6EECF244321}">
                <p14:modId xmlns:p14="http://schemas.microsoft.com/office/powerpoint/2010/main" val="1264385017"/>
              </p:ext>
            </p:extLst>
          </p:nvPr>
        </p:nvGraphicFramePr>
        <p:xfrm>
          <a:off x="720090" y="1690688"/>
          <a:ext cx="8191500" cy="3166110"/>
        </p:xfrm>
        <a:graphic>
          <a:graphicData uri="http://schemas.openxmlformats.org/drawingml/2006/table">
            <a:tbl>
              <a:tblPr>
                <a:tableStyleId>{9D7B26C5-4107-4FEC-AEDC-1716B250A1EF}</a:tableStyleId>
              </a:tblPr>
              <a:tblGrid>
                <a:gridCol w="1611027">
                  <a:extLst>
                    <a:ext uri="{9D8B030D-6E8A-4147-A177-3AD203B41FA5}">
                      <a16:colId xmlns:a16="http://schemas.microsoft.com/office/drawing/2014/main" val="3828351660"/>
                    </a:ext>
                  </a:extLst>
                </a:gridCol>
                <a:gridCol w="608892">
                  <a:extLst>
                    <a:ext uri="{9D8B030D-6E8A-4147-A177-3AD203B41FA5}">
                      <a16:colId xmlns:a16="http://schemas.microsoft.com/office/drawing/2014/main" val="3346174393"/>
                    </a:ext>
                  </a:extLst>
                </a:gridCol>
                <a:gridCol w="1433433">
                  <a:extLst>
                    <a:ext uri="{9D8B030D-6E8A-4147-A177-3AD203B41FA5}">
                      <a16:colId xmlns:a16="http://schemas.microsoft.com/office/drawing/2014/main" val="3917393893"/>
                    </a:ext>
                  </a:extLst>
                </a:gridCol>
                <a:gridCol w="1512716">
                  <a:extLst>
                    <a:ext uri="{9D8B030D-6E8A-4147-A177-3AD203B41FA5}">
                      <a16:colId xmlns:a16="http://schemas.microsoft.com/office/drawing/2014/main" val="1108682610"/>
                    </a:ext>
                  </a:extLst>
                </a:gridCol>
                <a:gridCol w="1512716">
                  <a:extLst>
                    <a:ext uri="{9D8B030D-6E8A-4147-A177-3AD203B41FA5}">
                      <a16:colId xmlns:a16="http://schemas.microsoft.com/office/drawing/2014/main" val="1038837042"/>
                    </a:ext>
                  </a:extLst>
                </a:gridCol>
                <a:gridCol w="1512716">
                  <a:extLst>
                    <a:ext uri="{9D8B030D-6E8A-4147-A177-3AD203B41FA5}">
                      <a16:colId xmlns:a16="http://schemas.microsoft.com/office/drawing/2014/main" val="1070367464"/>
                    </a:ext>
                  </a:extLst>
                </a:gridCol>
              </a:tblGrid>
              <a:tr h="190500">
                <a:tc>
                  <a:txBody>
                    <a:bodyPr/>
                    <a:lstStyle/>
                    <a:p>
                      <a:pPr algn="l" fontAlgn="b"/>
                      <a:r>
                        <a:rPr lang="en-US" sz="1100" b="0" u="none" strike="noStrike">
                          <a:solidFill>
                            <a:srgbClr val="000000"/>
                          </a:solidFill>
                          <a:effectLst/>
                        </a:rPr>
                        <a:t>Hospital Name</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Number of Beds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Inpatient Total Charges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Outpatient Total Charges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Inpatient Percent of Market Total</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algn="l" fontAlgn="b"/>
                      <a:r>
                        <a:rPr lang="en-US" sz="1100" b="0" u="none" strike="noStrike">
                          <a:solidFill>
                            <a:srgbClr val="000000"/>
                          </a:solidFill>
                          <a:effectLst/>
                        </a:rPr>
                        <a:t>Outpatient Percent of Market Total (Assuming 49% of Physicians Employed by Hospitals)</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94491299"/>
                  </a:ext>
                </a:extLst>
              </a:tr>
              <a:tr h="190500">
                <a:tc>
                  <a:txBody>
                    <a:bodyPr/>
                    <a:lstStyle/>
                    <a:p>
                      <a:pPr algn="l" fontAlgn="b"/>
                      <a:r>
                        <a:rPr lang="en-US" sz="1100" b="0" u="none" strike="noStrike" dirty="0">
                          <a:solidFill>
                            <a:schemeClr val="accent1">
                              <a:lumMod val="75000"/>
                            </a:schemeClr>
                          </a:solidFill>
                          <a:effectLst/>
                        </a:rPr>
                        <a:t>Baptist Health Medical Center- Conway</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111</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$ 119,807,408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$ 177,044,562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3%</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2%</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89748083"/>
                  </a:ext>
                </a:extLst>
              </a:tr>
              <a:tr h="190500">
                <a:tc>
                  <a:txBody>
                    <a:bodyPr/>
                    <a:lstStyle/>
                    <a:p>
                      <a:pPr algn="l" fontAlgn="b"/>
                      <a:r>
                        <a:rPr lang="en-US" sz="1100" b="0" u="none" strike="noStrike">
                          <a:solidFill>
                            <a:schemeClr val="accent1">
                              <a:lumMod val="75000"/>
                            </a:schemeClr>
                          </a:solidFill>
                          <a:effectLst/>
                        </a:rPr>
                        <a:t>Baptist Health Medical Center North Little Rock</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182</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 $ 427,204,306 </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$ 384,097,066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9%</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5%</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18232"/>
                  </a:ext>
                </a:extLst>
              </a:tr>
              <a:tr h="190500">
                <a:tc>
                  <a:txBody>
                    <a:bodyPr/>
                    <a:lstStyle/>
                    <a:p>
                      <a:pPr algn="l" fontAlgn="b"/>
                      <a:r>
                        <a:rPr lang="en-US" sz="1100" b="0" u="none" strike="noStrike">
                          <a:solidFill>
                            <a:schemeClr val="accent1">
                              <a:lumMod val="75000"/>
                            </a:schemeClr>
                          </a:solidFill>
                          <a:effectLst/>
                        </a:rPr>
                        <a:t>Baptist Health Medical Center-Little Rock</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764</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 $ 1,411,378,066 </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 $ 710,425,757 </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chemeClr val="accent1">
                              <a:lumMod val="75000"/>
                            </a:schemeClr>
                          </a:solidFill>
                          <a:effectLst/>
                        </a:rPr>
                        <a:t>30%</a:t>
                      </a:r>
                      <a:endParaRPr lang="en-US" sz="1100" b="0" i="0" u="none" strike="noStrike">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chemeClr val="accent1">
                              <a:lumMod val="75000"/>
                            </a:schemeClr>
                          </a:solidFill>
                          <a:effectLst/>
                        </a:rPr>
                        <a:t>8%</a:t>
                      </a:r>
                      <a:endParaRPr lang="en-US" sz="1100" b="0" i="0" u="none" strike="noStrike" dirty="0">
                        <a:solidFill>
                          <a:schemeClr val="accent1">
                            <a:lumMod val="75000"/>
                          </a:schemeClr>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8018229"/>
                  </a:ext>
                </a:extLst>
              </a:tr>
              <a:tr h="190500">
                <a:tc>
                  <a:txBody>
                    <a:bodyPr/>
                    <a:lstStyle/>
                    <a:p>
                      <a:pPr algn="l" fontAlgn="b"/>
                      <a:r>
                        <a:rPr lang="en-US" sz="1100" b="0" u="none" strike="noStrike">
                          <a:solidFill>
                            <a:srgbClr val="000000"/>
                          </a:solidFill>
                          <a:effectLst/>
                        </a:rPr>
                        <a:t>Arkansas Heart Hospital, LLC</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112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$ 278,808,993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$ 384,732,489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6%</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5%</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41864630"/>
                  </a:ext>
                </a:extLst>
              </a:tr>
              <a:tr h="190500">
                <a:tc>
                  <a:txBody>
                    <a:bodyPr/>
                    <a:lstStyle/>
                    <a:p>
                      <a:pPr algn="l" fontAlgn="b"/>
                      <a:r>
                        <a:rPr lang="en-US" sz="1100" b="0" u="none" strike="noStrike">
                          <a:solidFill>
                            <a:srgbClr val="000000"/>
                          </a:solidFill>
                          <a:effectLst/>
                        </a:rPr>
                        <a:t>Arkansas Surgical Hospital</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49</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$ 129,464,179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$ 90,219,641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95878505"/>
                  </a:ext>
                </a:extLst>
              </a:tr>
              <a:tr h="190500">
                <a:tc>
                  <a:txBody>
                    <a:bodyPr/>
                    <a:lstStyle/>
                    <a:p>
                      <a:pPr algn="l" fontAlgn="b"/>
                      <a:r>
                        <a:rPr lang="en-US" sz="1100" b="0" u="none" strike="noStrike">
                          <a:solidFill>
                            <a:srgbClr val="000000"/>
                          </a:solidFill>
                          <a:effectLst/>
                        </a:rPr>
                        <a:t>CHI-St Vincent Infirmary</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371</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$ 881,413,385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$ 708,442,661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19%</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89177799"/>
                  </a:ext>
                </a:extLst>
              </a:tr>
              <a:tr h="190500">
                <a:tc>
                  <a:txBody>
                    <a:bodyPr/>
                    <a:lstStyle/>
                    <a:p>
                      <a:pPr algn="l" fontAlgn="b"/>
                      <a:r>
                        <a:rPr lang="en-US" sz="1100" b="0" u="none" strike="noStrike">
                          <a:solidFill>
                            <a:srgbClr val="000000"/>
                          </a:solidFill>
                          <a:effectLst/>
                        </a:rPr>
                        <a:t>Saline Memorial Hospital</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130</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$ 137,430,165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$ 173,419,236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44221091"/>
                  </a:ext>
                </a:extLst>
              </a:tr>
              <a:tr h="190500">
                <a:tc>
                  <a:txBody>
                    <a:bodyPr/>
                    <a:lstStyle/>
                    <a:p>
                      <a:pPr algn="l" fontAlgn="b"/>
                      <a:r>
                        <a:rPr lang="en-US" sz="1100" b="0" u="none" strike="noStrike">
                          <a:solidFill>
                            <a:srgbClr val="000000"/>
                          </a:solidFill>
                          <a:effectLst/>
                        </a:rPr>
                        <a:t>St Vincent Medical Center/North</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68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 $ 180,325,244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dirty="0">
                          <a:solidFill>
                            <a:srgbClr val="000000"/>
                          </a:solidFill>
                          <a:effectLst/>
                        </a:rPr>
                        <a:t> $ 187,623,728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4%</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100" b="0" u="none" strike="noStrike">
                          <a:solidFill>
                            <a:srgbClr val="000000"/>
                          </a:solidFill>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08637484"/>
                  </a:ext>
                </a:extLst>
              </a:tr>
              <a:tr h="190500">
                <a:tc>
                  <a:txBody>
                    <a:bodyPr/>
                    <a:lstStyle/>
                    <a:p>
                      <a:pPr algn="l" fontAlgn="b"/>
                      <a:r>
                        <a:rPr lang="en-US" sz="1100" b="0" u="none" strike="noStrike">
                          <a:solidFill>
                            <a:srgbClr val="000000"/>
                          </a:solidFill>
                          <a:effectLst/>
                        </a:rPr>
                        <a:t>UAMS Medical Center</a:t>
                      </a:r>
                      <a:endParaRPr lang="en-US" sz="1100" b="0" i="0" u="none" strike="noStrike">
                        <a:solidFill>
                          <a:srgbClr val="000000"/>
                        </a:solidFill>
                        <a:effectLst/>
                        <a:latin typeface="Aptos Narrow" panose="020B0004020202020204" pitchFamily="34" charset="0"/>
                      </a:endParaRPr>
                    </a:p>
                  </a:txBody>
                  <a:tcPr marL="9525" marR="9525" marT="9525" marB="0" anchor="b">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508</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 $ 1,101,512,565 </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dirty="0">
                          <a:solidFill>
                            <a:srgbClr val="000000"/>
                          </a:solidFill>
                          <a:effectLst/>
                        </a:rPr>
                        <a:t> $ 1,317,322,011 </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a:solidFill>
                            <a:srgbClr val="000000"/>
                          </a:solidFill>
                          <a:effectLst/>
                        </a:rPr>
                        <a:t>24%</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pPr algn="r" fontAlgn="b"/>
                      <a:r>
                        <a:rPr lang="en-US" sz="1100" b="0" u="none" strike="noStrike" dirty="0">
                          <a:solidFill>
                            <a:srgbClr val="000000"/>
                          </a:solidFill>
                          <a:effectLst/>
                        </a:rPr>
                        <a:t>16%</a:t>
                      </a:r>
                      <a:endParaRPr lang="en-US" sz="11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754956085"/>
                  </a:ext>
                </a:extLst>
              </a:tr>
            </a:tbl>
          </a:graphicData>
        </a:graphic>
      </p:graphicFrame>
      <p:sp>
        <p:nvSpPr>
          <p:cNvPr id="10" name="TextBox 9">
            <a:extLst>
              <a:ext uri="{FF2B5EF4-FFF2-40B4-BE49-F238E27FC236}">
                <a16:creationId xmlns:a16="http://schemas.microsoft.com/office/drawing/2014/main" id="{DD333F58-1E5B-D213-65EE-BB627B8B12A8}"/>
              </a:ext>
            </a:extLst>
          </p:cNvPr>
          <p:cNvSpPr txBox="1"/>
          <p:nvPr/>
        </p:nvSpPr>
        <p:spPr>
          <a:xfrm>
            <a:off x="838202" y="5443697"/>
            <a:ext cx="10515600" cy="738664"/>
          </a:xfrm>
          <a:prstGeom prst="rect">
            <a:avLst/>
          </a:prstGeom>
          <a:noFill/>
        </p:spPr>
        <p:txBody>
          <a:bodyPr wrap="square" rtlCol="0">
            <a:spAutoFit/>
          </a:bodyPr>
          <a:lstStyle/>
          <a:p>
            <a:r>
              <a:rPr lang="en-US" sz="1400" dirty="0"/>
              <a:t>For outpatient market share, it is estimated that only 49%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
        <p:nvSpPr>
          <p:cNvPr id="11" name="Right Bracket 10">
            <a:extLst>
              <a:ext uri="{FF2B5EF4-FFF2-40B4-BE49-F238E27FC236}">
                <a16:creationId xmlns:a16="http://schemas.microsoft.com/office/drawing/2014/main" id="{1A5E466B-3F38-C144-2C72-79C6737E6DAA}"/>
              </a:ext>
            </a:extLst>
          </p:cNvPr>
          <p:cNvSpPr/>
          <p:nvPr/>
        </p:nvSpPr>
        <p:spPr>
          <a:xfrm>
            <a:off x="9097645" y="2438400"/>
            <a:ext cx="372110" cy="92710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B6CBB0CA-FA56-A058-9ADE-3BA3CB5A0B37}"/>
              </a:ext>
            </a:extLst>
          </p:cNvPr>
          <p:cNvSpPr txBox="1"/>
          <p:nvPr/>
        </p:nvSpPr>
        <p:spPr>
          <a:xfrm>
            <a:off x="9583420" y="2640340"/>
            <a:ext cx="2357120" cy="523220"/>
          </a:xfrm>
          <a:prstGeom prst="rect">
            <a:avLst/>
          </a:prstGeom>
          <a:noFill/>
        </p:spPr>
        <p:txBody>
          <a:bodyPr wrap="none" rtlCol="0">
            <a:spAutoFit/>
          </a:bodyPr>
          <a:lstStyle/>
          <a:p>
            <a:r>
              <a:rPr lang="en-US" sz="1400" dirty="0">
                <a:solidFill>
                  <a:schemeClr val="accent1">
                    <a:lumMod val="75000"/>
                  </a:schemeClr>
                </a:solidFill>
              </a:rPr>
              <a:t>42% Inpatient Market Share</a:t>
            </a:r>
          </a:p>
          <a:p>
            <a:r>
              <a:rPr lang="en-US" sz="1400" dirty="0">
                <a:solidFill>
                  <a:schemeClr val="accent1">
                    <a:lumMod val="75000"/>
                  </a:schemeClr>
                </a:solidFill>
              </a:rPr>
              <a:t>15% Outpatient Market Share</a:t>
            </a:r>
          </a:p>
        </p:txBody>
      </p:sp>
    </p:spTree>
    <p:extLst>
      <p:ext uri="{BB962C8B-B14F-4D97-AF65-F5344CB8AC3E}">
        <p14:creationId xmlns:p14="http://schemas.microsoft.com/office/powerpoint/2010/main" val="3034923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BC114D0-778E-54F9-F235-AFB15E32C0BD}"/>
              </a:ext>
            </a:extLst>
          </p:cNvPr>
          <p:cNvGraphicFramePr>
            <a:graphicFrameLocks noGrp="1"/>
          </p:cNvGraphicFramePr>
          <p:nvPr>
            <p:extLst>
              <p:ext uri="{D42A27DB-BD31-4B8C-83A1-F6EECF244321}">
                <p14:modId xmlns:p14="http://schemas.microsoft.com/office/powerpoint/2010/main" val="3261516271"/>
              </p:ext>
            </p:extLst>
          </p:nvPr>
        </p:nvGraphicFramePr>
        <p:xfrm>
          <a:off x="895350" y="1125771"/>
          <a:ext cx="9282575" cy="436183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p>
                  </a:txBody>
                  <a:tcPr marL="80580" marR="80580" marT="40290" marB="40290" anchor="ctr">
                    <a:lnL>
                      <a:noFill/>
                    </a:lnL>
                    <a:lnR>
                      <a:noFill/>
                    </a:lnR>
                    <a:lnT>
                      <a:noFill/>
                    </a:lnT>
                    <a:lnB>
                      <a:noFill/>
                    </a:lnB>
                  </a:tcPr>
                </a:tc>
                <a:tc gridSpan="4">
                  <a:txBody>
                    <a:bodyPr/>
                    <a:lstStyle/>
                    <a:p>
                      <a:r>
                        <a:rPr lang="en-US" sz="1600" b="1" u="sng"/>
                        <a:t>DTE Health Plan Utilization by Tier - DTE 2022-2023 YTD</a:t>
                      </a:r>
                      <a:endParaRPr lang="en-US" sz="1600"/>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pPr algn="ctr"/>
                      <a:r>
                        <a:rPr lang="en-US" sz="1600" b="1" u="sng" dirty="0"/>
                        <a:t>Charges</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u="sng" dirty="0"/>
                        <a:t>Paid</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dirty="0"/>
                        <a:t>Discount Equivalent</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a:t>Charge to Paid</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t>Tier 1</a:t>
                      </a:r>
                      <a:endParaRPr lang="en-US" sz="1600"/>
                    </a:p>
                  </a:txBody>
                  <a:tcPr marL="80580" marR="80580" marT="40290" marB="40290" anchor="ctr">
                    <a:lnL>
                      <a:noFill/>
                    </a:lnL>
                    <a:lnR>
                      <a:noFill/>
                    </a:lnR>
                    <a:lnT>
                      <a:noFill/>
                    </a:lnT>
                    <a:lnB>
                      <a:noFill/>
                    </a:lnB>
                  </a:tcPr>
                </a:tc>
                <a:tc>
                  <a:txBody>
                    <a:bodyPr/>
                    <a:lstStyle/>
                    <a:p>
                      <a:pPr algn="ctr"/>
                      <a:r>
                        <a:rPr lang="en-US" sz="1600" dirty="0"/>
                        <a:t> </a:t>
                      </a:r>
                    </a:p>
                  </a:txBody>
                  <a:tcPr marL="80580" marR="80580" marT="40290" marB="40290" anchor="ctr">
                    <a:lnL>
                      <a:noFill/>
                    </a:lnL>
                    <a:lnR>
                      <a:noFill/>
                    </a:lnR>
                    <a:lnT>
                      <a:noFill/>
                    </a:lnT>
                    <a:lnB>
                      <a:noFill/>
                    </a:lnB>
                  </a:tcPr>
                </a:tc>
                <a:tc>
                  <a:txBody>
                    <a:bodyPr/>
                    <a:lstStyle/>
                    <a:p>
                      <a:pPr algn="ctr"/>
                      <a:r>
                        <a:rPr lang="en-US" sz="1600" b="1"/>
                        <a:t>81.26%</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tc>
                  <a:txBody>
                    <a:bodyPr/>
                    <a:lstStyle/>
                    <a:p>
                      <a:pPr algn="ctr"/>
                      <a:r>
                        <a:rPr lang="en-US" sz="1600" b="1"/>
                        <a:t>77.42%</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a:t>DTE 1</a:t>
                      </a:r>
                    </a:p>
                  </a:txBody>
                  <a:tcPr marL="80580" marR="80580" marT="40290" marB="40290" anchor="ctr">
                    <a:lnL>
                      <a:noFill/>
                    </a:lnL>
                    <a:lnR>
                      <a:noFill/>
                    </a:lnR>
                    <a:lnT>
                      <a:noFill/>
                    </a:lnT>
                    <a:lnB>
                      <a:noFill/>
                    </a:lnB>
                  </a:tcPr>
                </a:tc>
                <a:tc>
                  <a:txBody>
                    <a:bodyPr/>
                    <a:lstStyle/>
                    <a:p>
                      <a:pPr algn="ctr"/>
                      <a:r>
                        <a:rPr lang="en-US" sz="1600" dirty="0"/>
                        <a:t>$     17,913,805.69</a:t>
                      </a:r>
                    </a:p>
                  </a:txBody>
                  <a:tcPr marL="80580" marR="80580" marT="40290" marB="40290" anchor="ctr">
                    <a:lnL>
                      <a:noFill/>
                    </a:lnL>
                    <a:lnR>
                      <a:noFill/>
                    </a:lnR>
                    <a:lnT>
                      <a:noFill/>
                    </a:lnT>
                    <a:lnB>
                      <a:noFill/>
                    </a:lnB>
                  </a:tcPr>
                </a:tc>
                <a:tc>
                  <a:txBody>
                    <a:bodyPr/>
                    <a:lstStyle/>
                    <a:p>
                      <a:pPr algn="ctr"/>
                      <a:r>
                        <a:rPr lang="en-US" sz="1600"/>
                        <a:t>54.82%</a:t>
                      </a:r>
                    </a:p>
                  </a:txBody>
                  <a:tcPr marL="80580" marR="80580" marT="40290" marB="40290" anchor="ctr">
                    <a:lnL>
                      <a:noFill/>
                    </a:lnL>
                    <a:lnR>
                      <a:noFill/>
                    </a:lnR>
                    <a:lnT>
                      <a:noFill/>
                    </a:lnT>
                    <a:lnB>
                      <a:noFill/>
                    </a:lnB>
                  </a:tcPr>
                </a:tc>
                <a:tc>
                  <a:txBody>
                    <a:bodyPr/>
                    <a:lstStyle/>
                    <a:p>
                      <a:pPr algn="ctr"/>
                      <a:r>
                        <a:rPr lang="en-US" sz="1600"/>
                        <a:t>$        6,907,327.88</a:t>
                      </a:r>
                    </a:p>
                  </a:txBody>
                  <a:tcPr marL="80580" marR="80580" marT="40290" marB="40290" anchor="ctr">
                    <a:lnL>
                      <a:noFill/>
                    </a:lnL>
                    <a:lnR>
                      <a:noFill/>
                    </a:lnR>
                    <a:lnT>
                      <a:noFill/>
                    </a:lnT>
                    <a:lnB>
                      <a:noFill/>
                    </a:lnB>
                  </a:tcPr>
                </a:tc>
                <a:tc>
                  <a:txBody>
                    <a:bodyPr/>
                    <a:lstStyle/>
                    <a:p>
                      <a:pPr algn="ctr"/>
                      <a:r>
                        <a:rPr lang="en-US" sz="1600"/>
                        <a:t>58.63%</a:t>
                      </a:r>
                    </a:p>
                  </a:txBody>
                  <a:tcPr marL="80580" marR="80580" marT="40290" marB="40290" anchor="ctr">
                    <a:lnL>
                      <a:noFill/>
                    </a:lnL>
                    <a:lnR>
                      <a:noFill/>
                    </a:lnR>
                    <a:lnT>
                      <a:noFill/>
                    </a:lnT>
                    <a:lnB>
                      <a:noFill/>
                    </a:lnB>
                  </a:tcPr>
                </a:tc>
                <a:tc>
                  <a:txBody>
                    <a:bodyPr/>
                    <a:lstStyle/>
                    <a:p>
                      <a:pPr algn="ctr"/>
                      <a:r>
                        <a:rPr lang="en-US" sz="1600" b="1"/>
                        <a:t>-61.44%</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a:t>DTE 2</a:t>
                      </a:r>
                    </a:p>
                  </a:txBody>
                  <a:tcPr marL="80580" marR="80580" marT="40290" marB="40290" anchor="ctr">
                    <a:lnL>
                      <a:noFill/>
                    </a:lnL>
                    <a:lnR>
                      <a:noFill/>
                    </a:lnR>
                    <a:lnT>
                      <a:noFill/>
                    </a:lnT>
                    <a:lnB>
                      <a:noFill/>
                    </a:lnB>
                  </a:tcPr>
                </a:tc>
                <a:tc>
                  <a:txBody>
                    <a:bodyPr/>
                    <a:lstStyle/>
                    <a:p>
                      <a:pPr algn="ctr"/>
                      <a:r>
                        <a:rPr lang="en-US" sz="1600" dirty="0"/>
                        <a:t>$         8,460,570.40</a:t>
                      </a:r>
                    </a:p>
                  </a:txBody>
                  <a:tcPr marL="80580" marR="80580" marT="40290" marB="40290" anchor="ctr">
                    <a:lnL>
                      <a:noFill/>
                    </a:lnL>
                    <a:lnR>
                      <a:noFill/>
                    </a:lnR>
                    <a:lnT>
                      <a:noFill/>
                    </a:lnT>
                    <a:lnB>
                      <a:noFill/>
                    </a:lnB>
                  </a:tcPr>
                </a:tc>
                <a:tc>
                  <a:txBody>
                    <a:bodyPr/>
                    <a:lstStyle/>
                    <a:p>
                      <a:pPr algn="ctr"/>
                      <a:r>
                        <a:rPr lang="en-US" sz="1600"/>
                        <a:t>78.37%</a:t>
                      </a:r>
                    </a:p>
                  </a:txBody>
                  <a:tcPr marL="80580" marR="80580" marT="40290" marB="40290" anchor="ctr">
                    <a:lnL>
                      <a:noFill/>
                    </a:lnL>
                    <a:lnR>
                      <a:noFill/>
                    </a:lnR>
                    <a:lnT>
                      <a:noFill/>
                    </a:lnT>
                    <a:lnB>
                      <a:noFill/>
                    </a:lnB>
                  </a:tcPr>
                </a:tc>
                <a:tc>
                  <a:txBody>
                    <a:bodyPr/>
                    <a:lstStyle/>
                    <a:p>
                      <a:pPr algn="ctr"/>
                      <a:r>
                        <a:rPr lang="en-US" sz="1600"/>
                        <a:t>$         3,280,571.45</a:t>
                      </a:r>
                    </a:p>
                  </a:txBody>
                  <a:tcPr marL="80580" marR="80580" marT="40290" marB="40290" anchor="ctr">
                    <a:lnL>
                      <a:noFill/>
                    </a:lnL>
                    <a:lnR>
                      <a:noFill/>
                    </a:lnR>
                    <a:lnT>
                      <a:noFill/>
                    </a:lnT>
                    <a:lnB>
                      <a:noFill/>
                    </a:lnB>
                  </a:tcPr>
                </a:tc>
                <a:tc>
                  <a:txBody>
                    <a:bodyPr/>
                    <a:lstStyle/>
                    <a:p>
                      <a:pPr algn="ctr"/>
                      <a:r>
                        <a:rPr lang="en-US" sz="1600"/>
                        <a:t>77.62%</a:t>
                      </a:r>
                    </a:p>
                  </a:txBody>
                  <a:tcPr marL="80580" marR="80580" marT="40290" marB="40290" anchor="ctr">
                    <a:lnL>
                      <a:noFill/>
                    </a:lnL>
                    <a:lnR>
                      <a:noFill/>
                    </a:lnR>
                    <a:lnT>
                      <a:noFill/>
                    </a:lnT>
                    <a:lnB>
                      <a:noFill/>
                    </a:lnB>
                  </a:tcPr>
                </a:tc>
                <a:tc>
                  <a:txBody>
                    <a:bodyPr/>
                    <a:lstStyle/>
                    <a:p>
                      <a:pPr algn="ctr"/>
                      <a:r>
                        <a:rPr lang="en-US" sz="1600" b="1"/>
                        <a:t>-61.23%</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a:t>DTE 3</a:t>
                      </a:r>
                    </a:p>
                  </a:txBody>
                  <a:tcPr marL="80580" marR="80580" marT="40290" marB="40290" anchor="ctr">
                    <a:lnL>
                      <a:noFill/>
                    </a:lnL>
                    <a:lnR>
                      <a:noFill/>
                    </a:lnR>
                    <a:lnT>
                      <a:noFill/>
                    </a:lnT>
                    <a:lnB>
                      <a:noFill/>
                    </a:lnB>
                  </a:tcPr>
                </a:tc>
                <a:tc>
                  <a:txBody>
                    <a:bodyPr/>
                    <a:lstStyle/>
                    <a:p>
                      <a:pPr algn="ctr"/>
                      <a:r>
                        <a:rPr lang="en-US" sz="1600" dirty="0"/>
                        <a:t>$            629,748.27</a:t>
                      </a:r>
                    </a:p>
                  </a:txBody>
                  <a:tcPr marL="80580" marR="80580" marT="40290" marB="40290" anchor="ctr">
                    <a:lnL>
                      <a:noFill/>
                    </a:lnL>
                    <a:lnR>
                      <a:noFill/>
                    </a:lnR>
                    <a:lnT>
                      <a:noFill/>
                    </a:lnT>
                    <a:lnB>
                      <a:noFill/>
                    </a:lnB>
                  </a:tcPr>
                </a:tc>
                <a:tc>
                  <a:txBody>
                    <a:bodyPr/>
                    <a:lstStyle/>
                    <a:p>
                      <a:pPr algn="ctr"/>
                      <a:r>
                        <a:rPr lang="en-US" sz="1600"/>
                        <a:t>72.98%</a:t>
                      </a:r>
                    </a:p>
                  </a:txBody>
                  <a:tcPr marL="80580" marR="80580" marT="40290" marB="40290" anchor="ctr">
                    <a:lnL>
                      <a:noFill/>
                    </a:lnL>
                    <a:lnR>
                      <a:noFill/>
                    </a:lnR>
                    <a:lnT>
                      <a:noFill/>
                    </a:lnT>
                    <a:lnB>
                      <a:noFill/>
                    </a:lnB>
                  </a:tcPr>
                </a:tc>
                <a:tc>
                  <a:txBody>
                    <a:bodyPr/>
                    <a:lstStyle/>
                    <a:p>
                      <a:pPr algn="ctr"/>
                      <a:r>
                        <a:rPr lang="en-US" sz="1600"/>
                        <a:t>$            198,216.95</a:t>
                      </a:r>
                    </a:p>
                  </a:txBody>
                  <a:tcPr marL="80580" marR="80580" marT="40290" marB="40290" anchor="ctr">
                    <a:lnL>
                      <a:noFill/>
                    </a:lnL>
                    <a:lnR>
                      <a:noFill/>
                    </a:lnR>
                    <a:lnT>
                      <a:noFill/>
                    </a:lnT>
                    <a:lnB>
                      <a:noFill/>
                    </a:lnB>
                  </a:tcPr>
                </a:tc>
                <a:tc>
                  <a:txBody>
                    <a:bodyPr/>
                    <a:lstStyle/>
                    <a:p>
                      <a:pPr algn="ctr"/>
                      <a:r>
                        <a:rPr lang="en-US" sz="1600"/>
                        <a:t>80.64%</a:t>
                      </a:r>
                    </a:p>
                  </a:txBody>
                  <a:tcPr marL="80580" marR="80580" marT="40290" marB="40290" anchor="ctr">
                    <a:lnL>
                      <a:noFill/>
                    </a:lnL>
                    <a:lnR>
                      <a:noFill/>
                    </a:lnR>
                    <a:lnT>
                      <a:noFill/>
                    </a:lnT>
                    <a:lnB>
                      <a:noFill/>
                    </a:lnB>
                  </a:tcPr>
                </a:tc>
                <a:tc>
                  <a:txBody>
                    <a:bodyPr/>
                    <a:lstStyle/>
                    <a:p>
                      <a:pPr algn="ctr"/>
                      <a:r>
                        <a:rPr lang="en-US" sz="1600" b="1"/>
                        <a:t>-68.52%</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a:t>DTE 4</a:t>
                      </a:r>
                    </a:p>
                  </a:txBody>
                  <a:tcPr marL="80580" marR="80580" marT="40290" marB="40290" anchor="ctr">
                    <a:lnL>
                      <a:noFill/>
                    </a:lnL>
                    <a:lnR>
                      <a:noFill/>
                    </a:lnR>
                    <a:lnT>
                      <a:noFill/>
                    </a:lnT>
                    <a:lnB>
                      <a:noFill/>
                    </a:lnB>
                  </a:tcPr>
                </a:tc>
                <a:tc>
                  <a:txBody>
                    <a:bodyPr/>
                    <a:lstStyle/>
                    <a:p>
                      <a:pPr algn="ctr"/>
                      <a:r>
                        <a:rPr lang="en-US" sz="1600" u="sng" dirty="0"/>
                        <a:t>$      58,261,069.02</a:t>
                      </a:r>
                      <a:endParaRPr lang="en-US" sz="1600" dirty="0"/>
                    </a:p>
                  </a:txBody>
                  <a:tcPr marL="80580" marR="80580" marT="40290" marB="40290" anchor="ctr">
                    <a:lnL>
                      <a:noFill/>
                    </a:lnL>
                    <a:lnR>
                      <a:noFill/>
                    </a:lnR>
                    <a:lnT>
                      <a:noFill/>
                    </a:lnT>
                    <a:lnB>
                      <a:noFill/>
                    </a:lnB>
                  </a:tcPr>
                </a:tc>
                <a:tc>
                  <a:txBody>
                    <a:bodyPr/>
                    <a:lstStyle/>
                    <a:p>
                      <a:pPr algn="ctr"/>
                      <a:r>
                        <a:rPr lang="en-US" sz="1600" dirty="0"/>
                        <a:t>96.15%</a:t>
                      </a:r>
                    </a:p>
                  </a:txBody>
                  <a:tcPr marL="80580" marR="80580" marT="40290" marB="40290" anchor="ctr">
                    <a:lnL>
                      <a:noFill/>
                    </a:lnL>
                    <a:lnR>
                      <a:noFill/>
                    </a:lnR>
                    <a:lnT>
                      <a:noFill/>
                    </a:lnT>
                    <a:lnB>
                      <a:noFill/>
                    </a:lnB>
                  </a:tcPr>
                </a:tc>
                <a:tc>
                  <a:txBody>
                    <a:bodyPr/>
                    <a:lstStyle/>
                    <a:p>
                      <a:pPr algn="ctr"/>
                      <a:r>
                        <a:rPr lang="en-US" sz="1600" u="sng"/>
                        <a:t>$      12,968,046.77</a:t>
                      </a:r>
                      <a:endParaRPr lang="en-US" sz="1600"/>
                    </a:p>
                  </a:txBody>
                  <a:tcPr marL="80580" marR="80580" marT="40290" marB="40290" anchor="ctr">
                    <a:lnL>
                      <a:noFill/>
                    </a:lnL>
                    <a:lnR>
                      <a:noFill/>
                    </a:lnR>
                    <a:lnT>
                      <a:noFill/>
                    </a:lnT>
                    <a:lnB>
                      <a:noFill/>
                    </a:lnB>
                  </a:tcPr>
                </a:tc>
                <a:tc>
                  <a:txBody>
                    <a:bodyPr/>
                    <a:lstStyle/>
                    <a:p>
                      <a:pPr algn="ctr"/>
                      <a:r>
                        <a:rPr lang="en-US" sz="1600" dirty="0"/>
                        <a:t>93.20%</a:t>
                      </a:r>
                    </a:p>
                  </a:txBody>
                  <a:tcPr marL="80580" marR="80580" marT="40290" marB="40290" anchor="ctr">
                    <a:lnL>
                      <a:noFill/>
                    </a:lnL>
                    <a:lnR>
                      <a:noFill/>
                    </a:lnR>
                    <a:lnT>
                      <a:noFill/>
                    </a:lnT>
                    <a:lnB>
                      <a:noFill/>
                    </a:lnB>
                  </a:tcPr>
                </a:tc>
                <a:tc>
                  <a:txBody>
                    <a:bodyPr/>
                    <a:lstStyle/>
                    <a:p>
                      <a:pPr algn="ctr"/>
                      <a:r>
                        <a:rPr lang="en-US" sz="1600" b="1" dirty="0"/>
                        <a:t>-77.74%</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r>
                        <a:rPr lang="en-US" sz="1600" b="1"/>
                        <a:t>$     85,265,193.38 </a:t>
                      </a:r>
                      <a:endParaRPr lang="en-US" sz="160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dirty="0"/>
                        <a:t>$     23,354,163.05</a:t>
                      </a:r>
                      <a:endParaRPr lang="en-US" sz="1600" dirty="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dirty="0"/>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9" name="Rectangle 1">
            <a:extLst>
              <a:ext uri="{FF2B5EF4-FFF2-40B4-BE49-F238E27FC236}">
                <a16:creationId xmlns:a16="http://schemas.microsoft.com/office/drawing/2014/main" id="{FA875F34-D8DC-06EC-4EFB-C159B611054F}"/>
              </a:ext>
            </a:extLst>
          </p:cNvPr>
          <p:cNvSpPr>
            <a:spLocks noChangeArrowheads="1"/>
          </p:cNvSpPr>
          <p:nvPr/>
        </p:nvSpPr>
        <p:spPr bwMode="auto">
          <a:xfrm>
            <a:off x="910645" y="11256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307607" y="181010"/>
            <a:ext cx="9576783" cy="528085"/>
          </a:xfrm>
        </p:spPr>
        <p:txBody>
          <a:bodyPr>
            <a:noAutofit/>
          </a:bodyPr>
          <a:lstStyle/>
          <a:p>
            <a:pPr algn="ctr"/>
            <a:r>
              <a:rPr lang="en-US" sz="2400" dirty="0"/>
              <a:t>ATTACHMENT B – PLAN DESIGN STEERAGE</a:t>
            </a: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466723" y="6412947"/>
            <a:ext cx="4114800" cy="365125"/>
          </a:xfrm>
        </p:spPr>
        <p:txBody>
          <a:bodyPr/>
          <a:lstStyle/>
          <a:p>
            <a:r>
              <a:rPr lang="en-US" dirty="0"/>
              <a:t>Key Benefit Administrators</a:t>
            </a:r>
          </a:p>
        </p:txBody>
      </p:sp>
      <p:sp>
        <p:nvSpPr>
          <p:cNvPr id="7" name="Oval 6">
            <a:extLst>
              <a:ext uri="{FF2B5EF4-FFF2-40B4-BE49-F238E27FC236}">
                <a16:creationId xmlns:a16="http://schemas.microsoft.com/office/drawing/2014/main" id="{AEC69EB3-A79E-EF7E-C2B6-339A004860E0}"/>
              </a:ext>
            </a:extLst>
          </p:cNvPr>
          <p:cNvSpPr/>
          <p:nvPr/>
        </p:nvSpPr>
        <p:spPr>
          <a:xfrm>
            <a:off x="7558144" y="2287016"/>
            <a:ext cx="814428" cy="3905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7F093716-D2BE-5CCF-24E2-17C8174D441B}"/>
              </a:ext>
            </a:extLst>
          </p:cNvPr>
          <p:cNvSpPr/>
          <p:nvPr/>
        </p:nvSpPr>
        <p:spPr>
          <a:xfrm>
            <a:off x="10288741" y="2482279"/>
            <a:ext cx="1863635" cy="1123406"/>
          </a:xfrm>
          <a:prstGeom prst="borderCallout1">
            <a:avLst>
              <a:gd name="adj1" fmla="val 10057"/>
              <a:gd name="adj2" fmla="val -3093"/>
              <a:gd name="adj3" fmla="val 2105"/>
              <a:gd name="adj4" fmla="val -98255"/>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DTE Steerage Impact on an EPO Plan Structure</a:t>
            </a:r>
          </a:p>
        </p:txBody>
      </p:sp>
    </p:spTree>
    <p:extLst>
      <p:ext uri="{BB962C8B-B14F-4D97-AF65-F5344CB8AC3E}">
        <p14:creationId xmlns:p14="http://schemas.microsoft.com/office/powerpoint/2010/main" val="2283730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938371359"/>
              </p:ext>
            </p:extLst>
          </p:nvPr>
        </p:nvGraphicFramePr>
        <p:xfrm>
          <a:off x="0" y="145140"/>
          <a:ext cx="12191999" cy="6551168"/>
        </p:xfrm>
        <a:graphic>
          <a:graphicData uri="http://schemas.openxmlformats.org/drawingml/2006/table">
            <a:tbl>
              <a:tblPr/>
              <a:tblGrid>
                <a:gridCol w="3177166">
                  <a:extLst>
                    <a:ext uri="{9D8B030D-6E8A-4147-A177-3AD203B41FA5}">
                      <a16:colId xmlns:a16="http://schemas.microsoft.com/office/drawing/2014/main" val="20000"/>
                    </a:ext>
                  </a:extLst>
                </a:gridCol>
                <a:gridCol w="2928292">
                  <a:extLst>
                    <a:ext uri="{9D8B030D-6E8A-4147-A177-3AD203B41FA5}">
                      <a16:colId xmlns:a16="http://schemas.microsoft.com/office/drawing/2014/main" val="20001"/>
                    </a:ext>
                  </a:extLst>
                </a:gridCol>
                <a:gridCol w="2751913">
                  <a:extLst>
                    <a:ext uri="{9D8B030D-6E8A-4147-A177-3AD203B41FA5}">
                      <a16:colId xmlns:a16="http://schemas.microsoft.com/office/drawing/2014/main" val="20002"/>
                    </a:ext>
                  </a:extLst>
                </a:gridCol>
                <a:gridCol w="3334628">
                  <a:extLst>
                    <a:ext uri="{9D8B030D-6E8A-4147-A177-3AD203B41FA5}">
                      <a16:colId xmlns:a16="http://schemas.microsoft.com/office/drawing/2014/main" val="20003"/>
                    </a:ext>
                  </a:extLst>
                </a:gridCol>
              </a:tblGrid>
              <a:tr h="0">
                <a:tc gridSpan="4">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177017">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Little Rock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Conway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Baptist Health Medical Center North Little Rock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179,370</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16,591</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57,880</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51,933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5,868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21,768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18,496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1,744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5,571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15,285</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1,183</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$1,741,427K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$162,000.7K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$582,933.4K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$857,439.3K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$217,981.2K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$456,535.7K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$552,876.6K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$77,244.95K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$250,637.7K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15511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$382,321.4K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$32,274.6K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$85,579.13K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$806,229.1K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$52,481.14K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$246,716.6K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$31,252.17K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$5,289.367K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$12,331.34K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$1,792,813K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$169,407.2K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$589,095.5K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$882,740.6K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$227,947.1K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$461,361.7K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$2,675,554K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$397,354.2K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$1,050,457K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$-45,434.97K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$-12,082.97K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$1,343.286K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29.0%</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35.4%</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9.6%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49.9%</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49.5%</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33.7%</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36.6%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0">
                <a:tc>
                  <a:txBody>
                    <a:bodyPr/>
                    <a:lstStyle/>
                    <a:p>
                      <a:pPr marL="63500" marR="63500" algn="l">
                        <a:lnSpc>
                          <a:spcPct val="100000"/>
                        </a:lnSpc>
                        <a:spcBef>
                          <a:spcPts val="500"/>
                        </a:spcBef>
                        <a:spcAft>
                          <a:spcPts val="500"/>
                        </a:spcAft>
                        <a:buNone/>
                      </a:pPr>
                      <a:endParaRP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NA%</a:t>
                      </a:r>
                    </a:p>
                  </a:txBody>
                  <a:tcPr marL="0" marR="0" marT="27432" marB="27432"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extLst>
                  <a:ext uri="{0D108BD9-81ED-4DB2-BD59-A6C34878D82A}">
                    <a16:rowId xmlns:a16="http://schemas.microsoft.com/office/drawing/2014/main" val="10024"/>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t>37</a:t>
            </a:fld>
            <a:endParaRPr lang="en-US" dirty="0"/>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563590433"/>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Patients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$ 5,136,946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$ 9,338,166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$ 1,587,090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$ 16,062,202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$ 891,113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$ 1,619,904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$ 275,315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$ 2,786,332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9" name="TextBox 8">
            <a:extLst>
              <a:ext uri="{FF2B5EF4-FFF2-40B4-BE49-F238E27FC236}">
                <a16:creationId xmlns:a16="http://schemas.microsoft.com/office/drawing/2014/main" id="{60820A86-1B9D-21A4-BBB6-DDFB73605882}"/>
              </a:ext>
            </a:extLst>
          </p:cNvPr>
          <p:cNvSpPr txBox="1"/>
          <p:nvPr/>
        </p:nvSpPr>
        <p:spPr>
          <a:xfrm>
            <a:off x="7683498" y="744927"/>
            <a:ext cx="4318001" cy="523220"/>
          </a:xfrm>
          <a:prstGeom prst="rect">
            <a:avLst/>
          </a:prstGeom>
          <a:noFill/>
        </p:spPr>
        <p:txBody>
          <a:bodyPr wrap="square">
            <a:spAutoFit/>
          </a:bodyPr>
          <a:lstStyle/>
          <a:p>
            <a:r>
              <a:rPr lang="en-US" sz="1400" dirty="0"/>
              <a:t>† Assuming proportional revenues from market shares of 42% (inpatient) and 15% (outpatient)</a:t>
            </a:r>
          </a:p>
        </p:txBody>
      </p:sp>
      <p:sp>
        <p:nvSpPr>
          <p:cNvPr id="10" name="TextBox 9">
            <a:extLst>
              <a:ext uri="{FF2B5EF4-FFF2-40B4-BE49-F238E27FC236}">
                <a16:creationId xmlns:a16="http://schemas.microsoft.com/office/drawing/2014/main" id="{6CDBA057-BBD2-8F54-E977-26B782E37F88}"/>
              </a:ext>
            </a:extLst>
          </p:cNvPr>
          <p:cNvSpPr txBox="1"/>
          <p:nvPr/>
        </p:nvSpPr>
        <p:spPr>
          <a:xfrm>
            <a:off x="7683497" y="1306965"/>
            <a:ext cx="4318001" cy="523220"/>
          </a:xfrm>
          <a:prstGeom prst="rect">
            <a:avLst/>
          </a:prstGeom>
          <a:noFill/>
        </p:spPr>
        <p:txBody>
          <a:bodyPr wrap="square">
            <a:spAutoFit/>
          </a:bodyPr>
          <a:lstStyle/>
          <a:p>
            <a:r>
              <a:rPr lang="en-US" sz="1400" dirty="0"/>
              <a:t>‡ Conservatively assuming a commercial margin of 17% (half of the estimated commercial margin)</a:t>
            </a:r>
          </a:p>
        </p:txBody>
      </p:sp>
      <p:sp>
        <p:nvSpPr>
          <p:cNvPr id="11" name="TextBox 10">
            <a:extLst>
              <a:ext uri="{FF2B5EF4-FFF2-40B4-BE49-F238E27FC236}">
                <a16:creationId xmlns:a16="http://schemas.microsoft.com/office/drawing/2014/main" id="{C690F22E-C9CA-61DC-5584-149573110610}"/>
              </a:ext>
            </a:extLst>
          </p:cNvPr>
          <p:cNvSpPr txBox="1"/>
          <p:nvPr/>
        </p:nvSpPr>
        <p:spPr>
          <a:xfrm>
            <a:off x="7683497" y="2013982"/>
            <a:ext cx="4318001" cy="523220"/>
          </a:xfrm>
          <a:prstGeom prst="rect">
            <a:avLst/>
          </a:prstGeom>
          <a:noFill/>
        </p:spPr>
        <p:txBody>
          <a:bodyPr wrap="square">
            <a:spAutoFit/>
          </a:bodyPr>
          <a:lstStyle/>
          <a:p>
            <a:r>
              <a:rPr lang="en-US" sz="1400" dirty="0"/>
              <a:t>⁰ Assuming 77.42% market share based on KBA narrow network DTE experience</a:t>
            </a:r>
          </a:p>
        </p:txBody>
      </p:sp>
      <p:sp>
        <p:nvSpPr>
          <p:cNvPr id="12" name="TextBox 11">
            <a:extLst>
              <a:ext uri="{FF2B5EF4-FFF2-40B4-BE49-F238E27FC236}">
                <a16:creationId xmlns:a16="http://schemas.microsoft.com/office/drawing/2014/main" id="{A897897D-C568-B204-6568-514AD4B71A5C}"/>
              </a:ext>
            </a:extLst>
          </p:cNvPr>
          <p:cNvSpPr txBox="1"/>
          <p:nvPr/>
        </p:nvSpPr>
        <p:spPr>
          <a:xfrm>
            <a:off x="7683497" y="2576020"/>
            <a:ext cx="4318002" cy="954107"/>
          </a:xfrm>
          <a:prstGeom prst="rect">
            <a:avLst/>
          </a:prstGeom>
          <a:noFill/>
        </p:spPr>
        <p:txBody>
          <a:bodyPr wrap="square">
            <a:spAutoFit/>
          </a:bodyPr>
          <a:lstStyle/>
          <a:p>
            <a:r>
              <a:rPr lang="en-US" sz="1400" dirty="0"/>
              <a:t>* Conservatively assuming a commercial margin of 21.6%, with a 10 percentage-point reduction to reflect competitive-edge rates and a 5 percentage-point increase to reflect lower billing costs.  </a:t>
            </a:r>
          </a:p>
        </p:txBody>
      </p:sp>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647470092"/>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$ 2,399,509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$ 1,559,674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$ 2,129,509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234690228"/>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$ 11,454,289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$ 20,822,109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$ 9,723,952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$ 42,000,350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$ 1,414,277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$ 2,570,935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$ 1,200,630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$ 25,938,148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Tree>
    <p:extLst>
      <p:ext uri="{BB962C8B-B14F-4D97-AF65-F5344CB8AC3E}">
        <p14:creationId xmlns:p14="http://schemas.microsoft.com/office/powerpoint/2010/main" val="29777194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490969708"/>
              </p:ext>
            </p:extLst>
          </p:nvPr>
        </p:nvGraphicFramePr>
        <p:xfrm>
          <a:off x="0" y="0"/>
          <a:ext cx="12192002" cy="62788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$20,547.8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$45,817.2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$2,828.6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$5,657.1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$12,634.7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$25,269.4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$523.2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$2,092.7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$37,352.7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$6,479.6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$83,288.4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$514.2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$5,141.9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$10,283.7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$45,935.8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$951.0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$1,902.1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$3,804.1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$1,587.1</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$6,348.4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$275.3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$9,724.0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$32,547.4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$92.5</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$925.3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$1,850.6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$3,701.3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294279851"/>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$64,248.8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$2,786.3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$168,001.4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$103,752.6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$20,743.4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$2,399.5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$4,799.0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$9,598.0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$-84.0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$161.9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$2,129.5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$4,589.0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$9,508.0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10041999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45495145"/>
              </p:ext>
            </p:extLst>
          </p:nvPr>
        </p:nvGraphicFramePr>
        <p:xfrm>
          <a:off x="0" y="0"/>
          <a:ext cx="12192002" cy="62788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$20,547.8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$7,128.9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$11,454.3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$22,908.6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$45,817.2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$13,605.1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$631.7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$12,634.7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$25,269.4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$1,619.0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$3,238.1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$6,476.2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$9,338.2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$18,676.3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$37,352.7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$648.0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$3,239.8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$6,479.6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$12,959.2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$41,644.2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$83,288.4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$6,183.0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$12,365.9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$24,731.9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$1,148.4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$11,483.9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$22,967.9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$45,935.8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$2,943.2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$5,886.3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$11,772.7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$1,587.1</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$3,174.2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$6,348.4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$1,101.3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$2,202.5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$9,724.0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$19,447.9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$5,774.9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$11,549.8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$8,136.9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$16,273.7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$32,547.4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$2,336.8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$4,673.7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$9,347.3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094723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695471698"/>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a:t>
                      </a:r>
                      <a:r>
                        <a:rPr sz="2000" b="1" i="0" u="none" cap="none" dirty="0">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$16,062.2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$32,124.4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$64,248.8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$557.3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$5,572.7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$11,145.3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$22,290.7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$8,400.1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$42,000.3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$84,000.7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$168,001.4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$25,938.1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$51,876.3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$103,752.6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$1,247.2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$2,494.3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$12,471.7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$24,943.4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$49,886.8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$689.9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$1,379.8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$6,899.0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$13,798.1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$27,596.1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$365.9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$1,061.8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$6,629.0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$13,588.1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$27,506.1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4283055071"/>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43</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44</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Jack Hill, Executive Vice President – KBA</a:t>
            </a:r>
          </a:p>
          <a:p>
            <a:pPr algn="ctr"/>
            <a:r>
              <a:rPr lang="en-US" dirty="0">
                <a:solidFill>
                  <a:schemeClr val="bg1"/>
                </a:solidFill>
                <a:latin typeface="Arial" panose="020B0604020202020204" pitchFamily="34" charset="0"/>
                <a:cs typeface="Arial" panose="020B0604020202020204" pitchFamily="34" charset="0"/>
              </a:rPr>
              <a:t>630-878-7539 * </a:t>
            </a:r>
            <a:r>
              <a:rPr lang="en-US" dirty="0">
                <a:solidFill>
                  <a:schemeClr val="bg1"/>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jack.hill@keybenefit.com</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37446</TotalTime>
  <Words>5137</Words>
  <Application>Microsoft Office PowerPoint</Application>
  <PresentationFormat>Widescreen</PresentationFormat>
  <Paragraphs>1334</Paragraphs>
  <Slides>44</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44</vt:i4>
      </vt:variant>
    </vt:vector>
  </HeadingPairs>
  <TitlesOfParts>
    <vt:vector size="54" baseType="lpstr">
      <vt:lpstr>Aptos Narrow</vt:lpstr>
      <vt:lpstr>Arial</vt:lpstr>
      <vt:lpstr>Arial Black</vt:lpstr>
      <vt:lpstr>Calibri</vt:lpstr>
      <vt:lpstr>Calibri Light</vt:lpstr>
      <vt:lpstr>Century Gothic</vt:lpstr>
      <vt:lpstr>Courier New</vt:lpstr>
      <vt:lpstr>Wingdings</vt:lpstr>
      <vt:lpstr>Office Theme</vt:lpstr>
      <vt:lpstr>1_Office Theme</vt:lpstr>
      <vt:lpstr>PowerPoint Presentation</vt:lpstr>
      <vt:lpstr>Why Direct-to-Employer (DTE)?  It is time you have a say in your community's healthcare</vt:lpstr>
      <vt:lpstr>Direct-to-Employer (DTE)  Your plan focused on Your relationship with Employers</vt:lpstr>
      <vt:lpstr>Every $1 of Care</vt:lpstr>
      <vt:lpstr>PowerPoint Presentation</vt:lpstr>
      <vt:lpstr>Direct-to-Employer Strategy: Only Available to Premier Health Systems</vt:lpstr>
      <vt:lpstr>DIRECT-TO-EMPLOYER Focused on Self-Funded Employers</vt:lpstr>
      <vt:lpstr>FINANCIAL SUMMARY</vt:lpstr>
      <vt:lpstr>PowerPoint Presentation</vt:lpstr>
      <vt:lpstr>DIRECT-TO-EMPLOYER Health Plan Strategy</vt:lpstr>
      <vt:lpstr>There Are 5 Main Reasons the DTE Program is Strategically Important for Baptist Health: </vt:lpstr>
      <vt:lpstr>PowerPoint Presentation</vt:lpstr>
      <vt:lpstr>PowerPoint Presentation</vt:lpstr>
      <vt:lpstr>Healthcare Leader in Private Labeled Plans</vt:lpstr>
      <vt:lpstr>Healthcare Leader in Private Labeled Plans</vt:lpstr>
      <vt:lpstr>PowerPoint Presentation</vt:lpstr>
      <vt:lpstr>BHS NETWORK </vt:lpstr>
      <vt:lpstr>Your Partner IN POPULATION HEALTH</vt:lpstr>
      <vt:lpstr>PowerPoint Presentation</vt:lpstr>
      <vt:lpstr>PowerPoint Presentation</vt:lpstr>
      <vt:lpstr>Transparent PBM Integration </vt:lpstr>
      <vt:lpstr>STOP-LOSS INSURANCE</vt:lpstr>
      <vt:lpstr>BENEFITS FOR THE EMPLOYER</vt:lpstr>
      <vt:lpstr>PowerPoint Presentation</vt:lpstr>
      <vt:lpstr>PowerPoint Presentation</vt:lpstr>
      <vt:lpstr>DTE  PROGRAM MARKETING  &amp; SALES</vt:lpstr>
      <vt:lpstr>Complete Sales Distribution System</vt:lpstr>
      <vt:lpstr>Complete Marketing System</vt:lpstr>
      <vt:lpstr>DTE COLLABORATION</vt:lpstr>
      <vt:lpstr>ROLES &amp; RESPONSBILITIES</vt:lpstr>
      <vt:lpstr>FINANCIAL PROJECTIONS &amp; ASSUMPTIONS</vt:lpstr>
      <vt:lpstr>Estimation of BH 2021 Inpatient Payer Mix</vt:lpstr>
      <vt:lpstr>Estimation of Margin for Commercial vs. Government Pay</vt:lpstr>
      <vt:lpstr>Estimating Market Share</vt:lpstr>
      <vt:lpstr>ATTACHMENT B – PLAN DESIGN STEERAGE</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96</cp:revision>
  <cp:lastPrinted>2023-07-13T10:24:43Z</cp:lastPrinted>
  <dcterms:created xsi:type="dcterms:W3CDTF">2021-01-20T14:12:11Z</dcterms:created>
  <dcterms:modified xsi:type="dcterms:W3CDTF">2024-07-19T00:38:06Z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