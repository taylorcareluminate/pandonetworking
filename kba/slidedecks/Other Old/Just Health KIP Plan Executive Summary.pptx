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4"/>
  </p:notesMasterIdLst>
  <p:sldIdLst>
    <p:sldId id="577" r:id="rId5"/>
    <p:sldId id="549" r:id="rId6"/>
    <p:sldId id="580" r:id="rId7"/>
    <p:sldId id="582" r:id="rId8"/>
    <p:sldId id="581" r:id="rId9"/>
    <p:sldId id="499" r:id="rId10"/>
    <p:sldId id="548" r:id="rId11"/>
    <p:sldId id="454" r:id="rId12"/>
    <p:sldId id="472" r:id="rId13"/>
  </p:sldIdLst>
  <p:sldSz cx="12192000" cy="6858000"/>
  <p:notesSz cx="7315200" cy="96012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424AA"/>
    <a:srgbClr val="E23440"/>
    <a:srgbClr val="027587"/>
    <a:srgbClr val="7F7F7F"/>
    <a:srgbClr val="00467F"/>
    <a:srgbClr val="58A5DA"/>
    <a:srgbClr val="30589B"/>
    <a:srgbClr val="4468A5"/>
    <a:srgbClr val="59C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90" d="100"/>
          <a:sy n="90" d="100"/>
        </p:scale>
        <p:origin x="1068" y="2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CB1A6A88-78CA-44D1-BE3E-26B2D69C9C36}"/>
    <pc:docChg chg="delSld modSld sldOrd">
      <pc:chgData name="Taylor Davis" userId="5c9e72a0-c39f-4aa1-9d7d-64125e78cbe6" providerId="ADAL" clId="{CB1A6A88-78CA-44D1-BE3E-26B2D69C9C36}" dt="2024-08-18T01:51:57.779" v="2" actId="47"/>
      <pc:docMkLst>
        <pc:docMk/>
      </pc:docMkLst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2984433661" sldId="446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1419816550" sldId="536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3372743309" sldId="579"/>
        </pc:sldMkLst>
      </pc:sldChg>
      <pc:sldChg chg="ord">
        <pc:chgData name="Taylor Davis" userId="5c9e72a0-c39f-4aa1-9d7d-64125e78cbe6" providerId="ADAL" clId="{CB1A6A88-78CA-44D1-BE3E-26B2D69C9C36}" dt="2024-08-18T01:51:43.585" v="1"/>
        <pc:sldMkLst>
          <pc:docMk/>
          <pc:sldMk cId="3412855892" sldId="582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83751653" sldId="583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2418634957" sldId="584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2318743501" sldId="585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1757329688" sldId="586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1831031829" sldId="587"/>
        </pc:sldMkLst>
      </pc:sldChg>
      <pc:sldChg chg="del">
        <pc:chgData name="Taylor Davis" userId="5c9e72a0-c39f-4aa1-9d7d-64125e78cbe6" providerId="ADAL" clId="{CB1A6A88-78CA-44D1-BE3E-26B2D69C9C36}" dt="2024-08-18T01:51:57.779" v="2" actId="47"/>
        <pc:sldMkLst>
          <pc:docMk/>
          <pc:sldMk cId="3692785024" sldId="5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8/17/2024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August 19,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BF4670-4F3C-F2CA-4FB8-36B431830A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7" b="22647"/>
          <a:stretch/>
        </p:blipFill>
        <p:spPr bwMode="auto">
          <a:xfrm>
            <a:off x="981075" y="1904135"/>
            <a:ext cx="11210925" cy="495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21D31F-A4FE-48B7-B80D-F205765D6D4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53402" y="435520"/>
            <a:ext cx="4004259" cy="17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Private-Labeled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ESA - Do business with ESA">
            <a:extLst>
              <a:ext uri="{FF2B5EF4-FFF2-40B4-BE49-F238E27FC236}">
                <a16:creationId xmlns:a16="http://schemas.microsoft.com/office/drawing/2014/main" id="{D7347B8B-C5AE-4C49-8B43-951D5F7A55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1" b="7912"/>
          <a:stretch/>
        </p:blipFill>
        <p:spPr bwMode="auto">
          <a:xfrm>
            <a:off x="-5594" y="0"/>
            <a:ext cx="12197593" cy="685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4D036B-CF91-40EF-88B5-63D0260D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2068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Incentive Plan (KIP) Profit Generation Opportunities for Just Health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4DE94D-6484-49BD-8A91-DBD5A9631194}"/>
              </a:ext>
            </a:extLst>
          </p:cNvPr>
          <p:cNvSpPr/>
          <p:nvPr/>
        </p:nvSpPr>
        <p:spPr>
          <a:xfrm>
            <a:off x="0" y="6209596"/>
            <a:ext cx="12192000" cy="662473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890C3-CCF4-4C60-8A15-4AAD2952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2400" y="6355207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8B177-4E99-4D87-A5BC-C4903809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66" y="6355207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21A3A-5CA5-4F32-91E4-D6082004CA50}"/>
              </a:ext>
            </a:extLst>
          </p:cNvPr>
          <p:cNvSpPr/>
          <p:nvPr/>
        </p:nvSpPr>
        <p:spPr>
          <a:xfrm>
            <a:off x="4134811" y="649481"/>
            <a:ext cx="749521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11">
              <a:lnSpc>
                <a:spcPct val="90000"/>
              </a:lnSpc>
              <a:spcAft>
                <a:spcPts val="1200"/>
              </a:spcAft>
            </a:pPr>
            <a:endParaRPr lang="en-US" sz="2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7FA25C-8EB6-4C31-9C3C-8A0215C1E657}"/>
              </a:ext>
            </a:extLst>
          </p:cNvPr>
          <p:cNvGrpSpPr/>
          <p:nvPr/>
        </p:nvGrpSpPr>
        <p:grpSpPr>
          <a:xfrm>
            <a:off x="740621" y="3205513"/>
            <a:ext cx="10705161" cy="2145203"/>
            <a:chOff x="539823" y="2622568"/>
            <a:chExt cx="3840480" cy="21452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9C0219-52DA-48A1-B7B2-E6F8C4FBD3C3}"/>
                </a:ext>
              </a:extLst>
            </p:cNvPr>
            <p:cNvSpPr/>
            <p:nvPr/>
          </p:nvSpPr>
          <p:spPr>
            <a:xfrm>
              <a:off x="539823" y="2622568"/>
              <a:ext cx="1920240" cy="214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b="1" dirty="0"/>
                <a:t>Patient Steerage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Covered members of the Key Incentive Plan are more likely to seek services with Just Health than they would be in a standard PPO plan because they receive indemnity benefits and the financing credit card. 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These incentives increase </a:t>
              </a:r>
              <a:r>
                <a:rPr lang="en-US" dirty="0" err="1"/>
                <a:t>CarePoint’s</a:t>
              </a:r>
              <a:r>
                <a:rPr lang="en-US" dirty="0"/>
                <a:t> commercial market share and commercial profit within this plan.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CD729A-32AD-4303-8BA6-9EBD13F93D1C}"/>
                </a:ext>
              </a:extLst>
            </p:cNvPr>
            <p:cNvSpPr/>
            <p:nvPr/>
          </p:nvSpPr>
          <p:spPr>
            <a:xfrm>
              <a:off x="2460063" y="2622568"/>
              <a:ext cx="1920240" cy="214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b="1" dirty="0"/>
                <a:t>Increased Margin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Because of the partnership between Key Benefits, and because patients have a financing path for medical costs, Just Health can expect higher realized revenue per patient from members of the Key Incentive Plan. 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This partnership increases Just Health’s realized revenue per patient and lowers collection costs. 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477D80-386D-4C49-BB5B-4192EF9C3FCB}"/>
              </a:ext>
            </a:extLst>
          </p:cNvPr>
          <p:cNvCxnSpPr/>
          <p:nvPr/>
        </p:nvCxnSpPr>
        <p:spPr>
          <a:xfrm>
            <a:off x="6100876" y="3205513"/>
            <a:ext cx="0" cy="2425682"/>
          </a:xfrm>
          <a:prstGeom prst="line">
            <a:avLst/>
          </a:prstGeom>
          <a:ln>
            <a:solidFill>
              <a:srgbClr val="006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E3306A4-A22E-44B4-B28D-02A4477CAE09}"/>
              </a:ext>
            </a:extLst>
          </p:cNvPr>
          <p:cNvSpPr/>
          <p:nvPr/>
        </p:nvSpPr>
        <p:spPr>
          <a:xfrm>
            <a:off x="3074011" y="2236449"/>
            <a:ext cx="685800" cy="685800"/>
          </a:xfrm>
          <a:prstGeom prst="ellipse">
            <a:avLst/>
          </a:prstGeom>
          <a:solidFill>
            <a:srgbClr val="59C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C0D7B4-43BC-4CE3-AA3D-60612464FC41}"/>
              </a:ext>
            </a:extLst>
          </p:cNvPr>
          <p:cNvSpPr/>
          <p:nvPr/>
        </p:nvSpPr>
        <p:spPr>
          <a:xfrm>
            <a:off x="8466666" y="2236449"/>
            <a:ext cx="685800" cy="685800"/>
          </a:xfrm>
          <a:prstGeom prst="ellipse">
            <a:avLst/>
          </a:prstGeom>
          <a:solidFill>
            <a:srgbClr val="59C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417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8344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2,500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410,000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630,000+ Members</a:t>
            </a:r>
            <a:endParaRPr lang="en-US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22151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22065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BE1B27-9F04-9265-C933-6FD598A73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611868"/>
              </p:ext>
            </p:extLst>
          </p:nvPr>
        </p:nvGraphicFramePr>
        <p:xfrm>
          <a:off x="4889297" y="2699749"/>
          <a:ext cx="6949427" cy="2913283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27220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Headquartered in Union, Essex or Hudson Counties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1,468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417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Estimated Employees of Above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110,100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89,550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125,100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161,000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Estimated Members of Above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154,140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125,370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175,140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225,400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179,200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680,400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r>
              <a:rPr lang="en-US" sz="2400" dirty="0">
                <a:solidFill>
                  <a:srgbClr val="000B2E"/>
                </a:solidFill>
              </a:rPr>
              <a:t>Researched for Union, Essex and Hudson Counties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A8BB4-8EB2-782A-EDD5-8538A2A8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2734221"/>
            <a:ext cx="4556861" cy="34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55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with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CDC0C6C2-0502-5F8F-266D-2F79E4389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57" y="1837578"/>
            <a:ext cx="6027973" cy="42195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1F948BD-D9F3-0E7A-A778-3B130A8365CE}"/>
              </a:ext>
            </a:extLst>
          </p:cNvPr>
          <p:cNvSpPr/>
          <p:nvPr/>
        </p:nvSpPr>
        <p:spPr>
          <a:xfrm>
            <a:off x="7554897" y="3022723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20CCE-F739-8633-848E-AA734997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028" y="365125"/>
            <a:ext cx="10458459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 Financial Returns and Assumptions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7C855-B839-95B6-9EA2-09392396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490145"/>
            <a:ext cx="4114800" cy="250380"/>
          </a:xfrm>
        </p:spPr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7619F-9C66-420C-88E0-81D9A3B4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49014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A48ACE-D370-6BA3-A39B-CF7D87E5C9A5}"/>
              </a:ext>
            </a:extLst>
          </p:cNvPr>
          <p:cNvSpPr/>
          <p:nvPr/>
        </p:nvSpPr>
        <p:spPr>
          <a:xfrm>
            <a:off x="7466120" y="1574676"/>
            <a:ext cx="4725880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386F57-8E81-E6DF-1A01-623E3BB7AB0B}"/>
              </a:ext>
            </a:extLst>
          </p:cNvPr>
          <p:cNvSpPr/>
          <p:nvPr/>
        </p:nvSpPr>
        <p:spPr>
          <a:xfrm>
            <a:off x="7168718" y="1574676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28AB6-CD3A-4CD3-8950-2942DDBEAC0D}"/>
              </a:ext>
            </a:extLst>
          </p:cNvPr>
          <p:cNvSpPr txBox="1"/>
          <p:nvPr/>
        </p:nvSpPr>
        <p:spPr>
          <a:xfrm>
            <a:off x="8019782" y="1667584"/>
            <a:ext cx="361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Steerage Assumptions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AE6BF-C458-13D4-626E-DAD4C1439055}"/>
              </a:ext>
            </a:extLst>
          </p:cNvPr>
          <p:cNvSpPr txBox="1"/>
          <p:nvPr/>
        </p:nvSpPr>
        <p:spPr>
          <a:xfrm>
            <a:off x="7466120" y="2250333"/>
            <a:ext cx="46163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/>
              </a:rPr>
              <a:t>KBA currently estimates that Just Health has 21% inpatient market share, and 13% outpatient market compared to hospitals/clinics in Union, Essex and Hudson Counties. We expect within-KIP steerage to increase to (inpatient/outpatient):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9940AC-5161-4A7C-F820-720723177F99}"/>
              </a:ext>
            </a:extLst>
          </p:cNvPr>
          <p:cNvSpPr txBox="1"/>
          <p:nvPr/>
        </p:nvSpPr>
        <p:spPr>
          <a:xfrm>
            <a:off x="7785777" y="2987377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C10C26-8A4C-C6CF-D8A6-005227E091A5}"/>
              </a:ext>
            </a:extLst>
          </p:cNvPr>
          <p:cNvSpPr txBox="1"/>
          <p:nvPr/>
        </p:nvSpPr>
        <p:spPr>
          <a:xfrm>
            <a:off x="9529856" y="2975309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F3B85-69EC-8FED-A956-FFB8BE6FE5D7}"/>
              </a:ext>
            </a:extLst>
          </p:cNvPr>
          <p:cNvSpPr txBox="1"/>
          <p:nvPr/>
        </p:nvSpPr>
        <p:spPr>
          <a:xfrm>
            <a:off x="11244106" y="2991243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FEE2C1-9161-C3CD-EE7F-6727C796DF0D}"/>
              </a:ext>
            </a:extLst>
          </p:cNvPr>
          <p:cNvSpPr txBox="1"/>
          <p:nvPr/>
        </p:nvSpPr>
        <p:spPr>
          <a:xfrm>
            <a:off x="7531093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25%/15%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C51BEE-0560-3D56-4AE8-86D704578774}"/>
              </a:ext>
            </a:extLst>
          </p:cNvPr>
          <p:cNvSpPr txBox="1"/>
          <p:nvPr/>
        </p:nvSpPr>
        <p:spPr>
          <a:xfrm>
            <a:off x="9358154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27.5%/17.5%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D3C89-20DF-71B2-E5D8-1DA9D1F926E7}"/>
              </a:ext>
            </a:extLst>
          </p:cNvPr>
          <p:cNvSpPr txBox="1"/>
          <p:nvPr/>
        </p:nvSpPr>
        <p:spPr>
          <a:xfrm>
            <a:off x="10996093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30%/22%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0CA171-241C-9006-DA4D-7174E70B2EF3}"/>
              </a:ext>
            </a:extLst>
          </p:cNvPr>
          <p:cNvSpPr/>
          <p:nvPr/>
        </p:nvSpPr>
        <p:spPr>
          <a:xfrm>
            <a:off x="7597806" y="5348162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8E1912-BAE3-A76F-55A7-754D206BC471}"/>
              </a:ext>
            </a:extLst>
          </p:cNvPr>
          <p:cNvSpPr/>
          <p:nvPr/>
        </p:nvSpPr>
        <p:spPr>
          <a:xfrm>
            <a:off x="7509029" y="4095424"/>
            <a:ext cx="4682971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B9ED21-8D89-315C-4C9C-403AA9B2666A}"/>
              </a:ext>
            </a:extLst>
          </p:cNvPr>
          <p:cNvSpPr/>
          <p:nvPr/>
        </p:nvSpPr>
        <p:spPr>
          <a:xfrm>
            <a:off x="7211627" y="4095424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E697A-C380-A6EE-50AE-8B3DED34929F}"/>
              </a:ext>
            </a:extLst>
          </p:cNvPr>
          <p:cNvSpPr txBox="1"/>
          <p:nvPr/>
        </p:nvSpPr>
        <p:spPr>
          <a:xfrm>
            <a:off x="8062691" y="4188332"/>
            <a:ext cx="393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Margin Assumptions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C9D62D-25B0-6CD9-8AD7-E6855B1B1B26}"/>
              </a:ext>
            </a:extLst>
          </p:cNvPr>
          <p:cNvSpPr txBox="1"/>
          <p:nvPr/>
        </p:nvSpPr>
        <p:spPr>
          <a:xfrm>
            <a:off x="7509029" y="4771081"/>
            <a:ext cx="46163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/>
              </a:rPr>
              <a:t>KBA observes a Just Health 38% commercial margin</a:t>
            </a:r>
            <a:r>
              <a:rPr lang="en-US" sz="1050" dirty="0"/>
              <a:t>. We estimate that this margin will improve for patients covered by the KIP plan through higher collections as follows:</a:t>
            </a:r>
            <a:endParaRPr lang="en-US" sz="1050" dirty="0">
              <a:solidFill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6920ED-352E-9285-CC83-BDA6AB18978D}"/>
              </a:ext>
            </a:extLst>
          </p:cNvPr>
          <p:cNvSpPr txBox="1"/>
          <p:nvPr/>
        </p:nvSpPr>
        <p:spPr>
          <a:xfrm>
            <a:off x="7707395" y="5300748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59AB8C-6F23-81D3-4546-DE75EBD91879}"/>
              </a:ext>
            </a:extLst>
          </p:cNvPr>
          <p:cNvSpPr txBox="1"/>
          <p:nvPr/>
        </p:nvSpPr>
        <p:spPr>
          <a:xfrm>
            <a:off x="9532571" y="5300748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4AFF5C-ABDA-A82B-40C8-14E2DB160036}"/>
              </a:ext>
            </a:extLst>
          </p:cNvPr>
          <p:cNvSpPr txBox="1"/>
          <p:nvPr/>
        </p:nvSpPr>
        <p:spPr>
          <a:xfrm>
            <a:off x="11336305" y="5300748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03026B-6D1E-F7B1-9995-7D9DC1019C60}"/>
              </a:ext>
            </a:extLst>
          </p:cNvPr>
          <p:cNvSpPr txBox="1"/>
          <p:nvPr/>
        </p:nvSpPr>
        <p:spPr>
          <a:xfrm>
            <a:off x="7659946" y="5559601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37.3%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64CEEB-E16A-926D-5DF0-DC8275443A40}"/>
              </a:ext>
            </a:extLst>
          </p:cNvPr>
          <p:cNvSpPr txBox="1"/>
          <p:nvPr/>
        </p:nvSpPr>
        <p:spPr>
          <a:xfrm>
            <a:off x="9539867" y="557157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42.3%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6000A2-AFB1-117D-BFF0-2BDA3EA8A77D}"/>
              </a:ext>
            </a:extLst>
          </p:cNvPr>
          <p:cNvSpPr txBox="1"/>
          <p:nvPr/>
        </p:nvSpPr>
        <p:spPr>
          <a:xfrm>
            <a:off x="11288856" y="557157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47.3%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54312B-28D3-E83C-2C75-6E860911BB50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AB5DAF-375F-8C08-74DE-3B9B1A009F3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SINGLE-YEAR PROJECTION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6A62E0-771C-54FE-B757-DC2BCD4ECC0D}"/>
              </a:ext>
            </a:extLst>
          </p:cNvPr>
          <p:cNvSpPr txBox="1"/>
          <p:nvPr/>
        </p:nvSpPr>
        <p:spPr>
          <a:xfrm>
            <a:off x="1720130" y="1969785"/>
            <a:ext cx="403418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Net Margin Growth by Number of KIP Covered Lives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334A4D-A904-88CB-EA92-AD56511A56D6}"/>
              </a:ext>
            </a:extLst>
          </p:cNvPr>
          <p:cNvSpPr txBox="1"/>
          <p:nvPr/>
        </p:nvSpPr>
        <p:spPr>
          <a:xfrm>
            <a:off x="3464445" y="5370832"/>
            <a:ext cx="181492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b="1" dirty="0"/>
              <a:t>Total KIP Covered Members</a:t>
            </a:r>
          </a:p>
        </p:txBody>
      </p:sp>
    </p:spTree>
    <p:extLst>
      <p:ext uri="{BB962C8B-B14F-4D97-AF65-F5344CB8AC3E}">
        <p14:creationId xmlns:p14="http://schemas.microsoft.com/office/powerpoint/2010/main" val="152774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1" y="5433068"/>
            <a:ext cx="10881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NOTE:  Please see detailed financial analysis and assumptions used starting on page 15.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Financial projections do not include 340B contribution margin, which could represent $136 PMPM by optimizing 340B through Rx plan design, JH’s approved site(s) with network integration, and development of JH’s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1FA2BEE-6CEA-6AC5-F892-48B7EF3E0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923636"/>
              </p:ext>
            </p:extLst>
          </p:nvPr>
        </p:nvGraphicFramePr>
        <p:xfrm>
          <a:off x="2114550" y="457200"/>
          <a:ext cx="9052560" cy="4572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20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</a:t>
                      </a: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</a:t>
                      </a: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</a:t>
                      </a: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235K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319K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84K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135K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59K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-270K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$ 1,174K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379K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$ 1,597K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422K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675K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296K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-28K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$ 2,349K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758K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$ 3,193K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844K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$ 1,350K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592K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274K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$ 5,872K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$ 1,895K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$ 7,983K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$ 2,110K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$ 3,375K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$ 1,479K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$ 1,179K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$23,489K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$ 7,581K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$31,930K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$ 8,441K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$13,498K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$ 5,917K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$ 5,707K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$46,978K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$15,161K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$63,861K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$16,883K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$26,996K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$11,835K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$11,745K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54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6DF45-D5B0-585C-20C8-45741BA6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5FC98-89A0-63E0-1CBF-EF829E31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pic>
        <p:nvPicPr>
          <p:cNvPr id="10" name="Picture 9" descr="A graph with a blue line&#10;&#10;Description automatically generated">
            <a:extLst>
              <a:ext uri="{FF2B5EF4-FFF2-40B4-BE49-F238E27FC236}">
                <a16:creationId xmlns:a16="http://schemas.microsoft.com/office/drawing/2014/main" id="{BBD96C2F-A3C4-509B-1A2C-70886931B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5" y="27863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2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3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3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38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42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48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8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bb9d9a-492e-4d86-9bdd-e02b78ffe67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4E10A533480428FBB8BE9B52FCBD1" ma:contentTypeVersion="16" ma:contentTypeDescription="Create a new document." ma:contentTypeScope="" ma:versionID="64d19ed0ff3ed9bc7ac3e809962da4f2">
  <xsd:schema xmlns:xsd="http://www.w3.org/2001/XMLSchema" xmlns:xs="http://www.w3.org/2001/XMLSchema" xmlns:p="http://schemas.microsoft.com/office/2006/metadata/properties" xmlns:ns3="38bb9d9a-492e-4d86-9bdd-e02b78ffe67a" xmlns:ns4="98771493-e6b0-4988-9425-a20c97ff2d5d" targetNamespace="http://schemas.microsoft.com/office/2006/metadata/properties" ma:root="true" ma:fieldsID="edf49902adfca0f4428381aef2cd2b75" ns3:_="" ns4:_="">
    <xsd:import namespace="38bb9d9a-492e-4d86-9bdd-e02b78ffe67a"/>
    <xsd:import namespace="98771493-e6b0-4988-9425-a20c97ff2d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bb9d9a-492e-4d86-9bdd-e02b78ffe6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71493-e6b0-4988-9425-a20c97ff2d5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purl.org/dc/dcmitype/"/>
    <ds:schemaRef ds:uri="98771493-e6b0-4988-9425-a20c97ff2d5d"/>
    <ds:schemaRef ds:uri="http://purl.org/dc/terms/"/>
    <ds:schemaRef ds:uri="38bb9d9a-492e-4d86-9bdd-e02b78ffe67a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A857F9-8FB7-4917-BEF9-DFDBAC2226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bb9d9a-492e-4d86-9bdd-e02b78ffe67a"/>
    <ds:schemaRef ds:uri="98771493-e6b0-4988-9425-a20c97ff2d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46427</TotalTime>
  <Words>734</Words>
  <Application>Microsoft Office PowerPoint</Application>
  <PresentationFormat>Widescreen</PresentationFormat>
  <Paragraphs>184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Narrow</vt:lpstr>
      <vt:lpstr>Arial</vt:lpstr>
      <vt:lpstr>Calibri</vt:lpstr>
      <vt:lpstr>Calibri Light</vt:lpstr>
      <vt:lpstr>Wingdings</vt:lpstr>
      <vt:lpstr>Office Theme</vt:lpstr>
      <vt:lpstr>PowerPoint Presentation</vt:lpstr>
      <vt:lpstr>Market Leader in Private-Labeled Plans</vt:lpstr>
      <vt:lpstr>Key Incentive Plan (KIP) Profit Generation Opportunities for Just Health</vt:lpstr>
      <vt:lpstr>Significant Opportunity for Plan Growth Researched for Union, Essex and Hudson Counties</vt:lpstr>
      <vt:lpstr>Estimated Financial Returns and Assumptions</vt:lpstr>
      <vt:lpstr>SINGLE YEAR SUMMARY</vt:lpstr>
      <vt:lpstr>FOUR-YEAR PROJECTIONS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110</cp:revision>
  <cp:lastPrinted>2023-07-13T10:24:43Z</cp:lastPrinted>
  <dcterms:created xsi:type="dcterms:W3CDTF">2021-01-20T14:12:11Z</dcterms:created>
  <dcterms:modified xsi:type="dcterms:W3CDTF">2024-08-18T01:52:03Z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0x01010076B4E10A533480428FBB8BE9B52FCBD1</vt:lpwstr>
  </property>
</Properties>
</file>