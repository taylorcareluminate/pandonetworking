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15"/>
  </p:notesMasterIdLst>
  <p:sldIdLst>
    <p:sldId id="488" r:id="rId5"/>
    <p:sldId id="549" r:id="rId6"/>
    <p:sldId id="487" r:id="rId7"/>
    <p:sldId id="572" r:id="rId8"/>
    <p:sldId id="521" r:id="rId9"/>
    <p:sldId id="564" r:id="rId10"/>
    <p:sldId id="558" r:id="rId11"/>
    <p:sldId id="499" r:id="rId12"/>
    <p:sldId id="454" r:id="rId13"/>
    <p:sldId id="472" r:id="rId14"/>
  </p:sldIdLst>
  <p:sldSz cx="12192000" cy="6858000"/>
  <p:notesSz cx="7315200" cy="9601200"/>
  <p:custDataLst>
    <p:tags r:id="rId1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DCE5"/>
    <a:srgbClr val="01A050"/>
    <a:srgbClr val="30589B"/>
    <a:srgbClr val="6A8C98"/>
    <a:srgbClr val="59CAE8"/>
    <a:srgbClr val="244F9A"/>
    <a:srgbClr val="254F96"/>
    <a:srgbClr val="61A606"/>
    <a:srgbClr val="019CA5"/>
    <a:srgbClr val="7D3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7EFBD-6C5C-4975-A7E4-EBE6AE27589D}" v="5" dt="2024-08-09T20:11:56.95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852" y="26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5F47EFBD-6C5C-4975-A7E4-EBE6AE27589D}"/>
    <pc:docChg chg="undo custSel addSld delSld modSld">
      <pc:chgData name="Taylor Davis" userId="5c9e72a0-c39f-4aa1-9d7d-64125e78cbe6" providerId="ADAL" clId="{5F47EFBD-6C5C-4975-A7E4-EBE6AE27589D}" dt="2024-08-09T20:11:58.468" v="31" actId="47"/>
      <pc:docMkLst>
        <pc:docMk/>
      </pc:docMkLst>
      <pc:sldChg chg="add del">
        <pc:chgData name="Taylor Davis" userId="5c9e72a0-c39f-4aa1-9d7d-64125e78cbe6" providerId="ADAL" clId="{5F47EFBD-6C5C-4975-A7E4-EBE6AE27589D}" dt="2024-08-09T19:50:17.812" v="5"/>
        <pc:sldMkLst>
          <pc:docMk/>
          <pc:sldMk cId="1919135106" sldId="454"/>
        </pc:sldMkLst>
      </pc:sldChg>
      <pc:sldChg chg="add del">
        <pc:chgData name="Taylor Davis" userId="5c9e72a0-c39f-4aa1-9d7d-64125e78cbe6" providerId="ADAL" clId="{5F47EFBD-6C5C-4975-A7E4-EBE6AE27589D}" dt="2024-08-09T19:50:17.812" v="5"/>
        <pc:sldMkLst>
          <pc:docMk/>
          <pc:sldMk cId="2317283943" sldId="472"/>
        </pc:sldMkLst>
      </pc:sldChg>
      <pc:sldChg chg="add del">
        <pc:chgData name="Taylor Davis" userId="5c9e72a0-c39f-4aa1-9d7d-64125e78cbe6" providerId="ADAL" clId="{5F47EFBD-6C5C-4975-A7E4-EBE6AE27589D}" dt="2024-08-09T19:54:40.644" v="6"/>
        <pc:sldMkLst>
          <pc:docMk/>
          <pc:sldMk cId="3100464503" sldId="488"/>
        </pc:sldMkLst>
      </pc:sldChg>
      <pc:sldChg chg="add del setBg">
        <pc:chgData name="Taylor Davis" userId="5c9e72a0-c39f-4aa1-9d7d-64125e78cbe6" providerId="ADAL" clId="{5F47EFBD-6C5C-4975-A7E4-EBE6AE27589D}" dt="2024-08-09T05:12:19.222" v="3"/>
        <pc:sldMkLst>
          <pc:docMk/>
          <pc:sldMk cId="2203540903" sldId="499"/>
        </pc:sldMkLst>
      </pc:sldChg>
      <pc:sldChg chg="add del">
        <pc:chgData name="Taylor Davis" userId="5c9e72a0-c39f-4aa1-9d7d-64125e78cbe6" providerId="ADAL" clId="{5F47EFBD-6C5C-4975-A7E4-EBE6AE27589D}" dt="2024-08-09T05:12:19.222" v="3"/>
        <pc:sldMkLst>
          <pc:docMk/>
          <pc:sldMk cId="3470905217" sldId="558"/>
        </pc:sldMkLst>
      </pc:sldChg>
      <pc:sldChg chg="addSp delSp modSp del mod">
        <pc:chgData name="Taylor Davis" userId="5c9e72a0-c39f-4aa1-9d7d-64125e78cbe6" providerId="ADAL" clId="{5F47EFBD-6C5C-4975-A7E4-EBE6AE27589D}" dt="2024-08-09T20:11:58.468" v="31" actId="47"/>
        <pc:sldMkLst>
          <pc:docMk/>
          <pc:sldMk cId="1660060508" sldId="559"/>
        </pc:sldMkLst>
        <pc:graphicFrameChg chg="modGraphic">
          <ac:chgData name="Taylor Davis" userId="5c9e72a0-c39f-4aa1-9d7d-64125e78cbe6" providerId="ADAL" clId="{5F47EFBD-6C5C-4975-A7E4-EBE6AE27589D}" dt="2024-08-09T19:58:14.046" v="29" actId="20577"/>
          <ac:graphicFrameMkLst>
            <pc:docMk/>
            <pc:sldMk cId="1660060508" sldId="559"/>
            <ac:graphicFrameMk id="13" creationId="{C5BE1B27-9F04-9265-C933-6FD598A73DFA}"/>
          </ac:graphicFrameMkLst>
        </pc:graphicFrameChg>
        <pc:picChg chg="add mod modCrop">
          <ac:chgData name="Taylor Davis" userId="5c9e72a0-c39f-4aa1-9d7d-64125e78cbe6" providerId="ADAL" clId="{5F47EFBD-6C5C-4975-A7E4-EBE6AE27589D}" dt="2024-08-09T19:56:44.640" v="17" actId="732"/>
          <ac:picMkLst>
            <pc:docMk/>
            <pc:sldMk cId="1660060508" sldId="559"/>
            <ac:picMk id="5" creationId="{C438FFB0-AF4E-9D86-DD3E-E182343B41AE}"/>
          </ac:picMkLst>
        </pc:picChg>
        <pc:picChg chg="del mod">
          <ac:chgData name="Taylor Davis" userId="5c9e72a0-c39f-4aa1-9d7d-64125e78cbe6" providerId="ADAL" clId="{5F47EFBD-6C5C-4975-A7E4-EBE6AE27589D}" dt="2024-08-09T19:56:09.868" v="9" actId="478"/>
          <ac:picMkLst>
            <pc:docMk/>
            <pc:sldMk cId="1660060508" sldId="559"/>
            <ac:picMk id="11" creationId="{7CB2EC54-AB5F-C18F-3291-990A004ED6B4}"/>
          </ac:picMkLst>
        </pc:picChg>
      </pc:sldChg>
      <pc:sldChg chg="add del">
        <pc:chgData name="Taylor Davis" userId="5c9e72a0-c39f-4aa1-9d7d-64125e78cbe6" providerId="ADAL" clId="{5F47EFBD-6C5C-4975-A7E4-EBE6AE27589D}" dt="2024-08-09T19:54:44.114" v="7" actId="47"/>
        <pc:sldMkLst>
          <pc:docMk/>
          <pc:sldMk cId="3616322167" sldId="565"/>
        </pc:sldMkLst>
      </pc:sldChg>
      <pc:sldChg chg="add">
        <pc:chgData name="Taylor Davis" userId="5c9e72a0-c39f-4aa1-9d7d-64125e78cbe6" providerId="ADAL" clId="{5F47EFBD-6C5C-4975-A7E4-EBE6AE27589D}" dt="2024-08-09T20:11:56.955" v="30"/>
        <pc:sldMkLst>
          <pc:docMk/>
          <pc:sldMk cId="2368596866" sldId="5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8/9/2024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8/9/2024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8/9/2024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8/9/2024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8/9/2024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8/9/2024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8/9/2024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8/9/2024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8/9/2024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8/9/2024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8/9/2024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8/9/2024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8/9/2024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jpeg"/><Relationship Id="rId1" Type="http://schemas.openxmlformats.org/officeDocument/2006/relationships/slideLayout" Target="../slideLayouts/slideLayout6.xml"/><Relationship Id="rId6" Type="http://schemas.openxmlformats.org/officeDocument/2006/relationships/image" Target="../media/image18.svg"/><Relationship Id="rId11" Type="http://schemas.openxmlformats.org/officeDocument/2006/relationships/image" Target="../media/image1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August 9,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 name="Picture 2" descr="2023 NCC Award Winner: Carilion Roanoke Memorial Hospital - BCEN">
            <a:extLst>
              <a:ext uri="{FF2B5EF4-FFF2-40B4-BE49-F238E27FC236}">
                <a16:creationId xmlns:a16="http://schemas.microsoft.com/office/drawing/2014/main" id="{4702B835-52ED-39D9-75FD-BBFA5B353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3059" y="762788"/>
            <a:ext cx="2424908" cy="81809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ow Roanoke-Based Carilion Clinic Tackles Community Health">
            <a:extLst>
              <a:ext uri="{FF2B5EF4-FFF2-40B4-BE49-F238E27FC236}">
                <a16:creationId xmlns:a16="http://schemas.microsoft.com/office/drawing/2014/main" id="{52977739-39FE-1109-05E2-F40A14345C6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868" b="18489"/>
          <a:stretch/>
        </p:blipFill>
        <p:spPr bwMode="auto">
          <a:xfrm>
            <a:off x="981074" y="1799771"/>
            <a:ext cx="11210925" cy="5058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health plan focused on a direct relationship with self-funded employers in Your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2" descr="2023 NCC Award Winner: Carilion Roanoke Memorial Hospital - BCEN">
            <a:extLst>
              <a:ext uri="{FF2B5EF4-FFF2-40B4-BE49-F238E27FC236}">
                <a16:creationId xmlns:a16="http://schemas.microsoft.com/office/drawing/2014/main" id="{4025CA84-96A7-8CD9-EA89-011737238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0948" y="319921"/>
            <a:ext cx="2424908" cy="8180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54A4E41-B7F3-7FC8-9B50-31C47A79066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982201" y="217255"/>
            <a:ext cx="1807318" cy="1023421"/>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nvGraphicFramePr>
        <p:xfrm>
          <a:off x="4889297" y="2140949"/>
          <a:ext cx="6949427" cy="3542506"/>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1" i="0" u="none" strike="noStrike" dirty="0">
                          <a:solidFill>
                            <a:srgbClr val="000000"/>
                          </a:solidFill>
                          <a:effectLst/>
                          <a:latin typeface="Aptos Narrow" panose="020B0004020202020204" pitchFamily="34" charset="0"/>
                        </a:rPr>
                        <a:t>Commercial Employers Headquartered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137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146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107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Employees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10,275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14,300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26,250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21,900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32,100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55,100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Members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16,440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12,960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15,360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22,400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22,880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35,040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51,360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67,200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88,160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Roanoke and Lynchburg Hospital Referral Regions*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D559771-FFA2-8422-2FBC-334EBEE63AE1}"/>
              </a:ext>
            </a:extLst>
          </p:cNvPr>
          <p:cNvPicPr>
            <a:picLocks noChangeAspect="1"/>
          </p:cNvPicPr>
          <p:nvPr/>
        </p:nvPicPr>
        <p:blipFill>
          <a:blip r:embed="rId2"/>
          <a:stretch>
            <a:fillRect/>
          </a:stretch>
        </p:blipFill>
        <p:spPr>
          <a:xfrm>
            <a:off x="-10805" y="3065951"/>
            <a:ext cx="4567666" cy="2270653"/>
          </a:xfrm>
          <a:prstGeom prst="rect">
            <a:avLst/>
          </a:prstGeom>
        </p:spPr>
      </p:pic>
      <p:sp>
        <p:nvSpPr>
          <p:cNvPr id="14" name="TextBox 13">
            <a:extLst>
              <a:ext uri="{FF2B5EF4-FFF2-40B4-BE49-F238E27FC236}">
                <a16:creationId xmlns:a16="http://schemas.microsoft.com/office/drawing/2014/main" id="{4A943FBC-F646-4D8D-7012-9A24D6FF5E84}"/>
              </a:ext>
            </a:extLst>
          </p:cNvPr>
          <p:cNvSpPr txBox="1"/>
          <p:nvPr/>
        </p:nvSpPr>
        <p:spPr>
          <a:xfrm>
            <a:off x="521110" y="5888661"/>
            <a:ext cx="5407742" cy="938719"/>
          </a:xfrm>
          <a:prstGeom prst="rect">
            <a:avLst/>
          </a:prstGeom>
          <a:noFill/>
        </p:spPr>
        <p:txBody>
          <a:bodyPr wrap="square">
            <a:spAutoFit/>
          </a:bodyPr>
          <a:lstStyle/>
          <a:p>
            <a:endParaRPr lang="en-US" sz="1100" dirty="0"/>
          </a:p>
          <a:p>
            <a:r>
              <a:rPr lang="en-US" sz="1100" dirty="0"/>
              <a:t>*Hospital Referral Regions (HRRs) are geographic regions in the U.S. that define healthcare markets based on patient referral patterns for major cardiovascular and neurosurgery procedures, created by the Dartmouth Atlas of Health Care.</a:t>
            </a:r>
          </a:p>
          <a:p>
            <a:endParaRPr lang="en-US" sz="1100" dirty="0"/>
          </a:p>
        </p:txBody>
      </p:sp>
      <p:sp>
        <p:nvSpPr>
          <p:cNvPr id="17" name="TextBox 16">
            <a:extLst>
              <a:ext uri="{FF2B5EF4-FFF2-40B4-BE49-F238E27FC236}">
                <a16:creationId xmlns:a16="http://schemas.microsoft.com/office/drawing/2014/main" id="{7679934B-C66F-3B45-7008-601AE76CFD06}"/>
              </a:ext>
            </a:extLst>
          </p:cNvPr>
          <p:cNvSpPr txBox="1"/>
          <p:nvPr/>
        </p:nvSpPr>
        <p:spPr>
          <a:xfrm>
            <a:off x="6376217" y="6059880"/>
            <a:ext cx="5815783" cy="430887"/>
          </a:xfrm>
          <a:prstGeom prst="rect">
            <a:avLst/>
          </a:prstGeom>
          <a:noFill/>
        </p:spPr>
        <p:txBody>
          <a:bodyPr wrap="square">
            <a:spAutoFit/>
          </a:bodyPr>
          <a:lstStyle/>
          <a:p>
            <a:r>
              <a:rPr lang="en-US" sz="1100" dirty="0"/>
              <a:t>Centra Southside Community Hospital is not included as it is a smaller hospital in a separate Hospital Referral Region and its isolated location will not contribute to DTE growth in that region.</a:t>
            </a:r>
          </a:p>
        </p:txBody>
      </p:sp>
      <p:pic>
        <p:nvPicPr>
          <p:cNvPr id="5" name="Picture 4">
            <a:extLst>
              <a:ext uri="{FF2B5EF4-FFF2-40B4-BE49-F238E27FC236}">
                <a16:creationId xmlns:a16="http://schemas.microsoft.com/office/drawing/2014/main" id="{C438FFB0-AF4E-9D86-DD3E-E182343B41AE}"/>
              </a:ext>
            </a:extLst>
          </p:cNvPr>
          <p:cNvPicPr>
            <a:picLocks noChangeAspect="1"/>
          </p:cNvPicPr>
          <p:nvPr/>
        </p:nvPicPr>
        <p:blipFill rotWithShape="1">
          <a:blip r:embed="rId3"/>
          <a:srcRect t="7041"/>
          <a:stretch/>
        </p:blipFill>
        <p:spPr>
          <a:xfrm>
            <a:off x="196088" y="3121819"/>
            <a:ext cx="1152525" cy="734916"/>
          </a:xfrm>
          <a:prstGeom prst="rect">
            <a:avLst/>
          </a:prstGeom>
        </p:spPr>
      </p:pic>
    </p:spTree>
    <p:extLst>
      <p:ext uri="{BB962C8B-B14F-4D97-AF65-F5344CB8AC3E}">
        <p14:creationId xmlns:p14="http://schemas.microsoft.com/office/powerpoint/2010/main" val="2368596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2023 NCC Award Winner: Carilion Roanoke Memorial Hospital - BCEN">
            <a:extLst>
              <a:ext uri="{FF2B5EF4-FFF2-40B4-BE49-F238E27FC236}">
                <a16:creationId xmlns:a16="http://schemas.microsoft.com/office/drawing/2014/main" id="{B08B10DC-F5C8-9B5B-80DC-7BCA8F1BA7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335" y="2221576"/>
            <a:ext cx="2957804" cy="9978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46A745F-B2A1-5A74-2F25-E1E3151CF13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718007" y="3709339"/>
            <a:ext cx="2596818" cy="1470487"/>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DE28063-ACC1-5927-4B16-27C42FEFE195}"/>
              </a:ext>
            </a:extLst>
          </p:cNvPr>
          <p:cNvGraphicFramePr>
            <a:graphicFrameLocks noGrp="1"/>
          </p:cNvGraphicFramePr>
          <p:nvPr>
            <p:ph idx="1"/>
          </p:nvPr>
        </p:nvGraphicFramePr>
        <p:xfrm>
          <a:off x="3576792" y="1602861"/>
          <a:ext cx="8434412" cy="4357694"/>
        </p:xfrm>
        <a:graphic>
          <a:graphicData uri="http://schemas.openxmlformats.org/drawingml/2006/table">
            <a:tbl>
              <a:tblPr/>
              <a:tblGrid>
                <a:gridCol w="2975105">
                  <a:extLst>
                    <a:ext uri="{9D8B030D-6E8A-4147-A177-3AD203B41FA5}">
                      <a16:colId xmlns:a16="http://schemas.microsoft.com/office/drawing/2014/main" val="547557959"/>
                    </a:ext>
                  </a:extLst>
                </a:gridCol>
                <a:gridCol w="525117">
                  <a:extLst>
                    <a:ext uri="{9D8B030D-6E8A-4147-A177-3AD203B41FA5}">
                      <a16:colId xmlns:a16="http://schemas.microsoft.com/office/drawing/2014/main" val="2802026810"/>
                    </a:ext>
                  </a:extLst>
                </a:gridCol>
                <a:gridCol w="1363282">
                  <a:extLst>
                    <a:ext uri="{9D8B030D-6E8A-4147-A177-3AD203B41FA5}">
                      <a16:colId xmlns:a16="http://schemas.microsoft.com/office/drawing/2014/main" val="3605343309"/>
                    </a:ext>
                  </a:extLst>
                </a:gridCol>
                <a:gridCol w="858363">
                  <a:extLst>
                    <a:ext uri="{9D8B030D-6E8A-4147-A177-3AD203B41FA5}">
                      <a16:colId xmlns:a16="http://schemas.microsoft.com/office/drawing/2014/main" val="2052090602"/>
                    </a:ext>
                  </a:extLst>
                </a:gridCol>
                <a:gridCol w="838165">
                  <a:extLst>
                    <a:ext uri="{9D8B030D-6E8A-4147-A177-3AD203B41FA5}">
                      <a16:colId xmlns:a16="http://schemas.microsoft.com/office/drawing/2014/main" val="1531687483"/>
                    </a:ext>
                  </a:extLst>
                </a:gridCol>
                <a:gridCol w="1059789">
                  <a:extLst>
                    <a:ext uri="{9D8B030D-6E8A-4147-A177-3AD203B41FA5}">
                      <a16:colId xmlns:a16="http://schemas.microsoft.com/office/drawing/2014/main" val="3458614226"/>
                    </a:ext>
                  </a:extLst>
                </a:gridCol>
                <a:gridCol w="814591">
                  <a:extLst>
                    <a:ext uri="{9D8B030D-6E8A-4147-A177-3AD203B41FA5}">
                      <a16:colId xmlns:a16="http://schemas.microsoft.com/office/drawing/2014/main" val="4099265886"/>
                    </a:ext>
                  </a:extLst>
                </a:gridCol>
              </a:tblGrid>
              <a:tr h="997004">
                <a:tc>
                  <a:txBody>
                    <a:bodyPr/>
                    <a:lstStyle/>
                    <a:p>
                      <a:pPr algn="l" fontAlgn="b"/>
                      <a:r>
                        <a:rPr lang="en-US" sz="1200" b="0" i="0" u="none" strike="noStrike" dirty="0">
                          <a:solidFill>
                            <a:schemeClr val="bg1"/>
                          </a:solidFill>
                          <a:effectLst/>
                          <a:latin typeface="Aptos Narrow" panose="020B0004020202020204" pitchFamily="34" charset="0"/>
                        </a:rPr>
                        <a:t>Hospital Name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Total Beds</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HCAHPS Recommendation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CMS Stars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Mortality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Readmission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Key Benefits Brand Quality Estimate</a:t>
                      </a:r>
                    </a:p>
                  </a:txBody>
                  <a:tcPr marL="9525" marR="9525" marT="9525" marB="0" anchor="b">
                    <a:lnL>
                      <a:noFill/>
                    </a:lnL>
                    <a:lnR>
                      <a:noFill/>
                    </a:lnR>
                    <a:lnT>
                      <a:noFill/>
                    </a:lnT>
                    <a:lnB>
                      <a:noFill/>
                    </a:lnB>
                    <a:solidFill>
                      <a:srgbClr val="30589B"/>
                    </a:solidFill>
                  </a:tcPr>
                </a:tc>
                <a:extLst>
                  <a:ext uri="{0D108BD9-81ED-4DB2-BD59-A6C34878D82A}">
                    <a16:rowId xmlns:a16="http://schemas.microsoft.com/office/drawing/2014/main" val="1688547837"/>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Franklin Memorial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37</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ACE9D"/>
                          </a:highlight>
                          <a:latin typeface="Aptos Narrow" panose="020B0004020202020204" pitchFamily="34" charset="0"/>
                        </a:rPr>
                        <a:t>75</a:t>
                      </a:r>
                    </a:p>
                  </a:txBody>
                  <a:tcPr marL="9525" marR="9525" marT="9525" marB="0" anchor="b">
                    <a:lnL>
                      <a:noFill/>
                    </a:lnL>
                    <a:lnR>
                      <a:noFill/>
                    </a:lnR>
                    <a:lnT>
                      <a:noFill/>
                    </a:lnT>
                    <a:lnB>
                      <a:noFill/>
                    </a:lnB>
                    <a:solidFill>
                      <a:srgbClr val="8ACE9D"/>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CD6AC"/>
                          </a:highlight>
                          <a:latin typeface="Aptos Narrow" panose="020B0004020202020204" pitchFamily="34" charset="0"/>
                        </a:rPr>
                        <a:t>63</a:t>
                      </a:r>
                    </a:p>
                  </a:txBody>
                  <a:tcPr marL="9525" marR="9525" marT="9525" marB="0" anchor="b">
                    <a:lnL>
                      <a:noFill/>
                    </a:lnL>
                    <a:lnR>
                      <a:noFill/>
                    </a:lnR>
                    <a:lnT>
                      <a:noFill/>
                    </a:lnT>
                    <a:lnB>
                      <a:noFill/>
                    </a:lnB>
                    <a:solidFill>
                      <a:srgbClr val="9CD6AC"/>
                    </a:solidFill>
                  </a:tcPr>
                </a:tc>
                <a:tc>
                  <a:txBody>
                    <a:bodyPr/>
                    <a:lstStyle/>
                    <a:p>
                      <a:pPr algn="ctr" fontAlgn="b"/>
                      <a:r>
                        <a:rPr lang="en-US" sz="1200" b="0" i="0" u="none" strike="noStrike">
                          <a:solidFill>
                            <a:srgbClr val="000000"/>
                          </a:solidFill>
                          <a:effectLst/>
                          <a:highlight>
                            <a:srgbClr val="7AC88F"/>
                          </a:highlight>
                          <a:latin typeface="Aptos Narrow" panose="020B0004020202020204" pitchFamily="34" charset="0"/>
                        </a:rPr>
                        <a:t>85</a:t>
                      </a:r>
                    </a:p>
                  </a:txBody>
                  <a:tcPr marL="9525" marR="9525" marT="9525" marB="0" anchor="b">
                    <a:lnL>
                      <a:noFill/>
                    </a:lnL>
                    <a:lnR>
                      <a:noFill/>
                    </a:lnR>
                    <a:lnT>
                      <a:noFill/>
                    </a:lnT>
                    <a:lnB>
                      <a:noFill/>
                    </a:lnB>
                    <a:solidFill>
                      <a:srgbClr val="7AC88F"/>
                    </a:solidFill>
                  </a:tcPr>
                </a:tc>
                <a:tc>
                  <a:txBody>
                    <a:bodyPr/>
                    <a:lstStyle/>
                    <a:p>
                      <a:pPr algn="ctr" fontAlgn="b"/>
                      <a:r>
                        <a:rPr lang="en-US" sz="1200" b="0" i="0" u="none" strike="noStrike">
                          <a:solidFill>
                            <a:srgbClr val="000000"/>
                          </a:solidFill>
                          <a:effectLst/>
                          <a:highlight>
                            <a:srgbClr val="90D1A2"/>
                          </a:highlight>
                          <a:latin typeface="Aptos Narrow" panose="020B0004020202020204" pitchFamily="34" charset="0"/>
                        </a:rPr>
                        <a:t>71</a:t>
                      </a:r>
                    </a:p>
                  </a:txBody>
                  <a:tcPr marL="9525" marR="9525" marT="9525" marB="0" anchor="b">
                    <a:lnL>
                      <a:noFill/>
                    </a:lnL>
                    <a:lnR>
                      <a:noFill/>
                    </a:lnR>
                    <a:lnT>
                      <a:noFill/>
                    </a:lnT>
                    <a:lnB>
                      <a:noFill/>
                    </a:lnB>
                    <a:solidFill>
                      <a:srgbClr val="90D1A2"/>
                    </a:solidFill>
                  </a:tcPr>
                </a:tc>
                <a:extLst>
                  <a:ext uri="{0D108BD9-81ED-4DB2-BD59-A6C34878D82A}">
                    <a16:rowId xmlns:a16="http://schemas.microsoft.com/office/drawing/2014/main" val="1741564775"/>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Giles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25</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ACE9D"/>
                          </a:highlight>
                          <a:latin typeface="Aptos Narrow" panose="020B0004020202020204" pitchFamily="34" charset="0"/>
                        </a:rPr>
                        <a:t>75</a:t>
                      </a:r>
                    </a:p>
                  </a:txBody>
                  <a:tcPr marL="9525" marR="9525" marT="9525" marB="0" anchor="b">
                    <a:lnL>
                      <a:noFill/>
                    </a:lnL>
                    <a:lnR>
                      <a:noFill/>
                    </a:lnR>
                    <a:lnT>
                      <a:noFill/>
                    </a:lnT>
                    <a:lnB>
                      <a:noFill/>
                    </a:lnB>
                    <a:solidFill>
                      <a:srgbClr val="8ACE9D"/>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0D7B0"/>
                          </a:highlight>
                          <a:latin typeface="Aptos Narrow" panose="020B0004020202020204" pitchFamily="34" charset="0"/>
                        </a:rPr>
                        <a:t>61</a:t>
                      </a:r>
                    </a:p>
                  </a:txBody>
                  <a:tcPr marL="9525" marR="9525" marT="9525" marB="0" anchor="b">
                    <a:lnL>
                      <a:noFill/>
                    </a:lnL>
                    <a:lnR>
                      <a:noFill/>
                    </a:lnR>
                    <a:lnT>
                      <a:noFill/>
                    </a:lnT>
                    <a:lnB>
                      <a:noFill/>
                    </a:lnB>
                    <a:solidFill>
                      <a:srgbClr val="A0D7B0"/>
                    </a:solidFill>
                  </a:tcPr>
                </a:tc>
                <a:tc>
                  <a:txBody>
                    <a:bodyPr/>
                    <a:lstStyle/>
                    <a:p>
                      <a:pPr algn="ctr" fontAlgn="b"/>
                      <a:r>
                        <a:rPr lang="en-US" sz="1200" b="0" i="0" u="none" strike="noStrike" dirty="0">
                          <a:solidFill>
                            <a:srgbClr val="000000"/>
                          </a:solidFill>
                          <a:effectLst/>
                          <a:highlight>
                            <a:srgbClr val="90D1A2"/>
                          </a:highlight>
                          <a:latin typeface="Aptos Narrow" panose="020B0004020202020204" pitchFamily="34" charset="0"/>
                        </a:rPr>
                        <a:t>71</a:t>
                      </a:r>
                    </a:p>
                  </a:txBody>
                  <a:tcPr marL="9525" marR="9525" marT="9525" marB="0" anchor="b">
                    <a:lnL>
                      <a:noFill/>
                    </a:lnL>
                    <a:lnR>
                      <a:noFill/>
                    </a:lnR>
                    <a:lnT>
                      <a:noFill/>
                    </a:lnT>
                    <a:lnB>
                      <a:noFill/>
                    </a:lnB>
                    <a:solidFill>
                      <a:srgbClr val="90D1A2"/>
                    </a:solidFill>
                  </a:tcPr>
                </a:tc>
                <a:extLst>
                  <a:ext uri="{0D108BD9-81ED-4DB2-BD59-A6C34878D82A}">
                    <a16:rowId xmlns:a16="http://schemas.microsoft.com/office/drawing/2014/main" val="1237941840"/>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Welch </a:t>
                      </a:r>
                      <a:r>
                        <a:rPr lang="en-US" sz="1200" b="0" i="0" u="none" strike="noStrike" dirty="0">
                          <a:solidFill>
                            <a:srgbClr val="7F7F7F"/>
                          </a:solidFill>
                          <a:effectLst/>
                          <a:latin typeface="Aptos Narrow" panose="020B0004020202020204" pitchFamily="34" charset="0"/>
                        </a:rPr>
                        <a:t>Community H</a:t>
                      </a:r>
                      <a:r>
                        <a:rPr lang="en-US" sz="1200" b="0" i="0" u="none" strike="noStrike" dirty="0">
                          <a:solidFill>
                            <a:schemeClr val="tx1">
                              <a:lumMod val="50000"/>
                              <a:lumOff val="50000"/>
                            </a:schemeClr>
                          </a:solidFill>
                          <a:effectLst/>
                          <a:latin typeface="Aptos Narrow" panose="020B0004020202020204" pitchFamily="34" charset="0"/>
                        </a:rPr>
                        <a:t>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49</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5CC99"/>
                          </a:highlight>
                          <a:latin typeface="Aptos Narrow" panose="020B0004020202020204" pitchFamily="34" charset="0"/>
                        </a:rPr>
                        <a:t>78</a:t>
                      </a:r>
                    </a:p>
                  </a:txBody>
                  <a:tcPr marL="9525" marR="9525" marT="9525" marB="0" anchor="b">
                    <a:lnL>
                      <a:noFill/>
                    </a:lnL>
                    <a:lnR>
                      <a:noFill/>
                    </a:lnR>
                    <a:lnT>
                      <a:noFill/>
                    </a:lnT>
                    <a:lnB>
                      <a:noFill/>
                    </a:lnB>
                    <a:solidFill>
                      <a:srgbClr val="85CC99"/>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7DAB6"/>
                          </a:highlight>
                          <a:latin typeface="Aptos Narrow" panose="020B0004020202020204" pitchFamily="34" charset="0"/>
                        </a:rPr>
                        <a:t>56</a:t>
                      </a:r>
                    </a:p>
                  </a:txBody>
                  <a:tcPr marL="9525" marR="9525" marT="9525" marB="0" anchor="b">
                    <a:lnL>
                      <a:noFill/>
                    </a:lnL>
                    <a:lnR>
                      <a:noFill/>
                    </a:lnR>
                    <a:lnT>
                      <a:noFill/>
                    </a:lnT>
                    <a:lnB>
                      <a:noFill/>
                    </a:lnB>
                    <a:solidFill>
                      <a:srgbClr val="A7DAB6"/>
                    </a:solidFill>
                  </a:tcPr>
                </a:tc>
                <a:tc>
                  <a:txBody>
                    <a:bodyPr/>
                    <a:lstStyle/>
                    <a:p>
                      <a:pPr algn="ctr" fontAlgn="b"/>
                      <a:r>
                        <a:rPr lang="en-US" sz="1200" b="0" i="0" u="none" strike="noStrike">
                          <a:solidFill>
                            <a:srgbClr val="000000"/>
                          </a:solidFill>
                          <a:effectLst/>
                          <a:highlight>
                            <a:srgbClr val="C2E5CD"/>
                          </a:highlight>
                          <a:latin typeface="Aptos Narrow" panose="020B0004020202020204" pitchFamily="34" charset="0"/>
                        </a:rPr>
                        <a:t>39</a:t>
                      </a:r>
                    </a:p>
                  </a:txBody>
                  <a:tcPr marL="9525" marR="9525" marT="9525" marB="0" anchor="b">
                    <a:lnL>
                      <a:noFill/>
                    </a:lnL>
                    <a:lnR>
                      <a:noFill/>
                    </a:lnR>
                    <a:lnT>
                      <a:noFill/>
                    </a:lnT>
                    <a:lnB>
                      <a:noFill/>
                    </a:lnB>
                    <a:solidFill>
                      <a:srgbClr val="C2E5CD"/>
                    </a:solidFill>
                  </a:tcPr>
                </a:tc>
                <a:tc>
                  <a:txBody>
                    <a:bodyPr/>
                    <a:lstStyle/>
                    <a:p>
                      <a:pPr algn="ctr" fontAlgn="b"/>
                      <a:r>
                        <a:rPr lang="en-US" sz="1200" b="0" i="0" u="none" strike="noStrike">
                          <a:solidFill>
                            <a:srgbClr val="000000"/>
                          </a:solidFill>
                          <a:effectLst/>
                          <a:highlight>
                            <a:srgbClr val="92D1A4"/>
                          </a:highlight>
                          <a:latin typeface="Aptos Narrow" panose="020B0004020202020204" pitchFamily="34" charset="0"/>
                        </a:rPr>
                        <a:t>70</a:t>
                      </a:r>
                    </a:p>
                  </a:txBody>
                  <a:tcPr marL="9525" marR="9525" marT="9525" marB="0" anchor="b">
                    <a:lnL>
                      <a:noFill/>
                    </a:lnL>
                    <a:lnR>
                      <a:noFill/>
                    </a:lnR>
                    <a:lnT>
                      <a:noFill/>
                    </a:lnT>
                    <a:lnB>
                      <a:noFill/>
                    </a:lnB>
                    <a:solidFill>
                      <a:srgbClr val="92D1A4"/>
                    </a:solidFill>
                  </a:tcPr>
                </a:tc>
                <a:extLst>
                  <a:ext uri="{0D108BD9-81ED-4DB2-BD59-A6C34878D82A}">
                    <a16:rowId xmlns:a16="http://schemas.microsoft.com/office/drawing/2014/main" val="1086663871"/>
                  </a:ext>
                </a:extLst>
              </a:tr>
              <a:tr h="224046">
                <a:tc>
                  <a:txBody>
                    <a:bodyPr/>
                    <a:lstStyle/>
                    <a:p>
                      <a:pPr algn="l" fontAlgn="b"/>
                      <a:r>
                        <a:rPr lang="en-US" sz="1200" b="1" i="0" u="none" strike="noStrike" dirty="0">
                          <a:solidFill>
                            <a:srgbClr val="027587"/>
                          </a:solidFill>
                          <a:effectLst/>
                          <a:latin typeface="Aptos Narrow" panose="020B0004020202020204" pitchFamily="34" charset="0"/>
                        </a:rPr>
                        <a:t>Centra Bedford Memorial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34</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5D2A6"/>
                          </a:highlight>
                          <a:latin typeface="Aptos Narrow" panose="020B0004020202020204" pitchFamily="34" charset="0"/>
                        </a:rPr>
                        <a:t>68</a:t>
                      </a:r>
                    </a:p>
                  </a:txBody>
                  <a:tcPr marL="9525" marR="9525" marT="9525" marB="0" anchor="b">
                    <a:lnL>
                      <a:noFill/>
                    </a:lnL>
                    <a:lnR>
                      <a:noFill/>
                    </a:lnR>
                    <a:lnT>
                      <a:noFill/>
                    </a:lnT>
                    <a:lnB>
                      <a:noFill/>
                    </a:lnB>
                    <a:solidFill>
                      <a:srgbClr val="95D2A6"/>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dirty="0">
                          <a:solidFill>
                            <a:srgbClr val="000000"/>
                          </a:solidFill>
                          <a:effectLst/>
                          <a:highlight>
                            <a:srgbClr val="9ED6AE"/>
                          </a:highlight>
                          <a:latin typeface="Aptos Narrow" panose="020B0004020202020204" pitchFamily="34" charset="0"/>
                        </a:rPr>
                        <a:t>62</a:t>
                      </a:r>
                    </a:p>
                  </a:txBody>
                  <a:tcPr marL="9525" marR="9525" marT="9525" marB="0" anchor="b">
                    <a:lnL>
                      <a:noFill/>
                    </a:lnL>
                    <a:lnR>
                      <a:noFill/>
                    </a:lnR>
                    <a:lnT>
                      <a:noFill/>
                    </a:lnT>
                    <a:lnB>
                      <a:noFill/>
                    </a:lnB>
                    <a:solidFill>
                      <a:srgbClr val="9ED6AE"/>
                    </a:solidFill>
                  </a:tcPr>
                </a:tc>
                <a:tc>
                  <a:txBody>
                    <a:bodyPr/>
                    <a:lstStyle/>
                    <a:p>
                      <a:pPr algn="ctr" fontAlgn="b"/>
                      <a:r>
                        <a:rPr lang="en-US" sz="1200" b="0" i="0" u="none" strike="noStrike">
                          <a:solidFill>
                            <a:srgbClr val="000000"/>
                          </a:solidFill>
                          <a:effectLst/>
                          <a:highlight>
                            <a:srgbClr val="94D2A5"/>
                          </a:highlight>
                          <a:latin typeface="Aptos Narrow" panose="020B0004020202020204" pitchFamily="34" charset="0"/>
                        </a:rPr>
                        <a:t>69</a:t>
                      </a:r>
                    </a:p>
                  </a:txBody>
                  <a:tcPr marL="9525" marR="9525" marT="9525" marB="0" anchor="b">
                    <a:lnL>
                      <a:noFill/>
                    </a:lnL>
                    <a:lnR>
                      <a:noFill/>
                    </a:lnR>
                    <a:lnT>
                      <a:noFill/>
                    </a:lnT>
                    <a:lnB>
                      <a:noFill/>
                    </a:lnB>
                    <a:solidFill>
                      <a:srgbClr val="94D2A5"/>
                    </a:solidFill>
                  </a:tcPr>
                </a:tc>
                <a:tc>
                  <a:txBody>
                    <a:bodyPr/>
                    <a:lstStyle/>
                    <a:p>
                      <a:pPr algn="ctr" fontAlgn="b"/>
                      <a:r>
                        <a:rPr lang="en-US" sz="1200" b="0" i="0" u="none" strike="noStrike">
                          <a:solidFill>
                            <a:srgbClr val="000000"/>
                          </a:solidFill>
                          <a:effectLst/>
                          <a:highlight>
                            <a:srgbClr val="93D2A5"/>
                          </a:highlight>
                          <a:latin typeface="Aptos Narrow" panose="020B0004020202020204" pitchFamily="34" charset="0"/>
                        </a:rPr>
                        <a:t>69</a:t>
                      </a:r>
                    </a:p>
                  </a:txBody>
                  <a:tcPr marL="9525" marR="9525" marT="9525" marB="0" anchor="b">
                    <a:lnL>
                      <a:noFill/>
                    </a:lnL>
                    <a:lnR>
                      <a:noFill/>
                    </a:lnR>
                    <a:lnT>
                      <a:noFill/>
                    </a:lnT>
                    <a:lnB>
                      <a:noFill/>
                    </a:lnB>
                    <a:solidFill>
                      <a:srgbClr val="93D2A5"/>
                    </a:solidFill>
                  </a:tcPr>
                </a:tc>
                <a:extLst>
                  <a:ext uri="{0D108BD9-81ED-4DB2-BD59-A6C34878D82A}">
                    <a16:rowId xmlns:a16="http://schemas.microsoft.com/office/drawing/2014/main" val="2939104524"/>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Montgomery</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FD0A1"/>
                          </a:highlight>
                          <a:latin typeface="Aptos Narrow" panose="020B0004020202020204" pitchFamily="34" charset="0"/>
                        </a:rPr>
                        <a:t>72</a:t>
                      </a:r>
                    </a:p>
                  </a:txBody>
                  <a:tcPr marL="9525" marR="9525" marT="9525" marB="0" anchor="b">
                    <a:lnL>
                      <a:noFill/>
                    </a:lnL>
                    <a:lnR>
                      <a:noFill/>
                    </a:lnR>
                    <a:lnT>
                      <a:noFill/>
                    </a:lnT>
                    <a:lnB>
                      <a:noFill/>
                    </a:lnB>
                    <a:solidFill>
                      <a:srgbClr val="8FD0A1"/>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7EC992"/>
                          </a:highlight>
                          <a:latin typeface="Aptos Narrow" panose="020B0004020202020204" pitchFamily="34" charset="0"/>
                        </a:rPr>
                        <a:t>83</a:t>
                      </a:r>
                    </a:p>
                  </a:txBody>
                  <a:tcPr marL="9525" marR="9525" marT="9525" marB="0" anchor="b">
                    <a:lnL>
                      <a:noFill/>
                    </a:lnL>
                    <a:lnR>
                      <a:noFill/>
                    </a:lnR>
                    <a:lnT>
                      <a:noFill/>
                    </a:lnT>
                    <a:lnB>
                      <a:noFill/>
                    </a:lnB>
                    <a:solidFill>
                      <a:srgbClr val="7EC992"/>
                    </a:solidFill>
                  </a:tcPr>
                </a:tc>
                <a:tc>
                  <a:txBody>
                    <a:bodyPr/>
                    <a:lstStyle/>
                    <a:p>
                      <a:pPr algn="ctr" fontAlgn="b"/>
                      <a:r>
                        <a:rPr lang="en-US" sz="1200" b="0" i="0" u="none" strike="noStrike" dirty="0">
                          <a:solidFill>
                            <a:srgbClr val="000000"/>
                          </a:solidFill>
                          <a:effectLst/>
                          <a:highlight>
                            <a:srgbClr val="B2DEBF"/>
                          </a:highlight>
                          <a:latin typeface="Aptos Narrow" panose="020B0004020202020204" pitchFamily="34" charset="0"/>
                        </a:rPr>
                        <a:t>49</a:t>
                      </a:r>
                    </a:p>
                  </a:txBody>
                  <a:tcPr marL="9525" marR="9525" marT="9525" marB="0" anchor="b">
                    <a:lnL>
                      <a:noFill/>
                    </a:lnL>
                    <a:lnR>
                      <a:noFill/>
                    </a:lnR>
                    <a:lnT>
                      <a:noFill/>
                    </a:lnT>
                    <a:lnB>
                      <a:noFill/>
                    </a:lnB>
                    <a:solidFill>
                      <a:srgbClr val="B2DEBF"/>
                    </a:solidFill>
                  </a:tcPr>
                </a:tc>
                <a:tc>
                  <a:txBody>
                    <a:bodyPr/>
                    <a:lstStyle/>
                    <a:p>
                      <a:pPr algn="ctr" fontAlgn="b"/>
                      <a:r>
                        <a:rPr lang="en-US" sz="1200" b="0" i="0" u="none" strike="noStrike" dirty="0">
                          <a:solidFill>
                            <a:srgbClr val="000000"/>
                          </a:solidFill>
                          <a:effectLst/>
                          <a:highlight>
                            <a:srgbClr val="93D2A5"/>
                          </a:highlight>
                          <a:latin typeface="Aptos Narrow" panose="020B0004020202020204" pitchFamily="34" charset="0"/>
                        </a:rPr>
                        <a:t>69</a:t>
                      </a:r>
                    </a:p>
                  </a:txBody>
                  <a:tcPr marL="9525" marR="9525" marT="9525" marB="0" anchor="b">
                    <a:lnL>
                      <a:noFill/>
                    </a:lnL>
                    <a:lnR>
                      <a:noFill/>
                    </a:lnR>
                    <a:lnT>
                      <a:noFill/>
                    </a:lnT>
                    <a:lnB>
                      <a:noFill/>
                    </a:lnB>
                    <a:solidFill>
                      <a:srgbClr val="93D2A5"/>
                    </a:solidFill>
                  </a:tcPr>
                </a:tc>
                <a:extLst>
                  <a:ext uri="{0D108BD9-81ED-4DB2-BD59-A6C34878D82A}">
                    <a16:rowId xmlns:a16="http://schemas.microsoft.com/office/drawing/2014/main" val="2730456916"/>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Tazewell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56</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CDCBA"/>
                          </a:highlight>
                          <a:latin typeface="Aptos Narrow" panose="020B0004020202020204" pitchFamily="34" charset="0"/>
                        </a:rPr>
                        <a:t>53</a:t>
                      </a:r>
                    </a:p>
                  </a:txBody>
                  <a:tcPr marL="9525" marR="9525" marT="9525" marB="0" anchor="b">
                    <a:lnL>
                      <a:noFill/>
                    </a:lnL>
                    <a:lnR>
                      <a:noFill/>
                    </a:lnR>
                    <a:lnT>
                      <a:noFill/>
                    </a:lnT>
                    <a:lnB>
                      <a:noFill/>
                    </a:lnB>
                    <a:solidFill>
                      <a:srgbClr val="ACDCBA"/>
                    </a:solidFill>
                  </a:tcPr>
                </a:tc>
                <a:tc>
                  <a:txBody>
                    <a:bodyPr/>
                    <a:lstStyle/>
                    <a:p>
                      <a:pPr algn="ctr" fontAlgn="b"/>
                      <a:r>
                        <a:rPr lang="en-US" sz="1200" b="0" i="0" u="none" strike="noStrike" dirty="0">
                          <a:solidFill>
                            <a:srgbClr val="000000"/>
                          </a:solidFill>
                          <a:effectLst/>
                          <a:highlight>
                            <a:srgbClr val="B2DEC0"/>
                          </a:highlight>
                          <a:latin typeface="Aptos Narrow" panose="020B0004020202020204" pitchFamily="34" charset="0"/>
                        </a:rPr>
                        <a:t>49</a:t>
                      </a:r>
                    </a:p>
                  </a:txBody>
                  <a:tcPr marL="9525" marR="9525" marT="9525" marB="0" anchor="b">
                    <a:lnL>
                      <a:noFill/>
                    </a:lnL>
                    <a:lnR>
                      <a:noFill/>
                    </a:lnR>
                    <a:lnT>
                      <a:noFill/>
                    </a:lnT>
                    <a:lnB>
                      <a:noFill/>
                    </a:lnB>
                    <a:solidFill>
                      <a:srgbClr val="B2DEC0"/>
                    </a:solidFill>
                  </a:tcPr>
                </a:tc>
                <a:tc>
                  <a:txBody>
                    <a:bodyPr/>
                    <a:lstStyle/>
                    <a:p>
                      <a:pPr algn="ctr" fontAlgn="b"/>
                      <a:r>
                        <a:rPr lang="en-US" sz="1200" b="0" i="0" u="none" strike="noStrike">
                          <a:solidFill>
                            <a:srgbClr val="000000"/>
                          </a:solidFill>
                          <a:effectLst/>
                          <a:highlight>
                            <a:srgbClr val="95D3A6"/>
                          </a:highlight>
                          <a:latin typeface="Aptos Narrow" panose="020B0004020202020204" pitchFamily="34" charset="0"/>
                        </a:rPr>
                        <a:t>68</a:t>
                      </a:r>
                    </a:p>
                  </a:txBody>
                  <a:tcPr marL="9525" marR="9525" marT="9525" marB="0" anchor="b">
                    <a:lnL>
                      <a:noFill/>
                    </a:lnL>
                    <a:lnR>
                      <a:noFill/>
                    </a:lnR>
                    <a:lnT>
                      <a:noFill/>
                    </a:lnT>
                    <a:lnB>
                      <a:noFill/>
                    </a:lnB>
                    <a:solidFill>
                      <a:srgbClr val="95D3A6"/>
                    </a:solidFill>
                  </a:tcPr>
                </a:tc>
                <a:extLst>
                  <a:ext uri="{0D108BD9-81ED-4DB2-BD59-A6C34878D82A}">
                    <a16:rowId xmlns:a16="http://schemas.microsoft.com/office/drawing/2014/main" val="3215073818"/>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Roanoke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636</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4D2A6"/>
                          </a:highlight>
                          <a:latin typeface="Aptos Narrow" panose="020B0004020202020204" pitchFamily="34" charset="0"/>
                        </a:rPr>
                        <a:t>69</a:t>
                      </a:r>
                    </a:p>
                  </a:txBody>
                  <a:tcPr marL="9525" marR="9525" marT="9525" marB="0" anchor="b">
                    <a:lnL>
                      <a:noFill/>
                    </a:lnL>
                    <a:lnR>
                      <a:noFill/>
                    </a:lnR>
                    <a:lnT>
                      <a:noFill/>
                    </a:lnT>
                    <a:lnB>
                      <a:noFill/>
                    </a:lnB>
                    <a:solidFill>
                      <a:srgbClr val="94D2A6"/>
                    </a:solidFill>
                  </a:tcPr>
                </a:tc>
                <a:tc>
                  <a:txBody>
                    <a:bodyPr/>
                    <a:lstStyle/>
                    <a:p>
                      <a:pPr algn="ctr" fontAlgn="b"/>
                      <a:r>
                        <a:rPr lang="en-US" sz="1200" b="0" i="0" u="none" strike="noStrike" dirty="0">
                          <a:solidFill>
                            <a:srgbClr val="000000"/>
                          </a:solidFill>
                          <a:effectLst/>
                          <a:highlight>
                            <a:srgbClr val="6AC181"/>
                          </a:highlight>
                          <a:latin typeface="Aptos Narrow" panose="020B0004020202020204" pitchFamily="34" charset="0"/>
                        </a:rPr>
                        <a:t>96</a:t>
                      </a:r>
                    </a:p>
                  </a:txBody>
                  <a:tcPr marL="9525" marR="9525" marT="9525" marB="0" anchor="b">
                    <a:lnL>
                      <a:noFill/>
                    </a:lnL>
                    <a:lnR>
                      <a:noFill/>
                    </a:lnR>
                    <a:lnT>
                      <a:noFill/>
                    </a:lnT>
                    <a:lnB>
                      <a:noFill/>
                    </a:lnB>
                    <a:solidFill>
                      <a:srgbClr val="6AC181"/>
                    </a:solidFill>
                  </a:tcPr>
                </a:tc>
                <a:tc>
                  <a:txBody>
                    <a:bodyPr/>
                    <a:lstStyle/>
                    <a:p>
                      <a:pPr algn="ctr" fontAlgn="b"/>
                      <a:r>
                        <a:rPr lang="en-US" sz="1200" b="0" i="0" u="none" strike="noStrike" dirty="0">
                          <a:solidFill>
                            <a:srgbClr val="000000"/>
                          </a:solidFill>
                          <a:effectLst/>
                          <a:highlight>
                            <a:srgbClr val="97D3A8"/>
                          </a:highlight>
                          <a:latin typeface="Aptos Narrow" panose="020B0004020202020204" pitchFamily="34" charset="0"/>
                        </a:rPr>
                        <a:t>67</a:t>
                      </a:r>
                    </a:p>
                  </a:txBody>
                  <a:tcPr marL="9525" marR="9525" marT="9525" marB="0" anchor="b">
                    <a:lnL>
                      <a:noFill/>
                    </a:lnL>
                    <a:lnR>
                      <a:noFill/>
                    </a:lnR>
                    <a:lnT>
                      <a:noFill/>
                    </a:lnT>
                    <a:lnB>
                      <a:noFill/>
                    </a:lnB>
                    <a:solidFill>
                      <a:srgbClr val="97D3A8"/>
                    </a:solidFill>
                  </a:tcPr>
                </a:tc>
                <a:extLst>
                  <a:ext uri="{0D108BD9-81ED-4DB2-BD59-A6C34878D82A}">
                    <a16:rowId xmlns:a16="http://schemas.microsoft.com/office/drawing/2014/main" val="4291813915"/>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Pulaski</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BDBB9"/>
                          </a:highlight>
                          <a:latin typeface="Aptos Narrow" panose="020B0004020202020204" pitchFamily="34" charset="0"/>
                        </a:rPr>
                        <a:t>54</a:t>
                      </a:r>
                    </a:p>
                  </a:txBody>
                  <a:tcPr marL="9525" marR="9525" marT="9525" marB="0" anchor="b">
                    <a:lnL>
                      <a:noFill/>
                    </a:lnL>
                    <a:lnR>
                      <a:noFill/>
                    </a:lnR>
                    <a:lnT>
                      <a:noFill/>
                    </a:lnT>
                    <a:lnB>
                      <a:noFill/>
                    </a:lnB>
                    <a:solidFill>
                      <a:srgbClr val="ABDBB9"/>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dirty="0">
                          <a:solidFill>
                            <a:srgbClr val="000000"/>
                          </a:solidFill>
                          <a:effectLst/>
                          <a:highlight>
                            <a:srgbClr val="9CD5AC"/>
                          </a:highlight>
                          <a:latin typeface="Aptos Narrow" panose="020B0004020202020204" pitchFamily="34" charset="0"/>
                        </a:rPr>
                        <a:t>64</a:t>
                      </a:r>
                    </a:p>
                  </a:txBody>
                  <a:tcPr marL="9525" marR="9525" marT="9525" marB="0" anchor="b">
                    <a:lnL>
                      <a:noFill/>
                    </a:lnL>
                    <a:lnR>
                      <a:noFill/>
                    </a:lnR>
                    <a:lnT>
                      <a:noFill/>
                    </a:lnT>
                    <a:lnB>
                      <a:noFill/>
                    </a:lnB>
                    <a:solidFill>
                      <a:srgbClr val="9CD5AC"/>
                    </a:solidFill>
                  </a:tcPr>
                </a:tc>
                <a:tc>
                  <a:txBody>
                    <a:bodyPr/>
                    <a:lstStyle/>
                    <a:p>
                      <a:pPr algn="ctr" fontAlgn="b"/>
                      <a:r>
                        <a:rPr lang="en-US" sz="1200" b="0" i="0" u="none" strike="noStrike" dirty="0">
                          <a:solidFill>
                            <a:srgbClr val="000000"/>
                          </a:solidFill>
                          <a:effectLst/>
                          <a:highlight>
                            <a:srgbClr val="9BD5AB"/>
                          </a:highlight>
                          <a:latin typeface="Aptos Narrow" panose="020B0004020202020204" pitchFamily="34" charset="0"/>
                        </a:rPr>
                        <a:t>64</a:t>
                      </a:r>
                    </a:p>
                  </a:txBody>
                  <a:tcPr marL="9525" marR="9525" marT="9525" marB="0" anchor="b">
                    <a:lnL>
                      <a:noFill/>
                    </a:lnL>
                    <a:lnR>
                      <a:noFill/>
                    </a:lnR>
                    <a:lnT>
                      <a:noFill/>
                    </a:lnT>
                    <a:lnB>
                      <a:noFill/>
                    </a:lnB>
                    <a:solidFill>
                      <a:srgbClr val="9BD5AB"/>
                    </a:solidFill>
                  </a:tcPr>
                </a:tc>
                <a:tc>
                  <a:txBody>
                    <a:bodyPr/>
                    <a:lstStyle/>
                    <a:p>
                      <a:pPr algn="ctr" fontAlgn="b"/>
                      <a:r>
                        <a:rPr lang="en-US" sz="1200" b="0" i="0" u="none" strike="noStrike" dirty="0">
                          <a:solidFill>
                            <a:srgbClr val="000000"/>
                          </a:solidFill>
                          <a:effectLst/>
                          <a:highlight>
                            <a:srgbClr val="98D4A9"/>
                          </a:highlight>
                          <a:latin typeface="Aptos Narrow" panose="020B0004020202020204" pitchFamily="34" charset="0"/>
                        </a:rPr>
                        <a:t>66</a:t>
                      </a:r>
                    </a:p>
                  </a:txBody>
                  <a:tcPr marL="9525" marR="9525" marT="9525" marB="0" anchor="b">
                    <a:lnL>
                      <a:noFill/>
                    </a:lnL>
                    <a:lnR>
                      <a:noFill/>
                    </a:lnR>
                    <a:lnT>
                      <a:noFill/>
                    </a:lnT>
                    <a:lnB>
                      <a:noFill/>
                    </a:lnB>
                    <a:solidFill>
                      <a:srgbClr val="98D4A9"/>
                    </a:solidFill>
                  </a:tcPr>
                </a:tc>
                <a:extLst>
                  <a:ext uri="{0D108BD9-81ED-4DB2-BD59-A6C34878D82A}">
                    <a16:rowId xmlns:a16="http://schemas.microsoft.com/office/drawing/2014/main" val="967171349"/>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New River Valley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110</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4D9B4"/>
                          </a:highlight>
                          <a:latin typeface="Aptos Narrow" panose="020B0004020202020204" pitchFamily="34" charset="0"/>
                        </a:rPr>
                        <a:t>58</a:t>
                      </a:r>
                    </a:p>
                  </a:txBody>
                  <a:tcPr marL="9525" marR="9525" marT="9525" marB="0" anchor="b">
                    <a:lnL>
                      <a:noFill/>
                    </a:lnL>
                    <a:lnR>
                      <a:noFill/>
                    </a:lnR>
                    <a:lnT>
                      <a:noFill/>
                    </a:lnT>
                    <a:lnB>
                      <a:noFill/>
                    </a:lnB>
                    <a:solidFill>
                      <a:srgbClr val="A4D9B4"/>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highlight>
                            <a:srgbClr val="81CA95"/>
                          </a:highlight>
                          <a:latin typeface="Aptos Narrow" panose="020B0004020202020204" pitchFamily="34" charset="0"/>
                        </a:rPr>
                        <a:t>81</a:t>
                      </a:r>
                    </a:p>
                  </a:txBody>
                  <a:tcPr marL="9525" marR="9525" marT="9525" marB="0" anchor="b">
                    <a:lnL>
                      <a:noFill/>
                    </a:lnL>
                    <a:lnR>
                      <a:noFill/>
                    </a:lnR>
                    <a:lnT>
                      <a:noFill/>
                    </a:lnT>
                    <a:lnB>
                      <a:noFill/>
                    </a:lnB>
                    <a:solidFill>
                      <a:srgbClr val="81CA95"/>
                    </a:solidFill>
                  </a:tcPr>
                </a:tc>
                <a:tc>
                  <a:txBody>
                    <a:bodyPr/>
                    <a:lstStyle/>
                    <a:p>
                      <a:pPr algn="ctr" fontAlgn="b"/>
                      <a:r>
                        <a:rPr lang="en-US" sz="1200" b="0" i="0" u="none" strike="noStrike" dirty="0">
                          <a:solidFill>
                            <a:srgbClr val="000000"/>
                          </a:solidFill>
                          <a:effectLst/>
                          <a:highlight>
                            <a:srgbClr val="9AD5AA"/>
                          </a:highlight>
                          <a:latin typeface="Aptos Narrow" panose="020B0004020202020204" pitchFamily="34" charset="0"/>
                        </a:rPr>
                        <a:t>65</a:t>
                      </a:r>
                    </a:p>
                  </a:txBody>
                  <a:tcPr marL="9525" marR="9525" marT="9525" marB="0" anchor="b">
                    <a:lnL>
                      <a:noFill/>
                    </a:lnL>
                    <a:lnR>
                      <a:noFill/>
                    </a:lnR>
                    <a:lnT>
                      <a:noFill/>
                    </a:lnT>
                    <a:lnB>
                      <a:noFill/>
                    </a:lnB>
                    <a:solidFill>
                      <a:srgbClr val="9AD5AA"/>
                    </a:solidFill>
                  </a:tcPr>
                </a:tc>
                <a:tc>
                  <a:txBody>
                    <a:bodyPr/>
                    <a:lstStyle/>
                    <a:p>
                      <a:pPr algn="ctr" fontAlgn="b"/>
                      <a:r>
                        <a:rPr lang="en-US" sz="1200" b="0" i="0" u="none" strike="noStrike" dirty="0">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extLst>
                  <a:ext uri="{0D108BD9-81ED-4DB2-BD59-A6C34878D82A}">
                    <a16:rowId xmlns:a16="http://schemas.microsoft.com/office/drawing/2014/main" val="3599872156"/>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Rockbridge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25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B6E0C3"/>
                          </a:highlight>
                          <a:latin typeface="Aptos Narrow" panose="020B0004020202020204" pitchFamily="34" charset="0"/>
                        </a:rPr>
                        <a:t>46</a:t>
                      </a:r>
                    </a:p>
                  </a:txBody>
                  <a:tcPr marL="9525" marR="9525" marT="9525" marB="0" anchor="b">
                    <a:lnL>
                      <a:noFill/>
                    </a:lnL>
                    <a:lnR>
                      <a:noFill/>
                    </a:lnR>
                    <a:lnT>
                      <a:noFill/>
                    </a:lnT>
                    <a:lnB>
                      <a:noFill/>
                    </a:lnB>
                    <a:solidFill>
                      <a:srgbClr val="B6E0C3"/>
                    </a:solidFill>
                  </a:tcPr>
                </a:tc>
                <a:tc>
                  <a:txBody>
                    <a:bodyPr/>
                    <a:lstStyle/>
                    <a:p>
                      <a:pPr algn="ctr" fontAlgn="b"/>
                      <a:r>
                        <a:rPr lang="en-US" sz="1200" b="0" i="0" u="none" strike="noStrike">
                          <a:solidFill>
                            <a:srgbClr val="000000"/>
                          </a:solidFill>
                          <a:effectLst/>
                          <a:highlight>
                            <a:srgbClr val="CFEAD8"/>
                          </a:highlight>
                          <a:latin typeface="Aptos Narrow" panose="020B0004020202020204" pitchFamily="34" charset="0"/>
                        </a:rPr>
                        <a:t>31</a:t>
                      </a:r>
                    </a:p>
                  </a:txBody>
                  <a:tcPr marL="9525" marR="9525" marT="9525" marB="0" anchor="b">
                    <a:lnL>
                      <a:noFill/>
                    </a:lnL>
                    <a:lnR>
                      <a:noFill/>
                    </a:lnR>
                    <a:lnT>
                      <a:noFill/>
                    </a:lnT>
                    <a:lnB>
                      <a:noFill/>
                    </a:lnB>
                    <a:solidFill>
                      <a:srgbClr val="CFEAD8"/>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99D4AA"/>
                          </a:highlight>
                          <a:latin typeface="Aptos Narrow" panose="020B0004020202020204" pitchFamily="34" charset="0"/>
                        </a:rPr>
                        <a:t>65</a:t>
                      </a:r>
                    </a:p>
                  </a:txBody>
                  <a:tcPr marL="9525" marR="9525" marT="9525" marB="0" anchor="b">
                    <a:lnL>
                      <a:noFill/>
                    </a:lnL>
                    <a:lnR>
                      <a:noFill/>
                    </a:lnR>
                    <a:lnT>
                      <a:noFill/>
                    </a:lnT>
                    <a:lnB>
                      <a:noFill/>
                    </a:lnB>
                    <a:solidFill>
                      <a:srgbClr val="99D4AA"/>
                    </a:solidFill>
                  </a:tcPr>
                </a:tc>
                <a:tc>
                  <a:txBody>
                    <a:bodyPr/>
                    <a:lstStyle/>
                    <a:p>
                      <a:pPr algn="ctr" fontAlgn="b"/>
                      <a:r>
                        <a:rPr lang="en-US" sz="1200" b="0" i="0" u="none" strike="noStrike" dirty="0">
                          <a:solidFill>
                            <a:srgbClr val="000000"/>
                          </a:solidFill>
                          <a:effectLst/>
                          <a:highlight>
                            <a:srgbClr val="A0D7B0"/>
                          </a:highlight>
                          <a:latin typeface="Aptos Narrow" panose="020B0004020202020204" pitchFamily="34" charset="0"/>
                        </a:rPr>
                        <a:t>61</a:t>
                      </a:r>
                    </a:p>
                  </a:txBody>
                  <a:tcPr marL="9525" marR="9525" marT="9525" marB="0" anchor="b">
                    <a:lnL>
                      <a:noFill/>
                    </a:lnL>
                    <a:lnR>
                      <a:noFill/>
                    </a:lnR>
                    <a:lnT>
                      <a:noFill/>
                    </a:lnT>
                    <a:lnB>
                      <a:noFill/>
                    </a:lnB>
                    <a:solidFill>
                      <a:srgbClr val="A0D7B0"/>
                    </a:solidFill>
                  </a:tcPr>
                </a:tc>
                <a:extLst>
                  <a:ext uri="{0D108BD9-81ED-4DB2-BD59-A6C34878D82A}">
                    <a16:rowId xmlns:a16="http://schemas.microsoft.com/office/drawing/2014/main" val="558741216"/>
                  </a:ext>
                </a:extLst>
              </a:tr>
              <a:tr h="224046">
                <a:tc>
                  <a:txBody>
                    <a:bodyPr/>
                    <a:lstStyle/>
                    <a:p>
                      <a:pPr algn="l" fontAlgn="b"/>
                      <a:r>
                        <a:rPr lang="en-US" sz="1200" b="1" i="0" u="none" strike="noStrike" dirty="0">
                          <a:solidFill>
                            <a:srgbClr val="027587"/>
                          </a:solidFill>
                          <a:effectLst/>
                          <a:latin typeface="Aptos Narrow" panose="020B0004020202020204" pitchFamily="34" charset="0"/>
                        </a:rPr>
                        <a:t>Centra Lynchburg General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443</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CCE9D5"/>
                          </a:highlight>
                          <a:latin typeface="Aptos Narrow" panose="020B0004020202020204" pitchFamily="34" charset="0"/>
                        </a:rPr>
                        <a:t>33</a:t>
                      </a:r>
                    </a:p>
                  </a:txBody>
                  <a:tcPr marL="9525" marR="9525" marT="9525" marB="0" anchor="b">
                    <a:lnL>
                      <a:noFill/>
                    </a:lnL>
                    <a:lnR>
                      <a:noFill/>
                    </a:lnR>
                    <a:lnT>
                      <a:noFill/>
                    </a:lnT>
                    <a:lnB>
                      <a:noFill/>
                    </a:lnB>
                    <a:solidFill>
                      <a:srgbClr val="CCE9D5"/>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A1D7B0"/>
                          </a:highlight>
                          <a:latin typeface="Aptos Narrow" panose="020B0004020202020204" pitchFamily="34" charset="0"/>
                        </a:rPr>
                        <a:t>60</a:t>
                      </a:r>
                    </a:p>
                  </a:txBody>
                  <a:tcPr marL="9525" marR="9525" marT="9525" marB="0" anchor="b">
                    <a:lnL>
                      <a:noFill/>
                    </a:lnL>
                    <a:lnR>
                      <a:noFill/>
                    </a:lnR>
                    <a:lnT>
                      <a:noFill/>
                    </a:lnT>
                    <a:lnB>
                      <a:noFill/>
                    </a:lnB>
                    <a:solidFill>
                      <a:srgbClr val="A1D7B0"/>
                    </a:solidFill>
                  </a:tcPr>
                </a:tc>
                <a:tc>
                  <a:txBody>
                    <a:bodyPr/>
                    <a:lstStyle/>
                    <a:p>
                      <a:pPr algn="ctr" fontAlgn="b"/>
                      <a:r>
                        <a:rPr lang="en-US" sz="1200" b="0" i="0" u="none" strike="noStrike" dirty="0">
                          <a:solidFill>
                            <a:srgbClr val="000000"/>
                          </a:solidFill>
                          <a:effectLst/>
                          <a:highlight>
                            <a:srgbClr val="80CA94"/>
                          </a:highlight>
                          <a:latin typeface="Aptos Narrow" panose="020B0004020202020204" pitchFamily="34" charset="0"/>
                        </a:rPr>
                        <a:t>82</a:t>
                      </a:r>
                    </a:p>
                  </a:txBody>
                  <a:tcPr marL="9525" marR="9525" marT="9525" marB="0" anchor="b">
                    <a:lnL>
                      <a:noFill/>
                    </a:lnL>
                    <a:lnR>
                      <a:noFill/>
                    </a:lnR>
                    <a:lnT>
                      <a:noFill/>
                    </a:lnT>
                    <a:lnB>
                      <a:noFill/>
                    </a:lnB>
                    <a:solidFill>
                      <a:srgbClr val="80CA94"/>
                    </a:solidFill>
                  </a:tcPr>
                </a:tc>
                <a:tc>
                  <a:txBody>
                    <a:bodyPr/>
                    <a:lstStyle/>
                    <a:p>
                      <a:pPr algn="ctr" fontAlgn="b"/>
                      <a:r>
                        <a:rPr lang="en-US" sz="1200" b="0" i="0" u="none" strike="noStrike" dirty="0">
                          <a:solidFill>
                            <a:srgbClr val="000000"/>
                          </a:solidFill>
                          <a:effectLst/>
                          <a:highlight>
                            <a:srgbClr val="A8DAB6"/>
                          </a:highlight>
                          <a:latin typeface="Aptos Narrow" panose="020B0004020202020204" pitchFamily="34" charset="0"/>
                        </a:rPr>
                        <a:t>56</a:t>
                      </a:r>
                    </a:p>
                  </a:txBody>
                  <a:tcPr marL="9525" marR="9525" marT="9525" marB="0" anchor="b">
                    <a:lnL>
                      <a:noFill/>
                    </a:lnL>
                    <a:lnR>
                      <a:noFill/>
                    </a:lnR>
                    <a:lnT>
                      <a:noFill/>
                    </a:lnT>
                    <a:lnB>
                      <a:noFill/>
                    </a:lnB>
                    <a:solidFill>
                      <a:srgbClr val="A8DAB6"/>
                    </a:solidFill>
                  </a:tcPr>
                </a:tc>
                <a:extLst>
                  <a:ext uri="{0D108BD9-81ED-4DB2-BD59-A6C34878D82A}">
                    <a16:rowId xmlns:a16="http://schemas.microsoft.com/office/drawing/2014/main" val="604094850"/>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Wythe County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DEF0E5"/>
                          </a:highlight>
                          <a:latin typeface="Aptos Narrow" panose="020B0004020202020204" pitchFamily="34" charset="0"/>
                        </a:rPr>
                        <a:t>21</a:t>
                      </a:r>
                    </a:p>
                  </a:txBody>
                  <a:tcPr marL="9525" marR="9525" marT="9525" marB="0" anchor="b">
                    <a:lnL>
                      <a:noFill/>
                    </a:lnL>
                    <a:lnR>
                      <a:noFill/>
                    </a:lnR>
                    <a:lnT>
                      <a:noFill/>
                    </a:lnT>
                    <a:lnB>
                      <a:noFill/>
                    </a:lnB>
                    <a:solidFill>
                      <a:srgbClr val="DEF0E5"/>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CD6AD"/>
                          </a:highlight>
                          <a:latin typeface="Aptos Narrow" panose="020B0004020202020204" pitchFamily="34" charset="0"/>
                        </a:rPr>
                        <a:t>63</a:t>
                      </a:r>
                    </a:p>
                  </a:txBody>
                  <a:tcPr marL="9525" marR="9525" marT="9525" marB="0" anchor="b">
                    <a:lnL>
                      <a:noFill/>
                    </a:lnL>
                    <a:lnR>
                      <a:noFill/>
                    </a:lnR>
                    <a:lnT>
                      <a:noFill/>
                    </a:lnT>
                    <a:lnB>
                      <a:noFill/>
                    </a:lnB>
                    <a:solidFill>
                      <a:srgbClr val="9CD6AD"/>
                    </a:solidFill>
                  </a:tcPr>
                </a:tc>
                <a:tc>
                  <a:txBody>
                    <a:bodyPr/>
                    <a:lstStyle/>
                    <a:p>
                      <a:pPr algn="ctr" fontAlgn="b"/>
                      <a:r>
                        <a:rPr lang="en-US" sz="1200" b="0" i="0" u="none" strike="noStrike" dirty="0">
                          <a:solidFill>
                            <a:srgbClr val="000000"/>
                          </a:solidFill>
                          <a:effectLst/>
                          <a:highlight>
                            <a:srgbClr val="7BC890"/>
                          </a:highlight>
                          <a:latin typeface="Aptos Narrow" panose="020B0004020202020204" pitchFamily="34" charset="0"/>
                        </a:rPr>
                        <a:t>85</a:t>
                      </a:r>
                    </a:p>
                  </a:txBody>
                  <a:tcPr marL="9525" marR="9525" marT="9525" marB="0" anchor="b">
                    <a:lnL>
                      <a:noFill/>
                    </a:lnL>
                    <a:lnR>
                      <a:noFill/>
                    </a:lnR>
                    <a:lnT>
                      <a:noFill/>
                    </a:lnT>
                    <a:lnB>
                      <a:noFill/>
                    </a:lnB>
                    <a:solidFill>
                      <a:srgbClr val="7BC890"/>
                    </a:solidFill>
                  </a:tcPr>
                </a:tc>
                <a:tc>
                  <a:txBody>
                    <a:bodyPr/>
                    <a:lstStyle/>
                    <a:p>
                      <a:pPr algn="ctr" fontAlgn="b"/>
                      <a:r>
                        <a:rPr lang="en-US" sz="1200" b="0" i="0" u="none" strike="noStrike" dirty="0">
                          <a:solidFill>
                            <a:srgbClr val="000000"/>
                          </a:solidFill>
                          <a:effectLst/>
                          <a:highlight>
                            <a:srgbClr val="AFDDBD"/>
                          </a:highlight>
                          <a:latin typeface="Aptos Narrow" panose="020B0004020202020204" pitchFamily="34" charset="0"/>
                        </a:rPr>
                        <a:t>51</a:t>
                      </a:r>
                    </a:p>
                  </a:txBody>
                  <a:tcPr marL="9525" marR="9525" marT="9525" marB="0" anchor="b">
                    <a:lnL>
                      <a:noFill/>
                    </a:lnL>
                    <a:lnR>
                      <a:noFill/>
                    </a:lnR>
                    <a:lnT>
                      <a:noFill/>
                    </a:lnT>
                    <a:lnB>
                      <a:noFill/>
                    </a:lnB>
                    <a:solidFill>
                      <a:srgbClr val="AFDDBD"/>
                    </a:solidFill>
                  </a:tcPr>
                </a:tc>
                <a:extLst>
                  <a:ext uri="{0D108BD9-81ED-4DB2-BD59-A6C34878D82A}">
                    <a16:rowId xmlns:a16="http://schemas.microsoft.com/office/drawing/2014/main" val="796116304"/>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Alleghany</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DEF0E5"/>
                          </a:highlight>
                          <a:latin typeface="Aptos Narrow" panose="020B0004020202020204" pitchFamily="34" charset="0"/>
                        </a:rPr>
                        <a:t>21</a:t>
                      </a:r>
                    </a:p>
                  </a:txBody>
                  <a:tcPr marL="9525" marR="9525" marT="9525" marB="0" anchor="b">
                    <a:lnL>
                      <a:noFill/>
                    </a:lnL>
                    <a:lnR>
                      <a:noFill/>
                    </a:lnR>
                    <a:lnT>
                      <a:noFill/>
                    </a:lnT>
                    <a:lnB>
                      <a:noFill/>
                    </a:lnB>
                    <a:solidFill>
                      <a:srgbClr val="DEF0E5"/>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highlight>
                            <a:srgbClr val="98D4A9"/>
                          </a:highlight>
                          <a:latin typeface="Aptos Narrow" panose="020B0004020202020204" pitchFamily="34" charset="0"/>
                        </a:rPr>
                        <a:t>66</a:t>
                      </a:r>
                    </a:p>
                  </a:txBody>
                  <a:tcPr marL="9525" marR="9525" marT="9525" marB="0" anchor="b">
                    <a:lnL>
                      <a:noFill/>
                    </a:lnL>
                    <a:lnR>
                      <a:noFill/>
                    </a:lnR>
                    <a:lnT>
                      <a:noFill/>
                    </a:lnT>
                    <a:lnB>
                      <a:noFill/>
                    </a:lnB>
                    <a:solidFill>
                      <a:srgbClr val="98D4A9"/>
                    </a:solidFill>
                  </a:tcPr>
                </a:tc>
                <a:tc>
                  <a:txBody>
                    <a:bodyPr/>
                    <a:lstStyle/>
                    <a:p>
                      <a:pPr algn="ctr" fontAlgn="b"/>
                      <a:r>
                        <a:rPr lang="en-US" sz="1200" b="0" i="0" u="none" strike="noStrike" dirty="0">
                          <a:solidFill>
                            <a:srgbClr val="000000"/>
                          </a:solidFill>
                          <a:effectLst/>
                          <a:highlight>
                            <a:srgbClr val="7AC88F"/>
                          </a:highlight>
                          <a:latin typeface="Aptos Narrow" panose="020B0004020202020204" pitchFamily="34" charset="0"/>
                        </a:rPr>
                        <a:t>86</a:t>
                      </a:r>
                    </a:p>
                  </a:txBody>
                  <a:tcPr marL="9525" marR="9525" marT="9525" marB="0" anchor="b">
                    <a:lnL>
                      <a:noFill/>
                    </a:lnL>
                    <a:lnR>
                      <a:noFill/>
                    </a:lnR>
                    <a:lnT>
                      <a:noFill/>
                    </a:lnT>
                    <a:lnB>
                      <a:noFill/>
                    </a:lnB>
                    <a:solidFill>
                      <a:srgbClr val="7AC88F"/>
                    </a:solidFill>
                  </a:tcPr>
                </a:tc>
                <a:tc>
                  <a:txBody>
                    <a:bodyPr/>
                    <a:lstStyle/>
                    <a:p>
                      <a:pPr algn="ctr" fontAlgn="b"/>
                      <a:r>
                        <a:rPr lang="en-US" sz="1200" b="0" i="0" u="none" strike="noStrike" dirty="0">
                          <a:solidFill>
                            <a:srgbClr val="000000"/>
                          </a:solidFill>
                          <a:effectLst/>
                          <a:highlight>
                            <a:srgbClr val="B1DEBE"/>
                          </a:highlight>
                          <a:latin typeface="Aptos Narrow" panose="020B0004020202020204" pitchFamily="34" charset="0"/>
                        </a:rPr>
                        <a:t>50</a:t>
                      </a:r>
                    </a:p>
                  </a:txBody>
                  <a:tcPr marL="9525" marR="9525" marT="9525" marB="0" anchor="b">
                    <a:lnL>
                      <a:noFill/>
                    </a:lnL>
                    <a:lnR>
                      <a:noFill/>
                    </a:lnR>
                    <a:lnT>
                      <a:noFill/>
                    </a:lnT>
                    <a:lnB>
                      <a:noFill/>
                    </a:lnB>
                    <a:solidFill>
                      <a:srgbClr val="B1DEBE"/>
                    </a:solidFill>
                  </a:tcPr>
                </a:tc>
                <a:extLst>
                  <a:ext uri="{0D108BD9-81ED-4DB2-BD59-A6C34878D82A}">
                    <a16:rowId xmlns:a16="http://schemas.microsoft.com/office/drawing/2014/main" val="1252248759"/>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330</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EBF5F1"/>
                          </a:highlight>
                          <a:latin typeface="Aptos Narrow" panose="020B0004020202020204" pitchFamily="34" charset="0"/>
                        </a:rPr>
                        <a:t>12</a:t>
                      </a:r>
                    </a:p>
                  </a:txBody>
                  <a:tcPr marL="9525" marR="9525" marT="9525" marB="0" anchor="b">
                    <a:lnL>
                      <a:noFill/>
                    </a:lnL>
                    <a:lnR>
                      <a:noFill/>
                    </a:lnR>
                    <a:lnT>
                      <a:noFill/>
                    </a:lnT>
                    <a:lnB>
                      <a:noFill/>
                    </a:lnB>
                    <a:solidFill>
                      <a:srgbClr val="EBF5F1"/>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7DC992"/>
                          </a:highlight>
                          <a:latin typeface="Aptos Narrow" panose="020B0004020202020204" pitchFamily="34" charset="0"/>
                        </a:rPr>
                        <a:t>83</a:t>
                      </a:r>
                    </a:p>
                  </a:txBody>
                  <a:tcPr marL="9525" marR="9525" marT="9525" marB="0" anchor="b">
                    <a:lnL>
                      <a:noFill/>
                    </a:lnL>
                    <a:lnR>
                      <a:noFill/>
                    </a:lnR>
                    <a:lnT>
                      <a:noFill/>
                    </a:lnT>
                    <a:lnB>
                      <a:noFill/>
                    </a:lnB>
                    <a:solidFill>
                      <a:srgbClr val="7DC992"/>
                    </a:solidFill>
                  </a:tcPr>
                </a:tc>
                <a:tc>
                  <a:txBody>
                    <a:bodyPr/>
                    <a:lstStyle/>
                    <a:p>
                      <a:pPr algn="ctr" fontAlgn="b"/>
                      <a:r>
                        <a:rPr lang="en-US" sz="1200" b="0" i="0" u="none" strike="noStrike" dirty="0">
                          <a:solidFill>
                            <a:srgbClr val="000000"/>
                          </a:solidFill>
                          <a:effectLst/>
                          <a:highlight>
                            <a:srgbClr val="AADBB9"/>
                          </a:highlight>
                          <a:latin typeface="Aptos Narrow" panose="020B0004020202020204" pitchFamily="34" charset="0"/>
                        </a:rPr>
                        <a:t>54</a:t>
                      </a:r>
                    </a:p>
                  </a:txBody>
                  <a:tcPr marL="9525" marR="9525" marT="9525" marB="0" anchor="b">
                    <a:lnL>
                      <a:noFill/>
                    </a:lnL>
                    <a:lnR>
                      <a:noFill/>
                    </a:lnR>
                    <a:lnT>
                      <a:noFill/>
                    </a:lnT>
                    <a:lnB>
                      <a:noFill/>
                    </a:lnB>
                    <a:solidFill>
                      <a:srgbClr val="AADBB9"/>
                    </a:solidFill>
                  </a:tcPr>
                </a:tc>
                <a:tc>
                  <a:txBody>
                    <a:bodyPr/>
                    <a:lstStyle/>
                    <a:p>
                      <a:pPr algn="ctr" fontAlgn="b"/>
                      <a:r>
                        <a:rPr lang="en-US" sz="1200" b="0" i="0" u="none" strike="noStrike" dirty="0">
                          <a:solidFill>
                            <a:srgbClr val="000000"/>
                          </a:solidFill>
                          <a:effectLst/>
                          <a:highlight>
                            <a:srgbClr val="B4DFC1"/>
                          </a:highlight>
                          <a:latin typeface="Aptos Narrow" panose="020B0004020202020204" pitchFamily="34" charset="0"/>
                        </a:rPr>
                        <a:t>48</a:t>
                      </a:r>
                    </a:p>
                  </a:txBody>
                  <a:tcPr marL="9525" marR="9525" marT="9525" marB="0" anchor="b">
                    <a:lnL>
                      <a:noFill/>
                    </a:lnL>
                    <a:lnR>
                      <a:noFill/>
                    </a:lnR>
                    <a:lnT>
                      <a:noFill/>
                    </a:lnT>
                    <a:lnB>
                      <a:noFill/>
                    </a:lnB>
                    <a:solidFill>
                      <a:srgbClr val="B4DFC1"/>
                    </a:solidFill>
                  </a:tcPr>
                </a:tc>
                <a:extLst>
                  <a:ext uri="{0D108BD9-81ED-4DB2-BD59-A6C34878D82A}">
                    <a16:rowId xmlns:a16="http://schemas.microsoft.com/office/drawing/2014/main" val="92557118"/>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Princeton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88</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E9F5EF"/>
                          </a:highlight>
                          <a:latin typeface="Aptos Narrow" panose="020B0004020202020204" pitchFamily="34" charset="0"/>
                        </a:rPr>
                        <a:t>14</a:t>
                      </a:r>
                    </a:p>
                  </a:txBody>
                  <a:tcPr marL="9525" marR="9525" marT="9525" marB="0" anchor="b">
                    <a:lnL>
                      <a:noFill/>
                    </a:lnL>
                    <a:lnR>
                      <a:noFill/>
                    </a:lnR>
                    <a:lnT>
                      <a:noFill/>
                    </a:lnT>
                    <a:lnB>
                      <a:noFill/>
                    </a:lnB>
                    <a:solidFill>
                      <a:srgbClr val="E9F5EF"/>
                    </a:solidFill>
                  </a:tcPr>
                </a:tc>
                <a:tc>
                  <a:txBody>
                    <a:bodyPr/>
                    <a:lstStyle/>
                    <a:p>
                      <a:pPr algn="ctr" fontAlgn="b"/>
                      <a:r>
                        <a:rPr lang="en-US" sz="1200" b="0" i="0" u="none" strike="noStrike">
                          <a:solidFill>
                            <a:srgbClr val="000000"/>
                          </a:solidFill>
                          <a:effectLst/>
                          <a:highlight>
                            <a:srgbClr val="EFF7F4"/>
                          </a:highlight>
                          <a:latin typeface="Aptos Narrow" panose="020B0004020202020204" pitchFamily="34" charset="0"/>
                        </a:rPr>
                        <a:t>10</a:t>
                      </a:r>
                    </a:p>
                  </a:txBody>
                  <a:tcPr marL="9525" marR="9525" marT="9525" marB="0" anchor="b">
                    <a:lnL>
                      <a:noFill/>
                    </a:lnL>
                    <a:lnR>
                      <a:noFill/>
                    </a:lnR>
                    <a:lnT>
                      <a:noFill/>
                    </a:lnT>
                    <a:lnB>
                      <a:noFill/>
                    </a:lnB>
                    <a:solidFill>
                      <a:srgbClr val="EFF7F4"/>
                    </a:solidFill>
                  </a:tcPr>
                </a:tc>
                <a:tc>
                  <a:txBody>
                    <a:bodyPr/>
                    <a:lstStyle/>
                    <a:p>
                      <a:pPr algn="ctr" fontAlgn="b"/>
                      <a:r>
                        <a:rPr lang="en-US" sz="1200" b="0" i="0" u="none" strike="noStrike">
                          <a:solidFill>
                            <a:srgbClr val="000000"/>
                          </a:solidFill>
                          <a:effectLst/>
                          <a:highlight>
                            <a:srgbClr val="9DD6AD"/>
                          </a:highlight>
                          <a:latin typeface="Aptos Narrow" panose="020B0004020202020204" pitchFamily="34" charset="0"/>
                        </a:rPr>
                        <a:t>63</a:t>
                      </a:r>
                    </a:p>
                  </a:txBody>
                  <a:tcPr marL="9525" marR="9525" marT="9525" marB="0" anchor="b">
                    <a:lnL>
                      <a:noFill/>
                    </a:lnL>
                    <a:lnR>
                      <a:noFill/>
                    </a:lnR>
                    <a:lnT>
                      <a:noFill/>
                    </a:lnT>
                    <a:lnB>
                      <a:noFill/>
                    </a:lnB>
                    <a:solidFill>
                      <a:srgbClr val="9DD6AD"/>
                    </a:solidFill>
                  </a:tcPr>
                </a:tc>
                <a:tc>
                  <a:txBody>
                    <a:bodyPr/>
                    <a:lstStyle/>
                    <a:p>
                      <a:pPr algn="ctr" fontAlgn="b"/>
                      <a:r>
                        <a:rPr lang="en-US" sz="1200" b="0" i="0" u="none" strike="noStrike" dirty="0">
                          <a:solidFill>
                            <a:srgbClr val="000000"/>
                          </a:solidFill>
                          <a:effectLst/>
                          <a:highlight>
                            <a:srgbClr val="9DD6AD"/>
                          </a:highlight>
                          <a:latin typeface="Aptos Narrow" panose="020B0004020202020204" pitchFamily="34" charset="0"/>
                        </a:rPr>
                        <a:t>63</a:t>
                      </a:r>
                    </a:p>
                  </a:txBody>
                  <a:tcPr marL="9525" marR="9525" marT="9525" marB="0" anchor="b">
                    <a:lnL>
                      <a:noFill/>
                    </a:lnL>
                    <a:lnR>
                      <a:noFill/>
                    </a:lnR>
                    <a:lnT>
                      <a:noFill/>
                    </a:lnT>
                    <a:lnB>
                      <a:noFill/>
                    </a:lnB>
                    <a:solidFill>
                      <a:srgbClr val="9DD6AD"/>
                    </a:solidFill>
                  </a:tcPr>
                </a:tc>
                <a:tc>
                  <a:txBody>
                    <a:bodyPr/>
                    <a:lstStyle/>
                    <a:p>
                      <a:pPr algn="ctr" fontAlgn="b"/>
                      <a:r>
                        <a:rPr lang="en-US" sz="1200" b="0" i="0" u="none" strike="noStrike" dirty="0">
                          <a:solidFill>
                            <a:srgbClr val="000000"/>
                          </a:solidFill>
                          <a:effectLst/>
                          <a:highlight>
                            <a:srgbClr val="B4DFC1"/>
                          </a:highlight>
                          <a:latin typeface="Aptos Narrow" panose="020B0004020202020204" pitchFamily="34" charset="0"/>
                        </a:rPr>
                        <a:t>48</a:t>
                      </a:r>
                    </a:p>
                  </a:txBody>
                  <a:tcPr marL="9525" marR="9525" marT="9525" marB="0" anchor="b">
                    <a:lnL>
                      <a:noFill/>
                    </a:lnL>
                    <a:lnR>
                      <a:noFill/>
                    </a:lnR>
                    <a:lnT>
                      <a:noFill/>
                    </a:lnT>
                    <a:lnB>
                      <a:noFill/>
                    </a:lnB>
                    <a:solidFill>
                      <a:srgbClr val="B4DFC1"/>
                    </a:solidFill>
                  </a:tcPr>
                </a:tc>
                <a:extLst>
                  <a:ext uri="{0D108BD9-81ED-4DB2-BD59-A6C34878D82A}">
                    <a16:rowId xmlns:a16="http://schemas.microsoft.com/office/drawing/2014/main" val="597817543"/>
                  </a:ext>
                </a:extLst>
              </a:tr>
            </a:tbl>
          </a:graphicData>
        </a:graphic>
      </p:graphicFrame>
      <p:sp>
        <p:nvSpPr>
          <p:cNvPr id="4"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7"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descr="2023 NCC Award Winner: Carilion Roanoke Memorial Hospital - BCEN">
            <a:extLst>
              <a:ext uri="{FF2B5EF4-FFF2-40B4-BE49-F238E27FC236}">
                <a16:creationId xmlns:a16="http://schemas.microsoft.com/office/drawing/2014/main" id="{E4B7BEDD-064B-3DD7-07F2-204BDEF366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116" y="2773039"/>
            <a:ext cx="1944337" cy="65596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8B1434E-18CA-717B-B598-EEEF87249A9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25413" y="4028032"/>
            <a:ext cx="1707040" cy="966637"/>
          </a:xfrm>
          <a:prstGeom prst="rect">
            <a:avLst/>
          </a:prstGeom>
        </p:spPr>
      </p:pic>
      <p:sp>
        <p:nvSpPr>
          <p:cNvPr id="12"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Critical for Success:</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Brand and 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4752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7</a:t>
            </a:fld>
            <a:endParaRPr lang="en-US" dirty="0"/>
          </a:p>
        </p:txBody>
      </p:sp>
      <p:sp>
        <p:nvSpPr>
          <p:cNvPr id="8"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13"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t>KBA currently estimates that Carilion Clinic has 46% inpatient market share, and 18% outpatient market compared to hospitals/clinics in the Lynchburg and Roanoke hospital referral regions. Based on other DTE networks and Centra Health being Tier 1, we expect steerage to be (inpatient/outpatient):</a:t>
            </a:r>
          </a:p>
        </p:txBody>
      </p:sp>
      <p:sp>
        <p:nvSpPr>
          <p:cNvPr id="14"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5"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6"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7" name="TextBox 16">
            <a:extLst>
              <a:ext uri="{FF2B5EF4-FFF2-40B4-BE49-F238E27FC236}">
                <a16:creationId xmlns:a16="http://schemas.microsoft.com/office/drawing/2014/main" id="{19FEE2C1-9161-C3CD-EE7F-6727C796DF0D}"/>
              </a:ext>
            </a:extLst>
          </p:cNvPr>
          <p:cNvSpPr txBox="1"/>
          <p:nvPr/>
        </p:nvSpPr>
        <p:spPr>
          <a:xfrm>
            <a:off x="7531093" y="3237256"/>
            <a:ext cx="1072730" cy="369332"/>
          </a:xfrm>
          <a:prstGeom prst="rect">
            <a:avLst/>
          </a:prstGeom>
          <a:noFill/>
        </p:spPr>
        <p:txBody>
          <a:bodyPr wrap="none" rtlCol="0">
            <a:spAutoFit/>
          </a:bodyPr>
          <a:lstStyle/>
          <a:p>
            <a:r>
              <a:rPr lang="en-US" dirty="0"/>
              <a:t>53%/49%</a:t>
            </a:r>
          </a:p>
        </p:txBody>
      </p:sp>
      <p:sp>
        <p:nvSpPr>
          <p:cNvPr id="18" name="TextBox 17">
            <a:extLst>
              <a:ext uri="{FF2B5EF4-FFF2-40B4-BE49-F238E27FC236}">
                <a16:creationId xmlns:a16="http://schemas.microsoft.com/office/drawing/2014/main" id="{1CC51BEE-0560-3D56-4AE8-86D704578774}"/>
              </a:ext>
            </a:extLst>
          </p:cNvPr>
          <p:cNvSpPr txBox="1"/>
          <p:nvPr/>
        </p:nvSpPr>
        <p:spPr>
          <a:xfrm>
            <a:off x="9358154" y="3237256"/>
            <a:ext cx="1072730" cy="369332"/>
          </a:xfrm>
          <a:prstGeom prst="rect">
            <a:avLst/>
          </a:prstGeom>
          <a:noFill/>
        </p:spPr>
        <p:txBody>
          <a:bodyPr wrap="none" rtlCol="0">
            <a:spAutoFit/>
          </a:bodyPr>
          <a:lstStyle/>
          <a:p>
            <a:r>
              <a:rPr lang="en-US" dirty="0"/>
              <a:t>57%/52%</a:t>
            </a:r>
          </a:p>
        </p:txBody>
      </p:sp>
      <p:sp>
        <p:nvSpPr>
          <p:cNvPr id="19" name="TextBox 18">
            <a:extLst>
              <a:ext uri="{FF2B5EF4-FFF2-40B4-BE49-F238E27FC236}">
                <a16:creationId xmlns:a16="http://schemas.microsoft.com/office/drawing/2014/main" id="{A17D3C89-20DF-71B2-E5D8-1DA9D1F926E7}"/>
              </a:ext>
            </a:extLst>
          </p:cNvPr>
          <p:cNvSpPr txBox="1"/>
          <p:nvPr/>
        </p:nvSpPr>
        <p:spPr>
          <a:xfrm>
            <a:off x="10996093" y="3237256"/>
            <a:ext cx="1072730" cy="369332"/>
          </a:xfrm>
          <a:prstGeom prst="rect">
            <a:avLst/>
          </a:prstGeom>
          <a:noFill/>
        </p:spPr>
        <p:txBody>
          <a:bodyPr wrap="none" rtlCol="0">
            <a:spAutoFit/>
          </a:bodyPr>
          <a:lstStyle/>
          <a:p>
            <a:r>
              <a:rPr lang="en-US" dirty="0"/>
              <a:t>60%/55%</a:t>
            </a:r>
          </a:p>
        </p:txBody>
      </p:sp>
      <p:sp>
        <p:nvSpPr>
          <p:cNvPr id="21"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5"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t>KBA observes a Carilion 44% commercial margin. Conservatively, we model the DTE to be 5% below commercial (10 percentage-point price reduction with a 5 percentage-point price increase from easier billing):</a:t>
            </a:r>
          </a:p>
        </p:txBody>
      </p:sp>
      <p:sp>
        <p:nvSpPr>
          <p:cNvPr id="26"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7"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8"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9" name="TextBox 28">
            <a:extLst>
              <a:ext uri="{FF2B5EF4-FFF2-40B4-BE49-F238E27FC236}">
                <a16:creationId xmlns:a16="http://schemas.microsoft.com/office/drawing/2014/main" id="{2C03026B-6D1E-F7B1-9995-7D9DC1019C60}"/>
              </a:ext>
            </a:extLst>
          </p:cNvPr>
          <p:cNvSpPr txBox="1"/>
          <p:nvPr/>
        </p:nvSpPr>
        <p:spPr>
          <a:xfrm>
            <a:off x="7659946" y="5559601"/>
            <a:ext cx="583814" cy="369332"/>
          </a:xfrm>
          <a:prstGeom prst="rect">
            <a:avLst/>
          </a:prstGeom>
          <a:noFill/>
        </p:spPr>
        <p:txBody>
          <a:bodyPr wrap="none" rtlCol="0">
            <a:spAutoFit/>
          </a:bodyPr>
          <a:lstStyle/>
          <a:p>
            <a:r>
              <a:rPr lang="en-US" dirty="0"/>
              <a:t>25%</a:t>
            </a:r>
          </a:p>
        </p:txBody>
      </p:sp>
      <p:sp>
        <p:nvSpPr>
          <p:cNvPr id="30" name="TextBox 29">
            <a:extLst>
              <a:ext uri="{FF2B5EF4-FFF2-40B4-BE49-F238E27FC236}">
                <a16:creationId xmlns:a16="http://schemas.microsoft.com/office/drawing/2014/main" id="{9C64CEEB-E16A-926D-5DF0-DC8275443A40}"/>
              </a:ext>
            </a:extLst>
          </p:cNvPr>
          <p:cNvSpPr txBox="1"/>
          <p:nvPr/>
        </p:nvSpPr>
        <p:spPr>
          <a:xfrm>
            <a:off x="9580061" y="5571573"/>
            <a:ext cx="583814" cy="369332"/>
          </a:xfrm>
          <a:prstGeom prst="rect">
            <a:avLst/>
          </a:prstGeom>
          <a:noFill/>
        </p:spPr>
        <p:txBody>
          <a:bodyPr wrap="none" rtlCol="0">
            <a:spAutoFit/>
          </a:bodyPr>
          <a:lstStyle/>
          <a:p>
            <a:r>
              <a:rPr lang="en-US" dirty="0"/>
              <a:t>33%</a:t>
            </a:r>
          </a:p>
        </p:txBody>
      </p:sp>
      <p:sp>
        <p:nvSpPr>
          <p:cNvPr id="31" name="TextBox 30">
            <a:extLst>
              <a:ext uri="{FF2B5EF4-FFF2-40B4-BE49-F238E27FC236}">
                <a16:creationId xmlns:a16="http://schemas.microsoft.com/office/drawing/2014/main" id="{716000A2-AFB1-117D-BFF0-2BDA3EA8A77D}"/>
              </a:ext>
            </a:extLst>
          </p:cNvPr>
          <p:cNvSpPr txBox="1"/>
          <p:nvPr/>
        </p:nvSpPr>
        <p:spPr>
          <a:xfrm>
            <a:off x="11389339" y="5571573"/>
            <a:ext cx="583814" cy="369332"/>
          </a:xfrm>
          <a:prstGeom prst="rect">
            <a:avLst/>
          </a:prstGeom>
          <a:noFill/>
        </p:spPr>
        <p:txBody>
          <a:bodyPr wrap="none" rtlCol="0">
            <a:spAutoFit/>
          </a:bodyPr>
          <a:lstStyle/>
          <a:p>
            <a:r>
              <a:rPr lang="en-US" dirty="0"/>
              <a:t>39%</a:t>
            </a:r>
          </a:p>
        </p:txBody>
      </p:sp>
      <p:sp>
        <p:nvSpPr>
          <p:cNvPr id="3" name="Rectangle 2">
            <a:extLst>
              <a:ext uri="{FF2B5EF4-FFF2-40B4-BE49-F238E27FC236}">
                <a16:creationId xmlns:a16="http://schemas.microsoft.com/office/drawing/2014/main" id="{E854312B-28D3-E83C-2C75-6E860911BB50}"/>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41" name="Content Placeholder 40" descr="A graph with lines and numbers&#10;&#10;Description automatically generated">
            <a:extLst>
              <a:ext uri="{FF2B5EF4-FFF2-40B4-BE49-F238E27FC236}">
                <a16:creationId xmlns:a16="http://schemas.microsoft.com/office/drawing/2014/main" id="{FC19FEA2-3F67-BDE0-5916-619DB6B887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3616" y="1811084"/>
            <a:ext cx="6216197" cy="4351338"/>
          </a:xfrm>
        </p:spPr>
      </p:pic>
    </p:spTree>
    <p:extLst>
      <p:ext uri="{BB962C8B-B14F-4D97-AF65-F5344CB8AC3E}">
        <p14:creationId xmlns:p14="http://schemas.microsoft.com/office/powerpoint/2010/main" val="3470905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23.  </a:t>
            </a:r>
          </a:p>
          <a:p>
            <a:pPr marL="285750" indent="-285750">
              <a:buFont typeface="Arial" panose="020B0604020202020204" pitchFamily="34" charset="0"/>
              <a:buChar char="•"/>
            </a:pPr>
            <a:r>
              <a:rPr lang="en-US" sz="1600" dirty="0"/>
              <a:t>Financial projections do not include 340B contribution margin, which could represent $136 PMPM by optimizing 340B through Rx plan design, Carilion’s approved site(s) with network integration, and development of Carilion’s proprietary PBM program.</a:t>
            </a:r>
            <a:r>
              <a:rPr lang="en-US" sz="1600" dirty="0">
                <a:highlight>
                  <a:srgbClr val="FFFF00"/>
                </a:highlight>
              </a:rPr>
              <a:t>   </a:t>
            </a:r>
          </a:p>
        </p:txBody>
      </p:sp>
      <p:graphicFrame>
        <p:nvGraphicFramePr>
          <p:cNvPr id="12" name="Content Placeholder 2">
            <a:extLst>
              <a:ext uri="{FF2B5EF4-FFF2-40B4-BE49-F238E27FC236}">
                <a16:creationId xmlns:a16="http://schemas.microsoft.com/office/drawing/2014/main" id="{B312E458-55D7-5B72-B01F-FB00363F05BF}"/>
              </a:ext>
            </a:extLst>
          </p:cNvPr>
          <p:cNvGraphicFramePr>
            <a:graphicFrameLocks noGrp="1"/>
          </p:cNvGraphicFramePr>
          <p:nvPr/>
        </p:nvGraphicFramePr>
        <p:xfrm>
          <a:off x="2005978" y="593935"/>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58.5% Inpatient/52% Outpatient Within-Plan Steerage and a Commercial Margin of 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$10,720K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$ 4,000K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$ 14,587K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$ 4,714K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$42,881K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$ 58,349K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$15,468K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$2,799K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$85,762K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$116,697K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$30,935K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$37,709K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$5,855K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$5,800K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10</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38419</TotalTime>
  <Words>975</Words>
  <Application>Microsoft Office PowerPoint</Application>
  <PresentationFormat>Widescreen</PresentationFormat>
  <Paragraphs>325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 Narrow</vt:lpstr>
      <vt:lpstr>Arial</vt:lpstr>
      <vt:lpstr>Arial Black</vt:lpstr>
      <vt:lpstr>Calibri</vt:lpstr>
      <vt:lpstr>Calibri Light</vt:lpstr>
      <vt:lpstr>Wingdings</vt:lpstr>
      <vt:lpstr>Office Theme</vt:lpstr>
      <vt:lpstr>PowerPoint Presentation</vt:lpstr>
      <vt:lpstr>Healthcare Leader in Private Labeled DTE Plans</vt:lpstr>
      <vt:lpstr>Direct-to-Employer (DTE)  Your health plan focused on a direct relationship with self-funded employers in Your market</vt:lpstr>
      <vt:lpstr>Significant Opportunity for Plan Growth Researched for Roanoke and Lynchburg Hospital Referral Regions*</vt:lpstr>
      <vt:lpstr>Direct-to-Employer Strategy: Only Available to Premier Health Systems</vt:lpstr>
      <vt:lpstr>Critical for Success: Strong Brand and Care Quality</vt:lpstr>
      <vt:lpstr>Estimated Financial Returns and Assumptions</vt:lpstr>
      <vt:lpstr>SINGLE YEAR SUMMARY</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102</cp:revision>
  <cp:lastPrinted>2023-07-13T10:24:43Z</cp:lastPrinted>
  <dcterms:created xsi:type="dcterms:W3CDTF">2021-01-20T14:12:11Z</dcterms:created>
  <dcterms:modified xsi:type="dcterms:W3CDTF">2024-08-09T20:12:05Z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