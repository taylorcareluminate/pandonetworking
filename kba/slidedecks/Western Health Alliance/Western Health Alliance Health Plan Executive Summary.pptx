
<file path=[Content_Types].xml><?xml version="1.0" encoding="utf-8"?>
<Types xmlns="http://schemas.openxmlformats.org/package/2006/content-types">
  <Default Extension="jpeg" ContentType="image/jpeg"/>
  <Default Extension="jpg" ContentType="application/octet-stream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  <p:sldMasterId id="2147483756" r:id="rId5"/>
    <p:sldMasterId id="2147483758" r:id="rId6"/>
    <p:sldMasterId id="2147483773" r:id="rId7"/>
  </p:sldMasterIdLst>
  <p:notesMasterIdLst>
    <p:notesMasterId r:id="rId19"/>
  </p:notesMasterIdLst>
  <p:sldIdLst>
    <p:sldId id="588" r:id="rId8"/>
    <p:sldId id="454" r:id="rId9"/>
    <p:sldId id="549" r:id="rId10"/>
    <p:sldId id="2145726869" r:id="rId11"/>
    <p:sldId id="521" r:id="rId12"/>
    <p:sldId id="2145726871" r:id="rId13"/>
    <p:sldId id="564" r:id="rId14"/>
    <p:sldId id="2145726872" r:id="rId15"/>
    <p:sldId id="580" r:id="rId16"/>
    <p:sldId id="582" r:id="rId17"/>
    <p:sldId id="472" r:id="rId18"/>
  </p:sldIdLst>
  <p:sldSz cx="12192000" cy="6858000"/>
  <p:notesSz cx="7315200" cy="9601200"/>
  <p:custDataLst>
    <p:tags r:id="rId2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2E2597A-94BE-EE4F-A6CE-E20FE57E2F9C}" name="Guest User" initials="GU" userId="S::urn:spo:anon#4882e948f16bd08fe685987adb7b014b58869755eb6e2ab80c2be75a5daf6f48::" providerId="AD"/>
  <p188:author id="{6244F3C6-ED6E-17B5-41BE-FE4DD862B991}" name="Taylor Davis" initials="TD" userId="S::taylordavis@careluminate.com::5c9e72a0-c39f-4aa1-9d7d-64125e78cbe6" providerId="AD"/>
  <p188:author id="{66F9D3D0-34A3-8F09-07C8-70124CEFC9C1}" name="Guest User" initials="GU" userId="S::urn:spo:anon#24b610c975cf575f85befe109f115faf394b3198ecce54128fd3ac5d0276f2d0::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ADFF"/>
    <a:srgbClr val="00539F"/>
    <a:srgbClr val="244F9A"/>
    <a:srgbClr val="30589B"/>
    <a:srgbClr val="2F5597"/>
    <a:srgbClr val="6087CE"/>
    <a:srgbClr val="4468A5"/>
    <a:srgbClr val="F2F2F2"/>
    <a:srgbClr val="C55A11"/>
    <a:srgbClr val="F42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14" autoAdjust="0"/>
    <p:restoredTop sz="88609" autoAdjust="0"/>
  </p:normalViewPr>
  <p:slideViewPr>
    <p:cSldViewPr snapToGrid="0">
      <p:cViewPr>
        <p:scale>
          <a:sx n="75" d="100"/>
          <a:sy n="75" d="100"/>
        </p:scale>
        <p:origin x="1710" y="5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viewProps" Target="viewProps.xml"/><Relationship Id="rId10" Type="http://schemas.openxmlformats.org/officeDocument/2006/relationships/slide" Target="slides/slide3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1FD6DDA3-38A7-4FD6-85B1-536EE35AA91A}"/>
    <pc:docChg chg="delSld modSld delMainMaster">
      <pc:chgData name="Taylor Davis" userId="5c9e72a0-c39f-4aa1-9d7d-64125e78cbe6" providerId="ADAL" clId="{1FD6DDA3-38A7-4FD6-85B1-536EE35AA91A}" dt="2025-07-03T16:37:43.285" v="61" actId="20577"/>
      <pc:docMkLst>
        <pc:docMk/>
      </pc:docMkLst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3543401867" sldId="281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2605732402" sldId="283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514031403" sldId="285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3958060990" sldId="458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1419816550" sldId="536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1064222983" sldId="574"/>
        </pc:sldMkLst>
      </pc:sldChg>
      <pc:sldChg chg="modSp mod">
        <pc:chgData name="Taylor Davis" userId="5c9e72a0-c39f-4aa1-9d7d-64125e78cbe6" providerId="ADAL" clId="{1FD6DDA3-38A7-4FD6-85B1-536EE35AA91A}" dt="2025-07-03T16:37:43.285" v="61" actId="20577"/>
        <pc:sldMkLst>
          <pc:docMk/>
          <pc:sldMk cId="4294051359" sldId="582"/>
        </pc:sldMkLst>
        <pc:spChg chg="mod">
          <ac:chgData name="Taylor Davis" userId="5c9e72a0-c39f-4aa1-9d7d-64125e78cbe6" providerId="ADAL" clId="{1FD6DDA3-38A7-4FD6-85B1-536EE35AA91A}" dt="2025-07-03T16:37:43.285" v="61" actId="20577"/>
          <ac:spMkLst>
            <pc:docMk/>
            <pc:sldMk cId="4294051359" sldId="582"/>
            <ac:spMk id="24" creationId="{A6FA9894-E7D1-BE08-3776-08F67E9496EF}"/>
          </ac:spMkLst>
        </pc:spChg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838631500" sldId="583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2011724879" sldId="585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4042275972" sldId="613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1281542618" sldId="614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2174952421" sldId="2145726856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4161310751" sldId="2145726857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1389453819" sldId="2145726859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0" sldId="2145726864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1010235892" sldId="2145726866"/>
        </pc:sldMkLst>
      </pc:sldChg>
      <pc:sldChg chg="del">
        <pc:chgData name="Taylor Davis" userId="5c9e72a0-c39f-4aa1-9d7d-64125e78cbe6" providerId="ADAL" clId="{1FD6DDA3-38A7-4FD6-85B1-536EE35AA91A}" dt="2025-07-03T16:37:26.775" v="0" actId="47"/>
        <pc:sldMkLst>
          <pc:docMk/>
          <pc:sldMk cId="4087636236" sldId="2145726868"/>
        </pc:sldMkLst>
      </pc:sldChg>
      <pc:sldMasterChg chg="del delSldLayout">
        <pc:chgData name="Taylor Davis" userId="5c9e72a0-c39f-4aa1-9d7d-64125e78cbe6" providerId="ADAL" clId="{1FD6DDA3-38A7-4FD6-85B1-536EE35AA91A}" dt="2025-07-03T16:37:26.775" v="0" actId="47"/>
        <pc:sldMasterMkLst>
          <pc:docMk/>
          <pc:sldMasterMk cId="1265540980" sldId="2147483785"/>
        </pc:sldMasterMkLst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2498378428" sldId="2147483786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2601881731" sldId="2147483787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1562686733" sldId="2147483788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4003081434" sldId="2147483789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1910118790" sldId="2147483790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3711328393" sldId="2147483791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1423940963" sldId="2147483792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4032606110" sldId="2147483793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2254392230" sldId="2147483794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1920540095" sldId="2147483795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1265540980" sldId="2147483785"/>
            <pc:sldLayoutMk cId="4278865784" sldId="2147483796"/>
          </pc:sldLayoutMkLst>
        </pc:sldLayoutChg>
      </pc:sldMasterChg>
      <pc:sldMasterChg chg="del delSldLayout">
        <pc:chgData name="Taylor Davis" userId="5c9e72a0-c39f-4aa1-9d7d-64125e78cbe6" providerId="ADAL" clId="{1FD6DDA3-38A7-4FD6-85B1-536EE35AA91A}" dt="2025-07-03T16:37:26.775" v="0" actId="47"/>
        <pc:sldMasterMkLst>
          <pc:docMk/>
          <pc:sldMasterMk cId="3563936643" sldId="2147483797"/>
        </pc:sldMasterMkLst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2824293841" sldId="2147483798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50421858" sldId="2147483799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2298163207" sldId="2147483800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991304296" sldId="2147483801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121920882" sldId="2147483802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2885874120" sldId="2147483803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906534417" sldId="2147483804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491300616" sldId="2147483805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2921565179" sldId="2147483806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159210513" sldId="2147483807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1217176151" sldId="2147483808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895843817" sldId="2147483809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684719445" sldId="2147483810"/>
          </pc:sldLayoutMkLst>
        </pc:sldLayoutChg>
        <pc:sldLayoutChg chg="del">
          <pc:chgData name="Taylor Davis" userId="5c9e72a0-c39f-4aa1-9d7d-64125e78cbe6" providerId="ADAL" clId="{1FD6DDA3-38A7-4FD6-85B1-536EE35AA91A}" dt="2025-07-03T16:37:26.775" v="0" actId="47"/>
          <pc:sldLayoutMkLst>
            <pc:docMk/>
            <pc:sldMasterMk cId="3563936643" sldId="2147483797"/>
            <pc:sldLayoutMk cId="2530460957" sldId="214748381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7444AE22-21A2-46C1-A42F-3B4E8AE858E0}" type="datetimeFigureOut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>
                <a:latin typeface="Montserrat" panose="00000500000000000000" pitchFamily="2" charset="0"/>
              </a:defRPr>
            </a:lvl1pPr>
          </a:lstStyle>
          <a:p>
            <a:fld id="{4139CA89-B4B2-4050-B038-8DF8E3A335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latin typeface="Montserrat" panose="00000500000000000000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39CA89-B4B2-4050-B038-8DF8E3A3351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935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7378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1A9E3A3-CB7F-45DB-8359-15D56BF6905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65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72A7C2C-8CBA-48FC-B47E-140B6C4463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57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9FFEA2DF-E8B3-4F59-892A-C88743D6614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83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B0F09CE-D3E6-4C73-9F86-6AA671224F8D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99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F3AF486B-7A2A-4144-9105-81B5F9A702C4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503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Montserrat" panose="000005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3273CBB-1638-4F86-93C5-F289BAB372F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796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8E1223EA-AE71-4F47-9CA1-AC76DEC2B9E8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0479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B9B31445-0B45-4F5C-971D-F971BB7E35C1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690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AEE79F89-B9FD-40DA-A4A8-5549A4F97D5C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915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4BCDCB60-C599-4AF2-9C31-DCD390D25F3F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491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187DF3D-F650-432E-A6F6-439A0FF53FA0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1078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529F"/>
          </a:solidFill>
        </p:spPr>
        <p:txBody>
          <a:bodyPr wrap="square" lIns="0" tIns="0" rIns="0" bIns="0" rtlCol="0"/>
          <a:lstStyle/>
          <a:p>
            <a:endParaRPr>
              <a:latin typeface="Montserrat" panose="00000500000000000000" pitchFamily="2" charset="0"/>
            </a:endParaRPr>
          </a:p>
        </p:txBody>
      </p:sp>
      <p:pic>
        <p:nvPicPr>
          <p:cNvPr id="17" name="bg object 17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07951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348784" y="2668124"/>
            <a:ext cx="3129915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529F"/>
                </a:solidFill>
                <a:latin typeface="Montserrat" panose="00000500000000000000" pitchFamily="2" charset="0"/>
                <a:cs typeface="Montserrat" panose="00000500000000000000" pitchFamily="2" charset="0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2492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00529F"/>
                </a:solidFill>
                <a:latin typeface="Montserrat" panose="00000500000000000000" pitchFamily="2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bg1"/>
                </a:solidFill>
                <a:latin typeface="Montserrat" panose="00000500000000000000" pitchFamily="2" charset="0"/>
                <a:cs typeface="Calibri"/>
              </a:defRPr>
            </a:lvl1pPr>
          </a:lstStyle>
          <a:p>
            <a:pPr marL="118745">
              <a:spcBef>
                <a:spcPts val="25"/>
              </a:spcBef>
            </a:pPr>
            <a:fld id="{81D60167-4931-47E6-BA6A-407CBD079E47}" type="slidenum">
              <a:rPr lang="en-US" spc="-50" smtClean="0">
                <a:solidFill>
                  <a:srgbClr val="767676"/>
                </a:solidFill>
              </a:rPr>
              <a:pPr marL="118745">
                <a:spcBef>
                  <a:spcPts val="25"/>
                </a:spcBef>
              </a:pPr>
              <a:t>‹#›</a:t>
            </a:fld>
            <a:endParaRPr lang="en-US" spc="-50" dirty="0">
              <a:solidFill>
                <a:srgbClr val="76767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028952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G-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D6220A-7814-163E-54CD-0C84B578876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>
            <a:off x="1" y="0"/>
            <a:ext cx="809640" cy="6857999"/>
          </a:xfrm>
          <a:prstGeom prst="rect">
            <a:avLst/>
          </a:prstGeom>
        </p:spPr>
      </p:pic>
      <p:sp>
        <p:nvSpPr>
          <p:cNvPr id="31" name="Title Placeholder 1">
            <a:extLst>
              <a:ext uri="{FF2B5EF4-FFF2-40B4-BE49-F238E27FC236}">
                <a16:creationId xmlns:a16="http://schemas.microsoft.com/office/drawing/2014/main" id="{C55968D7-D34D-4B87-A52E-96B1C2706D0D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809639" y="56936"/>
            <a:ext cx="10572721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508908E-9339-78F7-37C3-1674CECF3B02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519238" y="1827304"/>
            <a:ext cx="9986962" cy="2312236"/>
          </a:xfrm>
        </p:spPr>
        <p:txBody>
          <a:bodyPr>
            <a:spAutoFit/>
          </a:bodyPr>
          <a:lstStyle>
            <a:lvl1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1pPr>
            <a:lvl2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2pPr>
            <a:lvl3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3pPr>
            <a:lvl4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4pPr>
            <a:lvl5pPr>
              <a:lnSpc>
                <a:spcPct val="120000"/>
              </a:lnSpc>
              <a:spcAft>
                <a:spcPts val="0"/>
              </a:spcAft>
              <a:defRPr>
                <a:solidFill>
                  <a:schemeClr val="tx1"/>
                </a:solidFill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DD69C5BF-D386-C158-3456-9FBA5C891F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3359"/>
          <a:stretch/>
        </p:blipFill>
        <p:spPr>
          <a:xfrm flipH="1">
            <a:off x="11382361" y="0"/>
            <a:ext cx="80963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3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r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81274F3-D212-A6CA-42D8-FA4F764F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936"/>
            <a:ext cx="12191999" cy="489365"/>
          </a:xfrm>
          <a:prstGeom prst="rect">
            <a:avLst/>
          </a:prstGeom>
          <a:noFill/>
          <a:ln w="12700">
            <a:noFill/>
            <a:miter lim="800000"/>
          </a:ln>
        </p:spPr>
        <p:txBody>
          <a:bodyPr vert="horz" wrap="square" lIns="228600" tIns="45720" rIns="228600" bIns="0" rtlCol="0" anchor="ctr" anchorCtr="0">
            <a:spAutoFit/>
          </a:bodyPr>
          <a:lstStyle>
            <a:lvl1pPr algn="ctr">
              <a:defRPr sz="3200" b="1" cap="none" spc="-70" baseline="0">
                <a:solidFill>
                  <a:srgbClr val="434343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1847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0333A-D7F4-8BF6-7FE6-B245E061DF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FD55F-2B6A-BC81-01A1-E169ABA4D2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Montserrat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AAA2D5-089E-22AF-3D0B-4F19067E8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894B4-59C2-ED48-02F2-59E034C4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61B42-85D1-521C-676B-AEF121AD5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261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24B23-3A0F-2FFB-F140-0ED21664B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27193-0571-3183-9568-FBC2C4C419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BE860-C86D-39CD-1793-0B867B627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9902B-89A3-6032-AD27-5B2747726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BC3B-8A86-AA5A-AD97-AFE05C11E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058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49683-D972-023F-219D-7BB60D67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BF06F-33B9-F6B7-D0B0-58368CF72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E4-3B21-B2C2-F89D-019DFA1351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F9B1F-218C-4099-354A-77985CA88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7B7BA-EB30-276C-F6A4-57FBE4B1B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209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93683-51F3-237C-28D3-307EE44F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47C5-37A5-7576-DF3F-A03DBF5DC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3D1057-0101-3CB8-D158-2EAE2463F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9A133-63CE-4F37-E482-EA1EECCA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C3D78-6D9B-64CF-B7D6-AEEA3A6E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D38F0-00C1-C0D4-F298-433BE1D17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716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A98D-65C1-1E26-EDD7-90B5F4CAF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ADBA72-820B-660B-EB15-EF77956BD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EE162-1C58-9826-D133-1AD84A30A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50119-C4BF-8D07-DED7-073F40FB57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Montserrat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C9C018-AAE1-01C5-C4E7-1C69A018EB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C6F45-ECE2-F081-F98C-EECF3EBF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19771-6EC0-7828-5F14-219FFD62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FBBDB-D016-3519-189F-C3EF7A0A3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1658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90F4-6BF3-9A05-11B0-CFDC94F6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2DC46-DA37-DBBE-5107-914E8DF19A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0D90FD-81A9-E6FB-27D3-24713EF14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16EA0-D473-AC28-DECA-DEAEF6567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606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17604C-AB91-78A2-2DA4-6D1088A3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C85361-F6B7-FAAB-4738-E0ADE5E1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3D6D1-624B-8B3C-90BE-2C90B19A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574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CB8A9-03E2-CC5E-A121-E5984E9AE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174-A575-A915-92B0-207B93D1F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Montserrat" panose="00000500000000000000" pitchFamily="2" charset="0"/>
              </a:defRPr>
            </a:lvl1pPr>
            <a:lvl2pPr>
              <a:defRPr sz="2800">
                <a:latin typeface="Montserrat" panose="00000500000000000000" pitchFamily="2" charset="0"/>
              </a:defRPr>
            </a:lvl2pPr>
            <a:lvl3pPr>
              <a:defRPr sz="2400">
                <a:latin typeface="Montserrat" panose="00000500000000000000" pitchFamily="2" charset="0"/>
              </a:defRPr>
            </a:lvl3pPr>
            <a:lvl4pPr>
              <a:defRPr sz="2000">
                <a:latin typeface="Montserrat" panose="00000500000000000000" pitchFamily="2" charset="0"/>
              </a:defRPr>
            </a:lvl4pPr>
            <a:lvl5pPr>
              <a:defRPr sz="2000">
                <a:latin typeface="Montserrat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F26E49-3074-8C94-B0CC-8EFA1B825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9E3CC-7C4A-D7EC-E46C-5A842B8A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F330E3-0B96-933C-829B-04B30C4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57A92-1BAA-DAA4-E90F-EDFBED3D7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84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A07BE-FE86-FD17-6855-F4BBD30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EFE0AE-B8E3-6453-74A9-2CCBC448E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Montserrat" panose="000005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1BFAC6-51C3-1D27-7E41-47878F27E0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Montserrat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98224-E0A8-36C0-DDF7-27FA70A43C0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4AEAA-95D8-5BA2-2F25-047DDCC1D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86F25-6C70-7C4B-DFD4-192375D55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5199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03B00-617F-6CDB-FC05-71E366A0D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7BB096-36EC-BC27-3A10-9065A2B11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4F6E8-F910-F328-584A-CA901BB3A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93A474-10C6-034E-0576-8B73F4B7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4C70E-6DC2-4298-EEB8-A2AC6AD7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29269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08DBE0-CED9-F7B0-5642-5731DA249B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7D136-9913-226C-7C14-436B6CF99C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Montserrat" panose="00000500000000000000" pitchFamily="2" charset="0"/>
              </a:defRPr>
            </a:lvl1pPr>
            <a:lvl2pPr>
              <a:defRPr>
                <a:latin typeface="Montserrat" panose="00000500000000000000" pitchFamily="2" charset="0"/>
              </a:defRPr>
            </a:lvl2pPr>
            <a:lvl3pPr>
              <a:defRPr>
                <a:latin typeface="Montserrat" panose="00000500000000000000" pitchFamily="2" charset="0"/>
              </a:defRPr>
            </a:lvl3pPr>
            <a:lvl4pPr>
              <a:defRPr>
                <a:latin typeface="Montserrat" panose="00000500000000000000" pitchFamily="2" charset="0"/>
              </a:defRPr>
            </a:lvl4pPr>
            <a:lvl5pPr>
              <a:defRPr>
                <a:latin typeface="Montserrat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3D2C8-E528-BF1F-C711-971E74B5E8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2235EB84-57DF-7545-B0D8-A8F3CEB48B06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D753D-C084-2ADF-0E12-AA92D30C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82D8B-8E1E-F47C-7C0F-AEDE48C2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14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ECD48873-4569-48AE-9711-BF92EE297A77}" type="datetime1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en-US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3AFC719D-C4A7-4544-876E-D411D11AF6C9}" type="slidenum">
              <a:rPr lang="en-US" smtClean="0"/>
              <a:pPr/>
              <a:t>‹#›</a:t>
            </a:fld>
            <a:endParaRPr lang="en-US"/>
          </a:p>
        </p:txBody>
      </p:sp>
    </p:spTree>
    <p:custDataLst>
      <p:tags r:id="rId16"/>
    </p:custDataLst>
    <p:extLst>
      <p:ext uri="{BB962C8B-B14F-4D97-AF65-F5344CB8AC3E}">
        <p14:creationId xmlns:p14="http://schemas.microsoft.com/office/powerpoint/2010/main" val="2931359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28BEE0-7577-10C8-2F70-A988114D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ED88FE-EDC7-60BB-7A69-AF9890EA0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6E3C9-054B-7BB4-0692-08B96E9944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fld id="{16E3E577-7CD6-1946-9928-3DEBA88B4E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49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2"/>
          </a:solidFill>
          <a:latin typeface="Montserrat" panose="000005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i="0" kern="1200">
          <a:solidFill>
            <a:schemeClr val="tx1"/>
          </a:solidFill>
          <a:latin typeface="Montserrat" panose="00000500000000000000" pitchFamily="2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svg"/><Relationship Id="rId11" Type="http://schemas.openxmlformats.org/officeDocument/2006/relationships/image" Target="../media/image10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6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14271" cy="6856286"/>
          </a:xfrm>
          <a:prstGeom prst="rect">
            <a:avLst/>
          </a:prstGeom>
        </p:spPr>
      </p:pic>
      <p:sp>
        <p:nvSpPr>
          <p:cNvPr id="3" name="Object 2"/>
          <p:cNvSpPr/>
          <p:nvPr/>
        </p:nvSpPr>
        <p:spPr>
          <a:xfrm>
            <a:off x="2180680" y="1196279"/>
            <a:ext cx="5761184" cy="2483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195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52" b="0" i="0" u="none" strike="noStrike" kern="0" cap="none" spc="47" normalizeH="0" baseline="0" noProof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 panose="00000500000000000000" pitchFamily="2" charset="0"/>
                <a:ea typeface="Jost*" pitchFamily="34" charset="-122"/>
                <a:cs typeface="Jost*" pitchFamily="34" charset="-120"/>
              </a:rPr>
              <a:t>OPPORTUNITY REVIEW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Object 3"/>
          <p:cNvSpPr/>
          <p:nvPr/>
        </p:nvSpPr>
        <p:spPr>
          <a:xfrm>
            <a:off x="1178743" y="1685802"/>
            <a:ext cx="6953573" cy="1151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9072"/>
              </a:lnSpc>
              <a:spcBef>
                <a:spcPts val="97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600" kern="0" spc="243" dirty="0">
                <a:solidFill>
                  <a:srgbClr val="FFFFFF"/>
                </a:solidFill>
                <a:latin typeface="Montserrat"/>
                <a:ea typeface="Jost*"/>
              </a:rPr>
              <a:t>WHA DIRECT TO EMPLOYER PLAN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sp>
        <p:nvSpPr>
          <p:cNvPr id="5" name="Object 6"/>
          <p:cNvSpPr/>
          <p:nvPr/>
        </p:nvSpPr>
        <p:spPr>
          <a:xfrm>
            <a:off x="218209" y="5372101"/>
            <a:ext cx="7723655" cy="31111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marR="0" lvl="0" indent="0" algn="r" defTabSz="914400" rtl="0" eaLnBrk="1" fontAlgn="auto" latinLnBrk="0" hangingPunct="1">
              <a:lnSpc>
                <a:spcPts val="2370"/>
              </a:lnSpc>
              <a:spcBef>
                <a:spcPts val="59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50" b="0" i="0" u="none" strike="noStrike" kern="0" cap="none" spc="53" normalizeH="0" baseline="0" noProof="0" dirty="0">
                <a:ln>
                  <a:noFill/>
                </a:ln>
                <a:solidFill>
                  <a:srgbClr val="FFFFFF">
                    <a:alpha val="80000"/>
                  </a:srgbClr>
                </a:solidFill>
                <a:effectLst/>
                <a:uLnTx/>
                <a:uFillTx/>
                <a:latin typeface="Montserrat"/>
                <a:ea typeface="Jost*"/>
                <a:cs typeface="Jost*" pitchFamily="34" charset="-120"/>
              </a:rPr>
              <a:t>Exploring a Western Health Alliance State-Wide Health Plan</a:t>
            </a:r>
            <a:endParaRPr kumimoji="0" lang="en-US" sz="17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/>
              <a:ea typeface="Jost*"/>
              <a:cs typeface="+mn-cs"/>
            </a:endParaRPr>
          </a:p>
        </p:txBody>
      </p:sp>
      <p:pic>
        <p:nvPicPr>
          <p:cNvPr id="6" name="Object 7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22769" y="0"/>
            <a:ext cx="3866183" cy="6856286"/>
          </a:xfrm>
          <a:prstGeom prst="rect">
            <a:avLst/>
          </a:prstGeom>
        </p:spPr>
      </p:pic>
      <p:sp>
        <p:nvSpPr>
          <p:cNvPr id="7" name="Object 8"/>
          <p:cNvSpPr/>
          <p:nvPr/>
        </p:nvSpPr>
        <p:spPr>
          <a:xfrm>
            <a:off x="495176" y="285679"/>
            <a:ext cx="2005028" cy="47613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8" name="Object 9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7538" y="380905"/>
            <a:ext cx="1700304" cy="285679"/>
          </a:xfrm>
          <a:prstGeom prst="rect">
            <a:avLst/>
          </a:prstGeom>
        </p:spPr>
      </p:pic>
      <p:pic>
        <p:nvPicPr>
          <p:cNvPr id="9" name="Content Placeholder 8"/>
          <p:cNvPicPr>
            <a:picLocks noGrp="1"/>
          </p:cNvPicPr>
          <p:nvPr>
            <p:ph/>
          </p:nvPr>
        </p:nvPicPr>
        <p:blipFill>
          <a:blip r:embed="rId7" cstate="print"/>
          <a:stretch>
            <a:fillRect/>
          </a:stretch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 descr="A large white monument in a city&#10;&#10;Description automatically generated">
            <a:extLst>
              <a:ext uri="{FF2B5EF4-FFF2-40B4-BE49-F238E27FC236}">
                <a16:creationId xmlns:a16="http://schemas.microsoft.com/office/drawing/2014/main" id="{BE8CB555-2013-D606-CB39-161E7EAEF5C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Rectangle: Single Corner Rounded 4">
            <a:extLst>
              <a:ext uri="{FF2B5EF4-FFF2-40B4-BE49-F238E27FC236}">
                <a16:creationId xmlns:a16="http://schemas.microsoft.com/office/drawing/2014/main" id="{90B02A10-01E7-2494-66B5-078DDFE69A60}"/>
              </a:ext>
            </a:extLst>
          </p:cNvPr>
          <p:cNvSpPr/>
          <p:nvPr/>
        </p:nvSpPr>
        <p:spPr>
          <a:xfrm>
            <a:off x="-8238" y="1163706"/>
            <a:ext cx="5843847" cy="5702531"/>
          </a:xfrm>
          <a:prstGeom prst="round1Rect">
            <a:avLst>
              <a:gd name="adj" fmla="val 12082"/>
            </a:avLst>
          </a:prstGeom>
          <a:solidFill>
            <a:srgbClr val="0053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marR="0" lvl="1" indent="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TextBox 6">
            <a:extLst>
              <a:ext uri="{FF2B5EF4-FFF2-40B4-BE49-F238E27FC236}">
                <a16:creationId xmlns:a16="http://schemas.microsoft.com/office/drawing/2014/main" id="{C3359629-7405-5BED-0491-4C3A6C6FF755}"/>
              </a:ext>
            </a:extLst>
          </p:cNvPr>
          <p:cNvSpPr txBox="1"/>
          <p:nvPr/>
        </p:nvSpPr>
        <p:spPr>
          <a:xfrm>
            <a:off x="81069" y="2184943"/>
            <a:ext cx="5681708" cy="40164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Founded in 1979, headquartered in Indianapolis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/>
              <a:ea typeface="+mn-ea"/>
              <a:cs typeface="Arial"/>
            </a:endParaRP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Largest Independently-Owned Full-Service Third-Party Administrator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Specialize in Administration of Self-Funded Plans and Population Health Management​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Leader in the Direct-to-Employer Movement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We Know and Understand the Market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Experience Working with All Professional Teams: Agents, Networks, MGAs</a:t>
            </a:r>
          </a:p>
          <a:p>
            <a:pPr marL="285750" marR="0" lvl="0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The Key Family of Companies is a Vertically Integrated group of benefit related organizations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3,000+ Corporate Clients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3 Million Members under Management  </a:t>
            </a:r>
          </a:p>
          <a:p>
            <a:pPr marL="742950" marR="0" lvl="1" indent="-285750" algn="l" defTabSz="914411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15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/>
                <a:ea typeface="+mn-ea"/>
                <a:cs typeface="Arial"/>
              </a:rPr>
              <a:t>700 Employees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7533ABB-0CFF-7B45-D905-4C9D5855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70497" y="1415781"/>
            <a:ext cx="3302852" cy="641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091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71" y="759389"/>
            <a:ext cx="8455729" cy="5111065"/>
          </a:xfrm>
          <a:prstGeom prst="rect">
            <a:avLst/>
          </a:prstGeom>
          <a:ln>
            <a:noFill/>
          </a:ln>
          <a:effectLst>
            <a:outerShdw blurRad="292100" dist="139700" dir="2700000" sx="1000" sy="1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8816521" y="0"/>
            <a:ext cx="3375480" cy="6872068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FC719D-C4A7-4544-876E-D411D11AF6C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592372" y="3693371"/>
            <a:ext cx="2053120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Bentonville, AR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6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384431" y="4574952"/>
            <a:ext cx="1781467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Meridian, 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7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4645491" y="5362115"/>
            <a:ext cx="2132682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Fort Myers, FL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8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5957116" y="4048009"/>
            <a:ext cx="2272613" cy="477348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Knoxville, TN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9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6678138" y="3093352"/>
            <a:ext cx="1751526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Cincinnati, OH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0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4102202" y="2976014"/>
            <a:ext cx="1854914" cy="443143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Louisville, KY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OneHealth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Arial" panose="020B0604020202020204" pitchFamily="34" charset="0"/>
              </a:rPr>
              <a:t> Plan</a:t>
            </a:r>
          </a:p>
        </p:txBody>
      </p:sp>
      <p:pic>
        <p:nvPicPr>
          <p:cNvPr id="11" name="Picture 13">
            <a:extLst>
              <a:ext uri="{FF2B5EF4-FFF2-40B4-BE49-F238E27FC236}">
                <a16:creationId xmlns:a16="http://schemas.microsoft.com/office/drawing/2014/main" id="{1FBDB55F-E2EE-D357-32A6-FEC23D86F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12" name="Title 4">
            <a:extLst>
              <a:ext uri="{FF2B5EF4-FFF2-40B4-BE49-F238E27FC236}">
                <a16:creationId xmlns:a16="http://schemas.microsoft.com/office/drawing/2014/main" id="{7C6371C7-344C-3C21-F253-96E09F12864E}"/>
              </a:ext>
            </a:extLst>
          </p:cNvPr>
          <p:cNvSpPr txBox="1">
            <a:spLocks/>
          </p:cNvSpPr>
          <p:nvPr/>
        </p:nvSpPr>
        <p:spPr>
          <a:xfrm>
            <a:off x="8881352" y="1661020"/>
            <a:ext cx="3245817" cy="330780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2"/>
                </a:solidFill>
                <a:latin typeface="Book Antiqua" panose="02040602050305030304" pitchFamily="18" charset="0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MARKET LEADER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IN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PRIVATE LABELED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j-ea"/>
                <a:cs typeface="+mj-cs"/>
              </a:rPr>
              <a:t>HEALTH PLANS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908" y="818337"/>
            <a:ext cx="3397612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2800" dirty="0">
                <a:solidFill>
                  <a:srgbClr val="000B2E"/>
                </a:solidFill>
                <a:cs typeface="Arial" panose="020B0604020202020204" pitchFamily="34" charset="0"/>
              </a:rPr>
              <a:t>(DTE)</a:t>
            </a:r>
            <a:br>
              <a:rPr lang="en-US" sz="1600" dirty="0">
                <a:solidFill>
                  <a:srgbClr val="000B2E"/>
                </a:solidFill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78" y="1468132"/>
            <a:ext cx="6697847" cy="4660901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/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YOU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000" b="1" dirty="0">
                <a:solidFill>
                  <a:srgbClr val="59CAE8"/>
                </a:solidFill>
                <a:latin typeface="Montserrat" panose="00000500000000000000" pitchFamily="2" charset="0"/>
              </a:rPr>
              <a:t>WE</a:t>
            </a:r>
            <a:r>
              <a:rPr lang="en-US" dirty="0">
                <a:solidFill>
                  <a:srgbClr val="9900CC"/>
                </a:solidFill>
              </a:rPr>
              <a:t> 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00539F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grpSp>
        <p:nvGrpSpPr>
          <p:cNvPr id="7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4632939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8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9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0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1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screen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sp>
        <p:nvSpPr>
          <p:cNvPr id="13" name="TextBox 14">
            <a:extLst>
              <a:ext uri="{FF2B5EF4-FFF2-40B4-BE49-F238E27FC236}">
                <a16:creationId xmlns:a16="http://schemas.microsoft.com/office/drawing/2014/main" id="{B8E36735-A0E0-6123-117C-3DE9AA3B9518}"/>
              </a:ext>
            </a:extLst>
          </p:cNvPr>
          <p:cNvSpPr txBox="1"/>
          <p:nvPr/>
        </p:nvSpPr>
        <p:spPr>
          <a:xfrm>
            <a:off x="1148436" y="3085346"/>
            <a:ext cx="247868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Health Plan Focused on a Direct Relationship with Self-Funded Employers in </a:t>
            </a:r>
            <a:r>
              <a:rPr lang="en-US" sz="1800" b="1" i="1" dirty="0">
                <a:solidFill>
                  <a:srgbClr val="000B2E"/>
                </a:solidFill>
                <a:cs typeface="Arial" panose="020B0604020202020204" pitchFamily="34" charset="0"/>
              </a:rPr>
              <a:t>Your</a:t>
            </a:r>
            <a:r>
              <a:rPr lang="en-US" sz="1800" b="1" dirty="0">
                <a:solidFill>
                  <a:srgbClr val="000B2E"/>
                </a:solidFill>
                <a:cs typeface="Arial" panose="020B0604020202020204" pitchFamily="34" charset="0"/>
              </a:rPr>
              <a:t> Market</a:t>
            </a:r>
            <a:endParaRPr lang="en-US" dirty="0"/>
          </a:p>
        </p:txBody>
      </p:sp>
      <p:pic>
        <p:nvPicPr>
          <p:cNvPr id="14" name="Content Placeholder 13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646920" y="347472"/>
            <a:ext cx="1914384" cy="7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4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157" y="136525"/>
            <a:ext cx="11569498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400" dirty="0">
                <a:solidFill>
                  <a:srgbClr val="000B2E"/>
                </a:solidFill>
                <a:cs typeface="Arial" panose="020B0604020202020204" pitchFamily="34" charset="0"/>
              </a:rPr>
              <a:t>DIRECT-TO-EMPLOYER STRATEGY:</a:t>
            </a:r>
            <a:br>
              <a:rPr lang="en-US" sz="3600" b="1" dirty="0">
                <a:solidFill>
                  <a:srgbClr val="000B2E"/>
                </a:solidFill>
                <a:cs typeface="Arial" panose="020B0604020202020204" pitchFamily="34" charset="0"/>
              </a:rPr>
            </a:b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ONLY AVAILABLE TO </a:t>
            </a:r>
            <a:r>
              <a:rPr lang="en-US" sz="3200" b="1" i="1" dirty="0">
                <a:solidFill>
                  <a:srgbClr val="000B2E"/>
                </a:solidFill>
                <a:cs typeface="Arial" panose="020B0604020202020204" pitchFamily="34" charset="0"/>
              </a:rPr>
              <a:t>PREMIER</a:t>
            </a:r>
            <a:r>
              <a:rPr lang="en-US" sz="3200" b="1" dirty="0">
                <a:solidFill>
                  <a:srgbClr val="000B2E"/>
                </a:solidFill>
                <a:cs typeface="Arial" panose="020B0604020202020204" pitchFamily="34" charset="0"/>
              </a:rPr>
              <a:t> HEALTH SYSTEMS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2859" y="1848935"/>
            <a:ext cx="6028455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STRONG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Brand Quality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EXTENSIVE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Patient Access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AFFORDABLE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 Pricing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3200" b="1" dirty="0">
                <a:solidFill>
                  <a:srgbClr val="59CAE8"/>
                </a:solidFill>
                <a:latin typeface="Montserrat" panose="00000500000000000000" pitchFamily="2" charset="0"/>
              </a:rPr>
              <a:t>EXCELLENT</a:t>
            </a:r>
            <a:r>
              <a:rPr lang="en-US" sz="3200" dirty="0">
                <a:solidFill>
                  <a:srgbClr val="9900CC"/>
                </a:solidFill>
              </a:rPr>
              <a:t> </a:t>
            </a:r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Care Quality  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182E78E4-84F7-ECC4-4085-D8F12894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63B286E7-A296-8685-AC6B-CA7B2EB60EBD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6" name="Content Placeholder 5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1508760" y="2834640"/>
            <a:ext cx="3154680" cy="128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46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EE24-5D9D-EA07-9267-C2879100D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B7C4-DFB2-1FBB-7D93-126074390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462" y="202819"/>
            <a:ext cx="10515600" cy="1325563"/>
          </a:xfrm>
        </p:spPr>
        <p:txBody>
          <a:bodyPr/>
          <a:lstStyle/>
          <a:p>
            <a:r>
              <a:rPr lang="en-US" b="0" dirty="0"/>
              <a:t>COVERING OVER 95% OF COLORADO’S POPULATION</a:t>
            </a:r>
          </a:p>
        </p:txBody>
      </p:sp>
      <p:grpSp>
        <p:nvGrpSpPr>
          <p:cNvPr id="3" name="Group 28">
            <a:extLst>
              <a:ext uri="{FF2B5EF4-FFF2-40B4-BE49-F238E27FC236}">
                <a16:creationId xmlns:a16="http://schemas.microsoft.com/office/drawing/2014/main" id="{C43A1639-680A-6CE0-FFAE-BDF1D4DFE25D}"/>
              </a:ext>
            </a:extLst>
          </p:cNvPr>
          <p:cNvGrpSpPr/>
          <p:nvPr/>
        </p:nvGrpSpPr>
        <p:grpSpPr>
          <a:xfrm>
            <a:off x="315991" y="1915224"/>
            <a:ext cx="4179295" cy="3636786"/>
            <a:chOff x="1267778" y="2161521"/>
            <a:chExt cx="8731885" cy="4307840"/>
          </a:xfrm>
        </p:grpSpPr>
        <p:grpSp>
          <p:nvGrpSpPr>
            <p:cNvPr id="4" name="Group 29">
              <a:extLst>
                <a:ext uri="{FF2B5EF4-FFF2-40B4-BE49-F238E27FC236}">
                  <a16:creationId xmlns:a16="http://schemas.microsoft.com/office/drawing/2014/main" id="{68E6AFAA-E3A7-4599-501D-807B7055EA42}"/>
                </a:ext>
              </a:extLst>
            </p:cNvPr>
            <p:cNvGrpSpPr/>
            <p:nvPr/>
          </p:nvGrpSpPr>
          <p:grpSpPr>
            <a:xfrm>
              <a:off x="1267778" y="5494001"/>
              <a:ext cx="7329805" cy="975360"/>
              <a:chOff x="1267778" y="5494001"/>
              <a:chExt cx="7329805" cy="975360"/>
            </a:xfrm>
          </p:grpSpPr>
          <p:sp>
            <p:nvSpPr>
              <p:cNvPr id="5" name="Freeform: Shape 72">
                <a:extLst>
                  <a:ext uri="{FF2B5EF4-FFF2-40B4-BE49-F238E27FC236}">
                    <a16:creationId xmlns:a16="http://schemas.microsoft.com/office/drawing/2014/main" id="{6BF0AC22-D94F-7633-AA94-8A482F87F6FF}"/>
                  </a:ext>
                </a:extLst>
              </p:cNvPr>
              <p:cNvSpPr/>
              <p:nvPr/>
            </p:nvSpPr>
            <p:spPr>
              <a:xfrm flipV="1">
                <a:off x="2339023" y="5494001"/>
                <a:ext cx="6258560" cy="975360"/>
              </a:xfrm>
              <a:custGeom>
                <a:avLst/>
                <a:gdLst>
                  <a:gd name="connsiteX0" fmla="*/ 0 w 6258560"/>
                  <a:gd name="connsiteY0" fmla="*/ 97536 h 975360"/>
                  <a:gd name="connsiteX1" fmla="*/ 97536 w 6258560"/>
                  <a:gd name="connsiteY1" fmla="*/ 0 h 975360"/>
                  <a:gd name="connsiteX2" fmla="*/ 6161024 w 6258560"/>
                  <a:gd name="connsiteY2" fmla="*/ 0 h 975360"/>
                  <a:gd name="connsiteX3" fmla="*/ 6258560 w 6258560"/>
                  <a:gd name="connsiteY3" fmla="*/ 97536 h 975360"/>
                  <a:gd name="connsiteX4" fmla="*/ 6258560 w 6258560"/>
                  <a:gd name="connsiteY4" fmla="*/ 877824 h 975360"/>
                  <a:gd name="connsiteX5" fmla="*/ 6161024 w 6258560"/>
                  <a:gd name="connsiteY5" fmla="*/ 975360 h 975360"/>
                  <a:gd name="connsiteX6" fmla="*/ 97536 w 6258560"/>
                  <a:gd name="connsiteY6" fmla="*/ 975360 h 975360"/>
                  <a:gd name="connsiteX7" fmla="*/ 0 w 6258560"/>
                  <a:gd name="connsiteY7" fmla="*/ 877824 h 975360"/>
                  <a:gd name="connsiteX8" fmla="*/ 0 w 6258560"/>
                  <a:gd name="connsiteY8" fmla="*/ 97536 h 975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258560" h="975360">
                    <a:moveTo>
                      <a:pt x="0" y="97536"/>
                    </a:moveTo>
                    <a:cubicBezTo>
                      <a:pt x="0" y="43668"/>
                      <a:pt x="43668" y="0"/>
                      <a:pt x="97536" y="0"/>
                    </a:cubicBezTo>
                    <a:lnTo>
                      <a:pt x="6161024" y="0"/>
                    </a:lnTo>
                    <a:cubicBezTo>
                      <a:pt x="6214892" y="0"/>
                      <a:pt x="6258560" y="43668"/>
                      <a:pt x="6258560" y="97536"/>
                    </a:cubicBezTo>
                    <a:lnTo>
                      <a:pt x="6258560" y="877824"/>
                    </a:lnTo>
                    <a:cubicBezTo>
                      <a:pt x="6258560" y="931692"/>
                      <a:pt x="6214892" y="975360"/>
                      <a:pt x="6161024" y="975360"/>
                    </a:cubicBezTo>
                    <a:lnTo>
                      <a:pt x="97536" y="975360"/>
                    </a:lnTo>
                    <a:cubicBezTo>
                      <a:pt x="43668" y="975360"/>
                      <a:pt x="0" y="931692"/>
                      <a:pt x="0" y="877824"/>
                    </a:cubicBezTo>
                    <a:lnTo>
                      <a:pt x="0" y="97536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88587" tIns="188587" rIns="1298060" bIns="188587" numCol="1" spcCol="1270" anchor="ctr" anchorCtr="0">
                <a:noAutofit/>
              </a:bodyPr>
              <a:lstStyle/>
              <a:p>
                <a:pPr marL="0" lvl="0" indent="0" algn="l" defTabSz="18669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IN" sz="4200" kern="1200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" name="TextBox 73">
                <a:extLst>
                  <a:ext uri="{FF2B5EF4-FFF2-40B4-BE49-F238E27FC236}">
                    <a16:creationId xmlns:a16="http://schemas.microsoft.com/office/drawing/2014/main" id="{2E36C45E-2121-187B-69A5-FAC1BD33A733}"/>
                  </a:ext>
                </a:extLst>
              </p:cNvPr>
              <p:cNvSpPr txBox="1"/>
              <p:nvPr/>
            </p:nvSpPr>
            <p:spPr>
              <a:xfrm>
                <a:off x="1267778" y="5759838"/>
                <a:ext cx="3705006" cy="443686"/>
              </a:xfrm>
              <a:prstGeom prst="roundRect">
                <a:avLst/>
              </a:prstGeom>
              <a:solidFill>
                <a:srgbClr val="00539F"/>
              </a:solidFill>
              <a:ln>
                <a:solidFill>
                  <a:schemeClr val="bg1"/>
                </a:solidFill>
              </a:ln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rPr>
                  <a:t>Population</a:t>
                </a:r>
                <a:endParaRPr lang="en-IN" sz="1600" b="1" i="1" dirty="0">
                  <a:solidFill>
                    <a:schemeClr val="bg1"/>
                  </a:solidFill>
                  <a:latin typeface="Montserrat" panose="00000500000000000000" pitchFamily="2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" name="Group 30">
              <a:extLst>
                <a:ext uri="{FF2B5EF4-FFF2-40B4-BE49-F238E27FC236}">
                  <a16:creationId xmlns:a16="http://schemas.microsoft.com/office/drawing/2014/main" id="{7F3CA861-B9BF-DDE5-7967-D4729F729F92}"/>
                </a:ext>
              </a:extLst>
            </p:cNvPr>
            <p:cNvGrpSpPr/>
            <p:nvPr/>
          </p:nvGrpSpPr>
          <p:grpSpPr>
            <a:xfrm>
              <a:off x="1724978" y="2161521"/>
              <a:ext cx="8274685" cy="3197014"/>
              <a:chOff x="3170556" y="1830493"/>
              <a:chExt cx="8274685" cy="3197014"/>
            </a:xfrm>
          </p:grpSpPr>
          <p:grpSp>
            <p:nvGrpSpPr>
              <p:cNvPr id="8" name="Group 58">
                <a:extLst>
                  <a:ext uri="{FF2B5EF4-FFF2-40B4-BE49-F238E27FC236}">
                    <a16:creationId xmlns:a16="http://schemas.microsoft.com/office/drawing/2014/main" id="{649DC0F4-07B6-7974-CBD2-CCE8D82B9931}"/>
                  </a:ext>
                </a:extLst>
              </p:cNvPr>
              <p:cNvGrpSpPr/>
              <p:nvPr/>
            </p:nvGrpSpPr>
            <p:grpSpPr>
              <a:xfrm>
                <a:off x="3170556" y="4052147"/>
                <a:ext cx="7339965" cy="975360"/>
                <a:chOff x="3170556" y="4052147"/>
                <a:chExt cx="7339965" cy="975360"/>
              </a:xfrm>
            </p:grpSpPr>
            <p:sp>
              <p:nvSpPr>
                <p:cNvPr id="9" name="Freeform: Shape 62">
                  <a:extLst>
                    <a:ext uri="{FF2B5EF4-FFF2-40B4-BE49-F238E27FC236}">
                      <a16:creationId xmlns:a16="http://schemas.microsoft.com/office/drawing/2014/main" id="{4BF79D77-241D-C122-DCCF-B0954CC537B7}"/>
                    </a:ext>
                  </a:extLst>
                </p:cNvPr>
                <p:cNvSpPr/>
                <p:nvPr/>
              </p:nvSpPr>
              <p:spPr>
                <a:xfrm flipV="1">
                  <a:off x="4251961" y="4052147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0" name="TextBox 63">
                  <a:extLst>
                    <a:ext uri="{FF2B5EF4-FFF2-40B4-BE49-F238E27FC236}">
                      <a16:creationId xmlns:a16="http://schemas.microsoft.com/office/drawing/2014/main" id="{690A350D-E13B-28B7-CAB0-55CDB2E2F150}"/>
                    </a:ext>
                  </a:extLst>
                </p:cNvPr>
                <p:cNvSpPr txBox="1"/>
                <p:nvPr/>
              </p:nvSpPr>
              <p:spPr>
                <a:xfrm>
                  <a:off x="3170556" y="4317984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Working Age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1" name="Group 52">
                <a:extLst>
                  <a:ext uri="{FF2B5EF4-FFF2-40B4-BE49-F238E27FC236}">
                    <a16:creationId xmlns:a16="http://schemas.microsoft.com/office/drawing/2014/main" id="{E635972D-3E8A-34F9-6C3E-FE21979D4BA7}"/>
                  </a:ext>
                </a:extLst>
              </p:cNvPr>
              <p:cNvGrpSpPr/>
              <p:nvPr/>
            </p:nvGrpSpPr>
            <p:grpSpPr>
              <a:xfrm>
                <a:off x="3612748" y="2930285"/>
                <a:ext cx="7365133" cy="975360"/>
                <a:chOff x="3612747" y="2930285"/>
                <a:chExt cx="7365133" cy="975360"/>
              </a:xfrm>
            </p:grpSpPr>
            <p:sp>
              <p:nvSpPr>
                <p:cNvPr id="12" name="Freeform: Shape 56">
                  <a:extLst>
                    <a:ext uri="{FF2B5EF4-FFF2-40B4-BE49-F238E27FC236}">
                      <a16:creationId xmlns:a16="http://schemas.microsoft.com/office/drawing/2014/main" id="{1764A96F-5322-1212-12C9-0BD13D80A69E}"/>
                    </a:ext>
                  </a:extLst>
                </p:cNvPr>
                <p:cNvSpPr/>
                <p:nvPr/>
              </p:nvSpPr>
              <p:spPr>
                <a:xfrm flipV="1">
                  <a:off x="4719320" y="2930285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3" name="TextBox 57">
                  <a:extLst>
                    <a:ext uri="{FF2B5EF4-FFF2-40B4-BE49-F238E27FC236}">
                      <a16:creationId xmlns:a16="http://schemas.microsoft.com/office/drawing/2014/main" id="{E41FB2E4-9534-2849-3264-365055EFE405}"/>
                    </a:ext>
                  </a:extLst>
                </p:cNvPr>
                <p:cNvSpPr txBox="1"/>
                <p:nvPr/>
              </p:nvSpPr>
              <p:spPr>
                <a:xfrm>
                  <a:off x="3612747" y="3206963"/>
                  <a:ext cx="3705006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Insured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4" name="Group 46">
                <a:extLst>
                  <a:ext uri="{FF2B5EF4-FFF2-40B4-BE49-F238E27FC236}">
                    <a16:creationId xmlns:a16="http://schemas.microsoft.com/office/drawing/2014/main" id="{FF9419CC-CA7F-240E-7C97-535442F3C1AD}"/>
                  </a:ext>
                </a:extLst>
              </p:cNvPr>
              <p:cNvGrpSpPr/>
              <p:nvPr/>
            </p:nvGrpSpPr>
            <p:grpSpPr>
              <a:xfrm>
                <a:off x="4104006" y="1830493"/>
                <a:ext cx="7341235" cy="975360"/>
                <a:chOff x="4104006" y="1830493"/>
                <a:chExt cx="7341235" cy="975360"/>
              </a:xfrm>
            </p:grpSpPr>
            <p:sp>
              <p:nvSpPr>
                <p:cNvPr id="15" name="Freeform: Shape 50">
                  <a:extLst>
                    <a:ext uri="{FF2B5EF4-FFF2-40B4-BE49-F238E27FC236}">
                      <a16:creationId xmlns:a16="http://schemas.microsoft.com/office/drawing/2014/main" id="{766908E3-E9F6-2721-F279-35ACB40E35CC}"/>
                    </a:ext>
                  </a:extLst>
                </p:cNvPr>
                <p:cNvSpPr/>
                <p:nvPr/>
              </p:nvSpPr>
              <p:spPr>
                <a:xfrm flipV="1">
                  <a:off x="5186681" y="1830493"/>
                  <a:ext cx="6258560" cy="975360"/>
                </a:xfrm>
                <a:custGeom>
                  <a:avLst/>
                  <a:gdLst>
                    <a:gd name="connsiteX0" fmla="*/ 0 w 6258560"/>
                    <a:gd name="connsiteY0" fmla="*/ 97536 h 975360"/>
                    <a:gd name="connsiteX1" fmla="*/ 97536 w 6258560"/>
                    <a:gd name="connsiteY1" fmla="*/ 0 h 975360"/>
                    <a:gd name="connsiteX2" fmla="*/ 6161024 w 6258560"/>
                    <a:gd name="connsiteY2" fmla="*/ 0 h 975360"/>
                    <a:gd name="connsiteX3" fmla="*/ 6258560 w 6258560"/>
                    <a:gd name="connsiteY3" fmla="*/ 97536 h 975360"/>
                    <a:gd name="connsiteX4" fmla="*/ 6258560 w 6258560"/>
                    <a:gd name="connsiteY4" fmla="*/ 877824 h 975360"/>
                    <a:gd name="connsiteX5" fmla="*/ 6161024 w 6258560"/>
                    <a:gd name="connsiteY5" fmla="*/ 975360 h 975360"/>
                    <a:gd name="connsiteX6" fmla="*/ 97536 w 6258560"/>
                    <a:gd name="connsiteY6" fmla="*/ 975360 h 975360"/>
                    <a:gd name="connsiteX7" fmla="*/ 0 w 6258560"/>
                    <a:gd name="connsiteY7" fmla="*/ 877824 h 975360"/>
                    <a:gd name="connsiteX8" fmla="*/ 0 w 6258560"/>
                    <a:gd name="connsiteY8" fmla="*/ 97536 h 9753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6258560" h="975360">
                      <a:moveTo>
                        <a:pt x="0" y="97536"/>
                      </a:moveTo>
                      <a:cubicBezTo>
                        <a:pt x="0" y="43668"/>
                        <a:pt x="43668" y="0"/>
                        <a:pt x="97536" y="0"/>
                      </a:cubicBezTo>
                      <a:lnTo>
                        <a:pt x="6161024" y="0"/>
                      </a:lnTo>
                      <a:cubicBezTo>
                        <a:pt x="6214892" y="0"/>
                        <a:pt x="6258560" y="43668"/>
                        <a:pt x="6258560" y="97536"/>
                      </a:cubicBezTo>
                      <a:lnTo>
                        <a:pt x="6258560" y="877824"/>
                      </a:lnTo>
                      <a:cubicBezTo>
                        <a:pt x="6258560" y="931692"/>
                        <a:pt x="6214892" y="975360"/>
                        <a:pt x="6161024" y="975360"/>
                      </a:cubicBezTo>
                      <a:lnTo>
                        <a:pt x="97536" y="975360"/>
                      </a:lnTo>
                      <a:cubicBezTo>
                        <a:pt x="43668" y="975360"/>
                        <a:pt x="0" y="931692"/>
                        <a:pt x="0" y="877824"/>
                      </a:cubicBezTo>
                      <a:lnTo>
                        <a:pt x="0" y="97536"/>
                      </a:ln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hemeClr val="accent1">
                    <a:hueOff val="0"/>
                    <a:satOff val="0"/>
                    <a:lumOff val="0"/>
                    <a:alphaOff val="0"/>
                  </a:schemeClr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  <p:txBody>
                <a:bodyPr spcFirstLastPara="0" vert="horz" wrap="square" lIns="188587" tIns="188587" rIns="1289932" bIns="188587" numCol="1" spcCol="1270" anchor="ctr" anchorCtr="0">
                  <a:noAutofit/>
                </a:bodyPr>
                <a:lstStyle/>
                <a:p>
                  <a:pPr marL="0" lvl="0" indent="0" algn="l" defTabSz="18669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endParaRPr lang="en-IN" sz="4200" kern="1200" dirty="0">
                    <a:latin typeface="Montserrat" panose="00000500000000000000" pitchFamily="2" charset="0"/>
                  </a:endParaRPr>
                </a:p>
              </p:txBody>
            </p:sp>
            <p:sp>
              <p:nvSpPr>
                <p:cNvPr id="16" name="TextBox 51">
                  <a:extLst>
                    <a:ext uri="{FF2B5EF4-FFF2-40B4-BE49-F238E27FC236}">
                      <a16:creationId xmlns:a16="http://schemas.microsoft.com/office/drawing/2014/main" id="{B7BBA303-7BCC-AF45-8632-34C4072D073B}"/>
                    </a:ext>
                  </a:extLst>
                </p:cNvPr>
                <p:cNvSpPr txBox="1"/>
                <p:nvPr/>
              </p:nvSpPr>
              <p:spPr>
                <a:xfrm>
                  <a:off x="4104006" y="2096329"/>
                  <a:ext cx="3705005" cy="443686"/>
                </a:xfrm>
                <a:prstGeom prst="roundRect">
                  <a:avLst/>
                </a:prstGeom>
                <a:solidFill>
                  <a:srgbClr val="00539F"/>
                </a:solidFill>
                <a:ln>
                  <a:solidFill>
                    <a:schemeClr val="bg1"/>
                  </a:solidFill>
                </a:ln>
                <a:effectLst/>
              </p:spPr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600" b="1" i="1" dirty="0">
                      <a:solidFill>
                        <a:schemeClr val="bg1"/>
                      </a:solidFill>
                      <a:latin typeface="Montserrat" panose="00000500000000000000" pitchFamily="2" charset="0"/>
                      <a:cs typeface="Arial" panose="020B0604020202020204" pitchFamily="34" charset="0"/>
                    </a:rPr>
                    <a:t>Self Funded</a:t>
                  </a:r>
                  <a:endParaRPr lang="en-IN" sz="1600" b="1" i="1" dirty="0">
                    <a:solidFill>
                      <a:schemeClr val="bg1"/>
                    </a:solidFill>
                    <a:latin typeface="Montserrat" panose="00000500000000000000" pitchFamily="2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17" name="Freeform: Shape 31">
              <a:extLst>
                <a:ext uri="{FF2B5EF4-FFF2-40B4-BE49-F238E27FC236}">
                  <a16:creationId xmlns:a16="http://schemas.microsoft.com/office/drawing/2014/main" id="{E116542C-7A34-CAFD-682D-47800D31BD78}"/>
                </a:ext>
              </a:extLst>
            </p:cNvPr>
            <p:cNvSpPr/>
            <p:nvPr/>
          </p:nvSpPr>
          <p:spPr>
            <a:xfrm flipV="1">
              <a:off x="7997252" y="517548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grpSp>
          <p:nvGrpSpPr>
            <p:cNvPr id="18" name="Group 32">
              <a:extLst>
                <a:ext uri="{FF2B5EF4-FFF2-40B4-BE49-F238E27FC236}">
                  <a16:creationId xmlns:a16="http://schemas.microsoft.com/office/drawing/2014/main" id="{70193F5B-91B1-5C91-40F8-362C2A8202A8}"/>
                </a:ext>
              </a:extLst>
            </p:cNvPr>
            <p:cNvGrpSpPr/>
            <p:nvPr/>
          </p:nvGrpSpPr>
          <p:grpSpPr>
            <a:xfrm>
              <a:off x="8755080" y="3384449"/>
              <a:ext cx="568098" cy="706284"/>
              <a:chOff x="3970882" y="2311049"/>
              <a:chExt cx="704850" cy="876300"/>
            </a:xfrm>
          </p:grpSpPr>
          <p:sp>
            <p:nvSpPr>
              <p:cNvPr id="19" name="Freeform: Shape 36">
                <a:extLst>
                  <a:ext uri="{FF2B5EF4-FFF2-40B4-BE49-F238E27FC236}">
                    <a16:creationId xmlns:a16="http://schemas.microsoft.com/office/drawing/2014/main" id="{30BF4D92-A52A-2ED3-407F-83EAC16066DC}"/>
                  </a:ext>
                </a:extLst>
              </p:cNvPr>
              <p:cNvSpPr/>
              <p:nvPr/>
            </p:nvSpPr>
            <p:spPr>
              <a:xfrm>
                <a:off x="3970882" y="2311049"/>
                <a:ext cx="704850" cy="876300"/>
              </a:xfrm>
              <a:custGeom>
                <a:avLst/>
                <a:gdLst>
                  <a:gd name="connsiteX0" fmla="*/ 7144 w 704850"/>
                  <a:gd name="connsiteY0" fmla="*/ 410166 h 876300"/>
                  <a:gd name="connsiteX1" fmla="*/ 7144 w 704850"/>
                  <a:gd name="connsiteY1" fmla="*/ 312791 h 876300"/>
                  <a:gd name="connsiteX2" fmla="*/ 164497 w 704850"/>
                  <a:gd name="connsiteY2" fmla="*/ 221942 h 876300"/>
                  <a:gd name="connsiteX3" fmla="*/ 164497 w 704850"/>
                  <a:gd name="connsiteY3" fmla="*/ 220266 h 876300"/>
                  <a:gd name="connsiteX4" fmla="*/ 164497 w 704850"/>
                  <a:gd name="connsiteY4" fmla="*/ 218589 h 876300"/>
                  <a:gd name="connsiteX5" fmla="*/ 140141 w 704850"/>
                  <a:gd name="connsiteY5" fmla="*/ 162935 h 876300"/>
                  <a:gd name="connsiteX6" fmla="*/ 140141 w 704850"/>
                  <a:gd name="connsiteY6" fmla="*/ 91459 h 876300"/>
                  <a:gd name="connsiteX7" fmla="*/ 156782 w 704850"/>
                  <a:gd name="connsiteY7" fmla="*/ 138608 h 876300"/>
                  <a:gd name="connsiteX8" fmla="*/ 140160 w 704850"/>
                  <a:gd name="connsiteY8" fmla="*/ 91478 h 876300"/>
                  <a:gd name="connsiteX9" fmla="*/ 237554 w 704850"/>
                  <a:gd name="connsiteY9" fmla="*/ 7144 h 876300"/>
                  <a:gd name="connsiteX10" fmla="*/ 334937 w 704850"/>
                  <a:gd name="connsiteY10" fmla="*/ 91488 h 876300"/>
                  <a:gd name="connsiteX11" fmla="*/ 334909 w 704850"/>
                  <a:gd name="connsiteY11" fmla="*/ 91964 h 876300"/>
                  <a:gd name="connsiteX12" fmla="*/ 334909 w 704850"/>
                  <a:gd name="connsiteY12" fmla="*/ 162963 h 876300"/>
                  <a:gd name="connsiteX13" fmla="*/ 334756 w 704850"/>
                  <a:gd name="connsiteY13" fmla="*/ 165440 h 876300"/>
                  <a:gd name="connsiteX14" fmla="*/ 334499 w 704850"/>
                  <a:gd name="connsiteY14" fmla="*/ 170240 h 876300"/>
                  <a:gd name="connsiteX15" fmla="*/ 334261 w 704850"/>
                  <a:gd name="connsiteY15" fmla="*/ 172488 h 876300"/>
                  <a:gd name="connsiteX16" fmla="*/ 332975 w 704850"/>
                  <a:gd name="connsiteY16" fmla="*/ 179756 h 876300"/>
                  <a:gd name="connsiteX17" fmla="*/ 332899 w 704850"/>
                  <a:gd name="connsiteY17" fmla="*/ 180051 h 876300"/>
                  <a:gd name="connsiteX18" fmla="*/ 332261 w 704850"/>
                  <a:gd name="connsiteY18" fmla="*/ 182204 h 876300"/>
                  <a:gd name="connsiteX19" fmla="*/ 467963 w 704850"/>
                  <a:gd name="connsiteY19" fmla="*/ 338880 h 876300"/>
                  <a:gd name="connsiteX20" fmla="*/ 467963 w 704850"/>
                  <a:gd name="connsiteY20" fmla="*/ 436274 h 876300"/>
                  <a:gd name="connsiteX21" fmla="*/ 175803 w 704850"/>
                  <a:gd name="connsiteY21" fmla="*/ 604923 h 876300"/>
                  <a:gd name="connsiteX22" fmla="*/ 7144 w 704850"/>
                  <a:gd name="connsiteY22" fmla="*/ 410166 h 876300"/>
                  <a:gd name="connsiteX23" fmla="*/ 695516 w 704850"/>
                  <a:gd name="connsiteY23" fmla="*/ 699859 h 876300"/>
                  <a:gd name="connsiteX24" fmla="*/ 403384 w 704850"/>
                  <a:gd name="connsiteY24" fmla="*/ 868518 h 876300"/>
                  <a:gd name="connsiteX25" fmla="*/ 401003 w 704850"/>
                  <a:gd name="connsiteY25" fmla="*/ 869156 h 876300"/>
                  <a:gd name="connsiteX26" fmla="*/ 397402 w 704850"/>
                  <a:gd name="connsiteY26" fmla="*/ 867508 h 876300"/>
                  <a:gd name="connsiteX27" fmla="*/ 228724 w 704850"/>
                  <a:gd name="connsiteY27" fmla="*/ 672770 h 876300"/>
                  <a:gd name="connsiteX28" fmla="*/ 227628 w 704850"/>
                  <a:gd name="connsiteY28" fmla="*/ 668865 h 876300"/>
                  <a:gd name="connsiteX29" fmla="*/ 229943 w 704850"/>
                  <a:gd name="connsiteY29" fmla="*/ 665531 h 876300"/>
                  <a:gd name="connsiteX30" fmla="*/ 522094 w 704850"/>
                  <a:gd name="connsiteY30" fmla="*/ 496853 h 876300"/>
                  <a:gd name="connsiteX31" fmla="*/ 528076 w 704850"/>
                  <a:gd name="connsiteY31" fmla="*/ 497853 h 876300"/>
                  <a:gd name="connsiteX32" fmla="*/ 696735 w 704850"/>
                  <a:gd name="connsiteY32" fmla="*/ 692610 h 876300"/>
                  <a:gd name="connsiteX33" fmla="*/ 697830 w 704850"/>
                  <a:gd name="connsiteY33" fmla="*/ 696516 h 876300"/>
                  <a:gd name="connsiteX34" fmla="*/ 695516 w 704850"/>
                  <a:gd name="connsiteY34" fmla="*/ 699859 h 87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704850" h="876300">
                    <a:moveTo>
                      <a:pt x="7144" y="410166"/>
                    </a:moveTo>
                    <a:lnTo>
                      <a:pt x="7144" y="312791"/>
                    </a:lnTo>
                    <a:lnTo>
                      <a:pt x="164497" y="221942"/>
                    </a:lnTo>
                    <a:lnTo>
                      <a:pt x="164497" y="220266"/>
                    </a:lnTo>
                    <a:lnTo>
                      <a:pt x="164497" y="218589"/>
                    </a:lnTo>
                    <a:cubicBezTo>
                      <a:pt x="149390" y="203730"/>
                      <a:pt x="140141" y="184290"/>
                      <a:pt x="140141" y="162935"/>
                    </a:cubicBezTo>
                    <a:lnTo>
                      <a:pt x="140141" y="91459"/>
                    </a:lnTo>
                    <a:cubicBezTo>
                      <a:pt x="140141" y="108918"/>
                      <a:pt x="146275" y="125149"/>
                      <a:pt x="156782" y="138608"/>
                    </a:cubicBezTo>
                    <a:cubicBezTo>
                      <a:pt x="146285" y="125149"/>
                      <a:pt x="140160" y="108937"/>
                      <a:pt x="140160" y="91478"/>
                    </a:cubicBezTo>
                    <a:cubicBezTo>
                      <a:pt x="140160" y="44901"/>
                      <a:pt x="183775" y="7144"/>
                      <a:pt x="237554" y="7144"/>
                    </a:cubicBezTo>
                    <a:cubicBezTo>
                      <a:pt x="291313" y="7144"/>
                      <a:pt x="334918" y="44901"/>
                      <a:pt x="334937" y="91488"/>
                    </a:cubicBezTo>
                    <a:cubicBezTo>
                      <a:pt x="334937" y="91650"/>
                      <a:pt x="334909" y="91802"/>
                      <a:pt x="334909" y="91964"/>
                    </a:cubicBezTo>
                    <a:lnTo>
                      <a:pt x="334909" y="162963"/>
                    </a:lnTo>
                    <a:cubicBezTo>
                      <a:pt x="334909" y="163792"/>
                      <a:pt x="334794" y="164602"/>
                      <a:pt x="334756" y="165440"/>
                    </a:cubicBezTo>
                    <a:cubicBezTo>
                      <a:pt x="334699" y="167040"/>
                      <a:pt x="334632" y="168650"/>
                      <a:pt x="334499" y="170240"/>
                    </a:cubicBezTo>
                    <a:cubicBezTo>
                      <a:pt x="334413" y="170983"/>
                      <a:pt x="334356" y="171736"/>
                      <a:pt x="334261" y="172488"/>
                    </a:cubicBezTo>
                    <a:cubicBezTo>
                      <a:pt x="333927" y="174936"/>
                      <a:pt x="333537" y="177375"/>
                      <a:pt x="332975" y="179756"/>
                    </a:cubicBezTo>
                    <a:cubicBezTo>
                      <a:pt x="332956" y="179851"/>
                      <a:pt x="332918" y="179946"/>
                      <a:pt x="332899" y="180051"/>
                    </a:cubicBezTo>
                    <a:cubicBezTo>
                      <a:pt x="332718" y="180785"/>
                      <a:pt x="332461" y="181480"/>
                      <a:pt x="332261" y="182204"/>
                    </a:cubicBezTo>
                    <a:lnTo>
                      <a:pt x="467963" y="338880"/>
                    </a:lnTo>
                    <a:lnTo>
                      <a:pt x="467963" y="436274"/>
                    </a:lnTo>
                    <a:lnTo>
                      <a:pt x="175803" y="604923"/>
                    </a:lnTo>
                    <a:lnTo>
                      <a:pt x="7144" y="410166"/>
                    </a:lnTo>
                    <a:close/>
                    <a:moveTo>
                      <a:pt x="695516" y="699859"/>
                    </a:moveTo>
                    <a:lnTo>
                      <a:pt x="403384" y="868518"/>
                    </a:lnTo>
                    <a:cubicBezTo>
                      <a:pt x="402641" y="868956"/>
                      <a:pt x="401822" y="869156"/>
                      <a:pt x="401003" y="869156"/>
                    </a:cubicBezTo>
                    <a:cubicBezTo>
                      <a:pt x="399660" y="869156"/>
                      <a:pt x="398336" y="868585"/>
                      <a:pt x="397402" y="867508"/>
                    </a:cubicBezTo>
                    <a:lnTo>
                      <a:pt x="228724" y="672770"/>
                    </a:lnTo>
                    <a:cubicBezTo>
                      <a:pt x="227790" y="671703"/>
                      <a:pt x="227390" y="670265"/>
                      <a:pt x="227628" y="668865"/>
                    </a:cubicBezTo>
                    <a:cubicBezTo>
                      <a:pt x="227867" y="667464"/>
                      <a:pt x="228714" y="666245"/>
                      <a:pt x="229943" y="665531"/>
                    </a:cubicBezTo>
                    <a:lnTo>
                      <a:pt x="522094" y="496853"/>
                    </a:lnTo>
                    <a:cubicBezTo>
                      <a:pt x="524056" y="495700"/>
                      <a:pt x="526590" y="496119"/>
                      <a:pt x="528076" y="497853"/>
                    </a:cubicBezTo>
                    <a:lnTo>
                      <a:pt x="696735" y="692610"/>
                    </a:lnTo>
                    <a:cubicBezTo>
                      <a:pt x="697668" y="693677"/>
                      <a:pt x="698068" y="695115"/>
                      <a:pt x="697830" y="696516"/>
                    </a:cubicBezTo>
                    <a:cubicBezTo>
                      <a:pt x="697592" y="697916"/>
                      <a:pt x="696744" y="699145"/>
                      <a:pt x="695516" y="699859"/>
                    </a:cubicBezTo>
                    <a:close/>
                  </a:path>
                </a:pathLst>
              </a:custGeom>
              <a:no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: Shape 37">
                <a:extLst>
                  <a:ext uri="{FF2B5EF4-FFF2-40B4-BE49-F238E27FC236}">
                    <a16:creationId xmlns:a16="http://schemas.microsoft.com/office/drawing/2014/main" id="{962E85C4-6AEA-CB73-8BF0-D2EB8D75761E}"/>
                  </a:ext>
                </a:extLst>
              </p:cNvPr>
              <p:cNvSpPr/>
              <p:nvPr/>
            </p:nvSpPr>
            <p:spPr>
              <a:xfrm>
                <a:off x="4272815" y="2536792"/>
                <a:ext cx="9525" cy="9525"/>
              </a:xfrm>
              <a:custGeom>
                <a:avLst/>
                <a:gdLst>
                  <a:gd name="connsiteX0" fmla="*/ 7182 w 9525"/>
                  <a:gd name="connsiteY0" fmla="*/ 7144 h 9525"/>
                  <a:gd name="connsiteX1" fmla="*/ 7144 w 9525"/>
                  <a:gd name="connsiteY1" fmla="*/ 7296 h 9525"/>
                  <a:gd name="connsiteX2" fmla="*/ 7182 w 9525"/>
                  <a:gd name="connsiteY2" fmla="*/ 7172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9525" h="9525">
                    <a:moveTo>
                      <a:pt x="7182" y="7144"/>
                    </a:moveTo>
                    <a:lnTo>
                      <a:pt x="7144" y="7296"/>
                    </a:lnTo>
                    <a:lnTo>
                      <a:pt x="7182" y="7172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: Shape 38">
                <a:extLst>
                  <a:ext uri="{FF2B5EF4-FFF2-40B4-BE49-F238E27FC236}">
                    <a16:creationId xmlns:a16="http://schemas.microsoft.com/office/drawing/2014/main" id="{55F5E388-03F0-3468-D6AB-7657AAA17685}"/>
                  </a:ext>
                </a:extLst>
              </p:cNvPr>
              <p:cNvSpPr/>
              <p:nvPr/>
            </p:nvSpPr>
            <p:spPr>
              <a:xfrm>
                <a:off x="4234039" y="2448019"/>
                <a:ext cx="38100" cy="28575"/>
              </a:xfrm>
              <a:custGeom>
                <a:avLst/>
                <a:gdLst>
                  <a:gd name="connsiteX0" fmla="*/ 7144 w 38100"/>
                  <a:gd name="connsiteY0" fmla="*/ 23879 h 28575"/>
                  <a:gd name="connsiteX1" fmla="*/ 9049 w 38100"/>
                  <a:gd name="connsiteY1" fmla="*/ 23241 h 28575"/>
                  <a:gd name="connsiteX2" fmla="*/ 9896 w 38100"/>
                  <a:gd name="connsiteY2" fmla="*/ 22927 h 28575"/>
                  <a:gd name="connsiteX3" fmla="*/ 17659 w 38100"/>
                  <a:gd name="connsiteY3" fmla="*/ 19555 h 28575"/>
                  <a:gd name="connsiteX4" fmla="*/ 19040 w 38100"/>
                  <a:gd name="connsiteY4" fmla="*/ 18831 h 28575"/>
                  <a:gd name="connsiteX5" fmla="*/ 20241 w 38100"/>
                  <a:gd name="connsiteY5" fmla="*/ 18202 h 28575"/>
                  <a:gd name="connsiteX6" fmla="*/ 25803 w 38100"/>
                  <a:gd name="connsiteY6" fmla="*/ 15069 h 28575"/>
                  <a:gd name="connsiteX7" fmla="*/ 29518 w 38100"/>
                  <a:gd name="connsiteY7" fmla="*/ 12649 h 28575"/>
                  <a:gd name="connsiteX8" fmla="*/ 30413 w 38100"/>
                  <a:gd name="connsiteY8" fmla="*/ 12049 h 28575"/>
                  <a:gd name="connsiteX9" fmla="*/ 31423 w 38100"/>
                  <a:gd name="connsiteY9" fmla="*/ 11354 h 28575"/>
                  <a:gd name="connsiteX10" fmla="*/ 36376 w 38100"/>
                  <a:gd name="connsiteY10" fmla="*/ 7439 h 28575"/>
                  <a:gd name="connsiteX11" fmla="*/ 36119 w 38100"/>
                  <a:gd name="connsiteY11" fmla="*/ 7144 h 28575"/>
                  <a:gd name="connsiteX12" fmla="*/ 7144 w 38100"/>
                  <a:gd name="connsiteY12" fmla="*/ 23879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100" h="28575">
                    <a:moveTo>
                      <a:pt x="7144" y="23879"/>
                    </a:moveTo>
                    <a:cubicBezTo>
                      <a:pt x="7772" y="23670"/>
                      <a:pt x="8458" y="23460"/>
                      <a:pt x="9049" y="23241"/>
                    </a:cubicBezTo>
                    <a:lnTo>
                      <a:pt x="9896" y="22927"/>
                    </a:lnTo>
                    <a:cubicBezTo>
                      <a:pt x="12449" y="21955"/>
                      <a:pt x="15059" y="20822"/>
                      <a:pt x="17659" y="19555"/>
                    </a:cubicBezTo>
                    <a:cubicBezTo>
                      <a:pt x="18117" y="19336"/>
                      <a:pt x="18583" y="19079"/>
                      <a:pt x="19040" y="18831"/>
                    </a:cubicBezTo>
                    <a:lnTo>
                      <a:pt x="20241" y="18202"/>
                    </a:lnTo>
                    <a:cubicBezTo>
                      <a:pt x="22117" y="17221"/>
                      <a:pt x="23993" y="16164"/>
                      <a:pt x="25803" y="15069"/>
                    </a:cubicBezTo>
                    <a:cubicBezTo>
                      <a:pt x="27022" y="14316"/>
                      <a:pt x="28270" y="13506"/>
                      <a:pt x="29518" y="12649"/>
                    </a:cubicBezTo>
                    <a:lnTo>
                      <a:pt x="30413" y="12049"/>
                    </a:lnTo>
                    <a:lnTo>
                      <a:pt x="31423" y="11354"/>
                    </a:lnTo>
                    <a:cubicBezTo>
                      <a:pt x="33090" y="10135"/>
                      <a:pt x="34757" y="8820"/>
                      <a:pt x="36376" y="7439"/>
                    </a:cubicBezTo>
                    <a:lnTo>
                      <a:pt x="36119" y="7144"/>
                    </a:lnTo>
                    <a:lnTo>
                      <a:pt x="7144" y="23879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2" name="Freeform: Shape 39">
                <a:extLst>
                  <a:ext uri="{FF2B5EF4-FFF2-40B4-BE49-F238E27FC236}">
                    <a16:creationId xmlns:a16="http://schemas.microsoft.com/office/drawing/2014/main" id="{B60A5657-71D8-F854-47F1-717B21701A65}"/>
                  </a:ext>
                </a:extLst>
              </p:cNvPr>
              <p:cNvSpPr/>
              <p:nvPr/>
            </p:nvSpPr>
            <p:spPr>
              <a:xfrm>
                <a:off x="4266357" y="2417310"/>
                <a:ext cx="19050" cy="38100"/>
              </a:xfrm>
              <a:custGeom>
                <a:avLst/>
                <a:gdLst>
                  <a:gd name="connsiteX0" fmla="*/ 14792 w 19050"/>
                  <a:gd name="connsiteY0" fmla="*/ 12287 h 38100"/>
                  <a:gd name="connsiteX1" fmla="*/ 14621 w 19050"/>
                  <a:gd name="connsiteY1" fmla="*/ 13954 h 38100"/>
                  <a:gd name="connsiteX2" fmla="*/ 13649 w 19050"/>
                  <a:gd name="connsiteY2" fmla="*/ 19469 h 38100"/>
                  <a:gd name="connsiteX3" fmla="*/ 13611 w 19050"/>
                  <a:gd name="connsiteY3" fmla="*/ 19583 h 38100"/>
                  <a:gd name="connsiteX4" fmla="*/ 12011 w 19050"/>
                  <a:gd name="connsiteY4" fmla="*/ 25003 h 38100"/>
                  <a:gd name="connsiteX5" fmla="*/ 11430 w 19050"/>
                  <a:gd name="connsiteY5" fmla="*/ 26565 h 38100"/>
                  <a:gd name="connsiteX6" fmla="*/ 9754 w 19050"/>
                  <a:gd name="connsiteY6" fmla="*/ 30490 h 38100"/>
                  <a:gd name="connsiteX7" fmla="*/ 9106 w 19050"/>
                  <a:gd name="connsiteY7" fmla="*/ 31899 h 38100"/>
                  <a:gd name="connsiteX8" fmla="*/ 7144 w 19050"/>
                  <a:gd name="connsiteY8" fmla="*/ 35433 h 38100"/>
                  <a:gd name="connsiteX9" fmla="*/ 9830 w 19050"/>
                  <a:gd name="connsiteY9" fmla="*/ 32766 h 38100"/>
                  <a:gd name="connsiteX10" fmla="*/ 10925 w 19050"/>
                  <a:gd name="connsiteY10" fmla="*/ 31566 h 38100"/>
                  <a:gd name="connsiteX11" fmla="*/ 10992 w 19050"/>
                  <a:gd name="connsiteY11" fmla="*/ 31490 h 38100"/>
                  <a:gd name="connsiteX12" fmla="*/ 11316 w 19050"/>
                  <a:gd name="connsiteY12" fmla="*/ 31128 h 38100"/>
                  <a:gd name="connsiteX13" fmla="*/ 14535 w 19050"/>
                  <a:gd name="connsiteY13" fmla="*/ 27403 h 38100"/>
                  <a:gd name="connsiteX14" fmla="*/ 15088 w 19050"/>
                  <a:gd name="connsiteY14" fmla="*/ 26708 h 38100"/>
                  <a:gd name="connsiteX15" fmla="*/ 15088 w 19050"/>
                  <a:gd name="connsiteY15" fmla="*/ 7144 h 38100"/>
                  <a:gd name="connsiteX16" fmla="*/ 14792 w 19050"/>
                  <a:gd name="connsiteY16" fmla="*/ 12287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050" h="38100">
                    <a:moveTo>
                      <a:pt x="14792" y="12287"/>
                    </a:moveTo>
                    <a:cubicBezTo>
                      <a:pt x="14735" y="12849"/>
                      <a:pt x="14697" y="13402"/>
                      <a:pt x="14621" y="13954"/>
                    </a:cubicBezTo>
                    <a:cubicBezTo>
                      <a:pt x="14373" y="15811"/>
                      <a:pt x="14059" y="17669"/>
                      <a:pt x="13649" y="19469"/>
                    </a:cubicBezTo>
                    <a:cubicBezTo>
                      <a:pt x="13630" y="19507"/>
                      <a:pt x="13630" y="19545"/>
                      <a:pt x="13611" y="19583"/>
                    </a:cubicBezTo>
                    <a:cubicBezTo>
                      <a:pt x="13183" y="21422"/>
                      <a:pt x="12621" y="23222"/>
                      <a:pt x="12011" y="25003"/>
                    </a:cubicBezTo>
                    <a:cubicBezTo>
                      <a:pt x="11820" y="25537"/>
                      <a:pt x="11620" y="26041"/>
                      <a:pt x="11430" y="26565"/>
                    </a:cubicBezTo>
                    <a:cubicBezTo>
                      <a:pt x="10906" y="27899"/>
                      <a:pt x="10363" y="29194"/>
                      <a:pt x="9754" y="30490"/>
                    </a:cubicBezTo>
                    <a:cubicBezTo>
                      <a:pt x="9554" y="30947"/>
                      <a:pt x="9325" y="31432"/>
                      <a:pt x="9106" y="31899"/>
                    </a:cubicBezTo>
                    <a:cubicBezTo>
                      <a:pt x="8506" y="33099"/>
                      <a:pt x="7820" y="34271"/>
                      <a:pt x="7144" y="35433"/>
                    </a:cubicBezTo>
                    <a:cubicBezTo>
                      <a:pt x="7991" y="34623"/>
                      <a:pt x="8887" y="33738"/>
                      <a:pt x="9830" y="32766"/>
                    </a:cubicBezTo>
                    <a:cubicBezTo>
                      <a:pt x="10211" y="32366"/>
                      <a:pt x="10563" y="31966"/>
                      <a:pt x="10925" y="31566"/>
                    </a:cubicBezTo>
                    <a:lnTo>
                      <a:pt x="10992" y="31490"/>
                    </a:lnTo>
                    <a:lnTo>
                      <a:pt x="11316" y="31128"/>
                    </a:lnTo>
                    <a:cubicBezTo>
                      <a:pt x="12440" y="29918"/>
                      <a:pt x="13516" y="28689"/>
                      <a:pt x="14535" y="27403"/>
                    </a:cubicBezTo>
                    <a:lnTo>
                      <a:pt x="15088" y="26708"/>
                    </a:lnTo>
                    <a:lnTo>
                      <a:pt x="15088" y="7144"/>
                    </a:lnTo>
                    <a:cubicBezTo>
                      <a:pt x="15078" y="8868"/>
                      <a:pt x="14973" y="10592"/>
                      <a:pt x="14792" y="12287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  <p:sp>
            <p:nvSpPr>
              <p:cNvPr id="23" name="Freeform: Shape 40">
                <a:extLst>
                  <a:ext uri="{FF2B5EF4-FFF2-40B4-BE49-F238E27FC236}">
                    <a16:creationId xmlns:a16="http://schemas.microsoft.com/office/drawing/2014/main" id="{127AB7CB-E4AF-F2B5-1488-AA1067D7183C}"/>
                  </a:ext>
                </a:extLst>
              </p:cNvPr>
              <p:cNvSpPr/>
              <p:nvPr/>
            </p:nvSpPr>
            <p:spPr>
              <a:xfrm>
                <a:off x="4266319" y="2416967"/>
                <a:ext cx="19050" cy="38100"/>
              </a:xfrm>
              <a:custGeom>
                <a:avLst/>
                <a:gdLst>
                  <a:gd name="connsiteX0" fmla="*/ 9792 w 19050"/>
                  <a:gd name="connsiteY0" fmla="*/ 30832 h 38100"/>
                  <a:gd name="connsiteX1" fmla="*/ 11468 w 19050"/>
                  <a:gd name="connsiteY1" fmla="*/ 26908 h 38100"/>
                  <a:gd name="connsiteX2" fmla="*/ 12049 w 19050"/>
                  <a:gd name="connsiteY2" fmla="*/ 25346 h 38100"/>
                  <a:gd name="connsiteX3" fmla="*/ 13649 w 19050"/>
                  <a:gd name="connsiteY3" fmla="*/ 19926 h 38100"/>
                  <a:gd name="connsiteX4" fmla="*/ 13687 w 19050"/>
                  <a:gd name="connsiteY4" fmla="*/ 19812 h 38100"/>
                  <a:gd name="connsiteX5" fmla="*/ 14659 w 19050"/>
                  <a:gd name="connsiteY5" fmla="*/ 14297 h 38100"/>
                  <a:gd name="connsiteX6" fmla="*/ 14830 w 19050"/>
                  <a:gd name="connsiteY6" fmla="*/ 12630 h 38100"/>
                  <a:gd name="connsiteX7" fmla="*/ 15126 w 19050"/>
                  <a:gd name="connsiteY7" fmla="*/ 7487 h 38100"/>
                  <a:gd name="connsiteX8" fmla="*/ 15126 w 19050"/>
                  <a:gd name="connsiteY8" fmla="*/ 7144 h 38100"/>
                  <a:gd name="connsiteX9" fmla="*/ 14811 w 19050"/>
                  <a:gd name="connsiteY9" fmla="*/ 12621 h 38100"/>
                  <a:gd name="connsiteX10" fmla="*/ 14640 w 19050"/>
                  <a:gd name="connsiteY10" fmla="*/ 14288 h 38100"/>
                  <a:gd name="connsiteX11" fmla="*/ 13668 w 19050"/>
                  <a:gd name="connsiteY11" fmla="*/ 19802 h 38100"/>
                  <a:gd name="connsiteX12" fmla="*/ 13630 w 19050"/>
                  <a:gd name="connsiteY12" fmla="*/ 19917 h 38100"/>
                  <a:gd name="connsiteX13" fmla="*/ 12030 w 19050"/>
                  <a:gd name="connsiteY13" fmla="*/ 25336 h 38100"/>
                  <a:gd name="connsiteX14" fmla="*/ 11449 w 19050"/>
                  <a:gd name="connsiteY14" fmla="*/ 26899 h 38100"/>
                  <a:gd name="connsiteX15" fmla="*/ 9773 w 19050"/>
                  <a:gd name="connsiteY15" fmla="*/ 30823 h 38100"/>
                  <a:gd name="connsiteX16" fmla="*/ 9125 w 19050"/>
                  <a:gd name="connsiteY16" fmla="*/ 32233 h 38100"/>
                  <a:gd name="connsiteX17" fmla="*/ 7144 w 19050"/>
                  <a:gd name="connsiteY17" fmla="*/ 35814 h 38100"/>
                  <a:gd name="connsiteX18" fmla="*/ 7191 w 19050"/>
                  <a:gd name="connsiteY18" fmla="*/ 35776 h 38100"/>
                  <a:gd name="connsiteX19" fmla="*/ 9154 w 19050"/>
                  <a:gd name="connsiteY19" fmla="*/ 32242 h 38100"/>
                  <a:gd name="connsiteX20" fmla="*/ 9792 w 19050"/>
                  <a:gd name="connsiteY20" fmla="*/ 30832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050" h="38100">
                    <a:moveTo>
                      <a:pt x="9792" y="30832"/>
                    </a:moveTo>
                    <a:cubicBezTo>
                      <a:pt x="10401" y="29537"/>
                      <a:pt x="10944" y="28242"/>
                      <a:pt x="11468" y="26908"/>
                    </a:cubicBezTo>
                    <a:cubicBezTo>
                      <a:pt x="11659" y="26384"/>
                      <a:pt x="11859" y="25879"/>
                      <a:pt x="12049" y="25346"/>
                    </a:cubicBezTo>
                    <a:cubicBezTo>
                      <a:pt x="12659" y="23555"/>
                      <a:pt x="13221" y="21765"/>
                      <a:pt x="13649" y="19926"/>
                    </a:cubicBezTo>
                    <a:cubicBezTo>
                      <a:pt x="13668" y="19888"/>
                      <a:pt x="13668" y="19850"/>
                      <a:pt x="13687" y="19812"/>
                    </a:cubicBezTo>
                    <a:cubicBezTo>
                      <a:pt x="14097" y="18012"/>
                      <a:pt x="14411" y="16154"/>
                      <a:pt x="14659" y="14297"/>
                    </a:cubicBezTo>
                    <a:cubicBezTo>
                      <a:pt x="14735" y="13745"/>
                      <a:pt x="14773" y="13192"/>
                      <a:pt x="14830" y="12630"/>
                    </a:cubicBezTo>
                    <a:cubicBezTo>
                      <a:pt x="15011" y="10935"/>
                      <a:pt x="15116" y="9220"/>
                      <a:pt x="15126" y="7487"/>
                    </a:cubicBezTo>
                    <a:lnTo>
                      <a:pt x="15126" y="7144"/>
                    </a:lnTo>
                    <a:cubicBezTo>
                      <a:pt x="15135" y="8992"/>
                      <a:pt x="15002" y="10820"/>
                      <a:pt x="14811" y="12621"/>
                    </a:cubicBezTo>
                    <a:cubicBezTo>
                      <a:pt x="14754" y="13183"/>
                      <a:pt x="14716" y="13735"/>
                      <a:pt x="14640" y="14288"/>
                    </a:cubicBezTo>
                    <a:cubicBezTo>
                      <a:pt x="14402" y="16145"/>
                      <a:pt x="14078" y="18002"/>
                      <a:pt x="13668" y="19802"/>
                    </a:cubicBezTo>
                    <a:cubicBezTo>
                      <a:pt x="13649" y="19841"/>
                      <a:pt x="13649" y="19879"/>
                      <a:pt x="13630" y="19917"/>
                    </a:cubicBezTo>
                    <a:cubicBezTo>
                      <a:pt x="13202" y="21755"/>
                      <a:pt x="12640" y="23565"/>
                      <a:pt x="12030" y="25336"/>
                    </a:cubicBezTo>
                    <a:cubicBezTo>
                      <a:pt x="11840" y="25870"/>
                      <a:pt x="11640" y="26375"/>
                      <a:pt x="11449" y="26899"/>
                    </a:cubicBezTo>
                    <a:cubicBezTo>
                      <a:pt x="10925" y="28232"/>
                      <a:pt x="10392" y="29527"/>
                      <a:pt x="9773" y="30823"/>
                    </a:cubicBezTo>
                    <a:cubicBezTo>
                      <a:pt x="9573" y="31290"/>
                      <a:pt x="9344" y="31775"/>
                      <a:pt x="9125" y="32233"/>
                    </a:cubicBezTo>
                    <a:cubicBezTo>
                      <a:pt x="8515" y="33452"/>
                      <a:pt x="7820" y="34633"/>
                      <a:pt x="7144" y="35814"/>
                    </a:cubicBezTo>
                    <a:cubicBezTo>
                      <a:pt x="7153" y="35804"/>
                      <a:pt x="7172" y="35785"/>
                      <a:pt x="7191" y="35776"/>
                    </a:cubicBezTo>
                    <a:cubicBezTo>
                      <a:pt x="7868" y="34604"/>
                      <a:pt x="8553" y="33442"/>
                      <a:pt x="9154" y="32242"/>
                    </a:cubicBezTo>
                    <a:cubicBezTo>
                      <a:pt x="9363" y="31775"/>
                      <a:pt x="9592" y="31290"/>
                      <a:pt x="9792" y="30832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IN" dirty="0">
                  <a:solidFill>
                    <a:schemeClr val="bg1"/>
                  </a:solidFill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24" name="Freeform: Shape 33">
              <a:extLst>
                <a:ext uri="{FF2B5EF4-FFF2-40B4-BE49-F238E27FC236}">
                  <a16:creationId xmlns:a16="http://schemas.microsoft.com/office/drawing/2014/main" id="{96D4BB8A-41AF-D8FB-F00B-B80F7FD598F5}"/>
                </a:ext>
              </a:extLst>
            </p:cNvPr>
            <p:cNvSpPr/>
            <p:nvPr/>
          </p:nvSpPr>
          <p:spPr>
            <a:xfrm flipV="1">
              <a:off x="8573407" y="4059813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: Shape 34">
              <a:extLst>
                <a:ext uri="{FF2B5EF4-FFF2-40B4-BE49-F238E27FC236}">
                  <a16:creationId xmlns:a16="http://schemas.microsoft.com/office/drawing/2014/main" id="{BD6A3299-F364-2096-26BC-3DD92BEFAC76}"/>
                </a:ext>
              </a:extLst>
            </p:cNvPr>
            <p:cNvSpPr/>
            <p:nvPr/>
          </p:nvSpPr>
          <p:spPr>
            <a:xfrm flipV="1">
              <a:off x="9021642" y="2937436"/>
              <a:ext cx="393773" cy="318515"/>
            </a:xfrm>
            <a:custGeom>
              <a:avLst/>
              <a:gdLst>
                <a:gd name="connsiteX0" fmla="*/ 0 w 633984"/>
                <a:gd name="connsiteY0" fmla="*/ 348691 h 633984"/>
                <a:gd name="connsiteX1" fmla="*/ 142646 w 633984"/>
                <a:gd name="connsiteY1" fmla="*/ 348691 h 633984"/>
                <a:gd name="connsiteX2" fmla="*/ 142646 w 633984"/>
                <a:gd name="connsiteY2" fmla="*/ 0 h 633984"/>
                <a:gd name="connsiteX3" fmla="*/ 491338 w 633984"/>
                <a:gd name="connsiteY3" fmla="*/ 0 h 633984"/>
                <a:gd name="connsiteX4" fmla="*/ 491338 w 633984"/>
                <a:gd name="connsiteY4" fmla="*/ 348691 h 633984"/>
                <a:gd name="connsiteX5" fmla="*/ 633984 w 633984"/>
                <a:gd name="connsiteY5" fmla="*/ 348691 h 633984"/>
                <a:gd name="connsiteX6" fmla="*/ 316992 w 633984"/>
                <a:gd name="connsiteY6" fmla="*/ 633984 h 633984"/>
                <a:gd name="connsiteX7" fmla="*/ 0 w 633984"/>
                <a:gd name="connsiteY7" fmla="*/ 348691 h 63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3984" h="633984">
                  <a:moveTo>
                    <a:pt x="0" y="348691"/>
                  </a:moveTo>
                  <a:lnTo>
                    <a:pt x="142646" y="348691"/>
                  </a:lnTo>
                  <a:lnTo>
                    <a:pt x="142646" y="0"/>
                  </a:lnTo>
                  <a:lnTo>
                    <a:pt x="491338" y="0"/>
                  </a:lnTo>
                  <a:lnTo>
                    <a:pt x="491338" y="348691"/>
                  </a:lnTo>
                  <a:lnTo>
                    <a:pt x="633984" y="348691"/>
                  </a:lnTo>
                  <a:lnTo>
                    <a:pt x="316992" y="633984"/>
                  </a:lnTo>
                  <a:lnTo>
                    <a:pt x="0" y="348691"/>
                  </a:ln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78206" tIns="35560" rIns="178206" bIns="192471" numCol="1" spcCol="1270" anchor="ctr" anchorCtr="0">
              <a:noAutofit/>
            </a:bodyPr>
            <a:lstStyle/>
            <a:p>
              <a:pPr marL="0" lvl="0" indent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2800" kern="1200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7" name="TextBox 76">
            <a:extLst>
              <a:ext uri="{FF2B5EF4-FFF2-40B4-BE49-F238E27FC236}">
                <a16:creationId xmlns:a16="http://schemas.microsoft.com/office/drawing/2014/main" id="{BC707CC9-C1CC-2C2E-1987-7CDA11FB8809}"/>
              </a:ext>
            </a:extLst>
          </p:cNvPr>
          <p:cNvSpPr txBox="1"/>
          <p:nvPr/>
        </p:nvSpPr>
        <p:spPr>
          <a:xfrm>
            <a:off x="2326255" y="4909050"/>
            <a:ext cx="1752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5,597K</a:t>
            </a:r>
          </a:p>
        </p:txBody>
      </p:sp>
      <p:sp>
        <p:nvSpPr>
          <p:cNvPr id="28" name="TextBox 77">
            <a:extLst>
              <a:ext uri="{FF2B5EF4-FFF2-40B4-BE49-F238E27FC236}">
                <a16:creationId xmlns:a16="http://schemas.microsoft.com/office/drawing/2014/main" id="{E45C3A50-7050-9DA7-B697-A08770388D0A}"/>
              </a:ext>
            </a:extLst>
          </p:cNvPr>
          <p:cNvSpPr txBox="1"/>
          <p:nvPr/>
        </p:nvSpPr>
        <p:spPr>
          <a:xfrm>
            <a:off x="2549188" y="3983995"/>
            <a:ext cx="11624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3,421K</a:t>
            </a:r>
          </a:p>
        </p:txBody>
      </p:sp>
      <p:sp>
        <p:nvSpPr>
          <p:cNvPr id="29" name="TextBox 78">
            <a:extLst>
              <a:ext uri="{FF2B5EF4-FFF2-40B4-BE49-F238E27FC236}">
                <a16:creationId xmlns:a16="http://schemas.microsoft.com/office/drawing/2014/main" id="{235A993B-CC0A-3C0D-6EBB-8D6907712D8C}"/>
              </a:ext>
            </a:extLst>
          </p:cNvPr>
          <p:cNvSpPr txBox="1"/>
          <p:nvPr/>
        </p:nvSpPr>
        <p:spPr>
          <a:xfrm>
            <a:off x="2768644" y="3041250"/>
            <a:ext cx="1132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2,431K</a:t>
            </a:r>
          </a:p>
        </p:txBody>
      </p:sp>
      <p:sp>
        <p:nvSpPr>
          <p:cNvPr id="30" name="TextBox 79">
            <a:extLst>
              <a:ext uri="{FF2B5EF4-FFF2-40B4-BE49-F238E27FC236}">
                <a16:creationId xmlns:a16="http://schemas.microsoft.com/office/drawing/2014/main" id="{A6A2A3B9-8577-2F12-1B7D-97E73032CD44}"/>
              </a:ext>
            </a:extLst>
          </p:cNvPr>
          <p:cNvSpPr txBox="1"/>
          <p:nvPr/>
        </p:nvSpPr>
        <p:spPr>
          <a:xfrm>
            <a:off x="2988100" y="2109715"/>
            <a:ext cx="9845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/>
                <a:latin typeface="Montserrat" panose="00000500000000000000" pitchFamily="2" charset="0"/>
              </a:rPr>
              <a:t>1,371K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79F2B597-3C0A-3645-7754-12A2B70A8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D2A130FC-5F13-B9B1-A2C0-5B97EDD1BAB8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6" name="Content Placeholder 8">
            <a:extLst>
              <a:ext uri="{FF2B5EF4-FFF2-40B4-BE49-F238E27FC236}">
                <a16:creationId xmlns:a16="http://schemas.microsoft.com/office/drawing/2014/main" id="{E690E781-2E8A-69BD-77B9-654D3598F1E4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773432" y="1294233"/>
            <a:ext cx="6679823" cy="529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9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E570A2E2-DE16-A30C-22F3-EACAA6A5359C}"/>
              </a:ext>
            </a:extLst>
          </p:cNvPr>
          <p:cNvSpPr/>
          <p:nvPr/>
        </p:nvSpPr>
        <p:spPr>
          <a:xfrm>
            <a:off x="4550386" y="4225072"/>
            <a:ext cx="1097280" cy="109728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59.1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C157AD-9D57-0448-105A-79BA88500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136525"/>
            <a:ext cx="11590512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  <a:cs typeface="Arial" panose="020B0604020202020204" pitchFamily="34" charset="0"/>
              </a:rPr>
              <a:t>WHA HOSPITALS ARE HIGH-QUALITY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AD52701-1DE7-13B3-FBF0-4BD24A48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5" name="Freeform 13">
            <a:extLst>
              <a:ext uri="{FF2B5EF4-FFF2-40B4-BE49-F238E27FC236}">
                <a16:creationId xmlns:a16="http://schemas.microsoft.com/office/drawing/2014/main" id="{A6B1301C-BF63-22CC-7705-C12ACB4A1EC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E131B4C-18DF-BFEF-35A3-C55211ECD241}"/>
              </a:ext>
            </a:extLst>
          </p:cNvPr>
          <p:cNvSpPr/>
          <p:nvPr/>
        </p:nvSpPr>
        <p:spPr>
          <a:xfrm>
            <a:off x="4386082" y="3024860"/>
            <a:ext cx="1371600" cy="137160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/>
              <a:t>71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DE50F0-5C45-F134-5747-AFBCA0C9B146}"/>
              </a:ext>
            </a:extLst>
          </p:cNvPr>
          <p:cNvSpPr txBox="1"/>
          <p:nvPr/>
        </p:nvSpPr>
        <p:spPr>
          <a:xfrm>
            <a:off x="1822588" y="1527244"/>
            <a:ext cx="2727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539F"/>
                </a:solidFill>
              </a:rPr>
              <a:t>WHA Hospitals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852D29-2CF1-CB69-E3FC-E1C4B533084D}"/>
              </a:ext>
            </a:extLst>
          </p:cNvPr>
          <p:cNvSpPr txBox="1"/>
          <p:nvPr/>
        </p:nvSpPr>
        <p:spPr>
          <a:xfrm>
            <a:off x="825445" y="1979406"/>
            <a:ext cx="44740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53ADFF"/>
                </a:solidFill>
              </a:rPr>
              <a:t>Other Colorado Hospitals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5D5250-5A8B-5BF9-F03E-D3259FC7E9BE}"/>
              </a:ext>
            </a:extLst>
          </p:cNvPr>
          <p:cNvSpPr txBox="1"/>
          <p:nvPr/>
        </p:nvSpPr>
        <p:spPr>
          <a:xfrm>
            <a:off x="464603" y="3513561"/>
            <a:ext cx="38114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Patient Recommendation Rate</a:t>
            </a:r>
          </a:p>
          <a:p>
            <a:pPr algn="ctr"/>
            <a:r>
              <a:rPr lang="en-US" sz="1600" b="1" dirty="0"/>
              <a:t>HCAHPS Patient Recommendation</a:t>
            </a:r>
          </a:p>
          <a:p>
            <a:pPr algn="ctr"/>
            <a:r>
              <a:rPr lang="en-US" sz="1600" b="1" dirty="0"/>
              <a:t>National Percentile</a:t>
            </a:r>
            <a:endParaRPr lang="en-US" sz="2800" b="1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B961B0E-250B-0B00-9E30-2EEB1D25700F}"/>
              </a:ext>
            </a:extLst>
          </p:cNvPr>
          <p:cNvSpPr/>
          <p:nvPr/>
        </p:nvSpPr>
        <p:spPr>
          <a:xfrm>
            <a:off x="9944437" y="2017904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3.9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E59141C-AA3A-8E17-59F3-E21E67B145A7}"/>
              </a:ext>
            </a:extLst>
          </p:cNvPr>
          <p:cNvSpPr/>
          <p:nvPr/>
        </p:nvSpPr>
        <p:spPr>
          <a:xfrm>
            <a:off x="9807277" y="1171336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4.1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ECABE-5FF6-5FFF-5820-F7D1D21C168E}"/>
              </a:ext>
            </a:extLst>
          </p:cNvPr>
          <p:cNvSpPr txBox="1"/>
          <p:nvPr/>
        </p:nvSpPr>
        <p:spPr>
          <a:xfrm>
            <a:off x="6292458" y="1586138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CMS Stars</a:t>
            </a:r>
          </a:p>
          <a:p>
            <a:pPr algn="ctr"/>
            <a:r>
              <a:rPr lang="en-US" sz="1200" b="1" dirty="0"/>
              <a:t>Average CMS Quality Star Ratings</a:t>
            </a:r>
            <a:endParaRPr lang="en-US" sz="2000" b="1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7A4F434-3933-40A4-F519-6B180CE47BDF}"/>
              </a:ext>
            </a:extLst>
          </p:cNvPr>
          <p:cNvSpPr/>
          <p:nvPr/>
        </p:nvSpPr>
        <p:spPr>
          <a:xfrm>
            <a:off x="9944437" y="3737006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60.2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3757DAA-F305-D0C6-140E-EE350D422EB2}"/>
              </a:ext>
            </a:extLst>
          </p:cNvPr>
          <p:cNvSpPr/>
          <p:nvPr/>
        </p:nvSpPr>
        <p:spPr>
          <a:xfrm>
            <a:off x="9807277" y="2890438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67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71B601-7D3F-735D-EFAB-2349202FE10E}"/>
              </a:ext>
            </a:extLst>
          </p:cNvPr>
          <p:cNvSpPr txBox="1"/>
          <p:nvPr/>
        </p:nvSpPr>
        <p:spPr>
          <a:xfrm>
            <a:off x="6292458" y="3305240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Mortality</a:t>
            </a:r>
          </a:p>
          <a:p>
            <a:pPr algn="ctr"/>
            <a:r>
              <a:rPr lang="en-US" sz="1200" b="1" dirty="0"/>
              <a:t>National Percentile for Mortality Prevention</a:t>
            </a:r>
            <a:endParaRPr lang="en-US" sz="2000" b="1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9E7613C-5898-BED9-6FBF-A4050743C6B3}"/>
              </a:ext>
            </a:extLst>
          </p:cNvPr>
          <p:cNvSpPr/>
          <p:nvPr/>
        </p:nvSpPr>
        <p:spPr>
          <a:xfrm>
            <a:off x="9944437" y="5461730"/>
            <a:ext cx="731520" cy="731520"/>
          </a:xfrm>
          <a:prstGeom prst="ellipse">
            <a:avLst/>
          </a:prstGeom>
          <a:solidFill>
            <a:srgbClr val="53AD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FB1AD4-817D-DF23-AD4A-E732C30D5CF4}"/>
              </a:ext>
            </a:extLst>
          </p:cNvPr>
          <p:cNvSpPr/>
          <p:nvPr/>
        </p:nvSpPr>
        <p:spPr>
          <a:xfrm>
            <a:off x="9807277" y="4615162"/>
            <a:ext cx="1005840" cy="1005840"/>
          </a:xfrm>
          <a:prstGeom prst="ellipse">
            <a:avLst/>
          </a:prstGeom>
          <a:solidFill>
            <a:srgbClr val="00539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74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9A23B8-9B3B-A74E-AE86-BCFACBC1C44C}"/>
              </a:ext>
            </a:extLst>
          </p:cNvPr>
          <p:cNvSpPr txBox="1"/>
          <p:nvPr/>
        </p:nvSpPr>
        <p:spPr>
          <a:xfrm>
            <a:off x="6292458" y="5029964"/>
            <a:ext cx="38114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Readmissions</a:t>
            </a:r>
          </a:p>
          <a:p>
            <a:pPr algn="ctr"/>
            <a:r>
              <a:rPr lang="en-US" sz="1200" b="1" dirty="0"/>
              <a:t>National Percentile for Readmission Prevention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64752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C9E7C-8993-BF6C-84E4-93C6436A3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3D4B9B7-350F-DAB4-7695-59EFFA838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023835C-6BE5-6A02-5C87-9470900BA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DEB7B5E0-D8EC-16E0-3D60-A22CFAAA6A26}"/>
              </a:ext>
            </a:extLst>
          </p:cNvPr>
          <p:cNvSpPr txBox="1"/>
          <p:nvPr/>
        </p:nvSpPr>
        <p:spPr>
          <a:xfrm>
            <a:off x="-107004" y="1368706"/>
            <a:ext cx="1173791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spc="200" dirty="0">
                <a:solidFill>
                  <a:schemeClr val="accent2">
                    <a:lumMod val="75000"/>
                  </a:schemeClr>
                </a:solidFill>
                <a:latin typeface="Montserrat" panose="00000500000000000000" pitchFamily="2" charset="0"/>
                <a:cs typeface="+mj-cs"/>
              </a:rPr>
              <a:t>Target Market</a:t>
            </a:r>
            <a:br>
              <a:rPr lang="en-US" sz="1600" spc="200" dirty="0">
                <a:latin typeface="Montserrat" panose="00000500000000000000" pitchFamily="2" charset="0"/>
                <a:cs typeface="+mj-cs"/>
              </a:rPr>
            </a:br>
            <a:r>
              <a:rPr lang="en-US" sz="1600" spc="200" dirty="0">
                <a:latin typeface="Montserrat" panose="00000500000000000000" pitchFamily="2" charset="0"/>
                <a:cs typeface="+mj-cs"/>
              </a:rPr>
              <a:t>8,000+ Employers          1.4M</a:t>
            </a:r>
            <a:r>
              <a:rPr lang="en-US" sz="1600" spc="200" dirty="0">
                <a:latin typeface="Montserrat" panose="00000500000000000000" pitchFamily="2" charset="0"/>
                <a:cs typeface="+mj-cs"/>
                <a:sym typeface="Wingdings" panose="05000000000000000000" pitchFamily="2" charset="2"/>
              </a:rPr>
              <a:t>+ Employees          3.1M+ Members</a:t>
            </a:r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5" name="Arrow: Chevron 8">
            <a:extLst>
              <a:ext uri="{FF2B5EF4-FFF2-40B4-BE49-F238E27FC236}">
                <a16:creationId xmlns:a16="http://schemas.microsoft.com/office/drawing/2014/main" id="{C31C21AD-657B-4759-48C0-01E0167E064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Montserrat" panose="00000500000000000000" pitchFamily="2" charset="0"/>
            </a:endParaRPr>
          </a:p>
        </p:txBody>
      </p:sp>
      <p:sp>
        <p:nvSpPr>
          <p:cNvPr id="6" name="Arrow: Chevron 9">
            <a:extLst>
              <a:ext uri="{FF2B5EF4-FFF2-40B4-BE49-F238E27FC236}">
                <a16:creationId xmlns:a16="http://schemas.microsoft.com/office/drawing/2014/main" id="{141C3ED6-F7CA-D7B7-0332-792FD44748E1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Montserrat" panose="00000500000000000000" pitchFamily="2" charset="0"/>
              </a:rPr>
              <a:t>    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B708E0D-FA25-EA26-72CF-E0EC9A5C0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86" y="43143"/>
            <a:ext cx="12028428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200" b="0" dirty="0">
                <a:solidFill>
                  <a:srgbClr val="000B2E"/>
                </a:solidFill>
              </a:rPr>
              <a:t>SIGNIFICANT OPPORTUNITY FOR PLAN GROWTH</a:t>
            </a:r>
            <a:br>
              <a:rPr lang="en-US" sz="3200" dirty="0">
                <a:solidFill>
                  <a:srgbClr val="000B2E"/>
                </a:solidFill>
              </a:rPr>
            </a:br>
            <a:r>
              <a:rPr lang="en-US" sz="2000" b="0" dirty="0">
                <a:solidFill>
                  <a:srgbClr val="000B2E"/>
                </a:solidFill>
              </a:rPr>
              <a:t>Researched for the below highlighted service area</a:t>
            </a:r>
            <a:endParaRPr lang="en-US" sz="1400" b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8" name="Table 12">
            <a:extLst>
              <a:ext uri="{FF2B5EF4-FFF2-40B4-BE49-F238E27FC236}">
                <a16:creationId xmlns:a16="http://schemas.microsoft.com/office/drawing/2014/main" id="{B79B2694-1656-8F1A-3EB5-9A0B14A5B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4854748"/>
              </p:ext>
            </p:extLst>
          </p:nvPr>
        </p:nvGraphicFramePr>
        <p:xfrm>
          <a:off x="4889297" y="2140949"/>
          <a:ext cx="6949427" cy="3441355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333130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Employer Size Group (# of Employees)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Commercial Employers With Headquarters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4,495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1,915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1,143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Employees at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337,100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287,300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342,900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423,500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432,000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726,000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53939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Total Members with Employers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401-1,000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1,001-3,000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3,000+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Headquartered in Catchment Area</a:t>
                      </a:r>
                    </a:p>
                  </a:txBody>
                  <a:tcPr marL="9525" marR="9525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517,100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617,200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762,300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777,600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1,306,800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</a:tbl>
          </a:graphicData>
        </a:graphic>
      </p:graphicFrame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1804A02-C0DD-C303-D8F1-5B9AB58415FC}"/>
              </a:ext>
            </a:extLst>
          </p:cNvPr>
          <p:cNvPicPr>
            <a:picLocks noGrp="1"/>
          </p:cNvPicPr>
          <p:nvPr>
            <p:ph/>
          </p:nvPr>
        </p:nvPicPr>
        <p:blipFill>
          <a:blip r:embed="rId2" cstate="print"/>
          <a:stretch>
            <a:fillRect/>
          </a:stretch>
        </p:blipFill>
        <p:spPr>
          <a:xfrm>
            <a:off x="-1054867" y="1786292"/>
            <a:ext cx="609600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332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88DF-56D9-837C-AA1C-128F048C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73" y="286117"/>
            <a:ext cx="10515600" cy="856586"/>
          </a:xfrm>
        </p:spPr>
        <p:txBody>
          <a:bodyPr/>
          <a:lstStyle/>
          <a:p>
            <a:r>
              <a:rPr lang="en-US" b="0" dirty="0"/>
              <a:t>EXPECTED PLAN GROWTH</a:t>
            </a:r>
          </a:p>
        </p:txBody>
      </p:sp>
      <p:pic>
        <p:nvPicPr>
          <p:cNvPr id="31" name="Picture 4">
            <a:extLst>
              <a:ext uri="{FF2B5EF4-FFF2-40B4-BE49-F238E27FC236}">
                <a16:creationId xmlns:a16="http://schemas.microsoft.com/office/drawing/2014/main" id="{0D8A2093-EE63-6F98-17FC-8FA2F27D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32" name="Freeform 13">
            <a:extLst>
              <a:ext uri="{FF2B5EF4-FFF2-40B4-BE49-F238E27FC236}">
                <a16:creationId xmlns:a16="http://schemas.microsoft.com/office/drawing/2014/main" id="{28524B04-16FE-D5D9-4125-86AD5B994E04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33" name="Content Placeholder 32"/>
          <p:cNvPicPr>
            <a:picLocks noGrp="1"/>
          </p:cNvPicPr>
          <p:nvPr>
            <p:ph/>
          </p:nvPr>
        </p:nvPicPr>
        <p:blipFill>
          <a:blip r:embed="rId3" cstate="print"/>
          <a:stretch>
            <a:fillRect/>
          </a:stretch>
        </p:blipFill>
        <p:spPr>
          <a:xfrm>
            <a:off x="982752" y="1358312"/>
            <a:ext cx="5113248" cy="3059646"/>
          </a:xfrm>
          <a:prstGeom prst="rect">
            <a:avLst/>
          </a:prstGeom>
        </p:spPr>
      </p:pic>
      <p:sp>
        <p:nvSpPr>
          <p:cNvPr id="37" name="TextBox 12">
            <a:extLst>
              <a:ext uri="{FF2B5EF4-FFF2-40B4-BE49-F238E27FC236}">
                <a16:creationId xmlns:a16="http://schemas.microsoft.com/office/drawing/2014/main" id="{76472EEB-6125-717C-DF77-9CF7685BEC20}"/>
              </a:ext>
            </a:extLst>
          </p:cNvPr>
          <p:cNvSpPr txBox="1"/>
          <p:nvPr/>
        </p:nvSpPr>
        <p:spPr>
          <a:xfrm>
            <a:off x="357264" y="4502737"/>
            <a:ext cx="636422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/>
                <a:latin typeface="Montserrat" panose="00000500000000000000" pitchFamily="2" charset="0"/>
              </a:rPr>
              <a:t>KBA currently estimates that Western Health Alliance has 47% inpatient market share, and 31% outpatient market compared to hospitals/clinics in the Western Health Alliance service area.</a:t>
            </a:r>
          </a:p>
          <a:p>
            <a:endParaRPr lang="en-US" sz="1400" dirty="0">
              <a:solidFill/>
              <a:latin typeface="Montserrat" panose="00000500000000000000" pitchFamily="2" charset="0"/>
            </a:endParaRPr>
          </a:p>
          <a:p>
            <a:r>
              <a:rPr lang="en-US" sz="1400" b="1" dirty="0">
                <a:solidFill/>
                <a:latin typeface="Montserrat" panose="00000500000000000000" pitchFamily="2" charset="0"/>
              </a:rPr>
              <a:t>A WHA plan could expect patient steerage rates above 85% (comparable to other DTE plans), nearly double of current patient volumes. 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093FBD-44FD-54DA-743A-F5FA9B4BD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2699"/>
              </p:ext>
            </p:extLst>
          </p:nvPr>
        </p:nvGraphicFramePr>
        <p:xfrm>
          <a:off x="7078753" y="1314998"/>
          <a:ext cx="4805076" cy="4572375"/>
        </p:xfrm>
        <a:graphic>
          <a:graphicData uri="http://schemas.openxmlformats.org/drawingml/2006/table">
            <a:tbl>
              <a:tblPr/>
              <a:tblGrid>
                <a:gridCol w="1601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16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1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83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Year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Employees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Members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  <a:solidFill>
                      <a:srgbClr val="F2F2F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33,300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39,600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97,600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71,800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129,200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92,300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115,400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207,700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140,400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252,700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166,000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298,800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191,200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344,200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214,700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386,500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235,600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424,100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253,400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456,100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267,900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482,200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279,400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502,900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288,300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518,900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295,000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531,000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31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300,100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b="0" i="0" u="non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ontserrat"/>
                          <a:cs typeface="Arial"/>
                          <a:sym typeface="Arial"/>
                        </a:rPr>
                        <a:t>540,200</a:t>
                      </a:r>
                    </a:p>
                  </a:txBody>
                  <a:tcPr marL="0" marR="0" marT="0" marB="0" anchor="ctr">
                    <a:lnL w="0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BEBE">
                          <a:alpha val="100000"/>
                        </a:srgbClr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2327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C0C1C4CA-44D9-9691-E058-46CEB5C35DF2}"/>
              </a:ext>
            </a:extLst>
          </p:cNvPr>
          <p:cNvSpPr/>
          <p:nvPr/>
        </p:nvSpPr>
        <p:spPr>
          <a:xfrm>
            <a:off x="5541867" y="1756658"/>
            <a:ext cx="1914733" cy="411982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DCAE5A5-11EC-16C5-5F5F-C5DF9E3B0859}"/>
              </a:ext>
            </a:extLst>
          </p:cNvPr>
          <p:cNvSpPr/>
          <p:nvPr/>
        </p:nvSpPr>
        <p:spPr>
          <a:xfrm>
            <a:off x="7456600" y="1756656"/>
            <a:ext cx="1914733" cy="4119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98C73641-C807-1985-E19A-CA79DA10785E}"/>
              </a:ext>
            </a:extLst>
          </p:cNvPr>
          <p:cNvSpPr/>
          <p:nvPr/>
        </p:nvSpPr>
        <p:spPr>
          <a:xfrm>
            <a:off x="9371334" y="1756655"/>
            <a:ext cx="1914732" cy="411982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Montserrat" panose="00000500000000000000" pitchFamily="2" charset="0"/>
            </a:endParaRP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8546D6DB-89F3-8B35-A9E8-670CED022928}"/>
              </a:ext>
            </a:extLst>
          </p:cNvPr>
          <p:cNvSpPr txBox="1"/>
          <p:nvPr/>
        </p:nvSpPr>
        <p:spPr>
          <a:xfrm>
            <a:off x="1447022" y="1524619"/>
            <a:ext cx="3100529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087CE"/>
                </a:solidFill>
                <a:latin typeface="Montserrat" panose="00000500000000000000" pitchFamily="2" charset="0"/>
              </a:rPr>
              <a:t>Early Stage</a:t>
            </a:r>
          </a:p>
          <a:p>
            <a:pPr algn="ctr"/>
            <a:r>
              <a:rPr lang="en-US" sz="1100" dirty="0">
                <a:solidFill>
                  <a:srgbClr val="6087CE"/>
                </a:solidFill>
                <a:latin typeface="Montserrat" panose="00000500000000000000" pitchFamily="2" charset="0"/>
              </a:rPr>
              <a:t>Gaining Name Recognition, Early Growth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C35DE11-AC92-1958-1813-38A8A86CBCE8}"/>
              </a:ext>
            </a:extLst>
          </p:cNvPr>
          <p:cNvSpPr txBox="1"/>
          <p:nvPr/>
        </p:nvSpPr>
        <p:spPr>
          <a:xfrm>
            <a:off x="1275976" y="2181545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2DA353-8032-9A29-CBFC-5E2CAB8FA818}"/>
              </a:ext>
            </a:extLst>
          </p:cNvPr>
          <p:cNvSpPr txBox="1"/>
          <p:nvPr/>
        </p:nvSpPr>
        <p:spPr>
          <a:xfrm>
            <a:off x="3224011" y="2181545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6087CE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8" name="TextBox 9">
            <a:extLst>
              <a:ext uri="{FF2B5EF4-FFF2-40B4-BE49-F238E27FC236}">
                <a16:creationId xmlns:a16="http://schemas.microsoft.com/office/drawing/2014/main" id="{2EE70FCE-698F-980C-DE5B-A5E0DD82F2B7}"/>
              </a:ext>
            </a:extLst>
          </p:cNvPr>
          <p:cNvSpPr txBox="1"/>
          <p:nvPr/>
        </p:nvSpPr>
        <p:spPr>
          <a:xfrm>
            <a:off x="1269691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$125.19M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DBAF8120-09F6-4EB0-E666-C1CBDC5CF295}"/>
              </a:ext>
            </a:extLst>
          </p:cNvPr>
          <p:cNvSpPr txBox="1"/>
          <p:nvPr/>
        </p:nvSpPr>
        <p:spPr>
          <a:xfrm>
            <a:off x="3063240" y="2427270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6087CE"/>
                </a:solidFill>
                <a:latin typeface="Montserrat" panose="00000500000000000000" pitchFamily="2" charset="0"/>
              </a:rPr>
              <a:t>$34.47M</a:t>
            </a:r>
            <a:endParaRPr lang="en-US" sz="2000" dirty="0">
              <a:latin typeface="Montserrat" panose="00000500000000000000" pitchFamily="2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B374298-411A-3F68-B672-E1DC32DEA9AE}"/>
              </a:ext>
            </a:extLst>
          </p:cNvPr>
          <p:cNvSpPr txBox="1"/>
          <p:nvPr/>
        </p:nvSpPr>
        <p:spPr>
          <a:xfrm>
            <a:off x="1679267" y="3039035"/>
            <a:ext cx="261802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Growth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Strong Reputation, Strong Growth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734215D0-1B81-9E25-D893-D1A81A7D90DE}"/>
              </a:ext>
            </a:extLst>
          </p:cNvPr>
          <p:cNvSpPr txBox="1"/>
          <p:nvPr/>
        </p:nvSpPr>
        <p:spPr>
          <a:xfrm>
            <a:off x="1266967" y="3695961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2" name="TextBox 17">
            <a:extLst>
              <a:ext uri="{FF2B5EF4-FFF2-40B4-BE49-F238E27FC236}">
                <a16:creationId xmlns:a16="http://schemas.microsoft.com/office/drawing/2014/main" id="{44D03DDF-E57A-E22B-A334-B0D6BAD568C1}"/>
              </a:ext>
            </a:extLst>
          </p:cNvPr>
          <p:cNvSpPr txBox="1"/>
          <p:nvPr/>
        </p:nvSpPr>
        <p:spPr>
          <a:xfrm>
            <a:off x="3215002" y="3695961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3" name="TextBox 20">
            <a:extLst>
              <a:ext uri="{FF2B5EF4-FFF2-40B4-BE49-F238E27FC236}">
                <a16:creationId xmlns:a16="http://schemas.microsoft.com/office/drawing/2014/main" id="{2F96F890-CA85-53B4-4C86-B02186E9E89E}"/>
              </a:ext>
            </a:extLst>
          </p:cNvPr>
          <p:cNvSpPr txBox="1"/>
          <p:nvPr/>
        </p:nvSpPr>
        <p:spPr>
          <a:xfrm>
            <a:off x="1260682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$681.98M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BD5125C9-83DD-4D9F-DE79-D476BE3F058D}"/>
              </a:ext>
            </a:extLst>
          </p:cNvPr>
          <p:cNvSpPr txBox="1"/>
          <p:nvPr/>
        </p:nvSpPr>
        <p:spPr>
          <a:xfrm>
            <a:off x="3054231" y="3941686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$188.72M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5" name="TextBox 22">
            <a:extLst>
              <a:ext uri="{FF2B5EF4-FFF2-40B4-BE49-F238E27FC236}">
                <a16:creationId xmlns:a16="http://schemas.microsoft.com/office/drawing/2014/main" id="{DEBB9E11-84A3-58F8-237D-4A265C29D49C}"/>
              </a:ext>
            </a:extLst>
          </p:cNvPr>
          <p:cNvSpPr txBox="1"/>
          <p:nvPr/>
        </p:nvSpPr>
        <p:spPr>
          <a:xfrm>
            <a:off x="1629765" y="4659602"/>
            <a:ext cx="2735044" cy="6309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2F5597"/>
                </a:solidFill>
                <a:latin typeface="Montserrat" panose="00000500000000000000" pitchFamily="2" charset="0"/>
              </a:rPr>
              <a:t>Mature Stage</a:t>
            </a:r>
          </a:p>
          <a:p>
            <a:pPr algn="ctr"/>
            <a:r>
              <a:rPr lang="en-US" sz="1100" dirty="0">
                <a:solidFill>
                  <a:srgbClr val="2F5597"/>
                </a:solidFill>
                <a:latin typeface="Montserrat" panose="00000500000000000000" pitchFamily="2" charset="0"/>
              </a:rPr>
              <a:t>High Profitability, Market Saturation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E4C2D887-78BC-455D-E84B-4706DBDF3CA1}"/>
              </a:ext>
            </a:extLst>
          </p:cNvPr>
          <p:cNvSpPr txBox="1"/>
          <p:nvPr/>
        </p:nvSpPr>
        <p:spPr>
          <a:xfrm>
            <a:off x="1275976" y="5316528"/>
            <a:ext cx="16241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Revenue:</a:t>
            </a:r>
          </a:p>
        </p:txBody>
      </p:sp>
      <p:sp>
        <p:nvSpPr>
          <p:cNvPr id="17" name="TextBox 24">
            <a:extLst>
              <a:ext uri="{FF2B5EF4-FFF2-40B4-BE49-F238E27FC236}">
                <a16:creationId xmlns:a16="http://schemas.microsoft.com/office/drawing/2014/main" id="{FC3AFD72-934E-C314-76C9-3BD3C3ADC5D7}"/>
              </a:ext>
            </a:extLst>
          </p:cNvPr>
          <p:cNvSpPr txBox="1"/>
          <p:nvPr/>
        </p:nvSpPr>
        <p:spPr>
          <a:xfrm>
            <a:off x="3224011" y="5316528"/>
            <a:ext cx="141275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2F5597"/>
                </a:solidFill>
                <a:latin typeface="Montserrat" panose="00000500000000000000" pitchFamily="2" charset="0"/>
              </a:rPr>
              <a:t>New Profit:</a:t>
            </a: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FC7E587-98BA-0E7B-D632-50ECCC546F0C}"/>
              </a:ext>
            </a:extLst>
          </p:cNvPr>
          <p:cNvSpPr txBox="1"/>
          <p:nvPr/>
        </p:nvSpPr>
        <p:spPr>
          <a:xfrm>
            <a:off x="1269691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$1324.4M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CDADE326-124A-38EC-26DF-B19515A72278}"/>
              </a:ext>
            </a:extLst>
          </p:cNvPr>
          <p:cNvSpPr txBox="1"/>
          <p:nvPr/>
        </p:nvSpPr>
        <p:spPr>
          <a:xfrm>
            <a:off x="3063240" y="5562253"/>
            <a:ext cx="15885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2F5597"/>
                </a:solidFill>
                <a:latin typeface="Montserrat" panose="00000500000000000000" pitchFamily="2" charset="0"/>
              </a:rPr>
              <a:t>$366.64M</a:t>
            </a:r>
            <a:endParaRPr lang="en-US" sz="2000" dirty="0">
              <a:solidFill>
                <a:srgbClr val="2F5597"/>
              </a:solidFill>
              <a:latin typeface="Montserrat" panose="00000500000000000000" pitchFamily="2" charset="0"/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C0B4224-A0CC-AD78-8E24-07E538135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590" y="144962"/>
            <a:ext cx="11431354" cy="979057"/>
          </a:xfrm>
        </p:spPr>
        <p:txBody>
          <a:bodyPr>
            <a:normAutofit/>
          </a:bodyPr>
          <a:lstStyle/>
          <a:p>
            <a:r>
              <a:rPr lang="en-US" sz="3200" b="0" dirty="0"/>
              <a:t>ENORMOUS POTENTIAL PROFITABILITY GROWTH FOR WHA MEMBERS</a:t>
            </a:r>
          </a:p>
        </p:txBody>
      </p:sp>
      <p:pic>
        <p:nvPicPr>
          <p:cNvPr id="21" name="Picture 27">
            <a:extLst>
              <a:ext uri="{FF2B5EF4-FFF2-40B4-BE49-F238E27FC236}">
                <a16:creationId xmlns:a16="http://schemas.microsoft.com/office/drawing/2014/main" id="{DBDCCE94-7BFC-4E15-1810-1983169DB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3" y="6356350"/>
            <a:ext cx="2125097" cy="463658"/>
          </a:xfrm>
          <a:prstGeom prst="rect">
            <a:avLst/>
          </a:prstGeom>
        </p:spPr>
      </p:pic>
      <p:sp>
        <p:nvSpPr>
          <p:cNvPr id="22" name="Freeform 13">
            <a:extLst>
              <a:ext uri="{FF2B5EF4-FFF2-40B4-BE49-F238E27FC236}">
                <a16:creationId xmlns:a16="http://schemas.microsoft.com/office/drawing/2014/main" id="{C4AAE38D-C93C-25B4-95B9-199DADB77C36}"/>
              </a:ext>
            </a:extLst>
          </p:cNvPr>
          <p:cNvSpPr/>
          <p:nvPr/>
        </p:nvSpPr>
        <p:spPr>
          <a:xfrm rot="16200000" flipV="1">
            <a:off x="7293684" y="1958270"/>
            <a:ext cx="194251" cy="9629274"/>
          </a:xfrm>
          <a:custGeom>
            <a:avLst/>
            <a:gdLst>
              <a:gd name="connsiteX0" fmla="*/ 0 w 165300"/>
              <a:gd name="connsiteY0" fmla="*/ 0 h 503014"/>
              <a:gd name="connsiteX1" fmla="*/ 165300 w 165300"/>
              <a:gd name="connsiteY1" fmla="*/ 0 h 503014"/>
              <a:gd name="connsiteX2" fmla="*/ 165300 w 165300"/>
              <a:gd name="connsiteY2" fmla="*/ 503014 h 503014"/>
              <a:gd name="connsiteX3" fmla="*/ 0 w 165300"/>
              <a:gd name="connsiteY3" fmla="*/ 503014 h 5030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300" h="503014">
                <a:moveTo>
                  <a:pt x="0" y="0"/>
                </a:moveTo>
                <a:lnTo>
                  <a:pt x="165300" y="0"/>
                </a:lnTo>
                <a:lnTo>
                  <a:pt x="165300" y="503014"/>
                </a:lnTo>
                <a:lnTo>
                  <a:pt x="0" y="503014"/>
                </a:lnTo>
                <a:close/>
              </a:path>
            </a:pathLst>
          </a:custGeom>
          <a:solidFill>
            <a:srgbClr val="00539F"/>
          </a:solidFill>
          <a:ln w="0" cap="flat">
            <a:noFill/>
            <a:prstDash val="solid"/>
            <a:miter/>
          </a:ln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pic>
        <p:nvPicPr>
          <p:cNvPr id="23" name="Content Placeholder 22"/>
          <p:cNvPicPr>
            <a:picLocks noGrp="1"/>
          </p:cNvPicPr>
          <p:nvPr>
            <p:ph/>
          </p:nvPr>
        </p:nvPicPr>
        <p:blipFill>
          <a:blip r:embed="rId4" cstate="print"/>
          <a:stretch>
            <a:fillRect/>
          </a:stretch>
        </p:blipFill>
        <p:spPr>
          <a:xfrm>
            <a:off x="5202936" y="1353312"/>
            <a:ext cx="6364224" cy="477316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6FA9894-E7D1-BE08-3776-08F67E9496EF}"/>
              </a:ext>
            </a:extLst>
          </p:cNvPr>
          <p:cNvSpPr txBox="1"/>
          <p:nvPr/>
        </p:nvSpPr>
        <p:spPr>
          <a:xfrm>
            <a:off x="3270963" y="6186627"/>
            <a:ext cx="5703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See Extended Slide Deck for Details on </a:t>
            </a:r>
            <a:r>
              <a:rPr lang="en-US" b="1"/>
              <a:t>Financial Modeling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94051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latin typeface="Montserrat" panose="000005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5" y="560444"/>
            <a:ext cx="10479445" cy="78254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sz="1100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z="1100" smtClean="0">
                <a:solidFill>
                  <a:schemeClr val="bg1"/>
                </a:solidFill>
              </a:rPr>
              <a:t>11</a:t>
            </a:fld>
            <a:endParaRPr lang="en-US" sz="1100" dirty="0">
              <a:solidFill>
                <a:schemeClr val="bg1"/>
              </a:solidFill>
            </a:endParaRPr>
          </a:p>
        </p:txBody>
      </p:sp>
      <p:grpSp>
        <p:nvGrpSpPr>
          <p:cNvPr id="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569660"/>
            <a:chOff x="908754" y="2695500"/>
            <a:chExt cx="10558665" cy="1569660"/>
          </a:xfrm>
        </p:grpSpPr>
        <p:sp>
          <p:nvSpPr>
            <p:cNvPr id="8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OUR OBJECTIVES ARE ALIGNED</a:t>
              </a:r>
            </a:p>
          </p:txBody>
        </p:sp>
        <p:sp>
          <p:nvSpPr>
            <p:cNvPr id="9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KNOW THE </a:t>
              </a:r>
            </a:p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MARKET</a:t>
              </a:r>
            </a:p>
          </p:txBody>
        </p:sp>
        <p:sp>
          <p:nvSpPr>
            <p:cNvPr id="10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COMPLETELY TRANSPARENT</a:t>
              </a:r>
            </a:p>
          </p:txBody>
        </p:sp>
        <p:sp>
          <p:nvSpPr>
            <p:cNvPr id="11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Montserrat" panose="00000500000000000000" pitchFamily="2" charset="0"/>
                </a:rPr>
                <a:t>WE HAVE THE SOPHISTICATION AND INFRASTRUCTURE TO EFFECTIVELY COMPETE</a:t>
              </a:r>
            </a:p>
          </p:txBody>
        </p:sp>
      </p:grpSp>
      <p:cxnSp>
        <p:nvCxnSpPr>
          <p:cNvPr id="12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1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17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18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19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584775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Derek Moore, Senior Vice President – KBA</a:t>
            </a:r>
          </a:p>
          <a:p>
            <a:pPr algn="ctr"/>
            <a:r>
              <a:rPr lang="en-US" sz="1600" dirty="0">
                <a:solidFill>
                  <a:schemeClr val="bg1"/>
                </a:solidFill>
                <a:latin typeface="Montserrat" panose="00000500000000000000" pitchFamily="2" charset="0"/>
                <a:cs typeface="Arial" panose="020B0604020202020204" pitchFamily="34" charset="0"/>
              </a:rPr>
              <a:t>845-283-9973 * derek.moore@keybenefit.com</a:t>
            </a: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0070C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46188</TotalTime>
  <Words>602</Words>
  <Application>Microsoft Office PowerPoint</Application>
  <PresentationFormat>Widescreen</PresentationFormat>
  <Paragraphs>221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 Narrow</vt:lpstr>
      <vt:lpstr>Arial</vt:lpstr>
      <vt:lpstr>Montserrat</vt:lpstr>
      <vt:lpstr>Office Theme</vt:lpstr>
      <vt:lpstr>1_Office Theme</vt:lpstr>
      <vt:lpstr>2_Office Theme</vt:lpstr>
      <vt:lpstr>3_Office Theme</vt:lpstr>
      <vt:lpstr>PowerPoint Presentation</vt:lpstr>
      <vt:lpstr>PowerPoint Presentation</vt:lpstr>
      <vt:lpstr>PowerPoint Presentation</vt:lpstr>
      <vt:lpstr>DIRECT-TO-EMPLOYER (DTE)  </vt:lpstr>
      <vt:lpstr>DIRECT-TO-EMPLOYER STRATEGY: ONLY AVAILABLE TO PREMIER HEALTH SYSTEMS</vt:lpstr>
      <vt:lpstr>COVERING OVER 95% OF COLORADO’S POPULATION</vt:lpstr>
      <vt:lpstr>WHA HOSPITALS ARE HIGH-QUALITY</vt:lpstr>
      <vt:lpstr>SIGNIFICANT OPPORTUNITY FOR PLAN GROWTH Researched for the below highlighted service area</vt:lpstr>
      <vt:lpstr>EXPECTED PLAN GROWTH</vt:lpstr>
      <vt:lpstr>ENORMOUS POTENTIAL PROFITABILITY GROWTH FOR WHA MEMBERS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112</cp:revision>
  <cp:lastPrinted>2023-07-13T10:24:43Z</cp:lastPrinted>
  <dcterms:created xsi:type="dcterms:W3CDTF">2021-01-20T14:12:11Z</dcterms:created>
  <dcterms:modified xsi:type="dcterms:W3CDTF">2025-07-03T16:37:44Z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