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5.xml" ContentType="application/vnd.openxmlformats-officedocument.theme+xml"/>
  <Override PartName="/ppt/tags/tag4.xml" ContentType="application/vnd.openxmlformats-officedocument.presentationml.tags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6.xml" ContentType="application/vnd.openxmlformats-officedocument.theme+xml"/>
  <Override PartName="/ppt/tags/tag5.xml" ContentType="application/vnd.openxmlformats-officedocument.presentationml.tags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comments/modernComment_7FE53189_F808901F.xml" ContentType="application/vnd.ms-powerpoint.comments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7FE53192_3C36F9F4.xml" ContentType="application/vnd.ms-powerpoint.comments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  <p:sldMasterId id="2147483758" r:id="rId6"/>
    <p:sldMasterId id="2147483773" r:id="rId7"/>
    <p:sldMasterId id="2147483785" r:id="rId8"/>
    <p:sldMasterId id="2147483797" r:id="rId9"/>
  </p:sldMasterIdLst>
  <p:notesMasterIdLst>
    <p:notesMasterId r:id="rId40"/>
  </p:notesMasterIdLst>
  <p:sldIdLst>
    <p:sldId id="588" r:id="rId10"/>
    <p:sldId id="454" r:id="rId11"/>
    <p:sldId id="549" r:id="rId12"/>
    <p:sldId id="2145726869" r:id="rId13"/>
    <p:sldId id="521" r:id="rId14"/>
    <p:sldId id="2145726871" r:id="rId15"/>
    <p:sldId id="564" r:id="rId16"/>
    <p:sldId id="2145726872" r:id="rId17"/>
    <p:sldId id="580" r:id="rId18"/>
    <p:sldId id="582" r:id="rId19"/>
    <p:sldId id="613" r:id="rId20"/>
    <p:sldId id="458" r:id="rId21"/>
    <p:sldId id="2145726859" r:id="rId22"/>
    <p:sldId id="2145726857" r:id="rId23"/>
    <p:sldId id="469" r:id="rId24"/>
    <p:sldId id="2145726856" r:id="rId25"/>
    <p:sldId id="614" r:id="rId26"/>
    <p:sldId id="281" r:id="rId27"/>
    <p:sldId id="283" r:id="rId28"/>
    <p:sldId id="285" r:id="rId29"/>
    <p:sldId id="2145726866" r:id="rId30"/>
    <p:sldId id="583" r:id="rId31"/>
    <p:sldId id="525" r:id="rId32"/>
    <p:sldId id="2145726868" r:id="rId33"/>
    <p:sldId id="2145726864" r:id="rId34"/>
    <p:sldId id="585" r:id="rId35"/>
    <p:sldId id="536" r:id="rId36"/>
    <p:sldId id="256" r:id="rId37"/>
    <p:sldId id="574" r:id="rId38"/>
    <p:sldId id="472" r:id="rId39"/>
  </p:sldIdLst>
  <p:sldSz cx="12192000" cy="6858000"/>
  <p:notesSz cx="7315200" cy="9601200"/>
  <p:custDataLst>
    <p:tags r:id="rId4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ADFF"/>
    <a:srgbClr val="00539F"/>
    <a:srgbClr val="244F9A"/>
    <a:srgbClr val="30589B"/>
    <a:srgbClr val="2F5597"/>
    <a:srgbClr val="6087CE"/>
    <a:srgbClr val="4468A5"/>
    <a:srgbClr val="F2F2F2"/>
    <a:srgbClr val="C55A11"/>
    <a:srgbClr val="F424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88609" autoAdjust="0"/>
  </p:normalViewPr>
  <p:slideViewPr>
    <p:cSldViewPr snapToGrid="0">
      <p:cViewPr>
        <p:scale>
          <a:sx n="75" d="100"/>
          <a:sy n="75" d="100"/>
        </p:scale>
        <p:origin x="1710" y="5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commentAuthors" Target="commentAuthors.xml"/><Relationship Id="rId47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presProps" Target="presProps.xml"/><Relationship Id="rId48" Type="http://schemas.microsoft.com/office/2018/10/relationships/authors" Target="author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tableStyles" Target="tableStyles.xml"/><Relationship Id="rId20" Type="http://schemas.openxmlformats.org/officeDocument/2006/relationships/slide" Target="slides/slide11.xml"/><Relationship Id="rId41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34276795-DD3A-4E04-A730-AABA1DE747A2}"/>
    <pc:docChg chg="modSld">
      <pc:chgData name="Taylor Davis" userId="5c9e72a0-c39f-4aa1-9d7d-64125e78cbe6" providerId="ADAL" clId="{34276795-DD3A-4E04-A730-AABA1DE747A2}" dt="2025-07-03T16:36:19.005" v="48" actId="20577"/>
      <pc:docMkLst>
        <pc:docMk/>
      </pc:docMkLst>
      <pc:sldChg chg="modSp mod">
        <pc:chgData name="Taylor Davis" userId="5c9e72a0-c39f-4aa1-9d7d-64125e78cbe6" providerId="ADAL" clId="{34276795-DD3A-4E04-A730-AABA1DE747A2}" dt="2025-07-03T16:36:19.005" v="48" actId="20577"/>
        <pc:sldMkLst>
          <pc:docMk/>
          <pc:sldMk cId="263972108" sldId="549"/>
        </pc:sldMkLst>
        <pc:spChg chg="mod">
          <ac:chgData name="Taylor Davis" userId="5c9e72a0-c39f-4aa1-9d7d-64125e78cbe6" providerId="ADAL" clId="{34276795-DD3A-4E04-A730-AABA1DE747A2}" dt="2025-07-03T16:36:19.005" v="48" actId="20577"/>
          <ac:spMkLst>
            <pc:docMk/>
            <pc:sldMk cId="263972108" sldId="549"/>
            <ac:spMk id="12" creationId="{7C6371C7-344C-3C21-F253-96E09F12864E}"/>
          </ac:spMkLst>
        </pc:spChg>
      </pc:sldChg>
      <pc:sldChg chg="modSp mod">
        <pc:chgData name="Taylor Davis" userId="5c9e72a0-c39f-4aa1-9d7d-64125e78cbe6" providerId="ADAL" clId="{34276795-DD3A-4E04-A730-AABA1DE747A2}" dt="2025-07-03T16:36:03.700" v="21" actId="20577"/>
        <pc:sldMkLst>
          <pc:docMk/>
          <pc:sldMk cId="0" sldId="588"/>
        </pc:sldMkLst>
        <pc:spChg chg="mod">
          <ac:chgData name="Taylor Davis" userId="5c9e72a0-c39f-4aa1-9d7d-64125e78cbe6" providerId="ADAL" clId="{34276795-DD3A-4E04-A730-AABA1DE747A2}" dt="2025-07-03T16:36:03.700" v="21" actId="20577"/>
          <ac:spMkLst>
            <pc:docMk/>
            <pc:sldMk cId="0" sldId="588"/>
            <ac:spMk id="5" creationId="{00000000-0000-0000-0000-000000000000}"/>
          </ac:spMkLst>
        </pc:spChg>
      </pc:sldChg>
    </pc:docChg>
  </pc:docChgLst>
</pc:chgInfo>
</file>

<file path=ppt/comments/modernComment_7FE53189_F808901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F343A6A-56B7-4F37-A3B8-022669B3006F}" authorId="{02E2597A-94BE-EE4F-A6CE-E20FE57E2F9C}" created="2024-12-04T16:31:35.65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61310751" sldId="2145726857"/>
      <ac:spMk id="6" creationId="{2FF25A3A-C156-4EF4-AAF0-4C022A00A18A}"/>
      <ac:txMk cp="64" len="48">
        <ac:context len="461" hash="3602096054"/>
      </ac:txMk>
    </ac:txMkLst>
    <p188:pos x="7038813" y="749084"/>
    <p188:txBody>
      <a:bodyPr/>
      <a:lstStyle/>
      <a:p>
        <a:r>
          <a:rPr lang="en-US"/>
          <a:t>Added this</a:t>
        </a:r>
      </a:p>
    </p188:txBody>
  </p188:cm>
</p188:cmLst>
</file>

<file path=ppt/comments/modernComment_7FE53192_3C36F9F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2EC8C09-C53C-4C2E-B154-C4AFEC883543}" authorId="{66F9D3D0-34A3-8F09-07C8-70124CEFC9C1}" created="2024-12-06T22:26:01.707">
    <pc:sldMkLst xmlns:pc="http://schemas.microsoft.com/office/powerpoint/2013/main/command">
      <pc:docMk/>
      <pc:sldMk cId="1010235892" sldId="2145726866"/>
    </pc:sldMkLst>
    <p188:txBody>
      <a:bodyPr/>
      <a:lstStyle/>
      <a:p>
        <a:r>
          <a:rPr lang="en-US"/>
          <a:t>Updated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F1B84F-4F37-4E4B-B28C-05C8DFC9475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911CD98-B2F6-4E17-9C61-BB702C3250BF}">
      <dgm:prSet/>
      <dgm:spPr/>
      <dgm:t>
        <a:bodyPr/>
        <a:lstStyle/>
        <a:p>
          <a:r>
            <a:rPr lang="en-US"/>
            <a:t>Locally based sales rep with strong community ties</a:t>
          </a:r>
        </a:p>
      </dgm:t>
    </dgm:pt>
    <dgm:pt modelId="{1B3485FF-7759-40EC-AD38-B4C3F252244B}" type="parTrans" cxnId="{A168C851-557D-4049-B12D-0918348F3F6B}">
      <dgm:prSet/>
      <dgm:spPr/>
      <dgm:t>
        <a:bodyPr/>
        <a:lstStyle/>
        <a:p>
          <a:endParaRPr lang="en-US"/>
        </a:p>
      </dgm:t>
    </dgm:pt>
    <dgm:pt modelId="{9180CA49-E8E8-4099-ADFF-9A61D44E83A0}" type="sibTrans" cxnId="{A168C851-557D-4049-B12D-0918348F3F6B}">
      <dgm:prSet/>
      <dgm:spPr/>
      <dgm:t>
        <a:bodyPr/>
        <a:lstStyle/>
        <a:p>
          <a:endParaRPr lang="en-US"/>
        </a:p>
      </dgm:t>
    </dgm:pt>
    <dgm:pt modelId="{9AFA7D91-6390-4F95-BF06-02D171762A63}">
      <dgm:prSet/>
      <dgm:spPr/>
      <dgm:t>
        <a:bodyPr/>
        <a:lstStyle/>
        <a:p>
          <a:r>
            <a:rPr lang="en-US"/>
            <a:t>Collaboration with DTE provider partners to identify strategic employers for early adoption and sales</a:t>
          </a:r>
        </a:p>
      </dgm:t>
    </dgm:pt>
    <dgm:pt modelId="{D0587002-3B85-493B-96BA-C0B5C3BC8362}" type="parTrans" cxnId="{8425CA16-C12A-4854-A8A6-A903ECA909CC}">
      <dgm:prSet/>
      <dgm:spPr/>
      <dgm:t>
        <a:bodyPr/>
        <a:lstStyle/>
        <a:p>
          <a:endParaRPr lang="en-US"/>
        </a:p>
      </dgm:t>
    </dgm:pt>
    <dgm:pt modelId="{0B994676-137E-4272-9E37-A6B069477E49}" type="sibTrans" cxnId="{8425CA16-C12A-4854-A8A6-A903ECA909CC}">
      <dgm:prSet/>
      <dgm:spPr/>
      <dgm:t>
        <a:bodyPr/>
        <a:lstStyle/>
        <a:p>
          <a:endParaRPr lang="en-US"/>
        </a:p>
      </dgm:t>
    </dgm:pt>
    <dgm:pt modelId="{9D9C157A-8184-4810-813C-F9ABE512F84B}">
      <dgm:prSet/>
      <dgm:spPr/>
      <dgm:t>
        <a:bodyPr/>
        <a:lstStyle/>
        <a:p>
          <a:r>
            <a:rPr lang="en-US"/>
            <a:t>Work with select broker distribution partners with aligned incentives and goals</a:t>
          </a:r>
        </a:p>
      </dgm:t>
    </dgm:pt>
    <dgm:pt modelId="{D8EDC1F2-E417-46FD-8716-E1D397B83704}" type="parTrans" cxnId="{D6C9B23D-AA21-442F-A1F4-60E86C0DFD38}">
      <dgm:prSet/>
      <dgm:spPr/>
      <dgm:t>
        <a:bodyPr/>
        <a:lstStyle/>
        <a:p>
          <a:endParaRPr lang="en-US"/>
        </a:p>
      </dgm:t>
    </dgm:pt>
    <dgm:pt modelId="{A9D49BD5-FFD1-45FF-B858-025048928466}" type="sibTrans" cxnId="{D6C9B23D-AA21-442F-A1F4-60E86C0DFD38}">
      <dgm:prSet/>
      <dgm:spPr/>
      <dgm:t>
        <a:bodyPr/>
        <a:lstStyle/>
        <a:p>
          <a:endParaRPr lang="en-US"/>
        </a:p>
      </dgm:t>
    </dgm:pt>
    <dgm:pt modelId="{39D9786D-012C-4B3E-84F3-BFD2C13FD7FC}">
      <dgm:prSet/>
      <dgm:spPr/>
      <dgm:t>
        <a:bodyPr/>
        <a:lstStyle/>
        <a:p>
          <a:r>
            <a:rPr lang="en-US"/>
            <a:t>Pipeline reporting and collaboration with our DTE provider partners</a:t>
          </a:r>
        </a:p>
      </dgm:t>
    </dgm:pt>
    <dgm:pt modelId="{C689F240-B9AE-4A72-BADB-436944BA27AA}" type="parTrans" cxnId="{9F11DF62-E12D-48E8-9AF7-8969B05FD323}">
      <dgm:prSet/>
      <dgm:spPr/>
      <dgm:t>
        <a:bodyPr/>
        <a:lstStyle/>
        <a:p>
          <a:endParaRPr lang="en-US"/>
        </a:p>
      </dgm:t>
    </dgm:pt>
    <dgm:pt modelId="{0FD7031B-D881-49AA-97BB-5ACDC9BF069B}" type="sibTrans" cxnId="{9F11DF62-E12D-48E8-9AF7-8969B05FD323}">
      <dgm:prSet/>
      <dgm:spPr/>
      <dgm:t>
        <a:bodyPr/>
        <a:lstStyle/>
        <a:p>
          <a:endParaRPr lang="en-US"/>
        </a:p>
      </dgm:t>
    </dgm:pt>
    <dgm:pt modelId="{B99A3672-DF6D-4974-8FC9-C3A40F7EE8D6}">
      <dgm:prSet/>
      <dgm:spPr/>
      <dgm:t>
        <a:bodyPr/>
        <a:lstStyle/>
        <a:p>
          <a:r>
            <a:rPr lang="en-US"/>
            <a:t>Marketing and promotion of the new option in the community</a:t>
          </a:r>
        </a:p>
      </dgm:t>
    </dgm:pt>
    <dgm:pt modelId="{F021CB03-DC97-4F5D-A6E0-B31CA8867184}" type="parTrans" cxnId="{BA63E6F6-73E3-400D-860F-4F734F4C4B3F}">
      <dgm:prSet/>
      <dgm:spPr/>
      <dgm:t>
        <a:bodyPr/>
        <a:lstStyle/>
        <a:p>
          <a:endParaRPr lang="en-US"/>
        </a:p>
      </dgm:t>
    </dgm:pt>
    <dgm:pt modelId="{FF3C2DEC-F562-4F34-AE34-A164E841B7EF}" type="sibTrans" cxnId="{BA63E6F6-73E3-400D-860F-4F734F4C4B3F}">
      <dgm:prSet/>
      <dgm:spPr/>
      <dgm:t>
        <a:bodyPr/>
        <a:lstStyle/>
        <a:p>
          <a:endParaRPr lang="en-US"/>
        </a:p>
      </dgm:t>
    </dgm:pt>
    <dgm:pt modelId="{37E61AA2-39C5-4D3B-A37D-5BFF2E9B8AED}" type="pres">
      <dgm:prSet presAssocID="{A1F1B84F-4F37-4E4B-B28C-05C8DFC94756}" presName="root" presStyleCnt="0">
        <dgm:presLayoutVars>
          <dgm:dir/>
          <dgm:resizeHandles val="exact"/>
        </dgm:presLayoutVars>
      </dgm:prSet>
      <dgm:spPr/>
    </dgm:pt>
    <dgm:pt modelId="{DFD5F05F-A43A-4652-80DD-25D35540632C}" type="pres">
      <dgm:prSet presAssocID="{0911CD98-B2F6-4E17-9C61-BB702C3250BF}" presName="compNode" presStyleCnt="0"/>
      <dgm:spPr/>
    </dgm:pt>
    <dgm:pt modelId="{EF2B0188-8507-44E9-B757-7CDCC1B0E1A1}" type="pres">
      <dgm:prSet presAssocID="{0911CD98-B2F6-4E17-9C61-BB702C3250BF}" presName="bgRect" presStyleLbl="bgShp" presStyleIdx="0" presStyleCnt="5"/>
      <dgm:spPr>
        <a:solidFill>
          <a:srgbClr val="00539F"/>
        </a:solidFill>
      </dgm:spPr>
    </dgm:pt>
    <dgm:pt modelId="{62DBE401-C7C8-4CFE-9E6C-C1AF672BE62E}" type="pres">
      <dgm:prSet presAssocID="{0911CD98-B2F6-4E17-9C61-BB702C3250B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 with solid fill"/>
        </a:ext>
      </dgm:extLst>
    </dgm:pt>
    <dgm:pt modelId="{5865C594-3822-4E5D-A8F0-237AFF390341}" type="pres">
      <dgm:prSet presAssocID="{0911CD98-B2F6-4E17-9C61-BB702C3250BF}" presName="spaceRect" presStyleCnt="0"/>
      <dgm:spPr/>
    </dgm:pt>
    <dgm:pt modelId="{4CB68EC3-6DDF-4EA3-93EC-B1D00317444B}" type="pres">
      <dgm:prSet presAssocID="{0911CD98-B2F6-4E17-9C61-BB702C3250BF}" presName="parTx" presStyleLbl="revTx" presStyleIdx="0" presStyleCnt="5">
        <dgm:presLayoutVars>
          <dgm:chMax val="0"/>
          <dgm:chPref val="0"/>
        </dgm:presLayoutVars>
      </dgm:prSet>
      <dgm:spPr/>
    </dgm:pt>
    <dgm:pt modelId="{8F49C51A-DAE6-4363-9FDF-3E95B30C7DB1}" type="pres">
      <dgm:prSet presAssocID="{9180CA49-E8E8-4099-ADFF-9A61D44E83A0}" presName="sibTrans" presStyleCnt="0"/>
      <dgm:spPr/>
    </dgm:pt>
    <dgm:pt modelId="{8EF2CCDE-7F5C-4F5F-B2FA-43FDCA78B104}" type="pres">
      <dgm:prSet presAssocID="{9AFA7D91-6390-4F95-BF06-02D171762A63}" presName="compNode" presStyleCnt="0"/>
      <dgm:spPr/>
    </dgm:pt>
    <dgm:pt modelId="{B3E1CF03-EDE1-471D-890C-AA2901FB45D9}" type="pres">
      <dgm:prSet presAssocID="{9AFA7D91-6390-4F95-BF06-02D171762A63}" presName="bgRect" presStyleLbl="bgShp" presStyleIdx="1" presStyleCnt="5"/>
      <dgm:spPr>
        <a:solidFill>
          <a:srgbClr val="00539F"/>
        </a:solidFill>
      </dgm:spPr>
    </dgm:pt>
    <dgm:pt modelId="{ECC08DA8-E403-48CD-BD4C-54248151AF43}" type="pres">
      <dgm:prSet presAssocID="{9AFA7D91-6390-4F95-BF06-02D171762A6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FE4C47F7-8462-46EB-8C62-1EA1F9B6F345}" type="pres">
      <dgm:prSet presAssocID="{9AFA7D91-6390-4F95-BF06-02D171762A63}" presName="spaceRect" presStyleCnt="0"/>
      <dgm:spPr/>
    </dgm:pt>
    <dgm:pt modelId="{29DB6DFD-5EF2-4FE9-B832-B73DBBA6C818}" type="pres">
      <dgm:prSet presAssocID="{9AFA7D91-6390-4F95-BF06-02D171762A63}" presName="parTx" presStyleLbl="revTx" presStyleIdx="1" presStyleCnt="5">
        <dgm:presLayoutVars>
          <dgm:chMax val="0"/>
          <dgm:chPref val="0"/>
        </dgm:presLayoutVars>
      </dgm:prSet>
      <dgm:spPr/>
    </dgm:pt>
    <dgm:pt modelId="{BBD30813-D29A-4BFF-871C-E33ABBA55401}" type="pres">
      <dgm:prSet presAssocID="{0B994676-137E-4272-9E37-A6B069477E49}" presName="sibTrans" presStyleCnt="0"/>
      <dgm:spPr/>
    </dgm:pt>
    <dgm:pt modelId="{94B5DC3D-A2E9-423D-897A-CA8E16E3511B}" type="pres">
      <dgm:prSet presAssocID="{9D9C157A-8184-4810-813C-F9ABE512F84B}" presName="compNode" presStyleCnt="0"/>
      <dgm:spPr/>
    </dgm:pt>
    <dgm:pt modelId="{495539A5-77BE-4439-9E54-31CB6AC437BE}" type="pres">
      <dgm:prSet presAssocID="{9D9C157A-8184-4810-813C-F9ABE512F84B}" presName="bgRect" presStyleLbl="bgShp" presStyleIdx="2" presStyleCnt="5"/>
      <dgm:spPr>
        <a:solidFill>
          <a:srgbClr val="00539F"/>
        </a:solidFill>
      </dgm:spPr>
    </dgm:pt>
    <dgm:pt modelId="{66BBB871-A6BE-4530-8850-268C29376138}" type="pres">
      <dgm:prSet presAssocID="{9D9C157A-8184-4810-813C-F9ABE512F84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09342166-EBA1-4B27-8ACE-D6FAC2A4DB0C}" type="pres">
      <dgm:prSet presAssocID="{9D9C157A-8184-4810-813C-F9ABE512F84B}" presName="spaceRect" presStyleCnt="0"/>
      <dgm:spPr/>
    </dgm:pt>
    <dgm:pt modelId="{85678566-6F19-4FD8-B582-931B4C3F49E3}" type="pres">
      <dgm:prSet presAssocID="{9D9C157A-8184-4810-813C-F9ABE512F84B}" presName="parTx" presStyleLbl="revTx" presStyleIdx="2" presStyleCnt="5">
        <dgm:presLayoutVars>
          <dgm:chMax val="0"/>
          <dgm:chPref val="0"/>
        </dgm:presLayoutVars>
      </dgm:prSet>
      <dgm:spPr/>
    </dgm:pt>
    <dgm:pt modelId="{44ECB50D-A07B-4D5E-844D-7D32E84393B1}" type="pres">
      <dgm:prSet presAssocID="{A9D49BD5-FFD1-45FF-B858-025048928466}" presName="sibTrans" presStyleCnt="0"/>
      <dgm:spPr/>
    </dgm:pt>
    <dgm:pt modelId="{CE6CF16D-32CC-42ED-9AB1-8FA8B428B507}" type="pres">
      <dgm:prSet presAssocID="{39D9786D-012C-4B3E-84F3-BFD2C13FD7FC}" presName="compNode" presStyleCnt="0"/>
      <dgm:spPr/>
    </dgm:pt>
    <dgm:pt modelId="{98428F15-F0D5-4130-9147-37C3DDCA1DC9}" type="pres">
      <dgm:prSet presAssocID="{39D9786D-012C-4B3E-84F3-BFD2C13FD7FC}" presName="bgRect" presStyleLbl="bgShp" presStyleIdx="3" presStyleCnt="5"/>
      <dgm:spPr>
        <a:solidFill>
          <a:srgbClr val="00539F"/>
        </a:solidFill>
      </dgm:spPr>
    </dgm:pt>
    <dgm:pt modelId="{317B8A92-F6D8-485E-BFCD-F23A414CD080}" type="pres">
      <dgm:prSet presAssocID="{39D9786D-012C-4B3E-84F3-BFD2C13FD7F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 with solid fill"/>
        </a:ext>
      </dgm:extLst>
    </dgm:pt>
    <dgm:pt modelId="{D67C9A0B-8E41-46E6-8087-A85826FA64FA}" type="pres">
      <dgm:prSet presAssocID="{39D9786D-012C-4B3E-84F3-BFD2C13FD7FC}" presName="spaceRect" presStyleCnt="0"/>
      <dgm:spPr/>
    </dgm:pt>
    <dgm:pt modelId="{ECF200B6-4CF1-49FA-82CB-D36753C29C94}" type="pres">
      <dgm:prSet presAssocID="{39D9786D-012C-4B3E-84F3-BFD2C13FD7FC}" presName="parTx" presStyleLbl="revTx" presStyleIdx="3" presStyleCnt="5">
        <dgm:presLayoutVars>
          <dgm:chMax val="0"/>
          <dgm:chPref val="0"/>
        </dgm:presLayoutVars>
      </dgm:prSet>
      <dgm:spPr/>
    </dgm:pt>
    <dgm:pt modelId="{D6C45ADB-0B0E-41AD-966C-A24E2BDD5A10}" type="pres">
      <dgm:prSet presAssocID="{0FD7031B-D881-49AA-97BB-5ACDC9BF069B}" presName="sibTrans" presStyleCnt="0"/>
      <dgm:spPr/>
    </dgm:pt>
    <dgm:pt modelId="{2A54FCFA-8C28-4B8F-83AC-553D4CE8145D}" type="pres">
      <dgm:prSet presAssocID="{B99A3672-DF6D-4974-8FC9-C3A40F7EE8D6}" presName="compNode" presStyleCnt="0"/>
      <dgm:spPr/>
    </dgm:pt>
    <dgm:pt modelId="{7566ED39-D6F5-4DF5-8A39-A79490273A0B}" type="pres">
      <dgm:prSet presAssocID="{B99A3672-DF6D-4974-8FC9-C3A40F7EE8D6}" presName="bgRect" presStyleLbl="bgShp" presStyleIdx="4" presStyleCnt="5"/>
      <dgm:spPr>
        <a:solidFill>
          <a:srgbClr val="00539F"/>
        </a:solidFill>
      </dgm:spPr>
    </dgm:pt>
    <dgm:pt modelId="{B3F6EF59-567A-4333-BF88-50EE8E8487A2}" type="pres">
      <dgm:prSet presAssocID="{B99A3672-DF6D-4974-8FC9-C3A40F7EE8D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C07678B5-F1A8-408B-99D7-F5DF97732B8E}" type="pres">
      <dgm:prSet presAssocID="{B99A3672-DF6D-4974-8FC9-C3A40F7EE8D6}" presName="spaceRect" presStyleCnt="0"/>
      <dgm:spPr/>
    </dgm:pt>
    <dgm:pt modelId="{AEFC0EFB-BD3D-4AF8-8A4E-66BB21DDE307}" type="pres">
      <dgm:prSet presAssocID="{B99A3672-DF6D-4974-8FC9-C3A40F7EE8D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984370F-FCB1-497C-85E7-CE8CDEE5CE72}" type="presOf" srcId="{0911CD98-B2F6-4E17-9C61-BB702C3250BF}" destId="{4CB68EC3-6DDF-4EA3-93EC-B1D00317444B}" srcOrd="0" destOrd="0" presId="urn:microsoft.com/office/officeart/2018/2/layout/IconVerticalSolidList"/>
    <dgm:cxn modelId="{8425CA16-C12A-4854-A8A6-A903ECA909CC}" srcId="{A1F1B84F-4F37-4E4B-B28C-05C8DFC94756}" destId="{9AFA7D91-6390-4F95-BF06-02D171762A63}" srcOrd="1" destOrd="0" parTransId="{D0587002-3B85-493B-96BA-C0B5C3BC8362}" sibTransId="{0B994676-137E-4272-9E37-A6B069477E49}"/>
    <dgm:cxn modelId="{0E351628-9811-4200-BF32-763ECC730587}" type="presOf" srcId="{A1F1B84F-4F37-4E4B-B28C-05C8DFC94756}" destId="{37E61AA2-39C5-4D3B-A37D-5BFF2E9B8AED}" srcOrd="0" destOrd="0" presId="urn:microsoft.com/office/officeart/2018/2/layout/IconVerticalSolidList"/>
    <dgm:cxn modelId="{D6C9B23D-AA21-442F-A1F4-60E86C0DFD38}" srcId="{A1F1B84F-4F37-4E4B-B28C-05C8DFC94756}" destId="{9D9C157A-8184-4810-813C-F9ABE512F84B}" srcOrd="2" destOrd="0" parTransId="{D8EDC1F2-E417-46FD-8716-E1D397B83704}" sibTransId="{A9D49BD5-FFD1-45FF-B858-025048928466}"/>
    <dgm:cxn modelId="{7673B861-15F1-4DFB-91C8-F9338D4E2FD3}" type="presOf" srcId="{9AFA7D91-6390-4F95-BF06-02D171762A63}" destId="{29DB6DFD-5EF2-4FE9-B832-B73DBBA6C818}" srcOrd="0" destOrd="0" presId="urn:microsoft.com/office/officeart/2018/2/layout/IconVerticalSolidList"/>
    <dgm:cxn modelId="{9F11DF62-E12D-48E8-9AF7-8969B05FD323}" srcId="{A1F1B84F-4F37-4E4B-B28C-05C8DFC94756}" destId="{39D9786D-012C-4B3E-84F3-BFD2C13FD7FC}" srcOrd="3" destOrd="0" parTransId="{C689F240-B9AE-4A72-BADB-436944BA27AA}" sibTransId="{0FD7031B-D881-49AA-97BB-5ACDC9BF069B}"/>
    <dgm:cxn modelId="{A168C851-557D-4049-B12D-0918348F3F6B}" srcId="{A1F1B84F-4F37-4E4B-B28C-05C8DFC94756}" destId="{0911CD98-B2F6-4E17-9C61-BB702C3250BF}" srcOrd="0" destOrd="0" parTransId="{1B3485FF-7759-40EC-AD38-B4C3F252244B}" sibTransId="{9180CA49-E8E8-4099-ADFF-9A61D44E83A0}"/>
    <dgm:cxn modelId="{6C0ED558-1C36-4942-87C9-E5CDEBD5215A}" type="presOf" srcId="{B99A3672-DF6D-4974-8FC9-C3A40F7EE8D6}" destId="{AEFC0EFB-BD3D-4AF8-8A4E-66BB21DDE307}" srcOrd="0" destOrd="0" presId="urn:microsoft.com/office/officeart/2018/2/layout/IconVerticalSolidList"/>
    <dgm:cxn modelId="{907FDB82-6D78-4B5B-B8D5-FBD143D2D9B7}" type="presOf" srcId="{9D9C157A-8184-4810-813C-F9ABE512F84B}" destId="{85678566-6F19-4FD8-B582-931B4C3F49E3}" srcOrd="0" destOrd="0" presId="urn:microsoft.com/office/officeart/2018/2/layout/IconVerticalSolidList"/>
    <dgm:cxn modelId="{A6F3D9AA-9AE5-4F50-98F3-131244F0904B}" type="presOf" srcId="{39D9786D-012C-4B3E-84F3-BFD2C13FD7FC}" destId="{ECF200B6-4CF1-49FA-82CB-D36753C29C94}" srcOrd="0" destOrd="0" presId="urn:microsoft.com/office/officeart/2018/2/layout/IconVerticalSolidList"/>
    <dgm:cxn modelId="{BA63E6F6-73E3-400D-860F-4F734F4C4B3F}" srcId="{A1F1B84F-4F37-4E4B-B28C-05C8DFC94756}" destId="{B99A3672-DF6D-4974-8FC9-C3A40F7EE8D6}" srcOrd="4" destOrd="0" parTransId="{F021CB03-DC97-4F5D-A6E0-B31CA8867184}" sibTransId="{FF3C2DEC-F562-4F34-AE34-A164E841B7EF}"/>
    <dgm:cxn modelId="{842AB080-082E-4C17-94CA-7742D671B3ED}" type="presParOf" srcId="{37E61AA2-39C5-4D3B-A37D-5BFF2E9B8AED}" destId="{DFD5F05F-A43A-4652-80DD-25D35540632C}" srcOrd="0" destOrd="0" presId="urn:microsoft.com/office/officeart/2018/2/layout/IconVerticalSolidList"/>
    <dgm:cxn modelId="{6EF39C1D-FAFD-4A04-A11A-1030AC4CFC8B}" type="presParOf" srcId="{DFD5F05F-A43A-4652-80DD-25D35540632C}" destId="{EF2B0188-8507-44E9-B757-7CDCC1B0E1A1}" srcOrd="0" destOrd="0" presId="urn:microsoft.com/office/officeart/2018/2/layout/IconVerticalSolidList"/>
    <dgm:cxn modelId="{6D810C82-4D92-4389-B5AA-752860BBE629}" type="presParOf" srcId="{DFD5F05F-A43A-4652-80DD-25D35540632C}" destId="{62DBE401-C7C8-4CFE-9E6C-C1AF672BE62E}" srcOrd="1" destOrd="0" presId="urn:microsoft.com/office/officeart/2018/2/layout/IconVerticalSolidList"/>
    <dgm:cxn modelId="{19579CB1-0E46-435D-B65A-526C3672873F}" type="presParOf" srcId="{DFD5F05F-A43A-4652-80DD-25D35540632C}" destId="{5865C594-3822-4E5D-A8F0-237AFF390341}" srcOrd="2" destOrd="0" presId="urn:microsoft.com/office/officeart/2018/2/layout/IconVerticalSolidList"/>
    <dgm:cxn modelId="{F4A6F0DC-71D2-4A28-8F71-A32E7CC21BE4}" type="presParOf" srcId="{DFD5F05F-A43A-4652-80DD-25D35540632C}" destId="{4CB68EC3-6DDF-4EA3-93EC-B1D00317444B}" srcOrd="3" destOrd="0" presId="urn:microsoft.com/office/officeart/2018/2/layout/IconVerticalSolidList"/>
    <dgm:cxn modelId="{7298B435-A464-40AF-81C1-277811F934A6}" type="presParOf" srcId="{37E61AA2-39C5-4D3B-A37D-5BFF2E9B8AED}" destId="{8F49C51A-DAE6-4363-9FDF-3E95B30C7DB1}" srcOrd="1" destOrd="0" presId="urn:microsoft.com/office/officeart/2018/2/layout/IconVerticalSolidList"/>
    <dgm:cxn modelId="{80208897-E320-4A70-A0C1-2D462611E667}" type="presParOf" srcId="{37E61AA2-39C5-4D3B-A37D-5BFF2E9B8AED}" destId="{8EF2CCDE-7F5C-4F5F-B2FA-43FDCA78B104}" srcOrd="2" destOrd="0" presId="urn:microsoft.com/office/officeart/2018/2/layout/IconVerticalSolidList"/>
    <dgm:cxn modelId="{8631143E-C593-472F-A2DF-22ED3A77E9C2}" type="presParOf" srcId="{8EF2CCDE-7F5C-4F5F-B2FA-43FDCA78B104}" destId="{B3E1CF03-EDE1-471D-890C-AA2901FB45D9}" srcOrd="0" destOrd="0" presId="urn:microsoft.com/office/officeart/2018/2/layout/IconVerticalSolidList"/>
    <dgm:cxn modelId="{10D11F1E-AA15-4AA8-8E34-D7EDB0314473}" type="presParOf" srcId="{8EF2CCDE-7F5C-4F5F-B2FA-43FDCA78B104}" destId="{ECC08DA8-E403-48CD-BD4C-54248151AF43}" srcOrd="1" destOrd="0" presId="urn:microsoft.com/office/officeart/2018/2/layout/IconVerticalSolidList"/>
    <dgm:cxn modelId="{906D20FF-7949-4A1E-8CD3-654B8ABBD8B6}" type="presParOf" srcId="{8EF2CCDE-7F5C-4F5F-B2FA-43FDCA78B104}" destId="{FE4C47F7-8462-46EB-8C62-1EA1F9B6F345}" srcOrd="2" destOrd="0" presId="urn:microsoft.com/office/officeart/2018/2/layout/IconVerticalSolidList"/>
    <dgm:cxn modelId="{C4FEB834-80E4-4B2F-AE68-1B09BC0B63E4}" type="presParOf" srcId="{8EF2CCDE-7F5C-4F5F-B2FA-43FDCA78B104}" destId="{29DB6DFD-5EF2-4FE9-B832-B73DBBA6C818}" srcOrd="3" destOrd="0" presId="urn:microsoft.com/office/officeart/2018/2/layout/IconVerticalSolidList"/>
    <dgm:cxn modelId="{37736754-2A48-4138-ABD2-2E7DB36CA19F}" type="presParOf" srcId="{37E61AA2-39C5-4D3B-A37D-5BFF2E9B8AED}" destId="{BBD30813-D29A-4BFF-871C-E33ABBA55401}" srcOrd="3" destOrd="0" presId="urn:microsoft.com/office/officeart/2018/2/layout/IconVerticalSolidList"/>
    <dgm:cxn modelId="{2ABD4FB5-C6B5-4317-ACF2-B5CDA0D2D5BD}" type="presParOf" srcId="{37E61AA2-39C5-4D3B-A37D-5BFF2E9B8AED}" destId="{94B5DC3D-A2E9-423D-897A-CA8E16E3511B}" srcOrd="4" destOrd="0" presId="urn:microsoft.com/office/officeart/2018/2/layout/IconVerticalSolidList"/>
    <dgm:cxn modelId="{5D74FEC5-780E-4A88-9479-49C0D344EB21}" type="presParOf" srcId="{94B5DC3D-A2E9-423D-897A-CA8E16E3511B}" destId="{495539A5-77BE-4439-9E54-31CB6AC437BE}" srcOrd="0" destOrd="0" presId="urn:microsoft.com/office/officeart/2018/2/layout/IconVerticalSolidList"/>
    <dgm:cxn modelId="{D99BB2F5-81E7-487E-81C0-21F85C306EA1}" type="presParOf" srcId="{94B5DC3D-A2E9-423D-897A-CA8E16E3511B}" destId="{66BBB871-A6BE-4530-8850-268C29376138}" srcOrd="1" destOrd="0" presId="urn:microsoft.com/office/officeart/2018/2/layout/IconVerticalSolidList"/>
    <dgm:cxn modelId="{8B962ACB-D181-409F-88AC-9E2B1F991553}" type="presParOf" srcId="{94B5DC3D-A2E9-423D-897A-CA8E16E3511B}" destId="{09342166-EBA1-4B27-8ACE-D6FAC2A4DB0C}" srcOrd="2" destOrd="0" presId="urn:microsoft.com/office/officeart/2018/2/layout/IconVerticalSolidList"/>
    <dgm:cxn modelId="{C553F894-B963-4961-A07F-A8686370A1B7}" type="presParOf" srcId="{94B5DC3D-A2E9-423D-897A-CA8E16E3511B}" destId="{85678566-6F19-4FD8-B582-931B4C3F49E3}" srcOrd="3" destOrd="0" presId="urn:microsoft.com/office/officeart/2018/2/layout/IconVerticalSolidList"/>
    <dgm:cxn modelId="{5B7F9F0D-3160-4A91-87B9-34FD02B96799}" type="presParOf" srcId="{37E61AA2-39C5-4D3B-A37D-5BFF2E9B8AED}" destId="{44ECB50D-A07B-4D5E-844D-7D32E84393B1}" srcOrd="5" destOrd="0" presId="urn:microsoft.com/office/officeart/2018/2/layout/IconVerticalSolidList"/>
    <dgm:cxn modelId="{6ABCCA69-7FE2-4620-B149-176B6A2139E3}" type="presParOf" srcId="{37E61AA2-39C5-4D3B-A37D-5BFF2E9B8AED}" destId="{CE6CF16D-32CC-42ED-9AB1-8FA8B428B507}" srcOrd="6" destOrd="0" presId="urn:microsoft.com/office/officeart/2018/2/layout/IconVerticalSolidList"/>
    <dgm:cxn modelId="{1411B764-7C10-4824-81F9-5712E11B9478}" type="presParOf" srcId="{CE6CF16D-32CC-42ED-9AB1-8FA8B428B507}" destId="{98428F15-F0D5-4130-9147-37C3DDCA1DC9}" srcOrd="0" destOrd="0" presId="urn:microsoft.com/office/officeart/2018/2/layout/IconVerticalSolidList"/>
    <dgm:cxn modelId="{69CF457E-E251-47A1-A455-671F5086320B}" type="presParOf" srcId="{CE6CF16D-32CC-42ED-9AB1-8FA8B428B507}" destId="{317B8A92-F6D8-485E-BFCD-F23A414CD080}" srcOrd="1" destOrd="0" presId="urn:microsoft.com/office/officeart/2018/2/layout/IconVerticalSolidList"/>
    <dgm:cxn modelId="{E8FBD433-CB19-48B7-943E-4B7E5146EE63}" type="presParOf" srcId="{CE6CF16D-32CC-42ED-9AB1-8FA8B428B507}" destId="{D67C9A0B-8E41-46E6-8087-A85826FA64FA}" srcOrd="2" destOrd="0" presId="urn:microsoft.com/office/officeart/2018/2/layout/IconVerticalSolidList"/>
    <dgm:cxn modelId="{14639D21-D3D9-425C-9A7E-08E6E10AF458}" type="presParOf" srcId="{CE6CF16D-32CC-42ED-9AB1-8FA8B428B507}" destId="{ECF200B6-4CF1-49FA-82CB-D36753C29C94}" srcOrd="3" destOrd="0" presId="urn:microsoft.com/office/officeart/2018/2/layout/IconVerticalSolidList"/>
    <dgm:cxn modelId="{0A1FA13D-2846-47A2-8450-A2943D76228F}" type="presParOf" srcId="{37E61AA2-39C5-4D3B-A37D-5BFF2E9B8AED}" destId="{D6C45ADB-0B0E-41AD-966C-A24E2BDD5A10}" srcOrd="7" destOrd="0" presId="urn:microsoft.com/office/officeart/2018/2/layout/IconVerticalSolidList"/>
    <dgm:cxn modelId="{B1096B87-C599-42D7-8BC1-D3901BD2E7A7}" type="presParOf" srcId="{37E61AA2-39C5-4D3B-A37D-5BFF2E9B8AED}" destId="{2A54FCFA-8C28-4B8F-83AC-553D4CE8145D}" srcOrd="8" destOrd="0" presId="urn:microsoft.com/office/officeart/2018/2/layout/IconVerticalSolidList"/>
    <dgm:cxn modelId="{952352DE-697E-41A0-AA50-DA440E7D7B84}" type="presParOf" srcId="{2A54FCFA-8C28-4B8F-83AC-553D4CE8145D}" destId="{7566ED39-D6F5-4DF5-8A39-A79490273A0B}" srcOrd="0" destOrd="0" presId="urn:microsoft.com/office/officeart/2018/2/layout/IconVerticalSolidList"/>
    <dgm:cxn modelId="{3F91414F-7B45-4BE9-91C9-7DDDF27875CB}" type="presParOf" srcId="{2A54FCFA-8C28-4B8F-83AC-553D4CE8145D}" destId="{B3F6EF59-567A-4333-BF88-50EE8E8487A2}" srcOrd="1" destOrd="0" presId="urn:microsoft.com/office/officeart/2018/2/layout/IconVerticalSolidList"/>
    <dgm:cxn modelId="{589CE084-1CA3-4809-B2B9-4C3A6957C4E5}" type="presParOf" srcId="{2A54FCFA-8C28-4B8F-83AC-553D4CE8145D}" destId="{C07678B5-F1A8-408B-99D7-F5DF97732B8E}" srcOrd="2" destOrd="0" presId="urn:microsoft.com/office/officeart/2018/2/layout/IconVerticalSolidList"/>
    <dgm:cxn modelId="{4FAF5214-1D30-44F5-A655-91B4158F77D6}" type="presParOf" srcId="{2A54FCFA-8C28-4B8F-83AC-553D4CE8145D}" destId="{AEFC0EFB-BD3D-4AF8-8A4E-66BB21DDE30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2B0188-8507-44E9-B757-7CDCC1B0E1A1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BE401-C7C8-4CFE-9E6C-C1AF672BE62E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68EC3-6DDF-4EA3-93EC-B1D00317444B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Locally based sales rep with strong community ties</a:t>
          </a:r>
        </a:p>
      </dsp:txBody>
      <dsp:txXfrm>
        <a:off x="1074268" y="4366"/>
        <a:ext cx="5170996" cy="930102"/>
      </dsp:txXfrm>
    </dsp:sp>
    <dsp:sp modelId="{B3E1CF03-EDE1-471D-890C-AA2901FB45D9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08DA8-E403-48CD-BD4C-54248151AF43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B6DFD-5EF2-4FE9-B832-B73DBBA6C818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Collaboration with DTE provider partners to identify strategic employers for early adoption and sales</a:t>
          </a:r>
        </a:p>
      </dsp:txBody>
      <dsp:txXfrm>
        <a:off x="1074268" y="1166994"/>
        <a:ext cx="5170996" cy="930102"/>
      </dsp:txXfrm>
    </dsp:sp>
    <dsp:sp modelId="{495539A5-77BE-4439-9E54-31CB6AC437BE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BBB871-A6BE-4530-8850-268C29376138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678566-6F19-4FD8-B582-931B4C3F49E3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Work with select broker distribution partners with aligned incentives and goals</a:t>
          </a:r>
        </a:p>
      </dsp:txBody>
      <dsp:txXfrm>
        <a:off x="1074268" y="2329622"/>
        <a:ext cx="5170996" cy="930102"/>
      </dsp:txXfrm>
    </dsp:sp>
    <dsp:sp modelId="{98428F15-F0D5-4130-9147-37C3DDCA1DC9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7B8A92-F6D8-485E-BFCD-F23A414CD080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F200B6-4CF1-49FA-82CB-D36753C29C94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Pipeline reporting and collaboration with our DTE provider partners</a:t>
          </a:r>
        </a:p>
      </dsp:txBody>
      <dsp:txXfrm>
        <a:off x="1074268" y="3492250"/>
        <a:ext cx="5170996" cy="930102"/>
      </dsp:txXfrm>
    </dsp:sp>
    <dsp:sp modelId="{7566ED39-D6F5-4DF5-8A39-A79490273A0B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rgbClr val="00539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F6EF59-567A-4333-BF88-50EE8E8487A2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C0EFB-BD3D-4AF8-8A4E-66BB21DDE307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Marketing and promotion of the new option in the community</a:t>
          </a:r>
        </a:p>
      </dsp:txBody>
      <dsp:txXfrm>
        <a:off x="1074268" y="4654878"/>
        <a:ext cx="5170996" cy="930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7/3/2025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90F11E-B424-48C6-BD86-192B859FFD4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2241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Montserrat" panose="00000500000000000000" pitchFamily="2" charset="0"/>
              </a:rPr>
              <a:t>Replace with slide 1 of updates provided by Jan, but update design to match the rest of ppt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73F6DB-F15B-884B-AA15-B75C0F48D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0929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Montserrat" panose="00000500000000000000" pitchFamily="2" charset="0"/>
              </a:rPr>
              <a:t>Replace with slide 2 of updated ppt provided by Jan, but update to match rest of ppt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73F6DB-F15B-884B-AA15-B75C0F48D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2758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Montserrat" panose="00000500000000000000" pitchFamily="2" charset="0"/>
              </a:rPr>
              <a:t>Make necessary changes to match slide 4 of updated ppt provided by Jan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73F6DB-F15B-884B-AA15-B75C0F48DEC7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0662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63D2E-5F58-105C-7EEE-D8B4A2B80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6E703C-44B6-D6FB-7B2E-833F495D9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78385-2CC1-C186-E8ED-F22EB5BA1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7C823-FC3C-8434-5AC0-78EC4F34F7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4401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5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57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3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99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50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796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47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91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1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0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95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47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333A-D7F4-8BF6-7FE6-B245E061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D55F-2B6A-BC81-01A1-E169ABA4D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A2D5-089E-22AF-3D0B-4F19067E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94B4-59C2-ED48-02F2-59E034C4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1B42-85D1-521C-676B-AEF121AD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61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58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683-D972-023F-219D-7BB60D67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06F-33B9-F6B7-D0B0-58368CF72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E4-3B21-B2C2-F89D-019DFA1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B1F-218C-4099-354A-77985CA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B7BA-EB30-276C-F6A4-57FBE4B1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09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683-51F3-237C-28D3-307EE44F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47C5-37A5-7576-DF3F-A03DBF5DC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1057-0101-3CB8-D158-2EAE2463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A133-63CE-4F37-E482-EA1EECC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3D78-6D9B-64CF-B7D6-AEEA3A6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38F0-00C1-C0D4-F298-433BE1D1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716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A98D-65C1-1E26-EDD7-90B5F4C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BA72-820B-660B-EB15-EF77956B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EE162-1C58-9826-D133-1AD84A30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50119-C4BF-8D07-DED7-073F40FB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C018-AAE1-01C5-C4E7-1C69A018E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6F45-ECE2-F081-F98C-EECF3EBF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9771-6EC0-7828-5F14-219FFD62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BBDB-D016-3519-189F-C3EF7A0A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5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90F4-6BF3-9A05-11B0-CFDC94F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2DC46-DA37-DBBE-5107-914E8DF1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90FD-81A9-E6FB-27D3-24713EF1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6EA0-D473-AC28-DECA-DEAEF65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7604C-AB91-78A2-2DA4-6D1088A3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361-F6B7-FAAB-4738-E0ADE5E1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D6D1-624B-8B3C-90BE-2C90B19A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574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8A9-03E2-CC5E-A121-E5984E9A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174-A575-A915-92B0-207B93D1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26E49-3074-8C94-B0CC-8EFA1B82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9E3CC-7C4A-D7EC-E46C-5A842B8A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30E3-0B96-933C-829B-04B30C4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57A92-1BAA-DAA4-E90F-EDFBED3D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84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07BE-FE86-FD17-6855-F4BBD30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FE0AE-B8E3-6453-74A9-2CCBC448E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FAC6-51C3-1D27-7E41-47878F27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8224-E0A8-36C0-DDF7-27FA70A4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AEAA-95D8-5BA2-2F25-047DDCC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86F25-6C70-7C4B-DFD4-192375D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519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B00-617F-6CDB-FC05-71E366A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BB096-36EC-BC27-3A10-9065A2B1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6E8-F910-F328-584A-CA901BB3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A474-10C6-034E-0576-8B73F4B7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70E-6DC2-4298-EEB8-A2AC6AD7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269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DBE0-CED9-F7B0-5642-5731DA24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7D136-9913-226C-7C14-436B6CF9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D2C8-E528-BF1F-C711-971E74B5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753D-C084-2ADF-0E12-AA92D30C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2D8B-8E1E-F47C-7C0F-AEDE48C2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90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784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817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6867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814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187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283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94096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6061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922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4009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86578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29384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185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16320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3042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208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87412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3441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3006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56517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1051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17615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84381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19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046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tags" Target="../tags/tag4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7/3/2025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29313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8BEE0-7577-10C8-2F70-A988114D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88FE-EDC7-60BB-7A69-AF9890EA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3C9-054B-7BB4-0692-08B96E994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anose="000005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1265540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3563936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8/10/relationships/comments" Target="../comments/modernComment_7FE53189_F808901F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0.emf"/><Relationship Id="rId5" Type="http://schemas.openxmlformats.org/officeDocument/2006/relationships/image" Target="../media/image39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E53192_3C36F9F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data.cms.gov/provider-compliance/cost-report/hospital-provider-cost-report/data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physiciansadvocacyinstitute.org/Portals/0/assets/docs/PAI-Research/PAI-Avalere%20Physician%20Employment%20Trends%20Study%202019-2023%20Final.pdf?ver=uGHF46u1GSeZgYXMKFyYvw%3d%3d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9.svg"/><Relationship Id="rId11" Type="http://schemas.openxmlformats.org/officeDocument/2006/relationships/image" Target="../media/image10.pn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spc="243" dirty="0">
                <a:solidFill>
                  <a:srgbClr val="FFFFFF"/>
                </a:solidFill>
                <a:latin typeface="Montserrat"/>
                <a:ea typeface="Jost*"/>
              </a:rPr>
              <a:t>WHA DIRECT TO EMPLOYER PLAN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 Western Health Alliance State-Wide Health Plan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6" name="Object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2769" y="0"/>
            <a:ext cx="3866183" cy="6856286"/>
          </a:xfrm>
          <a:prstGeom prst="rect">
            <a:avLst/>
          </a:prstGeom>
        </p:spPr>
      </p:pic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7" cstate="print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1" y="759389"/>
            <a:ext cx="8455729" cy="5111065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592372" y="3693371"/>
            <a:ext cx="2053120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384431" y="457495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Meridian, MS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2976014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OneHealth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Plan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HEALTH PLANS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908" y="818337"/>
            <a:ext cx="3397612" cy="30439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40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</a:t>
            </a:r>
            <a:br>
              <a:rPr lang="en-US" sz="40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2800" dirty="0">
                <a:solidFill>
                  <a:srgbClr val="000B2E"/>
                </a:solidFill>
                <a:cs typeface="Arial" panose="020B0604020202020204" pitchFamily="34" charset="0"/>
              </a:rPr>
              <a:t>(DTE)</a:t>
            </a:r>
            <a:br>
              <a:rPr lang="en-US" sz="1600" dirty="0">
                <a:solidFill>
                  <a:srgbClr val="000B2E"/>
                </a:solidFill>
                <a:cs typeface="Arial" panose="020B0604020202020204" pitchFamily="34" charset="0"/>
              </a:rPr>
            </a:br>
            <a:br>
              <a:rPr lang="en-US" sz="1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78" y="1468132"/>
            <a:ext cx="6697847" cy="4660901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Pick the Name of the Health Plan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Determine the Fees Charged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Practice the Medicine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the Profits 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WE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 it Successful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grpSp>
        <p:nvGrpSpPr>
          <p:cNvPr id="7" name="Group 41">
            <a:extLst>
              <a:ext uri="{FF2B5EF4-FFF2-40B4-BE49-F238E27FC236}">
                <a16:creationId xmlns:a16="http://schemas.microsoft.com/office/drawing/2014/main" id="{C3A11C0D-6225-4F5F-9034-762253C251A2}"/>
              </a:ext>
            </a:extLst>
          </p:cNvPr>
          <p:cNvGrpSpPr/>
          <p:nvPr/>
        </p:nvGrpSpPr>
        <p:grpSpPr>
          <a:xfrm>
            <a:off x="4632939" y="1468132"/>
            <a:ext cx="640080" cy="4254692"/>
            <a:chOff x="5315974" y="943768"/>
            <a:chExt cx="640080" cy="4254692"/>
          </a:xfrm>
          <a:noFill/>
        </p:grpSpPr>
        <p:pic>
          <p:nvPicPr>
            <p:cNvPr id="8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D8A1C779-0B9F-4A67-8037-7D25A11FF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4558380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9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78B72E30-7B45-40B1-9302-CE9A3F3AD9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3678222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0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9D9240A2-869D-4166-9772-32124160B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2798065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1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E8C8DD14-AAF4-4762-B170-F052A3B22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1870916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2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C05F6E83-E756-4853-B3A8-49C6BE032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943768"/>
              <a:ext cx="640080" cy="640080"/>
            </a:xfrm>
            <a:prstGeom prst="rect">
              <a:avLst/>
            </a:prstGeom>
            <a:grpFill/>
          </p:spPr>
        </p:pic>
      </p:grpSp>
      <p:sp>
        <p:nvSpPr>
          <p:cNvPr id="13" name="TextBox 14">
            <a:extLst>
              <a:ext uri="{FF2B5EF4-FFF2-40B4-BE49-F238E27FC236}">
                <a16:creationId xmlns:a16="http://schemas.microsoft.com/office/drawing/2014/main" id="{B8E36735-A0E0-6123-117C-3DE9AA3B9518}"/>
              </a:ext>
            </a:extLst>
          </p:cNvPr>
          <p:cNvSpPr txBox="1"/>
          <p:nvPr/>
        </p:nvSpPr>
        <p:spPr>
          <a:xfrm>
            <a:off x="1148436" y="3085346"/>
            <a:ext cx="24786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000B2E"/>
                </a:solidFill>
                <a:cs typeface="Arial" panose="020B0604020202020204" pitchFamily="34" charset="0"/>
              </a:rPr>
              <a:t>Your</a:t>
            </a:r>
            <a:r>
              <a:rPr lang="en-US" sz="1800" b="1" dirty="0">
                <a:solidFill>
                  <a:srgbClr val="000B2E"/>
                </a:solidFill>
                <a:cs typeface="Arial" panose="020B0604020202020204" pitchFamily="34" charset="0"/>
              </a:rPr>
              <a:t> Health Plan Focused on a Direct Relationship with Self-Funded Employers in </a:t>
            </a:r>
            <a:r>
              <a:rPr lang="en-US" sz="1800" b="1" i="1" dirty="0">
                <a:solidFill>
                  <a:srgbClr val="000B2E"/>
                </a:solidFill>
                <a:cs typeface="Arial" panose="020B0604020202020204" pitchFamily="34" charset="0"/>
              </a:rPr>
              <a:t>Your</a:t>
            </a:r>
            <a:r>
              <a:rPr lang="en-US" sz="1800" b="1" dirty="0">
                <a:solidFill>
                  <a:srgbClr val="000B2E"/>
                </a:solidFill>
                <a:cs typeface="Arial" panose="020B0604020202020204" pitchFamily="34" charset="0"/>
              </a:rPr>
              <a:t> Market</a:t>
            </a:r>
            <a:endParaRPr lang="en-US" dirty="0"/>
          </a:p>
        </p:txBody>
      </p:sp>
      <p:pic>
        <p:nvPicPr>
          <p:cNvPr id="14" name="Content Placeholder 13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9646920" y="347472"/>
            <a:ext cx="1914384" cy="7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48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57" y="136525"/>
            <a:ext cx="11569498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 STRATEGY:</a:t>
            </a:r>
            <a:br>
              <a:rPr lang="en-US" sz="3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ONLY AVAILABLE TO </a:t>
            </a:r>
            <a:r>
              <a:rPr lang="en-US" sz="3200" b="1" i="1" dirty="0">
                <a:solidFill>
                  <a:srgbClr val="000B2E"/>
                </a:solidFill>
                <a:cs typeface="Arial" panose="020B0604020202020204" pitchFamily="34" charset="0"/>
              </a:rPr>
              <a:t>PREMIER</a:t>
            </a: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 HEALTH SYSTEMS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2859" y="1848935"/>
            <a:ext cx="6028455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STRONG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Brand Quality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EXTENSIVE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 Access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AFFORDABLE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Pricing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EXCELLENT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Care Quality  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182E78E4-84F7-ECC4-4085-D8F128942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63B286E7-A296-8685-AC6B-CA7B2EB60EBD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6" name="Content Placeholder 5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1508760" y="2834640"/>
            <a:ext cx="3154680" cy="128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461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4EE24-5D9D-EA07-9267-C2879100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CB7C4-DFB2-1FBB-7D93-126074390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462" y="202819"/>
            <a:ext cx="10515600" cy="1325563"/>
          </a:xfrm>
        </p:spPr>
        <p:txBody>
          <a:bodyPr/>
          <a:lstStyle/>
          <a:p>
            <a:r>
              <a:rPr lang="en-US" b="0" dirty="0"/>
              <a:t>COVERING OVER 95% OF COLORADO’S POPULATION</a:t>
            </a:r>
          </a:p>
        </p:txBody>
      </p:sp>
      <p:grpSp>
        <p:nvGrpSpPr>
          <p:cNvPr id="3" name="Group 28">
            <a:extLst>
              <a:ext uri="{FF2B5EF4-FFF2-40B4-BE49-F238E27FC236}">
                <a16:creationId xmlns:a16="http://schemas.microsoft.com/office/drawing/2014/main" id="{C43A1639-680A-6CE0-FFAE-BDF1D4DFE25D}"/>
              </a:ext>
            </a:extLst>
          </p:cNvPr>
          <p:cNvGrpSpPr/>
          <p:nvPr/>
        </p:nvGrpSpPr>
        <p:grpSpPr>
          <a:xfrm>
            <a:off x="315991" y="1915224"/>
            <a:ext cx="4179295" cy="3636786"/>
            <a:chOff x="1267778" y="2161521"/>
            <a:chExt cx="8731885" cy="4307840"/>
          </a:xfrm>
        </p:grpSpPr>
        <p:grpSp>
          <p:nvGrpSpPr>
            <p:cNvPr id="4" name="Group 29">
              <a:extLst>
                <a:ext uri="{FF2B5EF4-FFF2-40B4-BE49-F238E27FC236}">
                  <a16:creationId xmlns:a16="http://schemas.microsoft.com/office/drawing/2014/main" id="{68E6AFAA-E3A7-4599-501D-807B7055EA42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5" name="Freeform: Shape 72">
                <a:extLst>
                  <a:ext uri="{FF2B5EF4-FFF2-40B4-BE49-F238E27FC236}">
                    <a16:creationId xmlns:a16="http://schemas.microsoft.com/office/drawing/2014/main" id="{6BF0AC22-D94F-7633-AA94-8A482F87F6FF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" name="TextBox 73">
                <a:extLst>
                  <a:ext uri="{FF2B5EF4-FFF2-40B4-BE49-F238E27FC236}">
                    <a16:creationId xmlns:a16="http://schemas.microsoft.com/office/drawing/2014/main" id="{2E36C45E-2121-187B-69A5-FAC1BD33A733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30">
              <a:extLst>
                <a:ext uri="{FF2B5EF4-FFF2-40B4-BE49-F238E27FC236}">
                  <a16:creationId xmlns:a16="http://schemas.microsoft.com/office/drawing/2014/main" id="{7F3CA861-B9BF-DDE5-7967-D4729F729F92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8" name="Group 58">
                <a:extLst>
                  <a:ext uri="{FF2B5EF4-FFF2-40B4-BE49-F238E27FC236}">
                    <a16:creationId xmlns:a16="http://schemas.microsoft.com/office/drawing/2014/main" id="{649DC0F4-07B6-7974-CBD2-CCE8D82B9931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9" name="Freeform: Shape 62">
                  <a:extLst>
                    <a:ext uri="{FF2B5EF4-FFF2-40B4-BE49-F238E27FC236}">
                      <a16:creationId xmlns:a16="http://schemas.microsoft.com/office/drawing/2014/main" id="{4BF79D77-241D-C122-DCCF-B0954CC537B7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" name="TextBox 63">
                  <a:extLst>
                    <a:ext uri="{FF2B5EF4-FFF2-40B4-BE49-F238E27FC236}">
                      <a16:creationId xmlns:a16="http://schemas.microsoft.com/office/drawing/2014/main" id="{690A350D-E13B-28B7-CAB0-55CDB2E2F150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Group 52">
                <a:extLst>
                  <a:ext uri="{FF2B5EF4-FFF2-40B4-BE49-F238E27FC236}">
                    <a16:creationId xmlns:a16="http://schemas.microsoft.com/office/drawing/2014/main" id="{E635972D-3E8A-34F9-6C3E-FE21979D4BA7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12" name="Freeform: Shape 56">
                  <a:extLst>
                    <a:ext uri="{FF2B5EF4-FFF2-40B4-BE49-F238E27FC236}">
                      <a16:creationId xmlns:a16="http://schemas.microsoft.com/office/drawing/2014/main" id="{1764A96F-5322-1212-12C9-0BD13D80A69E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TextBox 57">
                  <a:extLst>
                    <a:ext uri="{FF2B5EF4-FFF2-40B4-BE49-F238E27FC236}">
                      <a16:creationId xmlns:a16="http://schemas.microsoft.com/office/drawing/2014/main" id="{E41FB2E4-9534-2849-3264-365055EFE405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" name="Group 46">
                <a:extLst>
                  <a:ext uri="{FF2B5EF4-FFF2-40B4-BE49-F238E27FC236}">
                    <a16:creationId xmlns:a16="http://schemas.microsoft.com/office/drawing/2014/main" id="{FF9419CC-CA7F-240E-7C97-535442F3C1AD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15" name="Freeform: Shape 50">
                  <a:extLst>
                    <a:ext uri="{FF2B5EF4-FFF2-40B4-BE49-F238E27FC236}">
                      <a16:creationId xmlns:a16="http://schemas.microsoft.com/office/drawing/2014/main" id="{766908E3-E9F6-2721-F279-35ACB40E35CC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6" name="TextBox 51">
                  <a:extLst>
                    <a:ext uri="{FF2B5EF4-FFF2-40B4-BE49-F238E27FC236}">
                      <a16:creationId xmlns:a16="http://schemas.microsoft.com/office/drawing/2014/main" id="{B7BBA303-7BCC-AF45-8632-34C4072D073B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7" name="Freeform: Shape 31">
              <a:extLst>
                <a:ext uri="{FF2B5EF4-FFF2-40B4-BE49-F238E27FC236}">
                  <a16:creationId xmlns:a16="http://schemas.microsoft.com/office/drawing/2014/main" id="{E116542C-7A34-CAFD-682D-47800D31BD78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8" name="Group 32">
              <a:extLst>
                <a:ext uri="{FF2B5EF4-FFF2-40B4-BE49-F238E27FC236}">
                  <a16:creationId xmlns:a16="http://schemas.microsoft.com/office/drawing/2014/main" id="{70193F5B-91B1-5C91-40F8-362C2A8202A8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9" name="Freeform: Shape 36">
                <a:extLst>
                  <a:ext uri="{FF2B5EF4-FFF2-40B4-BE49-F238E27FC236}">
                    <a16:creationId xmlns:a16="http://schemas.microsoft.com/office/drawing/2014/main" id="{30BF4D92-A52A-2ED3-407F-83EAC16066DC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0" name="Freeform: Shape 37">
                <a:extLst>
                  <a:ext uri="{FF2B5EF4-FFF2-40B4-BE49-F238E27FC236}">
                    <a16:creationId xmlns:a16="http://schemas.microsoft.com/office/drawing/2014/main" id="{962E85C4-6AEA-CB73-8BF0-D2EB8D75761E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Freeform: Shape 38">
                <a:extLst>
                  <a:ext uri="{FF2B5EF4-FFF2-40B4-BE49-F238E27FC236}">
                    <a16:creationId xmlns:a16="http://schemas.microsoft.com/office/drawing/2014/main" id="{55F5E388-03F0-3468-D6AB-7657AAA17685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2" name="Freeform: Shape 39">
                <a:extLst>
                  <a:ext uri="{FF2B5EF4-FFF2-40B4-BE49-F238E27FC236}">
                    <a16:creationId xmlns:a16="http://schemas.microsoft.com/office/drawing/2014/main" id="{B60A5657-71D8-F854-47F1-717B21701A65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3" name="Freeform: Shape 40">
                <a:extLst>
                  <a:ext uri="{FF2B5EF4-FFF2-40B4-BE49-F238E27FC236}">
                    <a16:creationId xmlns:a16="http://schemas.microsoft.com/office/drawing/2014/main" id="{127AB7CB-E4AF-F2B5-1488-AA1067D7183C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24" name="Freeform: Shape 33">
              <a:extLst>
                <a:ext uri="{FF2B5EF4-FFF2-40B4-BE49-F238E27FC236}">
                  <a16:creationId xmlns:a16="http://schemas.microsoft.com/office/drawing/2014/main" id="{96D4BB8A-41AF-D8FB-F00B-B80F7FD598F5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25" name="Freeform: Shape 34">
              <a:extLst>
                <a:ext uri="{FF2B5EF4-FFF2-40B4-BE49-F238E27FC236}">
                  <a16:creationId xmlns:a16="http://schemas.microsoft.com/office/drawing/2014/main" id="{BD6A3299-F364-2096-26BC-3DD92BEFAC76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27" name="TextBox 76">
            <a:extLst>
              <a:ext uri="{FF2B5EF4-FFF2-40B4-BE49-F238E27FC236}">
                <a16:creationId xmlns:a16="http://schemas.microsoft.com/office/drawing/2014/main" id="{BC707CC9-C1CC-2C2E-1987-7CDA11FB8809}"/>
              </a:ext>
            </a:extLst>
          </p:cNvPr>
          <p:cNvSpPr txBox="1"/>
          <p:nvPr/>
        </p:nvSpPr>
        <p:spPr>
          <a:xfrm>
            <a:off x="2326255" y="4909050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5,597K</a:t>
            </a:r>
          </a:p>
        </p:txBody>
      </p:sp>
      <p:sp>
        <p:nvSpPr>
          <p:cNvPr id="28" name="TextBox 77">
            <a:extLst>
              <a:ext uri="{FF2B5EF4-FFF2-40B4-BE49-F238E27FC236}">
                <a16:creationId xmlns:a16="http://schemas.microsoft.com/office/drawing/2014/main" id="{E45C3A50-7050-9DA7-B697-A08770388D0A}"/>
              </a:ext>
            </a:extLst>
          </p:cNvPr>
          <p:cNvSpPr txBox="1"/>
          <p:nvPr/>
        </p:nvSpPr>
        <p:spPr>
          <a:xfrm>
            <a:off x="2549188" y="3983995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3,421K</a:t>
            </a:r>
          </a:p>
        </p:txBody>
      </p:sp>
      <p:sp>
        <p:nvSpPr>
          <p:cNvPr id="29" name="TextBox 78">
            <a:extLst>
              <a:ext uri="{FF2B5EF4-FFF2-40B4-BE49-F238E27FC236}">
                <a16:creationId xmlns:a16="http://schemas.microsoft.com/office/drawing/2014/main" id="{235A993B-CC0A-3C0D-6EBB-8D6907712D8C}"/>
              </a:ext>
            </a:extLst>
          </p:cNvPr>
          <p:cNvSpPr txBox="1"/>
          <p:nvPr/>
        </p:nvSpPr>
        <p:spPr>
          <a:xfrm>
            <a:off x="2768644" y="3041250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2,431K</a:t>
            </a:r>
          </a:p>
        </p:txBody>
      </p:sp>
      <p:sp>
        <p:nvSpPr>
          <p:cNvPr id="30" name="TextBox 79">
            <a:extLst>
              <a:ext uri="{FF2B5EF4-FFF2-40B4-BE49-F238E27FC236}">
                <a16:creationId xmlns:a16="http://schemas.microsoft.com/office/drawing/2014/main" id="{A6A2A3B9-8577-2F12-1B7D-97E73032CD44}"/>
              </a:ext>
            </a:extLst>
          </p:cNvPr>
          <p:cNvSpPr txBox="1"/>
          <p:nvPr/>
        </p:nvSpPr>
        <p:spPr>
          <a:xfrm>
            <a:off x="2988100" y="2109715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1,371K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79F2B597-3C0A-3645-7754-12A2B70A8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2" name="Freeform 13">
            <a:extLst>
              <a:ext uri="{FF2B5EF4-FFF2-40B4-BE49-F238E27FC236}">
                <a16:creationId xmlns:a16="http://schemas.microsoft.com/office/drawing/2014/main" id="{D2A130FC-5F13-B9B1-A2C0-5B97EDD1BAB8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36" name="Content Placeholder 8">
            <a:extLst>
              <a:ext uri="{FF2B5EF4-FFF2-40B4-BE49-F238E27FC236}">
                <a16:creationId xmlns:a16="http://schemas.microsoft.com/office/drawing/2014/main" id="{E690E781-2E8A-69BD-77B9-654D3598F1E4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73432" y="1294233"/>
            <a:ext cx="6679823" cy="529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94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E570A2E2-DE16-A30C-22F3-EACAA6A5359C}"/>
              </a:ext>
            </a:extLst>
          </p:cNvPr>
          <p:cNvSpPr/>
          <p:nvPr/>
        </p:nvSpPr>
        <p:spPr>
          <a:xfrm>
            <a:off x="4550386" y="4225072"/>
            <a:ext cx="1097280" cy="1097280"/>
          </a:xfrm>
          <a:prstGeom prst="ellipse">
            <a:avLst/>
          </a:prstGeom>
          <a:solidFill>
            <a:srgbClr val="53A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59.1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157AD-9D57-0448-105A-79BA8850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73" y="136525"/>
            <a:ext cx="11590512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dirty="0">
                <a:solidFill>
                  <a:srgbClr val="000B2E"/>
                </a:solidFill>
                <a:cs typeface="Arial" panose="020B0604020202020204" pitchFamily="34" charset="0"/>
              </a:rPr>
              <a:t>WHA HOSPITALS ARE HIGH-QUALITY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2AD52701-1DE7-13B3-FBF0-4BD24A480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A6B1301C-BF63-22CC-7705-C12ACB4A1EC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131B4C-18DF-BFEF-35A3-C55211ECD241}"/>
              </a:ext>
            </a:extLst>
          </p:cNvPr>
          <p:cNvSpPr/>
          <p:nvPr/>
        </p:nvSpPr>
        <p:spPr>
          <a:xfrm>
            <a:off x="4386082" y="3024860"/>
            <a:ext cx="1371600" cy="1371600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71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DE50F0-5C45-F134-5747-AFBCA0C9B146}"/>
              </a:ext>
            </a:extLst>
          </p:cNvPr>
          <p:cNvSpPr txBox="1"/>
          <p:nvPr/>
        </p:nvSpPr>
        <p:spPr>
          <a:xfrm>
            <a:off x="1822588" y="1527244"/>
            <a:ext cx="2727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539F"/>
                </a:solidFill>
              </a:rPr>
              <a:t>WHA Hospitals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852D29-2CF1-CB69-E3FC-E1C4B533084D}"/>
              </a:ext>
            </a:extLst>
          </p:cNvPr>
          <p:cNvSpPr txBox="1"/>
          <p:nvPr/>
        </p:nvSpPr>
        <p:spPr>
          <a:xfrm>
            <a:off x="825445" y="1979406"/>
            <a:ext cx="4474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53ADFF"/>
                </a:solidFill>
              </a:rPr>
              <a:t>Other Colorado Hospitals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5D5250-5A8B-5BF9-F03E-D3259FC7E9BE}"/>
              </a:ext>
            </a:extLst>
          </p:cNvPr>
          <p:cNvSpPr txBox="1"/>
          <p:nvPr/>
        </p:nvSpPr>
        <p:spPr>
          <a:xfrm>
            <a:off x="464603" y="3513561"/>
            <a:ext cx="38114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Patient Recommendation Rate</a:t>
            </a:r>
          </a:p>
          <a:p>
            <a:pPr algn="ctr"/>
            <a:r>
              <a:rPr lang="en-US" sz="1600" b="1" dirty="0"/>
              <a:t>HCAHPS Patient Recommendation</a:t>
            </a:r>
          </a:p>
          <a:p>
            <a:pPr algn="ctr"/>
            <a:r>
              <a:rPr lang="en-US" sz="1600" b="1" dirty="0"/>
              <a:t>National Percentile</a:t>
            </a:r>
            <a:endParaRPr lang="en-US" sz="2800" b="1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B961B0E-250B-0B00-9E30-2EEB1D25700F}"/>
              </a:ext>
            </a:extLst>
          </p:cNvPr>
          <p:cNvSpPr/>
          <p:nvPr/>
        </p:nvSpPr>
        <p:spPr>
          <a:xfrm>
            <a:off x="9944437" y="2017904"/>
            <a:ext cx="731520" cy="731520"/>
          </a:xfrm>
          <a:prstGeom prst="ellipse">
            <a:avLst/>
          </a:prstGeom>
          <a:solidFill>
            <a:srgbClr val="53A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3.9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E59141C-AA3A-8E17-59F3-E21E67B145A7}"/>
              </a:ext>
            </a:extLst>
          </p:cNvPr>
          <p:cNvSpPr/>
          <p:nvPr/>
        </p:nvSpPr>
        <p:spPr>
          <a:xfrm>
            <a:off x="9807277" y="1171336"/>
            <a:ext cx="1005840" cy="1005840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4.1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EECABE-5FF6-5FFF-5820-F7D1D21C168E}"/>
              </a:ext>
            </a:extLst>
          </p:cNvPr>
          <p:cNvSpPr txBox="1"/>
          <p:nvPr/>
        </p:nvSpPr>
        <p:spPr>
          <a:xfrm>
            <a:off x="6292458" y="1586138"/>
            <a:ext cx="3811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CMS Stars</a:t>
            </a:r>
          </a:p>
          <a:p>
            <a:pPr algn="ctr"/>
            <a:r>
              <a:rPr lang="en-US" sz="1200" b="1" dirty="0"/>
              <a:t>Average CMS Quality Star Ratings</a:t>
            </a:r>
            <a:endParaRPr lang="en-US" sz="2000" b="1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7A4F434-3933-40A4-F519-6B180CE47BDF}"/>
              </a:ext>
            </a:extLst>
          </p:cNvPr>
          <p:cNvSpPr/>
          <p:nvPr/>
        </p:nvSpPr>
        <p:spPr>
          <a:xfrm>
            <a:off x="9944437" y="3737006"/>
            <a:ext cx="731520" cy="731520"/>
          </a:xfrm>
          <a:prstGeom prst="ellipse">
            <a:avLst/>
          </a:prstGeom>
          <a:solidFill>
            <a:srgbClr val="53A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60.2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3757DAA-F305-D0C6-140E-EE350D422EB2}"/>
              </a:ext>
            </a:extLst>
          </p:cNvPr>
          <p:cNvSpPr/>
          <p:nvPr/>
        </p:nvSpPr>
        <p:spPr>
          <a:xfrm>
            <a:off x="9807277" y="2890438"/>
            <a:ext cx="1005840" cy="1005840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71B601-7D3F-735D-EFAB-2349202FE10E}"/>
              </a:ext>
            </a:extLst>
          </p:cNvPr>
          <p:cNvSpPr txBox="1"/>
          <p:nvPr/>
        </p:nvSpPr>
        <p:spPr>
          <a:xfrm>
            <a:off x="6292458" y="3305240"/>
            <a:ext cx="3811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Mortality</a:t>
            </a:r>
          </a:p>
          <a:p>
            <a:pPr algn="ctr"/>
            <a:r>
              <a:rPr lang="en-US" sz="1200" b="1" dirty="0"/>
              <a:t>National Percentile for Mortality Prevention</a:t>
            </a:r>
            <a:endParaRPr lang="en-US" sz="2000" b="1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9E7613C-5898-BED9-6FBF-A4050743C6B3}"/>
              </a:ext>
            </a:extLst>
          </p:cNvPr>
          <p:cNvSpPr/>
          <p:nvPr/>
        </p:nvSpPr>
        <p:spPr>
          <a:xfrm>
            <a:off x="9944437" y="5461730"/>
            <a:ext cx="731520" cy="731520"/>
          </a:xfrm>
          <a:prstGeom prst="ellipse">
            <a:avLst/>
          </a:prstGeom>
          <a:solidFill>
            <a:srgbClr val="53A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67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6FB1AD4-817D-DF23-AD4A-E732C30D5CF4}"/>
              </a:ext>
            </a:extLst>
          </p:cNvPr>
          <p:cNvSpPr/>
          <p:nvPr/>
        </p:nvSpPr>
        <p:spPr>
          <a:xfrm>
            <a:off x="9807277" y="4615162"/>
            <a:ext cx="1005840" cy="1005840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74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9A23B8-9B3B-A74E-AE86-BCFACBC1C44C}"/>
              </a:ext>
            </a:extLst>
          </p:cNvPr>
          <p:cNvSpPr txBox="1"/>
          <p:nvPr/>
        </p:nvSpPr>
        <p:spPr>
          <a:xfrm>
            <a:off x="6292458" y="5029964"/>
            <a:ext cx="3811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Readmissions</a:t>
            </a:r>
          </a:p>
          <a:p>
            <a:pPr algn="ctr"/>
            <a:r>
              <a:rPr lang="en-US" sz="1200" b="1" dirty="0"/>
              <a:t>National Percentile for Readmission Prevention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064752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C9E7C-8993-BF6C-84E4-93C6436A3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3D4B9B7-350F-DAB4-7695-59EFFA838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023835C-6BE5-6A02-5C87-9470900BA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DEB7B5E0-D8EC-16E0-3D60-A22CFAAA6A26}"/>
              </a:ext>
            </a:extLst>
          </p:cNvPr>
          <p:cNvSpPr txBox="1"/>
          <p:nvPr/>
        </p:nvSpPr>
        <p:spPr>
          <a:xfrm>
            <a:off x="-107004" y="1368706"/>
            <a:ext cx="11737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2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  <a:cs typeface="+mj-cs"/>
              </a:rPr>
              <a:t>Target Market</a:t>
            </a:r>
            <a:br>
              <a:rPr lang="en-US" sz="1600" spc="200" dirty="0">
                <a:latin typeface="Montserrat" panose="00000500000000000000" pitchFamily="2" charset="0"/>
                <a:cs typeface="+mj-cs"/>
              </a:rPr>
            </a:br>
            <a:r>
              <a:rPr lang="en-US" sz="1600" spc="200" dirty="0">
                <a:latin typeface="Montserrat" panose="00000500000000000000" pitchFamily="2" charset="0"/>
                <a:cs typeface="+mj-cs"/>
              </a:rPr>
              <a:t>8,000+ Employers          1.4M</a:t>
            </a:r>
            <a:r>
              <a:rPr lang="en-US" sz="1600" spc="200" dirty="0">
                <a:latin typeface="Montserrat" panose="00000500000000000000" pitchFamily="2" charset="0"/>
                <a:cs typeface="+mj-cs"/>
                <a:sym typeface="Wingdings" panose="05000000000000000000" pitchFamily="2" charset="2"/>
              </a:rPr>
              <a:t>+ Employees          3.1M+ Members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31C21AD-657B-4759-48C0-01E0167E064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141C3ED6-F7CA-D7B7-0332-792FD44748E1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    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B708E0D-FA25-EA26-72CF-E0EC9A5C0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 dirty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dirty="0">
                <a:solidFill>
                  <a:srgbClr val="000B2E"/>
                </a:solidFill>
              </a:rPr>
            </a:br>
            <a:r>
              <a:rPr lang="en-US" sz="2000" b="0" dirty="0">
                <a:solidFill>
                  <a:srgbClr val="000B2E"/>
                </a:solidFill>
              </a:rPr>
              <a:t>Researched for the below highlighted service area</a:t>
            </a:r>
            <a:endParaRPr lang="en-US"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79B2694-1656-8F1A-3EB5-9A0B14A5B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854748"/>
              </p:ext>
            </p:extLst>
          </p:nvPr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4,495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1,915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1,143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337,100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287,300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342,900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423,500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432,000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726,000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606,800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517,100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617,200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762,300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777,600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1,306,800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1804A02-C0DD-C303-D8F1-5B9AB58415FC}"/>
              </a:ext>
            </a:extLst>
          </p:cNvPr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-1054867" y="1786292"/>
            <a:ext cx="6096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332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73" y="286117"/>
            <a:ext cx="10515600" cy="856586"/>
          </a:xfrm>
        </p:spPr>
        <p:txBody>
          <a:bodyPr/>
          <a:lstStyle/>
          <a:p>
            <a:r>
              <a:rPr lang="en-US" b="0" dirty="0"/>
              <a:t>EXPECTED PLAN GROWTH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0D8A2093-EE63-6F98-17FC-8FA2F27D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2" name="Freeform 13">
            <a:extLst>
              <a:ext uri="{FF2B5EF4-FFF2-40B4-BE49-F238E27FC236}">
                <a16:creationId xmlns:a16="http://schemas.microsoft.com/office/drawing/2014/main" id="{28524B04-16FE-D5D9-4125-86AD5B994E04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33" name="Content Placeholder 32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982752" y="1358312"/>
            <a:ext cx="5113248" cy="3059646"/>
          </a:xfrm>
          <a:prstGeom prst="rect">
            <a:avLst/>
          </a:prstGeom>
        </p:spPr>
      </p:pic>
      <p:sp>
        <p:nvSpPr>
          <p:cNvPr id="37" name="TextBox 12">
            <a:extLst>
              <a:ext uri="{FF2B5EF4-FFF2-40B4-BE49-F238E27FC236}">
                <a16:creationId xmlns:a16="http://schemas.microsoft.com/office/drawing/2014/main" id="{76472EEB-6125-717C-DF77-9CF7685BEC20}"/>
              </a:ext>
            </a:extLst>
          </p:cNvPr>
          <p:cNvSpPr txBox="1"/>
          <p:nvPr/>
        </p:nvSpPr>
        <p:spPr>
          <a:xfrm>
            <a:off x="357264" y="4502737"/>
            <a:ext cx="636422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  <a:latin typeface="Montserrat" panose="00000500000000000000" pitchFamily="2" charset="0"/>
              </a:rPr>
              <a:t>KBA currently estimates that Western Health Alliance has 47% inpatient market share, and 31% outpatient market compared to hospitals/clinics in the Western Health Alliance service area.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b="1" dirty="0">
                <a:solidFill/>
                <a:latin typeface="Montserrat" panose="00000500000000000000" pitchFamily="2" charset="0"/>
              </a:rPr>
              <a:t>A WHA plan could expect patient steerage rates above 85% (comparable to other DTE plans), nearly double of current patient volumes. </a:t>
            </a: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25093FBD-44FD-54DA-743A-F5FA9B4BD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682699"/>
              </p:ext>
            </p:extLst>
          </p:nvPr>
        </p:nvGraphicFramePr>
        <p:xfrm>
          <a:off x="7078753" y="1314998"/>
          <a:ext cx="4805076" cy="4572375"/>
        </p:xfrm>
        <a:graphic>
          <a:graphicData uri="http://schemas.openxmlformats.org/drawingml/2006/table">
            <a:tbl>
              <a:tblPr/>
              <a:tblGrid>
                <a:gridCol w="1601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1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1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83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33,300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39,600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54,200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97,600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129,200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92,300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166,100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115,400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207,700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140,400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252,700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166,000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298,800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191,200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344,200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214,700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386,500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235,600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424,100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253,400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456,100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267,900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482,200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279,400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502,900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288,300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518,900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295,000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531,000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300,100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540,200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$125.19M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$34.47M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$681.98M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$188.72M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$1324.4M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$366.64M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ENORMOUS POTENTIAL PROFITABILITY GROWTH FOR WHA MEMBERS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6FA9894-E7D1-BE08-3776-08F67E9496EF}"/>
              </a:ext>
            </a:extLst>
          </p:cNvPr>
          <p:cNvSpPr txBox="1"/>
          <p:nvPr/>
        </p:nvSpPr>
        <p:spPr>
          <a:xfrm>
            <a:off x="3270963" y="6186627"/>
            <a:ext cx="5756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See Financial Projects Starting on Slide 21 for More Details</a:t>
            </a:r>
          </a:p>
        </p:txBody>
      </p:sp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44F15F00-C649-D6E2-C929-AE2A366162F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901"/>
          <a:stretch/>
        </p:blipFill>
        <p:spPr>
          <a:xfrm>
            <a:off x="5201987" y="-61812"/>
            <a:ext cx="6990013" cy="6919812"/>
          </a:xfrm>
          <a:prstGeom prst="rect">
            <a:avLst/>
          </a:prstGeom>
        </p:spPr>
      </p:pic>
      <p:pic>
        <p:nvPicPr>
          <p:cNvPr id="3" name="Picture 2" descr="Epic launches long-planned &quot;App Orchard&quot; app store | MobiHealthNews">
            <a:extLst>
              <a:ext uri="{FF2B5EF4-FFF2-40B4-BE49-F238E27FC236}">
                <a16:creationId xmlns:a16="http://schemas.microsoft.com/office/drawing/2014/main" id="{308658F5-D0C7-2129-4BB2-5ED078F19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1491" y="4336490"/>
            <a:ext cx="4152546" cy="2327060"/>
          </a:xfrm>
          <a:prstGeom prst="rect">
            <a:avLst/>
          </a:prstGeom>
          <a:ln>
            <a:noFill/>
          </a:ln>
          <a:effectLst>
            <a:outerShdw blurRad="50800" dist="38100" dir="2700000" sx="1000" sy="1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E37C4D6D-E015-C93E-59BD-2C619644D714}"/>
              </a:ext>
            </a:extLst>
          </p:cNvPr>
          <p:cNvSpPr txBox="1"/>
          <p:nvPr/>
        </p:nvSpPr>
        <p:spPr>
          <a:xfrm>
            <a:off x="937651" y="2129640"/>
            <a:ext cx="3325169" cy="1477328"/>
          </a:xfrm>
          <a:prstGeom prst="rect">
            <a:avLst/>
          </a:prstGeom>
          <a:solidFill>
            <a:srgbClr val="00539F"/>
          </a:solidFill>
          <a:ln>
            <a:noFill/>
          </a:ln>
          <a:effectLst>
            <a:outerShdw blurRad="50800" dist="38100" dir="2700000" sx="1000" sy="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1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KBA shares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1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evidence-based standards of care for 27 chronic conditions directly into Epic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269CC86-C5A8-2144-482B-88B3FC7A5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2" y="537915"/>
            <a:ext cx="5048109" cy="810829"/>
          </a:xfrm>
        </p:spPr>
        <p:txBody>
          <a:bodyPr>
            <a:noAutofit/>
          </a:bodyPr>
          <a:lstStyle/>
          <a:p>
            <a:pPr algn="ctr"/>
            <a:r>
              <a:rPr lang="en-US" sz="3600">
                <a:solidFill>
                  <a:srgbClr val="00539F"/>
                </a:solidFill>
              </a:rPr>
              <a:t>INTEGRATION WITH EPIC EHR SYSTEM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9DCC8D2-3E7C-0647-6219-D958C42D65C2}"/>
              </a:ext>
            </a:extLst>
          </p:cNvPr>
          <p:cNvSpPr/>
          <p:nvPr/>
        </p:nvSpPr>
        <p:spPr>
          <a:xfrm>
            <a:off x="5689600" y="5878286"/>
            <a:ext cx="6502400" cy="4636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Hyperthyroidism: Yearly Clinical Evaluation, TSH and T4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2275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4BDBD4FD-FFB4-4EDA-B509-71118D163D8A}"/>
              </a:ext>
            </a:extLst>
          </p:cNvPr>
          <p:cNvSpPr/>
          <p:nvPr/>
        </p:nvSpPr>
        <p:spPr>
          <a:xfrm>
            <a:off x="-1" y="-3878"/>
            <a:ext cx="12191999" cy="6008751"/>
          </a:xfrm>
          <a:prstGeom prst="rect">
            <a:avLst/>
          </a:prstGeom>
          <a:solidFill>
            <a:srgbClr val="244F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20BED0-748B-492F-A227-2FDEC8B68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5154"/>
            <a:ext cx="41148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30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Key Benefit Administrators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79CFB-A771-4B11-8488-3E54ACE4F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6377" y="6389509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8CFBEA-CEF2-471A-842D-8314716A34E9}"/>
              </a:ext>
            </a:extLst>
          </p:cNvPr>
          <p:cNvSpPr/>
          <p:nvPr/>
        </p:nvSpPr>
        <p:spPr>
          <a:xfrm>
            <a:off x="3860800" y="406400"/>
            <a:ext cx="7800623" cy="5168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71480" marR="0" lvl="0" indent="-342905" algn="l" defTabSz="914411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Patient engagement is the weak link in delivering value-based care; Western Health Alliance’s clinical leadership and employer participation can drive better outcomes.</a:t>
            </a:r>
          </a:p>
          <a:p>
            <a:pPr marL="371480" marR="0" lvl="0" indent="-342905" algn="l" defTabSz="914411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KBA’s proactive care-management team supplements your care-management efforts in outreach to clients.</a:t>
            </a:r>
          </a:p>
          <a:p>
            <a:pPr marL="371480" marR="0" lvl="0" indent="-342905" algn="l" defTabSz="914411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Western Health Alliance excels in Standards of Care completion rates for the Chronically Ill, improving care and costs.</a:t>
            </a:r>
          </a:p>
          <a:p>
            <a:pPr marL="371480" marR="0" lvl="0" indent="-342905" algn="l" defTabSz="914411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prstClr val="whit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Integrating Western Health Alliance’s managed care with KBA’s programs positions Western Health Alliance as the value leader.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CEEE520-446E-4089-8426-425534708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503" y="783340"/>
            <a:ext cx="3053314" cy="250492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THE MISSING PIECE TO VALUE-BASED CARE</a:t>
            </a:r>
          </a:p>
        </p:txBody>
      </p:sp>
      <p:pic>
        <p:nvPicPr>
          <p:cNvPr id="7" name="Graphic 9" descr="Puzzle pieces with solid fill">
            <a:extLst>
              <a:ext uri="{FF2B5EF4-FFF2-40B4-BE49-F238E27FC236}">
                <a16:creationId xmlns:a16="http://schemas.microsoft.com/office/drawing/2014/main" id="{0CA67572-0D3A-6B78-1AF5-F6A1BEB1B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6428" y="2426082"/>
            <a:ext cx="2767464" cy="276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60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>
            <a:extLst>
              <a:ext uri="{FF2B5EF4-FFF2-40B4-BE49-F238E27FC236}">
                <a16:creationId xmlns:a16="http://schemas.microsoft.com/office/drawing/2014/main" id="{FA5DA117-CC5D-CB44-90CF-6D02A1C20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6" y="-192804"/>
            <a:ext cx="12192000" cy="6857999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C5B343BF-74E3-4449-BD50-77404688474B}"/>
              </a:ext>
            </a:extLst>
          </p:cNvPr>
          <p:cNvSpPr/>
          <p:nvPr/>
        </p:nvSpPr>
        <p:spPr>
          <a:xfrm>
            <a:off x="-1" y="0"/>
            <a:ext cx="12192001" cy="3429000"/>
          </a:xfrm>
          <a:prstGeom prst="rect">
            <a:avLst/>
          </a:prstGeom>
          <a:solidFill>
            <a:srgbClr val="00539F">
              <a:alpha val="9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DB678D7-E940-4D9A-BC92-54EDE0B96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961" y="263661"/>
            <a:ext cx="10515600" cy="740459"/>
          </a:xfrm>
        </p:spPr>
        <p:txBody>
          <a:bodyPr>
            <a:normAutofit/>
          </a:bodyPr>
          <a:lstStyle/>
          <a:p>
            <a:r>
              <a:rPr lang="en-US" b="0" dirty="0">
                <a:solidFill>
                  <a:schemeClr val="bg1"/>
                </a:solidFill>
              </a:rPr>
              <a:t>TRANSPARENT PBM INTEGRATION 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AFDC632-7C4B-44BF-B435-0CED1B7481B2}"/>
              </a:ext>
            </a:extLst>
          </p:cNvPr>
          <p:cNvSpPr/>
          <p:nvPr/>
        </p:nvSpPr>
        <p:spPr>
          <a:xfrm>
            <a:off x="696287" y="1075362"/>
            <a:ext cx="4944861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Support of Western Health Alliance’s retail pharmacy(s)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Optimize Western Health Alliance’s 340B drug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     pricing program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Allows Western Health Alliance to create its own PBM program if desired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A8BB229-42C0-4FB6-AD0C-615BF4260145}"/>
              </a:ext>
            </a:extLst>
          </p:cNvPr>
          <p:cNvSpPr/>
          <p:nvPr/>
        </p:nvSpPr>
        <p:spPr>
          <a:xfrm>
            <a:off x="6615187" y="1075362"/>
            <a:ext cx="519639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Custom telephone number with personalized scripting and separate call tracking &amp; reporting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Fully customizable member welcome booklet &amp; materials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White labeled formulary document and marketing materials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A0477AD-A883-49D0-84C0-1846E555302E}"/>
              </a:ext>
            </a:extLst>
          </p:cNvPr>
          <p:cNvSpPr/>
          <p:nvPr/>
        </p:nvSpPr>
        <p:spPr>
          <a:xfrm>
            <a:off x="472441" y="3804933"/>
            <a:ext cx="5168707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150" normalizeH="0" baseline="0" noProof="0" dirty="0">
                <a:ln>
                  <a:noFill/>
                </a:ln>
                <a:solidFill>
                  <a:srgbClr val="00539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CUSTOM CLIENT SUPPORT: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Specialized call center capabilities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Fully customizable plan designs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Operational access to the platform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Customized process and functions to promote DTE strategy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97E1BE5C-BB73-4F75-AB8A-06D533303EDE}"/>
              </a:ext>
            </a:extLst>
          </p:cNvPr>
          <p:cNvSpPr/>
          <p:nvPr/>
        </p:nvSpPr>
        <p:spPr>
          <a:xfrm>
            <a:off x="6163406" y="3781627"/>
            <a:ext cx="5739036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150" normalizeH="0" baseline="0" noProof="0" dirty="0">
                <a:ln>
                  <a:noFill/>
                </a:ln>
                <a:solidFill>
                  <a:srgbClr val="00539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CLINICAL FLEXIBILITY: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Full portfolio of custom formulary offerings – with optimized formulary shield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Clinical programs that drive towards overall DTE strategy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Options for additional drug savings by driving members to lower cost alternatives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Flexibility to customize or layer on utilization management programs</a:t>
            </a:r>
          </a:p>
        </p:txBody>
      </p:sp>
      <p:sp>
        <p:nvSpPr>
          <p:cNvPr id="9" name="Freeform 11">
            <a:extLst>
              <a:ext uri="{FF2B5EF4-FFF2-40B4-BE49-F238E27FC236}">
                <a16:creationId xmlns:a16="http://schemas.microsoft.com/office/drawing/2014/main" id="{6CB7C47F-4ADC-898A-0ED1-9BBFB4AB4564}"/>
              </a:ext>
            </a:extLst>
          </p:cNvPr>
          <p:cNvSpPr/>
          <p:nvPr/>
        </p:nvSpPr>
        <p:spPr>
          <a:xfrm rot="16200000" flipV="1">
            <a:off x="4717511" y="1947684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F4DA59DB-7E53-7F90-5357-074B2A852989}"/>
              </a:ext>
            </a:extLst>
          </p:cNvPr>
          <p:cNvSpPr/>
          <p:nvPr/>
        </p:nvSpPr>
        <p:spPr>
          <a:xfrm>
            <a:off x="9609102" y="6356887"/>
            <a:ext cx="2576172" cy="501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41289746-C0F3-4064-B405-1E696D5C7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8222" y="648053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DAD531BF-718C-8489-C213-6F72BB2FA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9083" y="6427192"/>
            <a:ext cx="1701478" cy="37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453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E43570CA-7D8B-9030-675E-C3DCA833B92A}"/>
              </a:ext>
            </a:extLst>
          </p:cNvPr>
          <p:cNvSpPr/>
          <p:nvPr/>
        </p:nvSpPr>
        <p:spPr>
          <a:xfrm rot="16200000" flipV="1">
            <a:off x="7175975" y="1850362"/>
            <a:ext cx="180722" cy="9851331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4FCE51A-FD08-4E39-82DE-62E323002D4D}"/>
              </a:ext>
            </a:extLst>
          </p:cNvPr>
          <p:cNvSpPr/>
          <p:nvPr/>
        </p:nvSpPr>
        <p:spPr>
          <a:xfrm>
            <a:off x="9748911" y="0"/>
            <a:ext cx="2443089" cy="6859722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Tokio Marine</a:t>
            </a:r>
          </a:p>
          <a:p>
            <a:pPr marL="0" marR="0" lvl="0" indent="0" algn="ctr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Nationwide</a:t>
            </a:r>
          </a:p>
          <a:p>
            <a:pPr marL="0" marR="0" lvl="0" indent="0" algn="ctr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Berkshire Hathaway</a:t>
            </a:r>
          </a:p>
          <a:p>
            <a:pPr marL="0" marR="0" lvl="0" indent="0" algn="ctr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Sun Life</a:t>
            </a:r>
          </a:p>
          <a:p>
            <a:pPr marL="0" marR="0" lvl="0" indent="0" algn="ctr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Liberty Mutual</a:t>
            </a:r>
          </a:p>
          <a:p>
            <a:pPr marL="0" marR="0" lvl="0" indent="0" algn="ctr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Granular (Google)</a:t>
            </a:r>
          </a:p>
          <a:p>
            <a:pPr marL="0" marR="0" lvl="0" indent="0" algn="ctr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Companion Life</a:t>
            </a:r>
          </a:p>
          <a:p>
            <a:pPr marL="0" marR="0" lvl="0" indent="0" algn="ctr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Crum &amp; Forster</a:t>
            </a:r>
          </a:p>
          <a:p>
            <a:pPr marL="0" marR="0" lvl="0" indent="0" algn="ctr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American Fidelity</a:t>
            </a:r>
          </a:p>
          <a:p>
            <a:pPr marL="0" marR="0" lvl="0" indent="0" algn="ctr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RGA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174226-47B5-4659-83B1-FE9CD406E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6" y="244670"/>
            <a:ext cx="8784101" cy="1095361"/>
          </a:xfrm>
        </p:spPr>
        <p:txBody>
          <a:bodyPr>
            <a:normAutofit/>
          </a:bodyPr>
          <a:lstStyle/>
          <a:p>
            <a:r>
              <a:rPr lang="en-US" sz="3200" spc="200" dirty="0">
                <a:solidFill>
                  <a:srgbClr val="00539F"/>
                </a:solidFill>
              </a:rPr>
              <a:t>STOP-LOSS INSURANCE</a:t>
            </a:r>
            <a:br>
              <a:rPr lang="en-US" sz="3200" spc="200" dirty="0">
                <a:solidFill>
                  <a:srgbClr val="00539F"/>
                </a:solidFill>
              </a:rPr>
            </a:br>
            <a:r>
              <a:rPr lang="en-US" sz="3200" spc="200" dirty="0">
                <a:solidFill>
                  <a:srgbClr val="00539F"/>
                </a:solidFill>
              </a:rPr>
              <a:t>     </a:t>
            </a:r>
            <a:r>
              <a:rPr lang="en-US" sz="3200" spc="200" dirty="0">
                <a:solidFill>
                  <a:schemeClr val="bg2">
                    <a:lumMod val="25000"/>
                  </a:schemeClr>
                </a:solidFill>
              </a:rPr>
              <a:t>THE KBA EXPERIENCE</a:t>
            </a:r>
            <a:endParaRPr lang="en-US" sz="3200" spc="200" dirty="0">
              <a:solidFill>
                <a:srgbClr val="00539F"/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88E06CA-EBB4-47C7-805A-78F1EC936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3894" y="6430766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2FF25A3A-C156-4EF4-AAF0-4C022A00A18A}"/>
              </a:ext>
            </a:extLst>
          </p:cNvPr>
          <p:cNvSpPr txBox="1"/>
          <p:nvPr/>
        </p:nvSpPr>
        <p:spPr>
          <a:xfrm>
            <a:off x="683456" y="1689513"/>
            <a:ext cx="8629357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Deep relationships with 20+ stop loss underwriters and carriers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Over $150M in annual stop loss premium placement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Comprehensive pricing and medical service analysis performed for each DTE health plan to ensure proper pricing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KBA provides the administration required of the stop-loss markets: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Bordereau Reporting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Claim Reporting and Reconciliation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Evaluation of Networks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Care Management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Initial Underwriting 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Negotiation of rates and terms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Plan Design Actuarial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 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8E70A561-E2F5-98F1-0C82-55EA5F5BA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3107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7 Steps to Creating a Successful Sales Meeting">
            <a:extLst>
              <a:ext uri="{FF2B5EF4-FFF2-40B4-BE49-F238E27FC236}">
                <a16:creationId xmlns:a16="http://schemas.microsoft.com/office/drawing/2014/main" id="{429A0FED-F4B3-4E4D-82D7-8EADBA6218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19712" y="0"/>
            <a:ext cx="9372289" cy="6858000"/>
          </a:xfrm>
          <a:prstGeom prst="rect">
            <a:avLst/>
          </a:prstGeom>
          <a:solidFill>
            <a:srgbClr val="59CAE8"/>
          </a:solidFill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7BABB220-4ACE-4E11-A8BE-59C504FE2125}"/>
              </a:ext>
            </a:extLst>
          </p:cNvPr>
          <p:cNvSpPr/>
          <p:nvPr/>
        </p:nvSpPr>
        <p:spPr>
          <a:xfrm>
            <a:off x="0" y="2771775"/>
            <a:ext cx="6191250" cy="4086225"/>
          </a:xfrm>
          <a:prstGeom prst="rect">
            <a:avLst/>
          </a:prstGeom>
          <a:solidFill>
            <a:srgbClr val="59CAE8"/>
          </a:solidFill>
        </p:spPr>
        <p:txBody>
          <a:bodyPr vert="horz" lIns="91440" tIns="45720" rIns="91440" bIns="45720" rtlCol="0" anchor="t" anchorCtr="0">
            <a:noAutofit/>
          </a:bodyPr>
          <a:lstStyle/>
          <a:p>
            <a:pPr marL="347667" lvl="2" defTabSz="914411">
              <a:lnSpc>
                <a:spcPct val="90000"/>
              </a:lnSpc>
              <a:spcAft>
                <a:spcPts val="1200"/>
              </a:spcAft>
            </a:pPr>
            <a:endParaRPr lang="en-US" sz="1200" b="1" spc="15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347667" lvl="2" defTabSz="914411">
              <a:lnSpc>
                <a:spcPct val="150000"/>
              </a:lnSpc>
              <a:spcAft>
                <a:spcPts val="1200"/>
              </a:spcAft>
            </a:pPr>
            <a:r>
              <a:rPr lang="en-US" sz="1600" b="1" spc="150" dirty="0">
                <a:solidFill>
                  <a:schemeClr val="bg1"/>
                </a:solidFill>
                <a:latin typeface="Montserrat" panose="00000500000000000000" pitchFamily="2" charset="0"/>
              </a:rPr>
              <a:t>KBA WORKS WITH YOU TO MANAGE &amp; SELL:</a:t>
            </a:r>
          </a:p>
          <a:p>
            <a:pPr marL="628658" lvl="1" indent="-285753" defTabSz="914411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Branding &amp; Messaging</a:t>
            </a:r>
          </a:p>
          <a:p>
            <a:pPr marL="628658" lvl="1" indent="-285753" defTabSz="914411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Direct &amp; Brokerage Sales Distribution – Focused Sales Representative</a:t>
            </a:r>
          </a:p>
          <a:p>
            <a:pPr marL="628658" lvl="1" indent="-285753" defTabSz="914411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Brochures, Web Site, Media, etc.</a:t>
            </a:r>
          </a:p>
          <a:p>
            <a:pPr marL="628658" lvl="1" indent="-285753" defTabSz="914411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Stop-Loss/Level Funded Down to 20 EE Lives</a:t>
            </a:r>
          </a:p>
          <a:p>
            <a:pPr marL="628658" lvl="1" indent="-285753" defTabSz="914411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Sell Through Established Brokers in Your Service Area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E4CC181-8C0A-4FE1-B12F-4C934443F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205" y="483394"/>
            <a:ext cx="2580190" cy="192881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244F9A"/>
                </a:solidFill>
              </a:rPr>
              <a:t>DTE </a:t>
            </a:r>
            <a:br>
              <a:rPr lang="en-US" sz="2400" dirty="0">
                <a:solidFill>
                  <a:srgbClr val="244F9A"/>
                </a:solidFill>
              </a:rPr>
            </a:br>
            <a:r>
              <a:rPr lang="en-US" sz="2400" dirty="0">
                <a:solidFill>
                  <a:srgbClr val="244F9A"/>
                </a:solidFill>
              </a:rPr>
              <a:t>PROGRAM MARKETING </a:t>
            </a:r>
            <a:br>
              <a:rPr lang="en-US" sz="2400" dirty="0">
                <a:solidFill>
                  <a:srgbClr val="244F9A"/>
                </a:solidFill>
              </a:rPr>
            </a:br>
            <a:r>
              <a:rPr lang="en-US" sz="2400" dirty="0">
                <a:solidFill>
                  <a:srgbClr val="244F9A"/>
                </a:solidFill>
              </a:rPr>
              <a:t>&amp; SALES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AE6A2D3A-1C06-4981-9D70-783E21219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8225" y="6374606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32D94ED-38DB-4C84-A193-F82ECDE09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336" y="6374605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122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31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cxnSp>
        <p:nvCxnSpPr>
          <p:cNvPr id="3" name="Straight Connector 33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ext Placeholder 10">
            <a:extLst>
              <a:ext uri="{FF2B5EF4-FFF2-40B4-BE49-F238E27FC236}">
                <a16:creationId xmlns:a16="http://schemas.microsoft.com/office/drawing/2014/main" id="{625E5EBB-5E59-1F70-D065-8563E74742C3}"/>
              </a:ext>
            </a:extLst>
          </p:cNvPr>
          <p:cNvGraphicFramePr/>
          <p:nvPr/>
        </p:nvGraphicFramePr>
        <p:xfrm>
          <a:off x="5182908" y="642639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DBF3756C-E382-D591-9698-2313D86DCFF4}"/>
              </a:ext>
            </a:extLst>
          </p:cNvPr>
          <p:cNvSpPr/>
          <p:nvPr/>
        </p:nvSpPr>
        <p:spPr>
          <a:xfrm>
            <a:off x="0" y="-1"/>
            <a:ext cx="5353869" cy="6866313"/>
          </a:xfrm>
          <a:prstGeom prst="rect">
            <a:avLst/>
          </a:prstGeom>
          <a:solidFill>
            <a:srgbClr val="005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C24332-E958-7C44-485A-7D07A7059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98" y="642639"/>
            <a:ext cx="5008340" cy="40753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/>
            <a:r>
              <a:rPr lang="en-US" sz="4000" b="0" kern="1200">
                <a:solidFill>
                  <a:schemeClr val="bg1"/>
                </a:solidFill>
              </a:rPr>
              <a:t>COMMUNITY BASED SALES STRATEGY</a:t>
            </a:r>
          </a:p>
        </p:txBody>
      </p:sp>
      <p:pic>
        <p:nvPicPr>
          <p:cNvPr id="7" name="Picture 6" descr="A group of people sitting around a table">
            <a:extLst>
              <a:ext uri="{FF2B5EF4-FFF2-40B4-BE49-F238E27FC236}">
                <a16:creationId xmlns:a16="http://schemas.microsoft.com/office/drawing/2014/main" id="{63226C7D-D0B4-2995-A02F-196790FEB331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70000"/>
          </a:blip>
          <a:stretch>
            <a:fillRect/>
          </a:stretch>
        </p:blipFill>
        <p:spPr>
          <a:xfrm>
            <a:off x="306146" y="3783400"/>
            <a:ext cx="4741575" cy="3099539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17495242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Single Corner Rounded 2">
            <a:extLst>
              <a:ext uri="{FF2B5EF4-FFF2-40B4-BE49-F238E27FC236}">
                <a16:creationId xmlns:a16="http://schemas.microsoft.com/office/drawing/2014/main" id="{0E0827A4-8831-4F72-BCCA-ED2FC12E6729}"/>
              </a:ext>
            </a:extLst>
          </p:cNvPr>
          <p:cNvSpPr/>
          <p:nvPr/>
        </p:nvSpPr>
        <p:spPr>
          <a:xfrm flipV="1">
            <a:off x="-12707" y="-2"/>
            <a:ext cx="4787908" cy="5524593"/>
          </a:xfrm>
          <a:prstGeom prst="round1Rect">
            <a:avLst>
              <a:gd name="adj" fmla="val 14176"/>
            </a:avLst>
          </a:prstGeom>
          <a:solidFill>
            <a:srgbClr val="00539F">
              <a:alpha val="93725"/>
            </a:srgbClr>
          </a:solidFill>
          <a:ln>
            <a:solidFill>
              <a:srgbClr val="59CA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5BDB08-48BA-4014-94E1-0CA6432F6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320" y="174481"/>
            <a:ext cx="3839251" cy="943119"/>
          </a:xfrm>
          <a:noFill/>
        </p:spPr>
        <p:txBody>
          <a:bodyPr>
            <a:normAutofit/>
          </a:bodyPr>
          <a:lstStyle/>
          <a:p>
            <a:r>
              <a:rPr lang="en-US" sz="2400" cap="all" dirty="0">
                <a:solidFill>
                  <a:schemeClr val="bg1"/>
                </a:solidFill>
              </a:rPr>
              <a:t>Complete Marketing System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ED71BB9D-3705-447C-AA44-226373980B76}"/>
              </a:ext>
            </a:extLst>
          </p:cNvPr>
          <p:cNvSpPr txBox="1"/>
          <p:nvPr/>
        </p:nvSpPr>
        <p:spPr>
          <a:xfrm>
            <a:off x="326132" y="1333409"/>
            <a:ext cx="40290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Customized Branding and Messaging</a:t>
            </a:r>
          </a:p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Customized Brochures</a:t>
            </a:r>
          </a:p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Customized Web Site</a:t>
            </a:r>
          </a:p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Targeted Employer Outreach</a:t>
            </a:r>
          </a:p>
          <a:p>
            <a:pPr marL="342905" marR="0" lvl="0" indent="-34290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Sales System (Social Media, Email, Text, etc.)</a:t>
            </a: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E9CEBAE5-9FB0-92E7-FE3C-8D162366D53C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6" name="Picture 13">
            <a:extLst>
              <a:ext uri="{FF2B5EF4-FFF2-40B4-BE49-F238E27FC236}">
                <a16:creationId xmlns:a16="http://schemas.microsoft.com/office/drawing/2014/main" id="{FEB77514-FCC1-8077-FF95-E9A7EC1FC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7" name="Object 1">
            <a:extLst>
              <a:ext uri="{FF2B5EF4-FFF2-40B4-BE49-F238E27FC236}">
                <a16:creationId xmlns:a16="http://schemas.microsoft.com/office/drawing/2014/main" id="{6A650CAB-F194-C039-985A-378659DC9264}"/>
              </a:ext>
            </a:extLst>
          </p:cNvPr>
          <p:cNvSpPr/>
          <p:nvPr/>
        </p:nvSpPr>
        <p:spPr>
          <a:xfrm>
            <a:off x="6260477" y="1869754"/>
            <a:ext cx="4672331" cy="2916602"/>
          </a:xfrm>
          <a:prstGeom prst="rect">
            <a:avLst/>
          </a:prstGeom>
          <a:solidFill>
            <a:srgbClr val="254F96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2">
            <a:extLst>
              <a:ext uri="{FF2B5EF4-FFF2-40B4-BE49-F238E27FC236}">
                <a16:creationId xmlns:a16="http://schemas.microsoft.com/office/drawing/2014/main" id="{A8440E76-55C9-58AD-8FFE-1161A970BB4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017" t="358" r="-3017" b="358"/>
          <a:stretch/>
        </p:blipFill>
        <p:spPr>
          <a:xfrm>
            <a:off x="6260477" y="1869754"/>
            <a:ext cx="4672331" cy="2916602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8A7EB5CC-EEC2-B5AA-4D5D-3D6555854B7F}"/>
              </a:ext>
            </a:extLst>
          </p:cNvPr>
          <p:cNvSpPr/>
          <p:nvPr/>
        </p:nvSpPr>
        <p:spPr>
          <a:xfrm>
            <a:off x="6260477" y="1869754"/>
            <a:ext cx="4672331" cy="2916602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0" name="Object 4">
            <a:extLst>
              <a:ext uri="{FF2B5EF4-FFF2-40B4-BE49-F238E27FC236}">
                <a16:creationId xmlns:a16="http://schemas.microsoft.com/office/drawing/2014/main" id="{80FD5046-6F68-9F9C-A2D7-3B2367BB6FD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2571" y="1610180"/>
            <a:ext cx="6211749" cy="363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542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8D87E68-6B58-6ABC-9125-FECD31D51802}"/>
              </a:ext>
            </a:extLst>
          </p:cNvPr>
          <p:cNvSpPr txBox="1">
            <a:spLocks/>
          </p:cNvSpPr>
          <p:nvPr/>
        </p:nvSpPr>
        <p:spPr>
          <a:xfrm>
            <a:off x="685800" y="1023158"/>
            <a:ext cx="11068050" cy="460829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Creating EPO Steerage in a PPO Network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27A37F9-7666-F7AF-4CB9-D45C937D6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85" y="1823980"/>
            <a:ext cx="3420399" cy="386239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sx="1000" sy="1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E1274-9D49-4637-1DA7-A61DA7510958}"/>
              </a:ext>
            </a:extLst>
          </p:cNvPr>
          <p:cNvSpPr txBox="1">
            <a:spLocks/>
          </p:cNvSpPr>
          <p:nvPr/>
        </p:nvSpPr>
        <p:spPr>
          <a:xfrm>
            <a:off x="5119281" y="1970165"/>
            <a:ext cx="5905500" cy="39995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>
                  <a:lumMod val="50000"/>
                </a:schemeClr>
              </a:buClr>
              <a:buFont typeface="Arial" pitchFamily="34" charset="0"/>
              <a:buChar char="•"/>
              <a:defRPr sz="1600" b="0" i="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Gill Sans Light" panose="020B0302020104020203" pitchFamily="34" charset="-79"/>
              </a:defRPr>
            </a:lvl1pPr>
            <a:lvl2pPr marL="54864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>
                  <a:lumMod val="50000"/>
                </a:schemeClr>
              </a:buClr>
              <a:buFont typeface="Arial" pitchFamily="34" charset="0"/>
              <a:buChar char="•"/>
              <a:defRPr sz="1600" b="0" i="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Gill Sans Light" panose="020B0302020104020203" pitchFamily="34" charset="-79"/>
              </a:defRPr>
            </a:lvl2pPr>
            <a:lvl3pPr marL="85039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>
                  <a:lumMod val="50000"/>
                </a:schemeClr>
              </a:buClr>
              <a:buFont typeface="Arial" pitchFamily="34" charset="0"/>
              <a:buChar char="•"/>
              <a:defRPr sz="1600" b="0" i="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Gill Sans Light" panose="020B0302020104020203" pitchFamily="34" charset="-79"/>
              </a:defRPr>
            </a:lvl3pPr>
            <a:lvl4pPr marL="115214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>
                  <a:lumMod val="50000"/>
                </a:schemeClr>
              </a:buClr>
              <a:buFont typeface="Arial" pitchFamily="34" charset="0"/>
              <a:buChar char="•"/>
              <a:defRPr sz="1600" b="0" i="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Gill Sans Light" panose="020B0302020104020203" pitchFamily="34" charset="-79"/>
              </a:defRPr>
            </a:lvl4pPr>
            <a:lvl5pPr marL="1453896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>
                  <a:lumMod val="50000"/>
                </a:schemeClr>
              </a:buClr>
              <a:buFont typeface="Arial" pitchFamily="34" charset="0"/>
              <a:buChar char="•"/>
              <a:defRPr sz="1600" b="0" i="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Gill Sans Light" panose="020B0302020104020203" pitchFamily="34" charset="-79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539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The Healthcare Credit Card is eligible to be used only for specific merchant codes.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60000"/>
              </a:lnSpc>
              <a:spcBef>
                <a:spcPts val="1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To utilize at Specific Healthcare Providers</a:t>
            </a:r>
          </a:p>
          <a:p>
            <a:pPr marL="301752" marR="0" lvl="1" indent="0" algn="l" defTabSz="914400" rtl="0" eaLnBrk="1" fontAlgn="auto" latinLnBrk="0" hangingPunct="1">
              <a:lnSpc>
                <a:spcPct val="60000"/>
              </a:lnSpc>
              <a:spcBef>
                <a:spcPts val="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a.  Designated Hospitals</a:t>
            </a:r>
          </a:p>
          <a:p>
            <a:pPr marL="301752" marR="0" lvl="1" indent="0" algn="l" defTabSz="914400" rtl="0" eaLnBrk="1" fontAlgn="auto" latinLnBrk="0" hangingPunct="1">
              <a:lnSpc>
                <a:spcPct val="60000"/>
              </a:lnSpc>
              <a:spcBef>
                <a:spcPts val="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b.  Urgent Care Facilities</a:t>
            </a:r>
          </a:p>
          <a:p>
            <a:pPr marL="301752" marR="0" lvl="1" indent="0" algn="l" defTabSz="914400" rtl="0" eaLnBrk="1" fontAlgn="auto" latinLnBrk="0" hangingPunct="1">
              <a:lnSpc>
                <a:spcPct val="60000"/>
              </a:lnSpc>
              <a:spcBef>
                <a:spcPts val="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c.  Physicians</a:t>
            </a:r>
          </a:p>
          <a:p>
            <a:pPr marL="301752" marR="0" lvl="1" indent="0" algn="l" defTabSz="914400" rtl="0" eaLnBrk="1" fontAlgn="auto" latinLnBrk="0" hangingPunct="1">
              <a:lnSpc>
                <a:spcPct val="60000"/>
              </a:lnSpc>
              <a:spcBef>
                <a:spcPts val="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d.  Eligible Ancillary Providers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Out of Pocket Expenses Qualify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0% Interest Rate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Employee Determines Repayment Schedules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5.   To Qualify:  Answer One Simple Question</a:t>
            </a:r>
          </a:p>
          <a:p>
            <a:pPr marL="301752" marR="0" lvl="1" indent="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  <a:p>
            <a:pPr marL="301752" marR="0" lvl="1" indent="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B6353D-0F2D-B3C9-7A27-75C14D6BED8F}"/>
              </a:ext>
            </a:extLst>
          </p:cNvPr>
          <p:cNvSpPr txBox="1">
            <a:spLocks/>
          </p:cNvSpPr>
          <p:nvPr/>
        </p:nvSpPr>
        <p:spPr>
          <a:xfrm>
            <a:off x="117445" y="291892"/>
            <a:ext cx="11534623" cy="1082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00539F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THE KBA HEALTHCARE CREDIT CARD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7A8CF715-9A59-9BC1-F563-EB57E0E8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91613" y="62185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28FB93-0A08-4E7D-8E63-9EFA29F1E0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7" name="Picture 10">
            <a:extLst>
              <a:ext uri="{FF2B5EF4-FFF2-40B4-BE49-F238E27FC236}">
                <a16:creationId xmlns:a16="http://schemas.microsoft.com/office/drawing/2014/main" id="{C29A4437-7BF2-00C8-3CE2-47821471F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8" name="Freeform 11">
            <a:extLst>
              <a:ext uri="{FF2B5EF4-FFF2-40B4-BE49-F238E27FC236}">
                <a16:creationId xmlns:a16="http://schemas.microsoft.com/office/drawing/2014/main" id="{5887201F-FBD0-343F-D3E2-4BB44889CE3C}"/>
              </a:ext>
            </a:extLst>
          </p:cNvPr>
          <p:cNvSpPr/>
          <p:nvPr/>
        </p:nvSpPr>
        <p:spPr>
          <a:xfrm rot="16200000" flipV="1">
            <a:off x="7290397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401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16DA80FC-AC13-8B4D-1B26-8FFCCBE68854}"/>
              </a:ext>
            </a:extLst>
          </p:cNvPr>
          <p:cNvSpPr txBox="1">
            <a:spLocks/>
          </p:cNvSpPr>
          <p:nvPr/>
        </p:nvSpPr>
        <p:spPr>
          <a:xfrm>
            <a:off x="401217" y="172586"/>
            <a:ext cx="11534623" cy="80744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KEY INCENTIVE PLAN (KIP):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Arial" panose="020B0604020202020204" pitchFamily="34" charset="0"/>
              </a:rPr>
              <a:t>BASE MEDICAL + BONUS BENEFITS = YOUR DEDUCTIBLE CAN SIMPLY VANISH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j-ea"/>
              <a:cs typeface="+mj-cs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8B3A2443-C9A5-9840-65A4-36B20C47D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6827" y="626813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28FB93-0A08-4E7D-8E63-9EFA29F1E0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E4909EF0-0675-CA57-8ADA-A19CD01D3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CA353A74-5D89-849A-9B03-BCFB396BAA13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065E6D81-E529-3946-F4D6-5D6609CC0FE8}"/>
              </a:ext>
            </a:extLst>
          </p:cNvPr>
          <p:cNvGraphicFramePr>
            <a:graphicFrameLocks noGrp="1"/>
          </p:cNvGraphicFramePr>
          <p:nvPr/>
        </p:nvGraphicFramePr>
        <p:xfrm>
          <a:off x="401217" y="970995"/>
          <a:ext cx="11005538" cy="5271741"/>
        </p:xfrm>
        <a:graphic>
          <a:graphicData uri="http://schemas.openxmlformats.org/drawingml/2006/table">
            <a:tbl>
              <a:tblPr/>
              <a:tblGrid>
                <a:gridCol w="1330055">
                  <a:extLst>
                    <a:ext uri="{9D8B030D-6E8A-4147-A177-3AD203B41FA5}">
                      <a16:colId xmlns:a16="http://schemas.microsoft.com/office/drawing/2014/main" val="3195232096"/>
                    </a:ext>
                  </a:extLst>
                </a:gridCol>
                <a:gridCol w="1699612">
                  <a:extLst>
                    <a:ext uri="{9D8B030D-6E8A-4147-A177-3AD203B41FA5}">
                      <a16:colId xmlns:a16="http://schemas.microsoft.com/office/drawing/2014/main" val="1786901733"/>
                    </a:ext>
                  </a:extLst>
                </a:gridCol>
                <a:gridCol w="2400820">
                  <a:extLst>
                    <a:ext uri="{9D8B030D-6E8A-4147-A177-3AD203B41FA5}">
                      <a16:colId xmlns:a16="http://schemas.microsoft.com/office/drawing/2014/main" val="1392519372"/>
                    </a:ext>
                  </a:extLst>
                </a:gridCol>
                <a:gridCol w="1964908">
                  <a:extLst>
                    <a:ext uri="{9D8B030D-6E8A-4147-A177-3AD203B41FA5}">
                      <a16:colId xmlns:a16="http://schemas.microsoft.com/office/drawing/2014/main" val="660552617"/>
                    </a:ext>
                  </a:extLst>
                </a:gridCol>
                <a:gridCol w="156744">
                  <a:extLst>
                    <a:ext uri="{9D8B030D-6E8A-4147-A177-3AD203B41FA5}">
                      <a16:colId xmlns:a16="http://schemas.microsoft.com/office/drawing/2014/main" val="1136356776"/>
                    </a:ext>
                  </a:extLst>
                </a:gridCol>
                <a:gridCol w="2620433">
                  <a:extLst>
                    <a:ext uri="{9D8B030D-6E8A-4147-A177-3AD203B41FA5}">
                      <a16:colId xmlns:a16="http://schemas.microsoft.com/office/drawing/2014/main" val="713959702"/>
                    </a:ext>
                  </a:extLst>
                </a:gridCol>
                <a:gridCol w="832966">
                  <a:extLst>
                    <a:ext uri="{9D8B030D-6E8A-4147-A177-3AD203B41FA5}">
                      <a16:colId xmlns:a16="http://schemas.microsoft.com/office/drawing/2014/main" val="1233038709"/>
                    </a:ext>
                  </a:extLst>
                </a:gridCol>
              </a:tblGrid>
              <a:tr h="393475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BENEFIT EXAMPLE</a:t>
                      </a:r>
                    </a:p>
                  </a:txBody>
                  <a:tcPr marL="7133" marR="7133" marT="71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133" marR="7133" marT="7133" marB="0" anchor="b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CLAIM EXAMPLE  </a:t>
                      </a:r>
                    </a:p>
                  </a:txBody>
                  <a:tcPr marL="7133" marR="7133" marT="713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91891274"/>
                  </a:ext>
                </a:extLst>
              </a:tr>
              <a:tr h="708259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BASE MEDICAL BENEFITS</a:t>
                      </a: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BONUS BENEFITS</a:t>
                      </a:r>
                    </a:p>
                  </a:txBody>
                  <a:tcPr marL="7133" marR="7133" marT="713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133" marR="7133" marT="713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“How Your Deductible Can Vanish”</a:t>
                      </a: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92043374"/>
                  </a:ext>
                </a:extLst>
              </a:tr>
              <a:tr h="454683"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US" sz="115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Deductible</a:t>
                      </a: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US" sz="115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Benefits Automatically Included In Your Plan,                                                                 At NO Additional Cost To You!</a:t>
                      </a: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133" marR="7133" marT="713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CLAIM EXAMPLE:     Heart Attack, with Surgery</a:t>
                      </a: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31598024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Single</a:t>
                      </a:r>
                    </a:p>
                  </a:txBody>
                  <a:tcPr marL="7133" marR="64200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$2,500 </a:t>
                      </a:r>
                    </a:p>
                  </a:txBody>
                  <a:tcPr marL="7133" marR="7133" marT="7133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5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Preferred Hospital Stay</a:t>
                      </a: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  Days at $500 / Day</a:t>
                      </a:r>
                    </a:p>
                  </a:txBody>
                  <a:tcPr marL="7133" marR="7133" marT="7133" marB="0" anchor="ctr">
                    <a:lnL w="6350" cap="flat" cmpd="sng" algn="ctr">
                      <a:solidFill>
                        <a:srgbClr val="75717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133" marR="7133" marT="713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OP Radiology/X-Ray</a:t>
                      </a: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$200 </a:t>
                      </a:r>
                    </a:p>
                  </a:txBody>
                  <a:tcPr marL="7133" marR="7133" marT="7133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750250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Family</a:t>
                      </a:r>
                    </a:p>
                  </a:txBody>
                  <a:tcPr marL="7133" marR="64200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$3,500 </a:t>
                      </a:r>
                    </a:p>
                  </a:txBody>
                  <a:tcPr marL="7133" marR="7133" marT="7133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5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Non-Preferred Hospital Stay</a:t>
                      </a: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 Day at $50 / Day</a:t>
                      </a:r>
                    </a:p>
                  </a:txBody>
                  <a:tcPr marL="7133" marR="7133" marT="7133" marB="0" anchor="ctr">
                    <a:lnL w="6350" cap="flat" cmpd="sng" algn="ctr">
                      <a:solidFill>
                        <a:srgbClr val="75717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133" marR="7133" marT="713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OP Diagnostic Labs</a:t>
                      </a: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$100 </a:t>
                      </a:r>
                    </a:p>
                  </a:txBody>
                  <a:tcPr marL="7133" marR="7133" marT="7133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238380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5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Coinsurance</a:t>
                      </a: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80% / 20%</a:t>
                      </a:r>
                    </a:p>
                  </a:txBody>
                  <a:tcPr marL="7133" marR="7133" marT="7133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5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OP Surgery</a:t>
                      </a: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$700 / 1 Day</a:t>
                      </a:r>
                    </a:p>
                  </a:txBody>
                  <a:tcPr marL="7133" marR="7133" marT="7133" marB="0" anchor="ctr">
                    <a:lnL w="6350" cap="flat" cmpd="sng" algn="ctr">
                      <a:solidFill>
                        <a:srgbClr val="75717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133" marR="7133" marT="713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Preferred Hospital Stay, </a:t>
                      </a:r>
                    </a:p>
                    <a:p>
                      <a:pPr algn="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 Days at $500/Day</a:t>
                      </a: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$2,500</a:t>
                      </a:r>
                    </a:p>
                  </a:txBody>
                  <a:tcPr marL="7133" marR="7133" marT="7133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207580"/>
                  </a:ext>
                </a:extLst>
              </a:tr>
              <a:tr h="349758"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en-US" sz="115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Maximum Out-of-Pocket</a:t>
                      </a:r>
                    </a:p>
                  </a:txBody>
                  <a:tcPr marL="7133" marR="7133" marT="713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5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OP Anesthesia</a:t>
                      </a: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$250 / 1 Day</a:t>
                      </a:r>
                    </a:p>
                  </a:txBody>
                  <a:tcPr marL="7133" marR="7133" marT="7133" marB="0" anchor="ctr">
                    <a:lnL w="6350" cap="flat" cmpd="sng" algn="ctr">
                      <a:solidFill>
                        <a:srgbClr val="75717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133" marR="7133" marT="713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Critical Illness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  (Heart Attack Benefit)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$2,000 </a:t>
                      </a:r>
                    </a:p>
                  </a:txBody>
                  <a:tcPr marL="7133" marR="7133" marT="7133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680797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Single</a:t>
                      </a:r>
                    </a:p>
                  </a:txBody>
                  <a:tcPr marL="7133" marR="64200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$3,500 </a:t>
                      </a:r>
                    </a:p>
                  </a:txBody>
                  <a:tcPr marL="7133" marR="7133" marT="7133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5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OP Radiology/X-Ray</a:t>
                      </a: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$200 / 1 Day</a:t>
                      </a:r>
                    </a:p>
                  </a:txBody>
                  <a:tcPr marL="7133" marR="7133" marT="7133" marB="0" anchor="ctr">
                    <a:lnL w="6350" cap="flat" cmpd="sng" algn="ctr">
                      <a:solidFill>
                        <a:srgbClr val="75717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133" marR="7133" marT="713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Health Screening Benefit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(Stress-Test)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$125</a:t>
                      </a:r>
                    </a:p>
                  </a:txBody>
                  <a:tcPr marL="7133" marR="7133" marT="7133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247627"/>
                  </a:ext>
                </a:extLst>
              </a:tr>
              <a:tr h="349758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Family</a:t>
                      </a:r>
                    </a:p>
                  </a:txBody>
                  <a:tcPr marL="7133" marR="64200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$7,000</a:t>
                      </a:r>
                    </a:p>
                  </a:txBody>
                  <a:tcPr marL="7133" marR="7133" marT="7133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5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OP Diagnostic Labs</a:t>
                      </a: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$100 / 1 Day</a:t>
                      </a:r>
                    </a:p>
                  </a:txBody>
                  <a:tcPr marL="7133" marR="7133" marT="7133" marB="0" anchor="ctr">
                    <a:lnL w="6350" cap="flat" cmpd="sng" algn="ctr">
                      <a:solidFill>
                        <a:srgbClr val="75717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133" marR="7133" marT="713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Wellness Benefit 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(Telephonic Coaching)</a:t>
                      </a: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$125</a:t>
                      </a:r>
                    </a:p>
                  </a:txBody>
                  <a:tcPr marL="7133" marR="7133" marT="7133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367116"/>
                  </a:ext>
                </a:extLst>
              </a:tr>
              <a:tr h="349758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Chronic Disease Management Regimens of Care,   Covered at 100%</a:t>
                      </a: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5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Health Screening Benefit</a:t>
                      </a: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$125 / 1 Day</a:t>
                      </a:r>
                    </a:p>
                  </a:txBody>
                  <a:tcPr marL="7133" marR="7133" marT="7133" marB="0" anchor="ctr">
                    <a:lnL w="6350" cap="flat" cmpd="sng" algn="ctr">
                      <a:solidFill>
                        <a:srgbClr val="75717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133" marR="7133" marT="713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BONUS BENEFIT PAYABLE</a:t>
                      </a:r>
                    </a:p>
                  </a:txBody>
                  <a:tcPr marL="64200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$5,050</a:t>
                      </a:r>
                    </a:p>
                  </a:txBody>
                  <a:tcPr marL="7133" marR="7133" marT="71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647697"/>
                  </a:ext>
                </a:extLst>
              </a:tr>
              <a:tr h="39347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Healthcare Specific, Interest Free Credit Card to Cover Out-of-Pocket Costs </a:t>
                      </a: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5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Wellness Benefit</a:t>
                      </a: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$125/1 Day</a:t>
                      </a:r>
                    </a:p>
                  </a:txBody>
                  <a:tcPr marL="7133" marR="7133" marT="7133" marB="0" anchor="ctr">
                    <a:lnL w="6350" cap="flat" cmpd="sng" algn="ctr">
                      <a:solidFill>
                        <a:srgbClr val="75717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133" marR="7133" marT="713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Less Your Maximum  Out-of-Pocket Cost</a:t>
                      </a:r>
                    </a:p>
                  </a:txBody>
                  <a:tcPr marL="64200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A6192E"/>
                          </a:solidFill>
                          <a:effectLst/>
                          <a:latin typeface="Montserrat" panose="00000500000000000000" pitchFamily="2" charset="0"/>
                        </a:rPr>
                        <a:t>($3,500)</a:t>
                      </a:r>
                    </a:p>
                  </a:txBody>
                  <a:tcPr marL="7133" marR="7133" marT="71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281273"/>
                  </a:ext>
                </a:extLst>
              </a:tr>
              <a:tr h="515890">
                <a:tc rowSpan="2" gridSpan="2"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</a:t>
                      </a:r>
                    </a:p>
                  </a:txBody>
                  <a:tcPr marL="7133" marR="7133" marT="713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33" marR="7133" marT="713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5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Critical Illness Benefit*</a:t>
                      </a: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5717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$2,000 Lump Sum</a:t>
                      </a:r>
                    </a:p>
                  </a:txBody>
                  <a:tcPr marL="7133" marR="7133" marT="7133" marB="0" anchor="ctr">
                    <a:lnL w="6350" cap="flat" cmpd="sng" algn="ctr">
                      <a:solidFill>
                        <a:srgbClr val="75717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133" marR="7133" marT="713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Additional Benefit, </a:t>
                      </a:r>
                    </a:p>
                    <a:p>
                      <a:pPr algn="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Payable Directly to You!</a:t>
                      </a:r>
                    </a:p>
                  </a:txBody>
                  <a:tcPr marL="64200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$1,550!</a:t>
                      </a:r>
                    </a:p>
                  </a:txBody>
                  <a:tcPr marL="7133" marR="7133" marT="7133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967084"/>
                  </a:ext>
                </a:extLst>
              </a:tr>
              <a:tr h="349758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7133" marR="7133" marT="7133" marB="0" anchor="b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7133" marR="7133" marT="7133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*Critical Illness Benefits pays for 1st Diagnosis:  </a:t>
                      </a:r>
                    </a:p>
                    <a:p>
                      <a:pPr algn="ctr" fontAlgn="b"/>
                      <a:r>
                        <a:rPr lang="en-US" sz="11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Heart Attack, Stroke, Internal Cancer</a:t>
                      </a:r>
                    </a:p>
                  </a:txBody>
                  <a:tcPr marL="7133" marR="7133" marT="713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75717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133" marR="7133" marT="713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133" marR="7133" marT="713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133" marR="7133" marT="713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086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5732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>
            <a:extLst>
              <a:ext uri="{FF2B5EF4-FFF2-40B4-BE49-F238E27FC236}">
                <a16:creationId xmlns:a16="http://schemas.microsoft.com/office/drawing/2014/main" id="{6242924E-816E-0617-E717-FD91AE2D016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1500695"/>
            <a:ext cx="7241309" cy="452581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D2743DB-6003-F77F-2D46-16EC76C23EA4}"/>
              </a:ext>
            </a:extLst>
          </p:cNvPr>
          <p:cNvSpPr txBox="1">
            <a:spLocks/>
          </p:cNvSpPr>
          <p:nvPr/>
        </p:nvSpPr>
        <p:spPr>
          <a:xfrm>
            <a:off x="117445" y="207689"/>
            <a:ext cx="11534623" cy="108216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539F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THE BENEFIT STEERING THE PATIENT TO WHA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i="0" u="none" strike="noStrike" kern="1200" cap="none" spc="0" normalizeH="0" baseline="0" noProof="0" dirty="0">
                <a:ln>
                  <a:noFill/>
                </a:ln>
                <a:solidFill>
                  <a:srgbClr val="00539F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Arial" panose="020B0604020202020204" pitchFamily="34" charset="0"/>
              </a:rPr>
              <a:t>What Will this Claim Cost Me?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82E6EAB-830B-F36B-F482-0339C2349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0395" y="633560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28FB93-0A08-4E7D-8E63-9EFA29F1E0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5" name="Picture 14">
            <a:extLst>
              <a:ext uri="{FF2B5EF4-FFF2-40B4-BE49-F238E27FC236}">
                <a16:creationId xmlns:a16="http://schemas.microsoft.com/office/drawing/2014/main" id="{18EE2CCA-91EC-8D14-02DB-5622F7259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6" name="Freeform 15">
            <a:extLst>
              <a:ext uri="{FF2B5EF4-FFF2-40B4-BE49-F238E27FC236}">
                <a16:creationId xmlns:a16="http://schemas.microsoft.com/office/drawing/2014/main" id="{1E58FADC-8A75-0ED5-B025-55AFCAF82465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4B00F08C-D58D-B160-274C-358241C0A9BA}"/>
              </a:ext>
            </a:extLst>
          </p:cNvPr>
          <p:cNvSpPr/>
          <p:nvPr/>
        </p:nvSpPr>
        <p:spPr>
          <a:xfrm>
            <a:off x="8037505" y="1852181"/>
            <a:ext cx="3737727" cy="397552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Picture 16">
            <a:extLst>
              <a:ext uri="{FF2B5EF4-FFF2-40B4-BE49-F238E27FC236}">
                <a16:creationId xmlns:a16="http://schemas.microsoft.com/office/drawing/2014/main" id="{5AC4AED8-CD54-569B-E7E6-AF890B69A91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22899" y="1981860"/>
            <a:ext cx="1197168" cy="261201"/>
          </a:xfrm>
          <a:prstGeom prst="rect">
            <a:avLst/>
          </a:prstGeom>
        </p:spPr>
      </p:pic>
      <p:pic>
        <p:nvPicPr>
          <p:cNvPr id="9" name="Picture 1">
            <a:extLst>
              <a:ext uri="{FF2B5EF4-FFF2-40B4-BE49-F238E27FC236}">
                <a16:creationId xmlns:a16="http://schemas.microsoft.com/office/drawing/2014/main" id="{77CEF25D-7C3B-E3B1-4CB8-566FCA777C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2899" y="2243061"/>
            <a:ext cx="3600450" cy="3429000"/>
          </a:xfrm>
          <a:prstGeom prst="rect">
            <a:avLst/>
          </a:prstGeom>
        </p:spPr>
      </p:pic>
      <p:sp>
        <p:nvSpPr>
          <p:cNvPr id="10" name="Arrow: Pentagon 17">
            <a:extLst>
              <a:ext uri="{FF2B5EF4-FFF2-40B4-BE49-F238E27FC236}">
                <a16:creationId xmlns:a16="http://schemas.microsoft.com/office/drawing/2014/main" id="{04BF0C8D-2E38-04D3-C1BE-5EA5D09D3B9B}"/>
              </a:ext>
            </a:extLst>
          </p:cNvPr>
          <p:cNvSpPr/>
          <p:nvPr/>
        </p:nvSpPr>
        <p:spPr>
          <a:xfrm>
            <a:off x="0" y="5080000"/>
            <a:ext cx="7639406" cy="766181"/>
          </a:xfrm>
          <a:prstGeom prst="homePlate">
            <a:avLst/>
          </a:prstGeom>
          <a:solidFill>
            <a:srgbClr val="D9D9D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4D269B07-A1ED-07AD-3675-D58BFB1D18D7}"/>
              </a:ext>
            </a:extLst>
          </p:cNvPr>
          <p:cNvSpPr txBox="1"/>
          <p:nvPr/>
        </p:nvSpPr>
        <p:spPr>
          <a:xfrm>
            <a:off x="57992" y="5309201"/>
            <a:ext cx="76073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Western Health Alliance patients will often receive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cash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,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not bills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after care episodes!</a:t>
            </a:r>
          </a:p>
        </p:txBody>
      </p:sp>
    </p:spTree>
    <p:extLst>
      <p:ext uri="{BB962C8B-B14F-4D97-AF65-F5344CB8AC3E}">
        <p14:creationId xmlns:p14="http://schemas.microsoft.com/office/powerpoint/2010/main" val="514031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9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4CC002-2071-B4F4-E97B-DC9F53CE2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526E30EB-BEDD-4E13-5E8C-B6901CADE68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920" y="0"/>
            <a:ext cx="11686080" cy="6858000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F9EC7B3B-F0EA-B13C-D815-1424EEAA8F1E}"/>
              </a:ext>
            </a:extLst>
          </p:cNvPr>
          <p:cNvSpPr/>
          <p:nvPr/>
        </p:nvSpPr>
        <p:spPr>
          <a:xfrm>
            <a:off x="505920" y="3271520"/>
            <a:ext cx="11686080" cy="1676400"/>
          </a:xfrm>
          <a:prstGeom prst="rect">
            <a:avLst/>
          </a:prstGeom>
          <a:solidFill>
            <a:srgbClr val="F2F2F2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747FFAF-EF51-2AC8-5734-510419FDDDD5}"/>
              </a:ext>
            </a:extLst>
          </p:cNvPr>
          <p:cNvSpPr/>
          <p:nvPr/>
        </p:nvSpPr>
        <p:spPr>
          <a:xfrm>
            <a:off x="758880" y="3555967"/>
            <a:ext cx="11180160" cy="11520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7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0" cap="none" spc="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FINANCIAL PROJECTIONS </a:t>
            </a:r>
          </a:p>
          <a:p>
            <a:pPr marL="0" marR="0" lvl="0" indent="0" algn="l" defTabSz="914400" rtl="0" eaLnBrk="1" fontAlgn="auto" latinLnBrk="0" hangingPunct="1">
              <a:lnSpc>
                <a:spcPts val="47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500" b="1" kern="0" spc="135" dirty="0">
                <a:solidFill>
                  <a:prstClr val="black"/>
                </a:solidFill>
                <a:latin typeface="Montserrat" panose="00000500000000000000" pitchFamily="2" charset="0"/>
                <a:ea typeface="Jost*" pitchFamily="34" charset="-122"/>
              </a:rPr>
              <a:t>&amp; ASSUPTIONS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56F25943-3DBB-C716-6FB6-64E3263E21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3594" y="4707983"/>
            <a:ext cx="1904524" cy="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2358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748BE3BD-F9EE-3EE4-860C-3826F1F84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162" y="192961"/>
            <a:ext cx="11824080" cy="778058"/>
          </a:xfrm>
        </p:spPr>
        <p:txBody>
          <a:bodyPr>
            <a:normAutofit/>
          </a:bodyPr>
          <a:lstStyle/>
          <a:p>
            <a:r>
              <a:rPr lang="en-US" sz="2800" dirty="0">
                <a:solidFill/>
                <a:latin typeface="Montserrat" panose="00000500000000000000" pitchFamily="2" charset="0"/>
                <a:cs typeface="Arial" panose="020B0604020202020204" pitchFamily="34" charset="0"/>
              </a:rPr>
              <a:t>ESTIMATION OF WHA HOSPITAL’S 2022 PAYER MIX</a:t>
            </a:r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713AD275-CC86-F2BC-8594-AECC0B661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298372"/>
              </p:ext>
            </p:extLst>
          </p:nvPr>
        </p:nvGraphicFramePr>
        <p:xfrm>
          <a:off x="215572" y="1193624"/>
          <a:ext cx="5880426" cy="356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216">
                  <a:extLst>
                    <a:ext uri="{9D8B030D-6E8A-4147-A177-3AD203B41FA5}">
                      <a16:colId xmlns:a16="http://schemas.microsoft.com/office/drawing/2014/main" val="1990432805"/>
                    </a:ext>
                  </a:extLst>
                </a:gridCol>
                <a:gridCol w="1143559">
                  <a:extLst>
                    <a:ext uri="{9D8B030D-6E8A-4147-A177-3AD203B41FA5}">
                      <a16:colId xmlns:a16="http://schemas.microsoft.com/office/drawing/2014/main" val="2178546237"/>
                    </a:ext>
                  </a:extLst>
                </a:gridCol>
                <a:gridCol w="1413731">
                  <a:extLst>
                    <a:ext uri="{9D8B030D-6E8A-4147-A177-3AD203B41FA5}">
                      <a16:colId xmlns:a16="http://schemas.microsoft.com/office/drawing/2014/main" val="3494448363"/>
                    </a:ext>
                  </a:extLst>
                </a:gridCol>
                <a:gridCol w="1222920">
                  <a:extLst>
                    <a:ext uri="{9D8B030D-6E8A-4147-A177-3AD203B41FA5}">
                      <a16:colId xmlns:a16="http://schemas.microsoft.com/office/drawing/2014/main" val="3564552567"/>
                    </a:ext>
                  </a:extLst>
                </a:gridCol>
              </a:tblGrid>
              <a:tr h="78456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Payer Group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Total Inpatient Days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Payer Mix</a:t>
                      </a:r>
                    </a:p>
                  </a:txBody>
                  <a:tcPr>
                    <a:solidFill>
                      <a:srgbClr val="0053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373735"/>
                  </a:ext>
                </a:extLst>
              </a:tr>
              <a:tr h="326902">
                <a:tc>
                  <a:txBody>
                    <a:bodyPr/>
                    <a:lstStyle/>
                    <a:p>
                      <a:r>
                        <a:rPr lang="en-US" sz="1200" dirty="0">
                          <a:solidFill/>
                          <a:latin typeface="Montserrat" panose="00000500000000000000" pitchFamily="2" charset="0"/>
                        </a:rPr>
                        <a:t>All Western Health Alliance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1,274,098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$12,883,498K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100%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973942"/>
                  </a:ext>
                </a:extLst>
              </a:tr>
              <a:tr h="32690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tserrat" panose="00000500000000000000" pitchFamily="2" charset="0"/>
                        </a:rPr>
                        <a:t>Medicare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289,413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$1,715,475K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23%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544718"/>
                  </a:ext>
                </a:extLst>
              </a:tr>
              <a:tr h="32690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tserrat" panose="00000500000000000000" pitchFamily="2" charset="0"/>
                        </a:rPr>
                        <a:t>Medicaid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265,686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$1,413,700K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21%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33009"/>
                  </a:ext>
                </a:extLst>
              </a:tr>
              <a:tr h="555734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tserrat" panose="00000500000000000000" pitchFamily="2" charset="0"/>
                        </a:rPr>
                        <a:t>Other Government Pay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sz="1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94609"/>
                  </a:ext>
                </a:extLst>
              </a:tr>
              <a:tr h="555734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tserrat" panose="00000500000000000000" pitchFamily="2" charset="0"/>
                        </a:rPr>
                        <a:t>No-Pay, Charity Care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83,825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-$884,948K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7%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958224"/>
                  </a:ext>
                </a:extLst>
              </a:tr>
              <a:tr h="555734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tserrat" panose="00000500000000000000" pitchFamily="2" charset="0"/>
                        </a:rPr>
                        <a:t>Commercial/Self Pay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635,174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$9,744,006K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49%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780832"/>
                  </a:ext>
                </a:extLst>
              </a:tr>
            </a:tbl>
          </a:graphicData>
        </a:graphic>
      </p:graphicFrame>
      <p:sp>
        <p:nvSpPr>
          <p:cNvPr id="4" name="TextBox 8">
            <a:extLst>
              <a:ext uri="{FF2B5EF4-FFF2-40B4-BE49-F238E27FC236}">
                <a16:creationId xmlns:a16="http://schemas.microsoft.com/office/drawing/2014/main" id="{6AC02F6F-C422-9313-946A-CD28952173F8}"/>
              </a:ext>
            </a:extLst>
          </p:cNvPr>
          <p:cNvSpPr txBox="1"/>
          <p:nvPr/>
        </p:nvSpPr>
        <p:spPr>
          <a:xfrm>
            <a:off x="6431282" y="1690688"/>
            <a:ext cx="56489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 pitchFamily="34" charset="0"/>
              </a:rPr>
              <a:t>Estimating Payer Mix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 pitchFamily="34" charset="0"/>
              </a:rPr>
              <a:t>Medicare, Medicaid, and other government payer mixes are estimated as the percentage of inpatient days for each group divided by total inpatient days.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 pitchFamily="34" charset="0"/>
              </a:rPr>
              <a:t>No-pay and charity care is estimated as the percentage of no-pay/charity care compared to total overall revenue.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 pitchFamily="34" charset="0"/>
              </a:rPr>
              <a:t>Commercial/self pay is assumed to be the rest of the total payer mix share. 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E107289D-24BF-1E88-2683-BA2979EC32B6}"/>
              </a:ext>
            </a:extLst>
          </p:cNvPr>
          <p:cNvSpPr txBox="1"/>
          <p:nvPr/>
        </p:nvSpPr>
        <p:spPr>
          <a:xfrm>
            <a:off x="6431282" y="3666233"/>
            <a:ext cx="56489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 pitchFamily="34" charset="0"/>
              </a:rPr>
              <a:t>Estimating Total Inpatient Days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 pitchFamily="34" charset="0"/>
              </a:rPr>
              <a:t>Total inpatient days for ‘No Pay’ and ‘Commercial’ are estimated to be the payer mix estimates for “No Pay, Charity Care” and “Commercial/Self Pay” multiplied by the total number of inpatient days. </a:t>
            </a: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B06F8AA7-185E-8401-4C51-579C44EE0B64}"/>
              </a:ext>
            </a:extLst>
          </p:cNvPr>
          <p:cNvSpPr txBox="1"/>
          <p:nvPr/>
        </p:nvSpPr>
        <p:spPr>
          <a:xfrm>
            <a:off x="256162" y="4945531"/>
            <a:ext cx="5161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 pitchFamily="34" charset="0"/>
              </a:rPr>
              <a:t>Values in blue are taken from the 2021 Medicare Provider Cost Report 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 pitchFamily="34" charset="0"/>
                <a:hlinkClick r:id="rId2"/>
              </a:rPr>
              <a:t>https://data.cms.gov/provider-compliance/cost-report/hospital-provider-cost-report/data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Montserrat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CF495B2A-50EF-4B94-1C1C-99E3DB78B211}"/>
              </a:ext>
            </a:extLst>
          </p:cNvPr>
          <p:cNvSpPr txBox="1"/>
          <p:nvPr/>
        </p:nvSpPr>
        <p:spPr>
          <a:xfrm>
            <a:off x="256162" y="5956240"/>
            <a:ext cx="5161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 pitchFamily="34" charset="0"/>
              </a:rPr>
              <a:t>Total Medicare patient revenue is reported by CMS in the Medicare Provider Analysis and Review Report (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 pitchFamily="34" charset="0"/>
              </a:rPr>
              <a:t>MedPAR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 pitchFamily="34" charset="0"/>
              </a:rPr>
              <a:t>) </a:t>
            </a:r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802290A3-B694-4505-9BF2-D6CD7AF07C8B}"/>
              </a:ext>
            </a:extLst>
          </p:cNvPr>
          <p:cNvSpPr/>
          <p:nvPr/>
        </p:nvSpPr>
        <p:spPr>
          <a:xfrm>
            <a:off x="6471922" y="5141881"/>
            <a:ext cx="5463916" cy="430887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 pitchFamily="34" charset="0"/>
              </a:rPr>
              <a:t>In other analysis, the outpatient payer mix is assumed to mirror the inpatient payer mix. 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4D7BD8F7-B0DB-8CCC-E477-F7ABE50AAD26}"/>
              </a:ext>
            </a:extLst>
          </p:cNvPr>
          <p:cNvSpPr txBox="1"/>
          <p:nvPr/>
        </p:nvSpPr>
        <p:spPr>
          <a:xfrm>
            <a:off x="256162" y="5610759"/>
            <a:ext cx="5161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 pitchFamily="34" charset="0"/>
              </a:rPr>
              <a:t>Values in yellow are taken from Definitive Healthcare data. </a:t>
            </a: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C11EDAF0-1123-B26B-1178-B59C49AEC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1" name="Freeform 13">
            <a:extLst>
              <a:ext uri="{FF2B5EF4-FFF2-40B4-BE49-F238E27FC236}">
                <a16:creationId xmlns:a16="http://schemas.microsoft.com/office/drawing/2014/main" id="{90441EB9-4276-01D2-F346-F76695D74F2E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8631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13EFE-107F-C70D-DA9D-3AACDFE5F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464" y="245858"/>
            <a:ext cx="11120338" cy="917576"/>
          </a:xfrm>
        </p:spPr>
        <p:txBody>
          <a:bodyPr>
            <a:noAutofit/>
          </a:bodyPr>
          <a:lstStyle/>
          <a:p>
            <a:r>
              <a:rPr lang="en-US" sz="3600" dirty="0">
                <a:latin typeface="Montserrat" panose="00000500000000000000" pitchFamily="2" charset="0"/>
                <a:cs typeface="Arial" panose="020B0604020202020204" pitchFamily="34" charset="0"/>
              </a:rPr>
              <a:t>ESTIMATION OF MARGIN FOR COMMERCIAL VS. GOVERNMENT PAY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333E6-57DF-6C19-7BCA-1AE47F6C6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9094"/>
            <a:ext cx="10515600" cy="917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/>
                <a:cs typeface="Arial" panose="020B0604020202020204" pitchFamily="34" charset="0"/>
              </a:rPr>
              <a:t>The RAND data for Western Health Alliance estimates commercial insurance reimbursements at 315% of Medicare Rates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8BFBD36-1E96-1E59-E3A7-CCEF02D0CF96}"/>
              </a:ext>
            </a:extLst>
          </p:cNvPr>
          <p:cNvSpPr txBox="1">
            <a:spLocks/>
          </p:cNvSpPr>
          <p:nvPr/>
        </p:nvSpPr>
        <p:spPr>
          <a:xfrm>
            <a:off x="838198" y="2403681"/>
            <a:ext cx="4526280" cy="917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3" indent="-228603" algn="l" defTabSz="91441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2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3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3" algn="l" defTabSz="9144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11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85163DF1-EB5C-1C3C-A93D-5F16CEEC2B92}"/>
              </a:ext>
            </a:extLst>
          </p:cNvPr>
          <p:cNvSpPr txBox="1"/>
          <p:nvPr/>
        </p:nvSpPr>
        <p:spPr>
          <a:xfrm>
            <a:off x="838197" y="2311606"/>
            <a:ext cx="474217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 pitchFamily="34" charset="0"/>
              </a:rPr>
              <a:t>Estimating Commercial Margin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 pitchFamily="34" charset="0"/>
              </a:rPr>
              <a:t>(Calculated through counterfactual of assuming all CMS/Government pay was paying at commercial rates)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020B90EA-11B9-6E81-60B7-F3AFEA7FC5A7}"/>
              </a:ext>
            </a:extLst>
          </p:cNvPr>
          <p:cNvSpPr txBox="1"/>
          <p:nvPr/>
        </p:nvSpPr>
        <p:spPr>
          <a:xfrm>
            <a:off x="6827520" y="2311606"/>
            <a:ext cx="43586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 pitchFamily="34" charset="0"/>
              </a:rPr>
              <a:t>Estimating Gov-Pay Margin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cs typeface="Arial" panose="020B0604020202020204" pitchFamily="34" charset="0"/>
              </a:rPr>
              <a:t>(Calculated through counterfactual of assuming all commercial pay was paying at Medicare rate)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30CE50B1-E66B-B63F-C96E-A434E7ECFB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215806"/>
              </p:ext>
            </p:extLst>
          </p:nvPr>
        </p:nvGraphicFramePr>
        <p:xfrm>
          <a:off x="1018538" y="3548268"/>
          <a:ext cx="4345939" cy="248920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703097">
                  <a:extLst>
                    <a:ext uri="{9D8B030D-6E8A-4147-A177-3AD203B41FA5}">
                      <a16:colId xmlns:a16="http://schemas.microsoft.com/office/drawing/2014/main" val="1477699201"/>
                    </a:ext>
                  </a:extLst>
                </a:gridCol>
                <a:gridCol w="1642842">
                  <a:extLst>
                    <a:ext uri="{9D8B030D-6E8A-4147-A177-3AD203B41FA5}">
                      <a16:colId xmlns:a16="http://schemas.microsoft.com/office/drawing/2014/main" val="38979384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Commercial Revenue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$</a:t>
                      </a:r>
                      <a:r>
                        <a:rPr lang="en-US" dirty="0">
                          <a:solidFill/>
                        </a:rPr>
                        <a:t>9,744,006K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2808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Gov-pay revenue at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315% current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rate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$</a:t>
                      </a:r>
                      <a:r>
                        <a:rPr lang="en-US" dirty="0">
                          <a:solidFill/>
                        </a:rPr>
                        <a:t>9,870,612K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689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Total Revenue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$</a:t>
                      </a:r>
                      <a:r>
                        <a:rPr lang="en-US" dirty="0">
                          <a:solidFill/>
                        </a:rPr>
                        <a:t>19,614,618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2538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Total Costs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$</a:t>
                      </a:r>
                      <a:r>
                        <a:rPr lang="en-US" dirty="0">
                          <a:solidFill/>
                        </a:rPr>
                        <a:t>12,929,440</a:t>
                      </a:r>
                      <a:r>
                        <a:rPr lang="en-US" sz="1800" dirty="0"/>
                        <a:t>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3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Net Income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$6,685,178K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5813019"/>
                  </a:ext>
                </a:extLst>
              </a:tr>
              <a:tr h="276861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34%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80887445"/>
                  </a:ext>
                </a:extLst>
              </a:tr>
            </a:tbl>
          </a:graphicData>
        </a:graphic>
      </p:graphicFrame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BB254502-CBB2-8520-631D-31E05AB0F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836347"/>
              </p:ext>
            </p:extLst>
          </p:nvPr>
        </p:nvGraphicFramePr>
        <p:xfrm>
          <a:off x="6611619" y="3512837"/>
          <a:ext cx="4345939" cy="249428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703097">
                  <a:extLst>
                    <a:ext uri="{9D8B030D-6E8A-4147-A177-3AD203B41FA5}">
                      <a16:colId xmlns:a16="http://schemas.microsoft.com/office/drawing/2014/main" val="1477699201"/>
                    </a:ext>
                  </a:extLst>
                </a:gridCol>
                <a:gridCol w="1642842">
                  <a:extLst>
                    <a:ext uri="{9D8B030D-6E8A-4147-A177-3AD203B41FA5}">
                      <a16:colId xmlns:a16="http://schemas.microsoft.com/office/drawing/2014/main" val="38979384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Commercial Revenue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Divided by 315%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$</a:t>
                      </a:r>
                      <a:r>
                        <a:rPr lang="en-US" dirty="0">
                          <a:solidFill/>
                        </a:rPr>
                        <a:t>3,089,038K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2808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Gov-pay revenue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$</a:t>
                      </a:r>
                      <a:r>
                        <a:rPr lang="en-US" dirty="0">
                          <a:solidFill/>
                        </a:rPr>
                        <a:t>3,129,175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689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Total Revenue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$</a:t>
                      </a:r>
                      <a:r>
                        <a:rPr lang="en-US" dirty="0">
                          <a:solidFill/>
                        </a:rPr>
                        <a:t>6,218,213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2538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Total Costs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$</a:t>
                      </a:r>
                      <a:r>
                        <a:rPr lang="en-US" dirty="0">
                          <a:solidFill/>
                        </a:rPr>
                        <a:t>12,929,440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3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Net Income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55A11"/>
                          </a:solidFill>
                          <a:latin typeface="Montserrat" panose="00000500000000000000" pitchFamily="2" charset="0"/>
                        </a:rPr>
                        <a:t>$ -6,711,227</a:t>
                      </a:r>
                      <a:r>
                        <a:rPr lang="en-US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5813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55A11"/>
                          </a:solidFill>
                          <a:latin typeface="Montserrat" panose="00000500000000000000" pitchFamily="2" charset="0"/>
                        </a:rPr>
                        <a:t>-108%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80887445"/>
                  </a:ext>
                </a:extLst>
              </a:tr>
            </a:tbl>
          </a:graphicData>
        </a:graphic>
      </p:graphicFrame>
      <p:pic>
        <p:nvPicPr>
          <p:cNvPr id="9" name="Picture 10">
            <a:extLst>
              <a:ext uri="{FF2B5EF4-FFF2-40B4-BE49-F238E27FC236}">
                <a16:creationId xmlns:a16="http://schemas.microsoft.com/office/drawing/2014/main" id="{342DBBC9-66B5-A226-D8E1-D21F79631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0" name="Freeform 13">
            <a:extLst>
              <a:ext uri="{FF2B5EF4-FFF2-40B4-BE49-F238E27FC236}">
                <a16:creationId xmlns:a16="http://schemas.microsoft.com/office/drawing/2014/main" id="{0F4073EB-51F0-A6C1-7D34-41ED97664C8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91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7C8AA-0E66-B861-59D6-F381D95EE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ESTIMATING MARKET SHARE</a:t>
            </a: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DD333F58-1E5B-D213-65EE-BB627B8B12A8}"/>
              </a:ext>
            </a:extLst>
          </p:cNvPr>
          <p:cNvSpPr txBox="1"/>
          <p:nvPr/>
        </p:nvSpPr>
        <p:spPr>
          <a:xfrm>
            <a:off x="10096500" y="4481504"/>
            <a:ext cx="1992085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/>
                <a:latin typeface="Montserrat" panose="00000500000000000000" pitchFamily="2" charset="0"/>
                <a:cs typeface="Arial" panose="020B0604020202020204" pitchFamily="34" charset="0"/>
              </a:rPr>
              <a:t>For outpatient market share, it is estimated that only 53.7% of local physicians are employed by area hospitals (Research from the Physician Advocacy Institute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/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: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  <a:hlinkClick r:id="rId2"/>
              </a:rPr>
              <a:t>https://www.physiciansadvocacyinstitute.org/Portals/0/assets/docs/PAI-Research/PAI-Avalere%20Physician%20Employment%20Trends%20Study%202019-2023%20Final.pdf?ver=uGHF46u1GSeZgYXMKFyYvw%3d%3d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28816DA9-0016-360E-E0AF-042A76E415BD}"/>
              </a:ext>
            </a:extLst>
          </p:cNvPr>
          <p:cNvSpPr txBox="1"/>
          <p:nvPr/>
        </p:nvSpPr>
        <p:spPr>
          <a:xfrm>
            <a:off x="10334625" y="1860184"/>
            <a:ext cx="15906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Montserrat" panose="00000500000000000000" pitchFamily="2" charset="0"/>
              </a:rPr>
              <a:t>47% Inpatient Market Share</a:t>
            </a:r>
          </a:p>
          <a:p>
            <a:pPr algn="ctr"/>
            <a:endParaRPr lang="en-US" b="1" dirty="0">
              <a:solidFill>
                <a:schemeClr val="accent1"/>
              </a:solidFill>
              <a:latin typeface="Montserrat" panose="00000500000000000000" pitchFamily="2" charset="0"/>
            </a:endParaRPr>
          </a:p>
          <a:p>
            <a:pPr algn="ctr"/>
            <a:r>
              <a:rPr lang="en-US" b="1" dirty="0">
                <a:solidFill>
                  <a:schemeClr val="accent1"/>
                </a:solidFill>
                <a:latin typeface="Montserrat" panose="00000500000000000000" pitchFamily="2" charset="0"/>
              </a:rPr>
              <a:t>31% Outpatient Market Share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D0DD692F-D109-0348-F9B8-914DE2DD8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6" name="Freeform 13">
            <a:extLst>
              <a:ext uri="{FF2B5EF4-FFF2-40B4-BE49-F238E27FC236}">
                <a16:creationId xmlns:a16="http://schemas.microsoft.com/office/drawing/2014/main" id="{AC9E0C8C-1395-D9C5-6ED5-2E010F8A0484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422090"/>
              </p:ext>
            </p:extLst>
          </p:nvPr>
        </p:nvGraphicFramePr>
        <p:xfrm>
          <a:off x="265176" y="914400"/>
          <a:ext cx="9829800" cy="5156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0289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9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Hospital Name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9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Number of Beds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9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Inpatient Total Charges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9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Outpatient Total Charges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9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Inpatient Percent of Market Total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9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Outpatient Percent of Market Total (Assuming 53.7% of Physicians Employed by Hospitals)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Longmont United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163,404.2K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373,526.4K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Intermountain Health Platte Valley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197,567.5K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479,522.4K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Montrose Regional Health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93,284.8K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368,704.3K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SLV Health Regional Medical Center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50,995.2K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209,096.4K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Intermountain Health Lutheran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$1,286,834.5K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$1,162,092.9K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UCHealth</a:t>
                      </a: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 Poudre Valley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724,691.7K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$1,848,112.4K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St Mary-Corwin Medical Center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129,866.9K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619,673.9K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Mercy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312,302.3K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741,204.3K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St Anthony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$1,566,038.2K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$1,188,821.4K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UCHealth</a:t>
                      </a: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 Parkview Medical Center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$1,320,818.8K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$1,751,587.6K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UCHealth</a:t>
                      </a: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 Memorial Hospital Central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$2,750,138.6K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$3,435,334.9K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St </a:t>
                      </a:r>
                      <a:r>
                        <a:rPr sz="700" b="0" i="0" u="non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Marys</a:t>
                      </a: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 Regional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935,743.7K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955,248.0K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UCHealth</a:t>
                      </a: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 University of Colorado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$5,880,425.8K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$7,009,125.8K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Intermountain Health Saint Joseph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$1,666,957.3K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$1,516,265.1K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Penrose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$2,204,662.1K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$2,318,850.0K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St Elizabeth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35,482.2K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94,143.4K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Community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179,674.4K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645,716.1K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Delta Health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42,596.2K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203,765.2K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Valley View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208,588.4K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560,145.8K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Vail Health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108,275.5K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379,989.3K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St Anthony North Health Campus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550,944.6K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$1,029,253.9K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Intermountain Health Good Samaritan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844,149.5K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$1,006,871.0K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St Anthony Summit Medical Center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56,468.1K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278,192.1K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UCHealth</a:t>
                      </a: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 Medical Center of the Rockies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$1,025,979.3K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$1,010,879.3K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OrthoColorado</a:t>
                      </a: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150,959.1K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300,075.1K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UCHealth</a:t>
                      </a: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 Longs Peak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361,807.2K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685,340.5K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UCHealth</a:t>
                      </a: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 Broomfield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65,835.2K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262,711.3K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UCHealth</a:t>
                      </a: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 Grandview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28,302.9K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281,079.2K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UCHealth</a:t>
                      </a: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 Greeley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212,294.2K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492,787.7K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UCHealth</a:t>
                      </a: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 Highlands Ranch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471,434.2K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744,147.9K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Rio Grande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 6,820.0K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48,843.5K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Family Health West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27,429.7K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138,555.0K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Conejos County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 5,293.5K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20,465.8K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Wray Community District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 7,722.8K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52,705.8K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Grand River Medical Center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25,332.3K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172,223.2K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Middle Park Health </a:t>
                      </a:r>
                      <a:r>
                        <a:rPr lang="en-US"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–</a:t>
                      </a: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 Kremmling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 8,094.4K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85,417.9K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St Vincent General Hospital District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 4,674.0K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22,813.8K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Mt San Rafael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12,566.7K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86,025.3K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Heart of the Rockies Regional Medical Center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21,020.8K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278,009.8K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9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Aspen Valley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33,020.7K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173,036.6K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0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Pioneers Medical Center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36,355.7K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42,789.6K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1"/>
                  </a:ext>
                </a:extLst>
              </a:tr>
              <a:tr h="8095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UCHealth</a:t>
                      </a: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 Pikes Peak Regional Hospital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 5,321.9K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   91,974.8K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1"/>
                        </a:spcBef>
                        <a:spcAft>
                          <a:spcPts val="1"/>
                        </a:spcAft>
                        <a:buNone/>
                      </a:pPr>
                      <a:r>
                        <a:rPr sz="7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&lt;1%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76362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400062"/>
            <a:ext cx="12188952" cy="426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0" cap="none" spc="90" normalizeH="0" baseline="0" noProof="0">
                <a:ln>
                  <a:noFill/>
                </a:ln>
                <a:solidFill>
                  <a:srgbClr val="181818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STEERAGE RATES FOR CURRENT DTE NETWORKS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5723094"/>
            <a:ext cx="12188952" cy="1133192"/>
          </a:xfrm>
          <a:prstGeom prst="rect">
            <a:avLst/>
          </a:prstGeom>
          <a:solidFill>
            <a:srgbClr val="EDF1EB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5"/>
          <p:cNvSpPr/>
          <p:nvPr/>
        </p:nvSpPr>
        <p:spPr>
          <a:xfrm>
            <a:off x="-761809" y="6529875"/>
            <a:ext cx="12760309" cy="1781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4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6" b="0" i="0" u="none" strike="noStrike" kern="0" cap="none" spc="32" normalizeH="0" baseline="0" noProof="0">
                <a:ln>
                  <a:noFill/>
                </a:ln>
                <a:solidFill>
                  <a:srgbClr val="181818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* Data collected from KBA DTE Networks in Q1 2024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89902BB1-829C-651C-B854-23D338EB208E}"/>
              </a:ext>
            </a:extLst>
          </p:cNvPr>
          <p:cNvSpPr/>
          <p:nvPr/>
        </p:nvSpPr>
        <p:spPr>
          <a:xfrm>
            <a:off x="-95226" y="6034625"/>
            <a:ext cx="12379404" cy="3238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255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0" i="0" u="none" strike="noStrike" kern="0" cap="none" spc="61" normalizeH="0" baseline="0" noProof="0">
                <a:ln>
                  <a:noFill/>
                </a:ln>
                <a:solidFill>
                  <a:srgbClr val="181818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The average Tier 1 Steerage is 83%.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B216DA3F-8CF6-3754-AC28-F2C4F80AFB0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273" y="6342556"/>
            <a:ext cx="2125097" cy="463658"/>
          </a:xfrm>
          <a:prstGeom prst="rect">
            <a:avLst/>
          </a:prstGeom>
        </p:spPr>
      </p:pic>
      <p:pic>
        <p:nvPicPr>
          <p:cNvPr id="7" name="Object 2">
            <a:extLst>
              <a:ext uri="{FF2B5EF4-FFF2-40B4-BE49-F238E27FC236}">
                <a16:creationId xmlns:a16="http://schemas.microsoft.com/office/drawing/2014/main" id="{9EE68415-52C8-8A45-27E1-8A33BA25D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679" y="1323644"/>
            <a:ext cx="11617595" cy="40185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932985" y="1054579"/>
            <a:ext cx="2868171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  <a:latin typeface="Montserrat" panose="00000500000000000000" pitchFamily="2" charset="0"/>
              </a:rPr>
              <a:t>KBA currently estimates that Western Health Alliance has 47% inpatient market share, and 31% outpatient market compared to hospitals/clinics in the Western Health Alliance service area.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Based on previous DTE experience, KBA expects a significant bump in patient steerage to Western Health Alliance.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Additional steerage will occur from additional steerage patient benefits and the patient card. 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High estimates start nearly 10% higher than target with low estimates at 10% lower than target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901533"/>
              </p:ext>
            </p:extLst>
          </p:nvPr>
        </p:nvGraphicFramePr>
        <p:xfrm>
          <a:off x="390844" y="1140566"/>
          <a:ext cx="7646730" cy="4854860"/>
        </p:xfrm>
        <a:graphic>
          <a:graphicData uri="http://schemas.openxmlformats.org/drawingml/2006/table">
            <a:tbl>
              <a:tblPr/>
              <a:tblGrid>
                <a:gridCol w="1529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9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9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93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93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21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Western Health Alliance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Western Health Alliance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33,300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39,600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54,200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97,600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129,200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92,300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166,100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115,400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207,700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140,400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252,700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166,000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298,800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191,200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344,200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214,700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386,500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235,600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424,100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253,400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456,100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5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267,900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482,200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5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279,400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502,900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5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288,300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518,900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5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295,000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531,000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5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300,100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540,200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7248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56461"/>
              </p:ext>
            </p:extLst>
          </p:nvPr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50,100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$ 75,860,306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$ 90,301,099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$ 42,169,846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$ 208,331,251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$ 20,634,003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$ 24,561,899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$ 11,470,198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$ 56,666,100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940483"/>
              </p:ext>
            </p:extLst>
          </p:nvPr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$ 65,272,185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$ 601,200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$ 65,276,985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/>
                          <a:latin typeface="Montserrat" panose="00000500000000000000" pitchFamily="2" charset="0"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$ 65,693,385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198922"/>
              </p:ext>
            </p:extLst>
          </p:nvPr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$ 123,340,511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$ 221,515,944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$ 103,446,063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$ 448,302,518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$ 33,548,619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$ 60,252,337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$ 28,137,329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$ 121,938,285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† Assuming proportional revenues from market shares of 47% (inpatient) and 31%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‡ Conservatively assuming a commercial margin of 27.2%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⁰ Assuming 77% inpatient and 76%  market steerage based on KBA narrow network DTE experience (see previous slide)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* Conservatively assuming a commercial margin of 27.2%, with a 10 percentage-point reduction to reflect competitive-edge rates and a 10 percentage-point increase due to lower billing costs and higher patient responsibility collections because of the member credit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1028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cs typeface="Calibri" panose="020F0502020204030204" pitchFamily="34" charset="0"/>
              </a:rPr>
              <a:t>YEAR 4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816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128584"/>
              </p:ext>
            </p:extLst>
          </p:nvPr>
        </p:nvGraphicFramePr>
        <p:xfrm>
          <a:off x="0" y="0"/>
          <a:ext cx="12198096" cy="6858000"/>
        </p:xfrm>
        <a:graphic>
          <a:graphicData uri="http://schemas.openxmlformats.org/drawingml/2006/table">
            <a:tbl>
              <a:tblPr/>
              <a:tblGrid>
                <a:gridCol w="304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7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7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7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71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293">
                <a:tc gridSpan="5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8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33.6%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33.6%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33.6%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33.6%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33.6%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705">
                <a:tc gridSpan="5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6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All values in thousands of dollars. Modeled With Year 1 Fees and Patient Steerage.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8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All values in thousands of dollars. Modeled With Year 1 Fees and Patient Steerage.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8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All values in thousands of dollars. Modeled With Year 1 Fees and Patient Steerage.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8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All values in thousands of dollars. Modeled With Year 1 Fees and Patient Steerage.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8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All values in thousands of dollars. Modeled With Year 1 Fees and Patient Steerage.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05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05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500 DTE Covered Lives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05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1000 DTE Covered Lives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05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5000 DTE Covered Lives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05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25000 DTE Covered Lives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Pre-DTE Group Inpatient Revenue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$757.1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$1,514.2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$7,570.9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$37,854.4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Pre-DTE Group Inpatient Margin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$205.9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$411.9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$2,059.3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$10,296.4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Inpatient Revenue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$1,231.1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$2,462.2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$12,311.0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$61,555.2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Inpatient Margin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$334.9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$669.7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$3,348.6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$16,743.0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05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Incremental Inpatient Revenue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$474.0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$948.0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$4,740.2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$23,700.8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05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Incremental Inpatient Margin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$128.9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$257.9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$1,289.3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$6,446.6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Pre-DTE Group Outpatient Revenue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$901.2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$1,802.4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$9,012.1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$45,060.4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Pre-DTE Group Outpatient Margin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$245.1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$490.3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$2,451.3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$12,256.4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Outpatient Revenue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$2,180.0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$4,360.0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$21,800.2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$109,000.8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Outpatient Margin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$593.0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$1,185.9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$5,929.6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$29,648.2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905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Incremental Outpatient Revenue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$1,278.8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$2,557.6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$12,788.1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$63,940.4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3905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Incremental Outpatient Margin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$347.8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$695.7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$3,478.4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$17,391.8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Pre-DTE Group Professional Revenue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$420.9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$841.7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$4,208.6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$21,042.8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Pre-DTE Group Professional Margin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$114.5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$228.9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$1,144.7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$5,723.7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Professional Revenue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$1,018.0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$2,036.1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$10,180.5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$50,902.5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Professional Margin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$276.9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$553.8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$2,769.1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$13,845.5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43905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Incremental Professional Revenue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$597.2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$1,194.4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$5,971.9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$29,859.6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43905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Incremental Professional Margin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$162.4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$324.9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$1,624.4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$8,121.8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726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Net Margin Less DTE Fees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$315.2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$960.4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$6,122.0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2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$31,930.2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71086"/>
              </p:ext>
            </p:extLst>
          </p:nvPr>
        </p:nvGraphicFramePr>
        <p:xfrm>
          <a:off x="0" y="0"/>
          <a:ext cx="12198096" cy="6858000"/>
        </p:xfrm>
        <a:graphic>
          <a:graphicData uri="http://schemas.openxmlformats.org/drawingml/2006/table">
            <a:tbl>
              <a:tblPr/>
              <a:tblGrid>
                <a:gridCol w="304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7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7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7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71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1812">
                <a:tc gridSpan="5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33.6%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33.6%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33.6%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33.6%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Estimate Assuming 50%+ Within-Plan Steerage and a Commercial Margin of 33.6%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631">
                <a:tc gridSpan="5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8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All values in thousands of dollars. Modeled With Year 1 Fees and Patient Steerage.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8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All values in thousands of dollars. Modeled With Year 1 Fees and Patient Steerage.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8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All values in thousands of dollars. Modeled With Year 1 Fees and Patient Steerage.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8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All values in thousands of dollars. Modeled With Year 1 Fees and Patient Steerage.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8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All values in thousands of dollars. Modeled With Year 1 Fees and Patient Steerage.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20386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99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500 DTE Covered Lives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1000 DTE Covered Lives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5000 DTE Covered Lives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25000 DTE Covered Lives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99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Pre-DTE Group Total Revenue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$2,079.2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$4,158.3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$20,791.5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$103,957.7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99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Pre-DTE Group Total Margin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$565.5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$1,131.1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$5,655.3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$28,276.5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99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Total Revenue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$4,429.2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$8,858.3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$44,291.7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$221,458.5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253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Incremental Total Revenue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$2,350.0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$4,700.0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$23,500.2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$117,500.8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253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Incremental Total Revenue by Member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$4.7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$4.7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$4.7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$4.7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99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Total Margin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$1,204.7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$2,409.5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$12,047.3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$60,236.7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7253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DTE Group Incremental Total Margin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$639.2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$1,278.4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$6,392.0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$31,960.2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99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Wellness Share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$6.0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$12.0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$60.0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$300.0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799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$150.0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$150.0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$150.0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$150.0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799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Sales and Marketing Annual Fee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$180.0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$180.0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$180.0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$180.0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799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Net Margin Less DTE Fees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$315.2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$960.4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$6,122.0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5"/>
                        </a:spcAft>
                        <a:buNone/>
                      </a:pPr>
                      <a:r>
                        <a:rPr sz="14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$31,930.2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42229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5" y="560444"/>
            <a:ext cx="10479445" cy="7825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z="1100" smtClean="0">
                <a:solidFill>
                  <a:schemeClr val="bg1"/>
                </a:solidFill>
              </a:rPr>
              <a:t>30</a:t>
            </a:fld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569660"/>
            <a:chOff x="908754" y="2695500"/>
            <a:chExt cx="10558665" cy="1569660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KNOW THE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584775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2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46187</TotalTime>
  <Words>3547</Words>
  <Application>Microsoft Office PowerPoint</Application>
  <PresentationFormat>Widescreen</PresentationFormat>
  <Paragraphs>1046</Paragraphs>
  <Slides>30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Aptos Narrow</vt:lpstr>
      <vt:lpstr>Arial</vt:lpstr>
      <vt:lpstr>Montserrat</vt:lpstr>
      <vt:lpstr>Wingdings</vt:lpstr>
      <vt:lpstr>Office Theme</vt:lpstr>
      <vt:lpstr>1_Office Theme</vt:lpstr>
      <vt:lpstr>2_Office Theme</vt:lpstr>
      <vt:lpstr>3_Office Theme</vt:lpstr>
      <vt:lpstr>4_Office Theme</vt:lpstr>
      <vt:lpstr>5_Office Theme</vt:lpstr>
      <vt:lpstr>PowerPoint Presentation</vt:lpstr>
      <vt:lpstr>PowerPoint Presentation</vt:lpstr>
      <vt:lpstr>PowerPoint Presentation</vt:lpstr>
      <vt:lpstr>DIRECT-TO-EMPLOYER (DTE)  </vt:lpstr>
      <vt:lpstr>DIRECT-TO-EMPLOYER STRATEGY: ONLY AVAILABLE TO PREMIER HEALTH SYSTEMS</vt:lpstr>
      <vt:lpstr>COVERING OVER 95% OF COLORADO’S POPULATION</vt:lpstr>
      <vt:lpstr>WHA HOSPITALS ARE HIGH-QUALITY</vt:lpstr>
      <vt:lpstr>SIGNIFICANT OPPORTUNITY FOR PLAN GROWTH Researched for the below highlighted service area</vt:lpstr>
      <vt:lpstr>EXPECTED PLAN GROWTH</vt:lpstr>
      <vt:lpstr>ENORMOUS POTENTIAL PROFITABILITY GROWTH FOR WHA MEMBERS</vt:lpstr>
      <vt:lpstr>INTEGRATION WITH EPIC EHR SYSTEM</vt:lpstr>
      <vt:lpstr>THE MISSING PIECE TO VALUE-BASED CARE</vt:lpstr>
      <vt:lpstr>TRANSPARENT PBM INTEGRATION </vt:lpstr>
      <vt:lpstr>STOP-LOSS INSURANCE      THE KBA EXPERIENCE</vt:lpstr>
      <vt:lpstr>DTE  PROGRAM MARKETING  &amp; SALES</vt:lpstr>
      <vt:lpstr>COMMUNITY BASED SALES STRATEGY</vt:lpstr>
      <vt:lpstr>Complete Marketing System</vt:lpstr>
      <vt:lpstr>PowerPoint Presentation</vt:lpstr>
      <vt:lpstr>PowerPoint Presentation</vt:lpstr>
      <vt:lpstr>PowerPoint Presentation</vt:lpstr>
      <vt:lpstr>PowerPoint Presentation</vt:lpstr>
      <vt:lpstr>ESTIMATION OF WHA HOSPITAL’S 2022 PAYER MIX</vt:lpstr>
      <vt:lpstr>ESTIMATION OF MARGIN FOR COMMERCIAL VS. GOVERNMENT PAY</vt:lpstr>
      <vt:lpstr>ESTIMATING MARKET SHARE</vt:lpstr>
      <vt:lpstr>PowerPoint Presentation</vt:lpstr>
      <vt:lpstr>PROJECTED PLAN GROWTH</vt:lpstr>
      <vt:lpstr>PowerPoint Presentation</vt:lpstr>
      <vt:lpstr>PowerPoint Presentation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111</cp:revision>
  <cp:lastPrinted>2023-07-13T10:24:43Z</cp:lastPrinted>
  <dcterms:created xsi:type="dcterms:W3CDTF">2021-01-20T14:12:11Z</dcterms:created>
  <dcterms:modified xsi:type="dcterms:W3CDTF">2025-07-03T16:36:26Z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