
<file path=[Content_Types].xml><?xml version="1.0" encoding="utf-8"?>
<Types xmlns="http://schemas.openxmlformats.org/package/2006/content-types">
  <Default Extension="jpeg" ContentType="image/jpeg"/>
  <Default Extension="jpg" ContentType="application/octet-stream"/>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3.xml" ContentType="application/vnd.openxmlformats-officedocument.presentationml.tags+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4" r:id="rId4"/>
  </p:sldMasterIdLst>
  <p:notesMasterIdLst>
    <p:notesMasterId r:id="rId47"/>
  </p:notesMasterIdLst>
  <p:sldIdLst>
    <p:sldId id="577" r:id="rId5"/>
    <p:sldId id="454" r:id="rId6"/>
    <p:sldId id="549" r:id="rId7"/>
    <p:sldId id="487" r:id="rId8"/>
    <p:sldId id="452" r:id="rId9"/>
    <p:sldId id="518" r:id="rId10"/>
    <p:sldId id="466" r:id="rId11"/>
    <p:sldId id="559" r:id="rId12"/>
    <p:sldId id="590" r:id="rId13"/>
    <p:sldId id="591" r:id="rId14"/>
    <p:sldId id="558" r:id="rId15"/>
    <p:sldId id="548" r:id="rId16"/>
    <p:sldId id="521" r:id="rId17"/>
    <p:sldId id="456" r:id="rId18"/>
    <p:sldId id="489" r:id="rId19"/>
    <p:sldId id="499" r:id="rId20"/>
    <p:sldId id="458" r:id="rId21"/>
    <p:sldId id="446" r:id="rId22"/>
    <p:sldId id="461" r:id="rId23"/>
    <p:sldId id="462" r:id="rId24"/>
    <p:sldId id="469" r:id="rId25"/>
    <p:sldId id="336" r:id="rId26"/>
    <p:sldId id="337" r:id="rId27"/>
    <p:sldId id="578" r:id="rId28"/>
    <p:sldId id="589" r:id="rId29"/>
    <p:sldId id="525" r:id="rId30"/>
    <p:sldId id="527" r:id="rId31"/>
    <p:sldId id="571" r:id="rId32"/>
    <p:sldId id="588" r:id="rId33"/>
    <p:sldId id="546" r:id="rId34"/>
    <p:sldId id="547" r:id="rId35"/>
    <p:sldId id="592" r:id="rId36"/>
    <p:sldId id="536" r:id="rId37"/>
    <p:sldId id="256" r:id="rId38"/>
    <p:sldId id="574" r:id="rId39"/>
    <p:sldId id="572" r:id="rId40"/>
    <p:sldId id="575" r:id="rId41"/>
    <p:sldId id="498" r:id="rId42"/>
    <p:sldId id="325" r:id="rId43"/>
    <p:sldId id="326" r:id="rId44"/>
    <p:sldId id="491" r:id="rId45"/>
    <p:sldId id="472" r:id="rId46"/>
  </p:sldIdLst>
  <p:sldSz cx="12192000" cy="6858000"/>
  <p:notesSz cx="7315200" cy="9601200"/>
  <p:custDataLst>
    <p:tags r:id="rId48"/>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ill, Jack" initials="HJ" lastIdx="1" clrIdx="0">
    <p:extLst>
      <p:ext uri="{19B8F6BF-5375-455C-9EA6-DF929625EA0E}">
        <p15:presenceInfo xmlns:p15="http://schemas.microsoft.com/office/powerpoint/2012/main" userId="S::Jack.Hill@ahdi.com::a2532604-23e3-4156-966c-b672b0683ed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0589B"/>
    <a:srgbClr val="2F5597"/>
    <a:srgbClr val="6087CE"/>
    <a:srgbClr val="4468A5"/>
    <a:srgbClr val="F2F2F2"/>
    <a:srgbClr val="C55A11"/>
    <a:srgbClr val="F424AA"/>
    <a:srgbClr val="E23440"/>
    <a:srgbClr val="027587"/>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8609" autoAdjust="0"/>
  </p:normalViewPr>
  <p:slideViewPr>
    <p:cSldViewPr snapToGrid="0">
      <p:cViewPr varScale="1">
        <p:scale>
          <a:sx n="95" d="100"/>
          <a:sy n="95" d="100"/>
        </p:scale>
        <p:origin x="1110" y="96"/>
      </p:cViewPr>
      <p:guideLst/>
    </p:cSldViewPr>
  </p:slideViewPr>
  <p:notesTextViewPr>
    <p:cViewPr>
      <p:scale>
        <a:sx n="3" d="2"/>
        <a:sy n="3" d="2"/>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notesMaster" Target="notesMasters/notesMaster1.xml"/><Relationship Id="rId50"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tags" Target="tags/tag1.xml"/><Relationship Id="rId8" Type="http://schemas.openxmlformats.org/officeDocument/2006/relationships/slide" Target="slides/slide4.xml"/><Relationship Id="rId51"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commentAuthors" Target="commen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ylor Davis" userId="5c9e72a0-c39f-4aa1-9d7d-64125e78cbe6" providerId="ADAL" clId="{565EA64D-DADB-47CF-8501-569560F4AD9A}"/>
    <pc:docChg chg="modSld">
      <pc:chgData name="Taylor Davis" userId="5c9e72a0-c39f-4aa1-9d7d-64125e78cbe6" providerId="ADAL" clId="{565EA64D-DADB-47CF-8501-569560F4AD9A}" dt="2024-10-29T03:49:29.916" v="3"/>
      <pc:docMkLst>
        <pc:docMk/>
      </pc:docMkLst>
      <pc:sldChg chg="modSp mod">
        <pc:chgData name="Taylor Davis" userId="5c9e72a0-c39f-4aa1-9d7d-64125e78cbe6" providerId="ADAL" clId="{565EA64D-DADB-47CF-8501-569560F4AD9A}" dt="2024-10-29T03:49:29.916" v="3"/>
        <pc:sldMkLst>
          <pc:docMk/>
          <pc:sldMk cId="1419816550" sldId="536"/>
        </pc:sldMkLst>
        <pc:spChg chg="mod">
          <ac:chgData name="Taylor Davis" userId="5c9e72a0-c39f-4aa1-9d7d-64125e78cbe6" providerId="ADAL" clId="{565EA64D-DADB-47CF-8501-569560F4AD9A}" dt="2024-10-29T03:49:29.916" v="3"/>
          <ac:spMkLst>
            <pc:docMk/>
            <pc:sldMk cId="1419816550" sldId="536"/>
            <ac:spMk id="11" creationId="{A897897D-C568-B204-6568-514AD4B71A5C}"/>
          </ac:spMkLst>
        </pc:spChg>
      </pc:sldChg>
    </pc:docChg>
  </pc:docChgLst>
</pc:chgInfo>
</file>

<file path=ppt/diagrams/_rels/data2.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png"/><Relationship Id="rId1" Type="http://schemas.openxmlformats.org/officeDocument/2006/relationships/image" Target="../media/image25.jpeg"/></Relationships>
</file>

<file path=ppt/diagrams/_rels/drawing2.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png"/><Relationship Id="rId1" Type="http://schemas.openxmlformats.org/officeDocument/2006/relationships/image" Target="../media/image25.jpeg"/></Relationships>
</file>

<file path=ppt/diagrams/colors1.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C7552FD-62D0-4C89-AB2B-72AE9D7341CF}" type="doc">
      <dgm:prSet loTypeId="urn:microsoft.com/office/officeart/2005/8/layout/venn2" loCatId="relationship" qsTypeId="urn:microsoft.com/office/officeart/2005/8/quickstyle/3d1#1" qsCatId="3D" csTypeId="urn:microsoft.com/office/officeart/2005/8/colors/accent1_3" csCatId="accent1" phldr="1"/>
      <dgm:spPr/>
      <dgm:t>
        <a:bodyPr/>
        <a:lstStyle/>
        <a:p>
          <a:endParaRPr lang="en-US"/>
        </a:p>
      </dgm:t>
    </dgm:pt>
    <dgm:pt modelId="{95724BCE-4D84-45F0-853F-F17C772D0584}">
      <dgm:prSet phldrT="[Text]" custT="1"/>
      <dgm:spPr>
        <a:solidFill>
          <a:srgbClr val="61A606"/>
        </a:solidFill>
      </dgm:spPr>
      <dgm:t>
        <a:bodyPr/>
        <a:lstStyle/>
        <a:p>
          <a:r>
            <a:rPr lang="en-US" sz="1200" b="1" dirty="0"/>
            <a:t>Out of Network</a:t>
          </a:r>
        </a:p>
      </dgm:t>
    </dgm:pt>
    <dgm:pt modelId="{C4069396-DBC4-441D-858D-6F1FB8AB3335}" type="parTrans" cxnId="{EDE789B6-DE86-481F-A7CA-05566DD34C7E}">
      <dgm:prSet/>
      <dgm:spPr/>
      <dgm:t>
        <a:bodyPr/>
        <a:lstStyle/>
        <a:p>
          <a:endParaRPr lang="en-US" sz="1200" b="1"/>
        </a:p>
      </dgm:t>
    </dgm:pt>
    <dgm:pt modelId="{B7AFCCD7-67D9-4F40-93BA-B7F5FA89153B}" type="sibTrans" cxnId="{EDE789B6-DE86-481F-A7CA-05566DD34C7E}">
      <dgm:prSet/>
      <dgm:spPr/>
      <dgm:t>
        <a:bodyPr/>
        <a:lstStyle/>
        <a:p>
          <a:endParaRPr lang="en-US" sz="1200" b="1"/>
        </a:p>
      </dgm:t>
    </dgm:pt>
    <dgm:pt modelId="{569713F0-CA36-4804-9BAC-B1D988D414E1}">
      <dgm:prSet phldrT="[Text]" custT="1"/>
      <dgm:spPr>
        <a:solidFill>
          <a:srgbClr val="244F9A"/>
        </a:solidFill>
      </dgm:spPr>
      <dgm:t>
        <a:bodyPr/>
        <a:lstStyle/>
        <a:p>
          <a:r>
            <a:rPr lang="en-US" sz="1200" b="1" dirty="0"/>
            <a:t>Friends &amp; Family (Contracted)</a:t>
          </a:r>
        </a:p>
      </dgm:t>
    </dgm:pt>
    <dgm:pt modelId="{C2ABEC94-DF33-4E2B-8072-2FB520905D00}" type="parTrans" cxnId="{FBE4C505-B914-4ED7-A279-063D711FC2A4}">
      <dgm:prSet/>
      <dgm:spPr/>
      <dgm:t>
        <a:bodyPr/>
        <a:lstStyle/>
        <a:p>
          <a:endParaRPr lang="en-US" sz="1200" b="1"/>
        </a:p>
      </dgm:t>
    </dgm:pt>
    <dgm:pt modelId="{7F7B88C7-943C-4452-A6E8-0E402C95A08B}" type="sibTrans" cxnId="{FBE4C505-B914-4ED7-A279-063D711FC2A4}">
      <dgm:prSet/>
      <dgm:spPr/>
      <dgm:t>
        <a:bodyPr/>
        <a:lstStyle/>
        <a:p>
          <a:endParaRPr lang="en-US" sz="1200" b="1"/>
        </a:p>
      </dgm:t>
    </dgm:pt>
    <dgm:pt modelId="{1E65235D-8651-4890-AE0B-49DC383A1E91}">
      <dgm:prSet phldrT="[Text]" custT="1"/>
      <dgm:spPr>
        <a:solidFill>
          <a:srgbClr val="59CAE8"/>
        </a:solidFill>
      </dgm:spPr>
      <dgm:t>
        <a:bodyPr/>
        <a:lstStyle/>
        <a:p>
          <a:endParaRPr lang="en-US" sz="1200" b="1" dirty="0">
            <a:effectLst>
              <a:outerShdw blurRad="38100" dist="38100" dir="2700000" algn="tl">
                <a:srgbClr val="000000">
                  <a:alpha val="43137"/>
                </a:srgbClr>
              </a:outerShdw>
            </a:effectLst>
          </a:endParaRPr>
        </a:p>
      </dgm:t>
    </dgm:pt>
    <dgm:pt modelId="{EBC95944-0EC3-46F4-9FEF-8988CFF8C43A}" type="parTrans" cxnId="{C483DC75-E93F-42FC-9F22-8AEF775BA916}">
      <dgm:prSet/>
      <dgm:spPr/>
      <dgm:t>
        <a:bodyPr/>
        <a:lstStyle/>
        <a:p>
          <a:endParaRPr lang="en-US" sz="1200" b="1"/>
        </a:p>
      </dgm:t>
    </dgm:pt>
    <dgm:pt modelId="{61F457D8-374A-49D4-900E-947546529662}" type="sibTrans" cxnId="{C483DC75-E93F-42FC-9F22-8AEF775BA916}">
      <dgm:prSet/>
      <dgm:spPr/>
      <dgm:t>
        <a:bodyPr/>
        <a:lstStyle/>
        <a:p>
          <a:endParaRPr lang="en-US" sz="1200" b="1"/>
        </a:p>
      </dgm:t>
    </dgm:pt>
    <dgm:pt modelId="{ECE6B814-0FC3-4C58-9174-74C36EF10323}">
      <dgm:prSet phldrT="[Text]" custT="1"/>
      <dgm:spPr>
        <a:solidFill>
          <a:srgbClr val="019CA5"/>
        </a:solidFill>
      </dgm:spPr>
      <dgm:t>
        <a:bodyPr/>
        <a:lstStyle/>
        <a:p>
          <a:r>
            <a:rPr lang="en-US" sz="1200" b="1" dirty="0"/>
            <a:t>Wrap Network (Rented)</a:t>
          </a:r>
        </a:p>
      </dgm:t>
    </dgm:pt>
    <dgm:pt modelId="{86D68A84-8990-42F1-BDC0-9D23A1F134C4}" type="sibTrans" cxnId="{249B36A5-1CF8-4FAF-92A3-07C95195B8A7}">
      <dgm:prSet/>
      <dgm:spPr/>
      <dgm:t>
        <a:bodyPr/>
        <a:lstStyle/>
        <a:p>
          <a:endParaRPr lang="en-US" sz="1200" b="1"/>
        </a:p>
      </dgm:t>
    </dgm:pt>
    <dgm:pt modelId="{93698D8B-DBC4-4A38-ACF6-A3FD1A770EC5}" type="parTrans" cxnId="{249B36A5-1CF8-4FAF-92A3-07C95195B8A7}">
      <dgm:prSet/>
      <dgm:spPr/>
      <dgm:t>
        <a:bodyPr/>
        <a:lstStyle/>
        <a:p>
          <a:endParaRPr lang="en-US" sz="1200" b="1"/>
        </a:p>
      </dgm:t>
    </dgm:pt>
    <dgm:pt modelId="{B48E91E1-A56E-40AF-9FB7-1CF2ACB11A26}" type="pres">
      <dgm:prSet presAssocID="{CC7552FD-62D0-4C89-AB2B-72AE9D7341CF}" presName="Name0" presStyleCnt="0">
        <dgm:presLayoutVars>
          <dgm:chMax val="7"/>
          <dgm:resizeHandles val="exact"/>
        </dgm:presLayoutVars>
      </dgm:prSet>
      <dgm:spPr/>
    </dgm:pt>
    <dgm:pt modelId="{51B4B7A6-5CC6-4D2B-A008-C2393CCE8E1A}" type="pres">
      <dgm:prSet presAssocID="{CC7552FD-62D0-4C89-AB2B-72AE9D7341CF}" presName="comp1" presStyleCnt="0"/>
      <dgm:spPr/>
    </dgm:pt>
    <dgm:pt modelId="{2137BF38-EED7-40B6-AE30-314765FAF99B}" type="pres">
      <dgm:prSet presAssocID="{CC7552FD-62D0-4C89-AB2B-72AE9D7341CF}" presName="circle1" presStyleLbl="node1" presStyleIdx="0" presStyleCnt="4"/>
      <dgm:spPr/>
    </dgm:pt>
    <dgm:pt modelId="{DF426F85-4C8C-4ED2-8675-11BFB0838EC8}" type="pres">
      <dgm:prSet presAssocID="{CC7552FD-62D0-4C89-AB2B-72AE9D7341CF}" presName="c1text" presStyleLbl="node1" presStyleIdx="0" presStyleCnt="4">
        <dgm:presLayoutVars>
          <dgm:bulletEnabled val="1"/>
        </dgm:presLayoutVars>
      </dgm:prSet>
      <dgm:spPr/>
    </dgm:pt>
    <dgm:pt modelId="{C6723F7F-022F-4FCC-B6E2-7067916A4B10}" type="pres">
      <dgm:prSet presAssocID="{CC7552FD-62D0-4C89-AB2B-72AE9D7341CF}" presName="comp2" presStyleCnt="0"/>
      <dgm:spPr/>
    </dgm:pt>
    <dgm:pt modelId="{68806E35-FB05-408F-AFBC-163227E8487B}" type="pres">
      <dgm:prSet presAssocID="{CC7552FD-62D0-4C89-AB2B-72AE9D7341CF}" presName="circle2" presStyleLbl="node1" presStyleIdx="1" presStyleCnt="4"/>
      <dgm:spPr/>
    </dgm:pt>
    <dgm:pt modelId="{0B6A6A60-FE79-4554-9C37-549CA04643BE}" type="pres">
      <dgm:prSet presAssocID="{CC7552FD-62D0-4C89-AB2B-72AE9D7341CF}" presName="c2text" presStyleLbl="node1" presStyleIdx="1" presStyleCnt="4">
        <dgm:presLayoutVars>
          <dgm:bulletEnabled val="1"/>
        </dgm:presLayoutVars>
      </dgm:prSet>
      <dgm:spPr/>
    </dgm:pt>
    <dgm:pt modelId="{6FD52F53-EBEF-48E2-8A07-24379F9A581F}" type="pres">
      <dgm:prSet presAssocID="{CC7552FD-62D0-4C89-AB2B-72AE9D7341CF}" presName="comp3" presStyleCnt="0"/>
      <dgm:spPr/>
    </dgm:pt>
    <dgm:pt modelId="{EBC66B5F-74A7-4C59-9CEC-5E7379E73E3B}" type="pres">
      <dgm:prSet presAssocID="{CC7552FD-62D0-4C89-AB2B-72AE9D7341CF}" presName="circle3" presStyleLbl="node1" presStyleIdx="2" presStyleCnt="4"/>
      <dgm:spPr/>
    </dgm:pt>
    <dgm:pt modelId="{F4A2D7CC-0825-42DF-BF52-41782C7F5FD9}" type="pres">
      <dgm:prSet presAssocID="{CC7552FD-62D0-4C89-AB2B-72AE9D7341CF}" presName="c3text" presStyleLbl="node1" presStyleIdx="2" presStyleCnt="4">
        <dgm:presLayoutVars>
          <dgm:bulletEnabled val="1"/>
        </dgm:presLayoutVars>
      </dgm:prSet>
      <dgm:spPr/>
    </dgm:pt>
    <dgm:pt modelId="{28E403A5-F99B-4FAC-89FC-A846539584D0}" type="pres">
      <dgm:prSet presAssocID="{CC7552FD-62D0-4C89-AB2B-72AE9D7341CF}" presName="comp4" presStyleCnt="0"/>
      <dgm:spPr/>
    </dgm:pt>
    <dgm:pt modelId="{F92C6764-1AFD-4DFF-B75E-6422C5503855}" type="pres">
      <dgm:prSet presAssocID="{CC7552FD-62D0-4C89-AB2B-72AE9D7341CF}" presName="circle4" presStyleLbl="node1" presStyleIdx="3" presStyleCnt="4" custLinFactNeighborX="805" custLinFactNeighborY="1231"/>
      <dgm:spPr/>
    </dgm:pt>
    <dgm:pt modelId="{D63BE29E-2BB7-44DC-AA3E-8ABC2E4D12DA}" type="pres">
      <dgm:prSet presAssocID="{CC7552FD-62D0-4C89-AB2B-72AE9D7341CF}" presName="c4text" presStyleLbl="node1" presStyleIdx="3" presStyleCnt="4">
        <dgm:presLayoutVars>
          <dgm:bulletEnabled val="1"/>
        </dgm:presLayoutVars>
      </dgm:prSet>
      <dgm:spPr/>
    </dgm:pt>
  </dgm:ptLst>
  <dgm:cxnLst>
    <dgm:cxn modelId="{FBE4C505-B914-4ED7-A279-063D711FC2A4}" srcId="{CC7552FD-62D0-4C89-AB2B-72AE9D7341CF}" destId="{569713F0-CA36-4804-9BAC-B1D988D414E1}" srcOrd="2" destOrd="0" parTransId="{C2ABEC94-DF33-4E2B-8072-2FB520905D00}" sibTransId="{7F7B88C7-943C-4452-A6E8-0E402C95A08B}"/>
    <dgm:cxn modelId="{F2B3A710-39AB-4C98-A65E-5BAFADE8822C}" type="presOf" srcId="{1E65235D-8651-4890-AE0B-49DC383A1E91}" destId="{F92C6764-1AFD-4DFF-B75E-6422C5503855}" srcOrd="0" destOrd="0" presId="urn:microsoft.com/office/officeart/2005/8/layout/venn2"/>
    <dgm:cxn modelId="{AB7ABC15-C91B-4510-987C-DC7E28931CDF}" type="presOf" srcId="{ECE6B814-0FC3-4C58-9174-74C36EF10323}" destId="{68806E35-FB05-408F-AFBC-163227E8487B}" srcOrd="0" destOrd="0" presId="urn:microsoft.com/office/officeart/2005/8/layout/venn2"/>
    <dgm:cxn modelId="{0DECDB18-FC83-4AD8-8CE5-199CE52396EB}" type="presOf" srcId="{ECE6B814-0FC3-4C58-9174-74C36EF10323}" destId="{0B6A6A60-FE79-4554-9C37-549CA04643BE}" srcOrd="1" destOrd="0" presId="urn:microsoft.com/office/officeart/2005/8/layout/venn2"/>
    <dgm:cxn modelId="{14418032-6613-4832-B925-ADD3CB109AC1}" type="presOf" srcId="{95724BCE-4D84-45F0-853F-F17C772D0584}" destId="{DF426F85-4C8C-4ED2-8675-11BFB0838EC8}" srcOrd="1" destOrd="0" presId="urn:microsoft.com/office/officeart/2005/8/layout/venn2"/>
    <dgm:cxn modelId="{402ECC72-BF1F-4D94-9E07-E240E3CDC58B}" type="presOf" srcId="{569713F0-CA36-4804-9BAC-B1D988D414E1}" destId="{EBC66B5F-74A7-4C59-9CEC-5E7379E73E3B}" srcOrd="0" destOrd="0" presId="urn:microsoft.com/office/officeart/2005/8/layout/venn2"/>
    <dgm:cxn modelId="{C8818974-6CAA-4CB2-8EE8-57F21A36CA14}" type="presOf" srcId="{569713F0-CA36-4804-9BAC-B1D988D414E1}" destId="{F4A2D7CC-0825-42DF-BF52-41782C7F5FD9}" srcOrd="1" destOrd="0" presId="urn:microsoft.com/office/officeart/2005/8/layout/venn2"/>
    <dgm:cxn modelId="{C483DC75-E93F-42FC-9F22-8AEF775BA916}" srcId="{CC7552FD-62D0-4C89-AB2B-72AE9D7341CF}" destId="{1E65235D-8651-4890-AE0B-49DC383A1E91}" srcOrd="3" destOrd="0" parTransId="{EBC95944-0EC3-46F4-9FEF-8988CFF8C43A}" sibTransId="{61F457D8-374A-49D4-900E-947546529662}"/>
    <dgm:cxn modelId="{A6A7605A-1F39-45EF-BF83-BA2406EE7A18}" type="presOf" srcId="{95724BCE-4D84-45F0-853F-F17C772D0584}" destId="{2137BF38-EED7-40B6-AE30-314765FAF99B}" srcOrd="0" destOrd="0" presId="urn:microsoft.com/office/officeart/2005/8/layout/venn2"/>
    <dgm:cxn modelId="{E2740696-3283-48CE-B97D-9876EDC46B7F}" type="presOf" srcId="{1E65235D-8651-4890-AE0B-49DC383A1E91}" destId="{D63BE29E-2BB7-44DC-AA3E-8ABC2E4D12DA}" srcOrd="1" destOrd="0" presId="urn:microsoft.com/office/officeart/2005/8/layout/venn2"/>
    <dgm:cxn modelId="{249B36A5-1CF8-4FAF-92A3-07C95195B8A7}" srcId="{CC7552FD-62D0-4C89-AB2B-72AE9D7341CF}" destId="{ECE6B814-0FC3-4C58-9174-74C36EF10323}" srcOrd="1" destOrd="0" parTransId="{93698D8B-DBC4-4A38-ACF6-A3FD1A770EC5}" sibTransId="{86D68A84-8990-42F1-BDC0-9D23A1F134C4}"/>
    <dgm:cxn modelId="{248A33AF-5C9C-44CD-83DB-FBE3BC11E892}" type="presOf" srcId="{CC7552FD-62D0-4C89-AB2B-72AE9D7341CF}" destId="{B48E91E1-A56E-40AF-9FB7-1CF2ACB11A26}" srcOrd="0" destOrd="0" presId="urn:microsoft.com/office/officeart/2005/8/layout/venn2"/>
    <dgm:cxn modelId="{EDE789B6-DE86-481F-A7CA-05566DD34C7E}" srcId="{CC7552FD-62D0-4C89-AB2B-72AE9D7341CF}" destId="{95724BCE-4D84-45F0-853F-F17C772D0584}" srcOrd="0" destOrd="0" parTransId="{C4069396-DBC4-441D-858D-6F1FB8AB3335}" sibTransId="{B7AFCCD7-67D9-4F40-93BA-B7F5FA89153B}"/>
    <dgm:cxn modelId="{5BD9092F-1A66-4F0A-AF1E-25AF0EE8FD30}" type="presParOf" srcId="{B48E91E1-A56E-40AF-9FB7-1CF2ACB11A26}" destId="{51B4B7A6-5CC6-4D2B-A008-C2393CCE8E1A}" srcOrd="0" destOrd="0" presId="urn:microsoft.com/office/officeart/2005/8/layout/venn2"/>
    <dgm:cxn modelId="{2F863CF6-5E37-43DF-912A-4A5621BA5BF0}" type="presParOf" srcId="{51B4B7A6-5CC6-4D2B-A008-C2393CCE8E1A}" destId="{2137BF38-EED7-40B6-AE30-314765FAF99B}" srcOrd="0" destOrd="0" presId="urn:microsoft.com/office/officeart/2005/8/layout/venn2"/>
    <dgm:cxn modelId="{975CD106-737C-48C1-9A8D-9501AD23E7A8}" type="presParOf" srcId="{51B4B7A6-5CC6-4D2B-A008-C2393CCE8E1A}" destId="{DF426F85-4C8C-4ED2-8675-11BFB0838EC8}" srcOrd="1" destOrd="0" presId="urn:microsoft.com/office/officeart/2005/8/layout/venn2"/>
    <dgm:cxn modelId="{9D0C7BE2-1A22-4D14-8173-13BB6F5F499A}" type="presParOf" srcId="{B48E91E1-A56E-40AF-9FB7-1CF2ACB11A26}" destId="{C6723F7F-022F-4FCC-B6E2-7067916A4B10}" srcOrd="1" destOrd="0" presId="urn:microsoft.com/office/officeart/2005/8/layout/venn2"/>
    <dgm:cxn modelId="{0FB070D9-1CF8-45D8-910F-51CDC89BD66C}" type="presParOf" srcId="{C6723F7F-022F-4FCC-B6E2-7067916A4B10}" destId="{68806E35-FB05-408F-AFBC-163227E8487B}" srcOrd="0" destOrd="0" presId="urn:microsoft.com/office/officeart/2005/8/layout/venn2"/>
    <dgm:cxn modelId="{E874FD9E-42DD-4775-BD14-98A78C0E358F}" type="presParOf" srcId="{C6723F7F-022F-4FCC-B6E2-7067916A4B10}" destId="{0B6A6A60-FE79-4554-9C37-549CA04643BE}" srcOrd="1" destOrd="0" presId="urn:microsoft.com/office/officeart/2005/8/layout/venn2"/>
    <dgm:cxn modelId="{533F2428-7D48-425A-84B9-BD8EE9858991}" type="presParOf" srcId="{B48E91E1-A56E-40AF-9FB7-1CF2ACB11A26}" destId="{6FD52F53-EBEF-48E2-8A07-24379F9A581F}" srcOrd="2" destOrd="0" presId="urn:microsoft.com/office/officeart/2005/8/layout/venn2"/>
    <dgm:cxn modelId="{D6C94450-97EC-46B7-8F51-45063118571E}" type="presParOf" srcId="{6FD52F53-EBEF-48E2-8A07-24379F9A581F}" destId="{EBC66B5F-74A7-4C59-9CEC-5E7379E73E3B}" srcOrd="0" destOrd="0" presId="urn:microsoft.com/office/officeart/2005/8/layout/venn2"/>
    <dgm:cxn modelId="{83345C35-304E-4D9D-A9F4-F8721176DD23}" type="presParOf" srcId="{6FD52F53-EBEF-48E2-8A07-24379F9A581F}" destId="{F4A2D7CC-0825-42DF-BF52-41782C7F5FD9}" srcOrd="1" destOrd="0" presId="urn:microsoft.com/office/officeart/2005/8/layout/venn2"/>
    <dgm:cxn modelId="{AC46EE94-CB6F-43B3-84C8-F82373D89B41}" type="presParOf" srcId="{B48E91E1-A56E-40AF-9FB7-1CF2ACB11A26}" destId="{28E403A5-F99B-4FAC-89FC-A846539584D0}" srcOrd="3" destOrd="0" presId="urn:microsoft.com/office/officeart/2005/8/layout/venn2"/>
    <dgm:cxn modelId="{0E30E2C5-34DC-4093-889B-5B1D03CBEB01}" type="presParOf" srcId="{28E403A5-F99B-4FAC-89FC-A846539584D0}" destId="{F92C6764-1AFD-4DFF-B75E-6422C5503855}" srcOrd="0" destOrd="0" presId="urn:microsoft.com/office/officeart/2005/8/layout/venn2"/>
    <dgm:cxn modelId="{5C9EDED6-C0C0-452F-9674-0BA712F0109C}" type="presParOf" srcId="{28E403A5-F99B-4FAC-89FC-A846539584D0}" destId="{D63BE29E-2BB7-44DC-AA3E-8ABC2E4D12DA}" srcOrd="1" destOrd="0" presId="urn:microsoft.com/office/officeart/2005/8/layout/venn2"/>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D150493-506C-4796-9188-B229C3F673EE}" type="doc">
      <dgm:prSet loTypeId="urn:microsoft.com/office/officeart/2005/8/layout/bList2" loCatId="list" qsTypeId="urn:microsoft.com/office/officeart/2005/8/quickstyle/simple1" qsCatId="simple" csTypeId="urn:microsoft.com/office/officeart/2005/8/colors/accent1_2" csCatId="accent1" phldr="1"/>
      <dgm:spPr/>
      <dgm:t>
        <a:bodyPr/>
        <a:lstStyle/>
        <a:p>
          <a:endParaRPr lang="en-US"/>
        </a:p>
      </dgm:t>
    </dgm:pt>
    <dgm:pt modelId="{D23E581B-AA16-403B-8AF5-1BB3E719881C}">
      <dgm:prSet phldrT="[Text]" custT="1"/>
      <dgm:spPr>
        <a:solidFill>
          <a:srgbClr val="59CAE8"/>
        </a:solidFill>
        <a:ln>
          <a:solidFill>
            <a:srgbClr val="59CAE8"/>
          </a:solidFill>
        </a:ln>
      </dgm:spPr>
      <dgm:t>
        <a:bodyPr/>
        <a:lstStyle/>
        <a:p>
          <a:r>
            <a:rPr lang="en-US" sz="2200" b="1" dirty="0"/>
            <a:t>BROKER DEVELOPMENT</a:t>
          </a:r>
        </a:p>
      </dgm:t>
    </dgm:pt>
    <dgm:pt modelId="{B1EFF21B-7CA5-4F93-B9E5-5284C3F28E15}" type="parTrans" cxnId="{2F92E761-FCD0-4BDD-A76B-9C732D3383BD}">
      <dgm:prSet/>
      <dgm:spPr/>
      <dgm:t>
        <a:bodyPr/>
        <a:lstStyle/>
        <a:p>
          <a:endParaRPr lang="en-US"/>
        </a:p>
      </dgm:t>
    </dgm:pt>
    <dgm:pt modelId="{1A5DEF5B-E65A-4FF8-AF95-9D9360F04B85}" type="sibTrans" cxnId="{2F92E761-FCD0-4BDD-A76B-9C732D3383BD}">
      <dgm:prSet/>
      <dgm:spPr/>
      <dgm:t>
        <a:bodyPr/>
        <a:lstStyle/>
        <a:p>
          <a:endParaRPr lang="en-US"/>
        </a:p>
      </dgm:t>
    </dgm:pt>
    <dgm:pt modelId="{7FF46690-C008-4C6D-8B8B-295F75E0DB90}">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endParaRPr lang="en-US" sz="1800" b="0" dirty="0"/>
        </a:p>
      </dgm:t>
    </dgm:pt>
    <dgm:pt modelId="{8D0C7DC4-BF81-461E-AD4F-3807C09AE856}" type="parTrans" cxnId="{F91C5992-82A2-4E51-88AD-3B34B316A11D}">
      <dgm:prSet/>
      <dgm:spPr/>
      <dgm:t>
        <a:bodyPr/>
        <a:lstStyle/>
        <a:p>
          <a:endParaRPr lang="en-US"/>
        </a:p>
      </dgm:t>
    </dgm:pt>
    <dgm:pt modelId="{B3C1D7E9-AE25-4261-B242-F121DEE18B6F}" type="sibTrans" cxnId="{F91C5992-82A2-4E51-88AD-3B34B316A11D}">
      <dgm:prSet/>
      <dgm:spPr/>
      <dgm:t>
        <a:bodyPr/>
        <a:lstStyle/>
        <a:p>
          <a:endParaRPr lang="en-US"/>
        </a:p>
      </dgm:t>
    </dgm:pt>
    <dgm:pt modelId="{137481BD-655E-4B21-9249-6EBB92970AA3}">
      <dgm:prSet phldrT="[Text]" custT="1"/>
      <dgm:spPr>
        <a:solidFill>
          <a:srgbClr val="59CAE8"/>
        </a:solidFill>
        <a:ln>
          <a:solidFill>
            <a:srgbClr val="59CAE8"/>
          </a:solidFill>
        </a:ln>
      </dgm:spPr>
      <dgm:t>
        <a:bodyPr/>
        <a:lstStyle/>
        <a:p>
          <a:r>
            <a:rPr lang="en-US" sz="2200" b="1" dirty="0"/>
            <a:t>DIRECT SALES</a:t>
          </a:r>
        </a:p>
      </dgm:t>
    </dgm:pt>
    <dgm:pt modelId="{ACB6711E-EC99-4F64-AEE7-58413CCAC090}" type="parTrans" cxnId="{BE4C9AF1-D175-4190-956C-E575898133B0}">
      <dgm:prSet/>
      <dgm:spPr/>
      <dgm:t>
        <a:bodyPr/>
        <a:lstStyle/>
        <a:p>
          <a:endParaRPr lang="en-US"/>
        </a:p>
      </dgm:t>
    </dgm:pt>
    <dgm:pt modelId="{6DA4AAFE-429F-489B-91ED-08FB3BF54110}" type="sibTrans" cxnId="{BE4C9AF1-D175-4190-956C-E575898133B0}">
      <dgm:prSet/>
      <dgm:spPr/>
      <dgm:t>
        <a:bodyPr/>
        <a:lstStyle/>
        <a:p>
          <a:endParaRPr lang="en-US"/>
        </a:p>
      </dgm:t>
    </dgm:pt>
    <dgm:pt modelId="{F7F7C9CC-CBF7-4EC6-A201-AF42BC40F2A0}">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endParaRPr lang="en-US" sz="1800" b="0" dirty="0"/>
        </a:p>
      </dgm:t>
    </dgm:pt>
    <dgm:pt modelId="{9087CC11-EF03-4DA5-ABF7-19F2B693FB4C}" type="parTrans" cxnId="{E3215492-455E-4EA7-919D-4D44F840E9C9}">
      <dgm:prSet/>
      <dgm:spPr/>
      <dgm:t>
        <a:bodyPr/>
        <a:lstStyle/>
        <a:p>
          <a:endParaRPr lang="en-US"/>
        </a:p>
      </dgm:t>
    </dgm:pt>
    <dgm:pt modelId="{43B95110-FECF-4DEB-82CB-554B129E2221}" type="sibTrans" cxnId="{E3215492-455E-4EA7-919D-4D44F840E9C9}">
      <dgm:prSet/>
      <dgm:spPr/>
      <dgm:t>
        <a:bodyPr/>
        <a:lstStyle/>
        <a:p>
          <a:endParaRPr lang="en-US"/>
        </a:p>
      </dgm:t>
    </dgm:pt>
    <dgm:pt modelId="{8AA02574-A625-4CCB-B607-53FB332909CE}">
      <dgm:prSet phldrT="[Text]"/>
      <dgm:spPr>
        <a:solidFill>
          <a:srgbClr val="59CAE8"/>
        </a:solidFill>
        <a:ln>
          <a:solidFill>
            <a:srgbClr val="59CAE8"/>
          </a:solidFill>
        </a:ln>
      </dgm:spPr>
      <dgm:t>
        <a:bodyPr/>
        <a:lstStyle/>
        <a:p>
          <a:r>
            <a:rPr lang="en-US" b="1" dirty="0"/>
            <a:t>SALES ADMINISTRATION</a:t>
          </a:r>
        </a:p>
      </dgm:t>
    </dgm:pt>
    <dgm:pt modelId="{03E4F07C-7651-4A84-978A-18980E54788A}" type="parTrans" cxnId="{04823003-2C67-4DC4-A96A-9D1D87D33B2A}">
      <dgm:prSet/>
      <dgm:spPr/>
      <dgm:t>
        <a:bodyPr/>
        <a:lstStyle/>
        <a:p>
          <a:endParaRPr lang="en-US"/>
        </a:p>
      </dgm:t>
    </dgm:pt>
    <dgm:pt modelId="{A59D420A-0509-48A4-84B8-BD859CBDE972}" type="sibTrans" cxnId="{04823003-2C67-4DC4-A96A-9D1D87D33B2A}">
      <dgm:prSet/>
      <dgm:spPr/>
      <dgm:t>
        <a:bodyPr/>
        <a:lstStyle/>
        <a:p>
          <a:endParaRPr lang="en-US"/>
        </a:p>
      </dgm:t>
    </dgm:pt>
    <dgm:pt modelId="{8F0095CA-0C27-493A-9874-D794A8A73536}">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endParaRPr lang="en-US" sz="1800" b="0" dirty="0"/>
        </a:p>
      </dgm:t>
    </dgm:pt>
    <dgm:pt modelId="{CDC7246F-F150-4E81-9FFD-97B9BE41076B}" type="parTrans" cxnId="{A94A4D77-D410-4172-B3AA-E2ACA791F98F}">
      <dgm:prSet/>
      <dgm:spPr/>
      <dgm:t>
        <a:bodyPr/>
        <a:lstStyle/>
        <a:p>
          <a:endParaRPr lang="en-US"/>
        </a:p>
      </dgm:t>
    </dgm:pt>
    <dgm:pt modelId="{510451AB-9983-4AEA-8022-D0BC130E6092}" type="sibTrans" cxnId="{A94A4D77-D410-4172-B3AA-E2ACA791F98F}">
      <dgm:prSet/>
      <dgm:spPr/>
      <dgm:t>
        <a:bodyPr/>
        <a:lstStyle/>
        <a:p>
          <a:endParaRPr lang="en-US"/>
        </a:p>
      </dgm:t>
    </dgm:pt>
    <dgm:pt modelId="{B1FA3D48-7F41-4C46-99D6-6C8591F4198C}">
      <dgm:prSet phldrT="[Text]"/>
      <dgm:spPr>
        <a:solidFill>
          <a:schemeClr val="lt1">
            <a:hueOff val="0"/>
            <a:satOff val="0"/>
            <a:lumOff val="0"/>
            <a:alpha val="80000"/>
          </a:schemeClr>
        </a:solidFill>
        <a:ln>
          <a:solidFill>
            <a:schemeClr val="bg1">
              <a:lumMod val="65000"/>
            </a:schemeClr>
          </a:solidFill>
        </a:ln>
      </dgm:spPr>
      <dgm:t>
        <a:bodyPr tIns="91440"/>
        <a:lstStyle/>
        <a:p>
          <a:pPr marL="114300" indent="0">
            <a:lnSpc>
              <a:spcPct val="100000"/>
            </a:lnSpc>
            <a:spcAft>
              <a:spcPts val="300"/>
            </a:spcAft>
          </a:pPr>
          <a:endParaRPr lang="en-US" sz="1500" b="0" dirty="0"/>
        </a:p>
      </dgm:t>
    </dgm:pt>
    <dgm:pt modelId="{012C922E-7A6C-43B7-A753-53C75D0CB07F}" type="parTrans" cxnId="{EBF30808-A408-4F9D-B9C2-E5FC4507A989}">
      <dgm:prSet/>
      <dgm:spPr/>
      <dgm:t>
        <a:bodyPr/>
        <a:lstStyle/>
        <a:p>
          <a:endParaRPr lang="en-US"/>
        </a:p>
      </dgm:t>
    </dgm:pt>
    <dgm:pt modelId="{4E6B45C1-37A8-43E1-8B00-EA4364BA9A53}" type="sibTrans" cxnId="{EBF30808-A408-4F9D-B9C2-E5FC4507A989}">
      <dgm:prSet/>
      <dgm:spPr/>
      <dgm:t>
        <a:bodyPr/>
        <a:lstStyle/>
        <a:p>
          <a:endParaRPr lang="en-US"/>
        </a:p>
      </dgm:t>
    </dgm:pt>
    <dgm:pt modelId="{5E564713-3E5C-4216-AC76-2C8D569707A1}">
      <dgm:prSet phldrT="[Text]"/>
      <dgm:spPr>
        <a:solidFill>
          <a:schemeClr val="lt1">
            <a:hueOff val="0"/>
            <a:satOff val="0"/>
            <a:lumOff val="0"/>
            <a:alpha val="80000"/>
          </a:schemeClr>
        </a:solidFill>
        <a:ln>
          <a:solidFill>
            <a:schemeClr val="bg1">
              <a:lumMod val="65000"/>
            </a:schemeClr>
          </a:solidFill>
        </a:ln>
      </dgm:spPr>
      <dgm:t>
        <a:bodyPr tIns="91440"/>
        <a:lstStyle/>
        <a:p>
          <a:pPr marL="228600" indent="0">
            <a:lnSpc>
              <a:spcPct val="100000"/>
            </a:lnSpc>
            <a:spcAft>
              <a:spcPts val="300"/>
            </a:spcAft>
          </a:pPr>
          <a:endParaRPr lang="en-US" sz="2100" b="0" dirty="0"/>
        </a:p>
      </dgm:t>
    </dgm:pt>
    <dgm:pt modelId="{0C8DA182-D421-4374-AA69-62A4033F8D61}" type="parTrans" cxnId="{D5EF1BE8-567B-4AEB-9931-155FFDAC15D1}">
      <dgm:prSet/>
      <dgm:spPr/>
      <dgm:t>
        <a:bodyPr/>
        <a:lstStyle/>
        <a:p>
          <a:endParaRPr lang="en-US"/>
        </a:p>
      </dgm:t>
    </dgm:pt>
    <dgm:pt modelId="{C594015F-2B43-47FD-9E44-22D00FC6EB48}" type="sibTrans" cxnId="{D5EF1BE8-567B-4AEB-9931-155FFDAC15D1}">
      <dgm:prSet/>
      <dgm:spPr/>
      <dgm:t>
        <a:bodyPr/>
        <a:lstStyle/>
        <a:p>
          <a:endParaRPr lang="en-US"/>
        </a:p>
      </dgm:t>
    </dgm:pt>
    <dgm:pt modelId="{02E691F9-88D3-4BD2-83C9-F0036F6DAFD4}" type="pres">
      <dgm:prSet presAssocID="{FD150493-506C-4796-9188-B229C3F673EE}" presName="diagram" presStyleCnt="0">
        <dgm:presLayoutVars>
          <dgm:dir/>
          <dgm:animLvl val="lvl"/>
          <dgm:resizeHandles val="exact"/>
        </dgm:presLayoutVars>
      </dgm:prSet>
      <dgm:spPr/>
    </dgm:pt>
    <dgm:pt modelId="{58D04B40-D6D0-4E84-B95B-18F2C07DF5B9}" type="pres">
      <dgm:prSet presAssocID="{D23E581B-AA16-403B-8AF5-1BB3E719881C}" presName="compNode" presStyleCnt="0"/>
      <dgm:spPr/>
    </dgm:pt>
    <dgm:pt modelId="{3F010C22-B439-4BEC-A07A-60ED666B2E08}" type="pres">
      <dgm:prSet presAssocID="{D23E581B-AA16-403B-8AF5-1BB3E719881C}" presName="childRect" presStyleLbl="bgAcc1" presStyleIdx="0" presStyleCnt="3" custScaleY="106070">
        <dgm:presLayoutVars>
          <dgm:bulletEnabled val="1"/>
        </dgm:presLayoutVars>
      </dgm:prSet>
      <dgm:spPr/>
    </dgm:pt>
    <dgm:pt modelId="{5F2862EE-15F0-400F-BA0C-7A5864BA0266}" type="pres">
      <dgm:prSet presAssocID="{D23E581B-AA16-403B-8AF5-1BB3E719881C}" presName="parentText" presStyleLbl="node1" presStyleIdx="0" presStyleCnt="0">
        <dgm:presLayoutVars>
          <dgm:chMax val="0"/>
          <dgm:bulletEnabled val="1"/>
        </dgm:presLayoutVars>
      </dgm:prSet>
      <dgm:spPr/>
    </dgm:pt>
    <dgm:pt modelId="{CBD6250E-21D7-41DA-B5C6-ED9529780301}" type="pres">
      <dgm:prSet presAssocID="{D23E581B-AA16-403B-8AF5-1BB3E719881C}" presName="parentRect" presStyleLbl="alignNode1" presStyleIdx="0" presStyleCnt="3"/>
      <dgm:spPr/>
    </dgm:pt>
    <dgm:pt modelId="{C9DDB7FA-A0FA-4D6A-949B-B117078ADD34}" type="pres">
      <dgm:prSet presAssocID="{D23E581B-AA16-403B-8AF5-1BB3E719881C}" presName="adorn" presStyleLbl="fgAccFollowNode1" presStyleIdx="0" presStyleCnt="3"/>
      <dgm:spPr>
        <a:blipFill>
          <a:blip xmlns:r="http://schemas.openxmlformats.org/officeDocument/2006/relationships" r:embed="rId1" cstate="screen">
            <a:extLst>
              <a:ext uri="{28A0092B-C50C-407E-A947-70E740481C1C}">
                <a14:useLocalDpi xmlns:a14="http://schemas.microsoft.com/office/drawing/2010/main"/>
              </a:ext>
            </a:extLst>
          </a:blip>
          <a:stretch>
            <a:fillRect/>
          </a:stretch>
        </a:blipFill>
      </dgm:spPr>
    </dgm:pt>
    <dgm:pt modelId="{E77E4508-34B4-407E-AA04-E065337321D5}" type="pres">
      <dgm:prSet presAssocID="{1A5DEF5B-E65A-4FF8-AF95-9D9360F04B85}" presName="sibTrans" presStyleLbl="sibTrans2D1" presStyleIdx="0" presStyleCnt="0"/>
      <dgm:spPr/>
    </dgm:pt>
    <dgm:pt modelId="{9DA3E70E-BD71-4D3F-B533-03B38D4C3DF0}" type="pres">
      <dgm:prSet presAssocID="{137481BD-655E-4B21-9249-6EBB92970AA3}" presName="compNode" presStyleCnt="0"/>
      <dgm:spPr/>
    </dgm:pt>
    <dgm:pt modelId="{8C4E3136-41AF-48D5-891D-C7A5263CF655}" type="pres">
      <dgm:prSet presAssocID="{137481BD-655E-4B21-9249-6EBB92970AA3}" presName="childRect" presStyleLbl="bgAcc1" presStyleIdx="1" presStyleCnt="3" custScaleY="106070">
        <dgm:presLayoutVars>
          <dgm:bulletEnabled val="1"/>
        </dgm:presLayoutVars>
      </dgm:prSet>
      <dgm:spPr/>
    </dgm:pt>
    <dgm:pt modelId="{87CDE648-3631-45A2-81CB-A378391DE746}" type="pres">
      <dgm:prSet presAssocID="{137481BD-655E-4B21-9249-6EBB92970AA3}" presName="parentText" presStyleLbl="node1" presStyleIdx="0" presStyleCnt="0">
        <dgm:presLayoutVars>
          <dgm:chMax val="0"/>
          <dgm:bulletEnabled val="1"/>
        </dgm:presLayoutVars>
      </dgm:prSet>
      <dgm:spPr/>
    </dgm:pt>
    <dgm:pt modelId="{79A312E4-6849-4D68-ADD1-B772AC6F907C}" type="pres">
      <dgm:prSet presAssocID="{137481BD-655E-4B21-9249-6EBB92970AA3}" presName="parentRect" presStyleLbl="alignNode1" presStyleIdx="1" presStyleCnt="3"/>
      <dgm:spPr/>
    </dgm:pt>
    <dgm:pt modelId="{59AE0CE5-CBA7-420A-835A-5F5591837FE8}" type="pres">
      <dgm:prSet presAssocID="{137481BD-655E-4B21-9249-6EBB92970AA3}" presName="adorn" presStyleLbl="fgAccFollowNode1" presStyleIdx="1" presStyleCnt="3"/>
      <dgm:spPr>
        <a:blipFill>
          <a:blip xmlns:r="http://schemas.openxmlformats.org/officeDocument/2006/relationships" r:embed="rId2" cstate="screen">
            <a:extLst>
              <a:ext uri="{28A0092B-C50C-407E-A947-70E740481C1C}">
                <a14:useLocalDpi xmlns:a14="http://schemas.microsoft.com/office/drawing/2010/main"/>
              </a:ext>
            </a:extLst>
          </a:blip>
          <a:stretch>
            <a:fillRect/>
          </a:stretch>
        </a:blipFill>
      </dgm:spPr>
    </dgm:pt>
    <dgm:pt modelId="{D3E0BD9C-A15C-4128-8A3E-11E4925B5449}" type="pres">
      <dgm:prSet presAssocID="{6DA4AAFE-429F-489B-91ED-08FB3BF54110}" presName="sibTrans" presStyleLbl="sibTrans2D1" presStyleIdx="0" presStyleCnt="0"/>
      <dgm:spPr/>
    </dgm:pt>
    <dgm:pt modelId="{FEE7CB4D-9AA0-4FA3-ACBC-9D2E9B793FB1}" type="pres">
      <dgm:prSet presAssocID="{8AA02574-A625-4CCB-B607-53FB332909CE}" presName="compNode" presStyleCnt="0"/>
      <dgm:spPr/>
    </dgm:pt>
    <dgm:pt modelId="{35B06EAE-30F4-4745-ACED-5452905F1416}" type="pres">
      <dgm:prSet presAssocID="{8AA02574-A625-4CCB-B607-53FB332909CE}" presName="childRect" presStyleLbl="bgAcc1" presStyleIdx="2" presStyleCnt="3" custScaleY="106070">
        <dgm:presLayoutVars>
          <dgm:bulletEnabled val="1"/>
        </dgm:presLayoutVars>
      </dgm:prSet>
      <dgm:spPr/>
    </dgm:pt>
    <dgm:pt modelId="{9E8AA967-F63D-4462-B3DF-2E61DCE37D82}" type="pres">
      <dgm:prSet presAssocID="{8AA02574-A625-4CCB-B607-53FB332909CE}" presName="parentText" presStyleLbl="node1" presStyleIdx="0" presStyleCnt="0">
        <dgm:presLayoutVars>
          <dgm:chMax val="0"/>
          <dgm:bulletEnabled val="1"/>
        </dgm:presLayoutVars>
      </dgm:prSet>
      <dgm:spPr/>
    </dgm:pt>
    <dgm:pt modelId="{A8558B5A-0979-484B-BD3E-256476C68F9A}" type="pres">
      <dgm:prSet presAssocID="{8AA02574-A625-4CCB-B607-53FB332909CE}" presName="parentRect" presStyleLbl="alignNode1" presStyleIdx="2" presStyleCnt="3"/>
      <dgm:spPr/>
    </dgm:pt>
    <dgm:pt modelId="{1AE27240-F06A-48BF-83C8-82D83CBD609C}" type="pres">
      <dgm:prSet presAssocID="{8AA02574-A625-4CCB-B607-53FB332909CE}" presName="adorn" presStyleLbl="fgAccFollowNode1" presStyleIdx="2" presStyleCnt="3"/>
      <dgm:spPr>
        <a:blipFill>
          <a:blip xmlns:r="http://schemas.openxmlformats.org/officeDocument/2006/relationships" r:embed="rId3" cstate="screen">
            <a:extLst>
              <a:ext uri="{28A0092B-C50C-407E-A947-70E740481C1C}">
                <a14:useLocalDpi xmlns:a14="http://schemas.microsoft.com/office/drawing/2010/main"/>
              </a:ext>
            </a:extLst>
          </a:blip>
          <a:stretch>
            <a:fillRect/>
          </a:stretch>
        </a:blipFill>
      </dgm:spPr>
    </dgm:pt>
  </dgm:ptLst>
  <dgm:cxnLst>
    <dgm:cxn modelId="{04823003-2C67-4DC4-A96A-9D1D87D33B2A}" srcId="{FD150493-506C-4796-9188-B229C3F673EE}" destId="{8AA02574-A625-4CCB-B607-53FB332909CE}" srcOrd="2" destOrd="0" parTransId="{03E4F07C-7651-4A84-978A-18980E54788A}" sibTransId="{A59D420A-0509-48A4-84B8-BD859CBDE972}"/>
    <dgm:cxn modelId="{54060E05-1455-499C-A6BB-E47A1C8EFC1A}" type="presOf" srcId="{B1FA3D48-7F41-4C46-99D6-6C8591F4198C}" destId="{8C4E3136-41AF-48D5-891D-C7A5263CF655}" srcOrd="0" destOrd="1" presId="urn:microsoft.com/office/officeart/2005/8/layout/bList2"/>
    <dgm:cxn modelId="{EBF30808-A408-4F9D-B9C2-E5FC4507A989}" srcId="{137481BD-655E-4B21-9249-6EBB92970AA3}" destId="{B1FA3D48-7F41-4C46-99D6-6C8591F4198C}" srcOrd="1" destOrd="0" parTransId="{012C922E-7A6C-43B7-A753-53C75D0CB07F}" sibTransId="{4E6B45C1-37A8-43E1-8B00-EA4364BA9A53}"/>
    <dgm:cxn modelId="{67E03231-DB0E-4277-AB75-FBA53D566E93}" type="presOf" srcId="{6DA4AAFE-429F-489B-91ED-08FB3BF54110}" destId="{D3E0BD9C-A15C-4128-8A3E-11E4925B5449}" srcOrd="0" destOrd="0" presId="urn:microsoft.com/office/officeart/2005/8/layout/bList2"/>
    <dgm:cxn modelId="{83C4A231-D186-4969-BA3D-B7D11C49A7DB}" type="presOf" srcId="{FD150493-506C-4796-9188-B229C3F673EE}" destId="{02E691F9-88D3-4BD2-83C9-F0036F6DAFD4}" srcOrd="0" destOrd="0" presId="urn:microsoft.com/office/officeart/2005/8/layout/bList2"/>
    <dgm:cxn modelId="{2F92E761-FCD0-4BDD-A76B-9C732D3383BD}" srcId="{FD150493-506C-4796-9188-B229C3F673EE}" destId="{D23E581B-AA16-403B-8AF5-1BB3E719881C}" srcOrd="0" destOrd="0" parTransId="{B1EFF21B-7CA5-4F93-B9E5-5284C3F28E15}" sibTransId="{1A5DEF5B-E65A-4FF8-AF95-9D9360F04B85}"/>
    <dgm:cxn modelId="{6F5B0544-A529-4966-AB26-9F11B7AE40CA}" type="presOf" srcId="{137481BD-655E-4B21-9249-6EBB92970AA3}" destId="{79A312E4-6849-4D68-ADD1-B772AC6F907C}" srcOrd="1" destOrd="0" presId="urn:microsoft.com/office/officeart/2005/8/layout/bList2"/>
    <dgm:cxn modelId="{A94A4D77-D410-4172-B3AA-E2ACA791F98F}" srcId="{8AA02574-A625-4CCB-B607-53FB332909CE}" destId="{8F0095CA-0C27-493A-9874-D794A8A73536}" srcOrd="0" destOrd="0" parTransId="{CDC7246F-F150-4E81-9FFD-97B9BE41076B}" sibTransId="{510451AB-9983-4AEA-8022-D0BC130E6092}"/>
    <dgm:cxn modelId="{EEE04859-9D6F-4F7C-A816-0425AD38F258}" type="presOf" srcId="{D23E581B-AA16-403B-8AF5-1BB3E719881C}" destId="{CBD6250E-21D7-41DA-B5C6-ED9529780301}" srcOrd="1" destOrd="0" presId="urn:microsoft.com/office/officeart/2005/8/layout/bList2"/>
    <dgm:cxn modelId="{C3C9F559-4F82-4941-A725-E9BCE191CFCA}" type="presOf" srcId="{5E564713-3E5C-4216-AC76-2C8D569707A1}" destId="{35B06EAE-30F4-4745-ACED-5452905F1416}" srcOrd="0" destOrd="1" presId="urn:microsoft.com/office/officeart/2005/8/layout/bList2"/>
    <dgm:cxn modelId="{49843980-F694-4D65-86B3-4D28E75D1CAD}" type="presOf" srcId="{137481BD-655E-4B21-9249-6EBB92970AA3}" destId="{87CDE648-3631-45A2-81CB-A378391DE746}" srcOrd="0" destOrd="0" presId="urn:microsoft.com/office/officeart/2005/8/layout/bList2"/>
    <dgm:cxn modelId="{BAD32D88-086B-4163-8EEE-CFA5FBE13314}" type="presOf" srcId="{F7F7C9CC-CBF7-4EC6-A201-AF42BC40F2A0}" destId="{8C4E3136-41AF-48D5-891D-C7A5263CF655}" srcOrd="0" destOrd="0" presId="urn:microsoft.com/office/officeart/2005/8/layout/bList2"/>
    <dgm:cxn modelId="{E3215492-455E-4EA7-919D-4D44F840E9C9}" srcId="{137481BD-655E-4B21-9249-6EBB92970AA3}" destId="{F7F7C9CC-CBF7-4EC6-A201-AF42BC40F2A0}" srcOrd="0" destOrd="0" parTransId="{9087CC11-EF03-4DA5-ABF7-19F2B693FB4C}" sibTransId="{43B95110-FECF-4DEB-82CB-554B129E2221}"/>
    <dgm:cxn modelId="{F91C5992-82A2-4E51-88AD-3B34B316A11D}" srcId="{D23E581B-AA16-403B-8AF5-1BB3E719881C}" destId="{7FF46690-C008-4C6D-8B8B-295F75E0DB90}" srcOrd="0" destOrd="0" parTransId="{8D0C7DC4-BF81-461E-AD4F-3807C09AE856}" sibTransId="{B3C1D7E9-AE25-4261-B242-F121DEE18B6F}"/>
    <dgm:cxn modelId="{92EAACA0-EC69-4A7A-A0D6-B767ABABFD4D}" type="presOf" srcId="{8AA02574-A625-4CCB-B607-53FB332909CE}" destId="{9E8AA967-F63D-4462-B3DF-2E61DCE37D82}" srcOrd="0" destOrd="0" presId="urn:microsoft.com/office/officeart/2005/8/layout/bList2"/>
    <dgm:cxn modelId="{FB851ADA-FDC3-4AC9-B5D1-634F1680EA45}" type="presOf" srcId="{D23E581B-AA16-403B-8AF5-1BB3E719881C}" destId="{5F2862EE-15F0-400F-BA0C-7A5864BA0266}" srcOrd="0" destOrd="0" presId="urn:microsoft.com/office/officeart/2005/8/layout/bList2"/>
    <dgm:cxn modelId="{D5EF1BE8-567B-4AEB-9931-155FFDAC15D1}" srcId="{8AA02574-A625-4CCB-B607-53FB332909CE}" destId="{5E564713-3E5C-4216-AC76-2C8D569707A1}" srcOrd="1" destOrd="0" parTransId="{0C8DA182-D421-4374-AA69-62A4033F8D61}" sibTransId="{C594015F-2B43-47FD-9E44-22D00FC6EB48}"/>
    <dgm:cxn modelId="{AECB39EB-1DBA-434A-8146-CF9B196B8451}" type="presOf" srcId="{8F0095CA-0C27-493A-9874-D794A8A73536}" destId="{35B06EAE-30F4-4745-ACED-5452905F1416}" srcOrd="0" destOrd="0" presId="urn:microsoft.com/office/officeart/2005/8/layout/bList2"/>
    <dgm:cxn modelId="{A3AD3BED-9760-4A23-A6A8-1FADD02C6B08}" type="presOf" srcId="{1A5DEF5B-E65A-4FF8-AF95-9D9360F04B85}" destId="{E77E4508-34B4-407E-AA04-E065337321D5}" srcOrd="0" destOrd="0" presId="urn:microsoft.com/office/officeart/2005/8/layout/bList2"/>
    <dgm:cxn modelId="{758129EF-89A9-4155-9DEC-39FAD16AFE4C}" type="presOf" srcId="{7FF46690-C008-4C6D-8B8B-295F75E0DB90}" destId="{3F010C22-B439-4BEC-A07A-60ED666B2E08}" srcOrd="0" destOrd="0" presId="urn:microsoft.com/office/officeart/2005/8/layout/bList2"/>
    <dgm:cxn modelId="{9E65D2EF-C724-4A4E-A250-0CDA6B8D3B0C}" type="presOf" srcId="{8AA02574-A625-4CCB-B607-53FB332909CE}" destId="{A8558B5A-0979-484B-BD3E-256476C68F9A}" srcOrd="1" destOrd="0" presId="urn:microsoft.com/office/officeart/2005/8/layout/bList2"/>
    <dgm:cxn modelId="{BE4C9AF1-D175-4190-956C-E575898133B0}" srcId="{FD150493-506C-4796-9188-B229C3F673EE}" destId="{137481BD-655E-4B21-9249-6EBB92970AA3}" srcOrd="1" destOrd="0" parTransId="{ACB6711E-EC99-4F64-AEE7-58413CCAC090}" sibTransId="{6DA4AAFE-429F-489B-91ED-08FB3BF54110}"/>
    <dgm:cxn modelId="{B5885EA0-DA88-4518-B897-8E4982D27502}" type="presParOf" srcId="{02E691F9-88D3-4BD2-83C9-F0036F6DAFD4}" destId="{58D04B40-D6D0-4E84-B95B-18F2C07DF5B9}" srcOrd="0" destOrd="0" presId="urn:microsoft.com/office/officeart/2005/8/layout/bList2"/>
    <dgm:cxn modelId="{0CC27C19-DFA1-4B50-89B5-9D9EF36DF7F7}" type="presParOf" srcId="{58D04B40-D6D0-4E84-B95B-18F2C07DF5B9}" destId="{3F010C22-B439-4BEC-A07A-60ED666B2E08}" srcOrd="0" destOrd="0" presId="urn:microsoft.com/office/officeart/2005/8/layout/bList2"/>
    <dgm:cxn modelId="{902D026E-25F8-4507-85F1-8886A8485D85}" type="presParOf" srcId="{58D04B40-D6D0-4E84-B95B-18F2C07DF5B9}" destId="{5F2862EE-15F0-400F-BA0C-7A5864BA0266}" srcOrd="1" destOrd="0" presId="urn:microsoft.com/office/officeart/2005/8/layout/bList2"/>
    <dgm:cxn modelId="{200FCB12-E1A4-4B3E-91D1-228A8C46AB54}" type="presParOf" srcId="{58D04B40-D6D0-4E84-B95B-18F2C07DF5B9}" destId="{CBD6250E-21D7-41DA-B5C6-ED9529780301}" srcOrd="2" destOrd="0" presId="urn:microsoft.com/office/officeart/2005/8/layout/bList2"/>
    <dgm:cxn modelId="{7012B8A7-875F-46B3-8C5A-A9BD60F7D309}" type="presParOf" srcId="{58D04B40-D6D0-4E84-B95B-18F2C07DF5B9}" destId="{C9DDB7FA-A0FA-4D6A-949B-B117078ADD34}" srcOrd="3" destOrd="0" presId="urn:microsoft.com/office/officeart/2005/8/layout/bList2"/>
    <dgm:cxn modelId="{BC40FDAD-F912-41AF-8C81-6A33BE58279A}" type="presParOf" srcId="{02E691F9-88D3-4BD2-83C9-F0036F6DAFD4}" destId="{E77E4508-34B4-407E-AA04-E065337321D5}" srcOrd="1" destOrd="0" presId="urn:microsoft.com/office/officeart/2005/8/layout/bList2"/>
    <dgm:cxn modelId="{FF99F07A-CF7A-4B8D-99C8-32ABC0973A79}" type="presParOf" srcId="{02E691F9-88D3-4BD2-83C9-F0036F6DAFD4}" destId="{9DA3E70E-BD71-4D3F-B533-03B38D4C3DF0}" srcOrd="2" destOrd="0" presId="urn:microsoft.com/office/officeart/2005/8/layout/bList2"/>
    <dgm:cxn modelId="{293E5CD8-2971-4070-8F9A-C3CF67512C00}" type="presParOf" srcId="{9DA3E70E-BD71-4D3F-B533-03B38D4C3DF0}" destId="{8C4E3136-41AF-48D5-891D-C7A5263CF655}" srcOrd="0" destOrd="0" presId="urn:microsoft.com/office/officeart/2005/8/layout/bList2"/>
    <dgm:cxn modelId="{03C40921-D762-4C86-9E2B-9930035E07F1}" type="presParOf" srcId="{9DA3E70E-BD71-4D3F-B533-03B38D4C3DF0}" destId="{87CDE648-3631-45A2-81CB-A378391DE746}" srcOrd="1" destOrd="0" presId="urn:microsoft.com/office/officeart/2005/8/layout/bList2"/>
    <dgm:cxn modelId="{B22706E5-299E-4A4D-BE8A-BEA92B369AC1}" type="presParOf" srcId="{9DA3E70E-BD71-4D3F-B533-03B38D4C3DF0}" destId="{79A312E4-6849-4D68-ADD1-B772AC6F907C}" srcOrd="2" destOrd="0" presId="urn:microsoft.com/office/officeart/2005/8/layout/bList2"/>
    <dgm:cxn modelId="{BA59C74A-96C1-4D66-B62F-0D9FD3E10D2E}" type="presParOf" srcId="{9DA3E70E-BD71-4D3F-B533-03B38D4C3DF0}" destId="{59AE0CE5-CBA7-420A-835A-5F5591837FE8}" srcOrd="3" destOrd="0" presId="urn:microsoft.com/office/officeart/2005/8/layout/bList2"/>
    <dgm:cxn modelId="{D569563E-4821-4932-9DEE-077AF6C7AC8D}" type="presParOf" srcId="{02E691F9-88D3-4BD2-83C9-F0036F6DAFD4}" destId="{D3E0BD9C-A15C-4128-8A3E-11E4925B5449}" srcOrd="3" destOrd="0" presId="urn:microsoft.com/office/officeart/2005/8/layout/bList2"/>
    <dgm:cxn modelId="{BA380A69-4FA1-47AC-9025-058A2CE8BDB0}" type="presParOf" srcId="{02E691F9-88D3-4BD2-83C9-F0036F6DAFD4}" destId="{FEE7CB4D-9AA0-4FA3-ACBC-9D2E9B793FB1}" srcOrd="4" destOrd="0" presId="urn:microsoft.com/office/officeart/2005/8/layout/bList2"/>
    <dgm:cxn modelId="{7816995C-B8DE-43A8-95DC-F6E98D106E71}" type="presParOf" srcId="{FEE7CB4D-9AA0-4FA3-ACBC-9D2E9B793FB1}" destId="{35B06EAE-30F4-4745-ACED-5452905F1416}" srcOrd="0" destOrd="0" presId="urn:microsoft.com/office/officeart/2005/8/layout/bList2"/>
    <dgm:cxn modelId="{282DD5D8-A007-4939-9EE0-EB47E62C0F7D}" type="presParOf" srcId="{FEE7CB4D-9AA0-4FA3-ACBC-9D2E9B793FB1}" destId="{9E8AA967-F63D-4462-B3DF-2E61DCE37D82}" srcOrd="1" destOrd="0" presId="urn:microsoft.com/office/officeart/2005/8/layout/bList2"/>
    <dgm:cxn modelId="{D9AD3E0C-08BA-47EA-993B-0B017926FEC1}" type="presParOf" srcId="{FEE7CB4D-9AA0-4FA3-ACBC-9D2E9B793FB1}" destId="{A8558B5A-0979-484B-BD3E-256476C68F9A}" srcOrd="2" destOrd="0" presId="urn:microsoft.com/office/officeart/2005/8/layout/bList2"/>
    <dgm:cxn modelId="{AB163A00-5796-4F8F-85A5-9EA91057261F}" type="presParOf" srcId="{FEE7CB4D-9AA0-4FA3-ACBC-9D2E9B793FB1}" destId="{1AE27240-F06A-48BF-83C8-82D83CBD609C}" srcOrd="3" destOrd="0" presId="urn:microsoft.com/office/officeart/2005/8/layout/b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1EB95AC-B718-49BE-B9F7-7B46D03A9070}" type="doc">
      <dgm:prSet loTypeId="urn:microsoft.com/office/officeart/2005/8/layout/chevron2" loCatId="list" qsTypeId="urn:microsoft.com/office/officeart/2005/8/quickstyle/simple1" qsCatId="simple" csTypeId="urn:microsoft.com/office/officeart/2005/8/colors/colorful3" csCatId="colorful" phldr="1"/>
      <dgm:spPr>
        <a:scene3d>
          <a:camera prst="orthographicFront">
            <a:rot lat="0" lon="0" rev="0"/>
          </a:camera>
          <a:lightRig rig="balanced" dir="t">
            <a:rot lat="0" lon="0" rev="8700000"/>
          </a:lightRig>
        </a:scene3d>
      </dgm:spPr>
      <dgm:t>
        <a:bodyPr/>
        <a:lstStyle/>
        <a:p>
          <a:endParaRPr lang="en-US"/>
        </a:p>
      </dgm:t>
    </dgm:pt>
    <dgm:pt modelId="{47BCB690-E656-418C-B55B-B79A4FCE6245}">
      <dgm:prSet phldrT="[Text]" custT="1"/>
      <dgm:spPr>
        <a:scene3d>
          <a:camera prst="orthographicFront">
            <a:rot lat="0" lon="0" rev="0"/>
          </a:camera>
          <a:lightRig rig="balanced" dir="t">
            <a:rot lat="0" lon="0" rev="8700000"/>
          </a:lightRig>
        </a:scene3d>
        <a:sp3d>
          <a:bevelT w="190500" h="38100"/>
        </a:sp3d>
      </dgm:spPr>
      <dgm:t>
        <a:bodyPr/>
        <a:lstStyle/>
        <a:p>
          <a:r>
            <a:rPr lang="en-US" sz="2000" dirty="0"/>
            <a:t>PROVIDER FILE</a:t>
          </a:r>
        </a:p>
      </dgm:t>
    </dgm:pt>
    <dgm:pt modelId="{21485E53-BF3D-4432-8067-935595586B0F}" type="parTrans" cxnId="{8A02C773-1A4A-4225-AE5B-19BBABCA0546}">
      <dgm:prSet/>
      <dgm:spPr/>
      <dgm:t>
        <a:bodyPr/>
        <a:lstStyle/>
        <a:p>
          <a:endParaRPr lang="en-US" sz="2000"/>
        </a:p>
      </dgm:t>
    </dgm:pt>
    <dgm:pt modelId="{8E928878-0D2F-4A4F-888D-4D1DC978E21E}" type="sibTrans" cxnId="{8A02C773-1A4A-4225-AE5B-19BBABCA0546}">
      <dgm:prSet/>
      <dgm:spPr/>
      <dgm:t>
        <a:bodyPr/>
        <a:lstStyle/>
        <a:p>
          <a:endParaRPr lang="en-US" sz="2000"/>
        </a:p>
      </dgm:t>
    </dgm:pt>
    <dgm:pt modelId="{F23082BA-6E41-4A1F-B1B1-BB53C7ABA883}">
      <dgm:prSet phldrT="[Text]" custT="1"/>
      <dgm:spPr>
        <a:scene3d>
          <a:camera prst="orthographicFront">
            <a:rot lat="0" lon="0" rev="0"/>
          </a:camera>
          <a:lightRig rig="balanced" dir="t">
            <a:rot lat="0" lon="0" rev="8700000"/>
          </a:lightRig>
        </a:scene3d>
        <a:sp3d>
          <a:bevelT w="190500" h="38100"/>
        </a:sp3d>
      </dgm:spPr>
      <dgm:t>
        <a:bodyPr/>
        <a:lstStyle/>
        <a:p>
          <a:endParaRPr lang="en-US" sz="2000" dirty="0"/>
        </a:p>
      </dgm:t>
    </dgm:pt>
    <dgm:pt modelId="{92C3D120-BAFB-4E00-B475-B58E77B980C1}" type="parTrans" cxnId="{9060E8D6-14D8-45D4-94F6-5D26D3CC4E2E}">
      <dgm:prSet/>
      <dgm:spPr/>
      <dgm:t>
        <a:bodyPr/>
        <a:lstStyle/>
        <a:p>
          <a:endParaRPr lang="en-US" sz="2000"/>
        </a:p>
      </dgm:t>
    </dgm:pt>
    <dgm:pt modelId="{465CAD08-1732-4D98-964A-5E10FDE2D8CB}" type="sibTrans" cxnId="{9060E8D6-14D8-45D4-94F6-5D26D3CC4E2E}">
      <dgm:prSet/>
      <dgm:spPr/>
      <dgm:t>
        <a:bodyPr/>
        <a:lstStyle/>
        <a:p>
          <a:endParaRPr lang="en-US" sz="2000"/>
        </a:p>
      </dgm:t>
    </dgm:pt>
    <dgm:pt modelId="{8FF7F8DE-0085-4489-85EA-475C2622F1F3}">
      <dgm:prSet phldrT="[Text]" custT="1"/>
      <dgm:spPr>
        <a:solidFill>
          <a:srgbClr val="244F9A"/>
        </a:solidFill>
        <a:ln>
          <a:solidFill>
            <a:srgbClr val="6A3085"/>
          </a:solidFill>
        </a:ln>
        <a:scene3d>
          <a:camera prst="orthographicFront">
            <a:rot lat="0" lon="0" rev="0"/>
          </a:camera>
          <a:lightRig rig="balanced" dir="t">
            <a:rot lat="0" lon="0" rev="8700000"/>
          </a:lightRig>
        </a:scene3d>
        <a:sp3d>
          <a:bevelT w="190500" h="38100"/>
        </a:sp3d>
      </dgm:spPr>
      <dgm:t>
        <a:bodyPr/>
        <a:lstStyle/>
        <a:p>
          <a:r>
            <a:rPr lang="en-US" sz="2000" dirty="0"/>
            <a:t>PRICING</a:t>
          </a:r>
        </a:p>
      </dgm:t>
    </dgm:pt>
    <dgm:pt modelId="{78703D96-49FE-4F74-BBE0-39D3C04B358D}" type="parTrans" cxnId="{1BA4842A-4C22-4B8F-A09D-47DDB89E291B}">
      <dgm:prSet/>
      <dgm:spPr/>
      <dgm:t>
        <a:bodyPr/>
        <a:lstStyle/>
        <a:p>
          <a:endParaRPr lang="en-US" sz="2000"/>
        </a:p>
      </dgm:t>
    </dgm:pt>
    <dgm:pt modelId="{62E82B07-65F9-4D6F-8234-7C637FD1F21F}" type="sibTrans" cxnId="{1BA4842A-4C22-4B8F-A09D-47DDB89E291B}">
      <dgm:prSet/>
      <dgm:spPr/>
      <dgm:t>
        <a:bodyPr/>
        <a:lstStyle/>
        <a:p>
          <a:endParaRPr lang="en-US" sz="2000"/>
        </a:p>
      </dgm:t>
    </dgm:pt>
    <dgm:pt modelId="{11EC91AA-3CFF-4ADD-AA31-272D003909E3}">
      <dgm:prSet phldrT="[Text]" custT="1"/>
      <dgm:spPr>
        <a:scene3d>
          <a:camera prst="orthographicFront">
            <a:rot lat="0" lon="0" rev="0"/>
          </a:camera>
          <a:lightRig rig="balanced" dir="t">
            <a:rot lat="0" lon="0" rev="8700000"/>
          </a:lightRig>
        </a:scene3d>
        <a:sp3d>
          <a:bevelT w="190500" h="38100"/>
        </a:sp3d>
      </dgm:spPr>
      <dgm:t>
        <a:bodyPr/>
        <a:lstStyle/>
        <a:p>
          <a:endParaRPr lang="en-US" sz="2000" dirty="0"/>
        </a:p>
      </dgm:t>
    </dgm:pt>
    <dgm:pt modelId="{71667140-5D68-4DDA-853E-B4B81BBDF37E}" type="parTrans" cxnId="{EE804DF4-6270-48F2-9F5E-5D86BEB84224}">
      <dgm:prSet/>
      <dgm:spPr/>
      <dgm:t>
        <a:bodyPr/>
        <a:lstStyle/>
        <a:p>
          <a:endParaRPr lang="en-US" sz="2000"/>
        </a:p>
      </dgm:t>
    </dgm:pt>
    <dgm:pt modelId="{98D4B22A-FE0F-4782-B365-D2B118F43F7B}" type="sibTrans" cxnId="{EE804DF4-6270-48F2-9F5E-5D86BEB84224}">
      <dgm:prSet/>
      <dgm:spPr/>
      <dgm:t>
        <a:bodyPr/>
        <a:lstStyle/>
        <a:p>
          <a:endParaRPr lang="en-US" sz="2000"/>
        </a:p>
      </dgm:t>
    </dgm:pt>
    <dgm:pt modelId="{F08F3DDB-C1F5-4A86-8DFF-07C39C5A038C}" type="pres">
      <dgm:prSet presAssocID="{51EB95AC-B718-49BE-B9F7-7B46D03A9070}" presName="linearFlow" presStyleCnt="0">
        <dgm:presLayoutVars>
          <dgm:dir/>
          <dgm:animLvl val="lvl"/>
          <dgm:resizeHandles val="exact"/>
        </dgm:presLayoutVars>
      </dgm:prSet>
      <dgm:spPr/>
    </dgm:pt>
    <dgm:pt modelId="{A460E43C-7A3B-40A7-856C-577CDE509837}" type="pres">
      <dgm:prSet presAssocID="{47BCB690-E656-418C-B55B-B79A4FCE6245}" presName="composite" presStyleCnt="0"/>
      <dgm:spPr/>
    </dgm:pt>
    <dgm:pt modelId="{EF8C66CE-B1D9-43FD-91B0-9A298E99D806}" type="pres">
      <dgm:prSet presAssocID="{47BCB690-E656-418C-B55B-B79A4FCE6245}" presName="parentText" presStyleLbl="alignNode1" presStyleIdx="0" presStyleCnt="2">
        <dgm:presLayoutVars>
          <dgm:chMax val="1"/>
          <dgm:bulletEnabled val="1"/>
        </dgm:presLayoutVars>
      </dgm:prSet>
      <dgm:spPr/>
    </dgm:pt>
    <dgm:pt modelId="{7C07DD5C-F3F7-413D-935A-CCBA7C6C1E36}" type="pres">
      <dgm:prSet presAssocID="{47BCB690-E656-418C-B55B-B79A4FCE6245}" presName="descendantText" presStyleLbl="alignAcc1" presStyleIdx="0" presStyleCnt="2">
        <dgm:presLayoutVars>
          <dgm:bulletEnabled val="1"/>
        </dgm:presLayoutVars>
      </dgm:prSet>
      <dgm:spPr/>
    </dgm:pt>
    <dgm:pt modelId="{53111215-410F-4929-AE9A-3D7A22F3D43A}" type="pres">
      <dgm:prSet presAssocID="{8E928878-0D2F-4A4F-888D-4D1DC978E21E}" presName="sp" presStyleCnt="0"/>
      <dgm:spPr/>
    </dgm:pt>
    <dgm:pt modelId="{204CEF18-7407-4A94-A5D8-6E37733B43AA}" type="pres">
      <dgm:prSet presAssocID="{8FF7F8DE-0085-4489-85EA-475C2622F1F3}" presName="composite" presStyleCnt="0"/>
      <dgm:spPr/>
    </dgm:pt>
    <dgm:pt modelId="{1FCF5A5E-7DF9-412A-B101-D83967D7DE65}" type="pres">
      <dgm:prSet presAssocID="{8FF7F8DE-0085-4489-85EA-475C2622F1F3}" presName="parentText" presStyleLbl="alignNode1" presStyleIdx="1" presStyleCnt="2">
        <dgm:presLayoutVars>
          <dgm:chMax val="1"/>
          <dgm:bulletEnabled val="1"/>
        </dgm:presLayoutVars>
      </dgm:prSet>
      <dgm:spPr/>
    </dgm:pt>
    <dgm:pt modelId="{FE1F4B02-EB68-4CAB-8CF0-3D5AB6A01850}" type="pres">
      <dgm:prSet presAssocID="{8FF7F8DE-0085-4489-85EA-475C2622F1F3}" presName="descendantText" presStyleLbl="alignAcc1" presStyleIdx="1" presStyleCnt="2">
        <dgm:presLayoutVars>
          <dgm:bulletEnabled val="1"/>
        </dgm:presLayoutVars>
      </dgm:prSet>
      <dgm:spPr/>
    </dgm:pt>
  </dgm:ptLst>
  <dgm:cxnLst>
    <dgm:cxn modelId="{DEECD01F-E20C-420F-AEDD-9769ED623BAE}" type="presOf" srcId="{51EB95AC-B718-49BE-B9F7-7B46D03A9070}" destId="{F08F3DDB-C1F5-4A86-8DFF-07C39C5A038C}" srcOrd="0" destOrd="0" presId="urn:microsoft.com/office/officeart/2005/8/layout/chevron2"/>
    <dgm:cxn modelId="{1BA4842A-4C22-4B8F-A09D-47DDB89E291B}" srcId="{51EB95AC-B718-49BE-B9F7-7B46D03A9070}" destId="{8FF7F8DE-0085-4489-85EA-475C2622F1F3}" srcOrd="1" destOrd="0" parTransId="{78703D96-49FE-4F74-BBE0-39D3C04B358D}" sibTransId="{62E82B07-65F9-4D6F-8234-7C637FD1F21F}"/>
    <dgm:cxn modelId="{37B0893D-B99A-4826-8404-BA4A45B0DFA8}" type="presOf" srcId="{8FF7F8DE-0085-4489-85EA-475C2622F1F3}" destId="{1FCF5A5E-7DF9-412A-B101-D83967D7DE65}" srcOrd="0" destOrd="0" presId="urn:microsoft.com/office/officeart/2005/8/layout/chevron2"/>
    <dgm:cxn modelId="{8A02C773-1A4A-4225-AE5B-19BBABCA0546}" srcId="{51EB95AC-B718-49BE-B9F7-7B46D03A9070}" destId="{47BCB690-E656-418C-B55B-B79A4FCE6245}" srcOrd="0" destOrd="0" parTransId="{21485E53-BF3D-4432-8067-935595586B0F}" sibTransId="{8E928878-0D2F-4A4F-888D-4D1DC978E21E}"/>
    <dgm:cxn modelId="{CB455777-21A2-410E-866F-7E7844CFE53F}" type="presOf" srcId="{47BCB690-E656-418C-B55B-B79A4FCE6245}" destId="{EF8C66CE-B1D9-43FD-91B0-9A298E99D806}" srcOrd="0" destOrd="0" presId="urn:microsoft.com/office/officeart/2005/8/layout/chevron2"/>
    <dgm:cxn modelId="{9060E8D6-14D8-45D4-94F6-5D26D3CC4E2E}" srcId="{47BCB690-E656-418C-B55B-B79A4FCE6245}" destId="{F23082BA-6E41-4A1F-B1B1-BB53C7ABA883}" srcOrd="0" destOrd="0" parTransId="{92C3D120-BAFB-4E00-B475-B58E77B980C1}" sibTransId="{465CAD08-1732-4D98-964A-5E10FDE2D8CB}"/>
    <dgm:cxn modelId="{0BFFBFD7-1BD2-4E12-A146-CEA4E68A364B}" type="presOf" srcId="{11EC91AA-3CFF-4ADD-AA31-272D003909E3}" destId="{FE1F4B02-EB68-4CAB-8CF0-3D5AB6A01850}" srcOrd="0" destOrd="0" presId="urn:microsoft.com/office/officeart/2005/8/layout/chevron2"/>
    <dgm:cxn modelId="{305855E5-C74A-4663-BCA6-E1E4E74132D9}" type="presOf" srcId="{F23082BA-6E41-4A1F-B1B1-BB53C7ABA883}" destId="{7C07DD5C-F3F7-413D-935A-CCBA7C6C1E36}" srcOrd="0" destOrd="0" presId="urn:microsoft.com/office/officeart/2005/8/layout/chevron2"/>
    <dgm:cxn modelId="{EE804DF4-6270-48F2-9F5E-5D86BEB84224}" srcId="{8FF7F8DE-0085-4489-85EA-475C2622F1F3}" destId="{11EC91AA-3CFF-4ADD-AA31-272D003909E3}" srcOrd="0" destOrd="0" parTransId="{71667140-5D68-4DDA-853E-B4B81BBDF37E}" sibTransId="{98D4B22A-FE0F-4782-B365-D2B118F43F7B}"/>
    <dgm:cxn modelId="{AD0A8861-8976-4B98-B46F-1831317A4D43}" type="presParOf" srcId="{F08F3DDB-C1F5-4A86-8DFF-07C39C5A038C}" destId="{A460E43C-7A3B-40A7-856C-577CDE509837}" srcOrd="0" destOrd="0" presId="urn:microsoft.com/office/officeart/2005/8/layout/chevron2"/>
    <dgm:cxn modelId="{37EF18C4-C04F-42DE-B94C-8DF03E8CB139}" type="presParOf" srcId="{A460E43C-7A3B-40A7-856C-577CDE509837}" destId="{EF8C66CE-B1D9-43FD-91B0-9A298E99D806}" srcOrd="0" destOrd="0" presId="urn:microsoft.com/office/officeart/2005/8/layout/chevron2"/>
    <dgm:cxn modelId="{F155F96C-4EBD-49B3-B0B7-6B749C57E951}" type="presParOf" srcId="{A460E43C-7A3B-40A7-856C-577CDE509837}" destId="{7C07DD5C-F3F7-413D-935A-CCBA7C6C1E36}" srcOrd="1" destOrd="0" presId="urn:microsoft.com/office/officeart/2005/8/layout/chevron2"/>
    <dgm:cxn modelId="{79B363EE-151A-4824-9B91-0773C63E07D1}" type="presParOf" srcId="{F08F3DDB-C1F5-4A86-8DFF-07C39C5A038C}" destId="{53111215-410F-4929-AE9A-3D7A22F3D43A}" srcOrd="1" destOrd="0" presId="urn:microsoft.com/office/officeart/2005/8/layout/chevron2"/>
    <dgm:cxn modelId="{97ED0AEB-B87E-4DED-A727-EEBE18CF44C9}" type="presParOf" srcId="{F08F3DDB-C1F5-4A86-8DFF-07C39C5A038C}" destId="{204CEF18-7407-4A94-A5D8-6E37733B43AA}" srcOrd="2" destOrd="0" presId="urn:microsoft.com/office/officeart/2005/8/layout/chevron2"/>
    <dgm:cxn modelId="{811C3B02-6064-4A5E-876F-78E8E2D45824}" type="presParOf" srcId="{204CEF18-7407-4A94-A5D8-6E37733B43AA}" destId="{1FCF5A5E-7DF9-412A-B101-D83967D7DE65}" srcOrd="0" destOrd="0" presId="urn:microsoft.com/office/officeart/2005/8/layout/chevron2"/>
    <dgm:cxn modelId="{673F51CA-3789-4836-87D2-93CB813B9F2A}" type="presParOf" srcId="{204CEF18-7407-4A94-A5D8-6E37733B43AA}" destId="{FE1F4B02-EB68-4CAB-8CF0-3D5AB6A01850}"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75857B3-F10A-3A4D-A2C9-BEF46A178372}" type="doc">
      <dgm:prSet loTypeId="urn:microsoft.com/office/officeart/2009/3/layout/StepUpProcess" loCatId="process" qsTypeId="urn:microsoft.com/office/officeart/2005/8/quickstyle/simple1" qsCatId="simple" csTypeId="urn:microsoft.com/office/officeart/2005/8/colors/accent1_3" csCatId="accent1" phldr="1"/>
      <dgm:spPr/>
      <dgm:t>
        <a:bodyPr/>
        <a:lstStyle/>
        <a:p>
          <a:endParaRPr lang="en-US"/>
        </a:p>
      </dgm:t>
    </dgm:pt>
    <dgm:pt modelId="{F5213418-7B8D-FE42-BB8D-9ED790F1F229}">
      <dgm:prSet phldrT="[Text]"/>
      <dgm:spPr/>
      <dgm:t>
        <a:bodyPr/>
        <a:lstStyle/>
        <a:p>
          <a:r>
            <a:rPr lang="en-US" b="1" dirty="0">
              <a:solidFill>
                <a:srgbClr val="000B2E"/>
              </a:solidFill>
            </a:rPr>
            <a:t>MONTH 1</a:t>
          </a:r>
        </a:p>
        <a:p>
          <a:r>
            <a:rPr lang="en-US" b="0" dirty="0"/>
            <a:t>Agreement &amp; Project Scope</a:t>
          </a:r>
        </a:p>
      </dgm:t>
    </dgm:pt>
    <dgm:pt modelId="{9DF97D3B-8FDE-1941-877F-C93610802B66}" type="parTrans" cxnId="{E719DAB5-073E-4647-88AC-B2BC93AD7BA4}">
      <dgm:prSet/>
      <dgm:spPr/>
      <dgm:t>
        <a:bodyPr/>
        <a:lstStyle/>
        <a:p>
          <a:endParaRPr lang="en-US" b="1"/>
        </a:p>
      </dgm:t>
    </dgm:pt>
    <dgm:pt modelId="{006D824C-9578-134B-90CE-18E5A593B00E}" type="sibTrans" cxnId="{E719DAB5-073E-4647-88AC-B2BC93AD7BA4}">
      <dgm:prSet/>
      <dgm:spPr/>
      <dgm:t>
        <a:bodyPr/>
        <a:lstStyle/>
        <a:p>
          <a:endParaRPr lang="en-US" b="1"/>
        </a:p>
      </dgm:t>
    </dgm:pt>
    <dgm:pt modelId="{436C2DFF-FC8F-6245-A7DB-4708073EC4A1}">
      <dgm:prSet phldrT="[Text]"/>
      <dgm:spPr/>
      <dgm:t>
        <a:bodyPr/>
        <a:lstStyle/>
        <a:p>
          <a:r>
            <a:rPr lang="en-US" b="1" dirty="0">
              <a:solidFill>
                <a:srgbClr val="000B2E"/>
              </a:solidFill>
            </a:rPr>
            <a:t>MONTH 1-6</a:t>
          </a:r>
        </a:p>
        <a:p>
          <a:r>
            <a:rPr lang="en-US" b="0" dirty="0"/>
            <a:t>Implementation</a:t>
          </a:r>
        </a:p>
        <a:p>
          <a:r>
            <a:rPr lang="en-US" b="0" dirty="0"/>
            <a:t>Market Outreach begins in Month 3</a:t>
          </a:r>
        </a:p>
        <a:p>
          <a:endParaRPr lang="en-US" b="0" dirty="0"/>
        </a:p>
      </dgm:t>
    </dgm:pt>
    <dgm:pt modelId="{2E56DBD1-74B0-4640-939F-DBB53814ABC4}" type="parTrans" cxnId="{4AE933AE-806A-574B-903E-37EED7A432CD}">
      <dgm:prSet/>
      <dgm:spPr/>
      <dgm:t>
        <a:bodyPr/>
        <a:lstStyle/>
        <a:p>
          <a:endParaRPr lang="en-US" b="1"/>
        </a:p>
      </dgm:t>
    </dgm:pt>
    <dgm:pt modelId="{FBB42B92-FDFF-AF44-923C-BD5D2B5DE5B6}" type="sibTrans" cxnId="{4AE933AE-806A-574B-903E-37EED7A432CD}">
      <dgm:prSet/>
      <dgm:spPr/>
      <dgm:t>
        <a:bodyPr/>
        <a:lstStyle/>
        <a:p>
          <a:endParaRPr lang="en-US" b="1"/>
        </a:p>
      </dgm:t>
    </dgm:pt>
    <dgm:pt modelId="{242EFE72-A7E7-8647-84E0-E41410AA3ACF}">
      <dgm:prSet phldrT="[Text]"/>
      <dgm:spPr/>
      <dgm:t>
        <a:bodyPr/>
        <a:lstStyle/>
        <a:p>
          <a:r>
            <a:rPr lang="en-US" b="1" dirty="0">
              <a:solidFill>
                <a:srgbClr val="000B2E"/>
              </a:solidFill>
            </a:rPr>
            <a:t>MONTH 3-6</a:t>
          </a:r>
        </a:p>
        <a:p>
          <a:r>
            <a:rPr lang="en-US" b="0" dirty="0"/>
            <a:t>Sales &amp; Mkg.</a:t>
          </a:r>
        </a:p>
        <a:p>
          <a:r>
            <a:rPr lang="en-US" b="0" dirty="0"/>
            <a:t>Hire Sales Executive</a:t>
          </a:r>
        </a:p>
      </dgm:t>
    </dgm:pt>
    <dgm:pt modelId="{D9B6A2EC-2BDF-5A4E-9509-2AF847C113C2}" type="parTrans" cxnId="{625FB806-21A7-F94D-9D04-87A1EDD21099}">
      <dgm:prSet/>
      <dgm:spPr/>
      <dgm:t>
        <a:bodyPr/>
        <a:lstStyle/>
        <a:p>
          <a:endParaRPr lang="en-US" b="1"/>
        </a:p>
      </dgm:t>
    </dgm:pt>
    <dgm:pt modelId="{4B906FD7-82E7-7C44-B493-74C84F6E8B56}" type="sibTrans" cxnId="{625FB806-21A7-F94D-9D04-87A1EDD21099}">
      <dgm:prSet/>
      <dgm:spPr/>
      <dgm:t>
        <a:bodyPr/>
        <a:lstStyle/>
        <a:p>
          <a:endParaRPr lang="en-US" b="1"/>
        </a:p>
      </dgm:t>
    </dgm:pt>
    <dgm:pt modelId="{EC8EE670-6387-644E-B1F6-D3D60F07DCBC}">
      <dgm:prSet/>
      <dgm:spPr/>
      <dgm:t>
        <a:bodyPr/>
        <a:lstStyle/>
        <a:p>
          <a:r>
            <a:rPr lang="en-US" b="1" dirty="0">
              <a:solidFill>
                <a:srgbClr val="000B2E"/>
              </a:solidFill>
            </a:rPr>
            <a:t>MONTH 6 TO 8</a:t>
          </a:r>
        </a:p>
        <a:p>
          <a:r>
            <a:rPr lang="en-US" b="1" dirty="0">
              <a:solidFill>
                <a:srgbClr val="000B2E"/>
              </a:solidFill>
            </a:rPr>
            <a:t>GO LIVE!!</a:t>
          </a:r>
        </a:p>
      </dgm:t>
    </dgm:pt>
    <dgm:pt modelId="{3751126E-7A05-E04C-B6A7-9683DCF88FF8}" type="parTrans" cxnId="{DA4FB979-7504-014F-8E71-A42784194ABF}">
      <dgm:prSet/>
      <dgm:spPr/>
      <dgm:t>
        <a:bodyPr/>
        <a:lstStyle/>
        <a:p>
          <a:endParaRPr lang="en-US" b="1"/>
        </a:p>
      </dgm:t>
    </dgm:pt>
    <dgm:pt modelId="{76894B11-0BAB-B649-B337-881DADDA80B0}" type="sibTrans" cxnId="{DA4FB979-7504-014F-8E71-A42784194ABF}">
      <dgm:prSet/>
      <dgm:spPr/>
      <dgm:t>
        <a:bodyPr/>
        <a:lstStyle/>
        <a:p>
          <a:endParaRPr lang="en-US" b="1"/>
        </a:p>
      </dgm:t>
    </dgm:pt>
    <dgm:pt modelId="{9500A708-F18B-44DC-BB96-0E6D9DB43890}" type="pres">
      <dgm:prSet presAssocID="{F75857B3-F10A-3A4D-A2C9-BEF46A178372}" presName="rootnode" presStyleCnt="0">
        <dgm:presLayoutVars>
          <dgm:chMax/>
          <dgm:chPref/>
          <dgm:dir/>
          <dgm:animLvl val="lvl"/>
        </dgm:presLayoutVars>
      </dgm:prSet>
      <dgm:spPr/>
    </dgm:pt>
    <dgm:pt modelId="{FAFE92F7-602C-4A84-BB77-CD24C855B722}" type="pres">
      <dgm:prSet presAssocID="{F5213418-7B8D-FE42-BB8D-9ED790F1F229}" presName="composite" presStyleCnt="0"/>
      <dgm:spPr/>
    </dgm:pt>
    <dgm:pt modelId="{D24B72F3-991D-4D26-9463-0028447AF8D0}" type="pres">
      <dgm:prSet presAssocID="{F5213418-7B8D-FE42-BB8D-9ED790F1F229}" presName="LShape" presStyleLbl="alignNode1" presStyleIdx="0" presStyleCnt="7"/>
      <dgm:spPr>
        <a:solidFill>
          <a:srgbClr val="244F9A"/>
        </a:solidFill>
      </dgm:spPr>
    </dgm:pt>
    <dgm:pt modelId="{6EB3AA31-421F-4B20-8208-0825BF70090F}" type="pres">
      <dgm:prSet presAssocID="{F5213418-7B8D-FE42-BB8D-9ED790F1F229}" presName="ParentText" presStyleLbl="revTx" presStyleIdx="0" presStyleCnt="4">
        <dgm:presLayoutVars>
          <dgm:chMax val="0"/>
          <dgm:chPref val="0"/>
          <dgm:bulletEnabled val="1"/>
        </dgm:presLayoutVars>
      </dgm:prSet>
      <dgm:spPr/>
    </dgm:pt>
    <dgm:pt modelId="{4B9E1A38-3040-4C60-B94E-F33823D540F9}" type="pres">
      <dgm:prSet presAssocID="{F5213418-7B8D-FE42-BB8D-9ED790F1F229}" presName="Triangle" presStyleLbl="alignNode1" presStyleIdx="1" presStyleCnt="7"/>
      <dgm:spPr>
        <a:solidFill>
          <a:srgbClr val="244F9A">
            <a:alpha val="80000"/>
          </a:srgbClr>
        </a:solidFill>
      </dgm:spPr>
    </dgm:pt>
    <dgm:pt modelId="{95B64B29-91C6-430C-B5C4-265DB74CF7B4}" type="pres">
      <dgm:prSet presAssocID="{006D824C-9578-134B-90CE-18E5A593B00E}" presName="sibTrans" presStyleCnt="0"/>
      <dgm:spPr/>
    </dgm:pt>
    <dgm:pt modelId="{725D0832-B1E8-4F6F-A3C2-BF8DCF1DD948}" type="pres">
      <dgm:prSet presAssocID="{006D824C-9578-134B-90CE-18E5A593B00E}" presName="space" presStyleCnt="0"/>
      <dgm:spPr/>
    </dgm:pt>
    <dgm:pt modelId="{E07D9642-9AC8-4EB7-B901-FEF05DF1BC3B}" type="pres">
      <dgm:prSet presAssocID="{436C2DFF-FC8F-6245-A7DB-4708073EC4A1}" presName="composite" presStyleCnt="0"/>
      <dgm:spPr/>
    </dgm:pt>
    <dgm:pt modelId="{F7636A15-31BC-483D-A19B-F594F97B4CB7}" type="pres">
      <dgm:prSet presAssocID="{436C2DFF-FC8F-6245-A7DB-4708073EC4A1}" presName="LShape" presStyleLbl="alignNode1" presStyleIdx="2" presStyleCnt="7"/>
      <dgm:spPr>
        <a:solidFill>
          <a:srgbClr val="244F9A">
            <a:alpha val="80000"/>
          </a:srgbClr>
        </a:solidFill>
      </dgm:spPr>
    </dgm:pt>
    <dgm:pt modelId="{55D54D3E-74C0-4BF4-9694-114A266E7DAC}" type="pres">
      <dgm:prSet presAssocID="{436C2DFF-FC8F-6245-A7DB-4708073EC4A1}" presName="ParentText" presStyleLbl="revTx" presStyleIdx="1" presStyleCnt="4">
        <dgm:presLayoutVars>
          <dgm:chMax val="0"/>
          <dgm:chPref val="0"/>
          <dgm:bulletEnabled val="1"/>
        </dgm:presLayoutVars>
      </dgm:prSet>
      <dgm:spPr/>
    </dgm:pt>
    <dgm:pt modelId="{E2E1B3D5-626C-4984-B966-96AB737EB32D}" type="pres">
      <dgm:prSet presAssocID="{436C2DFF-FC8F-6245-A7DB-4708073EC4A1}" presName="Triangle" presStyleLbl="alignNode1" presStyleIdx="3" presStyleCnt="7"/>
      <dgm:spPr>
        <a:solidFill>
          <a:srgbClr val="244F9A">
            <a:alpha val="60000"/>
          </a:srgbClr>
        </a:solidFill>
      </dgm:spPr>
    </dgm:pt>
    <dgm:pt modelId="{2EAEE5A0-B074-4A93-8279-7600764CD028}" type="pres">
      <dgm:prSet presAssocID="{FBB42B92-FDFF-AF44-923C-BD5D2B5DE5B6}" presName="sibTrans" presStyleCnt="0"/>
      <dgm:spPr/>
    </dgm:pt>
    <dgm:pt modelId="{10F5B5E3-6AAB-49E5-A7BA-45959CE0CB13}" type="pres">
      <dgm:prSet presAssocID="{FBB42B92-FDFF-AF44-923C-BD5D2B5DE5B6}" presName="space" presStyleCnt="0"/>
      <dgm:spPr/>
    </dgm:pt>
    <dgm:pt modelId="{EE304BD9-C951-4C45-A4B8-B99F5FAB7C24}" type="pres">
      <dgm:prSet presAssocID="{242EFE72-A7E7-8647-84E0-E41410AA3ACF}" presName="composite" presStyleCnt="0"/>
      <dgm:spPr/>
    </dgm:pt>
    <dgm:pt modelId="{A88D8255-18CE-4518-9174-DEB3D03C550D}" type="pres">
      <dgm:prSet presAssocID="{242EFE72-A7E7-8647-84E0-E41410AA3ACF}" presName="LShape" presStyleLbl="alignNode1" presStyleIdx="4" presStyleCnt="7"/>
      <dgm:spPr>
        <a:solidFill>
          <a:srgbClr val="244F9A">
            <a:alpha val="60000"/>
          </a:srgbClr>
        </a:solidFill>
      </dgm:spPr>
    </dgm:pt>
    <dgm:pt modelId="{598D4C6B-62CE-4CE4-91E9-7E9EB1E1C398}" type="pres">
      <dgm:prSet presAssocID="{242EFE72-A7E7-8647-84E0-E41410AA3ACF}" presName="ParentText" presStyleLbl="revTx" presStyleIdx="2" presStyleCnt="4">
        <dgm:presLayoutVars>
          <dgm:chMax val="0"/>
          <dgm:chPref val="0"/>
          <dgm:bulletEnabled val="1"/>
        </dgm:presLayoutVars>
      </dgm:prSet>
      <dgm:spPr/>
    </dgm:pt>
    <dgm:pt modelId="{C472BF19-FDA3-4EC5-AD0C-1C04B1D94EC9}" type="pres">
      <dgm:prSet presAssocID="{242EFE72-A7E7-8647-84E0-E41410AA3ACF}" presName="Triangle" presStyleLbl="alignNode1" presStyleIdx="5" presStyleCnt="7"/>
      <dgm:spPr>
        <a:solidFill>
          <a:srgbClr val="244F9A">
            <a:alpha val="40000"/>
          </a:srgbClr>
        </a:solidFill>
      </dgm:spPr>
    </dgm:pt>
    <dgm:pt modelId="{2095D891-25AC-413C-8D3D-B5069B04412E}" type="pres">
      <dgm:prSet presAssocID="{4B906FD7-82E7-7C44-B493-74C84F6E8B56}" presName="sibTrans" presStyleCnt="0"/>
      <dgm:spPr/>
    </dgm:pt>
    <dgm:pt modelId="{318181AA-42DB-46D0-9070-BBDA59A39E82}" type="pres">
      <dgm:prSet presAssocID="{4B906FD7-82E7-7C44-B493-74C84F6E8B56}" presName="space" presStyleCnt="0"/>
      <dgm:spPr/>
    </dgm:pt>
    <dgm:pt modelId="{33F07F37-AE67-4554-9495-80AF9B84232B}" type="pres">
      <dgm:prSet presAssocID="{EC8EE670-6387-644E-B1F6-D3D60F07DCBC}" presName="composite" presStyleCnt="0"/>
      <dgm:spPr/>
    </dgm:pt>
    <dgm:pt modelId="{67966FFF-E62A-4DBC-B29D-25E2B05997AB}" type="pres">
      <dgm:prSet presAssocID="{EC8EE670-6387-644E-B1F6-D3D60F07DCBC}" presName="LShape" presStyleLbl="alignNode1" presStyleIdx="6" presStyleCnt="7"/>
      <dgm:spPr>
        <a:solidFill>
          <a:srgbClr val="244F9A">
            <a:alpha val="40000"/>
          </a:srgbClr>
        </a:solidFill>
      </dgm:spPr>
    </dgm:pt>
    <dgm:pt modelId="{8247AD9B-A3F5-425E-903D-1FEBBA4D2840}" type="pres">
      <dgm:prSet presAssocID="{EC8EE670-6387-644E-B1F6-D3D60F07DCBC}" presName="ParentText" presStyleLbl="revTx" presStyleIdx="3" presStyleCnt="4">
        <dgm:presLayoutVars>
          <dgm:chMax val="0"/>
          <dgm:chPref val="0"/>
          <dgm:bulletEnabled val="1"/>
        </dgm:presLayoutVars>
      </dgm:prSet>
      <dgm:spPr/>
    </dgm:pt>
  </dgm:ptLst>
  <dgm:cxnLst>
    <dgm:cxn modelId="{625FB806-21A7-F94D-9D04-87A1EDD21099}" srcId="{F75857B3-F10A-3A4D-A2C9-BEF46A178372}" destId="{242EFE72-A7E7-8647-84E0-E41410AA3ACF}" srcOrd="2" destOrd="0" parTransId="{D9B6A2EC-2BDF-5A4E-9509-2AF847C113C2}" sibTransId="{4B906FD7-82E7-7C44-B493-74C84F6E8B56}"/>
    <dgm:cxn modelId="{078A184F-154A-4B82-90D5-AFD40FC655EE}" type="presOf" srcId="{436C2DFF-FC8F-6245-A7DB-4708073EC4A1}" destId="{55D54D3E-74C0-4BF4-9694-114A266E7DAC}" srcOrd="0" destOrd="0" presId="urn:microsoft.com/office/officeart/2009/3/layout/StepUpProcess"/>
    <dgm:cxn modelId="{5C50C957-1A43-43AB-B9FF-37ECD87D303E}" type="presOf" srcId="{F75857B3-F10A-3A4D-A2C9-BEF46A178372}" destId="{9500A708-F18B-44DC-BB96-0E6D9DB43890}" srcOrd="0" destOrd="0" presId="urn:microsoft.com/office/officeart/2009/3/layout/StepUpProcess"/>
    <dgm:cxn modelId="{DA4FB979-7504-014F-8E71-A42784194ABF}" srcId="{F75857B3-F10A-3A4D-A2C9-BEF46A178372}" destId="{EC8EE670-6387-644E-B1F6-D3D60F07DCBC}" srcOrd="3" destOrd="0" parTransId="{3751126E-7A05-E04C-B6A7-9683DCF88FF8}" sibTransId="{76894B11-0BAB-B649-B337-881DADDA80B0}"/>
    <dgm:cxn modelId="{4AE933AE-806A-574B-903E-37EED7A432CD}" srcId="{F75857B3-F10A-3A4D-A2C9-BEF46A178372}" destId="{436C2DFF-FC8F-6245-A7DB-4708073EC4A1}" srcOrd="1" destOrd="0" parTransId="{2E56DBD1-74B0-4640-939F-DBB53814ABC4}" sibTransId="{FBB42B92-FDFF-AF44-923C-BD5D2B5DE5B6}"/>
    <dgm:cxn modelId="{E719DAB5-073E-4647-88AC-B2BC93AD7BA4}" srcId="{F75857B3-F10A-3A4D-A2C9-BEF46A178372}" destId="{F5213418-7B8D-FE42-BB8D-9ED790F1F229}" srcOrd="0" destOrd="0" parTransId="{9DF97D3B-8FDE-1941-877F-C93610802B66}" sibTransId="{006D824C-9578-134B-90CE-18E5A593B00E}"/>
    <dgm:cxn modelId="{4A732ED1-444F-4045-88BD-959FEF7735ED}" type="presOf" srcId="{EC8EE670-6387-644E-B1F6-D3D60F07DCBC}" destId="{8247AD9B-A3F5-425E-903D-1FEBBA4D2840}" srcOrd="0" destOrd="0" presId="urn:microsoft.com/office/officeart/2009/3/layout/StepUpProcess"/>
    <dgm:cxn modelId="{61049AE5-6223-4D82-92EB-9AC71ABD3EBB}" type="presOf" srcId="{F5213418-7B8D-FE42-BB8D-9ED790F1F229}" destId="{6EB3AA31-421F-4B20-8208-0825BF70090F}" srcOrd="0" destOrd="0" presId="urn:microsoft.com/office/officeart/2009/3/layout/StepUpProcess"/>
    <dgm:cxn modelId="{94D35EFE-98A6-4303-88CE-AD93F8262D2C}" type="presOf" srcId="{242EFE72-A7E7-8647-84E0-E41410AA3ACF}" destId="{598D4C6B-62CE-4CE4-91E9-7E9EB1E1C398}" srcOrd="0" destOrd="0" presId="urn:microsoft.com/office/officeart/2009/3/layout/StepUpProcess"/>
    <dgm:cxn modelId="{10E040AC-37AA-4150-BA7B-FD29B01D2D5F}" type="presParOf" srcId="{9500A708-F18B-44DC-BB96-0E6D9DB43890}" destId="{FAFE92F7-602C-4A84-BB77-CD24C855B722}" srcOrd="0" destOrd="0" presId="urn:microsoft.com/office/officeart/2009/3/layout/StepUpProcess"/>
    <dgm:cxn modelId="{F0D311F0-1CA1-4F58-84E1-FF7B3E7ED30E}" type="presParOf" srcId="{FAFE92F7-602C-4A84-BB77-CD24C855B722}" destId="{D24B72F3-991D-4D26-9463-0028447AF8D0}" srcOrd="0" destOrd="0" presId="urn:microsoft.com/office/officeart/2009/3/layout/StepUpProcess"/>
    <dgm:cxn modelId="{3FF027DC-A329-4FB6-8046-3B3E1921B50D}" type="presParOf" srcId="{FAFE92F7-602C-4A84-BB77-CD24C855B722}" destId="{6EB3AA31-421F-4B20-8208-0825BF70090F}" srcOrd="1" destOrd="0" presId="urn:microsoft.com/office/officeart/2009/3/layout/StepUpProcess"/>
    <dgm:cxn modelId="{D68934AB-78C0-494F-855E-EED8CDC062E9}" type="presParOf" srcId="{FAFE92F7-602C-4A84-BB77-CD24C855B722}" destId="{4B9E1A38-3040-4C60-B94E-F33823D540F9}" srcOrd="2" destOrd="0" presId="urn:microsoft.com/office/officeart/2009/3/layout/StepUpProcess"/>
    <dgm:cxn modelId="{1DFA7715-BB73-4EAC-9DE6-8B6063DADB35}" type="presParOf" srcId="{9500A708-F18B-44DC-BB96-0E6D9DB43890}" destId="{95B64B29-91C6-430C-B5C4-265DB74CF7B4}" srcOrd="1" destOrd="0" presId="urn:microsoft.com/office/officeart/2009/3/layout/StepUpProcess"/>
    <dgm:cxn modelId="{EA25C0D4-A114-4D76-83CD-A48C60F77BD0}" type="presParOf" srcId="{95B64B29-91C6-430C-B5C4-265DB74CF7B4}" destId="{725D0832-B1E8-4F6F-A3C2-BF8DCF1DD948}" srcOrd="0" destOrd="0" presId="urn:microsoft.com/office/officeart/2009/3/layout/StepUpProcess"/>
    <dgm:cxn modelId="{18F99E03-D030-4DEA-A408-CEFFFEFF2F10}" type="presParOf" srcId="{9500A708-F18B-44DC-BB96-0E6D9DB43890}" destId="{E07D9642-9AC8-4EB7-B901-FEF05DF1BC3B}" srcOrd="2" destOrd="0" presId="urn:microsoft.com/office/officeart/2009/3/layout/StepUpProcess"/>
    <dgm:cxn modelId="{77769D1F-0BDD-4E72-931D-E6C38B33D623}" type="presParOf" srcId="{E07D9642-9AC8-4EB7-B901-FEF05DF1BC3B}" destId="{F7636A15-31BC-483D-A19B-F594F97B4CB7}" srcOrd="0" destOrd="0" presId="urn:microsoft.com/office/officeart/2009/3/layout/StepUpProcess"/>
    <dgm:cxn modelId="{6C63D3BB-C919-45C6-8F7C-8677870EA096}" type="presParOf" srcId="{E07D9642-9AC8-4EB7-B901-FEF05DF1BC3B}" destId="{55D54D3E-74C0-4BF4-9694-114A266E7DAC}" srcOrd="1" destOrd="0" presId="urn:microsoft.com/office/officeart/2009/3/layout/StepUpProcess"/>
    <dgm:cxn modelId="{17FEFD49-5D94-4B34-98CE-2AC13A7F5A76}" type="presParOf" srcId="{E07D9642-9AC8-4EB7-B901-FEF05DF1BC3B}" destId="{E2E1B3D5-626C-4984-B966-96AB737EB32D}" srcOrd="2" destOrd="0" presId="urn:microsoft.com/office/officeart/2009/3/layout/StepUpProcess"/>
    <dgm:cxn modelId="{09D4BC6A-3E60-444F-BDFA-FFA1138C5FBA}" type="presParOf" srcId="{9500A708-F18B-44DC-BB96-0E6D9DB43890}" destId="{2EAEE5A0-B074-4A93-8279-7600764CD028}" srcOrd="3" destOrd="0" presId="urn:microsoft.com/office/officeart/2009/3/layout/StepUpProcess"/>
    <dgm:cxn modelId="{4DCE9832-F2F6-408E-B653-6FCC7F66895F}" type="presParOf" srcId="{2EAEE5A0-B074-4A93-8279-7600764CD028}" destId="{10F5B5E3-6AAB-49E5-A7BA-45959CE0CB13}" srcOrd="0" destOrd="0" presId="urn:microsoft.com/office/officeart/2009/3/layout/StepUpProcess"/>
    <dgm:cxn modelId="{F7E2350E-9887-4B0E-B80F-B3DE21C7CC55}" type="presParOf" srcId="{9500A708-F18B-44DC-BB96-0E6D9DB43890}" destId="{EE304BD9-C951-4C45-A4B8-B99F5FAB7C24}" srcOrd="4" destOrd="0" presId="urn:microsoft.com/office/officeart/2009/3/layout/StepUpProcess"/>
    <dgm:cxn modelId="{CD206FD3-14D0-4AD5-BCCE-0DA09866B14E}" type="presParOf" srcId="{EE304BD9-C951-4C45-A4B8-B99F5FAB7C24}" destId="{A88D8255-18CE-4518-9174-DEB3D03C550D}" srcOrd="0" destOrd="0" presId="urn:microsoft.com/office/officeart/2009/3/layout/StepUpProcess"/>
    <dgm:cxn modelId="{989EF61B-DEFE-4F5A-8F99-D5F9B21CBE30}" type="presParOf" srcId="{EE304BD9-C951-4C45-A4B8-B99F5FAB7C24}" destId="{598D4C6B-62CE-4CE4-91E9-7E9EB1E1C398}" srcOrd="1" destOrd="0" presId="urn:microsoft.com/office/officeart/2009/3/layout/StepUpProcess"/>
    <dgm:cxn modelId="{A45C9F72-6650-40FB-AE43-EEBE086FED41}" type="presParOf" srcId="{EE304BD9-C951-4C45-A4B8-B99F5FAB7C24}" destId="{C472BF19-FDA3-4EC5-AD0C-1C04B1D94EC9}" srcOrd="2" destOrd="0" presId="urn:microsoft.com/office/officeart/2009/3/layout/StepUpProcess"/>
    <dgm:cxn modelId="{CD634433-040B-472D-AA9B-60257E77B3FB}" type="presParOf" srcId="{9500A708-F18B-44DC-BB96-0E6D9DB43890}" destId="{2095D891-25AC-413C-8D3D-B5069B04412E}" srcOrd="5" destOrd="0" presId="urn:microsoft.com/office/officeart/2009/3/layout/StepUpProcess"/>
    <dgm:cxn modelId="{E3BF9A38-CA67-41AE-AC55-CAB3725E0DE2}" type="presParOf" srcId="{2095D891-25AC-413C-8D3D-B5069B04412E}" destId="{318181AA-42DB-46D0-9070-BBDA59A39E82}" srcOrd="0" destOrd="0" presId="urn:microsoft.com/office/officeart/2009/3/layout/StepUpProcess"/>
    <dgm:cxn modelId="{E72B43F2-E09B-4E8B-AECB-64D97433BB8B}" type="presParOf" srcId="{9500A708-F18B-44DC-BB96-0E6D9DB43890}" destId="{33F07F37-AE67-4554-9495-80AF9B84232B}" srcOrd="6" destOrd="0" presId="urn:microsoft.com/office/officeart/2009/3/layout/StepUpProcess"/>
    <dgm:cxn modelId="{E0C915BC-9E17-4265-87BA-E1A4BB45FDBC}" type="presParOf" srcId="{33F07F37-AE67-4554-9495-80AF9B84232B}" destId="{67966FFF-E62A-4DBC-B29D-25E2B05997AB}" srcOrd="0" destOrd="0" presId="urn:microsoft.com/office/officeart/2009/3/layout/StepUpProcess"/>
    <dgm:cxn modelId="{C0168929-E9ED-48FF-B23F-832B0F0E60B3}" type="presParOf" srcId="{33F07F37-AE67-4554-9495-80AF9B84232B}" destId="{8247AD9B-A3F5-425E-903D-1FEBBA4D2840}" srcOrd="1" destOrd="0" presId="urn:microsoft.com/office/officeart/2009/3/layout/StepUpProcess"/>
  </dgm:cxnLst>
  <dgm:bg>
    <a:solidFill>
      <a:schemeClr val="bg1"/>
    </a:solidFill>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37BF38-EED7-40B6-AE30-314765FAF99B}">
      <dsp:nvSpPr>
        <dsp:cNvPr id="0" name=""/>
        <dsp:cNvSpPr/>
      </dsp:nvSpPr>
      <dsp:spPr>
        <a:xfrm>
          <a:off x="0" y="1066800"/>
          <a:ext cx="3718560" cy="3718560"/>
        </a:xfrm>
        <a:prstGeom prst="ellipse">
          <a:avLst/>
        </a:prstGeom>
        <a:solidFill>
          <a:srgbClr val="61A606"/>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Out of Network</a:t>
          </a:r>
        </a:p>
      </dsp:txBody>
      <dsp:txXfrm>
        <a:off x="1339425" y="1252728"/>
        <a:ext cx="1039709" cy="557784"/>
      </dsp:txXfrm>
    </dsp:sp>
    <dsp:sp modelId="{68806E35-FB05-408F-AFBC-163227E8487B}">
      <dsp:nvSpPr>
        <dsp:cNvPr id="0" name=""/>
        <dsp:cNvSpPr/>
      </dsp:nvSpPr>
      <dsp:spPr>
        <a:xfrm>
          <a:off x="371855" y="1810511"/>
          <a:ext cx="2974848" cy="2974848"/>
        </a:xfrm>
        <a:prstGeom prst="ellipse">
          <a:avLst/>
        </a:prstGeom>
        <a:solidFill>
          <a:srgbClr val="019CA5"/>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Wrap Network (Rented)</a:t>
          </a:r>
        </a:p>
      </dsp:txBody>
      <dsp:txXfrm>
        <a:off x="1339425" y="1989002"/>
        <a:ext cx="1039709" cy="535472"/>
      </dsp:txXfrm>
    </dsp:sp>
    <dsp:sp modelId="{EBC66B5F-74A7-4C59-9CEC-5E7379E73E3B}">
      <dsp:nvSpPr>
        <dsp:cNvPr id="0" name=""/>
        <dsp:cNvSpPr/>
      </dsp:nvSpPr>
      <dsp:spPr>
        <a:xfrm>
          <a:off x="743711" y="2554223"/>
          <a:ext cx="2231136" cy="2231136"/>
        </a:xfrm>
        <a:prstGeom prst="ellipse">
          <a:avLst/>
        </a:prstGeom>
        <a:solidFill>
          <a:srgbClr val="244F9A"/>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Friends &amp; Family (Contracted)</a:t>
          </a:r>
        </a:p>
      </dsp:txBody>
      <dsp:txXfrm>
        <a:off x="1339425" y="2721559"/>
        <a:ext cx="1039709" cy="502005"/>
      </dsp:txXfrm>
    </dsp:sp>
    <dsp:sp modelId="{F92C6764-1AFD-4DFF-B75E-6422C5503855}">
      <dsp:nvSpPr>
        <dsp:cNvPr id="0" name=""/>
        <dsp:cNvSpPr/>
      </dsp:nvSpPr>
      <dsp:spPr>
        <a:xfrm>
          <a:off x="1127541" y="3316246"/>
          <a:ext cx="1487424" cy="1487424"/>
        </a:xfrm>
        <a:prstGeom prst="ellipse">
          <a:avLst/>
        </a:prstGeom>
        <a:solidFill>
          <a:srgbClr val="59CAE8"/>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endParaRPr lang="en-US" sz="1200" b="1" kern="1200" dirty="0">
            <a:effectLst>
              <a:outerShdw blurRad="38100" dist="38100" dir="2700000" algn="tl">
                <a:srgbClr val="000000">
                  <a:alpha val="43137"/>
                </a:srgbClr>
              </a:outerShdw>
            </a:effectLst>
          </a:endParaRPr>
        </a:p>
      </dsp:txBody>
      <dsp:txXfrm>
        <a:off x="1345369" y="3688102"/>
        <a:ext cx="1051767" cy="74371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010C22-B439-4BEC-A07A-60ED666B2E08}">
      <dsp:nvSpPr>
        <dsp:cNvPr id="0" name=""/>
        <dsp:cNvSpPr/>
      </dsp:nvSpPr>
      <dsp:spPr>
        <a:xfrm>
          <a:off x="7242" y="681733"/>
          <a:ext cx="3127976" cy="2476700"/>
        </a:xfrm>
        <a:prstGeom prst="round2SameRect">
          <a:avLst>
            <a:gd name="adj1" fmla="val 8000"/>
            <a:gd name="adj2" fmla="val 0"/>
          </a:avLst>
        </a:prstGeom>
        <a:solidFill>
          <a:schemeClr val="lt1">
            <a:hueOff val="0"/>
            <a:satOff val="0"/>
            <a:lumOff val="0"/>
            <a:alpha val="80000"/>
          </a:schemeClr>
        </a:solidFill>
        <a:ln w="12700" cap="flat" cmpd="sng" algn="ctr">
          <a:solidFill>
            <a:schemeClr val="bg1">
              <a:lumMod val="6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91440" rIns="22860" bIns="22860" numCol="1" spcCol="1270" anchor="t" anchorCtr="0">
          <a:noAutofit/>
        </a:bodyPr>
        <a:lstStyle/>
        <a:p>
          <a:pPr marL="285750" lvl="1" indent="-228600" algn="l" defTabSz="800100">
            <a:lnSpc>
              <a:spcPct val="100000"/>
            </a:lnSpc>
            <a:spcBef>
              <a:spcPct val="0"/>
            </a:spcBef>
            <a:spcAft>
              <a:spcPts val="300"/>
            </a:spcAft>
            <a:buChar char="•"/>
          </a:pPr>
          <a:endParaRPr lang="en-US" sz="1800" b="0" kern="1200" dirty="0"/>
        </a:p>
      </dsp:txBody>
      <dsp:txXfrm>
        <a:off x="65274" y="739765"/>
        <a:ext cx="3011912" cy="2418668"/>
      </dsp:txXfrm>
    </dsp:sp>
    <dsp:sp modelId="{CBD6250E-21D7-41DA-B5C6-ED9529780301}">
      <dsp:nvSpPr>
        <dsp:cNvPr id="0" name=""/>
        <dsp:cNvSpPr/>
      </dsp:nvSpPr>
      <dsp:spPr>
        <a:xfrm>
          <a:off x="7242" y="3087567"/>
          <a:ext cx="3127976" cy="1004036"/>
        </a:xfrm>
        <a:prstGeom prst="rect">
          <a:avLst/>
        </a:prstGeom>
        <a:solidFill>
          <a:srgbClr val="59CAE8"/>
        </a:solidFill>
        <a:ln w="12700" cap="flat" cmpd="sng" algn="ctr">
          <a:solidFill>
            <a:srgbClr val="59CAE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0" rIns="27940" bIns="0" numCol="1" spcCol="1270" anchor="ctr" anchorCtr="0">
          <a:noAutofit/>
        </a:bodyPr>
        <a:lstStyle/>
        <a:p>
          <a:pPr marL="0" lvl="0" indent="0" algn="l" defTabSz="977900">
            <a:lnSpc>
              <a:spcPct val="90000"/>
            </a:lnSpc>
            <a:spcBef>
              <a:spcPct val="0"/>
            </a:spcBef>
            <a:spcAft>
              <a:spcPct val="35000"/>
            </a:spcAft>
            <a:buNone/>
          </a:pPr>
          <a:r>
            <a:rPr lang="en-US" sz="2200" b="1" kern="1200" dirty="0"/>
            <a:t>BROKER DEVELOPMENT</a:t>
          </a:r>
        </a:p>
      </dsp:txBody>
      <dsp:txXfrm>
        <a:off x="7242" y="3087567"/>
        <a:ext cx="2202800" cy="1004036"/>
      </dsp:txXfrm>
    </dsp:sp>
    <dsp:sp modelId="{C9DDB7FA-A0FA-4D6A-949B-B117078ADD34}">
      <dsp:nvSpPr>
        <dsp:cNvPr id="0" name=""/>
        <dsp:cNvSpPr/>
      </dsp:nvSpPr>
      <dsp:spPr>
        <a:xfrm>
          <a:off x="2298527" y="3247049"/>
          <a:ext cx="1094791" cy="1094791"/>
        </a:xfrm>
        <a:prstGeom prst="ellipse">
          <a:avLst/>
        </a:prstGeom>
        <a:blipFill>
          <a:blip xmlns:r="http://schemas.openxmlformats.org/officeDocument/2006/relationships" r:embed="rId1" cstate="screen">
            <a:extLst>
              <a:ext uri="{28A0092B-C50C-407E-A947-70E740481C1C}">
                <a14:useLocalDpi xmlns:a14="http://schemas.microsoft.com/office/drawing/2010/main"/>
              </a:ext>
            </a:extLst>
          </a:blip>
          <a:stretch>
            <a:fillRect/>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C4E3136-41AF-48D5-891D-C7A5263CF655}">
      <dsp:nvSpPr>
        <dsp:cNvPr id="0" name=""/>
        <dsp:cNvSpPr/>
      </dsp:nvSpPr>
      <dsp:spPr>
        <a:xfrm>
          <a:off x="3664547" y="681733"/>
          <a:ext cx="3127976" cy="2476700"/>
        </a:xfrm>
        <a:prstGeom prst="round2SameRect">
          <a:avLst>
            <a:gd name="adj1" fmla="val 8000"/>
            <a:gd name="adj2" fmla="val 0"/>
          </a:avLst>
        </a:prstGeom>
        <a:solidFill>
          <a:schemeClr val="lt1">
            <a:hueOff val="0"/>
            <a:satOff val="0"/>
            <a:lumOff val="0"/>
            <a:alpha val="80000"/>
          </a:schemeClr>
        </a:solidFill>
        <a:ln w="12700" cap="flat" cmpd="sng" algn="ctr">
          <a:solidFill>
            <a:schemeClr val="bg1">
              <a:lumMod val="6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91440" rIns="22860" bIns="22860" numCol="1" spcCol="1270" anchor="t" anchorCtr="0">
          <a:noAutofit/>
        </a:bodyPr>
        <a:lstStyle/>
        <a:p>
          <a:pPr marL="285750" lvl="1" indent="-228600" algn="l" defTabSz="800100">
            <a:lnSpc>
              <a:spcPct val="100000"/>
            </a:lnSpc>
            <a:spcBef>
              <a:spcPct val="0"/>
            </a:spcBef>
            <a:spcAft>
              <a:spcPts val="300"/>
            </a:spcAft>
            <a:buChar char="•"/>
          </a:pPr>
          <a:endParaRPr lang="en-US" sz="1800" b="0" kern="1200" dirty="0"/>
        </a:p>
        <a:p>
          <a:pPr marL="114300" lvl="1" indent="0" algn="l" defTabSz="666750">
            <a:lnSpc>
              <a:spcPct val="100000"/>
            </a:lnSpc>
            <a:spcBef>
              <a:spcPct val="0"/>
            </a:spcBef>
            <a:spcAft>
              <a:spcPts val="300"/>
            </a:spcAft>
            <a:buChar char="•"/>
          </a:pPr>
          <a:endParaRPr lang="en-US" sz="1500" b="0" kern="1200" dirty="0"/>
        </a:p>
      </dsp:txBody>
      <dsp:txXfrm>
        <a:off x="3722579" y="739765"/>
        <a:ext cx="3011912" cy="2418668"/>
      </dsp:txXfrm>
    </dsp:sp>
    <dsp:sp modelId="{79A312E4-6849-4D68-ADD1-B772AC6F907C}">
      <dsp:nvSpPr>
        <dsp:cNvPr id="0" name=""/>
        <dsp:cNvSpPr/>
      </dsp:nvSpPr>
      <dsp:spPr>
        <a:xfrm>
          <a:off x="3664547" y="3087567"/>
          <a:ext cx="3127976" cy="1004036"/>
        </a:xfrm>
        <a:prstGeom prst="rect">
          <a:avLst/>
        </a:prstGeom>
        <a:solidFill>
          <a:srgbClr val="59CAE8"/>
        </a:solidFill>
        <a:ln w="12700" cap="flat" cmpd="sng" algn="ctr">
          <a:solidFill>
            <a:srgbClr val="59CAE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0" rIns="27940" bIns="0" numCol="1" spcCol="1270" anchor="ctr" anchorCtr="0">
          <a:noAutofit/>
        </a:bodyPr>
        <a:lstStyle/>
        <a:p>
          <a:pPr marL="0" lvl="0" indent="0" algn="l" defTabSz="977900">
            <a:lnSpc>
              <a:spcPct val="90000"/>
            </a:lnSpc>
            <a:spcBef>
              <a:spcPct val="0"/>
            </a:spcBef>
            <a:spcAft>
              <a:spcPct val="35000"/>
            </a:spcAft>
            <a:buNone/>
          </a:pPr>
          <a:r>
            <a:rPr lang="en-US" sz="2200" b="1" kern="1200" dirty="0"/>
            <a:t>DIRECT SALES</a:t>
          </a:r>
        </a:p>
      </dsp:txBody>
      <dsp:txXfrm>
        <a:off x="3664547" y="3087567"/>
        <a:ext cx="2202800" cy="1004036"/>
      </dsp:txXfrm>
    </dsp:sp>
    <dsp:sp modelId="{59AE0CE5-CBA7-420A-835A-5F5591837FE8}">
      <dsp:nvSpPr>
        <dsp:cNvPr id="0" name=""/>
        <dsp:cNvSpPr/>
      </dsp:nvSpPr>
      <dsp:spPr>
        <a:xfrm>
          <a:off x="5955832" y="3247049"/>
          <a:ext cx="1094791" cy="1094791"/>
        </a:xfrm>
        <a:prstGeom prst="ellipse">
          <a:avLst/>
        </a:prstGeom>
        <a:blipFill>
          <a:blip xmlns:r="http://schemas.openxmlformats.org/officeDocument/2006/relationships" r:embed="rId2" cstate="screen">
            <a:extLst>
              <a:ext uri="{28A0092B-C50C-407E-A947-70E740481C1C}">
                <a14:useLocalDpi xmlns:a14="http://schemas.microsoft.com/office/drawing/2010/main"/>
              </a:ext>
            </a:extLst>
          </a:blip>
          <a:stretch>
            <a:fillRect/>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5B06EAE-30F4-4745-ACED-5452905F1416}">
      <dsp:nvSpPr>
        <dsp:cNvPr id="0" name=""/>
        <dsp:cNvSpPr/>
      </dsp:nvSpPr>
      <dsp:spPr>
        <a:xfrm>
          <a:off x="7321852" y="681733"/>
          <a:ext cx="3127976" cy="2476700"/>
        </a:xfrm>
        <a:prstGeom prst="round2SameRect">
          <a:avLst>
            <a:gd name="adj1" fmla="val 8000"/>
            <a:gd name="adj2" fmla="val 0"/>
          </a:avLst>
        </a:prstGeom>
        <a:solidFill>
          <a:schemeClr val="lt1">
            <a:hueOff val="0"/>
            <a:satOff val="0"/>
            <a:lumOff val="0"/>
            <a:alpha val="80000"/>
          </a:schemeClr>
        </a:solidFill>
        <a:ln w="12700" cap="flat" cmpd="sng" algn="ctr">
          <a:solidFill>
            <a:schemeClr val="bg1">
              <a:lumMod val="6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91440" rIns="22860" bIns="22860" numCol="1" spcCol="1270" anchor="t" anchorCtr="0">
          <a:noAutofit/>
        </a:bodyPr>
        <a:lstStyle/>
        <a:p>
          <a:pPr marL="285750" lvl="1" indent="-228600" algn="l" defTabSz="800100">
            <a:lnSpc>
              <a:spcPct val="100000"/>
            </a:lnSpc>
            <a:spcBef>
              <a:spcPct val="0"/>
            </a:spcBef>
            <a:spcAft>
              <a:spcPts val="300"/>
            </a:spcAft>
            <a:buChar char="•"/>
          </a:pPr>
          <a:endParaRPr lang="en-US" sz="1800" b="0" kern="1200" dirty="0"/>
        </a:p>
        <a:p>
          <a:pPr marL="228600" lvl="1" indent="0" algn="l" defTabSz="933450">
            <a:lnSpc>
              <a:spcPct val="100000"/>
            </a:lnSpc>
            <a:spcBef>
              <a:spcPct val="0"/>
            </a:spcBef>
            <a:spcAft>
              <a:spcPts val="300"/>
            </a:spcAft>
            <a:buChar char="•"/>
          </a:pPr>
          <a:endParaRPr lang="en-US" sz="2100" b="0" kern="1200" dirty="0"/>
        </a:p>
      </dsp:txBody>
      <dsp:txXfrm>
        <a:off x="7379884" y="739765"/>
        <a:ext cx="3011912" cy="2418668"/>
      </dsp:txXfrm>
    </dsp:sp>
    <dsp:sp modelId="{A8558B5A-0979-484B-BD3E-256476C68F9A}">
      <dsp:nvSpPr>
        <dsp:cNvPr id="0" name=""/>
        <dsp:cNvSpPr/>
      </dsp:nvSpPr>
      <dsp:spPr>
        <a:xfrm>
          <a:off x="7321852" y="3087567"/>
          <a:ext cx="3127976" cy="1004036"/>
        </a:xfrm>
        <a:prstGeom prst="rect">
          <a:avLst/>
        </a:prstGeom>
        <a:solidFill>
          <a:srgbClr val="59CAE8"/>
        </a:solidFill>
        <a:ln w="12700" cap="flat" cmpd="sng" algn="ctr">
          <a:solidFill>
            <a:srgbClr val="59CAE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0" rIns="27940" bIns="0" numCol="1" spcCol="1270" anchor="ctr" anchorCtr="0">
          <a:noAutofit/>
        </a:bodyPr>
        <a:lstStyle/>
        <a:p>
          <a:pPr marL="0" lvl="0" indent="0" algn="l" defTabSz="977900">
            <a:lnSpc>
              <a:spcPct val="90000"/>
            </a:lnSpc>
            <a:spcBef>
              <a:spcPct val="0"/>
            </a:spcBef>
            <a:spcAft>
              <a:spcPct val="35000"/>
            </a:spcAft>
            <a:buNone/>
          </a:pPr>
          <a:r>
            <a:rPr lang="en-US" sz="2200" b="1" kern="1200" dirty="0"/>
            <a:t>SALES ADMINISTRATION</a:t>
          </a:r>
        </a:p>
      </dsp:txBody>
      <dsp:txXfrm>
        <a:off x="7321852" y="3087567"/>
        <a:ext cx="2202800" cy="1004036"/>
      </dsp:txXfrm>
    </dsp:sp>
    <dsp:sp modelId="{1AE27240-F06A-48BF-83C8-82D83CBD609C}">
      <dsp:nvSpPr>
        <dsp:cNvPr id="0" name=""/>
        <dsp:cNvSpPr/>
      </dsp:nvSpPr>
      <dsp:spPr>
        <a:xfrm>
          <a:off x="9613138" y="3247049"/>
          <a:ext cx="1094791" cy="1094791"/>
        </a:xfrm>
        <a:prstGeom prst="ellipse">
          <a:avLst/>
        </a:prstGeom>
        <a:blipFill>
          <a:blip xmlns:r="http://schemas.openxmlformats.org/officeDocument/2006/relationships" r:embed="rId3" cstate="screen">
            <a:extLst>
              <a:ext uri="{28A0092B-C50C-407E-A947-70E740481C1C}">
                <a14:useLocalDpi xmlns:a14="http://schemas.microsoft.com/office/drawing/2010/main"/>
              </a:ext>
            </a:extLst>
          </a:blip>
          <a:stretch>
            <a:fillRect/>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8C66CE-B1D9-43FD-91B0-9A298E99D806}">
      <dsp:nvSpPr>
        <dsp:cNvPr id="0" name=""/>
        <dsp:cNvSpPr/>
      </dsp:nvSpPr>
      <dsp:spPr>
        <a:xfrm rot="5400000">
          <a:off x="-311576" y="311921"/>
          <a:ext cx="2077175" cy="1454023"/>
        </a:xfrm>
        <a:prstGeom prst="chevron">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PROVIDER FILE</a:t>
          </a:r>
        </a:p>
      </dsp:txBody>
      <dsp:txXfrm rot="-5400000">
        <a:off x="1" y="727357"/>
        <a:ext cx="1454023" cy="623152"/>
      </dsp:txXfrm>
    </dsp:sp>
    <dsp:sp modelId="{7C07DD5C-F3F7-413D-935A-CCBA7C6C1E36}">
      <dsp:nvSpPr>
        <dsp:cNvPr id="0" name=""/>
        <dsp:cNvSpPr/>
      </dsp:nvSpPr>
      <dsp:spPr>
        <a:xfrm rot="5400000">
          <a:off x="3574418" y="-2120050"/>
          <a:ext cx="1350164" cy="5590955"/>
        </a:xfrm>
        <a:prstGeom prst="round2Same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endParaRPr lang="en-US" sz="2000" kern="1200" dirty="0"/>
        </a:p>
      </dsp:txBody>
      <dsp:txXfrm rot="-5400000">
        <a:off x="1454023" y="66255"/>
        <a:ext cx="5525045" cy="1218344"/>
      </dsp:txXfrm>
    </dsp:sp>
    <dsp:sp modelId="{1FCF5A5E-7DF9-412A-B101-D83967D7DE65}">
      <dsp:nvSpPr>
        <dsp:cNvPr id="0" name=""/>
        <dsp:cNvSpPr/>
      </dsp:nvSpPr>
      <dsp:spPr>
        <a:xfrm rot="5400000">
          <a:off x="-311576" y="2101379"/>
          <a:ext cx="2077175" cy="1454023"/>
        </a:xfrm>
        <a:prstGeom prst="chevron">
          <a:avLst/>
        </a:prstGeom>
        <a:solidFill>
          <a:srgbClr val="244F9A"/>
        </a:solidFill>
        <a:ln w="12700" cap="flat" cmpd="sng" algn="ctr">
          <a:solidFill>
            <a:srgbClr val="6A3085"/>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PRICING</a:t>
          </a:r>
        </a:p>
      </dsp:txBody>
      <dsp:txXfrm rot="-5400000">
        <a:off x="1" y="2516815"/>
        <a:ext cx="1454023" cy="623152"/>
      </dsp:txXfrm>
    </dsp:sp>
    <dsp:sp modelId="{FE1F4B02-EB68-4CAB-8CF0-3D5AB6A01850}">
      <dsp:nvSpPr>
        <dsp:cNvPr id="0" name=""/>
        <dsp:cNvSpPr/>
      </dsp:nvSpPr>
      <dsp:spPr>
        <a:xfrm rot="5400000">
          <a:off x="3574418" y="-330593"/>
          <a:ext cx="1350164" cy="5590955"/>
        </a:xfrm>
        <a:prstGeom prst="round2SameRect">
          <a:avLst/>
        </a:prstGeom>
        <a:solidFill>
          <a:schemeClr val="lt1">
            <a:alpha val="90000"/>
            <a:hueOff val="0"/>
            <a:satOff val="0"/>
            <a:lumOff val="0"/>
            <a:alphaOff val="0"/>
          </a:schemeClr>
        </a:solidFill>
        <a:ln w="12700" cap="flat" cmpd="sng" algn="ctr">
          <a:solidFill>
            <a:schemeClr val="accent3">
              <a:hueOff val="2710599"/>
              <a:satOff val="100000"/>
              <a:lumOff val="-14706"/>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endParaRPr lang="en-US" sz="2000" kern="1200" dirty="0"/>
        </a:p>
      </dsp:txBody>
      <dsp:txXfrm rot="-5400000">
        <a:off x="1454023" y="1855712"/>
        <a:ext cx="5525045" cy="121834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4B72F3-991D-4D26-9463-0028447AF8D0}">
      <dsp:nvSpPr>
        <dsp:cNvPr id="0" name=""/>
        <dsp:cNvSpPr/>
      </dsp:nvSpPr>
      <dsp:spPr>
        <a:xfrm rot="5400000">
          <a:off x="332041" y="1572155"/>
          <a:ext cx="990861" cy="1648771"/>
        </a:xfrm>
        <a:prstGeom prst="corner">
          <a:avLst>
            <a:gd name="adj1" fmla="val 16120"/>
            <a:gd name="adj2" fmla="val 16110"/>
          </a:avLst>
        </a:prstGeom>
        <a:solidFill>
          <a:srgbClr val="244F9A"/>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EB3AA31-421F-4B20-8208-0825BF70090F}">
      <dsp:nvSpPr>
        <dsp:cNvPr id="0" name=""/>
        <dsp:cNvSpPr/>
      </dsp:nvSpPr>
      <dsp:spPr>
        <a:xfrm>
          <a:off x="166642" y="206478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a:t>
          </a:r>
        </a:p>
        <a:p>
          <a:pPr marL="0" lvl="0" indent="0" algn="l" defTabSz="577850">
            <a:lnSpc>
              <a:spcPct val="90000"/>
            </a:lnSpc>
            <a:spcBef>
              <a:spcPct val="0"/>
            </a:spcBef>
            <a:spcAft>
              <a:spcPct val="35000"/>
            </a:spcAft>
            <a:buNone/>
          </a:pPr>
          <a:r>
            <a:rPr lang="en-US" sz="1300" b="0" kern="1200" dirty="0"/>
            <a:t>Agreement &amp; Project Scope</a:t>
          </a:r>
        </a:p>
      </dsp:txBody>
      <dsp:txXfrm>
        <a:off x="166642" y="2064782"/>
        <a:ext cx="1488520" cy="1304775"/>
      </dsp:txXfrm>
    </dsp:sp>
    <dsp:sp modelId="{4B9E1A38-3040-4C60-B94E-F33823D540F9}">
      <dsp:nvSpPr>
        <dsp:cNvPr id="0" name=""/>
        <dsp:cNvSpPr/>
      </dsp:nvSpPr>
      <dsp:spPr>
        <a:xfrm>
          <a:off x="1374309" y="1450770"/>
          <a:ext cx="280852" cy="280852"/>
        </a:xfrm>
        <a:prstGeom prst="triangle">
          <a:avLst>
            <a:gd name="adj" fmla="val 100000"/>
          </a:avLst>
        </a:prstGeom>
        <a:solidFill>
          <a:srgbClr val="244F9A">
            <a:alpha val="80000"/>
          </a:srgbClr>
        </a:solidFill>
        <a:ln w="12700" cap="flat" cmpd="sng" algn="ctr">
          <a:solidFill>
            <a:schemeClr val="accent1">
              <a:shade val="80000"/>
              <a:hueOff val="58214"/>
              <a:satOff val="-1043"/>
              <a:lumOff val="443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7636A15-31BC-483D-A19B-F594F97B4CB7}">
      <dsp:nvSpPr>
        <dsp:cNvPr id="0" name=""/>
        <dsp:cNvSpPr/>
      </dsp:nvSpPr>
      <dsp:spPr>
        <a:xfrm rot="5400000">
          <a:off x="2154281" y="1121239"/>
          <a:ext cx="990861" cy="1648771"/>
        </a:xfrm>
        <a:prstGeom prst="corner">
          <a:avLst>
            <a:gd name="adj1" fmla="val 16120"/>
            <a:gd name="adj2" fmla="val 16110"/>
          </a:avLst>
        </a:prstGeom>
        <a:solidFill>
          <a:srgbClr val="244F9A">
            <a:alpha val="80000"/>
          </a:srgbClr>
        </a:solidFill>
        <a:ln w="12700" cap="flat" cmpd="sng" algn="ctr">
          <a:solidFill>
            <a:schemeClr val="accent1">
              <a:shade val="80000"/>
              <a:hueOff val="116428"/>
              <a:satOff val="-2085"/>
              <a:lumOff val="886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5D54D3E-74C0-4BF4-9694-114A266E7DAC}">
      <dsp:nvSpPr>
        <dsp:cNvPr id="0" name=""/>
        <dsp:cNvSpPr/>
      </dsp:nvSpPr>
      <dsp:spPr>
        <a:xfrm>
          <a:off x="1988882" y="161386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1-6</a:t>
          </a:r>
        </a:p>
        <a:p>
          <a:pPr marL="0" lvl="0" indent="0" algn="l" defTabSz="577850">
            <a:lnSpc>
              <a:spcPct val="90000"/>
            </a:lnSpc>
            <a:spcBef>
              <a:spcPct val="0"/>
            </a:spcBef>
            <a:spcAft>
              <a:spcPct val="35000"/>
            </a:spcAft>
            <a:buNone/>
          </a:pPr>
          <a:r>
            <a:rPr lang="en-US" sz="1300" b="0" kern="1200" dirty="0"/>
            <a:t>Implementation</a:t>
          </a:r>
        </a:p>
        <a:p>
          <a:pPr marL="0" lvl="0" indent="0" algn="l" defTabSz="577850">
            <a:lnSpc>
              <a:spcPct val="90000"/>
            </a:lnSpc>
            <a:spcBef>
              <a:spcPct val="0"/>
            </a:spcBef>
            <a:spcAft>
              <a:spcPct val="35000"/>
            </a:spcAft>
            <a:buNone/>
          </a:pPr>
          <a:r>
            <a:rPr lang="en-US" sz="1300" b="0" kern="1200" dirty="0"/>
            <a:t>Market Outreach begins in Month 3</a:t>
          </a:r>
        </a:p>
        <a:p>
          <a:pPr marL="0" lvl="0" indent="0" algn="l" defTabSz="577850">
            <a:lnSpc>
              <a:spcPct val="90000"/>
            </a:lnSpc>
            <a:spcBef>
              <a:spcPct val="0"/>
            </a:spcBef>
            <a:spcAft>
              <a:spcPct val="35000"/>
            </a:spcAft>
            <a:buNone/>
          </a:pPr>
          <a:endParaRPr lang="en-US" sz="1300" b="0" kern="1200" dirty="0"/>
        </a:p>
      </dsp:txBody>
      <dsp:txXfrm>
        <a:off x="1988882" y="1613867"/>
        <a:ext cx="1488520" cy="1304775"/>
      </dsp:txXfrm>
    </dsp:sp>
    <dsp:sp modelId="{E2E1B3D5-626C-4984-B966-96AB737EB32D}">
      <dsp:nvSpPr>
        <dsp:cNvPr id="0" name=""/>
        <dsp:cNvSpPr/>
      </dsp:nvSpPr>
      <dsp:spPr>
        <a:xfrm>
          <a:off x="3196549" y="999855"/>
          <a:ext cx="280852" cy="280852"/>
        </a:xfrm>
        <a:prstGeom prst="triangle">
          <a:avLst>
            <a:gd name="adj" fmla="val 100000"/>
          </a:avLst>
        </a:prstGeom>
        <a:solidFill>
          <a:srgbClr val="244F9A">
            <a:alpha val="60000"/>
          </a:srgbClr>
        </a:solidFill>
        <a:ln w="12700" cap="flat" cmpd="sng" algn="ctr">
          <a:solidFill>
            <a:schemeClr val="accent1">
              <a:shade val="80000"/>
              <a:hueOff val="174641"/>
              <a:satOff val="-3128"/>
              <a:lumOff val="1329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88D8255-18CE-4518-9174-DEB3D03C550D}">
      <dsp:nvSpPr>
        <dsp:cNvPr id="0" name=""/>
        <dsp:cNvSpPr/>
      </dsp:nvSpPr>
      <dsp:spPr>
        <a:xfrm rot="5400000">
          <a:off x="3976521" y="670324"/>
          <a:ext cx="990861" cy="1648771"/>
        </a:xfrm>
        <a:prstGeom prst="corner">
          <a:avLst>
            <a:gd name="adj1" fmla="val 16120"/>
            <a:gd name="adj2" fmla="val 16110"/>
          </a:avLst>
        </a:prstGeom>
        <a:solidFill>
          <a:srgbClr val="244F9A">
            <a:alpha val="60000"/>
          </a:srgbClr>
        </a:solidFill>
        <a:ln w="12700" cap="flat" cmpd="sng" algn="ctr">
          <a:solidFill>
            <a:schemeClr val="accent1">
              <a:shade val="80000"/>
              <a:hueOff val="232855"/>
              <a:satOff val="-4171"/>
              <a:lumOff val="1772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98D4C6B-62CE-4CE4-91E9-7E9EB1E1C398}">
      <dsp:nvSpPr>
        <dsp:cNvPr id="0" name=""/>
        <dsp:cNvSpPr/>
      </dsp:nvSpPr>
      <dsp:spPr>
        <a:xfrm>
          <a:off x="3811121" y="116295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3-6</a:t>
          </a:r>
        </a:p>
        <a:p>
          <a:pPr marL="0" lvl="0" indent="0" algn="l" defTabSz="577850">
            <a:lnSpc>
              <a:spcPct val="90000"/>
            </a:lnSpc>
            <a:spcBef>
              <a:spcPct val="0"/>
            </a:spcBef>
            <a:spcAft>
              <a:spcPct val="35000"/>
            </a:spcAft>
            <a:buNone/>
          </a:pPr>
          <a:r>
            <a:rPr lang="en-US" sz="1300" b="0" kern="1200" dirty="0"/>
            <a:t>Sales &amp; Mkg.</a:t>
          </a:r>
        </a:p>
        <a:p>
          <a:pPr marL="0" lvl="0" indent="0" algn="l" defTabSz="577850">
            <a:lnSpc>
              <a:spcPct val="90000"/>
            </a:lnSpc>
            <a:spcBef>
              <a:spcPct val="0"/>
            </a:spcBef>
            <a:spcAft>
              <a:spcPct val="35000"/>
            </a:spcAft>
            <a:buNone/>
          </a:pPr>
          <a:r>
            <a:rPr lang="en-US" sz="1300" b="0" kern="1200" dirty="0"/>
            <a:t>Hire Sales Executive</a:t>
          </a:r>
        </a:p>
      </dsp:txBody>
      <dsp:txXfrm>
        <a:off x="3811121" y="1162952"/>
        <a:ext cx="1488520" cy="1304775"/>
      </dsp:txXfrm>
    </dsp:sp>
    <dsp:sp modelId="{C472BF19-FDA3-4EC5-AD0C-1C04B1D94EC9}">
      <dsp:nvSpPr>
        <dsp:cNvPr id="0" name=""/>
        <dsp:cNvSpPr/>
      </dsp:nvSpPr>
      <dsp:spPr>
        <a:xfrm>
          <a:off x="5018789" y="548940"/>
          <a:ext cx="280852" cy="280852"/>
        </a:xfrm>
        <a:prstGeom prst="triangle">
          <a:avLst>
            <a:gd name="adj" fmla="val 100000"/>
          </a:avLst>
        </a:prstGeom>
        <a:solidFill>
          <a:srgbClr val="244F9A">
            <a:alpha val="40000"/>
          </a:srgbClr>
        </a:solidFill>
        <a:ln w="12700" cap="flat" cmpd="sng" algn="ctr">
          <a:solidFill>
            <a:schemeClr val="accent1">
              <a:shade val="80000"/>
              <a:hueOff val="291069"/>
              <a:satOff val="-5213"/>
              <a:lumOff val="2215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7966FFF-E62A-4DBC-B29D-25E2B05997AB}">
      <dsp:nvSpPr>
        <dsp:cNvPr id="0" name=""/>
        <dsp:cNvSpPr/>
      </dsp:nvSpPr>
      <dsp:spPr>
        <a:xfrm rot="5400000">
          <a:off x="5798761" y="219409"/>
          <a:ext cx="990861" cy="1648771"/>
        </a:xfrm>
        <a:prstGeom prst="corner">
          <a:avLst>
            <a:gd name="adj1" fmla="val 16120"/>
            <a:gd name="adj2" fmla="val 16110"/>
          </a:avLst>
        </a:prstGeom>
        <a:solidFill>
          <a:srgbClr val="244F9A">
            <a:alpha val="40000"/>
          </a:srgbClr>
        </a:solidFill>
        <a:ln w="12700" cap="flat" cmpd="sng" algn="ctr">
          <a:solidFill>
            <a:schemeClr val="accent1">
              <a:shade val="80000"/>
              <a:hueOff val="349283"/>
              <a:satOff val="-6256"/>
              <a:lumOff val="2658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247AD9B-A3F5-425E-903D-1FEBBA4D2840}">
      <dsp:nvSpPr>
        <dsp:cNvPr id="0" name=""/>
        <dsp:cNvSpPr/>
      </dsp:nvSpPr>
      <dsp:spPr>
        <a:xfrm>
          <a:off x="5633361" y="71203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6 TO 8</a:t>
          </a:r>
        </a:p>
        <a:p>
          <a:pPr marL="0" lvl="0" indent="0" algn="l" defTabSz="577850">
            <a:lnSpc>
              <a:spcPct val="90000"/>
            </a:lnSpc>
            <a:spcBef>
              <a:spcPct val="0"/>
            </a:spcBef>
            <a:spcAft>
              <a:spcPct val="35000"/>
            </a:spcAft>
            <a:buNone/>
          </a:pPr>
          <a:r>
            <a:rPr lang="en-US" sz="1300" b="1" kern="1200" dirty="0">
              <a:solidFill>
                <a:srgbClr val="000B2E"/>
              </a:solidFill>
            </a:rPr>
            <a:t>GO LIVE!!</a:t>
          </a:r>
        </a:p>
      </dsp:txBody>
      <dsp:txXfrm>
        <a:off x="5633361" y="712037"/>
        <a:ext cx="1488520" cy="1304775"/>
      </dsp:txXfrm>
    </dsp:sp>
  </dsp:spTree>
</dsp:drawing>
</file>

<file path=ppt/diagrams/layout1.xml><?xml version="1.0" encoding="utf-8"?>
<dgm:layoutDef xmlns:dgm="http://schemas.openxmlformats.org/drawingml/2006/diagram" xmlns:a="http://schemas.openxmlformats.org/drawingml/2006/main" uniqueId="urn:microsoft.com/office/officeart/2005/8/layout/venn2">
  <dgm:title val=""/>
  <dgm:desc val=""/>
  <dgm:catLst>
    <dgm:cat type="relationship" pri="30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resizeHandles val="exact"/>
    </dgm:varLst>
    <dgm:alg type="composite">
      <dgm:param type="ar" val="1"/>
    </dgm:alg>
    <dgm:shape xmlns:r="http://schemas.openxmlformats.org/officeDocument/2006/relationships" r:blip="">
      <dgm:adjLst/>
    </dgm:shape>
    <dgm:presOf/>
    <dgm:choose name="Name1">
      <dgm:if name="Name2" axis="ch" ptType="node" func="cnt" op="lte" val="3">
        <dgm:constrLst>
          <dgm:constr type="w" for="ch" forName="comp1" refType="w"/>
          <dgm:constr type="h" for="ch" forName="comp1" refType="w" refFor="ch" refForName="comp1"/>
          <dgm:constr type="w" for="ch" forName="comp2" refType="w" fact="0.75"/>
          <dgm:constr type="h" for="ch" forName="comp2" refType="w" refFor="ch" refForName="comp2"/>
          <dgm:constr type="ctrX" for="ch" forName="comp2" refType="ctrX" refFor="ch" refForName="comp1"/>
          <dgm:constr type="b" for="ch" forName="comp2" refType="b" refFor="ch" refForName="comp1"/>
          <dgm:constr type="w" for="ch" forName="comp3" refType="w" fact="0.5"/>
          <dgm:constr type="h" for="ch" forName="comp3" refType="w" refFor="ch" refForName="comp3"/>
          <dgm:constr type="ctrX" for="ch" forName="comp3" refType="ctrX" refFor="ch" refForName="comp1"/>
          <dgm:constr type="b" for="ch" forName="comp3" refType="b" refFor="ch" refForName="comp1"/>
          <dgm:constr type="primFontSz" for="des" ptType="node" op="equ" val="65"/>
        </dgm:constrLst>
      </dgm:if>
      <dgm:if name="Name3" axis="ch" ptType="node" func="cnt" op="equ" val="4">
        <dgm:constrLst>
          <dgm:constr type="w" for="ch" forName="comp1" refType="w"/>
          <dgm:constr type="h" for="ch" forName="comp1" refType="w" refFor="ch" refForName="comp1"/>
          <dgm:constr type="w" for="ch" forName="comp2" refType="w" fact="0.8"/>
          <dgm:constr type="h" for="ch" forName="comp2" refType="w" refFor="ch" refForName="comp2"/>
          <dgm:constr type="ctrX" for="ch" forName="comp2" refType="ctrX" refFor="ch" refForName="comp1"/>
          <dgm:constr type="b" for="ch" forName="comp2" refType="b" refFor="ch" refForName="comp1"/>
          <dgm:constr type="w" for="ch" forName="comp3" refType="w" fact="0.6"/>
          <dgm:constr type="h" for="ch" forName="comp3" refType="w" refFor="ch" refForName="comp3"/>
          <dgm:constr type="ctrX" for="ch" forName="comp3" refType="ctrX" refFor="ch" refForName="comp1"/>
          <dgm:constr type="b" for="ch" forName="comp3" refType="b" refFor="ch" refForName="comp1"/>
          <dgm:constr type="w" for="ch" forName="comp4" refType="w" fact="0.4"/>
          <dgm:constr type="h" for="ch" forName="comp4" refType="w" refFor="ch" refForName="comp4"/>
          <dgm:constr type="ctrX" for="ch" forName="comp4" refType="ctrX" refFor="ch" refForName="comp1"/>
          <dgm:constr type="b" for="ch" forName="comp4" refType="b" refFor="ch" refForName="comp1"/>
          <dgm:constr type="primFontSz" for="des" ptType="node" op="equ" val="65"/>
        </dgm:constrLst>
      </dgm:if>
      <dgm:else name="Name4">
        <dgm:constrLst>
          <dgm:constr type="w" for="ch" forName="comp1" refType="w"/>
          <dgm:constr type="h" for="ch" forName="comp1" refType="w" refFor="ch" refForName="comp1"/>
          <dgm:constr type="w" for="ch" forName="comp2" refType="w" fact="0.85"/>
          <dgm:constr type="h" for="ch" forName="comp2" refType="w" refFor="ch" refForName="comp2"/>
          <dgm:constr type="ctrX" for="ch" forName="comp2" refType="ctrX" refFor="ch" refForName="comp1"/>
          <dgm:constr type="b" for="ch" forName="comp2" refType="b" refFor="ch" refForName="comp1"/>
          <dgm:constr type="w" for="ch" forName="comp3" refType="w" fact="0.7"/>
          <dgm:constr type="h" for="ch" forName="comp3" refType="w" refFor="ch" refForName="comp3"/>
          <dgm:constr type="ctrX" for="ch" forName="comp3" refType="ctrX" refFor="ch" refForName="comp1"/>
          <dgm:constr type="b" for="ch" forName="comp3" refType="b" refFor="ch" refForName="comp1"/>
          <dgm:constr type="w" for="ch" forName="comp4" refType="w" fact="0.55"/>
          <dgm:constr type="h" for="ch" forName="comp4" refType="w" refFor="ch" refForName="comp4"/>
          <dgm:constr type="ctrX" for="ch" forName="comp4" refType="ctrX" refFor="ch" refForName="comp1"/>
          <dgm:constr type="b" for="ch" forName="comp4" refType="b" refFor="ch" refForName="comp1"/>
          <dgm:constr type="w" for="ch" forName="comp5" refType="w" fact="0.4"/>
          <dgm:constr type="h" for="ch" forName="comp5" refType="w" refFor="ch" refForName="comp5"/>
          <dgm:constr type="ctrX" for="ch" forName="comp5" refType="ctrX" refFor="ch" refForName="comp1"/>
          <dgm:constr type="b" for="ch" forName="comp5" refType="b" refFor="ch" refForName="comp1"/>
          <dgm:constr type="w" for="ch" forName="comp6" refType="w" fact="0.25"/>
          <dgm:constr type="h" for="ch" forName="comp6" refType="w" refFor="ch" refForName="comp6"/>
          <dgm:constr type="ctrX" for="ch" forName="comp6" refType="ctrX" refFor="ch" refForName="comp1"/>
          <dgm:constr type="b" for="ch" forName="comp6" refType="b" refFor="ch" refForName="comp1"/>
          <dgm:constr type="w" for="ch" forName="comp7" refType="w" fact="0.15"/>
          <dgm:constr type="h" for="ch" forName="comp7" refType="w" refFor="ch" refForName="comp7"/>
          <dgm:constr type="ctrX" for="ch" forName="comp7" refType="ctrX" refFor="ch" refForName="comp1"/>
          <dgm:constr type="b" for="ch" forName="comp7" refType="b" refFor="ch" refForName="comp1"/>
          <dgm:constr type="primFontSz" for="des" ptType="node" op="equ" val="65"/>
        </dgm:constrLst>
      </dgm:else>
    </dgm:choose>
    <dgm:ruleLst/>
    <dgm:choose name="Name5">
      <dgm:if name="Name6" axis="ch" ptType="node" func="cnt" op="gte" val="1">
        <dgm:layoutNode name="comp1">
          <dgm:alg type="composite"/>
          <dgm:shape xmlns:r="http://schemas.openxmlformats.org/officeDocument/2006/relationships" r:blip="">
            <dgm:adjLst/>
          </dgm:shape>
          <dgm:presOf/>
          <dgm:choose name="Name7">
            <dgm:if name="Name8" axis="ch" ptType="node" func="cnt" op="equ" val="1">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5"/>
                <dgm:constr type="w" for="ch" forName="c1text" refType="w" refFor="ch" refForName="circle1" fact="0.70711"/>
                <dgm:constr type="h" for="ch" forName="c1text" refType="h" refFor="ch" refForName="circle1" fact="0.5"/>
              </dgm:constrLst>
            </dgm:if>
            <dgm:if name="Name9" axis="ch" ptType="node" func="cnt" op="equ" val="2">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6"/>
                <dgm:constr type="w" for="ch" forName="c1text" refType="w" refFor="ch" refForName="circle1" fact="0.525"/>
                <dgm:constr type="h" for="ch" forName="c1text" refType="h" refFor="ch" refForName="circle1" fact="0.17"/>
              </dgm:constrLst>
            </dgm:if>
            <dgm:if name="Name10" axis="ch" ptType="node" func="cnt" op="equ" val="3">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3495"/>
                <dgm:constr type="h" for="ch" forName="c1text" refType="h" refFor="ch" refForName="circle1" fact="0.15"/>
              </dgm:constrLst>
            </dgm:if>
            <dgm:if name="Name11" axis="ch" ptType="node" func="cnt" op="equ" val="4">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2796"/>
                <dgm:constr type="h" for="ch" forName="c1text" refType="h" refFor="ch" refForName="circle1" fact="0.15"/>
              </dgm:constrLst>
            </dgm:if>
            <dgm:if name="Name12" axis="ch" ptType="node" func="cnt" op="gte" val="5">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
                <dgm:constr type="w" for="ch" forName="c1text" refType="w" refFor="ch" refForName="circle1" fact="0.375"/>
                <dgm:constr type="h" for="ch" forName="c1text" refType="h" refFor="ch" refForName="circle1" fact="0.1"/>
              </dgm:constrLst>
            </dgm:if>
            <dgm:else name="Name13"/>
          </dgm:choose>
          <dgm:ruleLst/>
          <dgm:layoutNode name="circle1" styleLbl="node1">
            <dgm:alg type="sp"/>
            <dgm:shape xmlns:r="http://schemas.openxmlformats.org/officeDocument/2006/relationships" type="ellipse" r:blip="">
              <dgm:adjLst/>
            </dgm:shape>
            <dgm:presOf axis="ch desOrSelf" ptType="node node" st="1 1" cnt="1 0"/>
            <dgm:constrLst>
              <dgm:constr type="h" refType="w"/>
            </dgm:constrLst>
            <dgm:ruleLst/>
          </dgm:layoutNode>
          <dgm:layoutNode name="c1text">
            <dgm:varLst>
              <dgm:bulletEnabled val="1"/>
            </dgm:varLst>
            <dgm:alg type="tx"/>
            <dgm:shape xmlns:r="http://schemas.openxmlformats.org/officeDocument/2006/relationships" type="rect" r:blip="" hideGeom="1">
              <dgm:adjLst/>
            </dgm:shape>
            <dgm:presOf axis="ch desOrSelf" ptType="node node" st="1 1" cnt="1 0"/>
            <dgm:constrLst/>
            <dgm:ruleLst>
              <dgm:rule type="primFontSz" val="5" fact="NaN" max="NaN"/>
            </dgm:ruleLst>
          </dgm:layoutNode>
        </dgm:layoutNode>
      </dgm:if>
      <dgm:else name="Name14"/>
    </dgm:choose>
    <dgm:choose name="Name15">
      <dgm:if name="Name16" axis="ch" ptType="node" func="cnt" op="gte" val="2">
        <dgm:layoutNode name="comp2">
          <dgm:alg type="composite"/>
          <dgm:shape xmlns:r="http://schemas.openxmlformats.org/officeDocument/2006/relationships" r:blip="">
            <dgm:adjLst/>
          </dgm:shape>
          <dgm:presOf/>
          <dgm:choose name="Name17">
            <dgm:if name="Name18" axis="ch" ptType="node" func="cnt" op="equ" val="2">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5"/>
                <dgm:constr type="w" for="ch" forName="c2text" refType="w" refFor="ch" refForName="circle2" fact="0.70711"/>
                <dgm:constr type="h" for="ch" forName="c2text" refType="h" refFor="ch" refForName="circle2" fact="0.5"/>
              </dgm:constrLst>
            </dgm:if>
            <dgm:if name="Name19" axis="ch" ptType="node" func="cnt" op="equ" val="3">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625"/>
                <dgm:constr type="w" for="ch" forName="c2text" refType="w" refFor="ch" refForName="circle2" fact="0.466"/>
                <dgm:constr type="h" for="ch" forName="c2text" refType="h" refFor="ch" refForName="circle2" fact="0.1875"/>
              </dgm:constrLst>
            </dgm:if>
            <dgm:if name="Name20" axis="ch" ptType="node" func="cnt" op="equ" val="4">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
                <dgm:constr type="w" for="ch" forName="c2text" refType="w" refFor="ch" refForName="circle2" fact="0.3495"/>
                <dgm:constr type="h" for="ch" forName="c2text" refType="h" refFor="ch" refForName="circle2" fact="0.18"/>
              </dgm:constrLst>
            </dgm:if>
            <dgm:if name="Name21" axis="ch" ptType="node" func="cnt" op="gte" val="5">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15"/>
                <dgm:constr type="w" for="ch" forName="c2text" refType="w" refFor="ch" refForName="circle2" fact="0.43125"/>
                <dgm:constr type="h" for="ch" forName="c2text" refType="h" refFor="ch" refForName="circle2" fact="0.115"/>
              </dgm:constrLst>
            </dgm:if>
            <dgm:else name="Name22"/>
          </dgm:choose>
          <dgm:ruleLst/>
          <dgm:layoutNode name="circle2" styleLbl="node1">
            <dgm:alg type="sp"/>
            <dgm:shape xmlns:r="http://schemas.openxmlformats.org/officeDocument/2006/relationships" type="ellipse" r:blip="">
              <dgm:adjLst/>
            </dgm:shape>
            <dgm:presOf axis="ch desOrSelf" ptType="node node" st="2 1" cnt="1 0"/>
            <dgm:constrLst>
              <dgm:constr type="h" refType="w"/>
            </dgm:constrLst>
            <dgm:ruleLst/>
          </dgm:layoutNode>
          <dgm:layoutNode name="c2text">
            <dgm:varLst>
              <dgm:bulletEnabled val="1"/>
            </dgm:varLst>
            <dgm:alg type="tx"/>
            <dgm:shape xmlns:r="http://schemas.openxmlformats.org/officeDocument/2006/relationships" type="rect" r:blip="" hideGeom="1">
              <dgm:adjLst/>
            </dgm:shape>
            <dgm:presOf axis="ch desOrSelf" ptType="node node" st="2 1" cnt="1 0"/>
            <dgm:constrLst/>
            <dgm:ruleLst>
              <dgm:rule type="primFontSz" val="5" fact="NaN" max="NaN"/>
            </dgm:ruleLst>
          </dgm:layoutNode>
        </dgm:layoutNode>
      </dgm:if>
      <dgm:else name="Name23"/>
    </dgm:choose>
    <dgm:choose name="Name24">
      <dgm:if name="Name25" axis="ch" ptType="node" func="cnt" op="gte" val="3">
        <dgm:layoutNode name="comp3">
          <dgm:alg type="composite"/>
          <dgm:shape xmlns:r="http://schemas.openxmlformats.org/officeDocument/2006/relationships" r:blip="">
            <dgm:adjLst/>
          </dgm:shape>
          <dgm:presOf/>
          <dgm:choose name="Name26">
            <dgm:if name="Name27" axis="ch" ptType="node" func="cnt" op="equ" val="3">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5"/>
                <dgm:constr type="w" for="ch" forName="c3text" refType="w" refFor="ch" refForName="circle3" fact="0.70711"/>
                <dgm:constr type="h" for="ch" forName="c3text" refType="h" refFor="ch" refForName="circle3" fact="0.5"/>
              </dgm:constrLst>
            </dgm:if>
            <dgm:if name="Name28" axis="ch" ptType="node" func="cnt" op="equ" val="4">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875"/>
                <dgm:constr type="w" for="ch" forName="c3text" refType="w" refFor="ch" refForName="circle3" fact="0.466"/>
                <dgm:constr type="h" for="ch" forName="c3text" refType="h" refFor="ch" refForName="circle3" fact="0.225"/>
              </dgm:constrLst>
            </dgm:if>
            <dgm:if name="Name29" axis="ch" ptType="node" func="cnt" op="gte" val="5">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38"/>
                <dgm:constr type="w" for="ch" forName="c3text" refType="w" refFor="ch" refForName="circle3" fact="0.5175"/>
                <dgm:constr type="h" for="ch" forName="c3text" refType="h" refFor="ch" refForName="circle3" fact="0.138"/>
              </dgm:constrLst>
            </dgm:if>
            <dgm:else name="Name30"/>
          </dgm:choose>
          <dgm:ruleLst/>
          <dgm:layoutNode name="circle3" styleLbl="node1">
            <dgm:alg type="sp"/>
            <dgm:shape xmlns:r="http://schemas.openxmlformats.org/officeDocument/2006/relationships" type="ellipse" r:blip="">
              <dgm:adjLst/>
            </dgm:shape>
            <dgm:presOf axis="ch desOrSelf" ptType="node node" st="3 1" cnt="1 0"/>
            <dgm:constrLst>
              <dgm:constr type="h" refType="w"/>
            </dgm:constrLst>
            <dgm:ruleLst/>
          </dgm:layoutNode>
          <dgm:layoutNode name="c3text">
            <dgm:varLst>
              <dgm:bulletEnabled val="1"/>
            </dgm:varLst>
            <dgm:alg type="tx"/>
            <dgm:shape xmlns:r="http://schemas.openxmlformats.org/officeDocument/2006/relationships" type="rect" r:blip="" hideGeom="1">
              <dgm:adjLst/>
            </dgm:shape>
            <dgm:presOf axis="ch desOrSelf" ptType="node node" st="3 1" cnt="1 0"/>
            <dgm:constrLst/>
            <dgm:ruleLst>
              <dgm:rule type="primFontSz" val="5" fact="NaN" max="NaN"/>
            </dgm:ruleLst>
          </dgm:layoutNode>
        </dgm:layoutNode>
      </dgm:if>
      <dgm:else name="Name31"/>
    </dgm:choose>
    <dgm:choose name="Name32">
      <dgm:if name="Name33" axis="ch" ptType="node" func="cnt" op="gte" val="4">
        <dgm:layoutNode name="comp4">
          <dgm:alg type="composite"/>
          <dgm:shape xmlns:r="http://schemas.openxmlformats.org/officeDocument/2006/relationships" r:blip="">
            <dgm:adjLst/>
          </dgm:shape>
          <dgm:presOf/>
          <dgm:choose name="Name34">
            <dgm:if name="Name35" axis="ch" ptType="node" func="cnt" op="equ" val="4">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5"/>
                <dgm:constr type="w" for="ch" forName="c4text" refType="w" refFor="ch" refForName="circle4" fact="0.70711"/>
                <dgm:constr type="h" for="ch" forName="c4text" refType="h" refFor="ch" refForName="circle4" fact="0.5"/>
              </dgm:constrLst>
            </dgm:if>
            <dgm:if name="Name36" axis="ch" ptType="node" func="cnt" op="gte" val="5">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18"/>
                <dgm:constr type="w" for="ch" forName="c4text" refType="w" refFor="ch" refForName="circle4" fact="0.54"/>
                <dgm:constr type="h" for="ch" forName="c4text" refType="h" refFor="ch" refForName="circle4" fact="0.18"/>
              </dgm:constrLst>
            </dgm:if>
            <dgm:else name="Name37"/>
          </dgm:choose>
          <dgm:ruleLst/>
          <dgm:layoutNode name="circle4" styleLbl="node1">
            <dgm:alg type="sp"/>
            <dgm:shape xmlns:r="http://schemas.openxmlformats.org/officeDocument/2006/relationships" type="ellipse" r:blip="">
              <dgm:adjLst/>
            </dgm:shape>
            <dgm:presOf axis="ch desOrSelf" ptType="node node" st="4 1" cnt="1 0"/>
            <dgm:constrLst>
              <dgm:constr type="h" refType="w"/>
            </dgm:constrLst>
            <dgm:ruleLst/>
          </dgm:layoutNode>
          <dgm:layoutNode name="c4text">
            <dgm:varLst>
              <dgm:bulletEnabled val="1"/>
            </dgm:varLst>
            <dgm:alg type="tx"/>
            <dgm:shape xmlns:r="http://schemas.openxmlformats.org/officeDocument/2006/relationships" type="rect" r:blip="" hideGeom="1">
              <dgm:adjLst/>
            </dgm:shape>
            <dgm:presOf axis="ch desOrSelf" ptType="node node" st="4 1" cnt="1 0"/>
            <dgm:constrLst/>
            <dgm:ruleLst>
              <dgm:rule type="primFontSz" val="5" fact="NaN" max="NaN"/>
            </dgm:ruleLst>
          </dgm:layoutNode>
        </dgm:layoutNode>
      </dgm:if>
      <dgm:else name="Name38"/>
    </dgm:choose>
    <dgm:choose name="Name39">
      <dgm:if name="Name40" axis="ch" ptType="node" func="cnt" op="gte" val="5">
        <dgm:layoutNode name="comp5">
          <dgm:alg type="composite"/>
          <dgm:shape xmlns:r="http://schemas.openxmlformats.org/officeDocument/2006/relationships" r:blip="">
            <dgm:adjLst/>
          </dgm:shape>
          <dgm:presOf/>
          <dgm:choose name="Name41">
            <dgm:if name="Name42" axis="ch" ptType="node" func="cnt" op="equ" val="5">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5"/>
                <dgm:constr type="w" for="ch" forName="c5text" refType="w" refFor="ch" refForName="circle5" fact="0.70711"/>
                <dgm:constr type="h" for="ch" forName="c5text" refType="h" refFor="ch" refForName="circle5" fact="0.5"/>
              </dgm:constrLst>
            </dgm:if>
            <dgm:if name="Name43" axis="ch" ptType="node" func="cnt" op="gte" val="6">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25"/>
                <dgm:constr type="w" for="ch" forName="c5text" refType="w" refFor="ch" refForName="circle5" fact="0.65"/>
                <dgm:constr type="h" for="ch" forName="c5text" refType="h" refFor="ch" refForName="circle5" fact="0.25"/>
              </dgm:constrLst>
            </dgm:if>
            <dgm:else name="Name44"/>
          </dgm:choose>
          <dgm:ruleLst/>
          <dgm:layoutNode name="circle5" styleLbl="node1">
            <dgm:alg type="sp"/>
            <dgm:shape xmlns:r="http://schemas.openxmlformats.org/officeDocument/2006/relationships" type="ellipse" r:blip="">
              <dgm:adjLst/>
            </dgm:shape>
            <dgm:presOf axis="ch desOrSelf" ptType="node node" st="5 1" cnt="1 0"/>
            <dgm:constrLst>
              <dgm:constr type="h" refType="w"/>
            </dgm:constrLst>
            <dgm:ruleLst/>
          </dgm:layoutNode>
          <dgm:layoutNode name="c5text">
            <dgm:varLst>
              <dgm:bulletEnabled val="1"/>
            </dgm:varLst>
            <dgm:alg type="tx"/>
            <dgm:shape xmlns:r="http://schemas.openxmlformats.org/officeDocument/2006/relationships" type="rect" r:blip="" hideGeom="1">
              <dgm:adjLst/>
            </dgm:shape>
            <dgm:presOf axis="ch desOrSelf" ptType="node node" st="5 1" cnt="1 0"/>
            <dgm:constrLst/>
            <dgm:ruleLst>
              <dgm:rule type="primFontSz" val="5" fact="NaN" max="NaN"/>
            </dgm:ruleLst>
          </dgm:layoutNode>
        </dgm:layoutNode>
      </dgm:if>
      <dgm:else name="Name45"/>
    </dgm:choose>
    <dgm:choose name="Name46">
      <dgm:if name="Name47" axis="ch" ptType="node" func="cnt" op="gte" val="6">
        <dgm:layoutNode name="comp6">
          <dgm:alg type="composite"/>
          <dgm:shape xmlns:r="http://schemas.openxmlformats.org/officeDocument/2006/relationships" r:blip="">
            <dgm:adjLst/>
          </dgm:shape>
          <dgm:presOf/>
          <dgm:choose name="Name48">
            <dgm:if name="Name49" axis="ch" ptType="node" func="cnt" op="equ" val="6">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5"/>
                <dgm:constr type="w" for="ch" forName="c6text" refType="w" refFor="ch" refForName="circle6" fact="0.70711"/>
                <dgm:constr type="h" for="ch" forName="c6text" refType="h" refFor="ch" refForName="circle6" fact="0.5"/>
              </dgm:constrLst>
            </dgm:if>
            <dgm:if name="Name50" axis="ch" ptType="node" func="cnt" op="gte" val="7">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27"/>
                <dgm:constr type="w" for="ch" forName="c6text" refType="w" refFor="ch" refForName="circle6" fact="0.68"/>
                <dgm:constr type="h" for="ch" forName="c6text" refType="h" refFor="ch" refForName="circle6" fact="0.241"/>
              </dgm:constrLst>
            </dgm:if>
            <dgm:else name="Name51"/>
          </dgm:choose>
          <dgm:ruleLst/>
          <dgm:layoutNode name="circle6" styleLbl="node1">
            <dgm:alg type="sp"/>
            <dgm:shape xmlns:r="http://schemas.openxmlformats.org/officeDocument/2006/relationships" type="ellipse" r:blip="">
              <dgm:adjLst/>
            </dgm:shape>
            <dgm:presOf axis="ch desOrSelf" ptType="node node" st="6 1" cnt="1 0"/>
            <dgm:constrLst>
              <dgm:constr type="h" refType="w"/>
            </dgm:constrLst>
            <dgm:ruleLst/>
          </dgm:layoutNode>
          <dgm:layoutNode name="c6text">
            <dgm:varLst>
              <dgm:bulletEnabled val="1"/>
            </dgm:varLst>
            <dgm:alg type="tx"/>
            <dgm:shape xmlns:r="http://schemas.openxmlformats.org/officeDocument/2006/relationships" type="rect" r:blip="" hideGeom="1">
              <dgm:adjLst/>
            </dgm:shape>
            <dgm:presOf axis="ch desOrSelf" ptType="node node" st="6 1" cnt="1 0"/>
            <dgm:constrLst/>
            <dgm:ruleLst>
              <dgm:rule type="primFontSz" val="5" fact="NaN" max="NaN"/>
            </dgm:ruleLst>
          </dgm:layoutNode>
        </dgm:layoutNode>
      </dgm:if>
      <dgm:else name="Name52"/>
    </dgm:choose>
    <dgm:choose name="Name53">
      <dgm:if name="Name54" axis="ch" ptType="node" func="cnt" op="gte" val="7">
        <dgm:layoutNode name="comp7">
          <dgm:alg type="composite"/>
          <dgm:shape xmlns:r="http://schemas.openxmlformats.org/officeDocument/2006/relationships" r:blip="">
            <dgm:adjLst/>
          </dgm:shape>
          <dgm:presOf/>
          <dgm:constrLst>
            <dgm:constr type="w" for="ch" forName="circle7" refType="w"/>
            <dgm:constr type="h" for="ch" forName="circle7" refType="h"/>
            <dgm:constr type="ctrX" for="ch" forName="circle7" refType="w" fact="0.5"/>
            <dgm:constr type="ctrY" for="ch" forName="circle7" refType="h" fact="0.5"/>
            <dgm:constr type="ctrX" for="ch" forName="c7text" refType="w" fact="0.5"/>
            <dgm:constr type="ctrY" for="ch" forName="c7text" refType="h" fact="0.5"/>
            <dgm:constr type="w" for="ch" forName="c7text" refType="w" refFor="ch" refForName="circle7" fact="0.70711"/>
            <dgm:constr type="h" for="ch" forName="c7text" refType="h" refFor="ch" refForName="circle7" fact="0.5"/>
          </dgm:constrLst>
          <dgm:ruleLst/>
          <dgm:layoutNode name="circle7" styleLbl="node1">
            <dgm:alg type="sp"/>
            <dgm:shape xmlns:r="http://schemas.openxmlformats.org/officeDocument/2006/relationships" type="ellipse" r:blip="">
              <dgm:adjLst/>
            </dgm:shape>
            <dgm:presOf axis="ch desOrSelf" ptType="node node" st="7 1" cnt="1 0"/>
            <dgm:constrLst>
              <dgm:constr type="h" refType="w"/>
            </dgm:constrLst>
            <dgm:ruleLst/>
          </dgm:layoutNode>
          <dgm:layoutNode name="c7text">
            <dgm:varLst>
              <dgm:bulletEnabled val="1"/>
            </dgm:varLst>
            <dgm:alg type="tx"/>
            <dgm:shape xmlns:r="http://schemas.openxmlformats.org/officeDocument/2006/relationships" type="rect" r:blip="" hideGeom="1">
              <dgm:adjLst/>
            </dgm:shape>
            <dgm:presOf axis="ch desOrSelf" ptType="node node" st="7 1" cnt="1 0"/>
            <dgm:constrLst/>
            <dgm:ruleLst>
              <dgm:rule type="primFontSz" val="5" fact="NaN" max="NaN"/>
            </dgm:ruleLst>
          </dgm:layoutNode>
        </dgm:layoutNode>
      </dgm:if>
      <dgm:else name="Name55"/>
    </dgm:choose>
  </dgm:layoutNode>
</dgm:layoutDef>
</file>

<file path=ppt/diagrams/layout2.xml><?xml version="1.0" encoding="utf-8"?>
<dgm:layoutDef xmlns:dgm="http://schemas.openxmlformats.org/drawingml/2006/diagram" xmlns:a="http://schemas.openxmlformats.org/drawingml/2006/main" uniqueId="urn:microsoft.com/office/officeart/2005/8/layout/bList2">
  <dgm:title val=""/>
  <dgm:desc val=""/>
  <dgm:catLst>
    <dgm:cat type="list" pri="7000"/>
    <dgm:cat type="convert" pri="16000"/>
    <dgm:cat type="picture" pri="28000"/>
    <dgm:cat type="pictureconvert" pri="28000"/>
  </dgm:catLst>
  <dgm:sampData useDef="1">
    <dgm:dataModel>
      <dgm:pt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dir/>
      <dgm:animLvl val="lvl"/>
      <dgm:resizeHandles val="exact"/>
    </dgm:varLst>
    <dgm:choose name="Name0">
      <dgm:if name="Name1" axis="self"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08"/>
      <dgm:constr type="sp" refType="w" refFor="ch" refForName="compNode" op="equ" fact="0.16"/>
      <dgm:constr type="primFontSz" for="des" forName="parentText" op="equ" val="65"/>
      <dgm:constr type="primFontSz" for="des" forName="childRect" op="equ" val="65"/>
    </dgm:constrLst>
    <dgm:ruleLst/>
    <dgm:forEach name="nodesForEach" axis="ch" ptType="node">
      <dgm:layoutNode name="compNode">
        <dgm:alg type="composite">
          <dgm:param type="ar" val="0.943"/>
        </dgm:alg>
        <dgm:shape xmlns:r="http://schemas.openxmlformats.org/officeDocument/2006/relationships" r:blip="">
          <dgm:adjLst/>
        </dgm:shape>
        <dgm:presOf/>
        <dgm:choose name="Name3">
          <dgm:if name="Name4" axis="self" func="var" arg="dir" op="equ" val="norm">
            <dgm:constrLst>
              <dgm:constr type="w" val="1"/>
              <dgm:constr type="h" refType="w" fact="1.06"/>
              <dgm:constr type="h" for="ch" forName="childRect" refType="h" fact="0.65"/>
              <dgm:constr type="w" for="ch" forName="childRect" refType="w" fact="0.923"/>
              <dgm:constr type="l" for="ch" forName="childRect"/>
              <dgm:constr type="t" for="ch" forName="childRect"/>
              <dgm:constr type="w" for="ch" forName="parentText" refType="w" fact="0.65"/>
              <dgm:constr type="h" for="ch" forName="parentText" refType="h" refFor="ch" refForName="childRect" fact="0.43"/>
              <dgm:constr type="l" for="ch" forName="parentText"/>
              <dgm:constr type="t" for="ch" forName="parentText" refType="h" refFor="ch" refForName="childRect"/>
              <dgm:constr type="w" for="ch" forName="parentRect" refType="w" fact="0.923"/>
              <dgm:constr type="h" for="ch" forName="parentRect" refType="h" refFor="ch" refForName="parentText"/>
              <dgm:constr type="l" for="ch" forName="parentRect"/>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r" for="ch" forName="adorn" refType="w"/>
            </dgm:constrLst>
          </dgm:if>
          <dgm:else name="Name5">
            <dgm:constrLst>
              <dgm:constr type="w" val="1"/>
              <dgm:constr type="h" refType="w" fact="1.06"/>
              <dgm:constr type="h" for="ch" forName="childRect" refType="h" fact="0.65"/>
              <dgm:constr type="w" for="ch" forName="childRect" refType="w" fact="0.923"/>
              <dgm:constr type="r" for="ch" forName="childRect" refType="w"/>
              <dgm:constr type="t" for="ch" forName="childRect"/>
              <dgm:constr type="w" for="ch" forName="parentText" refType="w" fact="0.65"/>
              <dgm:constr type="h" for="ch" forName="parentText" refType="h" refFor="ch" refForName="childRect" fact="0.43"/>
              <dgm:constr type="r" for="ch" forName="parentText" refType="w"/>
              <dgm:constr type="t" for="ch" forName="parentText" refType="h" refFor="ch" refForName="childRect"/>
              <dgm:constr type="w" for="ch" forName="parentRect" refType="w" fact="0.923"/>
              <dgm:constr type="h" for="ch" forName="parentRect" refType="h" refFor="ch" refForName="parentText"/>
              <dgm:constr type="r" for="ch" forName="parentRect" refType="w"/>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l" for="ch" forName="adorn"/>
            </dgm:constrLst>
          </dgm:else>
        </dgm:choose>
        <dgm:ruleLst/>
        <dgm:layoutNode name="childRect" styleLbl="bgAcc1">
          <dgm:varLst>
            <dgm:bulletEnabled val="1"/>
          </dgm:varLst>
          <dgm:alg type="tx">
            <dgm:param type="stBulletLvl" val="1"/>
          </dgm:alg>
          <dgm:shape xmlns:r="http://schemas.openxmlformats.org/officeDocument/2006/relationships" type="round2SameRect" r:blip="">
            <dgm:adjLst>
              <dgm:adj idx="1" val="0.08"/>
            </dgm:adjLst>
          </dgm:shape>
          <dgm:presOf axis="des" ptType="node"/>
          <dgm:constrLst>
            <dgm:constr type="secFontSz" refType="primFontSz"/>
            <dgm:constr type="tMarg" refType="primFontSz" fact="0.3"/>
            <dgm:constr type="bMarg" refType="primFontSz" fact="0.1"/>
            <dgm:constr type="lMarg" refType="primFontSz" fact="0.1"/>
            <dgm:constr type="rMarg" refType="primFontSz" fact="0.1"/>
          </dgm:constrLst>
          <dgm:ruleLst>
            <dgm:rule type="primFontSz" val="5" fact="NaN" max="NaN"/>
          </dgm:ruleLst>
        </dgm:layoutNode>
        <dgm:layoutNode name="parentText">
          <dgm:varLst>
            <dgm:chMax val="0"/>
            <dgm:bulletEnabled val="1"/>
          </dgm:varLst>
          <dgm:choose name="Name6">
            <dgm:if name="Name7" func="var" arg="dir" op="equ" val="norm">
              <dgm:alg type="tx">
                <dgm:param type="parTxLTRAlign" val="l"/>
                <dgm:param type="parTxRTLAlign" val="l"/>
              </dgm:alg>
            </dgm:if>
            <dgm:else name="Name8">
              <dgm:alg type="tx">
                <dgm:param type="parTxLTRAlign" val="r"/>
                <dgm:param type="parTxRTLAlign" val="r"/>
              </dgm:alg>
            </dgm:else>
          </dgm:choose>
          <dgm:shape xmlns:r="http://schemas.openxmlformats.org/officeDocument/2006/relationships" type="rect" r:blip="" zOrderOff="1" hideGeom="1">
            <dgm:adjLst/>
          </dgm:shape>
          <dgm:presOf axis="self" ptType="node"/>
          <dgm:constrLst>
            <dgm:constr type="tMarg"/>
            <dgm:constr type="bMarg"/>
            <dgm:constr type="lMarg" refType="primFontSz" fact="0.3"/>
            <dgm:constr type="rMarg" refType="primFontSz" fact="0.1"/>
          </dgm:constrLst>
          <dgm:ruleLst>
            <dgm:rule type="primFontSz" val="5" fact="NaN" max="NaN"/>
          </dgm:ruleLst>
        </dgm:layoutNode>
        <dgm:layoutNode name="parentRect" styleLbl="alignNode1">
          <dgm:alg type="sp"/>
          <dgm:shape xmlns:r="http://schemas.openxmlformats.org/officeDocument/2006/relationships" type="rect" r:blip="">
            <dgm:adjLst/>
          </dgm:shape>
          <dgm:presOf axis="self" ptType="node"/>
          <dgm:constrLst/>
          <dgm:ruleLst/>
        </dgm:layoutNode>
        <dgm:layoutNode name="adorn" styleLbl="fgAccFollowNod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constr type="w" val="1"/>
            <dgm:constr type="h" refType="w"/>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1">
  <dgm:title val=""/>
  <dgm:desc val=""/>
  <dgm:catLst>
    <dgm:cat type="3D" pri="11100"/>
  </dgm:catLst>
  <dgm:scene3d>
    <a:camera prst="orthographicFront"/>
    <a:lightRig rig="threePt" dir="t"/>
  </dgm:scene3d>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3"/>
            <a:ext cx="3169920" cy="481726"/>
          </a:xfrm>
          <a:prstGeom prst="rect">
            <a:avLst/>
          </a:prstGeom>
        </p:spPr>
        <p:txBody>
          <a:bodyPr vert="horz" lIns="95178" tIns="47590" rIns="95178" bIns="47590" rtlCol="0"/>
          <a:lstStyle>
            <a:lvl1pPr algn="l">
              <a:defRPr sz="1200"/>
            </a:lvl1pPr>
          </a:lstStyle>
          <a:p>
            <a:endParaRPr lang="en-US" dirty="0"/>
          </a:p>
        </p:txBody>
      </p:sp>
      <p:sp>
        <p:nvSpPr>
          <p:cNvPr id="3" name="Date Placeholder 2"/>
          <p:cNvSpPr>
            <a:spLocks noGrp="1"/>
          </p:cNvSpPr>
          <p:nvPr>
            <p:ph type="dt" idx="1"/>
          </p:nvPr>
        </p:nvSpPr>
        <p:spPr>
          <a:xfrm>
            <a:off x="4143587" y="3"/>
            <a:ext cx="3169920" cy="481726"/>
          </a:xfrm>
          <a:prstGeom prst="rect">
            <a:avLst/>
          </a:prstGeom>
        </p:spPr>
        <p:txBody>
          <a:bodyPr vert="horz" lIns="95178" tIns="47590" rIns="95178" bIns="47590" rtlCol="0"/>
          <a:lstStyle>
            <a:lvl1pPr algn="r">
              <a:defRPr sz="1200"/>
            </a:lvl1pPr>
          </a:lstStyle>
          <a:p>
            <a:fld id="{7444AE22-21A2-46C1-A42F-3B4E8AE858E0}" type="datetimeFigureOut">
              <a:rPr lang="en-US" smtClean="0"/>
              <a:t>10/28/2024</a:t>
            </a:fld>
            <a:endParaRPr lang="en-US" dirty="0"/>
          </a:p>
        </p:txBody>
      </p:sp>
      <p:sp>
        <p:nvSpPr>
          <p:cNvPr id="4" name="Slide Image Placeholder 3"/>
          <p:cNvSpPr>
            <a:spLocks noGrp="1" noRot="1" noChangeAspect="1"/>
          </p:cNvSpPr>
          <p:nvPr>
            <p:ph type="sldImg" idx="2"/>
          </p:nvPr>
        </p:nvSpPr>
        <p:spPr>
          <a:xfrm>
            <a:off x="779463" y="1200150"/>
            <a:ext cx="5756275" cy="3238500"/>
          </a:xfrm>
          <a:prstGeom prst="rect">
            <a:avLst/>
          </a:prstGeom>
          <a:noFill/>
          <a:ln w="12700">
            <a:solidFill>
              <a:prstClr val="black"/>
            </a:solidFill>
          </a:ln>
        </p:spPr>
        <p:txBody>
          <a:bodyPr vert="horz" lIns="95178" tIns="47590" rIns="95178" bIns="47590" rtlCol="0" anchor="ctr"/>
          <a:lstStyle/>
          <a:p>
            <a:endParaRPr lang="en-US" dirty="0"/>
          </a:p>
        </p:txBody>
      </p:sp>
      <p:sp>
        <p:nvSpPr>
          <p:cNvPr id="5" name="Notes Placeholder 4"/>
          <p:cNvSpPr>
            <a:spLocks noGrp="1"/>
          </p:cNvSpPr>
          <p:nvPr>
            <p:ph type="body" sz="quarter" idx="3"/>
          </p:nvPr>
        </p:nvSpPr>
        <p:spPr>
          <a:xfrm>
            <a:off x="731520" y="4620580"/>
            <a:ext cx="5852160" cy="3780473"/>
          </a:xfrm>
          <a:prstGeom prst="rect">
            <a:avLst/>
          </a:prstGeom>
        </p:spPr>
        <p:txBody>
          <a:bodyPr vert="horz" lIns="95178" tIns="47590" rIns="95178" bIns="4759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7"/>
            <a:ext cx="3169920" cy="481725"/>
          </a:xfrm>
          <a:prstGeom prst="rect">
            <a:avLst/>
          </a:prstGeom>
        </p:spPr>
        <p:txBody>
          <a:bodyPr vert="horz" lIns="95178" tIns="47590" rIns="95178" bIns="47590" rtlCol="0" anchor="b"/>
          <a:lstStyle>
            <a:lvl1pPr algn="l">
              <a:defRPr sz="1200"/>
            </a:lvl1pPr>
          </a:lstStyle>
          <a:p>
            <a:endParaRPr lang="en-US" dirty="0"/>
          </a:p>
        </p:txBody>
      </p:sp>
      <p:sp>
        <p:nvSpPr>
          <p:cNvPr id="7" name="Slide Number Placeholder 6"/>
          <p:cNvSpPr>
            <a:spLocks noGrp="1"/>
          </p:cNvSpPr>
          <p:nvPr>
            <p:ph type="sldNum" sz="quarter" idx="5"/>
          </p:nvPr>
        </p:nvSpPr>
        <p:spPr>
          <a:xfrm>
            <a:off x="4143587" y="9119477"/>
            <a:ext cx="3169920" cy="481725"/>
          </a:xfrm>
          <a:prstGeom prst="rect">
            <a:avLst/>
          </a:prstGeom>
        </p:spPr>
        <p:txBody>
          <a:bodyPr vert="horz" lIns="95178" tIns="47590" rIns="95178" bIns="47590" rtlCol="0" anchor="b"/>
          <a:lstStyle>
            <a:lvl1pPr algn="r">
              <a:defRPr sz="1200"/>
            </a:lvl1pPr>
          </a:lstStyle>
          <a:p>
            <a:fld id="{4139CA89-B4B2-4050-B038-8DF8E3A33516}" type="slidenum">
              <a:rPr lang="en-US" smtClean="0"/>
              <a:t>‹#›</a:t>
            </a:fld>
            <a:endParaRPr lang="en-US" dirty="0"/>
          </a:p>
        </p:txBody>
      </p:sp>
    </p:spTree>
    <p:extLst>
      <p:ext uri="{BB962C8B-B14F-4D97-AF65-F5344CB8AC3E}">
        <p14:creationId xmlns:p14="http://schemas.microsoft.com/office/powerpoint/2010/main" val="1101228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4139CA89-B4B2-4050-B038-8DF8E3A33516}" type="slidenum">
              <a:rPr lang="en-US" smtClean="0"/>
              <a:t>10</a:t>
            </a:fld>
            <a:endParaRPr lang="en-US" dirty="0"/>
          </a:p>
        </p:txBody>
      </p:sp>
    </p:spTree>
    <p:extLst>
      <p:ext uri="{BB962C8B-B14F-4D97-AF65-F5344CB8AC3E}">
        <p14:creationId xmlns:p14="http://schemas.microsoft.com/office/powerpoint/2010/main" val="31893513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1A9E3A3-CB7F-45DB-8359-15D56BF69054}" type="datetime1">
              <a:rPr lang="en-US" smtClean="0"/>
              <a:t>10/28/2024</a:t>
            </a:fld>
            <a:endParaRPr lang="en-US" dirty="0"/>
          </a:p>
        </p:txBody>
      </p:sp>
      <p:sp>
        <p:nvSpPr>
          <p:cNvPr id="5" name="Footer Placeholder 4"/>
          <p:cNvSpPr>
            <a:spLocks noGrp="1"/>
          </p:cNvSpPr>
          <p:nvPr>
            <p:ph type="ftr" sz="quarter" idx="11"/>
          </p:nvPr>
        </p:nvSpPr>
        <p:spPr/>
        <p:txBody>
          <a:bodyPr/>
          <a:lstStyle>
            <a:lvl1pPr>
              <a:defRPr>
                <a:solidFill>
                  <a:srgbClr val="3C3935"/>
                </a:solidFill>
              </a:defRPr>
            </a:lvl1p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46426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1" y="6471095"/>
            <a:ext cx="2743200" cy="250380"/>
          </a:xfrm>
        </p:spPr>
        <p:txBody>
          <a:bodyPr/>
          <a:lstStyle/>
          <a:p>
            <a:fld id="{F72A7C2C-8CBA-48FC-B47E-140B6C446377}" type="datetime1">
              <a:rPr lang="en-US" smtClean="0"/>
              <a:t>10/28/2024</a:t>
            </a:fld>
            <a:endParaRPr lang="en-US" dirty="0"/>
          </a:p>
        </p:txBody>
      </p:sp>
      <p:sp>
        <p:nvSpPr>
          <p:cNvPr id="5" name="Footer Placeholder 4"/>
          <p:cNvSpPr>
            <a:spLocks noGrp="1"/>
          </p:cNvSpPr>
          <p:nvPr>
            <p:ph type="ftr" sz="quarter" idx="11"/>
          </p:nvPr>
        </p:nvSpPr>
        <p:spPr>
          <a:xfrm>
            <a:off x="4038602" y="6471095"/>
            <a:ext cx="4114800" cy="250380"/>
          </a:xfrm>
        </p:spPr>
        <p:txBody>
          <a:bodyPr/>
          <a:lstStyle>
            <a:lvl1pPr>
              <a:defRPr u="none" spc="300"/>
            </a:lvl1pPr>
          </a:lstStyle>
          <a:p>
            <a:r>
              <a:rPr lang="en-US" dirty="0"/>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250943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FFEA2DF-E8B3-4F59-892A-C88743D6614D}" type="datetime1">
              <a:rPr lang="en-US" smtClean="0"/>
              <a:t>10/28/2024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68875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B0F09CE-D3E6-4C73-9F86-6AA671224F8D}" type="datetime1">
              <a:rPr lang="en-US" smtClean="0"/>
              <a:t>10/28/2024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858114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3AF486B-7A2A-4144-9105-81B5F9A702C4}" type="datetime1">
              <a:rPr lang="en-US" smtClean="0"/>
              <a:t>10/28/2024</a:t>
            </a:fld>
            <a:endParaRPr lang="en-US" dirty="0"/>
          </a:p>
        </p:txBody>
      </p:sp>
      <p:sp>
        <p:nvSpPr>
          <p:cNvPr id="8" name="Footer Placeholder 7"/>
          <p:cNvSpPr>
            <a:spLocks noGrp="1"/>
          </p:cNvSpPr>
          <p:nvPr>
            <p:ph type="ftr" sz="quarter" idx="11"/>
          </p:nvPr>
        </p:nvSpPr>
        <p:spPr/>
        <p:txBody>
          <a:bodyPr/>
          <a:lstStyle/>
          <a:p>
            <a:r>
              <a:rPr lang="en-US" dirty="0"/>
              <a:t>Key Benefit Administrators</a:t>
            </a:r>
          </a:p>
        </p:txBody>
      </p:sp>
      <p:sp>
        <p:nvSpPr>
          <p:cNvPr id="9" name="Slide Number Placeholder 8"/>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74090408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Date Placeholder 2"/>
          <p:cNvSpPr>
            <a:spLocks noGrp="1"/>
          </p:cNvSpPr>
          <p:nvPr>
            <p:ph type="dt" sz="half" idx="10"/>
          </p:nvPr>
        </p:nvSpPr>
        <p:spPr>
          <a:xfrm>
            <a:off x="838201" y="6480530"/>
            <a:ext cx="2743200" cy="365125"/>
          </a:xfrm>
        </p:spPr>
        <p:txBody>
          <a:bodyPr/>
          <a:lstStyle/>
          <a:p>
            <a:fld id="{13273CBB-1638-4F86-93C5-F289BAB372F8}" type="datetime1">
              <a:rPr lang="en-US" smtClean="0"/>
              <a:t>10/28/2024</a:t>
            </a:fld>
            <a:endParaRPr lang="en-US" dirty="0"/>
          </a:p>
        </p:txBody>
      </p:sp>
      <p:sp>
        <p:nvSpPr>
          <p:cNvPr id="4" name="Footer Placeholder 3"/>
          <p:cNvSpPr>
            <a:spLocks noGrp="1"/>
          </p:cNvSpPr>
          <p:nvPr>
            <p:ph type="ftr" sz="quarter" idx="11"/>
          </p:nvPr>
        </p:nvSpPr>
        <p:spPr>
          <a:xfrm>
            <a:off x="4038602" y="6480530"/>
            <a:ext cx="4114800" cy="365125"/>
          </a:xfrm>
        </p:spPr>
        <p:txBody>
          <a:bodyPr/>
          <a:lstStyle/>
          <a:p>
            <a:r>
              <a:rPr lang="en-US" dirty="0"/>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005804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1223EA-AE71-4F47-9CA1-AC76DEC2B9E8}" type="datetime1">
              <a:rPr lang="en-US" smtClean="0"/>
              <a:t>10/28/2024</a:t>
            </a:fld>
            <a:endParaRPr lang="en-US" dirty="0"/>
          </a:p>
        </p:txBody>
      </p:sp>
      <p:sp>
        <p:nvSpPr>
          <p:cNvPr id="3" name="Footer Placeholder 2"/>
          <p:cNvSpPr>
            <a:spLocks noGrp="1"/>
          </p:cNvSpPr>
          <p:nvPr>
            <p:ph type="ftr" sz="quarter" idx="11"/>
          </p:nvPr>
        </p:nvSpPr>
        <p:spPr/>
        <p:txBody>
          <a:bodyPr/>
          <a:lstStyle/>
          <a:p>
            <a:r>
              <a:rPr lang="en-US" dirty="0"/>
              <a:t>Key Benefit Administrators</a:t>
            </a:r>
          </a:p>
        </p:txBody>
      </p:sp>
      <p:sp>
        <p:nvSpPr>
          <p:cNvPr id="4" name="Slide Number Placeholder 3"/>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1010469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9B31445-0B45-4F5C-971D-F971BB7E35C1}" type="datetime1">
              <a:rPr lang="en-US" smtClean="0"/>
              <a:t>10/28/2024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84453480"/>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dirty="0"/>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EE79F89-B9FD-40DA-A4A8-5549A4F97D5C}" type="datetime1">
              <a:rPr lang="en-US" smtClean="0"/>
              <a:t>10/28/2024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90475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CDCB60-C599-4AF2-9C31-DCD390D25F3F}" type="datetime1">
              <a:rPr lang="en-US" smtClean="0"/>
              <a:t>10/28/2024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3752236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87DF3D-F650-432E-A6F6-439A0FF53FA0}" type="datetime1">
              <a:rPr lang="en-US" smtClean="0"/>
              <a:t>10/28/2024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8998819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CD48873-4569-48AE-9711-BF92EE297A77}" type="datetime1">
              <a:rPr lang="en-US" smtClean="0"/>
              <a:t>10/28/2024</a:t>
            </a:fld>
            <a:endParaRPr lang="en-US" dirty="0"/>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defRPr>
            </a:lvl1pPr>
          </a:lstStyle>
          <a:p>
            <a:r>
              <a:rPr lang="en-US" dirty="0"/>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AFC719D-C4A7-4544-876E-D411D11AF6C9}" type="slidenum">
              <a:rPr lang="en-US" smtClean="0"/>
              <a:t>‹#›</a:t>
            </a:fld>
            <a:endParaRPr lang="en-US" dirty="0"/>
          </a:p>
        </p:txBody>
      </p:sp>
    </p:spTree>
    <p:custDataLst>
      <p:tags r:id="rId13"/>
    </p:custDataLst>
    <p:extLst>
      <p:ext uri="{BB962C8B-B14F-4D97-AF65-F5344CB8AC3E}">
        <p14:creationId xmlns:p14="http://schemas.microsoft.com/office/powerpoint/2010/main" val="3019070536"/>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hf hdr="0" dt="0"/>
  <p:txStyles>
    <p:titleStyle>
      <a:lvl1pPr algn="l" defTabSz="914411"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3.png"/><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1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24.jpeg"/><Relationship Id="rId1" Type="http://schemas.openxmlformats.org/officeDocument/2006/relationships/slideLayout" Target="../slideLayouts/slideLayout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3.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9.jpeg"/><Relationship Id="rId7" Type="http://schemas.openxmlformats.org/officeDocument/2006/relationships/image" Target="../media/image33.jpeg"/><Relationship Id="rId2" Type="http://schemas.openxmlformats.org/officeDocument/2006/relationships/image" Target="../media/image28.png"/><Relationship Id="rId1" Type="http://schemas.openxmlformats.org/officeDocument/2006/relationships/slideLayout" Target="../slideLayouts/slideLayout6.xml"/><Relationship Id="rId6" Type="http://schemas.openxmlformats.org/officeDocument/2006/relationships/image" Target="../media/image32.png"/><Relationship Id="rId5" Type="http://schemas.openxmlformats.org/officeDocument/2006/relationships/image" Target="../media/image31.png"/><Relationship Id="rId10" Type="http://schemas.openxmlformats.org/officeDocument/2006/relationships/image" Target="../media/image36.jpeg"/><Relationship Id="rId4" Type="http://schemas.openxmlformats.org/officeDocument/2006/relationships/image" Target="../media/image30.png"/><Relationship Id="rId9" Type="http://schemas.openxmlformats.org/officeDocument/2006/relationships/image" Target="../media/image35.png"/></Relationships>
</file>

<file path=ppt/slides/_rels/slide24.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image" Target="../media/image37.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hyperlink" Target="https://data.cms.gov/provider-compliance/cost-report/hospital-provider-cost-report/data"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hyperlink" Target="https://www.physiciansadvocacyinstitute.org/Portals/0/assets/docs/PAI-Research/PAI-Avalere%20Physician%20Employment%20Trends%20Study%202019-2023%20Final.pdf?ver=uGHF46u1GSeZgYXMKFyYvw%3d%3d"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jpeg"/><Relationship Id="rId1" Type="http://schemas.openxmlformats.org/officeDocument/2006/relationships/slideLayout" Target="../slideLayouts/slideLayout2.xml"/><Relationship Id="rId6" Type="http://schemas.openxmlformats.org/officeDocument/2006/relationships/image" Target="../media/image42.jpeg"/><Relationship Id="rId5" Type="http://schemas.openxmlformats.org/officeDocument/2006/relationships/image" Target="../media/image41.jpeg"/><Relationship Id="rId4" Type="http://schemas.microsoft.com/office/2007/relationships/hdphoto" Target="../media/hdphoto2.wdp"/></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43.jpeg"/><Relationship Id="rId1" Type="http://schemas.openxmlformats.org/officeDocument/2006/relationships/slideLayout" Target="../slideLayouts/slideLayout6.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41.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43.jpeg"/><Relationship Id="rId1" Type="http://schemas.openxmlformats.org/officeDocument/2006/relationships/slideLayout" Target="../slideLayouts/slideLayout6.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42.xml.rels><?xml version="1.0" encoding="UTF-8" standalone="yes"?>
<Relationships xmlns="http://schemas.openxmlformats.org/package/2006/relationships"><Relationship Id="rId8" Type="http://schemas.openxmlformats.org/officeDocument/2006/relationships/image" Target="../media/image50.svg"/><Relationship Id="rId3" Type="http://schemas.openxmlformats.org/officeDocument/2006/relationships/image" Target="../media/image45.png"/><Relationship Id="rId7" Type="http://schemas.openxmlformats.org/officeDocument/2006/relationships/image" Target="../media/image49.png"/><Relationship Id="rId2" Type="http://schemas.openxmlformats.org/officeDocument/2006/relationships/image" Target="../media/image44.jpeg"/><Relationship Id="rId1" Type="http://schemas.openxmlformats.org/officeDocument/2006/relationships/slideLayout" Target="../slideLayouts/slideLayout6.xml"/><Relationship Id="rId6" Type="http://schemas.openxmlformats.org/officeDocument/2006/relationships/image" Target="../media/image48.svg"/><Relationship Id="rId11" Type="http://schemas.openxmlformats.org/officeDocument/2006/relationships/image" Target="../media/image6.png"/><Relationship Id="rId5" Type="http://schemas.openxmlformats.org/officeDocument/2006/relationships/image" Target="../media/image47.png"/><Relationship Id="rId10" Type="http://schemas.openxmlformats.org/officeDocument/2006/relationships/image" Target="../media/image52.svg"/><Relationship Id="rId4" Type="http://schemas.openxmlformats.org/officeDocument/2006/relationships/image" Target="../media/image46.svg"/><Relationship Id="rId9" Type="http://schemas.openxmlformats.org/officeDocument/2006/relationships/image" Target="../media/image5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3"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1</a:t>
            </a:fld>
            <a:endParaRPr lang="en-US" dirty="0"/>
          </a:p>
        </p:txBody>
      </p:sp>
      <p:sp>
        <p:nvSpPr>
          <p:cNvPr id="4"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9">
            <a:extLst>
              <a:ext uri="{FF2B5EF4-FFF2-40B4-BE49-F238E27FC236}">
                <a16:creationId xmlns:a16="http://schemas.microsoft.com/office/drawing/2014/main" id="{B981BBA2-A3ED-6F7B-693B-880E5B031B26}"/>
              </a:ext>
            </a:extLst>
          </p:cNvPr>
          <p:cNvSpPr txBox="1"/>
          <p:nvPr/>
        </p:nvSpPr>
        <p:spPr>
          <a:xfrm>
            <a:off x="896984" y="0"/>
            <a:ext cx="11295016" cy="707886"/>
          </a:xfrm>
          <a:prstGeom prst="rect">
            <a:avLst/>
          </a:prstGeom>
          <a:solidFill>
            <a:srgbClr val="30589B"/>
          </a:solidFill>
          <a:ln>
            <a:noFill/>
          </a:ln>
        </p:spPr>
        <p:txBody>
          <a:bodyPr wrap="square" rtlCol="0">
            <a:spAutoFit/>
          </a:bodyPr>
          <a:lstStyle/>
          <a:p>
            <a:r>
              <a:rPr lang="en-US" sz="2000" b="1" dirty="0">
                <a:solidFill>
                  <a:schemeClr val="bg1"/>
                </a:solidFill>
              </a:rPr>
              <a:t>CLEVELAND CLINIC DIRECT-TO-EMPLOYER PLAN </a:t>
            </a:r>
          </a:p>
          <a:p>
            <a:r>
              <a:rPr lang="en-US" sz="2000" b="1" dirty="0">
                <a:solidFill>
                  <a:schemeClr val="bg1"/>
                </a:solidFill>
              </a:rPr>
              <a:t>October 22, 2024</a:t>
            </a:r>
          </a:p>
        </p:txBody>
      </p:sp>
      <p:pic>
        <p:nvPicPr>
          <p:cNvPr id="6" name="Picture 5" descr="A close-up of a logo&#10;&#10;Description automatically generated with medium confidence">
            <a:extLst>
              <a:ext uri="{FF2B5EF4-FFF2-40B4-BE49-F238E27FC236}">
                <a16:creationId xmlns:a16="http://schemas.microsoft.com/office/drawing/2014/main" id="{F66A7945-0E55-35D5-B6B3-1588521B85C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016318" y="735756"/>
            <a:ext cx="1493520" cy="818092"/>
          </a:xfrm>
          <a:prstGeom prst="rect">
            <a:avLst/>
          </a:prstGeom>
        </p:spPr>
      </p:pic>
      <p:pic>
        <p:nvPicPr>
          <p:cNvPr id="7" name="Content Placeholder 6"/>
          <p:cNvPicPr>
            <a:picLocks noGrp="1"/>
          </p:cNvPicPr>
          <p:nvPr>
            <p:ph/>
          </p:nvPr>
        </p:nvPicPr>
        <p:blipFill>
          <a:blip r:embed="rId3" cstate="print"/>
          <a:stretch>
            <a:fillRect/>
          </a:stretch>
        </p:blipFill>
        <p:spPr>
          <a:xfrm>
            <a:off x="987552" y="1636776"/>
            <a:ext cx="11201400" cy="5221224"/>
          </a:xfrm>
          <a:prstGeom prst="rect">
            <a:avLst/>
          </a:prstGeom>
        </p:spPr>
      </p:pic>
      <p:pic>
        <p:nvPicPr>
          <p:cNvPr id="8" name="Content Placeholder 7"/>
          <p:cNvPicPr>
            <a:picLocks noGrp="1" noChangeAspect="1"/>
          </p:cNvPicPr>
          <p:nvPr>
            <p:ph/>
          </p:nvPr>
        </p:nvPicPr>
        <p:blipFill>
          <a:blip r:embed="rId4" cstate="print"/>
          <a:stretch>
            <a:fillRect/>
          </a:stretch>
        </p:blipFill>
        <p:spPr>
          <a:xfrm>
            <a:off x="9002825" y="892412"/>
            <a:ext cx="2936914" cy="468071"/>
          </a:xfrm>
          <a:prstGeom prst="rect">
            <a:avLst/>
          </a:prstGeom>
        </p:spPr>
      </p:pic>
    </p:spTree>
    <p:extLst>
      <p:ext uri="{BB962C8B-B14F-4D97-AF65-F5344CB8AC3E}">
        <p14:creationId xmlns:p14="http://schemas.microsoft.com/office/powerpoint/2010/main" val="6367270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6">
            <a:extLst>
              <a:ext uri="{FF2B5EF4-FFF2-40B4-BE49-F238E27FC236}">
                <a16:creationId xmlns:a16="http://schemas.microsoft.com/office/drawing/2014/main" id="{BB5D2E5F-7796-4A80-A1F0-244E8AA938D3}"/>
              </a:ext>
            </a:extLst>
          </p:cNvPr>
          <p:cNvSpPr/>
          <p:nvPr/>
        </p:nvSpPr>
        <p:spPr>
          <a:xfrm>
            <a:off x="0" y="0"/>
            <a:ext cx="3095625" cy="6845654"/>
          </a:xfrm>
          <a:prstGeom prst="rect">
            <a:avLst/>
          </a:prstGeom>
          <a:gradFill flip="none" rotWithShape="1">
            <a:gsLst>
              <a:gs pos="0">
                <a:srgbClr val="C6C5C5"/>
              </a:gs>
              <a:gs pos="68000">
                <a:srgbClr val="B7B6B6"/>
              </a:gs>
              <a:gs pos="43000">
                <a:srgbClr val="A8A7A7"/>
              </a:gs>
              <a:gs pos="93000">
                <a:srgbClr val="A8A7A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4" descr="Key Benefit Administrators Office Photos | Glassdoor">
            <a:extLst>
              <a:ext uri="{FF2B5EF4-FFF2-40B4-BE49-F238E27FC236}">
                <a16:creationId xmlns:a16="http://schemas.microsoft.com/office/drawing/2014/main" id="{6CEA05B0-D867-49BD-BC20-745975B6F4C1}"/>
              </a:ext>
            </a:extLst>
          </p:cNvPr>
          <p:cNvPicPr>
            <a:picLocks noChangeAspect="1" noChangeArrowheads="1"/>
          </p:cNvPicPr>
          <p:nvPr/>
        </p:nvPicPr>
        <p:blipFill rotWithShape="1">
          <a:blip r:embed="rId2" cstate="screen">
            <a:duotone>
              <a:schemeClr val="bg2">
                <a:shade val="45000"/>
                <a:satMod val="135000"/>
              </a:schemeClr>
              <a:prstClr val="white"/>
            </a:duotone>
            <a:extLst>
              <a:ext uri="{28A0092B-C50C-407E-A947-70E740481C1C}">
                <a14:useLocalDpi xmlns:a14="http://schemas.microsoft.com/office/drawing/2010/main"/>
              </a:ext>
            </a:extLst>
          </a:blip>
          <a:srcRect/>
          <a:stretch/>
        </p:blipFill>
        <p:spPr bwMode="auto">
          <a:xfrm>
            <a:off x="2828926" y="0"/>
            <a:ext cx="9363075" cy="685800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1">
            <a:extLst>
              <a:ext uri="{FF2B5EF4-FFF2-40B4-BE49-F238E27FC236}">
                <a16:creationId xmlns:a16="http://schemas.microsoft.com/office/drawing/2014/main" id="{F9E7BDA1-C2F0-47FC-8E35-E6C155FA11C4}"/>
              </a:ext>
            </a:extLst>
          </p:cNvPr>
          <p:cNvPicPr>
            <a:picLocks noChangeAspect="1"/>
          </p:cNvPicPr>
          <p:nvPr/>
        </p:nvPicPr>
        <p:blipFill>
          <a:blip r:embed="rId3"/>
          <a:stretch>
            <a:fillRect/>
          </a:stretch>
        </p:blipFill>
        <p:spPr>
          <a:xfrm rot="10800000">
            <a:off x="0" y="-4227"/>
            <a:ext cx="3000375" cy="1000125"/>
          </a:xfrm>
          <a:prstGeom prst="rect">
            <a:avLst/>
          </a:prstGeom>
        </p:spPr>
      </p:pic>
      <p:sp>
        <p:nvSpPr>
          <p:cNvPr id="5" name="Slide Number Placeholder 3">
            <a:extLst>
              <a:ext uri="{FF2B5EF4-FFF2-40B4-BE49-F238E27FC236}">
                <a16:creationId xmlns:a16="http://schemas.microsoft.com/office/drawing/2014/main" id="{49B0828E-DA28-4FBB-9235-C683F78A9575}"/>
              </a:ext>
            </a:extLst>
          </p:cNvPr>
          <p:cNvSpPr>
            <a:spLocks noGrp="1"/>
          </p:cNvSpPr>
          <p:nvPr>
            <p:ph type="sldNum" sz="quarter" idx="12"/>
          </p:nvPr>
        </p:nvSpPr>
        <p:spPr/>
        <p:txBody>
          <a:bodyPr/>
          <a:lstStyle/>
          <a:p>
            <a:fld id="{3AFC719D-C4A7-4544-876E-D411D11AF6C9}" type="slidenum">
              <a:rPr lang="en-US" smtClean="0"/>
              <a:t>2</a:t>
            </a:fld>
            <a:endParaRPr lang="en-US" dirty="0"/>
          </a:p>
        </p:txBody>
      </p:sp>
      <p:sp>
        <p:nvSpPr>
          <p:cNvPr id="6" name="Rectangle 23">
            <a:extLst>
              <a:ext uri="{FF2B5EF4-FFF2-40B4-BE49-F238E27FC236}">
                <a16:creationId xmlns:a16="http://schemas.microsoft.com/office/drawing/2014/main" id="{88F9B5E8-D3C0-4885-9F6B-379525D51687}"/>
              </a:ext>
            </a:extLst>
          </p:cNvPr>
          <p:cNvSpPr/>
          <p:nvPr/>
        </p:nvSpPr>
        <p:spPr>
          <a:xfrm>
            <a:off x="-3796" y="1415180"/>
            <a:ext cx="7385671" cy="5439997"/>
          </a:xfrm>
          <a:prstGeom prst="rect">
            <a:avLst/>
          </a:prstGeom>
          <a:gradFill flip="none" rotWithShape="1">
            <a:gsLst>
              <a:gs pos="0">
                <a:srgbClr val="C6C5C5"/>
              </a:gs>
              <a:gs pos="68000">
                <a:srgbClr val="B7B6B6"/>
              </a:gs>
              <a:gs pos="43000">
                <a:srgbClr val="A8A7A7"/>
              </a:gs>
              <a:gs pos="93000">
                <a:srgbClr val="A8A7A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Single Corner Rounded 4">
            <a:extLst>
              <a:ext uri="{FF2B5EF4-FFF2-40B4-BE49-F238E27FC236}">
                <a16:creationId xmlns:a16="http://schemas.microsoft.com/office/drawing/2014/main" id="{AD1D7B3D-91CE-4826-90BB-5F92F8BB9481}"/>
              </a:ext>
            </a:extLst>
          </p:cNvPr>
          <p:cNvSpPr/>
          <p:nvPr/>
        </p:nvSpPr>
        <p:spPr>
          <a:xfrm>
            <a:off x="0" y="1009650"/>
            <a:ext cx="7477760" cy="5845528"/>
          </a:xfrm>
          <a:prstGeom prst="round1Rect">
            <a:avLst>
              <a:gd name="adj" fmla="val 12082"/>
            </a:avLst>
          </a:prstGeom>
          <a:solidFill>
            <a:srgbClr val="254F96">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Ins="274320" rtlCol="0" anchor="ctr"/>
          <a:lstStyle/>
          <a:p>
            <a:pPr marL="457206" lvl="1" defTabSz="914411" fontAlgn="base">
              <a:defRPr/>
            </a:pPr>
            <a:endParaRPr lang="en-US" dirty="0">
              <a:solidFill>
                <a:prstClr val="white"/>
              </a:solidFill>
              <a:latin typeface="Arial" panose="020B0604020202020204" pitchFamily="34" charset="0"/>
              <a:cs typeface="Arial" panose="020B0604020202020204" pitchFamily="34" charset="0"/>
            </a:endParaRPr>
          </a:p>
        </p:txBody>
      </p:sp>
      <p:sp>
        <p:nvSpPr>
          <p:cNvPr id="8" name="Freeform: Shape 5">
            <a:extLst>
              <a:ext uri="{FF2B5EF4-FFF2-40B4-BE49-F238E27FC236}">
                <a16:creationId xmlns:a16="http://schemas.microsoft.com/office/drawing/2014/main" id="{D616A404-B324-4680-9ED6-0746BB2B3A16}"/>
              </a:ext>
            </a:extLst>
          </p:cNvPr>
          <p:cNvSpPr/>
          <p:nvPr/>
        </p:nvSpPr>
        <p:spPr>
          <a:xfrm rot="16200000">
            <a:off x="5385400" y="4759020"/>
            <a:ext cx="1873602" cy="2318710"/>
          </a:xfrm>
          <a:custGeom>
            <a:avLst/>
            <a:gdLst>
              <a:gd name="connsiteX0" fmla="*/ 2160577 w 2160577"/>
              <a:gd name="connsiteY0" fmla="*/ 3114245 h 3114245"/>
              <a:gd name="connsiteX1" fmla="*/ 0 w 2160577"/>
              <a:gd name="connsiteY1" fmla="*/ 3114245 h 3114245"/>
              <a:gd name="connsiteX2" fmla="*/ 0 w 2160577"/>
              <a:gd name="connsiteY2" fmla="*/ 0 h 3114245"/>
              <a:gd name="connsiteX3" fmla="*/ 40185 w 2160577"/>
              <a:gd name="connsiteY3" fmla="*/ 231682 h 3114245"/>
              <a:gd name="connsiteX4" fmla="*/ 2101086 w 2160577"/>
              <a:gd name="connsiteY4" fmla="*/ 3114244 h 3114245"/>
              <a:gd name="connsiteX5" fmla="*/ 2158168 w 2160577"/>
              <a:gd name="connsiteY5" fmla="*/ 3108162 h 311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60577" h="3114245">
                <a:moveTo>
                  <a:pt x="2160577" y="3114245"/>
                </a:moveTo>
                <a:lnTo>
                  <a:pt x="0" y="3114245"/>
                </a:lnTo>
                <a:lnTo>
                  <a:pt x="0" y="0"/>
                </a:lnTo>
                <a:lnTo>
                  <a:pt x="40185" y="231682"/>
                </a:lnTo>
                <a:cubicBezTo>
                  <a:pt x="379730" y="1925643"/>
                  <a:pt x="1174627" y="3114244"/>
                  <a:pt x="2101086" y="3114244"/>
                </a:cubicBezTo>
                <a:lnTo>
                  <a:pt x="2158168" y="3108162"/>
                </a:lnTo>
                <a:close/>
              </a:path>
            </a:pathLst>
          </a:custGeom>
          <a:solidFill>
            <a:srgbClr val="59CAE8">
              <a:alpha val="5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11">
              <a:defRPr/>
            </a:pPr>
            <a:endParaRPr lang="en-US" dirty="0">
              <a:solidFill>
                <a:prstClr val="white"/>
              </a:solidFill>
              <a:latin typeface="Calibri" panose="020F0502020204030204"/>
            </a:endParaRPr>
          </a:p>
        </p:txBody>
      </p:sp>
      <p:sp>
        <p:nvSpPr>
          <p:cNvPr id="9" name="TextBox 6">
            <a:extLst>
              <a:ext uri="{FF2B5EF4-FFF2-40B4-BE49-F238E27FC236}">
                <a16:creationId xmlns:a16="http://schemas.microsoft.com/office/drawing/2014/main" id="{B009B747-65C4-4EA6-8340-1E1EB3FE580D}"/>
              </a:ext>
            </a:extLst>
          </p:cNvPr>
          <p:cNvSpPr txBox="1"/>
          <p:nvPr/>
        </p:nvSpPr>
        <p:spPr>
          <a:xfrm>
            <a:off x="452402" y="2374741"/>
            <a:ext cx="6650809" cy="3785652"/>
          </a:xfrm>
          <a:prstGeom prst="rect">
            <a:avLst/>
          </a:prstGeom>
          <a:noFill/>
        </p:spPr>
        <p:txBody>
          <a:bodyPr wrap="square" rtlCol="0">
            <a:spAutoFit/>
          </a:bodyPr>
          <a:lstStyle/>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Founded in 1979 and headquartered in Indianapolis, IN​</a:t>
            </a:r>
          </a:p>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Full-service TPA specializing in the administration of self-funded health plans and population health management​</a:t>
            </a:r>
          </a:p>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One of the country’s largest independently-owned TPAs </a:t>
            </a:r>
          </a:p>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The Key Family is a commonly-held group of benefits related organizations with:​</a:t>
            </a:r>
          </a:p>
          <a:p>
            <a:pPr marL="742960" lvl="1"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3,000+ corporate clients​</a:t>
            </a:r>
          </a:p>
          <a:p>
            <a:pPr marL="742960" lvl="1"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3.0 million members under management​</a:t>
            </a:r>
          </a:p>
          <a:p>
            <a:pPr marL="742960" lvl="1"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700 Employees</a:t>
            </a:r>
          </a:p>
          <a:p>
            <a:pPr marL="285753" indent="-285753" defTabSz="914411">
              <a:lnSpc>
                <a:spcPct val="150000"/>
              </a:lnSpc>
              <a:spcAft>
                <a:spcPts val="600"/>
              </a:spcAft>
              <a:buFont typeface="Wingdings" panose="05000000000000000000" pitchFamily="2" charset="2"/>
              <a:buChar char="§"/>
            </a:pPr>
            <a:r>
              <a:rPr lang="en-US" sz="1600" spc="150" dirty="0">
                <a:solidFill>
                  <a:schemeClr val="bg1"/>
                </a:solidFill>
                <a:latin typeface="Arial" panose="020B0604020202020204" pitchFamily="34" charset="0"/>
                <a:cs typeface="Arial" panose="020B0604020202020204" pitchFamily="34" charset="0"/>
              </a:rPr>
              <a:t>Exclusive Relationships</a:t>
            </a:r>
          </a:p>
          <a:p>
            <a:pPr marL="285753" indent="-285753" defTabSz="914411">
              <a:spcAft>
                <a:spcPts val="600"/>
              </a:spcAft>
              <a:buFont typeface="Wingdings" panose="05000000000000000000" pitchFamily="2" charset="2"/>
              <a:buChar char="§"/>
            </a:pPr>
            <a:r>
              <a:rPr lang="en-US" sz="1600" spc="150" dirty="0">
                <a:solidFill>
                  <a:schemeClr val="bg1"/>
                </a:solidFill>
                <a:latin typeface="Arial" panose="020B0604020202020204" pitchFamily="34" charset="0"/>
                <a:cs typeface="Arial" panose="020B0604020202020204" pitchFamily="34" charset="0"/>
              </a:rPr>
              <a:t>We know The Market – Agents, Networks, and MGAs</a:t>
            </a:r>
          </a:p>
        </p:txBody>
      </p:sp>
      <p:sp>
        <p:nvSpPr>
          <p:cNvPr id="10" name="Footer Placeholder 2">
            <a:extLst>
              <a:ext uri="{FF2B5EF4-FFF2-40B4-BE49-F238E27FC236}">
                <a16:creationId xmlns:a16="http://schemas.microsoft.com/office/drawing/2014/main" id="{EFB33B55-1AEB-4BBC-9F3F-C887F0C42EF5}"/>
              </a:ext>
            </a:extLst>
          </p:cNvPr>
          <p:cNvSpPr>
            <a:spLocks noGrp="1"/>
          </p:cNvSpPr>
          <p:nvPr>
            <p:ph type="ftr" sz="quarter" idx="11"/>
          </p:nvPr>
        </p:nvSpPr>
        <p:spPr>
          <a:xfrm>
            <a:off x="1307458" y="6360415"/>
            <a:ext cx="4114800" cy="365125"/>
          </a:xfrm>
        </p:spPr>
        <p:txBody>
          <a:bodyPr/>
          <a:lstStyle/>
          <a:p>
            <a:r>
              <a:rPr lang="en-US" dirty="0"/>
              <a:t>Key Benefit Administrators</a:t>
            </a:r>
          </a:p>
        </p:txBody>
      </p:sp>
      <p:pic>
        <p:nvPicPr>
          <p:cNvPr id="11" name="Picture 4">
            <a:extLst>
              <a:ext uri="{FF2B5EF4-FFF2-40B4-BE49-F238E27FC236}">
                <a16:creationId xmlns:a16="http://schemas.microsoft.com/office/drawing/2014/main" id="{BA081F8A-34EF-4672-9370-DBC0CA8BE7A3}"/>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452402" y="1312679"/>
            <a:ext cx="3951647" cy="7677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15615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5">
            <a:extLst>
              <a:ext uri="{FF2B5EF4-FFF2-40B4-BE49-F238E27FC236}">
                <a16:creationId xmlns:a16="http://schemas.microsoft.com/office/drawing/2014/main" id="{E4D4BA5E-072E-BFC4-86A7-A8EC0FA16D37}"/>
              </a:ext>
            </a:extLst>
          </p:cNvPr>
          <p:cNvPicPr>
            <a:picLocks noChangeAspect="1"/>
          </p:cNvPicPr>
          <p:nvPr/>
        </p:nvPicPr>
        <p:blipFill>
          <a:blip r:embed="rId2"/>
          <a:stretch>
            <a:fillRect/>
          </a:stretch>
        </p:blipFill>
        <p:spPr>
          <a:xfrm>
            <a:off x="983975" y="1574349"/>
            <a:ext cx="7705725" cy="4657725"/>
          </a:xfrm>
          <a:prstGeom prst="rect">
            <a:avLst/>
          </a:prstGeom>
        </p:spPr>
      </p:pic>
      <p:sp>
        <p:nvSpPr>
          <p:cNvPr id="3" name="Footer Placeholder 3">
            <a:extLst>
              <a:ext uri="{FF2B5EF4-FFF2-40B4-BE49-F238E27FC236}">
                <a16:creationId xmlns:a16="http://schemas.microsoft.com/office/drawing/2014/main" id="{226CABA5-B853-4CE2-9D0B-B062457265F2}"/>
              </a:ext>
            </a:extLst>
          </p:cNvPr>
          <p:cNvSpPr>
            <a:spLocks noGrp="1"/>
          </p:cNvSpPr>
          <p:nvPr>
            <p:ph type="ftr" sz="quarter" idx="11"/>
          </p:nvPr>
        </p:nvSpPr>
        <p:spPr>
          <a:xfrm>
            <a:off x="396376" y="6471095"/>
            <a:ext cx="4114800" cy="250380"/>
          </a:xfrm>
        </p:spPr>
        <p:txBody>
          <a:bodyPr/>
          <a:lstStyle/>
          <a:p>
            <a:r>
              <a:rPr lang="en-US" dirty="0"/>
              <a:t>Key Benefit Administrators</a:t>
            </a:r>
          </a:p>
        </p:txBody>
      </p:sp>
      <p:sp>
        <p:nvSpPr>
          <p:cNvPr id="4" name="Rectangle 5">
            <a:extLst>
              <a:ext uri="{FF2B5EF4-FFF2-40B4-BE49-F238E27FC236}">
                <a16:creationId xmlns:a16="http://schemas.microsoft.com/office/drawing/2014/main" id="{F34C8217-D749-4511-B7B5-02F77484B378}"/>
              </a:ext>
            </a:extLst>
          </p:cNvPr>
          <p:cNvSpPr/>
          <p:nvPr/>
        </p:nvSpPr>
        <p:spPr>
          <a:xfrm>
            <a:off x="10887075" y="0"/>
            <a:ext cx="1304925" cy="6872068"/>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Slide Number Placeholder 4">
            <a:extLst>
              <a:ext uri="{FF2B5EF4-FFF2-40B4-BE49-F238E27FC236}">
                <a16:creationId xmlns:a16="http://schemas.microsoft.com/office/drawing/2014/main" id="{C4EC4C45-7E95-496F-9B8E-C3FD224C0AA9}"/>
              </a:ext>
            </a:extLst>
          </p:cNvPr>
          <p:cNvSpPr>
            <a:spLocks noGrp="1"/>
          </p:cNvSpPr>
          <p:nvPr>
            <p:ph type="sldNum" sz="quarter" idx="12"/>
          </p:nvPr>
        </p:nvSpPr>
        <p:spPr/>
        <p:txBody>
          <a:bodyPr/>
          <a:lstStyle/>
          <a:p>
            <a:fld id="{3AFC719D-C4A7-4544-876E-D411D11AF6C9}" type="slidenum">
              <a:rPr lang="en-US" smtClean="0"/>
              <a:t>3</a:t>
            </a:fld>
            <a:endParaRPr lang="en-US" dirty="0"/>
          </a:p>
        </p:txBody>
      </p:sp>
      <p:sp>
        <p:nvSpPr>
          <p:cNvPr id="6" name="Title 1">
            <a:extLst>
              <a:ext uri="{FF2B5EF4-FFF2-40B4-BE49-F238E27FC236}">
                <a16:creationId xmlns:a16="http://schemas.microsoft.com/office/drawing/2014/main" id="{553571B1-9896-47E3-8ADF-78C38648412E}"/>
              </a:ext>
            </a:extLst>
          </p:cNvPr>
          <p:cNvSpPr>
            <a:spLocks noGrp="1"/>
          </p:cNvSpPr>
          <p:nvPr>
            <p:ph type="title"/>
          </p:nvPr>
        </p:nvSpPr>
        <p:spPr>
          <a:xfrm>
            <a:off x="396376" y="1023915"/>
            <a:ext cx="9984796" cy="502882"/>
          </a:xfrm>
          <a:noFill/>
        </p:spPr>
        <p:txBody>
          <a:bodyPr vert="horz" lIns="91440" tIns="45720" rIns="91440" bIns="45720" rtlCol="0" anchor="t">
            <a:normAutofit/>
          </a:bodyPr>
          <a:lstStyle/>
          <a:p>
            <a:r>
              <a:rPr lang="en-US" sz="2800" b="1" spc="150" dirty="0">
                <a:solidFill>
                  <a:srgbClr val="0F5DA6"/>
                </a:solidFill>
                <a:latin typeface="Arial" panose="020B0604020202020204" pitchFamily="34" charset="0"/>
                <a:cs typeface="Arial" panose="020B0604020202020204" pitchFamily="34" charset="0"/>
              </a:rPr>
              <a:t>Market Leader in Private Labeled DTE Plans</a:t>
            </a:r>
            <a:endParaRPr lang="en-US" sz="2800" b="1" cap="all" spc="150" dirty="0">
              <a:solidFill>
                <a:srgbClr val="0F5DA6"/>
              </a:solidFill>
              <a:latin typeface="Arial" panose="020B0604020202020204" pitchFamily="34" charset="0"/>
              <a:cs typeface="Arial" panose="020B0604020202020204" pitchFamily="34" charset="0"/>
            </a:endParaRPr>
          </a:p>
        </p:txBody>
      </p:sp>
      <p:pic>
        <p:nvPicPr>
          <p:cNvPr id="7" name="Picture 2">
            <a:extLst>
              <a:ext uri="{FF2B5EF4-FFF2-40B4-BE49-F238E27FC236}">
                <a16:creationId xmlns:a16="http://schemas.microsoft.com/office/drawing/2014/main" id="{654A305B-9BE0-4449-826C-ACCCBB29F8D4}"/>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396376" y="293729"/>
            <a:ext cx="3645898" cy="629962"/>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Rounded Corners 7">
            <a:extLst>
              <a:ext uri="{FF2B5EF4-FFF2-40B4-BE49-F238E27FC236}">
                <a16:creationId xmlns:a16="http://schemas.microsoft.com/office/drawing/2014/main" id="{880AE72B-2936-B7FD-B16B-B7DDE61C48BF}"/>
              </a:ext>
            </a:extLst>
          </p:cNvPr>
          <p:cNvSpPr/>
          <p:nvPr/>
        </p:nvSpPr>
        <p:spPr>
          <a:xfrm>
            <a:off x="2659533" y="3974049"/>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Bentonville, AR</a:t>
            </a:r>
          </a:p>
          <a:p>
            <a:pPr algn="ctr"/>
            <a:r>
              <a:rPr lang="en-US" sz="1200" dirty="0">
                <a:latin typeface="Arial" panose="020B0604020202020204" pitchFamily="34" charset="0"/>
                <a:cs typeface="Arial" panose="020B0604020202020204" pitchFamily="34" charset="0"/>
              </a:rPr>
              <a:t>Northwest Health Plan</a:t>
            </a:r>
          </a:p>
        </p:txBody>
      </p:sp>
      <p:sp>
        <p:nvSpPr>
          <p:cNvPr id="9" name="Rectangle: Rounded Corners 9">
            <a:extLst>
              <a:ext uri="{FF2B5EF4-FFF2-40B4-BE49-F238E27FC236}">
                <a16:creationId xmlns:a16="http://schemas.microsoft.com/office/drawing/2014/main" id="{83BAAF75-9BFE-8A09-84C8-29127AD11CC8}"/>
              </a:ext>
            </a:extLst>
          </p:cNvPr>
          <p:cNvSpPr/>
          <p:nvPr/>
        </p:nvSpPr>
        <p:spPr>
          <a:xfrm>
            <a:off x="3572730" y="5257649"/>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Meridian, MS</a:t>
            </a:r>
          </a:p>
          <a:p>
            <a:pPr algn="ctr"/>
            <a:r>
              <a:rPr lang="en-US" sz="1200" dirty="0">
                <a:latin typeface="Arial" panose="020B0604020202020204" pitchFamily="34" charset="0"/>
                <a:cs typeface="Arial" panose="020B0604020202020204" pitchFamily="34" charset="0"/>
              </a:rPr>
              <a:t>Affinity Health Plan</a:t>
            </a:r>
          </a:p>
        </p:txBody>
      </p:sp>
      <p:sp>
        <p:nvSpPr>
          <p:cNvPr id="10" name="Rectangle: Rounded Corners 10">
            <a:extLst>
              <a:ext uri="{FF2B5EF4-FFF2-40B4-BE49-F238E27FC236}">
                <a16:creationId xmlns:a16="http://schemas.microsoft.com/office/drawing/2014/main" id="{F7F76DEC-1B86-5F34-4522-EE137E2BEDC5}"/>
              </a:ext>
            </a:extLst>
          </p:cNvPr>
          <p:cNvSpPr/>
          <p:nvPr/>
        </p:nvSpPr>
        <p:spPr>
          <a:xfrm>
            <a:off x="7452111" y="5382713"/>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Fort Myers, FL</a:t>
            </a:r>
          </a:p>
          <a:p>
            <a:pPr algn="ctr"/>
            <a:r>
              <a:rPr lang="en-US" sz="1200" dirty="0">
                <a:latin typeface="Arial" panose="020B0604020202020204" pitchFamily="34" charset="0"/>
                <a:cs typeface="Arial" panose="020B0604020202020204" pitchFamily="34" charset="0"/>
              </a:rPr>
              <a:t>Lee Health Care Partners</a:t>
            </a:r>
          </a:p>
        </p:txBody>
      </p:sp>
      <p:sp>
        <p:nvSpPr>
          <p:cNvPr id="11" name="Rectangle: Rounded Corners 11">
            <a:extLst>
              <a:ext uri="{FF2B5EF4-FFF2-40B4-BE49-F238E27FC236}">
                <a16:creationId xmlns:a16="http://schemas.microsoft.com/office/drawing/2014/main" id="{B522D9FB-03E8-0475-A3A5-AF33059EA7E6}"/>
              </a:ext>
            </a:extLst>
          </p:cNvPr>
          <p:cNvSpPr/>
          <p:nvPr/>
        </p:nvSpPr>
        <p:spPr>
          <a:xfrm>
            <a:off x="7208737" y="4373211"/>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Knoxville, TN</a:t>
            </a:r>
          </a:p>
          <a:p>
            <a:pPr algn="ctr"/>
            <a:r>
              <a:rPr lang="en-US" sz="1200" dirty="0">
                <a:latin typeface="Arial" panose="020B0604020202020204" pitchFamily="34" charset="0"/>
                <a:cs typeface="Arial" panose="020B0604020202020204" pitchFamily="34" charset="0"/>
              </a:rPr>
              <a:t>East Tennessee Health Plan</a:t>
            </a:r>
          </a:p>
        </p:txBody>
      </p:sp>
      <p:sp>
        <p:nvSpPr>
          <p:cNvPr id="12" name="Rectangle: Rounded Corners 12">
            <a:extLst>
              <a:ext uri="{FF2B5EF4-FFF2-40B4-BE49-F238E27FC236}">
                <a16:creationId xmlns:a16="http://schemas.microsoft.com/office/drawing/2014/main" id="{F3AB3343-FA0C-E9FA-637F-E45BB11DFFC1}"/>
              </a:ext>
            </a:extLst>
          </p:cNvPr>
          <p:cNvSpPr/>
          <p:nvPr/>
        </p:nvSpPr>
        <p:spPr>
          <a:xfrm>
            <a:off x="7047737" y="3363709"/>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Cincinnati, OH</a:t>
            </a:r>
          </a:p>
          <a:p>
            <a:pPr algn="ctr"/>
            <a:r>
              <a:rPr lang="en-US" sz="1200" dirty="0">
                <a:latin typeface="Arial" panose="020B0604020202020204" pitchFamily="34" charset="0"/>
                <a:cs typeface="Arial" panose="020B0604020202020204" pitchFamily="34" charset="0"/>
              </a:rPr>
              <a:t>TCH Optimal</a:t>
            </a:r>
          </a:p>
        </p:txBody>
      </p:sp>
      <p:sp>
        <p:nvSpPr>
          <p:cNvPr id="13" name="Rectangle: Rounded Corners 13">
            <a:extLst>
              <a:ext uri="{FF2B5EF4-FFF2-40B4-BE49-F238E27FC236}">
                <a16:creationId xmlns:a16="http://schemas.microsoft.com/office/drawing/2014/main" id="{A5F1AA97-617E-DEDA-E780-8518ACB143FB}"/>
              </a:ext>
            </a:extLst>
          </p:cNvPr>
          <p:cNvSpPr/>
          <p:nvPr/>
        </p:nvSpPr>
        <p:spPr>
          <a:xfrm>
            <a:off x="3870663" y="2934468"/>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Louisville, KY</a:t>
            </a:r>
          </a:p>
          <a:p>
            <a:pPr algn="ctr"/>
            <a:r>
              <a:rPr lang="en-US" sz="1200" dirty="0" err="1">
                <a:latin typeface="Arial" panose="020B0604020202020204" pitchFamily="34" charset="0"/>
                <a:cs typeface="Arial" panose="020B0604020202020204" pitchFamily="34" charset="0"/>
              </a:rPr>
              <a:t>OneHealth</a:t>
            </a:r>
            <a:r>
              <a:rPr lang="en-US" sz="1200" dirty="0">
                <a:latin typeface="Arial" panose="020B0604020202020204" pitchFamily="34" charset="0"/>
                <a:cs typeface="Arial" panose="020B0604020202020204" pitchFamily="34" charset="0"/>
              </a:rPr>
              <a:t> Plan</a:t>
            </a:r>
          </a:p>
        </p:txBody>
      </p:sp>
    </p:spTree>
    <p:extLst>
      <p:ext uri="{BB962C8B-B14F-4D97-AF65-F5344CB8AC3E}">
        <p14:creationId xmlns:p14="http://schemas.microsoft.com/office/powerpoint/2010/main" val="2639721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1409959" y="1292697"/>
            <a:ext cx="3677156" cy="3043929"/>
          </a:xfrm>
        </p:spPr>
        <p:txBody>
          <a:bodyPr>
            <a:noAutofit/>
          </a:bodyPr>
          <a:lstStyle/>
          <a:p>
            <a:pPr>
              <a:lnSpc>
                <a:spcPct val="100000"/>
              </a:lnSpc>
              <a:spcBef>
                <a:spcPts val="1800"/>
              </a:spcBef>
              <a:spcAft>
                <a:spcPts val="600"/>
              </a:spcAft>
            </a:pPr>
            <a:r>
              <a:rPr lang="en-US" sz="4000" b="1" dirty="0">
                <a:solidFill>
                  <a:srgbClr val="000B2E"/>
                </a:solidFill>
                <a:latin typeface="Arial" panose="020B0604020202020204" pitchFamily="34" charset="0"/>
                <a:cs typeface="Arial" panose="020B0604020202020204" pitchFamily="34" charset="0"/>
              </a:rPr>
              <a:t>Direct-to-Employer</a:t>
            </a:r>
            <a:br>
              <a:rPr lang="en-US" sz="4000" b="1" dirty="0">
                <a:solidFill>
                  <a:srgbClr val="000B2E"/>
                </a:solidFill>
                <a:latin typeface="Arial" panose="020B0604020202020204" pitchFamily="34" charset="0"/>
                <a:cs typeface="Arial" panose="020B0604020202020204" pitchFamily="34" charset="0"/>
              </a:rPr>
            </a:br>
            <a:r>
              <a:rPr lang="en-US" sz="2800" b="1" dirty="0">
                <a:solidFill>
                  <a:srgbClr val="000B2E"/>
                </a:solidFill>
                <a:latin typeface="Arial" panose="020B0604020202020204" pitchFamily="34" charset="0"/>
                <a:cs typeface="Arial" panose="020B0604020202020204" pitchFamily="34" charset="0"/>
              </a:rPr>
              <a:t>(DTE)</a:t>
            </a:r>
            <a:br>
              <a:rPr lang="en-US" sz="1600" b="1" dirty="0">
                <a:solidFill>
                  <a:srgbClr val="000B2E"/>
                </a:solidFill>
                <a:latin typeface="Arial" panose="020B0604020202020204" pitchFamily="34" charset="0"/>
                <a:cs typeface="Arial" panose="020B0604020202020204" pitchFamily="34" charset="0"/>
              </a:rPr>
            </a:br>
            <a:br>
              <a:rPr lang="en-US" sz="1600" b="1" dirty="0">
                <a:solidFill>
                  <a:srgbClr val="000B2E"/>
                </a:solidFill>
                <a:latin typeface="Arial" panose="020B0604020202020204" pitchFamily="34" charset="0"/>
                <a:cs typeface="Arial" panose="020B0604020202020204" pitchFamily="34" charset="0"/>
              </a:rPr>
            </a:br>
            <a:r>
              <a:rPr lang="en-US" sz="1600" b="1" i="1" dirty="0">
                <a:solidFill>
                  <a:srgbClr val="000B2E"/>
                </a:solidFill>
                <a:latin typeface="Arial" panose="020B0604020202020204" pitchFamily="34" charset="0"/>
                <a:cs typeface="Arial" panose="020B0604020202020204" pitchFamily="34" charset="0"/>
              </a:rPr>
              <a:t>Your</a:t>
            </a:r>
            <a:r>
              <a:rPr lang="en-US" sz="1600" b="1" dirty="0">
                <a:solidFill>
                  <a:srgbClr val="000B2E"/>
                </a:solidFill>
                <a:latin typeface="Arial" panose="020B0604020202020204" pitchFamily="34" charset="0"/>
                <a:cs typeface="Arial" panose="020B0604020202020204" pitchFamily="34" charset="0"/>
              </a:rPr>
              <a:t> Health Plan Focused on a Direct Relationship with Self-Funded Employers in </a:t>
            </a:r>
            <a:r>
              <a:rPr lang="en-US" sz="1600" b="1" i="1" dirty="0">
                <a:solidFill>
                  <a:srgbClr val="000B2E"/>
                </a:solidFill>
                <a:latin typeface="Arial" panose="020B0604020202020204" pitchFamily="34" charset="0"/>
                <a:cs typeface="Arial" panose="020B0604020202020204" pitchFamily="34" charset="0"/>
              </a:rPr>
              <a:t>Your</a:t>
            </a:r>
            <a:r>
              <a:rPr lang="en-US" sz="1600" b="1" dirty="0">
                <a:solidFill>
                  <a:srgbClr val="000B2E"/>
                </a:solidFill>
                <a:latin typeface="Arial" panose="020B0604020202020204" pitchFamily="34" charset="0"/>
                <a:cs typeface="Arial" panose="020B0604020202020204" pitchFamily="34" charset="0"/>
              </a:rPr>
              <a:t> Market</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6317763" y="1468132"/>
            <a:ext cx="5672318" cy="4660901"/>
          </a:xfrm>
        </p:spPr>
        <p:txBody>
          <a:bodyPr>
            <a:normAutofit/>
          </a:bodyPr>
          <a:lstStyle/>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solidFill>
                  <a:srgbClr val="9900CC"/>
                </a:solidFill>
              </a:rPr>
              <a:t> </a:t>
            </a:r>
            <a:r>
              <a:rPr lang="en-US" sz="2700" dirty="0">
                <a:solidFill>
                  <a:schemeClr val="tx1">
                    <a:lumMod val="75000"/>
                    <a:lumOff val="25000"/>
                  </a:schemeClr>
                </a:solidFill>
              </a:rPr>
              <a:t>Pick the Name of the Health Plan</a:t>
            </a:r>
          </a:p>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t> </a:t>
            </a:r>
            <a:r>
              <a:rPr lang="en-US" sz="2700" dirty="0">
                <a:solidFill>
                  <a:schemeClr val="tx1">
                    <a:lumMod val="75000"/>
                    <a:lumOff val="25000"/>
                  </a:schemeClr>
                </a:solidFill>
              </a:rPr>
              <a:t>Determine the Fees Charged</a:t>
            </a:r>
          </a:p>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t> </a:t>
            </a:r>
            <a:r>
              <a:rPr lang="en-US" sz="2700" dirty="0">
                <a:solidFill>
                  <a:schemeClr val="tx1">
                    <a:lumMod val="75000"/>
                    <a:lumOff val="25000"/>
                  </a:schemeClr>
                </a:solidFill>
              </a:rPr>
              <a:t>Practice the Medicine </a:t>
            </a:r>
          </a:p>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solidFill>
                  <a:srgbClr val="9900CC"/>
                </a:solidFill>
              </a:rPr>
              <a:t> </a:t>
            </a:r>
            <a:r>
              <a:rPr lang="en-US" sz="2700" dirty="0">
                <a:solidFill>
                  <a:schemeClr val="tx1">
                    <a:lumMod val="75000"/>
                    <a:lumOff val="25000"/>
                  </a:schemeClr>
                </a:solidFill>
              </a:rPr>
              <a:t>Receive the Profits  </a:t>
            </a:r>
          </a:p>
          <a:p>
            <a:pPr marL="0" indent="0">
              <a:lnSpc>
                <a:spcPct val="150000"/>
              </a:lnSpc>
              <a:spcAft>
                <a:spcPts val="1200"/>
              </a:spcAft>
              <a:buNone/>
            </a:pPr>
            <a:r>
              <a:rPr lang="en-US" sz="2700" b="1" dirty="0">
                <a:solidFill>
                  <a:srgbClr val="59CAE8"/>
                </a:solidFill>
                <a:latin typeface="Arial Black" panose="020B0A04020102020204" pitchFamily="34" charset="0"/>
              </a:rPr>
              <a:t>WE</a:t>
            </a:r>
            <a:r>
              <a:rPr lang="en-US" sz="2700" dirty="0">
                <a:solidFill>
                  <a:srgbClr val="9900CC"/>
                </a:solidFill>
              </a:rPr>
              <a:t> </a:t>
            </a:r>
            <a:r>
              <a:rPr lang="en-US" sz="2700" dirty="0">
                <a:solidFill>
                  <a:schemeClr val="tx1">
                    <a:lumMod val="75000"/>
                    <a:lumOff val="25000"/>
                  </a:schemeClr>
                </a:solidFill>
              </a:rPr>
              <a:t>Make it Successful</a:t>
            </a:r>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4</a:t>
            </a:fld>
            <a:endParaRPr lang="en-US" dirty="0"/>
          </a:p>
        </p:txBody>
      </p:sp>
      <p:sp>
        <p:nvSpPr>
          <p:cNvPr id="6"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 name="Group 41">
            <a:extLst>
              <a:ext uri="{FF2B5EF4-FFF2-40B4-BE49-F238E27FC236}">
                <a16:creationId xmlns:a16="http://schemas.microsoft.com/office/drawing/2014/main" id="{C3A11C0D-6225-4F5F-9034-762253C251A2}"/>
              </a:ext>
            </a:extLst>
          </p:cNvPr>
          <p:cNvGrpSpPr/>
          <p:nvPr/>
        </p:nvGrpSpPr>
        <p:grpSpPr>
          <a:xfrm>
            <a:off x="5489623" y="1468132"/>
            <a:ext cx="640080" cy="4254692"/>
            <a:chOff x="5315974" y="943768"/>
            <a:chExt cx="640080" cy="4254692"/>
          </a:xfrm>
          <a:noFill/>
        </p:grpSpPr>
        <p:pic>
          <p:nvPicPr>
            <p:cNvPr id="8" name="Picture 10" descr="Blue check mark - Transparent PNG &amp; SVG vector file">
              <a:extLst>
                <a:ext uri="{FF2B5EF4-FFF2-40B4-BE49-F238E27FC236}">
                  <a16:creationId xmlns:a16="http://schemas.microsoft.com/office/drawing/2014/main" id="{D8A1C779-0B9F-4A67-8037-7D25A11FFA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4558380"/>
              <a:ext cx="640080" cy="640080"/>
            </a:xfrm>
            <a:prstGeom prst="rect">
              <a:avLst/>
            </a:prstGeom>
            <a:grpFill/>
          </p:spPr>
        </p:pic>
        <p:pic>
          <p:nvPicPr>
            <p:cNvPr id="9" name="Picture 10" descr="Blue check mark - Transparent PNG &amp; SVG vector file">
              <a:extLst>
                <a:ext uri="{FF2B5EF4-FFF2-40B4-BE49-F238E27FC236}">
                  <a16:creationId xmlns:a16="http://schemas.microsoft.com/office/drawing/2014/main" id="{78B72E30-7B45-40B1-9302-CE9A3F3AD97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3678222"/>
              <a:ext cx="640080" cy="640080"/>
            </a:xfrm>
            <a:prstGeom prst="rect">
              <a:avLst/>
            </a:prstGeom>
            <a:grpFill/>
          </p:spPr>
        </p:pic>
        <p:pic>
          <p:nvPicPr>
            <p:cNvPr id="10" name="Picture 10" descr="Blue check mark - Transparent PNG &amp; SVG vector file">
              <a:extLst>
                <a:ext uri="{FF2B5EF4-FFF2-40B4-BE49-F238E27FC236}">
                  <a16:creationId xmlns:a16="http://schemas.microsoft.com/office/drawing/2014/main" id="{9D9240A2-869D-4166-9772-32124160B4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2798065"/>
              <a:ext cx="640080" cy="640080"/>
            </a:xfrm>
            <a:prstGeom prst="rect">
              <a:avLst/>
            </a:prstGeom>
            <a:grpFill/>
          </p:spPr>
        </p:pic>
        <p:pic>
          <p:nvPicPr>
            <p:cNvPr id="11" name="Picture 10" descr="Blue check mark - Transparent PNG &amp; SVG vector file">
              <a:extLst>
                <a:ext uri="{FF2B5EF4-FFF2-40B4-BE49-F238E27FC236}">
                  <a16:creationId xmlns:a16="http://schemas.microsoft.com/office/drawing/2014/main" id="{E8C8DD14-AAF4-4762-B170-F052A3B2288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1870916"/>
              <a:ext cx="640080" cy="640080"/>
            </a:xfrm>
            <a:prstGeom prst="rect">
              <a:avLst/>
            </a:prstGeom>
            <a:grpFill/>
          </p:spPr>
        </p:pic>
        <p:pic>
          <p:nvPicPr>
            <p:cNvPr id="12" name="Picture 10" descr="Blue check mark - Transparent PNG &amp; SVG vector file">
              <a:extLst>
                <a:ext uri="{FF2B5EF4-FFF2-40B4-BE49-F238E27FC236}">
                  <a16:creationId xmlns:a16="http://schemas.microsoft.com/office/drawing/2014/main" id="{C05F6E83-E756-4853-B3A8-49C6BE03258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943768"/>
              <a:ext cx="640080" cy="640080"/>
            </a:xfrm>
            <a:prstGeom prst="rect">
              <a:avLst/>
            </a:prstGeom>
            <a:grpFill/>
          </p:spPr>
        </p:pic>
      </p:grpSp>
      <p:pic>
        <p:nvPicPr>
          <p:cNvPr id="16" name="Content Placeholder 7">
            <a:extLst>
              <a:ext uri="{FF2B5EF4-FFF2-40B4-BE49-F238E27FC236}">
                <a16:creationId xmlns:a16="http://schemas.microsoft.com/office/drawing/2014/main" id="{6D80BE2C-037F-70BF-BC71-21812EE77A64}"/>
              </a:ext>
            </a:extLst>
          </p:cNvPr>
          <p:cNvPicPr>
            <a:picLocks noChangeAspect="1"/>
          </p:cNvPicPr>
          <p:nvPr/>
        </p:nvPicPr>
        <p:blipFill>
          <a:blip r:embed="rId3" cstate="print"/>
          <a:stretch>
            <a:fillRect/>
          </a:stretch>
        </p:blipFill>
        <p:spPr>
          <a:xfrm>
            <a:off x="9020511" y="494931"/>
            <a:ext cx="2936914" cy="468071"/>
          </a:xfrm>
          <a:prstGeom prst="rect">
            <a:avLst/>
          </a:prstGeom>
        </p:spPr>
      </p:pic>
    </p:spTree>
    <p:extLst>
      <p:ext uri="{BB962C8B-B14F-4D97-AF65-F5344CB8AC3E}">
        <p14:creationId xmlns:p14="http://schemas.microsoft.com/office/powerpoint/2010/main" val="15528335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ESA - Do business with ESA">
            <a:extLst>
              <a:ext uri="{FF2B5EF4-FFF2-40B4-BE49-F238E27FC236}">
                <a16:creationId xmlns:a16="http://schemas.microsoft.com/office/drawing/2014/main" id="{D7347B8B-C5AE-4C49-8B43-951D5F7A55F1}"/>
              </a:ext>
            </a:extLst>
          </p:cNvPr>
          <p:cNvPicPr>
            <a:picLocks noChangeAspect="1" noChangeArrowheads="1"/>
          </p:cNvPicPr>
          <p:nvPr/>
        </p:nvPicPr>
        <p:blipFill rotWithShape="1">
          <a:blip r:embed="rId2">
            <a:alphaModFix amt="35000"/>
            <a:duotone>
              <a:schemeClr val="bg2">
                <a:shade val="45000"/>
                <a:satMod val="135000"/>
              </a:schemeClr>
              <a:prstClr val="white"/>
            </a:duotone>
            <a:extLst>
              <a:ext uri="{28A0092B-C50C-407E-A947-70E740481C1C}">
                <a14:useLocalDpi xmlns:a14="http://schemas.microsoft.com/office/drawing/2010/main" val="0"/>
              </a:ext>
            </a:extLst>
          </a:blip>
          <a:srcRect t="10741" b="7912"/>
          <a:stretch/>
        </p:blipFill>
        <p:spPr bwMode="auto">
          <a:xfrm>
            <a:off x="2078" y="16890"/>
            <a:ext cx="12197593" cy="6855179"/>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7B4D036B-CF91-40EF-88B5-63D0260D0147}"/>
              </a:ext>
            </a:extLst>
          </p:cNvPr>
          <p:cNvSpPr>
            <a:spLocks noGrp="1"/>
          </p:cNvSpPr>
          <p:nvPr>
            <p:ph type="title"/>
          </p:nvPr>
        </p:nvSpPr>
        <p:spPr>
          <a:xfrm>
            <a:off x="343013" y="277193"/>
            <a:ext cx="11515725" cy="1325563"/>
          </a:xfrm>
        </p:spPr>
        <p:txBody>
          <a:bodyPr>
            <a:normAutofit/>
          </a:bodyPr>
          <a:lstStyle/>
          <a:p>
            <a:r>
              <a:rPr lang="en-US" sz="3200" dirty="0">
                <a:solidFill>
                  <a:schemeClr val="tx1">
                    <a:lumMod val="75000"/>
                    <a:lumOff val="25000"/>
                  </a:schemeClr>
                </a:solidFill>
              </a:rPr>
              <a:t>DTE Keys to Success for Cleveland Clinic Health System</a:t>
            </a:r>
          </a:p>
        </p:txBody>
      </p:sp>
      <p:sp>
        <p:nvSpPr>
          <p:cNvPr id="4" name="Rectangle 24">
            <a:extLst>
              <a:ext uri="{FF2B5EF4-FFF2-40B4-BE49-F238E27FC236}">
                <a16:creationId xmlns:a16="http://schemas.microsoft.com/office/drawing/2014/main" id="{D24DE94D-6484-49BD-8A91-DBD5A9631194}"/>
              </a:ext>
            </a:extLst>
          </p:cNvPr>
          <p:cNvSpPr/>
          <p:nvPr/>
        </p:nvSpPr>
        <p:spPr>
          <a:xfrm>
            <a:off x="0" y="6209596"/>
            <a:ext cx="12192000" cy="662473"/>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Footer Placeholder 2">
            <a:extLst>
              <a:ext uri="{FF2B5EF4-FFF2-40B4-BE49-F238E27FC236}">
                <a16:creationId xmlns:a16="http://schemas.microsoft.com/office/drawing/2014/main" id="{8CA890C3-CCF4-4C60-8A15-4AAD2952EFC0}"/>
              </a:ext>
            </a:extLst>
          </p:cNvPr>
          <p:cNvSpPr>
            <a:spLocks noGrp="1"/>
          </p:cNvSpPr>
          <p:nvPr>
            <p:ph type="ftr" sz="quarter" idx="11"/>
          </p:nvPr>
        </p:nvSpPr>
        <p:spPr>
          <a:xfrm>
            <a:off x="3962400" y="6355207"/>
            <a:ext cx="4114800" cy="365125"/>
          </a:xfrm>
        </p:spPr>
        <p:txBody>
          <a:bodyPr/>
          <a:lstStyle/>
          <a:p>
            <a:r>
              <a:rPr lang="en-US" dirty="0"/>
              <a:t>Key Benefit Administrators</a:t>
            </a:r>
          </a:p>
        </p:txBody>
      </p:sp>
      <p:sp>
        <p:nvSpPr>
          <p:cNvPr id="6" name="Slide Number Placeholder 3">
            <a:extLst>
              <a:ext uri="{FF2B5EF4-FFF2-40B4-BE49-F238E27FC236}">
                <a16:creationId xmlns:a16="http://schemas.microsoft.com/office/drawing/2014/main" id="{D8E8B177-4E99-4D87-A5BC-C4903809E352}"/>
              </a:ext>
            </a:extLst>
          </p:cNvPr>
          <p:cNvSpPr>
            <a:spLocks noGrp="1"/>
          </p:cNvSpPr>
          <p:nvPr>
            <p:ph type="sldNum" sz="quarter" idx="12"/>
          </p:nvPr>
        </p:nvSpPr>
        <p:spPr>
          <a:xfrm>
            <a:off x="8466666" y="6355207"/>
            <a:ext cx="2743200" cy="365125"/>
          </a:xfrm>
        </p:spPr>
        <p:txBody>
          <a:bodyPr/>
          <a:lstStyle/>
          <a:p>
            <a:fld id="{3AFC719D-C4A7-4544-876E-D411D11AF6C9}" type="slidenum">
              <a:rPr lang="en-US" smtClean="0"/>
              <a:t>5</a:t>
            </a:fld>
            <a:endParaRPr lang="en-US" dirty="0"/>
          </a:p>
        </p:txBody>
      </p:sp>
      <p:sp>
        <p:nvSpPr>
          <p:cNvPr id="7" name="Rectangle 4">
            <a:extLst>
              <a:ext uri="{FF2B5EF4-FFF2-40B4-BE49-F238E27FC236}">
                <a16:creationId xmlns:a16="http://schemas.microsoft.com/office/drawing/2014/main" id="{08721A3A-5CA5-4F32-91E4-D6082004CA50}"/>
              </a:ext>
            </a:extLst>
          </p:cNvPr>
          <p:cNvSpPr/>
          <p:nvPr/>
        </p:nvSpPr>
        <p:spPr>
          <a:xfrm>
            <a:off x="4134811" y="649481"/>
            <a:ext cx="7495215" cy="5546047"/>
          </a:xfrm>
          <a:prstGeom prst="rect">
            <a:avLst/>
          </a:prstGeom>
        </p:spPr>
        <p:txBody>
          <a:bodyPr vert="horz" lIns="91440" tIns="45720" rIns="91440" bIns="45720" rtlCol="0" anchor="ctr">
            <a:noAutofit/>
          </a:bodyPr>
          <a:lstStyle/>
          <a:p>
            <a:pPr defTabSz="914411">
              <a:lnSpc>
                <a:spcPct val="90000"/>
              </a:lnSpc>
              <a:spcAft>
                <a:spcPts val="1200"/>
              </a:spcAft>
            </a:pPr>
            <a:endParaRPr lang="en-US" sz="2200" dirty="0"/>
          </a:p>
        </p:txBody>
      </p:sp>
      <p:sp>
        <p:nvSpPr>
          <p:cNvPr id="8" name="Rectangle 5">
            <a:extLst>
              <a:ext uri="{FF2B5EF4-FFF2-40B4-BE49-F238E27FC236}">
                <a16:creationId xmlns:a16="http://schemas.microsoft.com/office/drawing/2014/main" id="{869C0219-52DA-48A1-B7B2-E6F8C4FBD3C3}"/>
              </a:ext>
            </a:extLst>
          </p:cNvPr>
          <p:cNvSpPr/>
          <p:nvPr/>
        </p:nvSpPr>
        <p:spPr>
          <a:xfrm>
            <a:off x="740621" y="3205513"/>
            <a:ext cx="5352581" cy="1646605"/>
          </a:xfrm>
          <a:prstGeom prst="rect">
            <a:avLst/>
          </a:prstGeom>
        </p:spPr>
        <p:txBody>
          <a:bodyPr wrap="square">
            <a:spAutoFit/>
          </a:bodyPr>
          <a:lstStyle/>
          <a:p>
            <a:pPr algn="ctr" defTabSz="914411">
              <a:lnSpc>
                <a:spcPct val="90000"/>
              </a:lnSpc>
              <a:spcAft>
                <a:spcPts val="1200"/>
              </a:spcAft>
              <a:buClr>
                <a:schemeClr val="tx1"/>
              </a:buClr>
            </a:pPr>
            <a:r>
              <a:rPr lang="en-US" b="1" dirty="0"/>
              <a:t>DTE Plan Sells</a:t>
            </a:r>
          </a:p>
          <a:p>
            <a:pPr algn="ctr" defTabSz="914411">
              <a:lnSpc>
                <a:spcPct val="90000"/>
              </a:lnSpc>
              <a:spcAft>
                <a:spcPts val="1200"/>
              </a:spcAft>
              <a:buClr>
                <a:schemeClr val="tx1"/>
              </a:buClr>
            </a:pPr>
            <a:r>
              <a:rPr lang="en-US" dirty="0"/>
              <a:t>DTE plans only work when the network is built around a strong brand with good access and competitive costs. </a:t>
            </a:r>
          </a:p>
          <a:p>
            <a:pPr algn="ctr" defTabSz="914411">
              <a:lnSpc>
                <a:spcPct val="90000"/>
              </a:lnSpc>
              <a:spcAft>
                <a:spcPts val="1200"/>
              </a:spcAft>
              <a:buClr>
                <a:schemeClr val="tx1"/>
              </a:buClr>
            </a:pPr>
            <a:r>
              <a:rPr lang="en-US" dirty="0">
                <a:solidFill/>
              </a:rPr>
              <a:t>Cleveland Clinic Health System has a strong brand in Northern Ohio. KBA expects this plan will sell very well. </a:t>
            </a:r>
          </a:p>
        </p:txBody>
      </p:sp>
      <p:sp>
        <p:nvSpPr>
          <p:cNvPr id="9" name="Rectangle 6">
            <a:extLst>
              <a:ext uri="{FF2B5EF4-FFF2-40B4-BE49-F238E27FC236}">
                <a16:creationId xmlns:a16="http://schemas.microsoft.com/office/drawing/2014/main" id="{8FCD729A-32AD-4303-8BA6-9EBD13F93D1C}"/>
              </a:ext>
            </a:extLst>
          </p:cNvPr>
          <p:cNvSpPr/>
          <p:nvPr/>
        </p:nvSpPr>
        <p:spPr>
          <a:xfrm>
            <a:off x="6093202" y="3205513"/>
            <a:ext cx="5352581" cy="1895904"/>
          </a:xfrm>
          <a:prstGeom prst="rect">
            <a:avLst/>
          </a:prstGeom>
        </p:spPr>
        <p:txBody>
          <a:bodyPr wrap="square">
            <a:spAutoFit/>
          </a:bodyPr>
          <a:lstStyle/>
          <a:p>
            <a:pPr algn="ctr" defTabSz="914411">
              <a:lnSpc>
                <a:spcPct val="90000"/>
              </a:lnSpc>
              <a:spcAft>
                <a:spcPts val="1200"/>
              </a:spcAft>
              <a:buClr>
                <a:schemeClr val="tx1"/>
              </a:buClr>
            </a:pPr>
            <a:r>
              <a:rPr lang="en-US" b="1" dirty="0"/>
              <a:t>Estimates for Margin and Steerage Hold</a:t>
            </a:r>
          </a:p>
          <a:p>
            <a:pPr algn="ctr" defTabSz="914411">
              <a:lnSpc>
                <a:spcPct val="90000"/>
              </a:lnSpc>
              <a:spcAft>
                <a:spcPts val="1200"/>
              </a:spcAft>
              <a:buClr>
                <a:schemeClr val="tx1"/>
              </a:buClr>
            </a:pPr>
            <a:r>
              <a:rPr lang="en-US" dirty="0"/>
              <a:t>KBA models high, medium and low estimates for net income based on (1) estimates of commercial margin and (2) the within-DTE-network steerage rate. </a:t>
            </a:r>
          </a:p>
          <a:p>
            <a:pPr algn="ctr" defTabSz="914411">
              <a:lnSpc>
                <a:spcPct val="90000"/>
              </a:lnSpc>
              <a:spcAft>
                <a:spcPts val="1200"/>
              </a:spcAft>
              <a:buClr>
                <a:schemeClr val="tx1"/>
              </a:buClr>
            </a:pPr>
            <a:r>
              <a:rPr lang="en-US" dirty="0">
                <a:solidFill/>
              </a:rPr>
              <a:t>Profit growth will hold if these assumptions accurately play out as expected for Cleveland Clinic Health System.</a:t>
            </a:r>
          </a:p>
        </p:txBody>
      </p:sp>
      <p:cxnSp>
        <p:nvCxnSpPr>
          <p:cNvPr id="10" name="Straight Connector 13">
            <a:extLst>
              <a:ext uri="{FF2B5EF4-FFF2-40B4-BE49-F238E27FC236}">
                <a16:creationId xmlns:a16="http://schemas.microsoft.com/office/drawing/2014/main" id="{DD477D80-386D-4C49-BB5B-4192EF9C3FCB}"/>
              </a:ext>
            </a:extLst>
          </p:cNvPr>
          <p:cNvCxnSpPr/>
          <p:nvPr/>
        </p:nvCxnSpPr>
        <p:spPr>
          <a:xfrm>
            <a:off x="6100876" y="3205513"/>
            <a:ext cx="0" cy="2425682"/>
          </a:xfrm>
          <a:prstGeom prst="line">
            <a:avLst/>
          </a:prstGeom>
          <a:ln>
            <a:solidFill>
              <a:srgbClr val="0063A3"/>
            </a:solidFill>
          </a:ln>
        </p:spPr>
        <p:style>
          <a:lnRef idx="1">
            <a:schemeClr val="accent1"/>
          </a:lnRef>
          <a:fillRef idx="0">
            <a:schemeClr val="accent1"/>
          </a:fillRef>
          <a:effectRef idx="0">
            <a:schemeClr val="accent1"/>
          </a:effectRef>
          <a:fontRef idx="minor">
            <a:schemeClr val="tx1"/>
          </a:fontRef>
        </p:style>
      </p:cxnSp>
      <p:sp>
        <p:nvSpPr>
          <p:cNvPr id="11" name="Oval 18">
            <a:extLst>
              <a:ext uri="{FF2B5EF4-FFF2-40B4-BE49-F238E27FC236}">
                <a16:creationId xmlns:a16="http://schemas.microsoft.com/office/drawing/2014/main" id="{6E3306A4-A22E-44B4-B28D-02A4477CAE09}"/>
              </a:ext>
            </a:extLst>
          </p:cNvPr>
          <p:cNvSpPr/>
          <p:nvPr/>
        </p:nvSpPr>
        <p:spPr>
          <a:xfrm>
            <a:off x="3074011" y="2236449"/>
            <a:ext cx="685800" cy="685800"/>
          </a:xfrm>
          <a:prstGeom prst="ellipse">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t>1</a:t>
            </a:r>
          </a:p>
        </p:txBody>
      </p:sp>
      <p:sp>
        <p:nvSpPr>
          <p:cNvPr id="12" name="Oval 19">
            <a:extLst>
              <a:ext uri="{FF2B5EF4-FFF2-40B4-BE49-F238E27FC236}">
                <a16:creationId xmlns:a16="http://schemas.microsoft.com/office/drawing/2014/main" id="{50C0D7B4-43BC-4CE3-AA3D-60612464FC41}"/>
              </a:ext>
            </a:extLst>
          </p:cNvPr>
          <p:cNvSpPr/>
          <p:nvPr/>
        </p:nvSpPr>
        <p:spPr>
          <a:xfrm>
            <a:off x="8466666" y="2236449"/>
            <a:ext cx="685800" cy="685800"/>
          </a:xfrm>
          <a:prstGeom prst="ellipse">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t>2</a:t>
            </a:r>
          </a:p>
        </p:txBody>
      </p:sp>
    </p:spTree>
    <p:extLst>
      <p:ext uri="{BB962C8B-B14F-4D97-AF65-F5344CB8AC3E}">
        <p14:creationId xmlns:p14="http://schemas.microsoft.com/office/powerpoint/2010/main" val="40595485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Top Corners Snipped 11">
            <a:extLst>
              <a:ext uri="{FF2B5EF4-FFF2-40B4-BE49-F238E27FC236}">
                <a16:creationId xmlns:a16="http://schemas.microsoft.com/office/drawing/2014/main" id="{C7294A92-B19F-3B44-DB12-00913CE67D8E}"/>
              </a:ext>
            </a:extLst>
          </p:cNvPr>
          <p:cNvSpPr/>
          <p:nvPr/>
        </p:nvSpPr>
        <p:spPr>
          <a:xfrm rot="5400000">
            <a:off x="8391398" y="1277595"/>
            <a:ext cx="1103086" cy="2468880"/>
          </a:xfrm>
          <a:prstGeom prst="snip2SameRect">
            <a:avLst/>
          </a:prstGeom>
          <a:gradFill flip="none" rotWithShape="1">
            <a:gsLst>
              <a:gs pos="0">
                <a:schemeClr val="accent6">
                  <a:lumMod val="75000"/>
                </a:schemeClr>
              </a:gs>
              <a:gs pos="50000">
                <a:schemeClr val="accent6">
                  <a:lumMod val="60000"/>
                  <a:lumOff val="40000"/>
                </a:schemeClr>
              </a:gs>
              <a:gs pos="100000">
                <a:schemeClr val="accent1">
                  <a:lumMod val="40000"/>
                  <a:lumOff val="60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4"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6</a:t>
            </a:fld>
            <a:endParaRPr lang="en-US" dirty="0"/>
          </a:p>
        </p:txBody>
      </p:sp>
      <p:sp>
        <p:nvSpPr>
          <p:cNvPr id="5" name="Rectangle 8">
            <a:extLst>
              <a:ext uri="{FF2B5EF4-FFF2-40B4-BE49-F238E27FC236}">
                <a16:creationId xmlns:a16="http://schemas.microsoft.com/office/drawing/2014/main" id="{BB2B5697-E648-40EC-88C5-97A77999C18D}"/>
              </a:ext>
            </a:extLst>
          </p:cNvPr>
          <p:cNvSpPr/>
          <p:nvPr/>
        </p:nvSpPr>
        <p:spPr>
          <a:xfrm>
            <a:off x="-2867" y="6008914"/>
            <a:ext cx="12194867" cy="849086"/>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12">
            <a:extLst>
              <a:ext uri="{FF2B5EF4-FFF2-40B4-BE49-F238E27FC236}">
                <a16:creationId xmlns:a16="http://schemas.microsoft.com/office/drawing/2014/main" id="{061C4F0D-14E1-8EB9-6313-04B404BF313E}"/>
              </a:ext>
            </a:extLst>
          </p:cNvPr>
          <p:cNvSpPr txBox="1"/>
          <p:nvPr/>
        </p:nvSpPr>
        <p:spPr>
          <a:xfrm>
            <a:off x="1036930" y="3444621"/>
            <a:ext cx="3034331" cy="1938992"/>
          </a:xfrm>
          <a:prstGeom prst="rect">
            <a:avLst/>
          </a:prstGeom>
          <a:noFill/>
        </p:spPr>
        <p:txBody>
          <a:bodyPr wrap="square">
            <a:spAutoFit/>
          </a:bodyPr>
          <a:lstStyle/>
          <a:p>
            <a:pPr algn="ctr"/>
            <a:r>
              <a:rPr lang="en-US" sz="4000" dirty="0">
                <a:solidFill>
                  <a:schemeClr val="accent2"/>
                </a:solidFill>
              </a:rPr>
              <a:t>Results in</a:t>
            </a:r>
          </a:p>
          <a:p>
            <a:pPr algn="ctr"/>
            <a:r>
              <a:rPr lang="en-US" sz="4000" dirty="0">
                <a:solidFill>
                  <a:schemeClr val="accent2"/>
                </a:solidFill>
              </a:rPr>
              <a:t>~$1.11 of loss</a:t>
            </a:r>
          </a:p>
        </p:txBody>
      </p:sp>
      <p:sp>
        <p:nvSpPr>
          <p:cNvPr id="7" name="Rectangle: Top Corners Snipped 13">
            <a:extLst>
              <a:ext uri="{FF2B5EF4-FFF2-40B4-BE49-F238E27FC236}">
                <a16:creationId xmlns:a16="http://schemas.microsoft.com/office/drawing/2014/main" id="{29FF9586-6515-7D59-3DF7-88C78AC367B3}"/>
              </a:ext>
            </a:extLst>
          </p:cNvPr>
          <p:cNvSpPr/>
          <p:nvPr/>
        </p:nvSpPr>
        <p:spPr>
          <a:xfrm rot="16200000">
            <a:off x="2929739" y="1279707"/>
            <a:ext cx="1103086" cy="2464655"/>
          </a:xfrm>
          <a:prstGeom prst="snip2SameRect">
            <a:avLst/>
          </a:prstGeom>
          <a:gradFill flip="none" rotWithShape="1">
            <a:gsLst>
              <a:gs pos="0">
                <a:schemeClr val="accent2">
                  <a:lumMod val="75000"/>
                </a:schemeClr>
              </a:gs>
              <a:gs pos="50000">
                <a:schemeClr val="accent2">
                  <a:lumMod val="40000"/>
                  <a:lumOff val="60000"/>
                </a:schemeClr>
              </a:gs>
              <a:gs pos="100000">
                <a:schemeClr val="accent1">
                  <a:lumMod val="40000"/>
                  <a:lumOff val="60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10">
            <a:extLst>
              <a:ext uri="{FF2B5EF4-FFF2-40B4-BE49-F238E27FC236}">
                <a16:creationId xmlns:a16="http://schemas.microsoft.com/office/drawing/2014/main" id="{A9E02499-7410-E23C-4113-F4DA25A9DAA4}"/>
              </a:ext>
            </a:extLst>
          </p:cNvPr>
          <p:cNvSpPr txBox="1"/>
          <p:nvPr/>
        </p:nvSpPr>
        <p:spPr>
          <a:xfrm>
            <a:off x="2321529" y="2032441"/>
            <a:ext cx="2319505" cy="954107"/>
          </a:xfrm>
          <a:prstGeom prst="rect">
            <a:avLst/>
          </a:prstGeom>
          <a:noFill/>
        </p:spPr>
        <p:txBody>
          <a:bodyPr wrap="square">
            <a:spAutoFit/>
          </a:bodyPr>
          <a:lstStyle/>
          <a:p>
            <a:pPr algn="ctr"/>
            <a:r>
              <a:rPr lang="en-US" sz="2800" dirty="0">
                <a:solidFill>
                  <a:schemeClr val="tx1">
                    <a:lumMod val="75000"/>
                    <a:lumOff val="25000"/>
                  </a:schemeClr>
                </a:solidFill>
              </a:rPr>
              <a:t>Government Pay</a:t>
            </a:r>
            <a:endParaRPr lang="en-US" sz="2800" dirty="0"/>
          </a:p>
        </p:txBody>
      </p:sp>
      <p:sp>
        <p:nvSpPr>
          <p:cNvPr id="9" name="TextBox 14">
            <a:extLst>
              <a:ext uri="{FF2B5EF4-FFF2-40B4-BE49-F238E27FC236}">
                <a16:creationId xmlns:a16="http://schemas.microsoft.com/office/drawing/2014/main" id="{620BAD9F-253C-56EC-C1D5-EAAC15EB6015}"/>
              </a:ext>
            </a:extLst>
          </p:cNvPr>
          <p:cNvSpPr txBox="1"/>
          <p:nvPr/>
        </p:nvSpPr>
        <p:spPr>
          <a:xfrm>
            <a:off x="7660161" y="2032441"/>
            <a:ext cx="2319505" cy="954107"/>
          </a:xfrm>
          <a:prstGeom prst="rect">
            <a:avLst/>
          </a:prstGeom>
          <a:noFill/>
        </p:spPr>
        <p:txBody>
          <a:bodyPr wrap="square">
            <a:spAutoFit/>
          </a:bodyPr>
          <a:lstStyle/>
          <a:p>
            <a:pPr algn="ctr"/>
            <a:r>
              <a:rPr lang="en-US" sz="2800" dirty="0">
                <a:solidFill>
                  <a:schemeClr val="tx1">
                    <a:lumMod val="75000"/>
                    <a:lumOff val="25000"/>
                  </a:schemeClr>
                </a:solidFill>
              </a:rPr>
              <a:t>Commercial Pay</a:t>
            </a:r>
            <a:endParaRPr lang="en-US" sz="2800" dirty="0"/>
          </a:p>
        </p:txBody>
      </p:sp>
      <p:sp>
        <p:nvSpPr>
          <p:cNvPr id="10" name="Oval 15">
            <a:extLst>
              <a:ext uri="{FF2B5EF4-FFF2-40B4-BE49-F238E27FC236}">
                <a16:creationId xmlns:a16="http://schemas.microsoft.com/office/drawing/2014/main" id="{AAF081E6-21F8-118C-A0B4-09143CFD45D2}"/>
              </a:ext>
            </a:extLst>
          </p:cNvPr>
          <p:cNvSpPr/>
          <p:nvPr/>
        </p:nvSpPr>
        <p:spPr>
          <a:xfrm>
            <a:off x="4425356" y="724705"/>
            <a:ext cx="3474720" cy="3474720"/>
          </a:xfrm>
          <a:prstGeom prst="ellipse">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1">
            <a:extLst>
              <a:ext uri="{FF2B5EF4-FFF2-40B4-BE49-F238E27FC236}">
                <a16:creationId xmlns:a16="http://schemas.microsoft.com/office/drawing/2014/main" id="{215F9CFB-714A-4CB7-9915-2C74E697A7F1}"/>
              </a:ext>
            </a:extLst>
          </p:cNvPr>
          <p:cNvSpPr>
            <a:spLocks noGrp="1"/>
          </p:cNvSpPr>
          <p:nvPr>
            <p:ph type="title"/>
          </p:nvPr>
        </p:nvSpPr>
        <p:spPr>
          <a:xfrm>
            <a:off x="4930388" y="1975469"/>
            <a:ext cx="2464656" cy="1073132"/>
          </a:xfrm>
        </p:spPr>
        <p:txBody>
          <a:bodyPr>
            <a:noAutofit/>
          </a:bodyPr>
          <a:lstStyle/>
          <a:p>
            <a:pPr algn="ctr">
              <a:lnSpc>
                <a:spcPct val="100000"/>
              </a:lnSpc>
              <a:spcBef>
                <a:spcPts val="1800"/>
              </a:spcBef>
              <a:spcAft>
                <a:spcPts val="600"/>
              </a:spcAft>
            </a:pPr>
            <a:r>
              <a:rPr lang="en-US" sz="4000" b="1" dirty="0">
                <a:solidFill>
                  <a:srgbClr val="000B2E"/>
                </a:solidFill>
                <a:latin typeface="Arial" panose="020B0604020202020204" pitchFamily="34" charset="0"/>
                <a:cs typeface="Arial" panose="020B0604020202020204" pitchFamily="34" charset="0"/>
              </a:rPr>
              <a:t>Every $1 of Care</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12" name="TextBox 16">
            <a:extLst>
              <a:ext uri="{FF2B5EF4-FFF2-40B4-BE49-F238E27FC236}">
                <a16:creationId xmlns:a16="http://schemas.microsoft.com/office/drawing/2014/main" id="{32EE0BDF-0BD6-C413-7373-07B39FBF0CAC}"/>
              </a:ext>
            </a:extLst>
          </p:cNvPr>
          <p:cNvSpPr txBox="1"/>
          <p:nvPr/>
        </p:nvSpPr>
        <p:spPr>
          <a:xfrm>
            <a:off x="8050193" y="3439738"/>
            <a:ext cx="3619293" cy="1323439"/>
          </a:xfrm>
          <a:prstGeom prst="rect">
            <a:avLst/>
          </a:prstGeom>
          <a:noFill/>
        </p:spPr>
        <p:txBody>
          <a:bodyPr wrap="square">
            <a:spAutoFit/>
          </a:bodyPr>
          <a:lstStyle/>
          <a:p>
            <a:pPr algn="ctr"/>
            <a:r>
              <a:rPr lang="en-US" sz="4000" dirty="0">
                <a:solidFill>
                  <a:schemeClr val="accent6">
                    <a:lumMod val="75000"/>
                  </a:schemeClr>
                </a:solidFill>
              </a:rPr>
              <a:t>Generates</a:t>
            </a:r>
          </a:p>
          <a:p>
            <a:pPr algn="ctr"/>
            <a:r>
              <a:rPr lang="en-US" sz="4000" dirty="0">
                <a:solidFill>
                  <a:schemeClr val="accent6">
                    <a:lumMod val="75000"/>
                  </a:schemeClr>
                </a:solidFill>
              </a:rPr>
              <a:t>~$0.17 of profit</a:t>
            </a:r>
          </a:p>
        </p:txBody>
      </p:sp>
      <p:sp>
        <p:nvSpPr>
          <p:cNvPr id="13" name="TextBox 6">
            <a:extLst>
              <a:ext uri="{FF2B5EF4-FFF2-40B4-BE49-F238E27FC236}">
                <a16:creationId xmlns:a16="http://schemas.microsoft.com/office/drawing/2014/main" id="{820D1BA4-6D19-00FD-17FF-A0AD0AAAF7EE}"/>
              </a:ext>
            </a:extLst>
          </p:cNvPr>
          <p:cNvSpPr txBox="1"/>
          <p:nvPr/>
        </p:nvSpPr>
        <p:spPr>
          <a:xfrm>
            <a:off x="1973943" y="5562552"/>
            <a:ext cx="9132180" cy="369332"/>
          </a:xfrm>
          <a:prstGeom prst="rect">
            <a:avLst/>
          </a:prstGeom>
          <a:noFill/>
        </p:spPr>
        <p:txBody>
          <a:bodyPr wrap="none" rtlCol="0">
            <a:spAutoFit/>
          </a:bodyPr>
          <a:lstStyle/>
          <a:p>
            <a:r>
              <a:rPr lang="en-US" dirty="0"/>
              <a:t>See slide 24 for more details on the calculation of commercial and government-pay net income.</a:t>
            </a:r>
          </a:p>
        </p:txBody>
      </p:sp>
      <p:pic>
        <p:nvPicPr>
          <p:cNvPr id="17" name="Content Placeholder 7">
            <a:extLst>
              <a:ext uri="{FF2B5EF4-FFF2-40B4-BE49-F238E27FC236}">
                <a16:creationId xmlns:a16="http://schemas.microsoft.com/office/drawing/2014/main" id="{12DB7264-85B1-DF60-9E19-1397A0A88CEC}"/>
              </a:ext>
            </a:extLst>
          </p:cNvPr>
          <p:cNvPicPr>
            <a:picLocks noChangeAspect="1"/>
          </p:cNvPicPr>
          <p:nvPr/>
        </p:nvPicPr>
        <p:blipFill>
          <a:blip r:embed="rId2" cstate="print"/>
          <a:stretch>
            <a:fillRect/>
          </a:stretch>
        </p:blipFill>
        <p:spPr>
          <a:xfrm>
            <a:off x="8942941" y="585528"/>
            <a:ext cx="2936914" cy="468071"/>
          </a:xfrm>
          <a:prstGeom prst="rect">
            <a:avLst/>
          </a:prstGeom>
        </p:spPr>
      </p:pic>
    </p:spTree>
    <p:extLst>
      <p:ext uri="{BB962C8B-B14F-4D97-AF65-F5344CB8AC3E}">
        <p14:creationId xmlns:p14="http://schemas.microsoft.com/office/powerpoint/2010/main" val="33487365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Are You a Small Business Owner or an Entrepreneur?">
            <a:extLst>
              <a:ext uri="{FF2B5EF4-FFF2-40B4-BE49-F238E27FC236}">
                <a16:creationId xmlns:a16="http://schemas.microsoft.com/office/drawing/2014/main" id="{EA765432-EB85-413C-8936-1CB9E6368C33}"/>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8467" y="0"/>
            <a:ext cx="7328369" cy="6870346"/>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3">
            <a:extLst>
              <a:ext uri="{FF2B5EF4-FFF2-40B4-BE49-F238E27FC236}">
                <a16:creationId xmlns:a16="http://schemas.microsoft.com/office/drawing/2014/main" id="{2A856662-DB6E-45A6-97AD-3C04EB8973D1}"/>
              </a:ext>
            </a:extLst>
          </p:cNvPr>
          <p:cNvSpPr>
            <a:spLocks noGrp="1"/>
          </p:cNvSpPr>
          <p:nvPr>
            <p:ph type="sldNum" sz="quarter" idx="12"/>
          </p:nvPr>
        </p:nvSpPr>
        <p:spPr>
          <a:xfrm>
            <a:off x="9067800" y="6455835"/>
            <a:ext cx="2743200" cy="365125"/>
          </a:xfrm>
        </p:spPr>
        <p:txBody>
          <a:bodyPr/>
          <a:lstStyle/>
          <a:p>
            <a:fld id="{3AFC719D-C4A7-4544-876E-D411D11AF6C9}" type="slidenum">
              <a:rPr lang="en-US" smtClean="0"/>
              <a:t>7</a:t>
            </a:fld>
            <a:endParaRPr lang="en-US" dirty="0"/>
          </a:p>
        </p:txBody>
      </p:sp>
      <p:sp>
        <p:nvSpPr>
          <p:cNvPr id="4" name="Rectangle 6">
            <a:extLst>
              <a:ext uri="{FF2B5EF4-FFF2-40B4-BE49-F238E27FC236}">
                <a16:creationId xmlns:a16="http://schemas.microsoft.com/office/drawing/2014/main" id="{4873A62E-6928-4B7B-95B7-002E00DAA648}"/>
              </a:ext>
            </a:extLst>
          </p:cNvPr>
          <p:cNvSpPr/>
          <p:nvPr/>
        </p:nvSpPr>
        <p:spPr>
          <a:xfrm>
            <a:off x="4282251" y="0"/>
            <a:ext cx="3454400" cy="6870346"/>
          </a:xfrm>
          <a:prstGeom prst="rect">
            <a:avLst/>
          </a:prstGeom>
          <a:gradFill flip="none" rotWithShape="1">
            <a:gsLst>
              <a:gs pos="60000">
                <a:srgbClr val="FFFFFF"/>
              </a:gs>
              <a:gs pos="0">
                <a:schemeClr val="bg1">
                  <a:alpha val="1000"/>
                </a:schemeClr>
              </a:gs>
              <a:gs pos="36000">
                <a:schemeClr val="bg1">
                  <a:alpha val="81000"/>
                </a:schemeClr>
              </a:gs>
              <a:gs pos="100000">
                <a:schemeClr val="bg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5">
            <a:extLst>
              <a:ext uri="{FF2B5EF4-FFF2-40B4-BE49-F238E27FC236}">
                <a16:creationId xmlns:a16="http://schemas.microsoft.com/office/drawing/2014/main" id="{4579F9FC-9C26-4EE8-993C-4E9774C6CB61}"/>
              </a:ext>
            </a:extLst>
          </p:cNvPr>
          <p:cNvSpPr/>
          <p:nvPr/>
        </p:nvSpPr>
        <p:spPr>
          <a:xfrm>
            <a:off x="6301081" y="2692174"/>
            <a:ext cx="5726288" cy="3508653"/>
          </a:xfrm>
          <a:prstGeom prst="rect">
            <a:avLst/>
          </a:prstGeom>
        </p:spPr>
        <p:txBody>
          <a:bodyPr wrap="square">
            <a:spAutoFit/>
          </a:bodyPr>
          <a:lstStyle/>
          <a:p>
            <a:pPr marL="514356" indent="-342905" defTabSz="914411">
              <a:lnSpc>
                <a:spcPct val="90000"/>
              </a:lnSpc>
              <a:spcAft>
                <a:spcPts val="1200"/>
              </a:spcAft>
              <a:buClr>
                <a:srgbClr val="244F9A"/>
              </a:buClr>
              <a:buFont typeface="Wingdings" panose="05000000000000000000" pitchFamily="2" charset="2"/>
              <a:buChar char="§"/>
            </a:pPr>
            <a:r>
              <a:rPr lang="en-US" dirty="0"/>
              <a:t>Reduced medical spend through lower unit costs and better integrated care</a:t>
            </a:r>
          </a:p>
          <a:p>
            <a:pPr marL="514356" indent="-342905" defTabSz="914411">
              <a:lnSpc>
                <a:spcPct val="90000"/>
              </a:lnSpc>
              <a:spcAft>
                <a:spcPts val="1200"/>
              </a:spcAft>
              <a:buClr>
                <a:srgbClr val="244F9A"/>
              </a:buClr>
              <a:buFont typeface="Wingdings" panose="05000000000000000000" pitchFamily="2" charset="2"/>
              <a:buChar char="§"/>
            </a:pPr>
            <a:r>
              <a:rPr lang="en-US" dirty="0">
                <a:solidFill/>
              </a:rPr>
              <a:t>“At the table” with Cleveland Clinic Health System</a:t>
            </a:r>
          </a:p>
          <a:p>
            <a:pPr marL="514356" indent="-342905" defTabSz="914411">
              <a:lnSpc>
                <a:spcPct val="90000"/>
              </a:lnSpc>
              <a:spcAft>
                <a:spcPts val="1200"/>
              </a:spcAft>
              <a:buClr>
                <a:srgbClr val="244F9A"/>
              </a:buClr>
              <a:buFont typeface="Wingdings" panose="05000000000000000000" pitchFamily="2" charset="2"/>
              <a:buChar char="§"/>
            </a:pPr>
            <a:r>
              <a:rPr lang="en-US" dirty="0"/>
              <a:t>Aligned financial incentives</a:t>
            </a:r>
          </a:p>
          <a:p>
            <a:pPr marL="514356" indent="-342905" defTabSz="914411">
              <a:lnSpc>
                <a:spcPct val="90000"/>
              </a:lnSpc>
              <a:spcAft>
                <a:spcPts val="1200"/>
              </a:spcAft>
              <a:buClr>
                <a:srgbClr val="244F9A"/>
              </a:buClr>
              <a:buFont typeface="Wingdings" panose="05000000000000000000" pitchFamily="2" charset="2"/>
              <a:buChar char="§"/>
            </a:pPr>
            <a:r>
              <a:rPr lang="en-US" dirty="0"/>
              <a:t>Complete transparency for unlimited visibility into health benefit plan expenses and cost drivers</a:t>
            </a:r>
          </a:p>
          <a:p>
            <a:pPr marL="514356" indent="-342905" defTabSz="914411">
              <a:lnSpc>
                <a:spcPct val="90000"/>
              </a:lnSpc>
              <a:spcAft>
                <a:spcPts val="1200"/>
              </a:spcAft>
              <a:buClr>
                <a:srgbClr val="244F9A"/>
              </a:buClr>
              <a:buFont typeface="Wingdings" panose="05000000000000000000" pitchFamily="2" charset="2"/>
              <a:buChar char="§"/>
            </a:pPr>
            <a:r>
              <a:rPr lang="en-US" dirty="0"/>
              <a:t>Aggressive stop-loss premiums and policy terms</a:t>
            </a:r>
          </a:p>
          <a:p>
            <a:pPr marL="514356" indent="-342905" defTabSz="914411">
              <a:lnSpc>
                <a:spcPct val="90000"/>
              </a:lnSpc>
              <a:spcAft>
                <a:spcPts val="1200"/>
              </a:spcAft>
              <a:buClr>
                <a:srgbClr val="244F9A"/>
              </a:buClr>
              <a:buFont typeface="Wingdings" panose="05000000000000000000" pitchFamily="2" charset="2"/>
              <a:buChar char="§"/>
            </a:pPr>
            <a:r>
              <a:rPr lang="en-US" dirty="0"/>
              <a:t>Increased employee satisfaction</a:t>
            </a:r>
          </a:p>
          <a:p>
            <a:pPr marL="514356" indent="-342905" defTabSz="914411">
              <a:lnSpc>
                <a:spcPct val="90000"/>
              </a:lnSpc>
              <a:spcAft>
                <a:spcPts val="1200"/>
              </a:spcAft>
              <a:buClr>
                <a:srgbClr val="244F9A"/>
              </a:buClr>
              <a:buFont typeface="Wingdings" panose="05000000000000000000" pitchFamily="2" charset="2"/>
              <a:buChar char="§"/>
            </a:pPr>
            <a:r>
              <a:rPr lang="en-US" dirty="0"/>
              <a:t>Improved cash flow &amp; stabilization of future medical cost trend</a:t>
            </a:r>
          </a:p>
        </p:txBody>
      </p:sp>
      <p:sp>
        <p:nvSpPr>
          <p:cNvPr id="6" name="Footer Placeholder 2">
            <a:extLst>
              <a:ext uri="{FF2B5EF4-FFF2-40B4-BE49-F238E27FC236}">
                <a16:creationId xmlns:a16="http://schemas.microsoft.com/office/drawing/2014/main" id="{FE58BE34-132B-41A8-8534-03C951FA73B1}"/>
              </a:ext>
            </a:extLst>
          </p:cNvPr>
          <p:cNvSpPr>
            <a:spLocks noGrp="1"/>
          </p:cNvSpPr>
          <p:nvPr>
            <p:ph type="ftr" sz="quarter" idx="11"/>
          </p:nvPr>
        </p:nvSpPr>
        <p:spPr>
          <a:xfrm>
            <a:off x="6096000" y="6449839"/>
            <a:ext cx="4114800" cy="365125"/>
          </a:xfrm>
        </p:spPr>
        <p:txBody>
          <a:bodyPr/>
          <a:lstStyle/>
          <a:p>
            <a:r>
              <a:rPr lang="en-US" dirty="0"/>
              <a:t>Key Benefit Administrators</a:t>
            </a:r>
          </a:p>
        </p:txBody>
      </p:sp>
      <p:sp>
        <p:nvSpPr>
          <p:cNvPr id="7" name="Title 1">
            <a:extLst>
              <a:ext uri="{FF2B5EF4-FFF2-40B4-BE49-F238E27FC236}">
                <a16:creationId xmlns:a16="http://schemas.microsoft.com/office/drawing/2014/main" id="{E9C15F56-47BD-D180-EBFB-0843E8BBCCEE}"/>
              </a:ext>
            </a:extLst>
          </p:cNvPr>
          <p:cNvSpPr>
            <a:spLocks noGrp="1"/>
          </p:cNvSpPr>
          <p:nvPr>
            <p:ph type="title"/>
          </p:nvPr>
        </p:nvSpPr>
        <p:spPr>
          <a:xfrm>
            <a:off x="6763656" y="683306"/>
            <a:ext cx="4846964" cy="1325563"/>
          </a:xfrm>
        </p:spPr>
        <p:txBody>
          <a:bodyPr>
            <a:noAutofit/>
          </a:bodyPr>
          <a:lstStyle/>
          <a:p>
            <a:pPr>
              <a:lnSpc>
                <a:spcPct val="100000"/>
              </a:lnSpc>
              <a:spcBef>
                <a:spcPts val="1800"/>
              </a:spcBef>
              <a:spcAft>
                <a:spcPts val="600"/>
              </a:spcAft>
            </a:pPr>
            <a:r>
              <a:rPr lang="en-US" sz="2000" dirty="0">
                <a:solidFill>
                  <a:srgbClr val="000B2E"/>
                </a:solidFill>
                <a:latin typeface="Arial" panose="020B0604020202020204" pitchFamily="34" charset="0"/>
                <a:cs typeface="Arial" panose="020B0604020202020204" pitchFamily="34" charset="0"/>
              </a:rPr>
              <a:t>Direct-to-Employer Strategy:</a:t>
            </a:r>
            <a:br>
              <a:rPr lang="en-US" sz="4000" b="1" dirty="0">
                <a:solidFill>
                  <a:srgbClr val="000B2E"/>
                </a:solidFill>
                <a:latin typeface="Arial" panose="020B0604020202020204" pitchFamily="34" charset="0"/>
                <a:cs typeface="Arial" panose="020B0604020202020204" pitchFamily="34" charset="0"/>
              </a:rPr>
            </a:br>
            <a:r>
              <a:rPr lang="en-US" sz="3600" dirty="0">
                <a:solidFill>
                  <a:srgbClr val="000B2E"/>
                </a:solidFill>
              </a:rPr>
              <a:t>Powerful Employer Value</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141260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6E917A82-FACC-9CE3-5CE6-640CE6087212}"/>
              </a:ext>
            </a:extLst>
          </p:cNvPr>
          <p:cNvSpPr>
            <a:spLocks noGrp="1"/>
          </p:cNvSpPr>
          <p:nvPr>
            <p:ph type="ftr" sz="quarter" idx="11"/>
          </p:nvPr>
        </p:nvSpPr>
        <p:spPr/>
        <p:txBody>
          <a:bodyPr/>
          <a:lstStyle/>
          <a:p>
            <a:r>
              <a:rPr lang="en-US"/>
              <a:t>Key Benefit Administrators</a:t>
            </a:r>
            <a:endParaRPr lang="en-US" dirty="0"/>
          </a:p>
        </p:txBody>
      </p:sp>
      <p:sp>
        <p:nvSpPr>
          <p:cNvPr id="3" name="Slide Number Placeholder 3">
            <a:extLst>
              <a:ext uri="{FF2B5EF4-FFF2-40B4-BE49-F238E27FC236}">
                <a16:creationId xmlns:a16="http://schemas.microsoft.com/office/drawing/2014/main" id="{77BEE2C0-9C88-E3B0-3307-08132DDFD6E0}"/>
              </a:ext>
            </a:extLst>
          </p:cNvPr>
          <p:cNvSpPr>
            <a:spLocks noGrp="1"/>
          </p:cNvSpPr>
          <p:nvPr>
            <p:ph type="sldNum" sz="quarter" idx="12"/>
          </p:nvPr>
        </p:nvSpPr>
        <p:spPr/>
        <p:txBody>
          <a:bodyPr/>
          <a:lstStyle/>
          <a:p>
            <a:fld id="{3AFC719D-C4A7-4544-876E-D411D11AF6C9}" type="slidenum">
              <a:rPr lang="en-US" smtClean="0"/>
              <a:t>8</a:t>
            </a:fld>
            <a:endParaRPr lang="en-US" dirty="0"/>
          </a:p>
        </p:txBody>
      </p:sp>
      <p:sp>
        <p:nvSpPr>
          <p:cNvPr id="4" name="TextBox 5">
            <a:extLst>
              <a:ext uri="{FF2B5EF4-FFF2-40B4-BE49-F238E27FC236}">
                <a16:creationId xmlns:a16="http://schemas.microsoft.com/office/drawing/2014/main" id="{C9963971-9E27-D1D8-44A6-33EAA3782592}"/>
              </a:ext>
            </a:extLst>
          </p:cNvPr>
          <p:cNvSpPr txBox="1"/>
          <p:nvPr/>
        </p:nvSpPr>
        <p:spPr>
          <a:xfrm>
            <a:off x="227045" y="1275695"/>
            <a:ext cx="11737910" cy="646331"/>
          </a:xfrm>
          <a:prstGeom prst="rect">
            <a:avLst/>
          </a:prstGeom>
          <a:noFill/>
        </p:spPr>
        <p:txBody>
          <a:bodyPr wrap="square">
            <a:spAutoFit/>
          </a:bodyPr>
          <a:lstStyle/>
          <a:p>
            <a:pPr algn="ctr"/>
            <a:r>
              <a:rPr lang="en-US" sz="1800" b="1" spc="200" dirty="0">
                <a:solidFill>
                  <a:schemeClr val="accent2">
                    <a:lumMod val="75000"/>
                  </a:schemeClr>
                </a:solidFill>
                <a:latin typeface="+mj-lt"/>
                <a:cs typeface="+mj-cs"/>
              </a:rPr>
              <a:t>Target Market</a:t>
            </a:r>
            <a:br>
              <a:rPr lang="en-US" sz="1800" spc="200" dirty="0">
                <a:latin typeface="+mj-lt"/>
                <a:cs typeface="+mj-cs"/>
              </a:rPr>
            </a:br>
            <a:r>
              <a:rPr lang="en-US" sz="1800" spc="200" dirty="0">
                <a:latin typeface="+mj-lt"/>
                <a:cs typeface="+mj-cs"/>
              </a:rPr>
              <a:t>5,000</a:t>
            </a:r>
            <a:r>
              <a:rPr lang="en-US" spc="200" dirty="0">
                <a:latin typeface="+mj-lt"/>
                <a:cs typeface="+mj-cs"/>
              </a:rPr>
              <a:t>+</a:t>
            </a:r>
            <a:r>
              <a:rPr lang="en-US" sz="1800" spc="200" dirty="0">
                <a:latin typeface="+mj-lt"/>
                <a:cs typeface="+mj-cs"/>
              </a:rPr>
              <a:t> Employers          1M</a:t>
            </a:r>
            <a:r>
              <a:rPr lang="en-US" sz="1800" spc="200" dirty="0">
                <a:latin typeface="+mj-lt"/>
                <a:cs typeface="+mj-cs"/>
                <a:sym typeface="Wingdings" panose="05000000000000000000" pitchFamily="2" charset="2"/>
              </a:rPr>
              <a:t>+ Employees                 1.8M+ Members</a:t>
            </a:r>
            <a:endParaRPr lang="en-US" dirty="0"/>
          </a:p>
        </p:txBody>
      </p:sp>
      <p:sp>
        <p:nvSpPr>
          <p:cNvPr id="5" name="Arrow: Chevron 8">
            <a:extLst>
              <a:ext uri="{FF2B5EF4-FFF2-40B4-BE49-F238E27FC236}">
                <a16:creationId xmlns:a16="http://schemas.microsoft.com/office/drawing/2014/main" id="{CCED4F75-71FE-39B7-D7A7-16E95303FB5C}"/>
              </a:ext>
            </a:extLst>
          </p:cNvPr>
          <p:cNvSpPr/>
          <p:nvPr/>
        </p:nvSpPr>
        <p:spPr>
          <a:xfrm>
            <a:off x="4523987" y="1656396"/>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 name="Arrow: Chevron 9">
            <a:extLst>
              <a:ext uri="{FF2B5EF4-FFF2-40B4-BE49-F238E27FC236}">
                <a16:creationId xmlns:a16="http://schemas.microsoft.com/office/drawing/2014/main" id="{340F1AD2-D85A-D177-8D19-AC9B027C53E2}"/>
              </a:ext>
            </a:extLst>
          </p:cNvPr>
          <p:cNvSpPr/>
          <p:nvPr/>
        </p:nvSpPr>
        <p:spPr>
          <a:xfrm>
            <a:off x="7470531" y="1647719"/>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     </a:t>
            </a:r>
            <a:endParaRPr lang="en-US" dirty="0">
              <a:solidFill>
                <a:schemeClr val="tx1"/>
              </a:solidFill>
            </a:endParaRPr>
          </a:p>
        </p:txBody>
      </p:sp>
      <p:sp>
        <p:nvSpPr>
          <p:cNvPr id="7" name="Title 1">
            <a:extLst>
              <a:ext uri="{FF2B5EF4-FFF2-40B4-BE49-F238E27FC236}">
                <a16:creationId xmlns:a16="http://schemas.microsoft.com/office/drawing/2014/main" id="{012C7A76-8C4C-0C17-C582-24A807F19DA5}"/>
              </a:ext>
            </a:extLst>
          </p:cNvPr>
          <p:cNvSpPr>
            <a:spLocks noGrp="1"/>
          </p:cNvSpPr>
          <p:nvPr>
            <p:ph type="title"/>
          </p:nvPr>
        </p:nvSpPr>
        <p:spPr>
          <a:xfrm>
            <a:off x="163572" y="43143"/>
            <a:ext cx="11801383" cy="1325563"/>
          </a:xfrm>
        </p:spPr>
        <p:txBody>
          <a:bodyPr>
            <a:noAutofit/>
          </a:bodyPr>
          <a:lstStyle/>
          <a:p>
            <a:pPr>
              <a:lnSpc>
                <a:spcPct val="100000"/>
              </a:lnSpc>
              <a:spcBef>
                <a:spcPts val="1800"/>
              </a:spcBef>
              <a:spcAft>
                <a:spcPts val="600"/>
              </a:spcAft>
            </a:pPr>
            <a:r>
              <a:rPr lang="en-US" sz="3600" dirty="0">
                <a:solidFill>
                  <a:srgbClr val="000B2E"/>
                </a:solidFill>
                <a:latin typeface="Arial" panose="020B0604020202020204" pitchFamily="34" charset="0"/>
                <a:cs typeface="Arial" panose="020B0604020202020204" pitchFamily="34" charset="0"/>
              </a:rPr>
              <a:t>Significant Opportunity for </a:t>
            </a:r>
            <a:r>
              <a:rPr lang="en-US" sz="3600" dirty="0">
                <a:solidFill>
                  <a:srgbClr val="000B2E"/>
                </a:solidFill>
              </a:rPr>
              <a:t>Plan Growth</a:t>
            </a:r>
            <a:br>
              <a:rPr lang="en-US" sz="3600" dirty="0">
                <a:solidFill>
                  <a:srgbClr val="000B2E"/>
                </a:solidFill>
              </a:rPr>
            </a:b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graphicFrame>
        <p:nvGraphicFramePr>
          <p:cNvPr id="8" name="Table 12">
            <a:extLst>
              <a:ext uri="{FF2B5EF4-FFF2-40B4-BE49-F238E27FC236}">
                <a16:creationId xmlns:a16="http://schemas.microsoft.com/office/drawing/2014/main" id="{B9E0A44D-EDC5-EBD5-4D77-F30FF46B060F}"/>
              </a:ext>
            </a:extLst>
          </p:cNvPr>
          <p:cNvGraphicFramePr>
            <a:graphicFrameLocks noGrp="1"/>
          </p:cNvGraphicFramePr>
          <p:nvPr>
            <p:extLst>
              <p:ext uri="{D42A27DB-BD31-4B8C-83A1-F6EECF244321}">
                <p14:modId xmlns:p14="http://schemas.microsoft.com/office/powerpoint/2010/main" val="827984277"/>
              </p:ext>
            </p:extLst>
          </p:nvPr>
        </p:nvGraphicFramePr>
        <p:xfrm>
          <a:off x="4889297" y="2140949"/>
          <a:ext cx="6949427" cy="3441355"/>
        </p:xfrm>
        <a:graphic>
          <a:graphicData uri="http://schemas.openxmlformats.org/drawingml/2006/table">
            <a:tbl>
              <a:tblPr/>
              <a:tblGrid>
                <a:gridCol w="2681975">
                  <a:extLst>
                    <a:ext uri="{9D8B030D-6E8A-4147-A177-3AD203B41FA5}">
                      <a16:colId xmlns:a16="http://schemas.microsoft.com/office/drawing/2014/main" val="1559488425"/>
                    </a:ext>
                  </a:extLst>
                </a:gridCol>
                <a:gridCol w="711242">
                  <a:extLst>
                    <a:ext uri="{9D8B030D-6E8A-4147-A177-3AD203B41FA5}">
                      <a16:colId xmlns:a16="http://schemas.microsoft.com/office/drawing/2014/main" val="3447311937"/>
                    </a:ext>
                  </a:extLst>
                </a:gridCol>
                <a:gridCol w="711242">
                  <a:extLst>
                    <a:ext uri="{9D8B030D-6E8A-4147-A177-3AD203B41FA5}">
                      <a16:colId xmlns:a16="http://schemas.microsoft.com/office/drawing/2014/main" val="3754037008"/>
                    </a:ext>
                  </a:extLst>
                </a:gridCol>
                <a:gridCol w="711242">
                  <a:extLst>
                    <a:ext uri="{9D8B030D-6E8A-4147-A177-3AD203B41FA5}">
                      <a16:colId xmlns:a16="http://schemas.microsoft.com/office/drawing/2014/main" val="1458190780"/>
                    </a:ext>
                  </a:extLst>
                </a:gridCol>
                <a:gridCol w="711242">
                  <a:extLst>
                    <a:ext uri="{9D8B030D-6E8A-4147-A177-3AD203B41FA5}">
                      <a16:colId xmlns:a16="http://schemas.microsoft.com/office/drawing/2014/main" val="957112869"/>
                    </a:ext>
                  </a:extLst>
                </a:gridCol>
                <a:gridCol w="711242">
                  <a:extLst>
                    <a:ext uri="{9D8B030D-6E8A-4147-A177-3AD203B41FA5}">
                      <a16:colId xmlns:a16="http://schemas.microsoft.com/office/drawing/2014/main" val="257020552"/>
                    </a:ext>
                  </a:extLst>
                </a:gridCol>
                <a:gridCol w="711242">
                  <a:extLst>
                    <a:ext uri="{9D8B030D-6E8A-4147-A177-3AD203B41FA5}">
                      <a16:colId xmlns:a16="http://schemas.microsoft.com/office/drawing/2014/main" val="3699895334"/>
                    </a:ext>
                  </a:extLst>
                </a:gridCol>
              </a:tblGrid>
              <a:tr h="333130">
                <a:tc>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gridSpan="6">
                  <a:txBody>
                    <a:bodyPr/>
                    <a:lstStyle/>
                    <a:p>
                      <a:pPr algn="ctr" fontAlgn="b"/>
                      <a:r>
                        <a:rPr lang="en-US" sz="1100" b="0" i="0" u="none" strike="noStrike" dirty="0">
                          <a:solidFill>
                            <a:srgbClr val="000000"/>
                          </a:solidFill>
                          <a:effectLst/>
                          <a:latin typeface="Aptos Narrow" panose="020B0004020202020204" pitchFamily="34" charset="0"/>
                        </a:rPr>
                        <a:t>Employer Size Group (# of Employees)</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3381166579"/>
                  </a:ext>
                </a:extLst>
              </a:tr>
              <a:tr h="539395">
                <a:tc>
                  <a:txBody>
                    <a:bodyPr/>
                    <a:lstStyle/>
                    <a:p>
                      <a:pPr algn="ctr" fontAlgn="b"/>
                      <a:r>
                        <a:rPr lang="en-US" sz="1100" b="1" i="0" u="none" strike="noStrike" dirty="0">
                          <a:solidFill>
                            <a:srgbClr val="000000"/>
                          </a:solidFill>
                          <a:effectLst/>
                          <a:latin typeface="Aptos Narrow" panose="020B0004020202020204" pitchFamily="34" charset="0"/>
                        </a:rPr>
                        <a:t>Commercial Employers With Headquarters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2831961423"/>
                  </a:ext>
                </a:extLst>
              </a:tr>
              <a:tr h="298008">
                <a:tc>
                  <a:txBody>
                    <a:bodyPr/>
                    <a:lstStyle/>
                    <a:p>
                      <a:pPr algn="ctr" fontAlgn="b"/>
                      <a:r>
                        <a:rPr lang="en-US" sz="1100" b="1" i="0" u="none" strike="noStrike" dirty="0">
                          <a:solidFill>
                            <a:srgbClr val="000000"/>
                          </a:solidFill>
                          <a:effectLst/>
                          <a:latin typeface="Aptos Narrow" panose="020B0004020202020204" pitchFamily="34" charset="0"/>
                        </a:rPr>
                        <a:t>In Catchment Area</a:t>
                      </a:r>
                    </a:p>
                  </a:txBody>
                  <a:tcPr marL="9525" marR="9525" marT="9525" marB="0">
                    <a:lnL>
                      <a:noFill/>
                    </a:lnL>
                    <a:lnR>
                      <a:noFill/>
                    </a:lnR>
                    <a:lnT>
                      <a:noFill/>
                    </a:lnT>
                    <a:lnB>
                      <a:noFill/>
                    </a:lnB>
                    <a:no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2,809</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1,199</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772</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440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123</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latin typeface="Aptos Narrow" panose="020B0004020202020204" pitchFamily="34" charset="0"/>
                        </a:rPr>
                        <a:t>92</a:t>
                      </a:r>
                    </a:p>
                  </a:txBody>
                  <a:tcPr marL="9525" marR="9525" marT="9525" marB="0" anchor="b">
                    <a:lnL>
                      <a:noFill/>
                    </a:lnL>
                    <a:lnR>
                      <a:noFill/>
                    </a:lnR>
                    <a:lnT>
                      <a:noFill/>
                    </a:lnT>
                    <a:lnB>
                      <a:noFill/>
                    </a:lnB>
                    <a:noFill/>
                  </a:tcPr>
                </a:tc>
                <a:extLst>
                  <a:ext uri="{0D108BD9-81ED-4DB2-BD59-A6C34878D82A}">
                    <a16:rowId xmlns:a16="http://schemas.microsoft.com/office/drawing/2014/main" val="4059977521"/>
                  </a:ext>
                </a:extLst>
              </a:tr>
              <a:tr h="298008">
                <a:tc>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660967609"/>
                  </a:ext>
                </a:extLst>
              </a:tr>
              <a:tr h="539395">
                <a:tc>
                  <a:txBody>
                    <a:bodyPr/>
                    <a:lstStyle/>
                    <a:p>
                      <a:pPr algn="ctr" fontAlgn="b"/>
                      <a:r>
                        <a:rPr lang="en-US" sz="1100" b="1" i="0" u="none" strike="noStrike" dirty="0">
                          <a:solidFill>
                            <a:srgbClr val="000000"/>
                          </a:solidFill>
                          <a:effectLst/>
                          <a:latin typeface="Aptos Narrow" panose="020B0004020202020204" pitchFamily="34" charset="0"/>
                        </a:rPr>
                        <a:t>Total Employees at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1072000535"/>
                  </a:ext>
                </a:extLst>
              </a:tr>
              <a:tr h="298008">
                <a:tc>
                  <a:txBody>
                    <a:bodyPr/>
                    <a:lstStyle/>
                    <a:p>
                      <a:pPr algn="ctr" fontAlgn="b"/>
                      <a:r>
                        <a:rPr lang="en-US" sz="1100" b="1" i="0" u="none" strike="noStrike" dirty="0">
                          <a:solidFill>
                            <a:srgbClr val="000000"/>
                          </a:solidFill>
                          <a:effectLst/>
                          <a:latin typeface="Aptos Narrow" panose="020B0004020202020204" pitchFamily="34" charset="0"/>
                        </a:rPr>
                        <a:t>Headquartered in Catchment Area</a:t>
                      </a:r>
                    </a:p>
                  </a:txBody>
                  <a:tcPr marL="9525" marR="9525" marT="9525" marB="0">
                    <a:lnL>
                      <a:noFill/>
                    </a:lnL>
                    <a:lnR>
                      <a:noFill/>
                    </a:lnR>
                    <a:lnT>
                      <a:noFill/>
                    </a:lnT>
                    <a:lnB>
                      <a:noFill/>
                    </a:lnB>
                    <a:noFill/>
                  </a:tcPr>
                </a:tc>
                <a:tc>
                  <a:txBody>
                    <a:bodyPr/>
                    <a:lstStyle/>
                    <a:p>
                      <a:pPr algn="ctr" rtl="0" fontAlgn="b"/>
                      <a:r>
                        <a:rPr lang="en-US" sz="1100" b="0" i="0" u="none" strike="noStrike">
                          <a:solidFill>
                            <a:srgbClr val="000000"/>
                          </a:solidFill>
                          <a:effectLst/>
                          <a:latin typeface="Aptos Narrow" panose="020B0004020202020204" pitchFamily="34" charset="0"/>
                        </a:rPr>
                        <a:t>210,675</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latin typeface="Aptos Narrow" panose="020B0004020202020204" pitchFamily="34" charset="0"/>
                        </a:rPr>
                        <a:t>179,850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latin typeface="Aptos Narrow" panose="020B0004020202020204" pitchFamily="34" charset="0"/>
                        </a:rPr>
                        <a:t>231,600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latin typeface="Aptos Narrow" panose="020B0004020202020204" pitchFamily="34" charset="0"/>
                        </a:rPr>
                        <a:t>308,000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latin typeface="Aptos Narrow" panose="020B0004020202020204" pitchFamily="34" charset="0"/>
                        </a:rPr>
                        <a:t>246,000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latin typeface="Aptos Narrow" panose="020B0004020202020204" pitchFamily="34" charset="0"/>
                        </a:rPr>
                        <a:t>552,000</a:t>
                      </a:r>
                    </a:p>
                  </a:txBody>
                  <a:tcPr marL="9525" marR="9525" marT="9525" marB="0" anchor="b">
                    <a:lnL>
                      <a:noFill/>
                    </a:lnL>
                    <a:lnR>
                      <a:noFill/>
                    </a:lnR>
                    <a:lnT>
                      <a:noFill/>
                    </a:lnT>
                    <a:lnB>
                      <a:noFill/>
                    </a:lnB>
                    <a:noFill/>
                  </a:tcPr>
                </a:tc>
                <a:extLst>
                  <a:ext uri="{0D108BD9-81ED-4DB2-BD59-A6C34878D82A}">
                    <a16:rowId xmlns:a16="http://schemas.microsoft.com/office/drawing/2014/main" val="486299110"/>
                  </a:ext>
                </a:extLst>
              </a:tr>
              <a:tr h="298008">
                <a:tc>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554517032"/>
                  </a:ext>
                </a:extLst>
              </a:tr>
              <a:tr h="539395">
                <a:tc>
                  <a:txBody>
                    <a:bodyPr/>
                    <a:lstStyle/>
                    <a:p>
                      <a:pPr algn="ctr" fontAlgn="b"/>
                      <a:r>
                        <a:rPr lang="en-US" sz="1100" b="1" i="0" u="none" strike="noStrike" dirty="0">
                          <a:solidFill>
                            <a:srgbClr val="000000"/>
                          </a:solidFill>
                          <a:effectLst/>
                          <a:latin typeface="Aptos Narrow" panose="020B0004020202020204" pitchFamily="34" charset="0"/>
                        </a:rPr>
                        <a:t>Total Members with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a:solidFill>
                            <a:srgbClr val="000000"/>
                          </a:solidFill>
                          <a:effectLst/>
                          <a:latin typeface="Aptos Narrow" panose="020B0004020202020204" pitchFamily="34"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a:solidFill>
                            <a:srgbClr val="000000"/>
                          </a:solidFill>
                          <a:effectLst/>
                          <a:latin typeface="Aptos Narrow" panose="020B0004020202020204" pitchFamily="34"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a:solidFill>
                            <a:srgbClr val="000000"/>
                          </a:solidFill>
                          <a:effectLst/>
                          <a:latin typeface="Aptos Narrow" panose="020B0004020202020204" pitchFamily="34"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306436592"/>
                  </a:ext>
                </a:extLst>
              </a:tr>
              <a:tr h="298008">
                <a:tc>
                  <a:txBody>
                    <a:bodyPr/>
                    <a:lstStyle/>
                    <a:p>
                      <a:pPr algn="ctr" fontAlgn="b"/>
                      <a:r>
                        <a:rPr lang="en-US" sz="1100" b="1" i="0" u="none" strike="noStrike" dirty="0">
                          <a:solidFill>
                            <a:srgbClr val="000000"/>
                          </a:solidFill>
                          <a:effectLst/>
                          <a:latin typeface="Aptos Narrow" panose="020B0004020202020204" pitchFamily="34" charset="0"/>
                        </a:rPr>
                        <a:t>Headquartered in Catchment Area</a:t>
                      </a:r>
                    </a:p>
                  </a:txBody>
                  <a:tcPr marL="9525" marR="9525" marT="9525" marB="0">
                    <a:lnL>
                      <a:noFill/>
                    </a:lnL>
                    <a:lnR>
                      <a:noFill/>
                    </a:lnR>
                    <a:lnT>
                      <a:noFill/>
                    </a:lnT>
                    <a:lnB>
                      <a:noFill/>
                    </a:lnB>
                    <a:noFill/>
                  </a:tcPr>
                </a:tc>
                <a:tc>
                  <a:txBody>
                    <a:bodyPr/>
                    <a:lstStyle/>
                    <a:p>
                      <a:pPr algn="ctr" rtl="0" fontAlgn="b"/>
                      <a:r>
                        <a:rPr lang="en-US" sz="1100" b="0" i="0" u="none" strike="noStrike" dirty="0">
                          <a:solidFill>
                            <a:srgbClr val="000000"/>
                          </a:solidFill>
                          <a:effectLst/>
                          <a:latin typeface="Aptos Narrow" panose="020B0004020202020204" pitchFamily="34" charset="0"/>
                        </a:rPr>
                        <a:t>248,000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latin typeface="Aptos Narrow" panose="020B0004020202020204" pitchFamily="34" charset="0"/>
                        </a:rPr>
                        <a:t>212,000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latin typeface="Aptos Narrow" panose="020B0004020202020204" pitchFamily="34" charset="0"/>
                        </a:rPr>
                        <a:t>273,000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latin typeface="Aptos Narrow" panose="020B0004020202020204" pitchFamily="34" charset="0"/>
                        </a:rPr>
                        <a:t>363,000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latin typeface="Aptos Narrow" panose="020B0004020202020204" pitchFamily="34" charset="0"/>
                        </a:rPr>
                        <a:t>290,000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latin typeface="Aptos Narrow" panose="020B0004020202020204" pitchFamily="34" charset="0"/>
                        </a:rPr>
                        <a:t>651,000</a:t>
                      </a:r>
                    </a:p>
                  </a:txBody>
                  <a:tcPr marL="9525" marR="9525" marT="9525" marB="0" anchor="b">
                    <a:lnL>
                      <a:noFill/>
                    </a:lnL>
                    <a:lnR>
                      <a:noFill/>
                    </a:lnR>
                    <a:lnT>
                      <a:noFill/>
                    </a:lnT>
                    <a:lnB>
                      <a:noFill/>
                    </a:lnB>
                    <a:noFill/>
                  </a:tcPr>
                </a:tc>
                <a:extLst>
                  <a:ext uri="{0D108BD9-81ED-4DB2-BD59-A6C34878D82A}">
                    <a16:rowId xmlns:a16="http://schemas.microsoft.com/office/drawing/2014/main" val="1581610804"/>
                  </a:ext>
                </a:extLst>
              </a:tr>
            </a:tbl>
          </a:graphicData>
        </a:graphic>
      </p:graphicFrame>
      <p:pic>
        <p:nvPicPr>
          <p:cNvPr id="9" name="Content Placeholder 8"/>
          <p:cNvPicPr>
            <a:picLocks noGrp="1"/>
          </p:cNvPicPr>
          <p:nvPr>
            <p:ph/>
          </p:nvPr>
        </p:nvPicPr>
        <p:blipFill>
          <a:blip r:embed="rId2" cstate="print"/>
          <a:srcRect l="39800" t="39576" r="31371" b="29282"/>
          <a:stretch/>
        </p:blipFill>
        <p:spPr>
          <a:xfrm>
            <a:off x="0" y="2496620"/>
            <a:ext cx="3783691" cy="3334978"/>
          </a:xfrm>
          <a:prstGeom prst="rect">
            <a:avLst/>
          </a:prstGeom>
        </p:spPr>
      </p:pic>
      <p:sp>
        <p:nvSpPr>
          <p:cNvPr id="11" name="TextBox 10">
            <a:extLst>
              <a:ext uri="{FF2B5EF4-FFF2-40B4-BE49-F238E27FC236}">
                <a16:creationId xmlns:a16="http://schemas.microsoft.com/office/drawing/2014/main" id="{359E4393-BC7D-708E-6E04-491EFD2AE698}"/>
              </a:ext>
            </a:extLst>
          </p:cNvPr>
          <p:cNvSpPr txBox="1"/>
          <p:nvPr/>
        </p:nvSpPr>
        <p:spPr>
          <a:xfrm>
            <a:off x="1170633" y="5934670"/>
            <a:ext cx="9671538" cy="523220"/>
          </a:xfrm>
          <a:prstGeom prst="rect">
            <a:avLst/>
          </a:prstGeom>
          <a:noFill/>
        </p:spPr>
        <p:txBody>
          <a:bodyPr wrap="square">
            <a:spAutoFit/>
          </a:bodyPr>
          <a:lstStyle/>
          <a:p>
            <a:r>
              <a:rPr lang="en-US" sz="1400" dirty="0">
                <a:solidFill>
                  <a:srgbClr val="000B2E"/>
                </a:solidFill>
              </a:rPr>
              <a:t>Researched for Wayne, Ashtabula, Carroll, Cuyahoga, Erie, Geauga, Holmes, Huron, Lake, Lorain, Medina, Stark, Summit, and Tuscarawas Counties</a:t>
            </a:r>
            <a:endParaRPr lang="en-US" sz="1400" dirty="0"/>
          </a:p>
        </p:txBody>
      </p:sp>
    </p:spTree>
    <p:extLst>
      <p:ext uri="{BB962C8B-B14F-4D97-AF65-F5344CB8AC3E}">
        <p14:creationId xmlns:p14="http://schemas.microsoft.com/office/powerpoint/2010/main" val="16600605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588DF-56D9-837C-AA1C-128F048C493A}"/>
              </a:ext>
            </a:extLst>
          </p:cNvPr>
          <p:cNvSpPr>
            <a:spLocks noGrp="1"/>
          </p:cNvSpPr>
          <p:nvPr>
            <p:ph type="title"/>
          </p:nvPr>
        </p:nvSpPr>
        <p:spPr>
          <a:xfrm>
            <a:off x="1772698" y="235398"/>
            <a:ext cx="10515600" cy="1325563"/>
          </a:xfrm>
        </p:spPr>
        <p:txBody>
          <a:bodyPr/>
          <a:lstStyle/>
          <a:p>
            <a:r>
              <a:rPr lang="en-US" dirty="0"/>
              <a:t>Plan Potential Growth Paths</a:t>
            </a:r>
          </a:p>
        </p:txBody>
      </p:sp>
      <p:sp>
        <p:nvSpPr>
          <p:cNvPr id="3" name="Footer Placeholder 2">
            <a:extLst>
              <a:ext uri="{FF2B5EF4-FFF2-40B4-BE49-F238E27FC236}">
                <a16:creationId xmlns:a16="http://schemas.microsoft.com/office/drawing/2014/main" id="{69C057C1-F13C-F6D8-AD44-F92FA29D30D9}"/>
              </a:ext>
            </a:extLst>
          </p:cNvPr>
          <p:cNvSpPr>
            <a:spLocks noGrp="1"/>
          </p:cNvSpPr>
          <p:nvPr>
            <p:ph type="ftr" sz="quarter" idx="11"/>
          </p:nvPr>
        </p:nvSpPr>
        <p:spPr/>
        <p:txBody>
          <a:bodyPr/>
          <a:lstStyle/>
          <a:p>
            <a:r>
              <a:rPr lang="en-US"/>
              <a:t>Key Benefit Administrators</a:t>
            </a:r>
            <a:endParaRPr lang="en-US" dirty="0"/>
          </a:p>
        </p:txBody>
      </p:sp>
      <p:sp>
        <p:nvSpPr>
          <p:cNvPr id="4" name="Slide Number Placeholder 3">
            <a:extLst>
              <a:ext uri="{FF2B5EF4-FFF2-40B4-BE49-F238E27FC236}">
                <a16:creationId xmlns:a16="http://schemas.microsoft.com/office/drawing/2014/main" id="{BF46B415-80AF-26A8-45D6-1254179BD411}"/>
              </a:ext>
            </a:extLst>
          </p:cNvPr>
          <p:cNvSpPr>
            <a:spLocks noGrp="1"/>
          </p:cNvSpPr>
          <p:nvPr>
            <p:ph type="sldNum" sz="quarter" idx="12"/>
          </p:nvPr>
        </p:nvSpPr>
        <p:spPr/>
        <p:txBody>
          <a:bodyPr/>
          <a:lstStyle/>
          <a:p>
            <a:fld id="{3AFC719D-C4A7-4544-876E-D411D11AF6C9}" type="slidenum">
              <a:rPr lang="en-US" smtClean="0"/>
              <a:t>9</a:t>
            </a:fld>
            <a:endParaRPr lang="en-US" dirty="0"/>
          </a:p>
        </p:txBody>
      </p:sp>
      <p:sp>
        <p:nvSpPr>
          <p:cNvPr id="5" name="Rectangle 6">
            <a:extLst>
              <a:ext uri="{FF2B5EF4-FFF2-40B4-BE49-F238E27FC236}">
                <a16:creationId xmlns:a16="http://schemas.microsoft.com/office/drawing/2014/main" id="{F102BEAF-097D-41B4-20FD-56D98AD0F034}"/>
              </a:ext>
            </a:extLst>
          </p:cNvPr>
          <p:cNvSpPr/>
          <p:nvPr/>
        </p:nvSpPr>
        <p:spPr>
          <a:xfrm>
            <a:off x="0" y="-777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6" name="Title 1">
            <a:extLst>
              <a:ext uri="{FF2B5EF4-FFF2-40B4-BE49-F238E27FC236}">
                <a16:creationId xmlns:a16="http://schemas.microsoft.com/office/drawing/2014/main" id="{93706D05-011F-D6E5-AB62-168509A0E779}"/>
              </a:ext>
            </a:extLst>
          </p:cNvPr>
          <p:cNvSpPr txBox="1">
            <a:spLocks/>
          </p:cNvSpPr>
          <p:nvPr/>
        </p:nvSpPr>
        <p:spPr>
          <a:xfrm rot="16200000">
            <a:off x="-2814764" y="2993452"/>
            <a:ext cx="6553884" cy="752041"/>
          </a:xfrm>
          <a:prstGeom prst="rect">
            <a:avLst/>
          </a:prstGeom>
        </p:spPr>
        <p:txBody>
          <a:bodyPr vert="horz" lIns="91440" tIns="45720" rIns="91440" bIns="45720" rtlCol="0" anchor="ctr">
            <a:noAutofit/>
          </a:bodyPr>
          <a:lstStyle>
            <a:lvl1pPr algn="l" defTabSz="914411"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spcBef>
                <a:spcPts val="600"/>
              </a:spcBef>
            </a:pPr>
            <a:r>
              <a:rPr lang="en-US" sz="3600" dirty="0">
                <a:solidFill>
                  <a:schemeClr val="bg1"/>
                </a:solidFill>
                <a:latin typeface="Arial" panose="020B0604020202020204" pitchFamily="34" charset="0"/>
                <a:cs typeface="Arial" panose="020B0604020202020204" pitchFamily="34" charset="0"/>
              </a:rPr>
              <a:t>PLAN GROWTH POTENTIAL</a:t>
            </a:r>
          </a:p>
        </p:txBody>
      </p:sp>
      <p:grpSp>
        <p:nvGrpSpPr>
          <p:cNvPr id="7" name="Group 28">
            <a:extLst>
              <a:ext uri="{FF2B5EF4-FFF2-40B4-BE49-F238E27FC236}">
                <a16:creationId xmlns:a16="http://schemas.microsoft.com/office/drawing/2014/main" id="{69A10699-B4B2-AF88-E1A1-1EF0A88AB471}"/>
              </a:ext>
            </a:extLst>
          </p:cNvPr>
          <p:cNvGrpSpPr/>
          <p:nvPr/>
        </p:nvGrpSpPr>
        <p:grpSpPr>
          <a:xfrm>
            <a:off x="1359766" y="1855590"/>
            <a:ext cx="3960468" cy="3636786"/>
            <a:chOff x="1724978" y="2161521"/>
            <a:chExt cx="8274685" cy="4307840"/>
          </a:xfrm>
        </p:grpSpPr>
        <p:grpSp>
          <p:nvGrpSpPr>
            <p:cNvPr id="8" name="Group 29">
              <a:extLst>
                <a:ext uri="{FF2B5EF4-FFF2-40B4-BE49-F238E27FC236}">
                  <a16:creationId xmlns:a16="http://schemas.microsoft.com/office/drawing/2014/main" id="{11C874E5-E3B4-BAE0-4E2D-2C86D4E7E53A}"/>
                </a:ext>
              </a:extLst>
            </p:cNvPr>
            <p:cNvGrpSpPr/>
            <p:nvPr/>
          </p:nvGrpSpPr>
          <p:grpSpPr>
            <a:xfrm>
              <a:off x="1724978" y="5494001"/>
              <a:ext cx="6872605" cy="975360"/>
              <a:chOff x="1724978" y="5494001"/>
              <a:chExt cx="6872605" cy="975360"/>
            </a:xfrm>
          </p:grpSpPr>
          <p:sp>
            <p:nvSpPr>
              <p:cNvPr id="9" name="Freeform: Shape 72">
                <a:extLst>
                  <a:ext uri="{FF2B5EF4-FFF2-40B4-BE49-F238E27FC236}">
                    <a16:creationId xmlns:a16="http://schemas.microsoft.com/office/drawing/2014/main" id="{C2AD90F2-700F-581B-540A-D6A10D5F84F2}"/>
                  </a:ext>
                </a:extLst>
              </p:cNvPr>
              <p:cNvSpPr/>
              <p:nvPr/>
            </p:nvSpPr>
            <p:spPr>
              <a:xfrm flipV="1">
                <a:off x="2339023" y="5494001"/>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98060"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p>
            </p:txBody>
          </p:sp>
          <p:sp>
            <p:nvSpPr>
              <p:cNvPr id="10" name="TextBox 73">
                <a:extLst>
                  <a:ext uri="{FF2B5EF4-FFF2-40B4-BE49-F238E27FC236}">
                    <a16:creationId xmlns:a16="http://schemas.microsoft.com/office/drawing/2014/main" id="{AEAD331A-F2F6-E5AA-6FA8-43463612A331}"/>
                  </a:ext>
                </a:extLst>
              </p:cNvPr>
              <p:cNvSpPr txBox="1"/>
              <p:nvPr/>
            </p:nvSpPr>
            <p:spPr>
              <a:xfrm>
                <a:off x="1724978" y="5759838"/>
                <a:ext cx="3247806" cy="443686"/>
              </a:xfrm>
              <a:prstGeom prst="roundRect">
                <a:avLst/>
              </a:prstGeom>
              <a:solidFill>
                <a:srgbClr val="4468A5"/>
              </a:solidFill>
              <a:ln>
                <a:solidFill>
                  <a:schemeClr val="bg1"/>
                </a:solidFill>
              </a:ln>
              <a:effectLst/>
            </p:spPr>
            <p:txBody>
              <a:bodyPr wrap="square" rtlCol="0" anchor="ctr">
                <a:spAutoFit/>
              </a:bodyPr>
              <a:lstStyle/>
              <a:p>
                <a:pPr algn="ctr"/>
                <a:r>
                  <a:rPr lang="en-US" sz="1600" b="1" i="1" dirty="0">
                    <a:solidFill>
                      <a:schemeClr val="bg1"/>
                    </a:solidFill>
                    <a:latin typeface="Arial" panose="020B0604020202020204" pitchFamily="34" charset="0"/>
                    <a:cs typeface="Arial" panose="020B0604020202020204" pitchFamily="34" charset="0"/>
                  </a:rPr>
                  <a:t>Population</a:t>
                </a:r>
                <a:endParaRPr lang="en-IN" sz="1600" b="1" i="1" dirty="0">
                  <a:solidFill>
                    <a:schemeClr val="bg1"/>
                  </a:solidFill>
                  <a:latin typeface="Arial" panose="020B0604020202020204" pitchFamily="34" charset="0"/>
                  <a:cs typeface="Arial" panose="020B0604020202020204" pitchFamily="34" charset="0"/>
                </a:endParaRPr>
              </a:p>
            </p:txBody>
          </p:sp>
        </p:grpSp>
        <p:grpSp>
          <p:nvGrpSpPr>
            <p:cNvPr id="11" name="Group 30">
              <a:extLst>
                <a:ext uri="{FF2B5EF4-FFF2-40B4-BE49-F238E27FC236}">
                  <a16:creationId xmlns:a16="http://schemas.microsoft.com/office/drawing/2014/main" id="{689474B3-12FA-8E66-D71F-53822C9C68C9}"/>
                </a:ext>
              </a:extLst>
            </p:cNvPr>
            <p:cNvGrpSpPr/>
            <p:nvPr/>
          </p:nvGrpSpPr>
          <p:grpSpPr>
            <a:xfrm>
              <a:off x="2182178" y="2161521"/>
              <a:ext cx="7817485" cy="3197014"/>
              <a:chOff x="3627756" y="1830493"/>
              <a:chExt cx="7817485" cy="3197014"/>
            </a:xfrm>
          </p:grpSpPr>
          <p:grpSp>
            <p:nvGrpSpPr>
              <p:cNvPr id="12" name="Group 58">
                <a:extLst>
                  <a:ext uri="{FF2B5EF4-FFF2-40B4-BE49-F238E27FC236}">
                    <a16:creationId xmlns:a16="http://schemas.microsoft.com/office/drawing/2014/main" id="{51ED3EA0-1B18-EEE0-293E-BB00AD4DE764}"/>
                  </a:ext>
                </a:extLst>
              </p:cNvPr>
              <p:cNvGrpSpPr/>
              <p:nvPr/>
            </p:nvGrpSpPr>
            <p:grpSpPr>
              <a:xfrm>
                <a:off x="3627756" y="4052147"/>
                <a:ext cx="6882765" cy="975360"/>
                <a:chOff x="3627756" y="4052147"/>
                <a:chExt cx="6882765" cy="975360"/>
              </a:xfrm>
            </p:grpSpPr>
            <p:sp>
              <p:nvSpPr>
                <p:cNvPr id="13" name="Freeform: Shape 62">
                  <a:extLst>
                    <a:ext uri="{FF2B5EF4-FFF2-40B4-BE49-F238E27FC236}">
                      <a16:creationId xmlns:a16="http://schemas.microsoft.com/office/drawing/2014/main" id="{BC70B6BA-E51B-5756-ABB1-C97D21E56F2F}"/>
                    </a:ext>
                  </a:extLst>
                </p:cNvPr>
                <p:cNvSpPr/>
                <p:nvPr/>
              </p:nvSpPr>
              <p:spPr>
                <a:xfrm flipV="1">
                  <a:off x="4251961" y="4052147"/>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a:p>
              </p:txBody>
            </p:sp>
            <p:sp>
              <p:nvSpPr>
                <p:cNvPr id="14" name="TextBox 63">
                  <a:extLst>
                    <a:ext uri="{FF2B5EF4-FFF2-40B4-BE49-F238E27FC236}">
                      <a16:creationId xmlns:a16="http://schemas.microsoft.com/office/drawing/2014/main" id="{89D49C14-1775-066C-353B-1ACCC4D24138}"/>
                    </a:ext>
                  </a:extLst>
                </p:cNvPr>
                <p:cNvSpPr txBox="1"/>
                <p:nvPr/>
              </p:nvSpPr>
              <p:spPr>
                <a:xfrm>
                  <a:off x="3627756" y="4317984"/>
                  <a:ext cx="3247806" cy="443686"/>
                </a:xfrm>
                <a:prstGeom prst="roundRect">
                  <a:avLst/>
                </a:prstGeom>
                <a:solidFill>
                  <a:srgbClr val="4468A5"/>
                </a:solidFill>
                <a:ln>
                  <a:solidFill>
                    <a:schemeClr val="bg1"/>
                  </a:solidFill>
                </a:ln>
                <a:effectLst/>
              </p:spPr>
              <p:txBody>
                <a:bodyPr wrap="square" rtlCol="0" anchor="ctr">
                  <a:spAutoFit/>
                </a:bodyPr>
                <a:lstStyle/>
                <a:p>
                  <a:pPr algn="ctr"/>
                  <a:r>
                    <a:rPr lang="en-US" sz="1600" b="1" i="1" dirty="0">
                      <a:solidFill>
                        <a:schemeClr val="bg1"/>
                      </a:solidFill>
                      <a:latin typeface="Arial" panose="020B0604020202020204" pitchFamily="34" charset="0"/>
                      <a:cs typeface="Arial" panose="020B0604020202020204" pitchFamily="34" charset="0"/>
                    </a:rPr>
                    <a:t>Working Age</a:t>
                  </a:r>
                  <a:endParaRPr lang="en-IN" sz="1600" b="1" i="1" dirty="0">
                    <a:solidFill>
                      <a:schemeClr val="bg1"/>
                    </a:solidFill>
                    <a:latin typeface="Arial" panose="020B0604020202020204" pitchFamily="34" charset="0"/>
                    <a:cs typeface="Arial" panose="020B0604020202020204" pitchFamily="34" charset="0"/>
                  </a:endParaRPr>
                </a:p>
              </p:txBody>
            </p:sp>
          </p:grpSp>
          <p:grpSp>
            <p:nvGrpSpPr>
              <p:cNvPr id="15" name="Group 52">
                <a:extLst>
                  <a:ext uri="{FF2B5EF4-FFF2-40B4-BE49-F238E27FC236}">
                    <a16:creationId xmlns:a16="http://schemas.microsoft.com/office/drawing/2014/main" id="{1DBB449D-FFE3-79BF-CC4B-CBC0A3F03B29}"/>
                  </a:ext>
                </a:extLst>
              </p:cNvPr>
              <p:cNvGrpSpPr/>
              <p:nvPr/>
            </p:nvGrpSpPr>
            <p:grpSpPr>
              <a:xfrm>
                <a:off x="4069948" y="2930285"/>
                <a:ext cx="6907933" cy="975360"/>
                <a:chOff x="4069947" y="2930285"/>
                <a:chExt cx="6907933" cy="975360"/>
              </a:xfrm>
            </p:grpSpPr>
            <p:sp>
              <p:nvSpPr>
                <p:cNvPr id="16" name="Freeform: Shape 56">
                  <a:extLst>
                    <a:ext uri="{FF2B5EF4-FFF2-40B4-BE49-F238E27FC236}">
                      <a16:creationId xmlns:a16="http://schemas.microsoft.com/office/drawing/2014/main" id="{2D2231FB-5290-0F34-19A4-B0491233CE27}"/>
                    </a:ext>
                  </a:extLst>
                </p:cNvPr>
                <p:cNvSpPr/>
                <p:nvPr/>
              </p:nvSpPr>
              <p:spPr>
                <a:xfrm flipV="1">
                  <a:off x="4719320" y="2930285"/>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p>
              </p:txBody>
            </p:sp>
            <p:sp>
              <p:nvSpPr>
                <p:cNvPr id="17" name="TextBox 57">
                  <a:extLst>
                    <a:ext uri="{FF2B5EF4-FFF2-40B4-BE49-F238E27FC236}">
                      <a16:creationId xmlns:a16="http://schemas.microsoft.com/office/drawing/2014/main" id="{3C6B2C41-D61E-2C7A-3D82-5A90E06CEE5A}"/>
                    </a:ext>
                  </a:extLst>
                </p:cNvPr>
                <p:cNvSpPr txBox="1"/>
                <p:nvPr/>
              </p:nvSpPr>
              <p:spPr>
                <a:xfrm>
                  <a:off x="4069947" y="3206963"/>
                  <a:ext cx="3247806" cy="443686"/>
                </a:xfrm>
                <a:prstGeom prst="roundRect">
                  <a:avLst/>
                </a:prstGeom>
                <a:solidFill>
                  <a:srgbClr val="4468A5"/>
                </a:solidFill>
                <a:ln>
                  <a:solidFill>
                    <a:schemeClr val="bg1"/>
                  </a:solidFill>
                </a:ln>
                <a:effectLst/>
              </p:spPr>
              <p:txBody>
                <a:bodyPr wrap="square" rtlCol="0" anchor="ctr">
                  <a:spAutoFit/>
                </a:bodyPr>
                <a:lstStyle/>
                <a:p>
                  <a:pPr algn="ctr"/>
                  <a:r>
                    <a:rPr lang="en-US" sz="1600" b="1" i="1" dirty="0">
                      <a:solidFill>
                        <a:schemeClr val="bg1"/>
                      </a:solidFill>
                      <a:latin typeface="Arial" panose="020B0604020202020204" pitchFamily="34" charset="0"/>
                      <a:cs typeface="Arial" panose="020B0604020202020204" pitchFamily="34" charset="0"/>
                    </a:rPr>
                    <a:t>Insured</a:t>
                  </a:r>
                  <a:endParaRPr lang="en-IN" sz="1600" b="1" i="1" dirty="0">
                    <a:solidFill>
                      <a:schemeClr val="bg1"/>
                    </a:solidFill>
                    <a:latin typeface="Arial" panose="020B0604020202020204" pitchFamily="34" charset="0"/>
                    <a:cs typeface="Arial" panose="020B0604020202020204" pitchFamily="34" charset="0"/>
                  </a:endParaRPr>
                </a:p>
              </p:txBody>
            </p:sp>
          </p:grpSp>
          <p:grpSp>
            <p:nvGrpSpPr>
              <p:cNvPr id="18" name="Group 46">
                <a:extLst>
                  <a:ext uri="{FF2B5EF4-FFF2-40B4-BE49-F238E27FC236}">
                    <a16:creationId xmlns:a16="http://schemas.microsoft.com/office/drawing/2014/main" id="{F80321D4-B659-65A7-5D2E-CFE404DB4D8E}"/>
                  </a:ext>
                </a:extLst>
              </p:cNvPr>
              <p:cNvGrpSpPr/>
              <p:nvPr/>
            </p:nvGrpSpPr>
            <p:grpSpPr>
              <a:xfrm>
                <a:off x="4561206" y="1830493"/>
                <a:ext cx="6884035" cy="975360"/>
                <a:chOff x="4561206" y="1830493"/>
                <a:chExt cx="6884035" cy="975360"/>
              </a:xfrm>
            </p:grpSpPr>
            <p:sp>
              <p:nvSpPr>
                <p:cNvPr id="19" name="Freeform: Shape 50">
                  <a:extLst>
                    <a:ext uri="{FF2B5EF4-FFF2-40B4-BE49-F238E27FC236}">
                      <a16:creationId xmlns:a16="http://schemas.microsoft.com/office/drawing/2014/main" id="{19C69411-1E7E-AB74-D150-B508F4902A7E}"/>
                    </a:ext>
                  </a:extLst>
                </p:cNvPr>
                <p:cNvSpPr/>
                <p:nvPr/>
              </p:nvSpPr>
              <p:spPr>
                <a:xfrm flipV="1">
                  <a:off x="5186681" y="1830493"/>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p>
              </p:txBody>
            </p:sp>
            <p:sp>
              <p:nvSpPr>
                <p:cNvPr id="20" name="TextBox 51">
                  <a:extLst>
                    <a:ext uri="{FF2B5EF4-FFF2-40B4-BE49-F238E27FC236}">
                      <a16:creationId xmlns:a16="http://schemas.microsoft.com/office/drawing/2014/main" id="{2AE87841-825C-FE4F-1AB9-6CC03862C17F}"/>
                    </a:ext>
                  </a:extLst>
                </p:cNvPr>
                <p:cNvSpPr txBox="1"/>
                <p:nvPr/>
              </p:nvSpPr>
              <p:spPr>
                <a:xfrm>
                  <a:off x="4561206" y="2096329"/>
                  <a:ext cx="3247806" cy="443686"/>
                </a:xfrm>
                <a:prstGeom prst="roundRect">
                  <a:avLst/>
                </a:prstGeom>
                <a:solidFill>
                  <a:srgbClr val="4468A5"/>
                </a:solidFill>
                <a:ln>
                  <a:solidFill>
                    <a:schemeClr val="bg1"/>
                  </a:solidFill>
                </a:ln>
                <a:effectLst/>
              </p:spPr>
              <p:txBody>
                <a:bodyPr wrap="square" rtlCol="0" anchor="ctr">
                  <a:spAutoFit/>
                </a:bodyPr>
                <a:lstStyle/>
                <a:p>
                  <a:pPr algn="ctr"/>
                  <a:r>
                    <a:rPr lang="en-US" sz="1600" b="1" i="1" dirty="0">
                      <a:solidFill>
                        <a:schemeClr val="bg1"/>
                      </a:solidFill>
                      <a:latin typeface="Arial" panose="020B0604020202020204" pitchFamily="34" charset="0"/>
                      <a:cs typeface="Arial" panose="020B0604020202020204" pitchFamily="34" charset="0"/>
                    </a:rPr>
                    <a:t>Self Funded</a:t>
                  </a:r>
                  <a:endParaRPr lang="en-IN" sz="1600" b="1" i="1" dirty="0">
                    <a:solidFill>
                      <a:schemeClr val="bg1"/>
                    </a:solidFill>
                    <a:latin typeface="Arial" panose="020B0604020202020204" pitchFamily="34" charset="0"/>
                    <a:cs typeface="Arial" panose="020B0604020202020204" pitchFamily="34" charset="0"/>
                  </a:endParaRPr>
                </a:p>
              </p:txBody>
            </p:sp>
          </p:grpSp>
        </p:grpSp>
        <p:sp>
          <p:nvSpPr>
            <p:cNvPr id="21" name="Freeform: Shape 31">
              <a:extLst>
                <a:ext uri="{FF2B5EF4-FFF2-40B4-BE49-F238E27FC236}">
                  <a16:creationId xmlns:a16="http://schemas.microsoft.com/office/drawing/2014/main" id="{93803CD4-6355-5262-37E3-213F86A67BEA}"/>
                </a:ext>
              </a:extLst>
            </p:cNvPr>
            <p:cNvSpPr/>
            <p:nvPr/>
          </p:nvSpPr>
          <p:spPr>
            <a:xfrm flipV="1">
              <a:off x="7997252" y="517548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a:p>
          </p:txBody>
        </p:sp>
        <p:grpSp>
          <p:nvGrpSpPr>
            <p:cNvPr id="22" name="Group 32">
              <a:extLst>
                <a:ext uri="{FF2B5EF4-FFF2-40B4-BE49-F238E27FC236}">
                  <a16:creationId xmlns:a16="http://schemas.microsoft.com/office/drawing/2014/main" id="{C15EBE08-F14E-85B7-24FB-021AE8C94BA3}"/>
                </a:ext>
              </a:extLst>
            </p:cNvPr>
            <p:cNvGrpSpPr/>
            <p:nvPr/>
          </p:nvGrpSpPr>
          <p:grpSpPr>
            <a:xfrm>
              <a:off x="8755080" y="3384449"/>
              <a:ext cx="568098" cy="706284"/>
              <a:chOff x="3970882" y="2311049"/>
              <a:chExt cx="704850" cy="876300"/>
            </a:xfrm>
          </p:grpSpPr>
          <p:sp>
            <p:nvSpPr>
              <p:cNvPr id="23" name="Freeform: Shape 36">
                <a:extLst>
                  <a:ext uri="{FF2B5EF4-FFF2-40B4-BE49-F238E27FC236}">
                    <a16:creationId xmlns:a16="http://schemas.microsoft.com/office/drawing/2014/main" id="{99971868-A4E7-F273-D79D-9C20F2C9304D}"/>
                  </a:ext>
                </a:extLst>
              </p:cNvPr>
              <p:cNvSpPr/>
              <p:nvPr/>
            </p:nvSpPr>
            <p:spPr>
              <a:xfrm>
                <a:off x="3970882" y="2311049"/>
                <a:ext cx="704850" cy="876300"/>
              </a:xfrm>
              <a:custGeom>
                <a:avLst/>
                <a:gdLst>
                  <a:gd name="connsiteX0" fmla="*/ 7144 w 704850"/>
                  <a:gd name="connsiteY0" fmla="*/ 410166 h 876300"/>
                  <a:gd name="connsiteX1" fmla="*/ 7144 w 704850"/>
                  <a:gd name="connsiteY1" fmla="*/ 312791 h 876300"/>
                  <a:gd name="connsiteX2" fmla="*/ 164497 w 704850"/>
                  <a:gd name="connsiteY2" fmla="*/ 221942 h 876300"/>
                  <a:gd name="connsiteX3" fmla="*/ 164497 w 704850"/>
                  <a:gd name="connsiteY3" fmla="*/ 220266 h 876300"/>
                  <a:gd name="connsiteX4" fmla="*/ 164497 w 704850"/>
                  <a:gd name="connsiteY4" fmla="*/ 218589 h 876300"/>
                  <a:gd name="connsiteX5" fmla="*/ 140141 w 704850"/>
                  <a:gd name="connsiteY5" fmla="*/ 162935 h 876300"/>
                  <a:gd name="connsiteX6" fmla="*/ 140141 w 704850"/>
                  <a:gd name="connsiteY6" fmla="*/ 91459 h 876300"/>
                  <a:gd name="connsiteX7" fmla="*/ 156782 w 704850"/>
                  <a:gd name="connsiteY7" fmla="*/ 138608 h 876300"/>
                  <a:gd name="connsiteX8" fmla="*/ 140160 w 704850"/>
                  <a:gd name="connsiteY8" fmla="*/ 91478 h 876300"/>
                  <a:gd name="connsiteX9" fmla="*/ 237554 w 704850"/>
                  <a:gd name="connsiteY9" fmla="*/ 7144 h 876300"/>
                  <a:gd name="connsiteX10" fmla="*/ 334937 w 704850"/>
                  <a:gd name="connsiteY10" fmla="*/ 91488 h 876300"/>
                  <a:gd name="connsiteX11" fmla="*/ 334909 w 704850"/>
                  <a:gd name="connsiteY11" fmla="*/ 91964 h 876300"/>
                  <a:gd name="connsiteX12" fmla="*/ 334909 w 704850"/>
                  <a:gd name="connsiteY12" fmla="*/ 162963 h 876300"/>
                  <a:gd name="connsiteX13" fmla="*/ 334756 w 704850"/>
                  <a:gd name="connsiteY13" fmla="*/ 165440 h 876300"/>
                  <a:gd name="connsiteX14" fmla="*/ 334499 w 704850"/>
                  <a:gd name="connsiteY14" fmla="*/ 170240 h 876300"/>
                  <a:gd name="connsiteX15" fmla="*/ 334261 w 704850"/>
                  <a:gd name="connsiteY15" fmla="*/ 172488 h 876300"/>
                  <a:gd name="connsiteX16" fmla="*/ 332975 w 704850"/>
                  <a:gd name="connsiteY16" fmla="*/ 179756 h 876300"/>
                  <a:gd name="connsiteX17" fmla="*/ 332899 w 704850"/>
                  <a:gd name="connsiteY17" fmla="*/ 180051 h 876300"/>
                  <a:gd name="connsiteX18" fmla="*/ 332261 w 704850"/>
                  <a:gd name="connsiteY18" fmla="*/ 182204 h 876300"/>
                  <a:gd name="connsiteX19" fmla="*/ 467963 w 704850"/>
                  <a:gd name="connsiteY19" fmla="*/ 338880 h 876300"/>
                  <a:gd name="connsiteX20" fmla="*/ 467963 w 704850"/>
                  <a:gd name="connsiteY20" fmla="*/ 436274 h 876300"/>
                  <a:gd name="connsiteX21" fmla="*/ 175803 w 704850"/>
                  <a:gd name="connsiteY21" fmla="*/ 604923 h 876300"/>
                  <a:gd name="connsiteX22" fmla="*/ 7144 w 704850"/>
                  <a:gd name="connsiteY22" fmla="*/ 410166 h 876300"/>
                  <a:gd name="connsiteX23" fmla="*/ 695516 w 704850"/>
                  <a:gd name="connsiteY23" fmla="*/ 699859 h 876300"/>
                  <a:gd name="connsiteX24" fmla="*/ 403384 w 704850"/>
                  <a:gd name="connsiteY24" fmla="*/ 868518 h 876300"/>
                  <a:gd name="connsiteX25" fmla="*/ 401003 w 704850"/>
                  <a:gd name="connsiteY25" fmla="*/ 869156 h 876300"/>
                  <a:gd name="connsiteX26" fmla="*/ 397402 w 704850"/>
                  <a:gd name="connsiteY26" fmla="*/ 867508 h 876300"/>
                  <a:gd name="connsiteX27" fmla="*/ 228724 w 704850"/>
                  <a:gd name="connsiteY27" fmla="*/ 672770 h 876300"/>
                  <a:gd name="connsiteX28" fmla="*/ 227628 w 704850"/>
                  <a:gd name="connsiteY28" fmla="*/ 668865 h 876300"/>
                  <a:gd name="connsiteX29" fmla="*/ 229943 w 704850"/>
                  <a:gd name="connsiteY29" fmla="*/ 665531 h 876300"/>
                  <a:gd name="connsiteX30" fmla="*/ 522094 w 704850"/>
                  <a:gd name="connsiteY30" fmla="*/ 496853 h 876300"/>
                  <a:gd name="connsiteX31" fmla="*/ 528076 w 704850"/>
                  <a:gd name="connsiteY31" fmla="*/ 497853 h 876300"/>
                  <a:gd name="connsiteX32" fmla="*/ 696735 w 704850"/>
                  <a:gd name="connsiteY32" fmla="*/ 692610 h 876300"/>
                  <a:gd name="connsiteX33" fmla="*/ 697830 w 704850"/>
                  <a:gd name="connsiteY33" fmla="*/ 696516 h 876300"/>
                  <a:gd name="connsiteX34" fmla="*/ 695516 w 704850"/>
                  <a:gd name="connsiteY34" fmla="*/ 699859 h 876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04850" h="876300">
                    <a:moveTo>
                      <a:pt x="7144" y="410166"/>
                    </a:moveTo>
                    <a:lnTo>
                      <a:pt x="7144" y="312791"/>
                    </a:lnTo>
                    <a:lnTo>
                      <a:pt x="164497" y="221942"/>
                    </a:lnTo>
                    <a:lnTo>
                      <a:pt x="164497" y="220266"/>
                    </a:lnTo>
                    <a:lnTo>
                      <a:pt x="164497" y="218589"/>
                    </a:lnTo>
                    <a:cubicBezTo>
                      <a:pt x="149390" y="203730"/>
                      <a:pt x="140141" y="184290"/>
                      <a:pt x="140141" y="162935"/>
                    </a:cubicBezTo>
                    <a:lnTo>
                      <a:pt x="140141" y="91459"/>
                    </a:lnTo>
                    <a:cubicBezTo>
                      <a:pt x="140141" y="108918"/>
                      <a:pt x="146275" y="125149"/>
                      <a:pt x="156782" y="138608"/>
                    </a:cubicBezTo>
                    <a:cubicBezTo>
                      <a:pt x="146285" y="125149"/>
                      <a:pt x="140160" y="108937"/>
                      <a:pt x="140160" y="91478"/>
                    </a:cubicBezTo>
                    <a:cubicBezTo>
                      <a:pt x="140160" y="44901"/>
                      <a:pt x="183775" y="7144"/>
                      <a:pt x="237554" y="7144"/>
                    </a:cubicBezTo>
                    <a:cubicBezTo>
                      <a:pt x="291313" y="7144"/>
                      <a:pt x="334918" y="44901"/>
                      <a:pt x="334937" y="91488"/>
                    </a:cubicBezTo>
                    <a:cubicBezTo>
                      <a:pt x="334937" y="91650"/>
                      <a:pt x="334909" y="91802"/>
                      <a:pt x="334909" y="91964"/>
                    </a:cubicBezTo>
                    <a:lnTo>
                      <a:pt x="334909" y="162963"/>
                    </a:lnTo>
                    <a:cubicBezTo>
                      <a:pt x="334909" y="163792"/>
                      <a:pt x="334794" y="164602"/>
                      <a:pt x="334756" y="165440"/>
                    </a:cubicBezTo>
                    <a:cubicBezTo>
                      <a:pt x="334699" y="167040"/>
                      <a:pt x="334632" y="168650"/>
                      <a:pt x="334499" y="170240"/>
                    </a:cubicBezTo>
                    <a:cubicBezTo>
                      <a:pt x="334413" y="170983"/>
                      <a:pt x="334356" y="171736"/>
                      <a:pt x="334261" y="172488"/>
                    </a:cubicBezTo>
                    <a:cubicBezTo>
                      <a:pt x="333927" y="174936"/>
                      <a:pt x="333537" y="177375"/>
                      <a:pt x="332975" y="179756"/>
                    </a:cubicBezTo>
                    <a:cubicBezTo>
                      <a:pt x="332956" y="179851"/>
                      <a:pt x="332918" y="179946"/>
                      <a:pt x="332899" y="180051"/>
                    </a:cubicBezTo>
                    <a:cubicBezTo>
                      <a:pt x="332718" y="180785"/>
                      <a:pt x="332461" y="181480"/>
                      <a:pt x="332261" y="182204"/>
                    </a:cubicBezTo>
                    <a:lnTo>
                      <a:pt x="467963" y="338880"/>
                    </a:lnTo>
                    <a:lnTo>
                      <a:pt x="467963" y="436274"/>
                    </a:lnTo>
                    <a:lnTo>
                      <a:pt x="175803" y="604923"/>
                    </a:lnTo>
                    <a:lnTo>
                      <a:pt x="7144" y="410166"/>
                    </a:lnTo>
                    <a:close/>
                    <a:moveTo>
                      <a:pt x="695516" y="699859"/>
                    </a:moveTo>
                    <a:lnTo>
                      <a:pt x="403384" y="868518"/>
                    </a:lnTo>
                    <a:cubicBezTo>
                      <a:pt x="402641" y="868956"/>
                      <a:pt x="401822" y="869156"/>
                      <a:pt x="401003" y="869156"/>
                    </a:cubicBezTo>
                    <a:cubicBezTo>
                      <a:pt x="399660" y="869156"/>
                      <a:pt x="398336" y="868585"/>
                      <a:pt x="397402" y="867508"/>
                    </a:cubicBezTo>
                    <a:lnTo>
                      <a:pt x="228724" y="672770"/>
                    </a:lnTo>
                    <a:cubicBezTo>
                      <a:pt x="227790" y="671703"/>
                      <a:pt x="227390" y="670265"/>
                      <a:pt x="227628" y="668865"/>
                    </a:cubicBezTo>
                    <a:cubicBezTo>
                      <a:pt x="227867" y="667464"/>
                      <a:pt x="228714" y="666245"/>
                      <a:pt x="229943" y="665531"/>
                    </a:cubicBezTo>
                    <a:lnTo>
                      <a:pt x="522094" y="496853"/>
                    </a:lnTo>
                    <a:cubicBezTo>
                      <a:pt x="524056" y="495700"/>
                      <a:pt x="526590" y="496119"/>
                      <a:pt x="528076" y="497853"/>
                    </a:cubicBezTo>
                    <a:lnTo>
                      <a:pt x="696735" y="692610"/>
                    </a:lnTo>
                    <a:cubicBezTo>
                      <a:pt x="697668" y="693677"/>
                      <a:pt x="698068" y="695115"/>
                      <a:pt x="697830" y="696516"/>
                    </a:cubicBezTo>
                    <a:cubicBezTo>
                      <a:pt x="697592" y="697916"/>
                      <a:pt x="696744" y="699145"/>
                      <a:pt x="695516" y="699859"/>
                    </a:cubicBezTo>
                    <a:close/>
                  </a:path>
                </a:pathLst>
              </a:custGeom>
              <a:noFill/>
              <a:ln w="9525" cap="flat">
                <a:noFill/>
                <a:prstDash val="solid"/>
                <a:miter/>
              </a:ln>
            </p:spPr>
            <p:txBody>
              <a:bodyPr rtlCol="0" anchor="ctr"/>
              <a:lstStyle/>
              <a:p>
                <a:endParaRPr lang="en-IN">
                  <a:solidFill>
                    <a:schemeClr val="bg1"/>
                  </a:solidFill>
                </a:endParaRPr>
              </a:p>
            </p:txBody>
          </p:sp>
          <p:sp>
            <p:nvSpPr>
              <p:cNvPr id="24" name="Freeform: Shape 37">
                <a:extLst>
                  <a:ext uri="{FF2B5EF4-FFF2-40B4-BE49-F238E27FC236}">
                    <a16:creationId xmlns:a16="http://schemas.microsoft.com/office/drawing/2014/main" id="{26D4449C-E24F-47A1-0BA9-B4D1231EE90A}"/>
                  </a:ext>
                </a:extLst>
              </p:cNvPr>
              <p:cNvSpPr/>
              <p:nvPr/>
            </p:nvSpPr>
            <p:spPr>
              <a:xfrm>
                <a:off x="4272815" y="2536792"/>
                <a:ext cx="9525" cy="9525"/>
              </a:xfrm>
              <a:custGeom>
                <a:avLst/>
                <a:gdLst>
                  <a:gd name="connsiteX0" fmla="*/ 7182 w 9525"/>
                  <a:gd name="connsiteY0" fmla="*/ 7144 h 9525"/>
                  <a:gd name="connsiteX1" fmla="*/ 7144 w 9525"/>
                  <a:gd name="connsiteY1" fmla="*/ 7296 h 9525"/>
                  <a:gd name="connsiteX2" fmla="*/ 7182 w 9525"/>
                  <a:gd name="connsiteY2" fmla="*/ 7172 h 9525"/>
                </a:gdLst>
                <a:ahLst/>
                <a:cxnLst>
                  <a:cxn ang="0">
                    <a:pos x="connsiteX0" y="connsiteY0"/>
                  </a:cxn>
                  <a:cxn ang="0">
                    <a:pos x="connsiteX1" y="connsiteY1"/>
                  </a:cxn>
                  <a:cxn ang="0">
                    <a:pos x="connsiteX2" y="connsiteY2"/>
                  </a:cxn>
                </a:cxnLst>
                <a:rect l="l" t="t" r="r" b="b"/>
                <a:pathLst>
                  <a:path w="9525" h="9525">
                    <a:moveTo>
                      <a:pt x="7182" y="7144"/>
                    </a:moveTo>
                    <a:lnTo>
                      <a:pt x="7144" y="7296"/>
                    </a:lnTo>
                    <a:lnTo>
                      <a:pt x="7182" y="7172"/>
                    </a:lnTo>
                    <a:close/>
                  </a:path>
                </a:pathLst>
              </a:custGeom>
              <a:solidFill>
                <a:srgbClr val="000000"/>
              </a:solidFill>
              <a:ln w="9525" cap="flat">
                <a:noFill/>
                <a:prstDash val="solid"/>
                <a:miter/>
              </a:ln>
            </p:spPr>
            <p:txBody>
              <a:bodyPr rtlCol="0" anchor="ctr"/>
              <a:lstStyle/>
              <a:p>
                <a:endParaRPr lang="en-IN">
                  <a:solidFill>
                    <a:schemeClr val="bg1"/>
                  </a:solidFill>
                </a:endParaRPr>
              </a:p>
            </p:txBody>
          </p:sp>
          <p:sp>
            <p:nvSpPr>
              <p:cNvPr id="25" name="Freeform: Shape 38">
                <a:extLst>
                  <a:ext uri="{FF2B5EF4-FFF2-40B4-BE49-F238E27FC236}">
                    <a16:creationId xmlns:a16="http://schemas.microsoft.com/office/drawing/2014/main" id="{380CB4F0-D598-949F-D94F-54D7DBD5CD13}"/>
                  </a:ext>
                </a:extLst>
              </p:cNvPr>
              <p:cNvSpPr/>
              <p:nvPr/>
            </p:nvSpPr>
            <p:spPr>
              <a:xfrm>
                <a:off x="4234039" y="2448019"/>
                <a:ext cx="38100" cy="28575"/>
              </a:xfrm>
              <a:custGeom>
                <a:avLst/>
                <a:gdLst>
                  <a:gd name="connsiteX0" fmla="*/ 7144 w 38100"/>
                  <a:gd name="connsiteY0" fmla="*/ 23879 h 28575"/>
                  <a:gd name="connsiteX1" fmla="*/ 9049 w 38100"/>
                  <a:gd name="connsiteY1" fmla="*/ 23241 h 28575"/>
                  <a:gd name="connsiteX2" fmla="*/ 9896 w 38100"/>
                  <a:gd name="connsiteY2" fmla="*/ 22927 h 28575"/>
                  <a:gd name="connsiteX3" fmla="*/ 17659 w 38100"/>
                  <a:gd name="connsiteY3" fmla="*/ 19555 h 28575"/>
                  <a:gd name="connsiteX4" fmla="*/ 19040 w 38100"/>
                  <a:gd name="connsiteY4" fmla="*/ 18831 h 28575"/>
                  <a:gd name="connsiteX5" fmla="*/ 20241 w 38100"/>
                  <a:gd name="connsiteY5" fmla="*/ 18202 h 28575"/>
                  <a:gd name="connsiteX6" fmla="*/ 25803 w 38100"/>
                  <a:gd name="connsiteY6" fmla="*/ 15069 h 28575"/>
                  <a:gd name="connsiteX7" fmla="*/ 29518 w 38100"/>
                  <a:gd name="connsiteY7" fmla="*/ 12649 h 28575"/>
                  <a:gd name="connsiteX8" fmla="*/ 30413 w 38100"/>
                  <a:gd name="connsiteY8" fmla="*/ 12049 h 28575"/>
                  <a:gd name="connsiteX9" fmla="*/ 31423 w 38100"/>
                  <a:gd name="connsiteY9" fmla="*/ 11354 h 28575"/>
                  <a:gd name="connsiteX10" fmla="*/ 36376 w 38100"/>
                  <a:gd name="connsiteY10" fmla="*/ 7439 h 28575"/>
                  <a:gd name="connsiteX11" fmla="*/ 36119 w 38100"/>
                  <a:gd name="connsiteY11" fmla="*/ 7144 h 28575"/>
                  <a:gd name="connsiteX12" fmla="*/ 7144 w 38100"/>
                  <a:gd name="connsiteY12" fmla="*/ 23879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00" h="28575">
                    <a:moveTo>
                      <a:pt x="7144" y="23879"/>
                    </a:moveTo>
                    <a:cubicBezTo>
                      <a:pt x="7772" y="23670"/>
                      <a:pt x="8458" y="23460"/>
                      <a:pt x="9049" y="23241"/>
                    </a:cubicBezTo>
                    <a:lnTo>
                      <a:pt x="9896" y="22927"/>
                    </a:lnTo>
                    <a:cubicBezTo>
                      <a:pt x="12449" y="21955"/>
                      <a:pt x="15059" y="20822"/>
                      <a:pt x="17659" y="19555"/>
                    </a:cubicBezTo>
                    <a:cubicBezTo>
                      <a:pt x="18117" y="19336"/>
                      <a:pt x="18583" y="19079"/>
                      <a:pt x="19040" y="18831"/>
                    </a:cubicBezTo>
                    <a:lnTo>
                      <a:pt x="20241" y="18202"/>
                    </a:lnTo>
                    <a:cubicBezTo>
                      <a:pt x="22117" y="17221"/>
                      <a:pt x="23993" y="16164"/>
                      <a:pt x="25803" y="15069"/>
                    </a:cubicBezTo>
                    <a:cubicBezTo>
                      <a:pt x="27022" y="14316"/>
                      <a:pt x="28270" y="13506"/>
                      <a:pt x="29518" y="12649"/>
                    </a:cubicBezTo>
                    <a:lnTo>
                      <a:pt x="30413" y="12049"/>
                    </a:lnTo>
                    <a:lnTo>
                      <a:pt x="31423" y="11354"/>
                    </a:lnTo>
                    <a:cubicBezTo>
                      <a:pt x="33090" y="10135"/>
                      <a:pt x="34757" y="8820"/>
                      <a:pt x="36376" y="7439"/>
                    </a:cubicBezTo>
                    <a:lnTo>
                      <a:pt x="36119" y="7144"/>
                    </a:lnTo>
                    <a:lnTo>
                      <a:pt x="7144" y="23879"/>
                    </a:lnTo>
                    <a:close/>
                  </a:path>
                </a:pathLst>
              </a:custGeom>
              <a:solidFill>
                <a:srgbClr val="000000"/>
              </a:solidFill>
              <a:ln w="9525" cap="flat">
                <a:noFill/>
                <a:prstDash val="solid"/>
                <a:miter/>
              </a:ln>
            </p:spPr>
            <p:txBody>
              <a:bodyPr rtlCol="0" anchor="ctr"/>
              <a:lstStyle/>
              <a:p>
                <a:endParaRPr lang="en-IN">
                  <a:solidFill>
                    <a:schemeClr val="bg1"/>
                  </a:solidFill>
                </a:endParaRPr>
              </a:p>
            </p:txBody>
          </p:sp>
          <p:sp>
            <p:nvSpPr>
              <p:cNvPr id="26" name="Freeform: Shape 39">
                <a:extLst>
                  <a:ext uri="{FF2B5EF4-FFF2-40B4-BE49-F238E27FC236}">
                    <a16:creationId xmlns:a16="http://schemas.microsoft.com/office/drawing/2014/main" id="{71E01EC1-04E0-F00A-E7D0-A3570350B0AE}"/>
                  </a:ext>
                </a:extLst>
              </p:cNvPr>
              <p:cNvSpPr/>
              <p:nvPr/>
            </p:nvSpPr>
            <p:spPr>
              <a:xfrm>
                <a:off x="4266357" y="2417310"/>
                <a:ext cx="19050" cy="38100"/>
              </a:xfrm>
              <a:custGeom>
                <a:avLst/>
                <a:gdLst>
                  <a:gd name="connsiteX0" fmla="*/ 14792 w 19050"/>
                  <a:gd name="connsiteY0" fmla="*/ 12287 h 38100"/>
                  <a:gd name="connsiteX1" fmla="*/ 14621 w 19050"/>
                  <a:gd name="connsiteY1" fmla="*/ 13954 h 38100"/>
                  <a:gd name="connsiteX2" fmla="*/ 13649 w 19050"/>
                  <a:gd name="connsiteY2" fmla="*/ 19469 h 38100"/>
                  <a:gd name="connsiteX3" fmla="*/ 13611 w 19050"/>
                  <a:gd name="connsiteY3" fmla="*/ 19583 h 38100"/>
                  <a:gd name="connsiteX4" fmla="*/ 12011 w 19050"/>
                  <a:gd name="connsiteY4" fmla="*/ 25003 h 38100"/>
                  <a:gd name="connsiteX5" fmla="*/ 11430 w 19050"/>
                  <a:gd name="connsiteY5" fmla="*/ 26565 h 38100"/>
                  <a:gd name="connsiteX6" fmla="*/ 9754 w 19050"/>
                  <a:gd name="connsiteY6" fmla="*/ 30490 h 38100"/>
                  <a:gd name="connsiteX7" fmla="*/ 9106 w 19050"/>
                  <a:gd name="connsiteY7" fmla="*/ 31899 h 38100"/>
                  <a:gd name="connsiteX8" fmla="*/ 7144 w 19050"/>
                  <a:gd name="connsiteY8" fmla="*/ 35433 h 38100"/>
                  <a:gd name="connsiteX9" fmla="*/ 9830 w 19050"/>
                  <a:gd name="connsiteY9" fmla="*/ 32766 h 38100"/>
                  <a:gd name="connsiteX10" fmla="*/ 10925 w 19050"/>
                  <a:gd name="connsiteY10" fmla="*/ 31566 h 38100"/>
                  <a:gd name="connsiteX11" fmla="*/ 10992 w 19050"/>
                  <a:gd name="connsiteY11" fmla="*/ 31490 h 38100"/>
                  <a:gd name="connsiteX12" fmla="*/ 11316 w 19050"/>
                  <a:gd name="connsiteY12" fmla="*/ 31128 h 38100"/>
                  <a:gd name="connsiteX13" fmla="*/ 14535 w 19050"/>
                  <a:gd name="connsiteY13" fmla="*/ 27403 h 38100"/>
                  <a:gd name="connsiteX14" fmla="*/ 15088 w 19050"/>
                  <a:gd name="connsiteY14" fmla="*/ 26708 h 38100"/>
                  <a:gd name="connsiteX15" fmla="*/ 15088 w 19050"/>
                  <a:gd name="connsiteY15" fmla="*/ 7144 h 38100"/>
                  <a:gd name="connsiteX16" fmla="*/ 14792 w 19050"/>
                  <a:gd name="connsiteY16" fmla="*/ 12287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050" h="38100">
                    <a:moveTo>
                      <a:pt x="14792" y="12287"/>
                    </a:moveTo>
                    <a:cubicBezTo>
                      <a:pt x="14735" y="12849"/>
                      <a:pt x="14697" y="13402"/>
                      <a:pt x="14621" y="13954"/>
                    </a:cubicBezTo>
                    <a:cubicBezTo>
                      <a:pt x="14373" y="15811"/>
                      <a:pt x="14059" y="17669"/>
                      <a:pt x="13649" y="19469"/>
                    </a:cubicBezTo>
                    <a:cubicBezTo>
                      <a:pt x="13630" y="19507"/>
                      <a:pt x="13630" y="19545"/>
                      <a:pt x="13611" y="19583"/>
                    </a:cubicBezTo>
                    <a:cubicBezTo>
                      <a:pt x="13183" y="21422"/>
                      <a:pt x="12621" y="23222"/>
                      <a:pt x="12011" y="25003"/>
                    </a:cubicBezTo>
                    <a:cubicBezTo>
                      <a:pt x="11820" y="25537"/>
                      <a:pt x="11620" y="26041"/>
                      <a:pt x="11430" y="26565"/>
                    </a:cubicBezTo>
                    <a:cubicBezTo>
                      <a:pt x="10906" y="27899"/>
                      <a:pt x="10363" y="29194"/>
                      <a:pt x="9754" y="30490"/>
                    </a:cubicBezTo>
                    <a:cubicBezTo>
                      <a:pt x="9554" y="30947"/>
                      <a:pt x="9325" y="31432"/>
                      <a:pt x="9106" y="31899"/>
                    </a:cubicBezTo>
                    <a:cubicBezTo>
                      <a:pt x="8506" y="33099"/>
                      <a:pt x="7820" y="34271"/>
                      <a:pt x="7144" y="35433"/>
                    </a:cubicBezTo>
                    <a:cubicBezTo>
                      <a:pt x="7991" y="34623"/>
                      <a:pt x="8887" y="33738"/>
                      <a:pt x="9830" y="32766"/>
                    </a:cubicBezTo>
                    <a:cubicBezTo>
                      <a:pt x="10211" y="32366"/>
                      <a:pt x="10563" y="31966"/>
                      <a:pt x="10925" y="31566"/>
                    </a:cubicBezTo>
                    <a:lnTo>
                      <a:pt x="10992" y="31490"/>
                    </a:lnTo>
                    <a:lnTo>
                      <a:pt x="11316" y="31128"/>
                    </a:lnTo>
                    <a:cubicBezTo>
                      <a:pt x="12440" y="29918"/>
                      <a:pt x="13516" y="28689"/>
                      <a:pt x="14535" y="27403"/>
                    </a:cubicBezTo>
                    <a:lnTo>
                      <a:pt x="15088" y="26708"/>
                    </a:lnTo>
                    <a:lnTo>
                      <a:pt x="15088" y="7144"/>
                    </a:lnTo>
                    <a:cubicBezTo>
                      <a:pt x="15078" y="8868"/>
                      <a:pt x="14973" y="10592"/>
                      <a:pt x="14792" y="12287"/>
                    </a:cubicBezTo>
                    <a:close/>
                  </a:path>
                </a:pathLst>
              </a:custGeom>
              <a:solidFill>
                <a:srgbClr val="000000"/>
              </a:solidFill>
              <a:ln w="9525" cap="flat">
                <a:noFill/>
                <a:prstDash val="solid"/>
                <a:miter/>
              </a:ln>
            </p:spPr>
            <p:txBody>
              <a:bodyPr rtlCol="0" anchor="ctr"/>
              <a:lstStyle/>
              <a:p>
                <a:endParaRPr lang="en-IN">
                  <a:solidFill>
                    <a:schemeClr val="bg1"/>
                  </a:solidFill>
                </a:endParaRPr>
              </a:p>
            </p:txBody>
          </p:sp>
          <p:sp>
            <p:nvSpPr>
              <p:cNvPr id="27" name="Freeform: Shape 40">
                <a:extLst>
                  <a:ext uri="{FF2B5EF4-FFF2-40B4-BE49-F238E27FC236}">
                    <a16:creationId xmlns:a16="http://schemas.microsoft.com/office/drawing/2014/main" id="{3D3A0C0B-3028-02AB-45A9-5AC22941B397}"/>
                  </a:ext>
                </a:extLst>
              </p:cNvPr>
              <p:cNvSpPr/>
              <p:nvPr/>
            </p:nvSpPr>
            <p:spPr>
              <a:xfrm>
                <a:off x="4266319" y="2416967"/>
                <a:ext cx="19050" cy="38100"/>
              </a:xfrm>
              <a:custGeom>
                <a:avLst/>
                <a:gdLst>
                  <a:gd name="connsiteX0" fmla="*/ 9792 w 19050"/>
                  <a:gd name="connsiteY0" fmla="*/ 30832 h 38100"/>
                  <a:gd name="connsiteX1" fmla="*/ 11468 w 19050"/>
                  <a:gd name="connsiteY1" fmla="*/ 26908 h 38100"/>
                  <a:gd name="connsiteX2" fmla="*/ 12049 w 19050"/>
                  <a:gd name="connsiteY2" fmla="*/ 25346 h 38100"/>
                  <a:gd name="connsiteX3" fmla="*/ 13649 w 19050"/>
                  <a:gd name="connsiteY3" fmla="*/ 19926 h 38100"/>
                  <a:gd name="connsiteX4" fmla="*/ 13687 w 19050"/>
                  <a:gd name="connsiteY4" fmla="*/ 19812 h 38100"/>
                  <a:gd name="connsiteX5" fmla="*/ 14659 w 19050"/>
                  <a:gd name="connsiteY5" fmla="*/ 14297 h 38100"/>
                  <a:gd name="connsiteX6" fmla="*/ 14830 w 19050"/>
                  <a:gd name="connsiteY6" fmla="*/ 12630 h 38100"/>
                  <a:gd name="connsiteX7" fmla="*/ 15126 w 19050"/>
                  <a:gd name="connsiteY7" fmla="*/ 7487 h 38100"/>
                  <a:gd name="connsiteX8" fmla="*/ 15126 w 19050"/>
                  <a:gd name="connsiteY8" fmla="*/ 7144 h 38100"/>
                  <a:gd name="connsiteX9" fmla="*/ 14811 w 19050"/>
                  <a:gd name="connsiteY9" fmla="*/ 12621 h 38100"/>
                  <a:gd name="connsiteX10" fmla="*/ 14640 w 19050"/>
                  <a:gd name="connsiteY10" fmla="*/ 14288 h 38100"/>
                  <a:gd name="connsiteX11" fmla="*/ 13668 w 19050"/>
                  <a:gd name="connsiteY11" fmla="*/ 19802 h 38100"/>
                  <a:gd name="connsiteX12" fmla="*/ 13630 w 19050"/>
                  <a:gd name="connsiteY12" fmla="*/ 19917 h 38100"/>
                  <a:gd name="connsiteX13" fmla="*/ 12030 w 19050"/>
                  <a:gd name="connsiteY13" fmla="*/ 25336 h 38100"/>
                  <a:gd name="connsiteX14" fmla="*/ 11449 w 19050"/>
                  <a:gd name="connsiteY14" fmla="*/ 26899 h 38100"/>
                  <a:gd name="connsiteX15" fmla="*/ 9773 w 19050"/>
                  <a:gd name="connsiteY15" fmla="*/ 30823 h 38100"/>
                  <a:gd name="connsiteX16" fmla="*/ 9125 w 19050"/>
                  <a:gd name="connsiteY16" fmla="*/ 32233 h 38100"/>
                  <a:gd name="connsiteX17" fmla="*/ 7144 w 19050"/>
                  <a:gd name="connsiteY17" fmla="*/ 35814 h 38100"/>
                  <a:gd name="connsiteX18" fmla="*/ 7191 w 19050"/>
                  <a:gd name="connsiteY18" fmla="*/ 35776 h 38100"/>
                  <a:gd name="connsiteX19" fmla="*/ 9154 w 19050"/>
                  <a:gd name="connsiteY19" fmla="*/ 32242 h 38100"/>
                  <a:gd name="connsiteX20" fmla="*/ 9792 w 19050"/>
                  <a:gd name="connsiteY20" fmla="*/ 30832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050" h="38100">
                    <a:moveTo>
                      <a:pt x="9792" y="30832"/>
                    </a:moveTo>
                    <a:cubicBezTo>
                      <a:pt x="10401" y="29537"/>
                      <a:pt x="10944" y="28242"/>
                      <a:pt x="11468" y="26908"/>
                    </a:cubicBezTo>
                    <a:cubicBezTo>
                      <a:pt x="11659" y="26384"/>
                      <a:pt x="11859" y="25879"/>
                      <a:pt x="12049" y="25346"/>
                    </a:cubicBezTo>
                    <a:cubicBezTo>
                      <a:pt x="12659" y="23555"/>
                      <a:pt x="13221" y="21765"/>
                      <a:pt x="13649" y="19926"/>
                    </a:cubicBezTo>
                    <a:cubicBezTo>
                      <a:pt x="13668" y="19888"/>
                      <a:pt x="13668" y="19850"/>
                      <a:pt x="13687" y="19812"/>
                    </a:cubicBezTo>
                    <a:cubicBezTo>
                      <a:pt x="14097" y="18012"/>
                      <a:pt x="14411" y="16154"/>
                      <a:pt x="14659" y="14297"/>
                    </a:cubicBezTo>
                    <a:cubicBezTo>
                      <a:pt x="14735" y="13745"/>
                      <a:pt x="14773" y="13192"/>
                      <a:pt x="14830" y="12630"/>
                    </a:cubicBezTo>
                    <a:cubicBezTo>
                      <a:pt x="15011" y="10935"/>
                      <a:pt x="15116" y="9220"/>
                      <a:pt x="15126" y="7487"/>
                    </a:cubicBezTo>
                    <a:lnTo>
                      <a:pt x="15126" y="7144"/>
                    </a:lnTo>
                    <a:cubicBezTo>
                      <a:pt x="15135" y="8992"/>
                      <a:pt x="15002" y="10820"/>
                      <a:pt x="14811" y="12621"/>
                    </a:cubicBezTo>
                    <a:cubicBezTo>
                      <a:pt x="14754" y="13183"/>
                      <a:pt x="14716" y="13735"/>
                      <a:pt x="14640" y="14288"/>
                    </a:cubicBezTo>
                    <a:cubicBezTo>
                      <a:pt x="14402" y="16145"/>
                      <a:pt x="14078" y="18002"/>
                      <a:pt x="13668" y="19802"/>
                    </a:cubicBezTo>
                    <a:cubicBezTo>
                      <a:pt x="13649" y="19841"/>
                      <a:pt x="13649" y="19879"/>
                      <a:pt x="13630" y="19917"/>
                    </a:cubicBezTo>
                    <a:cubicBezTo>
                      <a:pt x="13202" y="21755"/>
                      <a:pt x="12640" y="23565"/>
                      <a:pt x="12030" y="25336"/>
                    </a:cubicBezTo>
                    <a:cubicBezTo>
                      <a:pt x="11840" y="25870"/>
                      <a:pt x="11640" y="26375"/>
                      <a:pt x="11449" y="26899"/>
                    </a:cubicBezTo>
                    <a:cubicBezTo>
                      <a:pt x="10925" y="28232"/>
                      <a:pt x="10392" y="29527"/>
                      <a:pt x="9773" y="30823"/>
                    </a:cubicBezTo>
                    <a:cubicBezTo>
                      <a:pt x="9573" y="31290"/>
                      <a:pt x="9344" y="31775"/>
                      <a:pt x="9125" y="32233"/>
                    </a:cubicBezTo>
                    <a:cubicBezTo>
                      <a:pt x="8515" y="33452"/>
                      <a:pt x="7820" y="34633"/>
                      <a:pt x="7144" y="35814"/>
                    </a:cubicBezTo>
                    <a:cubicBezTo>
                      <a:pt x="7153" y="35804"/>
                      <a:pt x="7172" y="35785"/>
                      <a:pt x="7191" y="35776"/>
                    </a:cubicBezTo>
                    <a:cubicBezTo>
                      <a:pt x="7868" y="34604"/>
                      <a:pt x="8553" y="33442"/>
                      <a:pt x="9154" y="32242"/>
                    </a:cubicBezTo>
                    <a:cubicBezTo>
                      <a:pt x="9363" y="31775"/>
                      <a:pt x="9592" y="31290"/>
                      <a:pt x="9792" y="30832"/>
                    </a:cubicBezTo>
                    <a:close/>
                  </a:path>
                </a:pathLst>
              </a:custGeom>
              <a:solidFill>
                <a:srgbClr val="000000"/>
              </a:solidFill>
              <a:ln w="9525" cap="flat">
                <a:noFill/>
                <a:prstDash val="solid"/>
                <a:miter/>
              </a:ln>
            </p:spPr>
            <p:txBody>
              <a:bodyPr rtlCol="0" anchor="ctr"/>
              <a:lstStyle/>
              <a:p>
                <a:endParaRPr lang="en-IN">
                  <a:solidFill>
                    <a:schemeClr val="bg1"/>
                  </a:solidFill>
                </a:endParaRPr>
              </a:p>
            </p:txBody>
          </p:sp>
        </p:grpSp>
        <p:sp>
          <p:nvSpPr>
            <p:cNvPr id="28" name="Freeform: Shape 33">
              <a:extLst>
                <a:ext uri="{FF2B5EF4-FFF2-40B4-BE49-F238E27FC236}">
                  <a16:creationId xmlns:a16="http://schemas.microsoft.com/office/drawing/2014/main" id="{F62C5FEE-739C-5CD8-3480-47AFBD4B137D}"/>
                </a:ext>
              </a:extLst>
            </p:cNvPr>
            <p:cNvSpPr/>
            <p:nvPr/>
          </p:nvSpPr>
          <p:spPr>
            <a:xfrm flipV="1">
              <a:off x="8573407" y="4059813"/>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a:p>
          </p:txBody>
        </p:sp>
        <p:sp>
          <p:nvSpPr>
            <p:cNvPr id="29" name="Freeform: Shape 34">
              <a:extLst>
                <a:ext uri="{FF2B5EF4-FFF2-40B4-BE49-F238E27FC236}">
                  <a16:creationId xmlns:a16="http://schemas.microsoft.com/office/drawing/2014/main" id="{BCD906C9-9D1F-D350-D161-F4D9B4B287D1}"/>
                </a:ext>
              </a:extLst>
            </p:cNvPr>
            <p:cNvSpPr/>
            <p:nvPr/>
          </p:nvSpPr>
          <p:spPr>
            <a:xfrm flipV="1">
              <a:off x="9021642" y="293743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a:p>
          </p:txBody>
        </p:sp>
      </p:grpSp>
      <p:sp>
        <p:nvSpPr>
          <p:cNvPr id="30" name="TextBox 75">
            <a:extLst>
              <a:ext uri="{FF2B5EF4-FFF2-40B4-BE49-F238E27FC236}">
                <a16:creationId xmlns:a16="http://schemas.microsoft.com/office/drawing/2014/main" id="{02AD65D6-9504-23E6-E4FD-CC294F4A3C64}"/>
              </a:ext>
            </a:extLst>
          </p:cNvPr>
          <p:cNvSpPr txBox="1"/>
          <p:nvPr/>
        </p:nvSpPr>
        <p:spPr>
          <a:xfrm>
            <a:off x="1699594" y="5848141"/>
            <a:ext cx="9514366" cy="369332"/>
          </a:xfrm>
          <a:prstGeom prst="rect">
            <a:avLst/>
          </a:prstGeom>
          <a:noFill/>
        </p:spPr>
        <p:txBody>
          <a:bodyPr wrap="square" rtlCol="0">
            <a:spAutoFit/>
          </a:bodyPr>
          <a:lstStyle/>
          <a:p>
            <a:r>
              <a:rPr lang="en-US" dirty="0">
                <a:solidFill/>
              </a:rPr>
              <a:t>Estimates include Ashtabula, Carroll, Cuyahoga, Erie, Geauga, Holmes, Huron, Lake, Lorain, Medina, Stark, Summit, Tuscarawas, and Wayne Counties</a:t>
            </a:r>
          </a:p>
        </p:txBody>
      </p:sp>
      <p:sp>
        <p:nvSpPr>
          <p:cNvPr id="31" name="TextBox 76">
            <a:extLst>
              <a:ext uri="{FF2B5EF4-FFF2-40B4-BE49-F238E27FC236}">
                <a16:creationId xmlns:a16="http://schemas.microsoft.com/office/drawing/2014/main" id="{F3A378C3-B669-3EE2-B76D-98EDB44E8CDF}"/>
              </a:ext>
            </a:extLst>
          </p:cNvPr>
          <p:cNvSpPr txBox="1"/>
          <p:nvPr/>
        </p:nvSpPr>
        <p:spPr>
          <a:xfrm>
            <a:off x="3297507" y="4821984"/>
            <a:ext cx="1613199" cy="523220"/>
          </a:xfrm>
          <a:prstGeom prst="rect">
            <a:avLst/>
          </a:prstGeom>
          <a:noFill/>
        </p:spPr>
        <p:txBody>
          <a:bodyPr wrap="none" rtlCol="0">
            <a:spAutoFit/>
          </a:bodyPr>
          <a:lstStyle/>
          <a:p>
            <a:r>
              <a:rPr lang="en-US" sz="2800" dirty="0">
                <a:solidFill/>
              </a:rPr>
              <a:t>3,776K</a:t>
            </a:r>
          </a:p>
        </p:txBody>
      </p:sp>
      <p:sp>
        <p:nvSpPr>
          <p:cNvPr id="32" name="TextBox 77">
            <a:extLst>
              <a:ext uri="{FF2B5EF4-FFF2-40B4-BE49-F238E27FC236}">
                <a16:creationId xmlns:a16="http://schemas.microsoft.com/office/drawing/2014/main" id="{F24CF5B8-0E02-1AF3-2A3D-F14253B44FE8}"/>
              </a:ext>
            </a:extLst>
          </p:cNvPr>
          <p:cNvSpPr txBox="1"/>
          <p:nvPr/>
        </p:nvSpPr>
        <p:spPr>
          <a:xfrm>
            <a:off x="3520440" y="3896929"/>
            <a:ext cx="1096775" cy="523220"/>
          </a:xfrm>
          <a:prstGeom prst="rect">
            <a:avLst/>
          </a:prstGeom>
          <a:noFill/>
        </p:spPr>
        <p:txBody>
          <a:bodyPr wrap="none" rtlCol="0">
            <a:spAutoFit/>
          </a:bodyPr>
          <a:lstStyle/>
          <a:p>
            <a:r>
              <a:rPr lang="en-US" sz="2800" dirty="0">
                <a:solidFill/>
              </a:rPr>
              <a:t>2,186K</a:t>
            </a:r>
          </a:p>
        </p:txBody>
      </p:sp>
      <p:sp>
        <p:nvSpPr>
          <p:cNvPr id="33" name="TextBox 78">
            <a:extLst>
              <a:ext uri="{FF2B5EF4-FFF2-40B4-BE49-F238E27FC236}">
                <a16:creationId xmlns:a16="http://schemas.microsoft.com/office/drawing/2014/main" id="{509B3348-F2D5-63CE-B5D5-5FB7263B3D0F}"/>
              </a:ext>
            </a:extLst>
          </p:cNvPr>
          <p:cNvSpPr txBox="1"/>
          <p:nvPr/>
        </p:nvSpPr>
        <p:spPr>
          <a:xfrm>
            <a:off x="3739896" y="2954184"/>
            <a:ext cx="1079142" cy="523220"/>
          </a:xfrm>
          <a:prstGeom prst="rect">
            <a:avLst/>
          </a:prstGeom>
          <a:noFill/>
        </p:spPr>
        <p:txBody>
          <a:bodyPr wrap="none" rtlCol="0">
            <a:spAutoFit/>
          </a:bodyPr>
          <a:lstStyle/>
          <a:p>
            <a:r>
              <a:rPr lang="en-US" sz="2800" dirty="0">
                <a:solidFill/>
              </a:rPr>
              <a:t>1,515K</a:t>
            </a:r>
          </a:p>
        </p:txBody>
      </p:sp>
      <p:sp>
        <p:nvSpPr>
          <p:cNvPr id="34" name="TextBox 79">
            <a:extLst>
              <a:ext uri="{FF2B5EF4-FFF2-40B4-BE49-F238E27FC236}">
                <a16:creationId xmlns:a16="http://schemas.microsoft.com/office/drawing/2014/main" id="{7E24246C-24ED-62DA-EA2E-6EA4A6ADAEAC}"/>
              </a:ext>
            </a:extLst>
          </p:cNvPr>
          <p:cNvSpPr txBox="1"/>
          <p:nvPr/>
        </p:nvSpPr>
        <p:spPr>
          <a:xfrm>
            <a:off x="3959352" y="2022649"/>
            <a:ext cx="922047" cy="523220"/>
          </a:xfrm>
          <a:prstGeom prst="rect">
            <a:avLst/>
          </a:prstGeom>
          <a:noFill/>
        </p:spPr>
        <p:txBody>
          <a:bodyPr wrap="none" rtlCol="0">
            <a:spAutoFit/>
          </a:bodyPr>
          <a:lstStyle/>
          <a:p>
            <a:r>
              <a:rPr lang="en-US" sz="2800" dirty="0">
                <a:solidFill/>
              </a:rPr>
              <a:t>1,062K</a:t>
            </a:r>
          </a:p>
        </p:txBody>
      </p:sp>
      <p:pic>
        <p:nvPicPr>
          <p:cNvPr id="35" name="Content Placeholder 34"/>
          <p:cNvPicPr>
            <a:picLocks noGrp="1"/>
          </p:cNvPicPr>
          <p:nvPr>
            <p:ph/>
          </p:nvPr>
        </p:nvPicPr>
        <p:blipFill>
          <a:blip r:embed="rId2" cstate="print"/>
          <a:stretch>
            <a:fillRect/>
          </a:stretch>
        </p:blipFill>
        <p:spPr>
          <a:xfrm>
            <a:off x="5705856" y="1911096"/>
            <a:ext cx="6364224" cy="3813048"/>
          </a:xfrm>
          <a:prstGeom prst="rect">
            <a:avLst/>
          </a:prstGeom>
        </p:spPr>
      </p:pic>
    </p:spTree>
    <p:extLst>
      <p:ext uri="{BB962C8B-B14F-4D97-AF65-F5344CB8AC3E}">
        <p14:creationId xmlns:p14="http://schemas.microsoft.com/office/powerpoint/2010/main" val="11172704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Royalty-Free photo: Green tall trees near on the lake with overlooking  mountain during daytime | PickPik">
            <a:extLst>
              <a:ext uri="{FF2B5EF4-FFF2-40B4-BE49-F238E27FC236}">
                <a16:creationId xmlns:a16="http://schemas.microsoft.com/office/drawing/2014/main" id="{2478D38F-2055-3BED-F325-F30BC9616D52}"/>
              </a:ext>
            </a:extLst>
          </p:cNvPr>
          <p:cNvPicPr>
            <a:picLocks noChangeAspect="1" noChangeArrowheads="1"/>
          </p:cNvPicPr>
          <p:nvPr/>
        </p:nvPicPr>
        <p:blipFill rotWithShape="1">
          <a:blip r:embed="rId3">
            <a:duotone>
              <a:schemeClr val="bg2">
                <a:shade val="45000"/>
                <a:satMod val="135000"/>
              </a:schemeClr>
              <a:prstClr val="white"/>
            </a:duotone>
            <a:alphaModFix amt="28000"/>
            <a:extLst>
              <a:ext uri="{28A0092B-C50C-407E-A947-70E740481C1C}">
                <a14:useLocalDpi xmlns:a14="http://schemas.microsoft.com/office/drawing/2010/main" val="0"/>
              </a:ext>
            </a:extLst>
          </a:blip>
          <a:srcRect b="5528"/>
          <a:stretch/>
        </p:blipFill>
        <p:spPr bwMode="auto">
          <a:xfrm>
            <a:off x="-31771" y="1"/>
            <a:ext cx="10918845" cy="6872068"/>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C03588DF-56D9-837C-AA1C-128F048C493A}"/>
              </a:ext>
            </a:extLst>
          </p:cNvPr>
          <p:cNvSpPr>
            <a:spLocks noGrp="1"/>
          </p:cNvSpPr>
          <p:nvPr>
            <p:ph type="title"/>
          </p:nvPr>
        </p:nvSpPr>
        <p:spPr>
          <a:xfrm>
            <a:off x="295590" y="144962"/>
            <a:ext cx="10515600" cy="1325563"/>
          </a:xfrm>
        </p:spPr>
        <p:txBody>
          <a:bodyPr/>
          <a:lstStyle/>
          <a:p>
            <a:r>
              <a:rPr lang="en-US" dirty="0"/>
              <a:t>Growing Powerful, Lasting Profitability</a:t>
            </a:r>
          </a:p>
        </p:txBody>
      </p:sp>
      <p:sp>
        <p:nvSpPr>
          <p:cNvPr id="4" name="Footer Placeholder 2">
            <a:extLst>
              <a:ext uri="{FF2B5EF4-FFF2-40B4-BE49-F238E27FC236}">
                <a16:creationId xmlns:a16="http://schemas.microsoft.com/office/drawing/2014/main" id="{69C057C1-F13C-F6D8-AD44-F92FA29D30D9}"/>
              </a:ext>
            </a:extLst>
          </p:cNvPr>
          <p:cNvSpPr>
            <a:spLocks noGrp="1"/>
          </p:cNvSpPr>
          <p:nvPr>
            <p:ph type="ftr" sz="quarter" idx="11"/>
          </p:nvPr>
        </p:nvSpPr>
        <p:spPr>
          <a:xfrm>
            <a:off x="2752413" y="6480529"/>
            <a:ext cx="4114800" cy="365125"/>
          </a:xfrm>
        </p:spPr>
        <p:txBody>
          <a:bodyPr/>
          <a:lstStyle/>
          <a:p>
            <a:r>
              <a:rPr lang="en-US" dirty="0"/>
              <a:t>Key Benefit Administrators</a:t>
            </a:r>
          </a:p>
        </p:txBody>
      </p:sp>
      <p:sp>
        <p:nvSpPr>
          <p:cNvPr id="5" name="Slide Number Placeholder 3">
            <a:extLst>
              <a:ext uri="{FF2B5EF4-FFF2-40B4-BE49-F238E27FC236}">
                <a16:creationId xmlns:a16="http://schemas.microsoft.com/office/drawing/2014/main" id="{BF46B415-80AF-26A8-45D6-1254179BD411}"/>
              </a:ext>
            </a:extLst>
          </p:cNvPr>
          <p:cNvSpPr>
            <a:spLocks noGrp="1"/>
          </p:cNvSpPr>
          <p:nvPr>
            <p:ph type="sldNum" sz="quarter" idx="12"/>
          </p:nvPr>
        </p:nvSpPr>
        <p:spPr/>
        <p:txBody>
          <a:bodyPr/>
          <a:lstStyle/>
          <a:p>
            <a:fld id="{3AFC719D-C4A7-4544-876E-D411D11AF6C9}" type="slidenum">
              <a:rPr lang="en-US" smtClean="0"/>
              <a:t>10</a:t>
            </a:fld>
            <a:endParaRPr lang="en-US" dirty="0"/>
          </a:p>
        </p:txBody>
      </p:sp>
      <p:sp>
        <p:nvSpPr>
          <p:cNvPr id="6" name="Rectangle 4">
            <a:extLst>
              <a:ext uri="{FF2B5EF4-FFF2-40B4-BE49-F238E27FC236}">
                <a16:creationId xmlns:a16="http://schemas.microsoft.com/office/drawing/2014/main" id="{239038F2-C307-DC75-4AEA-316E0211A3AE}"/>
              </a:ext>
            </a:extLst>
          </p:cNvPr>
          <p:cNvSpPr/>
          <p:nvPr/>
        </p:nvSpPr>
        <p:spPr>
          <a:xfrm>
            <a:off x="10887075" y="0"/>
            <a:ext cx="1304925" cy="6872068"/>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10">
            <a:extLst>
              <a:ext uri="{FF2B5EF4-FFF2-40B4-BE49-F238E27FC236}">
                <a16:creationId xmlns:a16="http://schemas.microsoft.com/office/drawing/2014/main" id="{C0C1C4CA-44D9-9691-E058-46CEB5C35DF2}"/>
              </a:ext>
            </a:extLst>
          </p:cNvPr>
          <p:cNvSpPr/>
          <p:nvPr/>
        </p:nvSpPr>
        <p:spPr>
          <a:xfrm>
            <a:off x="4401177" y="1868993"/>
            <a:ext cx="1914733" cy="411982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11">
            <a:extLst>
              <a:ext uri="{FF2B5EF4-FFF2-40B4-BE49-F238E27FC236}">
                <a16:creationId xmlns:a16="http://schemas.microsoft.com/office/drawing/2014/main" id="{8DCAE5A5-11EC-16C5-5F5F-C5DF9E3B0859}"/>
              </a:ext>
            </a:extLst>
          </p:cNvPr>
          <p:cNvSpPr/>
          <p:nvPr/>
        </p:nvSpPr>
        <p:spPr>
          <a:xfrm>
            <a:off x="6315910" y="1868991"/>
            <a:ext cx="1914733" cy="411982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12">
            <a:extLst>
              <a:ext uri="{FF2B5EF4-FFF2-40B4-BE49-F238E27FC236}">
                <a16:creationId xmlns:a16="http://schemas.microsoft.com/office/drawing/2014/main" id="{98C73641-C807-1985-E19A-CA79DA10785E}"/>
              </a:ext>
            </a:extLst>
          </p:cNvPr>
          <p:cNvSpPr/>
          <p:nvPr/>
        </p:nvSpPr>
        <p:spPr>
          <a:xfrm>
            <a:off x="8230644" y="1868990"/>
            <a:ext cx="1914732" cy="411982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13">
            <a:extLst>
              <a:ext uri="{FF2B5EF4-FFF2-40B4-BE49-F238E27FC236}">
                <a16:creationId xmlns:a16="http://schemas.microsoft.com/office/drawing/2014/main" id="{8546D6DB-89F3-8B35-A9E8-670CED022928}"/>
              </a:ext>
            </a:extLst>
          </p:cNvPr>
          <p:cNvSpPr txBox="1"/>
          <p:nvPr/>
        </p:nvSpPr>
        <p:spPr>
          <a:xfrm>
            <a:off x="572430" y="1636954"/>
            <a:ext cx="2568332" cy="630942"/>
          </a:xfrm>
          <a:prstGeom prst="rect">
            <a:avLst/>
          </a:prstGeom>
          <a:noFill/>
        </p:spPr>
        <p:txBody>
          <a:bodyPr wrap="none" rtlCol="0">
            <a:spAutoFit/>
          </a:bodyPr>
          <a:lstStyle/>
          <a:p>
            <a:pPr algn="ctr"/>
            <a:r>
              <a:rPr lang="en-US" sz="2400" b="1" dirty="0">
                <a:solidFill>
                  <a:srgbClr val="6087CE"/>
                </a:solidFill>
              </a:rPr>
              <a:t>Early Stage</a:t>
            </a:r>
          </a:p>
          <a:p>
            <a:pPr algn="ctr"/>
            <a:r>
              <a:rPr lang="en-US" sz="1100" dirty="0">
                <a:solidFill>
                  <a:srgbClr val="6087CE"/>
                </a:solidFill>
              </a:rPr>
              <a:t>Gaining Name Recognition, Early Growth</a:t>
            </a:r>
          </a:p>
        </p:txBody>
      </p:sp>
      <p:sp>
        <p:nvSpPr>
          <p:cNvPr id="11" name="TextBox 6">
            <a:extLst>
              <a:ext uri="{FF2B5EF4-FFF2-40B4-BE49-F238E27FC236}">
                <a16:creationId xmlns:a16="http://schemas.microsoft.com/office/drawing/2014/main" id="{0C35DE11-AC92-1958-1813-38A8A86CBCE8}"/>
              </a:ext>
            </a:extLst>
          </p:cNvPr>
          <p:cNvSpPr txBox="1"/>
          <p:nvPr/>
        </p:nvSpPr>
        <p:spPr>
          <a:xfrm>
            <a:off x="135286" y="2293880"/>
            <a:ext cx="1624165" cy="307777"/>
          </a:xfrm>
          <a:prstGeom prst="rect">
            <a:avLst/>
          </a:prstGeom>
          <a:noFill/>
        </p:spPr>
        <p:txBody>
          <a:bodyPr wrap="square">
            <a:spAutoFit/>
          </a:bodyPr>
          <a:lstStyle/>
          <a:p>
            <a:pPr algn="ctr"/>
            <a:r>
              <a:rPr lang="en-US" sz="1400" dirty="0">
                <a:solidFill>
                  <a:srgbClr val="6087CE"/>
                </a:solidFill>
              </a:rPr>
              <a:t>New Revenue:</a:t>
            </a:r>
          </a:p>
        </p:txBody>
      </p:sp>
      <p:sp>
        <p:nvSpPr>
          <p:cNvPr id="12" name="TextBox 7">
            <a:extLst>
              <a:ext uri="{FF2B5EF4-FFF2-40B4-BE49-F238E27FC236}">
                <a16:creationId xmlns:a16="http://schemas.microsoft.com/office/drawing/2014/main" id="{2E2DA353-8032-9A29-CBFC-5E2CAB8FA818}"/>
              </a:ext>
            </a:extLst>
          </p:cNvPr>
          <p:cNvSpPr txBox="1"/>
          <p:nvPr/>
        </p:nvSpPr>
        <p:spPr>
          <a:xfrm>
            <a:off x="2219510" y="2293880"/>
            <a:ext cx="1118086" cy="307777"/>
          </a:xfrm>
          <a:prstGeom prst="rect">
            <a:avLst/>
          </a:prstGeom>
          <a:noFill/>
        </p:spPr>
        <p:txBody>
          <a:bodyPr wrap="square">
            <a:spAutoFit/>
          </a:bodyPr>
          <a:lstStyle/>
          <a:p>
            <a:pPr algn="ctr"/>
            <a:r>
              <a:rPr lang="en-US" sz="1400" dirty="0">
                <a:solidFill>
                  <a:srgbClr val="6087CE"/>
                </a:solidFill>
              </a:rPr>
              <a:t>New Profit:</a:t>
            </a:r>
          </a:p>
        </p:txBody>
      </p:sp>
      <p:sp>
        <p:nvSpPr>
          <p:cNvPr id="13" name="TextBox 9">
            <a:extLst>
              <a:ext uri="{FF2B5EF4-FFF2-40B4-BE49-F238E27FC236}">
                <a16:creationId xmlns:a16="http://schemas.microsoft.com/office/drawing/2014/main" id="{2EE70FCE-698F-980C-DE5B-A5E0DD82F2B7}"/>
              </a:ext>
            </a:extLst>
          </p:cNvPr>
          <p:cNvSpPr txBox="1"/>
          <p:nvPr/>
        </p:nvSpPr>
        <p:spPr>
          <a:xfrm>
            <a:off x="129001" y="2539605"/>
            <a:ext cx="1588535" cy="400110"/>
          </a:xfrm>
          <a:prstGeom prst="rect">
            <a:avLst/>
          </a:prstGeom>
          <a:noFill/>
        </p:spPr>
        <p:txBody>
          <a:bodyPr wrap="square">
            <a:spAutoFit/>
          </a:bodyPr>
          <a:lstStyle/>
          <a:p>
            <a:pPr algn="ctr"/>
            <a:r>
              <a:rPr lang="en-US" sz="2000" b="1" dirty="0">
                <a:solidFill>
                  <a:srgbClr val="6087CE"/>
                </a:solidFill>
              </a:rPr>
              <a:t>$36.15M</a:t>
            </a:r>
            <a:endParaRPr lang="en-US" sz="2000" dirty="0"/>
          </a:p>
        </p:txBody>
      </p:sp>
      <p:sp>
        <p:nvSpPr>
          <p:cNvPr id="14" name="TextBox 14">
            <a:extLst>
              <a:ext uri="{FF2B5EF4-FFF2-40B4-BE49-F238E27FC236}">
                <a16:creationId xmlns:a16="http://schemas.microsoft.com/office/drawing/2014/main" id="{DBAF8120-09F6-4EB0-E666-C1CBDC5CF295}"/>
              </a:ext>
            </a:extLst>
          </p:cNvPr>
          <p:cNvSpPr txBox="1"/>
          <p:nvPr/>
        </p:nvSpPr>
        <p:spPr>
          <a:xfrm>
            <a:off x="1922550" y="2539605"/>
            <a:ext cx="1588535" cy="400110"/>
          </a:xfrm>
          <a:prstGeom prst="rect">
            <a:avLst/>
          </a:prstGeom>
          <a:noFill/>
        </p:spPr>
        <p:txBody>
          <a:bodyPr wrap="square">
            <a:spAutoFit/>
          </a:bodyPr>
          <a:lstStyle/>
          <a:p>
            <a:pPr algn="ctr"/>
            <a:r>
              <a:rPr lang="en-US" sz="2000" b="1" dirty="0">
                <a:solidFill>
                  <a:srgbClr val="6087CE"/>
                </a:solidFill>
              </a:rPr>
              <a:t>$4.98M</a:t>
            </a:r>
            <a:endParaRPr lang="en-US" sz="2000" dirty="0"/>
          </a:p>
        </p:txBody>
      </p:sp>
      <p:sp>
        <p:nvSpPr>
          <p:cNvPr id="15" name="TextBox 15">
            <a:extLst>
              <a:ext uri="{FF2B5EF4-FFF2-40B4-BE49-F238E27FC236}">
                <a16:creationId xmlns:a16="http://schemas.microsoft.com/office/drawing/2014/main" id="{5B374298-411A-3F68-B672-E1DC32DEA9AE}"/>
              </a:ext>
            </a:extLst>
          </p:cNvPr>
          <p:cNvSpPr txBox="1"/>
          <p:nvPr/>
        </p:nvSpPr>
        <p:spPr>
          <a:xfrm>
            <a:off x="781431" y="3151370"/>
            <a:ext cx="2132315" cy="630942"/>
          </a:xfrm>
          <a:prstGeom prst="rect">
            <a:avLst/>
          </a:prstGeom>
          <a:noFill/>
        </p:spPr>
        <p:txBody>
          <a:bodyPr wrap="none" rtlCol="0">
            <a:spAutoFit/>
          </a:bodyPr>
          <a:lstStyle/>
          <a:p>
            <a:pPr algn="ctr"/>
            <a:r>
              <a:rPr lang="en-US" sz="2400" b="1" dirty="0">
                <a:solidFill>
                  <a:srgbClr val="2F5597"/>
                </a:solidFill>
              </a:rPr>
              <a:t>Growth Stage</a:t>
            </a:r>
          </a:p>
          <a:p>
            <a:pPr algn="ctr"/>
            <a:r>
              <a:rPr lang="en-US" sz="1100" dirty="0">
                <a:solidFill>
                  <a:srgbClr val="2F5597"/>
                </a:solidFill>
              </a:rPr>
              <a:t>Strong Reputation, Strong Growth</a:t>
            </a:r>
          </a:p>
        </p:txBody>
      </p:sp>
      <p:sp>
        <p:nvSpPr>
          <p:cNvPr id="16" name="TextBox 16">
            <a:extLst>
              <a:ext uri="{FF2B5EF4-FFF2-40B4-BE49-F238E27FC236}">
                <a16:creationId xmlns:a16="http://schemas.microsoft.com/office/drawing/2014/main" id="{734215D0-1B81-9E25-D893-D1A81A7D90DE}"/>
              </a:ext>
            </a:extLst>
          </p:cNvPr>
          <p:cNvSpPr txBox="1"/>
          <p:nvPr/>
        </p:nvSpPr>
        <p:spPr>
          <a:xfrm>
            <a:off x="126277" y="3808296"/>
            <a:ext cx="1624165" cy="307777"/>
          </a:xfrm>
          <a:prstGeom prst="rect">
            <a:avLst/>
          </a:prstGeom>
          <a:noFill/>
        </p:spPr>
        <p:txBody>
          <a:bodyPr wrap="square">
            <a:spAutoFit/>
          </a:bodyPr>
          <a:lstStyle/>
          <a:p>
            <a:pPr algn="ctr"/>
            <a:r>
              <a:rPr lang="en-US" sz="1400" dirty="0">
                <a:solidFill>
                  <a:srgbClr val="2F5597"/>
                </a:solidFill>
              </a:rPr>
              <a:t>New Revenue:</a:t>
            </a:r>
          </a:p>
        </p:txBody>
      </p:sp>
      <p:sp>
        <p:nvSpPr>
          <p:cNvPr id="17" name="TextBox 17">
            <a:extLst>
              <a:ext uri="{FF2B5EF4-FFF2-40B4-BE49-F238E27FC236}">
                <a16:creationId xmlns:a16="http://schemas.microsoft.com/office/drawing/2014/main" id="{44D03DDF-E57A-E22B-A334-B0D6BAD568C1}"/>
              </a:ext>
            </a:extLst>
          </p:cNvPr>
          <p:cNvSpPr txBox="1"/>
          <p:nvPr/>
        </p:nvSpPr>
        <p:spPr>
          <a:xfrm>
            <a:off x="2210501" y="3808296"/>
            <a:ext cx="1118086" cy="307777"/>
          </a:xfrm>
          <a:prstGeom prst="rect">
            <a:avLst/>
          </a:prstGeom>
          <a:noFill/>
        </p:spPr>
        <p:txBody>
          <a:bodyPr wrap="square">
            <a:spAutoFit/>
          </a:bodyPr>
          <a:lstStyle/>
          <a:p>
            <a:pPr algn="ctr"/>
            <a:r>
              <a:rPr lang="en-US" sz="1400" dirty="0">
                <a:solidFill>
                  <a:srgbClr val="2F5597"/>
                </a:solidFill>
              </a:rPr>
              <a:t>New Profit:</a:t>
            </a:r>
          </a:p>
        </p:txBody>
      </p:sp>
      <p:sp>
        <p:nvSpPr>
          <p:cNvPr id="18" name="TextBox 20">
            <a:extLst>
              <a:ext uri="{FF2B5EF4-FFF2-40B4-BE49-F238E27FC236}">
                <a16:creationId xmlns:a16="http://schemas.microsoft.com/office/drawing/2014/main" id="{2F96F890-CA85-53B4-4C86-B02186E9E89E}"/>
              </a:ext>
            </a:extLst>
          </p:cNvPr>
          <p:cNvSpPr txBox="1"/>
          <p:nvPr/>
        </p:nvSpPr>
        <p:spPr>
          <a:xfrm>
            <a:off x="119992" y="4054021"/>
            <a:ext cx="1588535" cy="400110"/>
          </a:xfrm>
          <a:prstGeom prst="rect">
            <a:avLst/>
          </a:prstGeom>
          <a:noFill/>
        </p:spPr>
        <p:txBody>
          <a:bodyPr wrap="square">
            <a:spAutoFit/>
          </a:bodyPr>
          <a:lstStyle/>
          <a:p>
            <a:pPr algn="ctr"/>
            <a:r>
              <a:rPr lang="en-US" sz="2000" b="1" dirty="0">
                <a:solidFill>
                  <a:srgbClr val="2F5597"/>
                </a:solidFill>
              </a:rPr>
              <a:t>$281.31M</a:t>
            </a:r>
            <a:endParaRPr lang="en-US" sz="2000" dirty="0">
              <a:solidFill>
                <a:srgbClr val="2F5597"/>
              </a:solidFill>
            </a:endParaRPr>
          </a:p>
        </p:txBody>
      </p:sp>
      <p:sp>
        <p:nvSpPr>
          <p:cNvPr id="19" name="TextBox 21">
            <a:extLst>
              <a:ext uri="{FF2B5EF4-FFF2-40B4-BE49-F238E27FC236}">
                <a16:creationId xmlns:a16="http://schemas.microsoft.com/office/drawing/2014/main" id="{BD5125C9-83DD-4D9F-DE79-D476BE3F058D}"/>
              </a:ext>
            </a:extLst>
          </p:cNvPr>
          <p:cNvSpPr txBox="1"/>
          <p:nvPr/>
        </p:nvSpPr>
        <p:spPr>
          <a:xfrm>
            <a:off x="1913541" y="4054021"/>
            <a:ext cx="1588535" cy="400110"/>
          </a:xfrm>
          <a:prstGeom prst="rect">
            <a:avLst/>
          </a:prstGeom>
          <a:noFill/>
        </p:spPr>
        <p:txBody>
          <a:bodyPr wrap="square">
            <a:spAutoFit/>
          </a:bodyPr>
          <a:lstStyle/>
          <a:p>
            <a:pPr algn="ctr"/>
            <a:r>
              <a:rPr lang="en-US" sz="2000" b="1" dirty="0">
                <a:solidFill>
                  <a:srgbClr val="2F5597"/>
                </a:solidFill>
              </a:rPr>
              <a:t>$39.89M</a:t>
            </a:r>
            <a:endParaRPr lang="en-US" sz="2000" dirty="0">
              <a:solidFill>
                <a:srgbClr val="2F5597"/>
              </a:solidFill>
            </a:endParaRPr>
          </a:p>
        </p:txBody>
      </p:sp>
      <p:sp>
        <p:nvSpPr>
          <p:cNvPr id="20" name="TextBox 22">
            <a:extLst>
              <a:ext uri="{FF2B5EF4-FFF2-40B4-BE49-F238E27FC236}">
                <a16:creationId xmlns:a16="http://schemas.microsoft.com/office/drawing/2014/main" id="{DEBB9E11-84A3-58F8-237D-4A265C29D49C}"/>
              </a:ext>
            </a:extLst>
          </p:cNvPr>
          <p:cNvSpPr txBox="1"/>
          <p:nvPr/>
        </p:nvSpPr>
        <p:spPr>
          <a:xfrm>
            <a:off x="729525" y="4771937"/>
            <a:ext cx="2254143" cy="630942"/>
          </a:xfrm>
          <a:prstGeom prst="rect">
            <a:avLst/>
          </a:prstGeom>
          <a:noFill/>
        </p:spPr>
        <p:txBody>
          <a:bodyPr wrap="none" rtlCol="0">
            <a:spAutoFit/>
          </a:bodyPr>
          <a:lstStyle/>
          <a:p>
            <a:pPr algn="ctr"/>
            <a:r>
              <a:rPr lang="en-US" sz="2400" b="1" dirty="0">
                <a:solidFill>
                  <a:srgbClr val="2F5597"/>
                </a:solidFill>
              </a:rPr>
              <a:t>Mature Stage</a:t>
            </a:r>
          </a:p>
          <a:p>
            <a:pPr algn="ctr"/>
            <a:r>
              <a:rPr lang="en-US" sz="1100" dirty="0">
                <a:solidFill>
                  <a:srgbClr val="2F5597"/>
                </a:solidFill>
              </a:rPr>
              <a:t>High Profitability, Market Saturation</a:t>
            </a:r>
          </a:p>
        </p:txBody>
      </p:sp>
      <p:sp>
        <p:nvSpPr>
          <p:cNvPr id="21" name="TextBox 23">
            <a:extLst>
              <a:ext uri="{FF2B5EF4-FFF2-40B4-BE49-F238E27FC236}">
                <a16:creationId xmlns:a16="http://schemas.microsoft.com/office/drawing/2014/main" id="{E4C2D887-78BC-455D-E84B-4706DBDF3CA1}"/>
              </a:ext>
            </a:extLst>
          </p:cNvPr>
          <p:cNvSpPr txBox="1"/>
          <p:nvPr/>
        </p:nvSpPr>
        <p:spPr>
          <a:xfrm>
            <a:off x="135286" y="5428863"/>
            <a:ext cx="1624165" cy="307777"/>
          </a:xfrm>
          <a:prstGeom prst="rect">
            <a:avLst/>
          </a:prstGeom>
          <a:noFill/>
        </p:spPr>
        <p:txBody>
          <a:bodyPr wrap="square">
            <a:spAutoFit/>
          </a:bodyPr>
          <a:lstStyle/>
          <a:p>
            <a:pPr algn="ctr"/>
            <a:r>
              <a:rPr lang="en-US" sz="1400" dirty="0">
                <a:solidFill>
                  <a:srgbClr val="2F5597"/>
                </a:solidFill>
              </a:rPr>
              <a:t>New Revenue:</a:t>
            </a:r>
          </a:p>
        </p:txBody>
      </p:sp>
      <p:sp>
        <p:nvSpPr>
          <p:cNvPr id="22" name="TextBox 24">
            <a:extLst>
              <a:ext uri="{FF2B5EF4-FFF2-40B4-BE49-F238E27FC236}">
                <a16:creationId xmlns:a16="http://schemas.microsoft.com/office/drawing/2014/main" id="{FC3AFD72-934E-C314-76C9-3BD3C3ADC5D7}"/>
              </a:ext>
            </a:extLst>
          </p:cNvPr>
          <p:cNvSpPr txBox="1"/>
          <p:nvPr/>
        </p:nvSpPr>
        <p:spPr>
          <a:xfrm>
            <a:off x="2219510" y="5428863"/>
            <a:ext cx="1118086" cy="307777"/>
          </a:xfrm>
          <a:prstGeom prst="rect">
            <a:avLst/>
          </a:prstGeom>
          <a:noFill/>
        </p:spPr>
        <p:txBody>
          <a:bodyPr wrap="square">
            <a:spAutoFit/>
          </a:bodyPr>
          <a:lstStyle/>
          <a:p>
            <a:pPr algn="ctr"/>
            <a:r>
              <a:rPr lang="en-US" sz="1400" dirty="0">
                <a:solidFill>
                  <a:srgbClr val="2F5597"/>
                </a:solidFill>
              </a:rPr>
              <a:t>New Profit:</a:t>
            </a:r>
          </a:p>
        </p:txBody>
      </p:sp>
      <p:sp>
        <p:nvSpPr>
          <p:cNvPr id="23" name="TextBox 25">
            <a:extLst>
              <a:ext uri="{FF2B5EF4-FFF2-40B4-BE49-F238E27FC236}">
                <a16:creationId xmlns:a16="http://schemas.microsoft.com/office/drawing/2014/main" id="{AFC7E587-98BA-0E7B-D632-50ECCC546F0C}"/>
              </a:ext>
            </a:extLst>
          </p:cNvPr>
          <p:cNvSpPr txBox="1"/>
          <p:nvPr/>
        </p:nvSpPr>
        <p:spPr>
          <a:xfrm>
            <a:off x="129001" y="5674588"/>
            <a:ext cx="1588535" cy="400110"/>
          </a:xfrm>
          <a:prstGeom prst="rect">
            <a:avLst/>
          </a:prstGeom>
          <a:noFill/>
        </p:spPr>
        <p:txBody>
          <a:bodyPr wrap="square">
            <a:spAutoFit/>
          </a:bodyPr>
          <a:lstStyle/>
          <a:p>
            <a:pPr algn="ctr"/>
            <a:r>
              <a:rPr lang="en-US" sz="2000" b="1" dirty="0">
                <a:solidFill>
                  <a:srgbClr val="2F5597"/>
                </a:solidFill>
              </a:rPr>
              <a:t>$610.87M</a:t>
            </a:r>
            <a:endParaRPr lang="en-US" sz="2000" dirty="0">
              <a:solidFill>
                <a:srgbClr val="2F5597"/>
              </a:solidFill>
            </a:endParaRPr>
          </a:p>
        </p:txBody>
      </p:sp>
      <p:sp>
        <p:nvSpPr>
          <p:cNvPr id="24" name="TextBox 26">
            <a:extLst>
              <a:ext uri="{FF2B5EF4-FFF2-40B4-BE49-F238E27FC236}">
                <a16:creationId xmlns:a16="http://schemas.microsoft.com/office/drawing/2014/main" id="{CDADE326-124A-38EC-26DF-B19515A72278}"/>
              </a:ext>
            </a:extLst>
          </p:cNvPr>
          <p:cNvSpPr txBox="1"/>
          <p:nvPr/>
        </p:nvSpPr>
        <p:spPr>
          <a:xfrm>
            <a:off x="1922550" y="5674588"/>
            <a:ext cx="1588535" cy="400110"/>
          </a:xfrm>
          <a:prstGeom prst="rect">
            <a:avLst/>
          </a:prstGeom>
          <a:noFill/>
        </p:spPr>
        <p:txBody>
          <a:bodyPr wrap="square">
            <a:spAutoFit/>
          </a:bodyPr>
          <a:lstStyle/>
          <a:p>
            <a:pPr algn="ctr"/>
            <a:r>
              <a:rPr lang="en-US" sz="2000" b="1" dirty="0">
                <a:solidFill>
                  <a:srgbClr val="2F5597"/>
                </a:solidFill>
              </a:rPr>
              <a:t>$86.47M</a:t>
            </a:r>
            <a:endParaRPr lang="en-US" sz="2000" dirty="0">
              <a:solidFill>
                <a:srgbClr val="2F5597"/>
              </a:solidFill>
            </a:endParaRPr>
          </a:p>
        </p:txBody>
      </p:sp>
      <p:pic>
        <p:nvPicPr>
          <p:cNvPr id="25" name="Content Placeholder 24"/>
          <p:cNvPicPr>
            <a:picLocks noGrp="1"/>
          </p:cNvPicPr>
          <p:nvPr>
            <p:ph/>
          </p:nvPr>
        </p:nvPicPr>
        <p:blipFill>
          <a:blip r:embed="rId4" cstate="print"/>
          <a:stretch>
            <a:fillRect/>
          </a:stretch>
        </p:blipFill>
        <p:spPr>
          <a:xfrm>
            <a:off x="4078224" y="1472184"/>
            <a:ext cx="6364224" cy="4773168"/>
          </a:xfrm>
          <a:prstGeom prst="rect">
            <a:avLst/>
          </a:prstGeom>
        </p:spPr>
      </p:pic>
    </p:spTree>
    <p:extLst>
      <p:ext uri="{BB962C8B-B14F-4D97-AF65-F5344CB8AC3E}">
        <p14:creationId xmlns:p14="http://schemas.microsoft.com/office/powerpoint/2010/main" val="1633127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20CCE-F739-8633-848E-AA7349974A46}"/>
              </a:ext>
            </a:extLst>
          </p:cNvPr>
          <p:cNvSpPr>
            <a:spLocks noGrp="1"/>
          </p:cNvSpPr>
          <p:nvPr>
            <p:ph type="title"/>
          </p:nvPr>
        </p:nvSpPr>
        <p:spPr>
          <a:xfrm>
            <a:off x="1553028" y="365125"/>
            <a:ext cx="10458459" cy="1325563"/>
          </a:xfrm>
        </p:spPr>
        <p:txBody>
          <a:bodyPr>
            <a:normAutofit/>
          </a:bodyPr>
          <a:lstStyle/>
          <a:p>
            <a:r>
              <a:rPr lang="en-US" sz="3600" b="1" dirty="0">
                <a:solidFill>
                  <a:schemeClr val="tx1">
                    <a:lumMod val="85000"/>
                    <a:lumOff val="15000"/>
                  </a:schemeClr>
                </a:solidFill>
                <a:latin typeface="Arial" panose="020B0604020202020204" pitchFamily="34" charset="0"/>
                <a:cs typeface="Arial" panose="020B0604020202020204" pitchFamily="34" charset="0"/>
              </a:rPr>
              <a:t>Estimated Financial Returns and Assumptions</a:t>
            </a:r>
          </a:p>
        </p:txBody>
      </p:sp>
      <p:sp>
        <p:nvSpPr>
          <p:cNvPr id="3" name="Footer Placeholder 3">
            <a:extLst>
              <a:ext uri="{FF2B5EF4-FFF2-40B4-BE49-F238E27FC236}">
                <a16:creationId xmlns:a16="http://schemas.microsoft.com/office/drawing/2014/main" id="{5507C855-B839-95B6-9EA2-093923967C6B}"/>
              </a:ext>
            </a:extLst>
          </p:cNvPr>
          <p:cNvSpPr>
            <a:spLocks noGrp="1"/>
          </p:cNvSpPr>
          <p:nvPr>
            <p:ph type="ftr" sz="quarter" idx="11"/>
          </p:nvPr>
        </p:nvSpPr>
        <p:spPr>
          <a:xfrm>
            <a:off x="4038602" y="6490145"/>
            <a:ext cx="4114800" cy="250380"/>
          </a:xfrm>
        </p:spPr>
        <p:txBody>
          <a:bodyPr/>
          <a:lstStyle/>
          <a:p>
            <a:r>
              <a:rPr lang="en-US"/>
              <a:t>Key Benefit Administrators</a:t>
            </a:r>
            <a:endParaRPr lang="en-US" dirty="0"/>
          </a:p>
        </p:txBody>
      </p:sp>
      <p:sp>
        <p:nvSpPr>
          <p:cNvPr id="4" name="Slide Number Placeholder 4">
            <a:extLst>
              <a:ext uri="{FF2B5EF4-FFF2-40B4-BE49-F238E27FC236}">
                <a16:creationId xmlns:a16="http://schemas.microsoft.com/office/drawing/2014/main" id="{F7E7619F-9C66-420C-88E0-81D9A3B4FEB7}"/>
              </a:ext>
            </a:extLst>
          </p:cNvPr>
          <p:cNvSpPr>
            <a:spLocks noGrp="1"/>
          </p:cNvSpPr>
          <p:nvPr>
            <p:ph type="sldNum" sz="quarter" idx="12"/>
          </p:nvPr>
        </p:nvSpPr>
        <p:spPr>
          <a:xfrm>
            <a:off x="8610601" y="6490145"/>
            <a:ext cx="2743200" cy="250380"/>
          </a:xfrm>
        </p:spPr>
        <p:txBody>
          <a:bodyPr/>
          <a:lstStyle/>
          <a:p>
            <a:fld id="{3AFC719D-C4A7-4544-876E-D411D11AF6C9}" type="slidenum">
              <a:rPr lang="en-US" smtClean="0"/>
              <a:t>11</a:t>
            </a:fld>
            <a:endParaRPr lang="en-US" dirty="0"/>
          </a:p>
        </p:txBody>
      </p:sp>
      <p:sp>
        <p:nvSpPr>
          <p:cNvPr id="5" name="Rectangle 7">
            <a:extLst>
              <a:ext uri="{FF2B5EF4-FFF2-40B4-BE49-F238E27FC236}">
                <a16:creationId xmlns:a16="http://schemas.microsoft.com/office/drawing/2014/main" id="{55A48ACE-D370-6BA3-A39B-CF7D87E5C9A5}"/>
              </a:ext>
            </a:extLst>
          </p:cNvPr>
          <p:cNvSpPr/>
          <p:nvPr/>
        </p:nvSpPr>
        <p:spPr>
          <a:xfrm>
            <a:off x="7466120" y="1574676"/>
            <a:ext cx="4725880" cy="585927"/>
          </a:xfrm>
          <a:prstGeom prst="rect">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8">
            <a:extLst>
              <a:ext uri="{FF2B5EF4-FFF2-40B4-BE49-F238E27FC236}">
                <a16:creationId xmlns:a16="http://schemas.microsoft.com/office/drawing/2014/main" id="{99386F57-8E81-E6DF-1A01-623E3BB7AB0B}"/>
              </a:ext>
            </a:extLst>
          </p:cNvPr>
          <p:cNvSpPr/>
          <p:nvPr/>
        </p:nvSpPr>
        <p:spPr>
          <a:xfrm>
            <a:off x="7168718" y="1574676"/>
            <a:ext cx="594804" cy="585927"/>
          </a:xfrm>
          <a:prstGeom prst="ellipse">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11">
            <a:extLst>
              <a:ext uri="{FF2B5EF4-FFF2-40B4-BE49-F238E27FC236}">
                <a16:creationId xmlns:a16="http://schemas.microsoft.com/office/drawing/2014/main" id="{7B828AB6-CD3A-4CD3-8950-2942DDBEAC0D}"/>
              </a:ext>
            </a:extLst>
          </p:cNvPr>
          <p:cNvSpPr txBox="1"/>
          <p:nvPr/>
        </p:nvSpPr>
        <p:spPr>
          <a:xfrm>
            <a:off x="8019782" y="1667584"/>
            <a:ext cx="3618555" cy="400110"/>
          </a:xfrm>
          <a:prstGeom prst="rect">
            <a:avLst/>
          </a:prstGeom>
          <a:noFill/>
        </p:spPr>
        <p:txBody>
          <a:bodyPr wrap="none" rtlCol="0">
            <a:spAutoFit/>
          </a:bodyPr>
          <a:lstStyle/>
          <a:p>
            <a:r>
              <a:rPr lang="en-US" sz="2000" dirty="0">
                <a:solidFill>
                  <a:schemeClr val="bg1"/>
                </a:solidFill>
                <a:latin typeface="Arial" panose="020B0604020202020204" pitchFamily="34" charset="0"/>
                <a:cs typeface="Arial" panose="020B0604020202020204" pitchFamily="34" charset="0"/>
              </a:rPr>
              <a:t>Patient Steerage Assumptions</a:t>
            </a:r>
          </a:p>
        </p:txBody>
      </p:sp>
      <p:sp>
        <p:nvSpPr>
          <p:cNvPr id="8" name="TextBox 12">
            <a:extLst>
              <a:ext uri="{FF2B5EF4-FFF2-40B4-BE49-F238E27FC236}">
                <a16:creationId xmlns:a16="http://schemas.microsoft.com/office/drawing/2014/main" id="{025AE6BF-C458-13D4-626E-DAD4C1439055}"/>
              </a:ext>
            </a:extLst>
          </p:cNvPr>
          <p:cNvSpPr txBox="1"/>
          <p:nvPr/>
        </p:nvSpPr>
        <p:spPr>
          <a:xfrm>
            <a:off x="7466120" y="2250333"/>
            <a:ext cx="4616389" cy="900246"/>
          </a:xfrm>
          <a:prstGeom prst="rect">
            <a:avLst/>
          </a:prstGeom>
          <a:noFill/>
        </p:spPr>
        <p:txBody>
          <a:bodyPr wrap="square" rtlCol="0">
            <a:spAutoFit/>
          </a:bodyPr>
          <a:lstStyle/>
          <a:p>
            <a:r>
              <a:rPr lang="en-US" sz="1050" dirty="0">
                <a:solidFill/>
              </a:rPr>
              <a:t>KBA currently estimates that Cleveland Clinic Health System has 29% inpatient market share, and 26% outpatient market compared to hospitals/clinics in Northern Ohio. The DTE tiered structure will create immediate steerage, with additional steerage over time from patient bonus benefits and the patient card (see slide 32 for estimates of target steerage). </a:t>
            </a:r>
            <a:endParaRPr lang="en-US" sz="1050" dirty="0"/>
          </a:p>
        </p:txBody>
      </p:sp>
      <p:sp>
        <p:nvSpPr>
          <p:cNvPr id="9" name="Rectangle 20">
            <a:extLst>
              <a:ext uri="{FF2B5EF4-FFF2-40B4-BE49-F238E27FC236}">
                <a16:creationId xmlns:a16="http://schemas.microsoft.com/office/drawing/2014/main" id="{620CA171-241C-9006-DA4D-7174E70B2EF3}"/>
              </a:ext>
            </a:extLst>
          </p:cNvPr>
          <p:cNvSpPr/>
          <p:nvPr/>
        </p:nvSpPr>
        <p:spPr>
          <a:xfrm>
            <a:off x="7597806" y="5623933"/>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21">
            <a:extLst>
              <a:ext uri="{FF2B5EF4-FFF2-40B4-BE49-F238E27FC236}">
                <a16:creationId xmlns:a16="http://schemas.microsoft.com/office/drawing/2014/main" id="{BD8E1912-BAE3-A76F-55A7-754D206BC471}"/>
              </a:ext>
            </a:extLst>
          </p:cNvPr>
          <p:cNvSpPr/>
          <p:nvPr/>
        </p:nvSpPr>
        <p:spPr>
          <a:xfrm>
            <a:off x="7509029" y="4095424"/>
            <a:ext cx="4682971" cy="585927"/>
          </a:xfrm>
          <a:prstGeom prst="rect">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22">
            <a:extLst>
              <a:ext uri="{FF2B5EF4-FFF2-40B4-BE49-F238E27FC236}">
                <a16:creationId xmlns:a16="http://schemas.microsoft.com/office/drawing/2014/main" id="{D2B9ED21-8D89-315C-4C9C-403AA9B2666A}"/>
              </a:ext>
            </a:extLst>
          </p:cNvPr>
          <p:cNvSpPr/>
          <p:nvPr/>
        </p:nvSpPr>
        <p:spPr>
          <a:xfrm>
            <a:off x="7211627" y="4095424"/>
            <a:ext cx="594804" cy="585927"/>
          </a:xfrm>
          <a:prstGeom prst="ellipse">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23">
            <a:extLst>
              <a:ext uri="{FF2B5EF4-FFF2-40B4-BE49-F238E27FC236}">
                <a16:creationId xmlns:a16="http://schemas.microsoft.com/office/drawing/2014/main" id="{950E697A-C380-A6EE-50AE-8B3DED34929F}"/>
              </a:ext>
            </a:extLst>
          </p:cNvPr>
          <p:cNvSpPr txBox="1"/>
          <p:nvPr/>
        </p:nvSpPr>
        <p:spPr>
          <a:xfrm>
            <a:off x="8062691" y="4188332"/>
            <a:ext cx="3932743" cy="400110"/>
          </a:xfrm>
          <a:prstGeom prst="rect">
            <a:avLst/>
          </a:prstGeom>
          <a:noFill/>
        </p:spPr>
        <p:txBody>
          <a:bodyPr wrap="none" rtlCol="0">
            <a:spAutoFit/>
          </a:bodyPr>
          <a:lstStyle/>
          <a:p>
            <a:r>
              <a:rPr lang="en-US" sz="2000" dirty="0">
                <a:solidFill>
                  <a:schemeClr val="bg1"/>
                </a:solidFill>
                <a:latin typeface="Arial" panose="020B0604020202020204" pitchFamily="34" charset="0"/>
                <a:cs typeface="Arial" panose="020B0604020202020204" pitchFamily="34" charset="0"/>
              </a:rPr>
              <a:t>Commercial Margin Assumptions</a:t>
            </a:r>
          </a:p>
        </p:txBody>
      </p:sp>
      <p:sp>
        <p:nvSpPr>
          <p:cNvPr id="13" name="TextBox 24">
            <a:extLst>
              <a:ext uri="{FF2B5EF4-FFF2-40B4-BE49-F238E27FC236}">
                <a16:creationId xmlns:a16="http://schemas.microsoft.com/office/drawing/2014/main" id="{32C9D62D-25B0-6CD9-8AD7-E6855B1B1B26}"/>
              </a:ext>
            </a:extLst>
          </p:cNvPr>
          <p:cNvSpPr txBox="1"/>
          <p:nvPr/>
        </p:nvSpPr>
        <p:spPr>
          <a:xfrm>
            <a:off x="7509029" y="4771081"/>
            <a:ext cx="4616389" cy="738664"/>
          </a:xfrm>
          <a:prstGeom prst="rect">
            <a:avLst/>
          </a:prstGeom>
          <a:noFill/>
        </p:spPr>
        <p:txBody>
          <a:bodyPr wrap="square" rtlCol="0">
            <a:spAutoFit/>
          </a:bodyPr>
          <a:lstStyle/>
          <a:p>
            <a:r>
              <a:rPr lang="en-US" sz="1050" dirty="0">
                <a:solidFill/>
              </a:rPr>
              <a:t>KBA observes a Cleveland Clinic 17% commercial margin. Conservatively, we model the DTE to level with commercial rates given prices 10% below market, but with a 10 percentage-point increase through friendlier billing practices and improved patient collections with the patient card.</a:t>
            </a:r>
          </a:p>
        </p:txBody>
      </p:sp>
      <p:sp>
        <p:nvSpPr>
          <p:cNvPr id="14" name="TextBox 25">
            <a:extLst>
              <a:ext uri="{FF2B5EF4-FFF2-40B4-BE49-F238E27FC236}">
                <a16:creationId xmlns:a16="http://schemas.microsoft.com/office/drawing/2014/main" id="{A76920ED-352E-9285-CC83-BDA6AB18978D}"/>
              </a:ext>
            </a:extLst>
          </p:cNvPr>
          <p:cNvSpPr txBox="1"/>
          <p:nvPr/>
        </p:nvSpPr>
        <p:spPr>
          <a:xfrm>
            <a:off x="7707395" y="5576519"/>
            <a:ext cx="488916" cy="307777"/>
          </a:xfrm>
          <a:prstGeom prst="rect">
            <a:avLst/>
          </a:prstGeom>
          <a:noFill/>
        </p:spPr>
        <p:txBody>
          <a:bodyPr wrap="none" rtlCol="0">
            <a:spAutoFit/>
          </a:bodyPr>
          <a:lstStyle/>
          <a:p>
            <a:r>
              <a:rPr lang="en-US" sz="1400" b="1" dirty="0"/>
              <a:t>Low</a:t>
            </a:r>
          </a:p>
        </p:txBody>
      </p:sp>
      <p:sp>
        <p:nvSpPr>
          <p:cNvPr id="15" name="TextBox 26">
            <a:extLst>
              <a:ext uri="{FF2B5EF4-FFF2-40B4-BE49-F238E27FC236}">
                <a16:creationId xmlns:a16="http://schemas.microsoft.com/office/drawing/2014/main" id="{2559AB8C-6F23-81D3-4546-DE75EBD91879}"/>
              </a:ext>
            </a:extLst>
          </p:cNvPr>
          <p:cNvSpPr txBox="1"/>
          <p:nvPr/>
        </p:nvSpPr>
        <p:spPr>
          <a:xfrm>
            <a:off x="9572765" y="5576519"/>
            <a:ext cx="643509" cy="307777"/>
          </a:xfrm>
          <a:prstGeom prst="rect">
            <a:avLst/>
          </a:prstGeom>
          <a:noFill/>
        </p:spPr>
        <p:txBody>
          <a:bodyPr wrap="none" rtlCol="0">
            <a:spAutoFit/>
          </a:bodyPr>
          <a:lstStyle/>
          <a:p>
            <a:r>
              <a:rPr lang="en-US" sz="1400" b="1" dirty="0"/>
              <a:t>Target</a:t>
            </a:r>
          </a:p>
        </p:txBody>
      </p:sp>
      <p:sp>
        <p:nvSpPr>
          <p:cNvPr id="16" name="TextBox 27">
            <a:extLst>
              <a:ext uri="{FF2B5EF4-FFF2-40B4-BE49-F238E27FC236}">
                <a16:creationId xmlns:a16="http://schemas.microsoft.com/office/drawing/2014/main" id="{314AFF5C-ABDA-A82B-40C8-14E2DB160036}"/>
              </a:ext>
            </a:extLst>
          </p:cNvPr>
          <p:cNvSpPr txBox="1"/>
          <p:nvPr/>
        </p:nvSpPr>
        <p:spPr>
          <a:xfrm>
            <a:off x="11436788" y="5576519"/>
            <a:ext cx="524503" cy="307777"/>
          </a:xfrm>
          <a:prstGeom prst="rect">
            <a:avLst/>
          </a:prstGeom>
          <a:noFill/>
        </p:spPr>
        <p:txBody>
          <a:bodyPr wrap="none" rtlCol="0">
            <a:spAutoFit/>
          </a:bodyPr>
          <a:lstStyle/>
          <a:p>
            <a:r>
              <a:rPr lang="en-US" sz="1400" b="1" dirty="0"/>
              <a:t>High</a:t>
            </a:r>
          </a:p>
        </p:txBody>
      </p:sp>
      <p:sp>
        <p:nvSpPr>
          <p:cNvPr id="17" name="TextBox 28">
            <a:extLst>
              <a:ext uri="{FF2B5EF4-FFF2-40B4-BE49-F238E27FC236}">
                <a16:creationId xmlns:a16="http://schemas.microsoft.com/office/drawing/2014/main" id="{2C03026B-6D1E-F7B1-9995-7D9DC1019C60}"/>
              </a:ext>
            </a:extLst>
          </p:cNvPr>
          <p:cNvSpPr txBox="1"/>
          <p:nvPr/>
        </p:nvSpPr>
        <p:spPr>
          <a:xfrm>
            <a:off x="7659946" y="5835372"/>
            <a:ext cx="758541" cy="369332"/>
          </a:xfrm>
          <a:prstGeom prst="rect">
            <a:avLst/>
          </a:prstGeom>
          <a:noFill/>
        </p:spPr>
        <p:txBody>
          <a:bodyPr wrap="none" rtlCol="0">
            <a:spAutoFit/>
          </a:bodyPr>
          <a:lstStyle/>
          <a:p>
            <a:r>
              <a:rPr lang="en-US" dirty="0">
                <a:solidFill/>
              </a:rPr>
              <a:t>10.6%</a:t>
            </a:r>
          </a:p>
        </p:txBody>
      </p:sp>
      <p:sp>
        <p:nvSpPr>
          <p:cNvPr id="18" name="TextBox 29">
            <a:extLst>
              <a:ext uri="{FF2B5EF4-FFF2-40B4-BE49-F238E27FC236}">
                <a16:creationId xmlns:a16="http://schemas.microsoft.com/office/drawing/2014/main" id="{9C64CEEB-E16A-926D-5DF0-DC8275443A40}"/>
              </a:ext>
            </a:extLst>
          </p:cNvPr>
          <p:cNvSpPr txBox="1"/>
          <p:nvPr/>
        </p:nvSpPr>
        <p:spPr>
          <a:xfrm>
            <a:off x="9580061" y="5847344"/>
            <a:ext cx="885179" cy="369332"/>
          </a:xfrm>
          <a:prstGeom prst="rect">
            <a:avLst/>
          </a:prstGeom>
          <a:noFill/>
        </p:spPr>
        <p:txBody>
          <a:bodyPr wrap="none" rtlCol="0">
            <a:spAutoFit/>
          </a:bodyPr>
          <a:lstStyle/>
          <a:p>
            <a:r>
              <a:rPr lang="en-US" dirty="0">
                <a:solidFill/>
              </a:rPr>
              <a:t>13.6%</a:t>
            </a:r>
          </a:p>
        </p:txBody>
      </p:sp>
      <p:sp>
        <p:nvSpPr>
          <p:cNvPr id="19" name="TextBox 30">
            <a:extLst>
              <a:ext uri="{FF2B5EF4-FFF2-40B4-BE49-F238E27FC236}">
                <a16:creationId xmlns:a16="http://schemas.microsoft.com/office/drawing/2014/main" id="{716000A2-AFB1-117D-BFF0-2BDA3EA8A77D}"/>
              </a:ext>
            </a:extLst>
          </p:cNvPr>
          <p:cNvSpPr txBox="1"/>
          <p:nvPr/>
        </p:nvSpPr>
        <p:spPr>
          <a:xfrm>
            <a:off x="11389339" y="5847344"/>
            <a:ext cx="758541" cy="369332"/>
          </a:xfrm>
          <a:prstGeom prst="rect">
            <a:avLst/>
          </a:prstGeom>
          <a:noFill/>
        </p:spPr>
        <p:txBody>
          <a:bodyPr wrap="none" rtlCol="0">
            <a:spAutoFit/>
          </a:bodyPr>
          <a:lstStyle/>
          <a:p>
            <a:r>
              <a:rPr lang="en-US" dirty="0">
                <a:solidFill/>
              </a:rPr>
              <a:t>16.6%</a:t>
            </a:r>
          </a:p>
        </p:txBody>
      </p:sp>
      <p:sp>
        <p:nvSpPr>
          <p:cNvPr id="20" name="Rectangle 2">
            <a:extLst>
              <a:ext uri="{FF2B5EF4-FFF2-40B4-BE49-F238E27FC236}">
                <a16:creationId xmlns:a16="http://schemas.microsoft.com/office/drawing/2014/main" id="{E854312B-28D3-E83C-2C75-6E860911BB50}"/>
              </a:ext>
            </a:extLst>
          </p:cNvPr>
          <p:cNvSpPr/>
          <p:nvPr/>
        </p:nvSpPr>
        <p:spPr>
          <a:xfrm>
            <a:off x="0" y="-777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21" name="Title 1">
            <a:extLst>
              <a:ext uri="{FF2B5EF4-FFF2-40B4-BE49-F238E27FC236}">
                <a16:creationId xmlns:a16="http://schemas.microsoft.com/office/drawing/2014/main" id="{2DAB5DAF-375F-8C08-74DE-3B9B1A009F39}"/>
              </a:ext>
            </a:extLst>
          </p:cNvPr>
          <p:cNvSpPr txBox="1">
            <a:spLocks/>
          </p:cNvSpPr>
          <p:nvPr/>
        </p:nvSpPr>
        <p:spPr>
          <a:xfrm rot="16200000">
            <a:off x="-2814764" y="2993452"/>
            <a:ext cx="6553884" cy="752041"/>
          </a:xfrm>
          <a:prstGeom prst="rect">
            <a:avLst/>
          </a:prstGeom>
        </p:spPr>
        <p:txBody>
          <a:bodyPr vert="horz" lIns="91440" tIns="45720" rIns="91440" bIns="45720" rtlCol="0" anchor="ctr">
            <a:noAutofit/>
          </a:bodyPr>
          <a:lstStyle>
            <a:lvl1pPr algn="l" defTabSz="914411"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spcBef>
                <a:spcPts val="600"/>
              </a:spcBef>
            </a:pPr>
            <a:r>
              <a:rPr lang="en-US" sz="3600" dirty="0">
                <a:solidFill>
                  <a:schemeClr val="bg1"/>
                </a:solidFill>
                <a:latin typeface="Arial" panose="020B0604020202020204" pitchFamily="34" charset="0"/>
                <a:cs typeface="Arial" panose="020B0604020202020204" pitchFamily="34" charset="0"/>
              </a:rPr>
              <a:t>SINGLE-YEAR PROJECTION</a:t>
            </a:r>
          </a:p>
        </p:txBody>
      </p:sp>
      <p:sp>
        <p:nvSpPr>
          <p:cNvPr id="22" name="Rectangle 19">
            <a:extLst>
              <a:ext uri="{FF2B5EF4-FFF2-40B4-BE49-F238E27FC236}">
                <a16:creationId xmlns:a16="http://schemas.microsoft.com/office/drawing/2014/main" id="{F6627BBC-E6C5-1195-07E5-6C53EE01CC8B}"/>
              </a:ext>
            </a:extLst>
          </p:cNvPr>
          <p:cNvSpPr/>
          <p:nvPr/>
        </p:nvSpPr>
        <p:spPr>
          <a:xfrm>
            <a:off x="7597806" y="3203415"/>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5">
            <a:extLst>
              <a:ext uri="{FF2B5EF4-FFF2-40B4-BE49-F238E27FC236}">
                <a16:creationId xmlns:a16="http://schemas.microsoft.com/office/drawing/2014/main" id="{C22B0D02-4198-9ACE-8A8D-89E646CD21E5}"/>
              </a:ext>
            </a:extLst>
          </p:cNvPr>
          <p:cNvSpPr txBox="1"/>
          <p:nvPr/>
        </p:nvSpPr>
        <p:spPr>
          <a:xfrm>
            <a:off x="8366143" y="3171997"/>
            <a:ext cx="488916" cy="307777"/>
          </a:xfrm>
          <a:prstGeom prst="rect">
            <a:avLst/>
          </a:prstGeom>
          <a:noFill/>
        </p:spPr>
        <p:txBody>
          <a:bodyPr wrap="none" rtlCol="0">
            <a:spAutoFit/>
          </a:bodyPr>
          <a:lstStyle/>
          <a:p>
            <a:r>
              <a:rPr lang="en-US" sz="1400" b="1" dirty="0"/>
              <a:t>Low</a:t>
            </a:r>
          </a:p>
        </p:txBody>
      </p:sp>
      <p:sp>
        <p:nvSpPr>
          <p:cNvPr id="24" name="TextBox 27">
            <a:extLst>
              <a:ext uri="{FF2B5EF4-FFF2-40B4-BE49-F238E27FC236}">
                <a16:creationId xmlns:a16="http://schemas.microsoft.com/office/drawing/2014/main" id="{E8084D42-778C-82F6-630D-9D8469AFEE15}"/>
              </a:ext>
            </a:extLst>
          </p:cNvPr>
          <p:cNvSpPr txBox="1"/>
          <p:nvPr/>
        </p:nvSpPr>
        <p:spPr>
          <a:xfrm>
            <a:off x="10950749" y="3163290"/>
            <a:ext cx="524503" cy="307777"/>
          </a:xfrm>
          <a:prstGeom prst="rect">
            <a:avLst/>
          </a:prstGeom>
          <a:noFill/>
        </p:spPr>
        <p:txBody>
          <a:bodyPr wrap="none" rtlCol="0">
            <a:spAutoFit/>
          </a:bodyPr>
          <a:lstStyle/>
          <a:p>
            <a:r>
              <a:rPr lang="en-US" sz="1400" b="1" dirty="0"/>
              <a:t>High</a:t>
            </a:r>
          </a:p>
        </p:txBody>
      </p:sp>
      <p:sp>
        <p:nvSpPr>
          <p:cNvPr id="25" name="TextBox 28">
            <a:extLst>
              <a:ext uri="{FF2B5EF4-FFF2-40B4-BE49-F238E27FC236}">
                <a16:creationId xmlns:a16="http://schemas.microsoft.com/office/drawing/2014/main" id="{F168AC10-2BD6-A49E-428D-30E6B39D197A}"/>
              </a:ext>
            </a:extLst>
          </p:cNvPr>
          <p:cNvSpPr txBox="1"/>
          <p:nvPr/>
        </p:nvSpPr>
        <p:spPr>
          <a:xfrm>
            <a:off x="7647303" y="3407458"/>
            <a:ext cx="1825756" cy="369332"/>
          </a:xfrm>
          <a:prstGeom prst="rect">
            <a:avLst/>
          </a:prstGeom>
          <a:noFill/>
        </p:spPr>
        <p:txBody>
          <a:bodyPr wrap="none" rtlCol="0">
            <a:spAutoFit/>
          </a:bodyPr>
          <a:lstStyle/>
          <a:p>
            <a:r>
              <a:rPr lang="en-US" dirty="0">
                <a:solidFill/>
              </a:rPr>
              <a:t>10% below target</a:t>
            </a:r>
          </a:p>
        </p:txBody>
      </p:sp>
      <p:sp>
        <p:nvSpPr>
          <p:cNvPr id="26" name="TextBox 30">
            <a:extLst>
              <a:ext uri="{FF2B5EF4-FFF2-40B4-BE49-F238E27FC236}">
                <a16:creationId xmlns:a16="http://schemas.microsoft.com/office/drawing/2014/main" id="{85A3284B-C2CB-7693-6750-302A3F66B386}"/>
              </a:ext>
            </a:extLst>
          </p:cNvPr>
          <p:cNvSpPr txBox="1"/>
          <p:nvPr/>
        </p:nvSpPr>
        <p:spPr>
          <a:xfrm>
            <a:off x="10299672" y="3405178"/>
            <a:ext cx="1820178" cy="369332"/>
          </a:xfrm>
          <a:prstGeom prst="rect">
            <a:avLst/>
          </a:prstGeom>
          <a:noFill/>
        </p:spPr>
        <p:txBody>
          <a:bodyPr wrap="none" rtlCol="0">
            <a:spAutoFit/>
          </a:bodyPr>
          <a:lstStyle/>
          <a:p>
            <a:r>
              <a:rPr lang="en-US" dirty="0">
                <a:solidFill/>
              </a:rPr>
              <a:t>10% above target</a:t>
            </a:r>
          </a:p>
        </p:txBody>
      </p:sp>
      <p:pic>
        <p:nvPicPr>
          <p:cNvPr id="32" name="Content Placeholder 26">
            <a:extLst>
              <a:ext uri="{FF2B5EF4-FFF2-40B4-BE49-F238E27FC236}">
                <a16:creationId xmlns:a16="http://schemas.microsoft.com/office/drawing/2014/main" id="{8B25DFBB-10A0-8654-97B6-EEB7CD6D4561}"/>
              </a:ext>
            </a:extLst>
          </p:cNvPr>
          <p:cNvPicPr>
            <a:picLocks/>
          </p:cNvPicPr>
          <p:nvPr/>
        </p:nvPicPr>
        <p:blipFill>
          <a:blip r:embed="rId2" cstate="print"/>
          <a:stretch>
            <a:fillRect/>
          </a:stretch>
        </p:blipFill>
        <p:spPr>
          <a:xfrm>
            <a:off x="1024128" y="1618488"/>
            <a:ext cx="6382512" cy="4553712"/>
          </a:xfrm>
          <a:prstGeom prst="rect">
            <a:avLst/>
          </a:prstGeom>
        </p:spPr>
      </p:pic>
    </p:spTree>
    <p:extLst>
      <p:ext uri="{BB962C8B-B14F-4D97-AF65-F5344CB8AC3E}">
        <p14:creationId xmlns:p14="http://schemas.microsoft.com/office/powerpoint/2010/main" val="34709052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DEBD79AC-6896-6E13-B0EE-8405AC1D8926}"/>
              </a:ext>
            </a:extLst>
          </p:cNvPr>
          <p:cNvSpPr/>
          <p:nvPr/>
        </p:nvSpPr>
        <p:spPr>
          <a:xfrm>
            <a:off x="0" y="-777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itle 1">
            <a:extLst>
              <a:ext uri="{FF2B5EF4-FFF2-40B4-BE49-F238E27FC236}">
                <a16:creationId xmlns:a16="http://schemas.microsoft.com/office/drawing/2014/main" id="{C0B88E4A-751F-FB75-BED6-F09D9D7F21CD}"/>
              </a:ext>
            </a:extLst>
          </p:cNvPr>
          <p:cNvSpPr>
            <a:spLocks noGrp="1"/>
          </p:cNvSpPr>
          <p:nvPr>
            <p:ph type="title"/>
          </p:nvPr>
        </p:nvSpPr>
        <p:spPr>
          <a:xfrm rot="16200000">
            <a:off x="-2911931" y="3052978"/>
            <a:ext cx="6802269" cy="752041"/>
          </a:xfrm>
        </p:spPr>
        <p:txBody>
          <a:bodyPr>
            <a:noAutofit/>
          </a:bodyPr>
          <a:lstStyle/>
          <a:p>
            <a:pPr algn="ctr">
              <a:lnSpc>
                <a:spcPct val="100000"/>
              </a:lnSpc>
              <a:spcBef>
                <a:spcPts val="600"/>
              </a:spcBef>
            </a:pPr>
            <a:r>
              <a:rPr lang="en-US" sz="3600" b="0" dirty="0">
                <a:solidFill>
                  <a:schemeClr val="bg1"/>
                </a:solidFill>
              </a:rPr>
              <a:t>FOUR-YEAR PROJECTIONS</a:t>
            </a:r>
          </a:p>
        </p:txBody>
      </p:sp>
      <p:graphicFrame>
        <p:nvGraphicFramePr>
          <p:cNvPr id="4" name="Table 3"/>
          <p:cNvGraphicFramePr>
            <a:graphicFrameLocks noGrp="1"/>
          </p:cNvGraphicFramePr>
          <p:nvPr/>
        </p:nvGraphicFramePr>
        <p:xfrm>
          <a:off x="6135624" y="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2,500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5,100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8,500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13,000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767.9K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1,566.4K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3,302.0K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5,652.6K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61.2K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102.0K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156.0K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467.9K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1,447.6K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3,224.0K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5,628.6K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5" name="Table 4"/>
          <p:cNvGraphicFramePr>
            <a:graphicFrameLocks noGrp="1"/>
          </p:cNvGraphicFramePr>
          <p:nvPr/>
        </p:nvGraphicFramePr>
        <p:xfrm>
          <a:off x="6135624" y="2286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3,500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7,000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11,700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17,900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1,075.0K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4,545.2K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7,783.2K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42.0K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84.0K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140.4K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214.8K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787.0K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2,054.0K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4,505.6K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7,818.0K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6" name="Table 5"/>
          <p:cNvGraphicFramePr>
            <a:graphicFrameLocks noGrp="1"/>
          </p:cNvGraphicFramePr>
          <p:nvPr/>
        </p:nvGraphicFramePr>
        <p:xfrm>
          <a:off x="6135624" y="4572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3,200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8,100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491.4K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982.9K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2,058.9K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3,522.0K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19.2K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38.4K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63.6K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97.2K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180.6K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841.3K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1,942.5K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3,439.2K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pic>
        <p:nvPicPr>
          <p:cNvPr id="7" name="Content Placeholder 6"/>
          <p:cNvPicPr>
            <a:picLocks noGrp="1"/>
          </p:cNvPicPr>
          <p:nvPr>
            <p:ph/>
          </p:nvPr>
        </p:nvPicPr>
        <p:blipFill>
          <a:blip r:embed="rId2" cstate="print"/>
          <a:stretch>
            <a:fillRect/>
          </a:stretch>
        </p:blipFill>
        <p:spPr>
          <a:xfrm>
            <a:off x="1179576" y="0"/>
            <a:ext cx="4572000" cy="6858000"/>
          </a:xfrm>
          <a:prstGeom prst="rect">
            <a:avLst/>
          </a:prstGeom>
        </p:spPr>
      </p:pic>
    </p:spTree>
    <p:extLst>
      <p:ext uri="{BB962C8B-B14F-4D97-AF65-F5344CB8AC3E}">
        <p14:creationId xmlns:p14="http://schemas.microsoft.com/office/powerpoint/2010/main" val="3157945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1118682" y="136525"/>
            <a:ext cx="10652404" cy="1091529"/>
          </a:xfrm>
        </p:spPr>
        <p:txBody>
          <a:bodyPr>
            <a:noAutofit/>
          </a:bodyPr>
          <a:lstStyle/>
          <a:p>
            <a:pPr>
              <a:lnSpc>
                <a:spcPct val="100000"/>
              </a:lnSpc>
              <a:spcBef>
                <a:spcPts val="1800"/>
              </a:spcBef>
              <a:spcAft>
                <a:spcPts val="600"/>
              </a:spcAft>
            </a:pPr>
            <a:r>
              <a:rPr lang="en-US" sz="2800" dirty="0">
                <a:solidFill>
                  <a:srgbClr val="000B2E"/>
                </a:solidFill>
                <a:latin typeface="Arial" panose="020B0604020202020204" pitchFamily="34" charset="0"/>
                <a:cs typeface="Arial" panose="020B0604020202020204" pitchFamily="34" charset="0"/>
              </a:rPr>
              <a:t>Direct-to-Employer Strategy:</a:t>
            </a:r>
            <a:br>
              <a:rPr lang="en-US" sz="4000" b="1" dirty="0">
                <a:solidFill>
                  <a:srgbClr val="000B2E"/>
                </a:solidFill>
                <a:latin typeface="Arial" panose="020B0604020202020204" pitchFamily="34" charset="0"/>
                <a:cs typeface="Arial" panose="020B0604020202020204" pitchFamily="34" charset="0"/>
              </a:rPr>
            </a:br>
            <a:r>
              <a:rPr lang="en-US" sz="4000" b="1" dirty="0">
                <a:solidFill>
                  <a:srgbClr val="000B2E"/>
                </a:solidFill>
                <a:latin typeface="Arial" panose="020B0604020202020204" pitchFamily="34" charset="0"/>
                <a:cs typeface="Arial" panose="020B0604020202020204" pitchFamily="34" charset="0"/>
              </a:rPr>
              <a:t>Only Available to </a:t>
            </a:r>
            <a:r>
              <a:rPr lang="en-US" sz="4000" b="1" i="1" dirty="0">
                <a:solidFill>
                  <a:srgbClr val="000B2E"/>
                </a:solidFill>
                <a:latin typeface="Arial" panose="020B0604020202020204" pitchFamily="34" charset="0"/>
                <a:cs typeface="Arial" panose="020B0604020202020204" pitchFamily="34" charset="0"/>
              </a:rPr>
              <a:t>Premier</a:t>
            </a:r>
            <a:r>
              <a:rPr lang="en-US" sz="4000" b="1" dirty="0">
                <a:solidFill>
                  <a:srgbClr val="000B2E"/>
                </a:solidFill>
                <a:latin typeface="Arial" panose="020B0604020202020204" pitchFamily="34" charset="0"/>
                <a:cs typeface="Arial" panose="020B0604020202020204" pitchFamily="34" charset="0"/>
              </a:rPr>
              <a:t> Health Systems</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5317243" y="1829480"/>
            <a:ext cx="5672318" cy="4660901"/>
          </a:xfrm>
        </p:spPr>
        <p:txBody>
          <a:bodyPr>
            <a:normAutofit/>
          </a:bodyPr>
          <a:lstStyle/>
          <a:p>
            <a:pPr marL="0" indent="0">
              <a:lnSpc>
                <a:spcPct val="150000"/>
              </a:lnSpc>
              <a:spcAft>
                <a:spcPts val="1200"/>
              </a:spcAft>
              <a:buNone/>
            </a:pPr>
            <a:r>
              <a:rPr lang="en-US" sz="3200" b="1" dirty="0">
                <a:solidFill>
                  <a:srgbClr val="59CAE8"/>
                </a:solidFill>
                <a:latin typeface="Arial Black" panose="020B0A04020102020204" pitchFamily="34" charset="0"/>
              </a:rPr>
              <a:t>STRONG</a:t>
            </a:r>
            <a:r>
              <a:rPr lang="en-US" sz="3200" dirty="0">
                <a:solidFill>
                  <a:srgbClr val="9900CC"/>
                </a:solidFill>
              </a:rPr>
              <a:t> </a:t>
            </a:r>
            <a:r>
              <a:rPr lang="en-US" sz="3200" dirty="0">
                <a:solidFill>
                  <a:schemeClr val="tx1">
                    <a:lumMod val="75000"/>
                    <a:lumOff val="25000"/>
                  </a:schemeClr>
                </a:solidFill>
              </a:rPr>
              <a:t>Brand Quality</a:t>
            </a:r>
          </a:p>
          <a:p>
            <a:pPr marL="0" indent="0">
              <a:lnSpc>
                <a:spcPct val="150000"/>
              </a:lnSpc>
              <a:spcAft>
                <a:spcPts val="1200"/>
              </a:spcAft>
              <a:buNone/>
            </a:pPr>
            <a:r>
              <a:rPr lang="en-US" sz="3200" b="1" dirty="0">
                <a:solidFill>
                  <a:srgbClr val="59CAE8"/>
                </a:solidFill>
                <a:latin typeface="Arial Black" panose="020B0A04020102020204" pitchFamily="34" charset="0"/>
              </a:rPr>
              <a:t>EXTENSIVE</a:t>
            </a:r>
            <a:r>
              <a:rPr lang="en-US" sz="3200" dirty="0"/>
              <a:t> </a:t>
            </a:r>
            <a:r>
              <a:rPr lang="en-US" sz="3200" dirty="0">
                <a:solidFill>
                  <a:schemeClr val="tx1">
                    <a:lumMod val="75000"/>
                    <a:lumOff val="25000"/>
                  </a:schemeClr>
                </a:solidFill>
              </a:rPr>
              <a:t>Patient Access</a:t>
            </a:r>
          </a:p>
          <a:p>
            <a:pPr marL="0" indent="0">
              <a:lnSpc>
                <a:spcPct val="150000"/>
              </a:lnSpc>
              <a:spcAft>
                <a:spcPts val="1200"/>
              </a:spcAft>
              <a:buNone/>
            </a:pPr>
            <a:r>
              <a:rPr lang="en-US" sz="3200" b="1" dirty="0">
                <a:solidFill>
                  <a:srgbClr val="59CAE8"/>
                </a:solidFill>
                <a:latin typeface="Arial Black" panose="020B0A04020102020204" pitchFamily="34" charset="0"/>
              </a:rPr>
              <a:t>AFFORDABLE</a:t>
            </a:r>
            <a:r>
              <a:rPr lang="en-US" sz="3200" dirty="0"/>
              <a:t> </a:t>
            </a:r>
            <a:r>
              <a:rPr lang="en-US" sz="3200" dirty="0">
                <a:solidFill>
                  <a:schemeClr val="tx1">
                    <a:lumMod val="75000"/>
                    <a:lumOff val="25000"/>
                  </a:schemeClr>
                </a:solidFill>
              </a:rPr>
              <a:t>Value Pricing</a:t>
            </a:r>
          </a:p>
          <a:p>
            <a:pPr marL="0" indent="0">
              <a:lnSpc>
                <a:spcPct val="150000"/>
              </a:lnSpc>
              <a:spcAft>
                <a:spcPts val="1200"/>
              </a:spcAft>
              <a:buNone/>
            </a:pPr>
            <a:r>
              <a:rPr lang="en-US" sz="3200" b="1" dirty="0">
                <a:solidFill>
                  <a:srgbClr val="59CAE8"/>
                </a:solidFill>
                <a:latin typeface="Arial Black" panose="020B0A04020102020204" pitchFamily="34" charset="0"/>
              </a:rPr>
              <a:t>EXCELLENT</a:t>
            </a:r>
            <a:r>
              <a:rPr lang="en-US" sz="3200" dirty="0">
                <a:solidFill>
                  <a:srgbClr val="9900CC"/>
                </a:solidFill>
              </a:rPr>
              <a:t> </a:t>
            </a:r>
            <a:r>
              <a:rPr lang="en-US" sz="3200" dirty="0">
                <a:solidFill>
                  <a:schemeClr val="tx1">
                    <a:lumMod val="75000"/>
                    <a:lumOff val="25000"/>
                  </a:schemeClr>
                </a:solidFill>
              </a:rPr>
              <a:t>Care Quality  </a:t>
            </a:r>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13</a:t>
            </a:fld>
            <a:endParaRPr lang="en-US" dirty="0"/>
          </a:p>
        </p:txBody>
      </p:sp>
      <p:sp>
        <p:nvSpPr>
          <p:cNvPr id="6"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Content Placeholder 6"/>
          <p:cNvPicPr>
            <a:picLocks noGrp="1"/>
          </p:cNvPicPr>
          <p:nvPr>
            <p:ph/>
          </p:nvPr>
        </p:nvPicPr>
        <p:blipFill>
          <a:blip r:embed="rId2" cstate="print"/>
          <a:stretch>
            <a:fillRect/>
          </a:stretch>
        </p:blipFill>
        <p:spPr>
          <a:xfrm>
            <a:off x="1508760" y="2834640"/>
            <a:ext cx="3154680" cy="502777"/>
          </a:xfrm>
          <a:prstGeom prst="rect">
            <a:avLst/>
          </a:prstGeom>
        </p:spPr>
      </p:pic>
    </p:spTree>
    <p:extLst>
      <p:ext uri="{BB962C8B-B14F-4D97-AF65-F5344CB8AC3E}">
        <p14:creationId xmlns:p14="http://schemas.microsoft.com/office/powerpoint/2010/main" val="5004615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9">
            <a:extLst>
              <a:ext uri="{FF2B5EF4-FFF2-40B4-BE49-F238E27FC236}">
                <a16:creationId xmlns:a16="http://schemas.microsoft.com/office/drawing/2014/main" id="{C179CC05-C580-445B-A6CE-880F87F13ADE}"/>
              </a:ext>
            </a:extLst>
          </p:cNvPr>
          <p:cNvSpPr/>
          <p:nvPr/>
        </p:nvSpPr>
        <p:spPr>
          <a:xfrm>
            <a:off x="1" y="-18338"/>
            <a:ext cx="1333500" cy="6888683"/>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18">
            <a:extLst>
              <a:ext uri="{FF2B5EF4-FFF2-40B4-BE49-F238E27FC236}">
                <a16:creationId xmlns:a16="http://schemas.microsoft.com/office/drawing/2014/main" id="{5D0A2589-D5AE-4FA5-AFEE-380FBDE57678}"/>
              </a:ext>
            </a:extLst>
          </p:cNvPr>
          <p:cNvSpPr/>
          <p:nvPr/>
        </p:nvSpPr>
        <p:spPr>
          <a:xfrm>
            <a:off x="8305799" y="0"/>
            <a:ext cx="3886201" cy="687034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Footer Placeholder 2">
            <a:extLst>
              <a:ext uri="{FF2B5EF4-FFF2-40B4-BE49-F238E27FC236}">
                <a16:creationId xmlns:a16="http://schemas.microsoft.com/office/drawing/2014/main" id="{3B8F1952-97F2-4B3F-B2E1-5810787BF1F5}"/>
              </a:ext>
            </a:extLst>
          </p:cNvPr>
          <p:cNvSpPr>
            <a:spLocks noGrp="1"/>
          </p:cNvSpPr>
          <p:nvPr>
            <p:ph type="ftr" sz="quarter" idx="11"/>
          </p:nvPr>
        </p:nvSpPr>
        <p:spPr/>
        <p:txBody>
          <a:bodyPr/>
          <a:lstStyle/>
          <a:p>
            <a:r>
              <a:rPr lang="en-US" dirty="0"/>
              <a:t>Key Benefit Administrators</a:t>
            </a:r>
          </a:p>
        </p:txBody>
      </p:sp>
      <p:sp>
        <p:nvSpPr>
          <p:cNvPr id="5" name="Slide Number Placeholder 3">
            <a:extLst>
              <a:ext uri="{FF2B5EF4-FFF2-40B4-BE49-F238E27FC236}">
                <a16:creationId xmlns:a16="http://schemas.microsoft.com/office/drawing/2014/main" id="{BE944F38-D276-436B-8BA7-1690795B2612}"/>
              </a:ext>
            </a:extLst>
          </p:cNvPr>
          <p:cNvSpPr>
            <a:spLocks noGrp="1"/>
          </p:cNvSpPr>
          <p:nvPr>
            <p:ph type="sldNum" sz="quarter" idx="12"/>
          </p:nvPr>
        </p:nvSpPr>
        <p:spPr/>
        <p:txBody>
          <a:bodyPr/>
          <a:lstStyle/>
          <a:p>
            <a:fld id="{3AFC719D-C4A7-4544-876E-D411D11AF6C9}" type="slidenum">
              <a:rPr lang="en-US" smtClean="0"/>
              <a:t>14</a:t>
            </a:fld>
            <a:endParaRPr lang="en-US" dirty="0"/>
          </a:p>
        </p:txBody>
      </p:sp>
      <p:sp>
        <p:nvSpPr>
          <p:cNvPr id="6" name="Rectangle 4">
            <a:extLst>
              <a:ext uri="{FF2B5EF4-FFF2-40B4-BE49-F238E27FC236}">
                <a16:creationId xmlns:a16="http://schemas.microsoft.com/office/drawing/2014/main" id="{3E6586F0-A9B4-4F4A-B94E-351404883741}"/>
              </a:ext>
            </a:extLst>
          </p:cNvPr>
          <p:cNvSpPr/>
          <p:nvPr/>
        </p:nvSpPr>
        <p:spPr>
          <a:xfrm>
            <a:off x="1981201" y="548292"/>
            <a:ext cx="5686424" cy="5478423"/>
          </a:xfrm>
          <a:prstGeom prst="rect">
            <a:avLst/>
          </a:prstGeom>
        </p:spPr>
        <p:txBody>
          <a:bodyPr wrap="square">
            <a:spAutoFit/>
          </a:bodyPr>
          <a:lstStyle/>
          <a:p>
            <a:pPr>
              <a:spcAft>
                <a:spcPts val="1200"/>
              </a:spcAft>
            </a:pPr>
            <a:r>
              <a:rPr lang="en-US" b="1" cap="all" dirty="0">
                <a:solidFill>
                  <a:srgbClr val="000B2E"/>
                </a:solidFill>
              </a:rPr>
              <a:t>Cleveland Clinic’s Network</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The medical providers in your direct control or part of Cleveland Clinic Health System’s integrated delivery system </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Potential risk sharing arrangements (e.g. employer stop-loss participation)</a:t>
            </a:r>
          </a:p>
          <a:p>
            <a:pPr>
              <a:spcAft>
                <a:spcPts val="1200"/>
              </a:spcAft>
            </a:pPr>
            <a:r>
              <a:rPr lang="en-US" b="1" cap="all" dirty="0">
                <a:solidFill>
                  <a:srgbClr val="000B2E"/>
                </a:solidFill>
              </a:rPr>
              <a:t>Friends &amp; Family Providers – TIER 1</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Access through direct contracts at the discretion of Cleveland Clinic Health System</a:t>
            </a:r>
          </a:p>
          <a:p>
            <a:pPr>
              <a:spcAft>
                <a:spcPts val="1200"/>
              </a:spcAft>
            </a:pPr>
            <a:r>
              <a:rPr lang="en-US" b="1" dirty="0">
                <a:solidFill>
                  <a:srgbClr val="000B2E"/>
                </a:solidFill>
              </a:rPr>
              <a:t>WRAP NETWORK </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Medical services from national PPO networks for members that travel, tertiary and specialty services you do not provide, and employees residing outside your direct catchment area </a:t>
            </a:r>
          </a:p>
          <a:p>
            <a:pPr marL="0" lvl="1">
              <a:spcAft>
                <a:spcPts val="1200"/>
              </a:spcAft>
            </a:pPr>
            <a:r>
              <a:rPr lang="en-US" b="1" dirty="0">
                <a:solidFill>
                  <a:srgbClr val="000B2E"/>
                </a:solidFill>
              </a:rPr>
              <a:t>OUT-OF-NETWORK</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Non-contracted medical providers</a:t>
            </a:r>
          </a:p>
        </p:txBody>
      </p:sp>
      <p:sp>
        <p:nvSpPr>
          <p:cNvPr id="7" name="Title 1">
            <a:extLst>
              <a:ext uri="{FF2B5EF4-FFF2-40B4-BE49-F238E27FC236}">
                <a16:creationId xmlns:a16="http://schemas.microsoft.com/office/drawing/2014/main" id="{A044C7C1-57D3-4F0B-A71A-0CA303FF3DB8}"/>
              </a:ext>
            </a:extLst>
          </p:cNvPr>
          <p:cNvSpPr>
            <a:spLocks noGrp="1"/>
          </p:cNvSpPr>
          <p:nvPr>
            <p:ph type="title"/>
          </p:nvPr>
        </p:nvSpPr>
        <p:spPr>
          <a:xfrm>
            <a:off x="347449" y="156755"/>
            <a:ext cx="638604" cy="6701246"/>
          </a:xfrm>
          <a:noFill/>
        </p:spPr>
        <p:txBody>
          <a:bodyPr vert="wordArtVert">
            <a:noAutofit/>
          </a:bodyPr>
          <a:lstStyle/>
          <a:p>
            <a:r>
              <a:rPr lang="en-US" sz="2400" cap="all" spc="-150" dirty="0">
                <a:solidFill>
                  <a:schemeClr val="bg1"/>
                </a:solidFill>
              </a:rPr>
              <a:t>Cleveland Clinic N</a:t>
            </a:r>
            <a:r>
              <a:rPr lang="en-US" sz="2400" spc="-150" dirty="0">
                <a:solidFill>
                  <a:schemeClr val="bg1"/>
                </a:solidFill>
              </a:rPr>
              <a:t>ETWORK</a:t>
            </a:r>
            <a:r>
              <a:rPr lang="en-US" sz="2400" cap="all" spc="-150" dirty="0">
                <a:solidFill>
                  <a:schemeClr val="bg1"/>
                </a:solidFill>
              </a:rPr>
              <a:t> </a:t>
            </a:r>
          </a:p>
        </p:txBody>
      </p:sp>
      <p:graphicFrame>
        <p:nvGraphicFramePr>
          <p:cNvPr id="8" name="Diagram 8">
            <a:extLst>
              <a:ext uri="{FF2B5EF4-FFF2-40B4-BE49-F238E27FC236}">
                <a16:creationId xmlns:a16="http://schemas.microsoft.com/office/drawing/2014/main" id="{FAD0E162-C21A-49A7-B8F7-5357E17BEF5D}"/>
              </a:ext>
            </a:extLst>
          </p:cNvPr>
          <p:cNvGraphicFramePr/>
          <p:nvPr>
            <p:extLst>
              <p:ext uri="{D42A27DB-BD31-4B8C-83A1-F6EECF244321}">
                <p14:modId xmlns:p14="http://schemas.microsoft.com/office/powerpoint/2010/main" val="3661889314"/>
              </p:ext>
            </p:extLst>
          </p:nvPr>
        </p:nvGraphicFramePr>
        <p:xfrm>
          <a:off x="8377646" y="330927"/>
          <a:ext cx="3718560" cy="58521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9" name="Content Placeholder 8"/>
          <p:cNvPicPr>
            <a:picLocks noGrp="1"/>
          </p:cNvPicPr>
          <p:nvPr>
            <p:ph/>
          </p:nvPr>
        </p:nvPicPr>
        <p:blipFill>
          <a:blip r:embed="rId7" cstate="print"/>
          <a:stretch>
            <a:fillRect/>
          </a:stretch>
        </p:blipFill>
        <p:spPr>
          <a:xfrm>
            <a:off x="9738360" y="4311144"/>
            <a:ext cx="1042416" cy="166135"/>
          </a:xfrm>
          <a:prstGeom prst="rect">
            <a:avLst/>
          </a:prstGeom>
        </p:spPr>
      </p:pic>
    </p:spTree>
    <p:extLst>
      <p:ext uri="{BB962C8B-B14F-4D97-AF65-F5344CB8AC3E}">
        <p14:creationId xmlns:p14="http://schemas.microsoft.com/office/powerpoint/2010/main" val="17006213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F664F8C9-9C7F-4948-A85D-2E89D3FE40B6}"/>
              </a:ext>
            </a:extLst>
          </p:cNvPr>
          <p:cNvSpPr>
            <a:spLocks noGrp="1"/>
          </p:cNvSpPr>
          <p:nvPr>
            <p:ph type="ftr" sz="quarter" idx="11"/>
          </p:nvPr>
        </p:nvSpPr>
        <p:spPr/>
        <p:txBody>
          <a:bodyPr/>
          <a:lstStyle/>
          <a:p>
            <a:r>
              <a:rPr lang="en-US" dirty="0"/>
              <a:t>Key Benefit Administrators</a:t>
            </a:r>
          </a:p>
        </p:txBody>
      </p:sp>
      <p:sp>
        <p:nvSpPr>
          <p:cNvPr id="3" name="Slide Number Placeholder 3">
            <a:extLst>
              <a:ext uri="{FF2B5EF4-FFF2-40B4-BE49-F238E27FC236}">
                <a16:creationId xmlns:a16="http://schemas.microsoft.com/office/drawing/2014/main" id="{29335D2A-704B-40DA-B40A-6813A0904A8C}"/>
              </a:ext>
            </a:extLst>
          </p:cNvPr>
          <p:cNvSpPr>
            <a:spLocks noGrp="1"/>
          </p:cNvSpPr>
          <p:nvPr>
            <p:ph type="sldNum" sz="quarter" idx="12"/>
          </p:nvPr>
        </p:nvSpPr>
        <p:spPr/>
        <p:txBody>
          <a:bodyPr/>
          <a:lstStyle/>
          <a:p>
            <a:fld id="{3AFC719D-C4A7-4544-876E-D411D11AF6C9}" type="slidenum">
              <a:rPr lang="en-US" smtClean="0"/>
              <a:t>15</a:t>
            </a:fld>
            <a:endParaRPr lang="en-US" dirty="0"/>
          </a:p>
        </p:txBody>
      </p:sp>
      <p:pic>
        <p:nvPicPr>
          <p:cNvPr id="4" name="Picture 5">
            <a:extLst>
              <a:ext uri="{FF2B5EF4-FFF2-40B4-BE49-F238E27FC236}">
                <a16:creationId xmlns:a16="http://schemas.microsoft.com/office/drawing/2014/main" id="{10F9F71E-E6B1-42DA-8A5C-BA766FB41692}"/>
              </a:ext>
            </a:extLst>
          </p:cNvPr>
          <p:cNvPicPr/>
          <p:nvPr/>
        </p:nvPicPr>
        <p:blipFill>
          <a:blip r:embed="rId2"/>
          <a:stretch>
            <a:fillRect/>
          </a:stretch>
        </p:blipFill>
        <p:spPr>
          <a:xfrm>
            <a:off x="944808" y="1094934"/>
            <a:ext cx="10828091" cy="3515166"/>
          </a:xfrm>
          <a:prstGeom prst="rect">
            <a:avLst/>
          </a:prstGeom>
        </p:spPr>
      </p:pic>
      <p:sp>
        <p:nvSpPr>
          <p:cNvPr id="5" name="Right Brace 6">
            <a:extLst>
              <a:ext uri="{FF2B5EF4-FFF2-40B4-BE49-F238E27FC236}">
                <a16:creationId xmlns:a16="http://schemas.microsoft.com/office/drawing/2014/main" id="{3FB139EF-7F84-45B5-97A9-2678E891CE13}"/>
              </a:ext>
            </a:extLst>
          </p:cNvPr>
          <p:cNvSpPr/>
          <p:nvPr/>
        </p:nvSpPr>
        <p:spPr>
          <a:xfrm rot="5400000">
            <a:off x="3193839" y="2494417"/>
            <a:ext cx="555585" cy="4924885"/>
          </a:xfrm>
          <a:prstGeom prst="rightBrace">
            <a:avLst/>
          </a:prstGeom>
          <a:ln>
            <a:solidFill>
              <a:srgbClr val="254F96"/>
            </a:solidFill>
          </a:ln>
        </p:spPr>
        <p:style>
          <a:lnRef idx="3">
            <a:schemeClr val="accent1"/>
          </a:lnRef>
          <a:fillRef idx="0">
            <a:schemeClr val="accent1"/>
          </a:fillRef>
          <a:effectRef idx="2">
            <a:schemeClr val="accent1"/>
          </a:effectRef>
          <a:fontRef idx="minor">
            <a:schemeClr val="tx1"/>
          </a:fontRef>
        </p:style>
        <p:txBody>
          <a:bodyPr rtlCol="0" anchor="ctr"/>
          <a:lstStyle/>
          <a:p>
            <a:pPr algn="ctr"/>
            <a:endParaRPr lang="en-US" dirty="0"/>
          </a:p>
        </p:txBody>
      </p:sp>
      <p:sp>
        <p:nvSpPr>
          <p:cNvPr id="6" name="TextBox 8">
            <a:extLst>
              <a:ext uri="{FF2B5EF4-FFF2-40B4-BE49-F238E27FC236}">
                <a16:creationId xmlns:a16="http://schemas.microsoft.com/office/drawing/2014/main" id="{11F3B9D2-B381-4EA2-993A-13B4DAC230E5}"/>
              </a:ext>
            </a:extLst>
          </p:cNvPr>
          <p:cNvSpPr txBox="1"/>
          <p:nvPr/>
        </p:nvSpPr>
        <p:spPr>
          <a:xfrm>
            <a:off x="2036719" y="5303619"/>
            <a:ext cx="3019883" cy="923330"/>
          </a:xfrm>
          <a:prstGeom prst="rect">
            <a:avLst/>
          </a:prstGeom>
          <a:noFill/>
        </p:spPr>
        <p:txBody>
          <a:bodyPr wrap="square" rtlCol="0">
            <a:spAutoFit/>
          </a:bodyPr>
          <a:lstStyle/>
          <a:p>
            <a:pPr algn="ctr"/>
            <a:r>
              <a:rPr lang="en-US" b="1" dirty="0"/>
              <a:t>Exclusive Provider Organization (EPO) Plan Design Structure</a:t>
            </a:r>
          </a:p>
        </p:txBody>
      </p:sp>
      <p:sp>
        <p:nvSpPr>
          <p:cNvPr id="7" name="Rectangle 16">
            <a:extLst>
              <a:ext uri="{FF2B5EF4-FFF2-40B4-BE49-F238E27FC236}">
                <a16:creationId xmlns:a16="http://schemas.microsoft.com/office/drawing/2014/main" id="{F2E566E5-041D-4247-A79E-A185C1420D0E}"/>
              </a:ext>
            </a:extLst>
          </p:cNvPr>
          <p:cNvSpPr/>
          <p:nvPr/>
        </p:nvSpPr>
        <p:spPr>
          <a:xfrm>
            <a:off x="0" y="12345"/>
            <a:ext cx="12192000" cy="1013622"/>
          </a:xfrm>
          <a:prstGeom prst="rect">
            <a:avLst/>
          </a:prstGeom>
          <a:solidFill>
            <a:srgbClr val="244F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b="1" dirty="0"/>
          </a:p>
        </p:txBody>
      </p:sp>
      <p:sp>
        <p:nvSpPr>
          <p:cNvPr id="8" name="TextBox 7">
            <a:extLst>
              <a:ext uri="{FF2B5EF4-FFF2-40B4-BE49-F238E27FC236}">
                <a16:creationId xmlns:a16="http://schemas.microsoft.com/office/drawing/2014/main" id="{FF7C74A4-33A6-F02F-D22F-33835E639085}"/>
              </a:ext>
            </a:extLst>
          </p:cNvPr>
          <p:cNvSpPr txBox="1"/>
          <p:nvPr/>
        </p:nvSpPr>
        <p:spPr>
          <a:xfrm>
            <a:off x="157424" y="257546"/>
            <a:ext cx="11877152" cy="523220"/>
          </a:xfrm>
          <a:prstGeom prst="rect">
            <a:avLst/>
          </a:prstGeom>
          <a:noFill/>
        </p:spPr>
        <p:txBody>
          <a:bodyPr wrap="square">
            <a:spAutoFit/>
          </a:bodyPr>
          <a:lstStyle/>
          <a:p>
            <a:pPr algn="ctr"/>
            <a:r>
              <a:rPr lang="en-US" sz="2800" b="1" dirty="0">
                <a:solidFill>
                  <a:schemeClr val="bg1"/>
                </a:solidFill>
              </a:rPr>
              <a:t>BENEFIT PLAN DESIGNS THAT OPTIMIZE STEERAGE TO CLEVELAND CLINIC</a:t>
            </a:r>
          </a:p>
        </p:txBody>
      </p:sp>
      <p:sp>
        <p:nvSpPr>
          <p:cNvPr id="11" name="Title 10">
            <a:extLst>
              <a:ext uri="{FF2B5EF4-FFF2-40B4-BE49-F238E27FC236}">
                <a16:creationId xmlns:a16="http://schemas.microsoft.com/office/drawing/2014/main" id="{0AF27A57-B768-A371-FCED-8810CAEBC992}"/>
              </a:ext>
            </a:extLst>
          </p:cNvPr>
          <p:cNvSpPr>
            <a:spLocks noGrp="1"/>
          </p:cNvSpPr>
          <p:nvPr>
            <p:ph type="title"/>
          </p:nvPr>
        </p:nvSpPr>
        <p:spPr/>
        <p:txBody>
          <a:bodyPr/>
          <a:lstStyle/>
          <a:p>
            <a:endParaRPr lang="en-US"/>
          </a:p>
        </p:txBody>
      </p:sp>
      <p:pic>
        <p:nvPicPr>
          <p:cNvPr id="12" name="Content Placeholder 7">
            <a:extLst>
              <a:ext uri="{FF2B5EF4-FFF2-40B4-BE49-F238E27FC236}">
                <a16:creationId xmlns:a16="http://schemas.microsoft.com/office/drawing/2014/main" id="{D79AB4D5-0B0F-EFA6-7472-FCE67B868FD3}"/>
              </a:ext>
            </a:extLst>
          </p:cNvPr>
          <p:cNvPicPr>
            <a:picLocks noChangeAspect="1"/>
          </p:cNvPicPr>
          <p:nvPr/>
        </p:nvPicPr>
        <p:blipFill>
          <a:blip r:embed="rId3" cstate="print"/>
          <a:stretch>
            <a:fillRect/>
          </a:stretch>
        </p:blipFill>
        <p:spPr>
          <a:xfrm>
            <a:off x="8686824" y="5424218"/>
            <a:ext cx="2936914" cy="468071"/>
          </a:xfrm>
          <a:prstGeom prst="rect">
            <a:avLst/>
          </a:prstGeom>
        </p:spPr>
      </p:pic>
    </p:spTree>
    <p:extLst>
      <p:ext uri="{BB962C8B-B14F-4D97-AF65-F5344CB8AC3E}">
        <p14:creationId xmlns:p14="http://schemas.microsoft.com/office/powerpoint/2010/main" val="3325436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alpha val="95000"/>
          </a:schemeClr>
        </a:solidFill>
        <a:effectLst/>
      </p:bgPr>
    </p:bg>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B1584104-3166-4FA8-92FB-C6ABEB17DCED}"/>
              </a:ext>
            </a:extLst>
          </p:cNvPr>
          <p:cNvSpPr/>
          <p:nvPr/>
        </p:nvSpPr>
        <p:spPr>
          <a:xfrm>
            <a:off x="0" y="0"/>
            <a:ext cx="978408"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Footer Placeholder 2">
            <a:extLst>
              <a:ext uri="{FF2B5EF4-FFF2-40B4-BE49-F238E27FC236}">
                <a16:creationId xmlns:a16="http://schemas.microsoft.com/office/drawing/2014/main" id="{7BDF93BA-77DA-4714-87BA-6C1545215CCF}"/>
              </a:ext>
            </a:extLst>
          </p:cNvPr>
          <p:cNvSpPr>
            <a:spLocks noGrp="1"/>
          </p:cNvSpPr>
          <p:nvPr>
            <p:ph type="ftr" sz="quarter" idx="11"/>
          </p:nvPr>
        </p:nvSpPr>
        <p:spPr>
          <a:xfrm>
            <a:off x="5902199" y="6465009"/>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E912CE32-70CB-45CC-841F-9F408BFEE51E}"/>
              </a:ext>
            </a:extLst>
          </p:cNvPr>
          <p:cNvSpPr>
            <a:spLocks noGrp="1"/>
          </p:cNvSpPr>
          <p:nvPr>
            <p:ph type="sldNum" sz="quarter" idx="12"/>
          </p:nvPr>
        </p:nvSpPr>
        <p:spPr/>
        <p:txBody>
          <a:bodyPr/>
          <a:lstStyle/>
          <a:p>
            <a:fld id="{3AFC719D-C4A7-4544-876E-D411D11AF6C9}" type="slidenum">
              <a:rPr lang="en-US" smtClean="0"/>
              <a:t>16</a:t>
            </a:fld>
            <a:endParaRPr lang="en-US" dirty="0"/>
          </a:p>
        </p:txBody>
      </p:sp>
      <p:sp>
        <p:nvSpPr>
          <p:cNvPr id="5" name="Rectangle 6">
            <a:extLst>
              <a:ext uri="{FF2B5EF4-FFF2-40B4-BE49-F238E27FC236}">
                <a16:creationId xmlns:a16="http://schemas.microsoft.com/office/drawing/2014/main" id="{16B699B2-0ED4-420C-8D6A-E40BF532CD0F}"/>
              </a:ext>
            </a:extLst>
          </p:cNvPr>
          <p:cNvSpPr/>
          <p:nvPr/>
        </p:nvSpPr>
        <p:spPr>
          <a:xfrm>
            <a:off x="0" y="-27866"/>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a:extLst>
              <a:ext uri="{FF2B5EF4-FFF2-40B4-BE49-F238E27FC236}">
                <a16:creationId xmlns:a16="http://schemas.microsoft.com/office/drawing/2014/main" id="{11A9C655-FF92-49E3-BB7D-E5BBC008C671}"/>
              </a:ext>
            </a:extLst>
          </p:cNvPr>
          <p:cNvSpPr>
            <a:spLocks noGrp="1"/>
          </p:cNvSpPr>
          <p:nvPr>
            <p:ph type="title"/>
          </p:nvPr>
        </p:nvSpPr>
        <p:spPr>
          <a:xfrm rot="16200000">
            <a:off x="-2583404" y="3031902"/>
            <a:ext cx="6145216" cy="752041"/>
          </a:xfrm>
        </p:spPr>
        <p:txBody>
          <a:bodyPr>
            <a:noAutofit/>
          </a:bodyPr>
          <a:lstStyle/>
          <a:p>
            <a:pPr>
              <a:lnSpc>
                <a:spcPct val="100000"/>
              </a:lnSpc>
              <a:spcBef>
                <a:spcPts val="600"/>
              </a:spcBef>
            </a:pPr>
            <a:r>
              <a:rPr lang="en-US" sz="3600" b="0" dirty="0">
                <a:solidFill>
                  <a:schemeClr val="bg1"/>
                </a:solidFill>
              </a:rPr>
              <a:t>SINGLE YEAR SUMMARY</a:t>
            </a:r>
          </a:p>
        </p:txBody>
      </p:sp>
      <p:sp>
        <p:nvSpPr>
          <p:cNvPr id="7" name="TextBox 8">
            <a:extLst>
              <a:ext uri="{FF2B5EF4-FFF2-40B4-BE49-F238E27FC236}">
                <a16:creationId xmlns:a16="http://schemas.microsoft.com/office/drawing/2014/main" id="{AB8821D0-DEDE-002D-E87D-13E033D5D75F}"/>
              </a:ext>
            </a:extLst>
          </p:cNvPr>
          <p:cNvSpPr txBox="1"/>
          <p:nvPr/>
        </p:nvSpPr>
        <p:spPr>
          <a:xfrm>
            <a:off x="1091591" y="5433068"/>
            <a:ext cx="10881335" cy="830997"/>
          </a:xfrm>
          <a:prstGeom prst="rect">
            <a:avLst/>
          </a:prstGeom>
          <a:noFill/>
        </p:spPr>
        <p:txBody>
          <a:bodyPr wrap="square" rtlCol="0">
            <a:spAutoFit/>
          </a:bodyPr>
          <a:lstStyle/>
          <a:p>
            <a:pPr marL="285750" indent="-285750">
              <a:buFont typeface="Arial" panose="020B0604020202020204" pitchFamily="34" charset="0"/>
              <a:buChar char="•"/>
            </a:pPr>
            <a:r>
              <a:rPr lang="en-US" sz="1600" dirty="0">
                <a:solidFill/>
              </a:rPr>
              <a:t>NOTE:  Please see detailed financial analysis and assumptions used starting on page 23.  </a:t>
            </a:r>
          </a:p>
          <a:p>
            <a:pPr marL="285750" indent="-285750">
              <a:buFont typeface="Arial" panose="020B0604020202020204" pitchFamily="34" charset="0"/>
              <a:buChar char="•"/>
            </a:pPr>
            <a:r>
              <a:rPr lang="en-US" sz="1600" dirty="0">
                <a:solidFill/>
              </a:rPr>
              <a:t>Financial projections do not include 340B contribution margin, which could represent $136 PMPM by optimizing 340B through Rx plan design, Cleveland Clinic’s approved site(s) with network integration, and development of Cleveland Clinic’s proprietary PBM program.</a:t>
            </a:r>
            <a:r>
              <a:rPr lang="en-US" sz="1600" dirty="0">
                <a:highlight>
                  <a:srgbClr val="FFFF00"/>
                </a:highlight>
              </a:rPr>
              <a:t>   </a:t>
            </a:r>
          </a:p>
        </p:txBody>
      </p:sp>
      <p:graphicFrame>
        <p:nvGraphicFramePr>
          <p:cNvPr id="8" name="Table 7"/>
          <p:cNvGraphicFramePr>
            <a:graphicFrameLocks noGrp="1"/>
          </p:cNvGraphicFramePr>
          <p:nvPr/>
        </p:nvGraphicFramePr>
        <p:xfrm>
          <a:off x="2176272" y="704088"/>
          <a:ext cx="9052560" cy="4358640"/>
        </p:xfrm>
        <a:graphic>
          <a:graphicData uri="http://schemas.openxmlformats.org/drawingml/2006/table">
            <a:tbl>
              <a:tblPr/>
              <a:tblGrid>
                <a:gridCol w="13716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gridCol w="1097280">
                  <a:extLst>
                    <a:ext uri="{9D8B030D-6E8A-4147-A177-3AD203B41FA5}">
                      <a16:colId xmlns:a16="http://schemas.microsoft.com/office/drawing/2014/main" val="20006"/>
                    </a:ext>
                  </a:extLst>
                </a:gridCol>
                <a:gridCol w="1097280">
                  <a:extLst>
                    <a:ext uri="{9D8B030D-6E8A-4147-A177-3AD203B41FA5}">
                      <a16:colId xmlns:a16="http://schemas.microsoft.com/office/drawing/2014/main" val="20007"/>
                    </a:ext>
                  </a:extLst>
                </a:gridCol>
              </a:tblGrid>
              <a:tr h="0">
                <a:tc gridSpan="8">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0"/>
                  </a:ext>
                </a:extLst>
              </a:tr>
              <a:tr h="0">
                <a:tc gridSpan="8">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Assuming 20%+ Within-Plan Steerage and a Commercial Margin of 13.6%.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Assuming 20%+ Within-Plan Steerage and a Commercial Margin of 13.6%.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Assuming 20%+ Within-Plan Steerage and a Commercial Margin of 13.6%.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Assuming 20%+ Within-Plan Steerage and a Commercial Margin of 13.6%.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Assuming 20%+ Within-Plan Steerage and a Commercial Margin of 13.6%.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Assuming 20%+ Within-Plan Steerage and a Commercial Margin of 13.6%.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Assuming 20%+ Within-Plan Steerage and a Commercial Margin of 13.6%.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Assuming 20%+ Within-Plan Steerage and a Commercial Margin of 13.6%.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1"/>
                  </a:ext>
                </a:extLst>
              </a:tr>
              <a:tr h="0">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Members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Pre-DTE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Pre-DTE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Incr.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Incr.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Net Margin Less DTE Fees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333K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45K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658K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325K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89K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44K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-285K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3"/>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$ 1,664K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226K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3,288K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$ 1,624K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447K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221K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-103K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4"/>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$ 3,328K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453K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6,577K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$ 3,249K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894K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442K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124K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5"/>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$ 8,319K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$1,131K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$ 16,441K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$ 8,122K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$ 2,236K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$1,105K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805K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6"/>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$33,277K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$4,526K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$ 65,765K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$32,489K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$ 8,944K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$4,418K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$4,208K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7"/>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$66,553K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$9,051K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$131,531K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$64,977K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$17,888K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$8,837K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$8,747K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2035409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7">
            <a:extLst>
              <a:ext uri="{FF2B5EF4-FFF2-40B4-BE49-F238E27FC236}">
                <a16:creationId xmlns:a16="http://schemas.microsoft.com/office/drawing/2014/main" id="{4BDBD4FD-FFB4-4EDA-B509-71118D163D8A}"/>
              </a:ext>
            </a:extLst>
          </p:cNvPr>
          <p:cNvSpPr/>
          <p:nvPr/>
        </p:nvSpPr>
        <p:spPr>
          <a:xfrm>
            <a:off x="-1" y="-3877"/>
            <a:ext cx="12191999" cy="5021418"/>
          </a:xfrm>
          <a:prstGeom prst="rect">
            <a:avLst/>
          </a:prstGeom>
          <a:solidFill>
            <a:srgbClr val="244F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3" name="Footer Placeholder 2">
            <a:extLst>
              <a:ext uri="{FF2B5EF4-FFF2-40B4-BE49-F238E27FC236}">
                <a16:creationId xmlns:a16="http://schemas.microsoft.com/office/drawing/2014/main" id="{B320BED0-748B-492F-A227-2FDEC8B681F8}"/>
              </a:ext>
            </a:extLst>
          </p:cNvPr>
          <p:cNvSpPr>
            <a:spLocks noGrp="1"/>
          </p:cNvSpPr>
          <p:nvPr>
            <p:ph type="ftr" sz="quarter" idx="11"/>
          </p:nvPr>
        </p:nvSpPr>
        <p:spPr>
          <a:xfrm>
            <a:off x="4038599" y="6395154"/>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3EB79CFB-A771-4B11-8488-3E54ACE4F41F}"/>
              </a:ext>
            </a:extLst>
          </p:cNvPr>
          <p:cNvSpPr>
            <a:spLocks noGrp="1"/>
          </p:cNvSpPr>
          <p:nvPr>
            <p:ph type="sldNum" sz="quarter" idx="12"/>
          </p:nvPr>
        </p:nvSpPr>
        <p:spPr>
          <a:xfrm>
            <a:off x="8836377" y="6389509"/>
            <a:ext cx="2743200" cy="365125"/>
          </a:xfrm>
        </p:spPr>
        <p:txBody>
          <a:bodyPr/>
          <a:lstStyle/>
          <a:p>
            <a:fld id="{3AFC719D-C4A7-4544-876E-D411D11AF6C9}" type="slidenum">
              <a:rPr lang="en-US" smtClean="0"/>
              <a:t>17</a:t>
            </a:fld>
            <a:endParaRPr lang="en-US" dirty="0"/>
          </a:p>
        </p:txBody>
      </p:sp>
      <p:sp>
        <p:nvSpPr>
          <p:cNvPr id="5" name="Rectangle 4">
            <a:extLst>
              <a:ext uri="{FF2B5EF4-FFF2-40B4-BE49-F238E27FC236}">
                <a16:creationId xmlns:a16="http://schemas.microsoft.com/office/drawing/2014/main" id="{F78CFBEA-CEF2-471A-842D-8314716A34E9}"/>
              </a:ext>
            </a:extLst>
          </p:cNvPr>
          <p:cNvSpPr/>
          <p:nvPr/>
        </p:nvSpPr>
        <p:spPr>
          <a:xfrm>
            <a:off x="3860800" y="406401"/>
            <a:ext cx="7800623" cy="4447822"/>
          </a:xfrm>
          <a:prstGeom prst="rect">
            <a:avLst/>
          </a:prstGeom>
        </p:spPr>
        <p:txBody>
          <a:bodyPr vert="horz" lIns="91440" tIns="45720" rIns="91440" bIns="45720" rtlCol="0" anchor="ctr">
            <a:normAutofit/>
          </a:bodyPr>
          <a:lstStyle/>
          <a:p>
            <a:pPr marL="371480" indent="-342905" defTabSz="914411">
              <a:lnSpc>
                <a:spcPct val="90000"/>
              </a:lnSpc>
              <a:spcAft>
                <a:spcPts val="1200"/>
              </a:spcAft>
              <a:buClr>
                <a:schemeClr val="bg1"/>
              </a:buClr>
              <a:buFont typeface="Wingdings" panose="05000000000000000000" pitchFamily="2" charset="2"/>
              <a:buChar char="§"/>
            </a:pPr>
            <a:r>
              <a:rPr lang="en-US" sz="2000" dirty="0">
                <a:solidFill>
                  <a:schemeClr val="bg1"/>
                </a:solidFill>
              </a:rPr>
              <a:t>Patient engagement is the failure point of population health efforts. Direct employer participation and Cleveland Clinic’s clinical leadership is key to driving patient engagement. </a:t>
            </a:r>
          </a:p>
          <a:p>
            <a:pPr marL="371480" indent="-342905" defTabSz="914411">
              <a:lnSpc>
                <a:spcPct val="90000"/>
              </a:lnSpc>
              <a:spcAft>
                <a:spcPts val="1200"/>
              </a:spcAft>
              <a:buClr>
                <a:schemeClr val="bg1"/>
              </a:buClr>
              <a:buFont typeface="Wingdings" panose="05000000000000000000" pitchFamily="2" charset="2"/>
              <a:buChar char="§"/>
            </a:pPr>
            <a:r>
              <a:rPr lang="en-US" sz="2000" dirty="0">
                <a:solidFill>
                  <a:schemeClr val="bg1"/>
                </a:solidFill>
              </a:rPr>
              <a:t>KBA’s DTE strategy positions Cleveland Clinic Health System to grow commercial market share by reducing per-employee plan costs even further at a time when employers are desperate for a path to better value. </a:t>
            </a:r>
          </a:p>
          <a:p>
            <a:pPr marL="371480" indent="-342905" defTabSz="914411">
              <a:lnSpc>
                <a:spcPct val="90000"/>
              </a:lnSpc>
              <a:spcAft>
                <a:spcPts val="1200"/>
              </a:spcAft>
              <a:buClr>
                <a:schemeClr val="bg1"/>
              </a:buClr>
              <a:buFont typeface="Wingdings" panose="05000000000000000000" pitchFamily="2" charset="2"/>
              <a:buChar char="§"/>
            </a:pPr>
            <a:r>
              <a:rPr lang="en-US" sz="2000" dirty="0">
                <a:solidFill>
                  <a:schemeClr val="bg1"/>
                </a:solidFill>
              </a:rPr>
              <a:t>Cleveland Clinic Health System can demonstrate greater completion rates for Standards of Care for the Chronically Ill, driving better care &amp; cost outcomes. </a:t>
            </a:r>
          </a:p>
          <a:p>
            <a:pPr marL="371480" indent="-342905" defTabSz="914411">
              <a:lnSpc>
                <a:spcPct val="90000"/>
              </a:lnSpc>
              <a:spcAft>
                <a:spcPts val="1800"/>
              </a:spcAft>
              <a:buClr>
                <a:schemeClr val="bg1"/>
              </a:buClr>
              <a:buFont typeface="Wingdings" panose="05000000000000000000" pitchFamily="2" charset="2"/>
              <a:buChar char="§"/>
            </a:pPr>
            <a:r>
              <a:rPr lang="en-US" sz="2000" dirty="0">
                <a:solidFill>
                  <a:schemeClr val="bg1"/>
                </a:solidFill>
              </a:rPr>
              <a:t>Adding Cleveland Clinic’s managed care processes to KBA’s patented care management programs will turbocharge results – Positioning Cleveland Clinic as a transformational population health leader. </a:t>
            </a:r>
          </a:p>
        </p:txBody>
      </p:sp>
      <p:sp>
        <p:nvSpPr>
          <p:cNvPr id="6" name="Title 1">
            <a:extLst>
              <a:ext uri="{FF2B5EF4-FFF2-40B4-BE49-F238E27FC236}">
                <a16:creationId xmlns:a16="http://schemas.microsoft.com/office/drawing/2014/main" id="{0CEEE520-446E-4089-8426-4255347085FB}"/>
              </a:ext>
            </a:extLst>
          </p:cNvPr>
          <p:cNvSpPr>
            <a:spLocks noGrp="1"/>
          </p:cNvSpPr>
          <p:nvPr>
            <p:ph type="title"/>
          </p:nvPr>
        </p:nvSpPr>
        <p:spPr>
          <a:xfrm>
            <a:off x="673503" y="406401"/>
            <a:ext cx="3053314" cy="2504922"/>
          </a:xfrm>
        </p:spPr>
        <p:txBody>
          <a:bodyPr vert="horz" lIns="91440" tIns="45720" rIns="91440" bIns="45720" rtlCol="0" anchor="t">
            <a:normAutofit fontScale="90000"/>
          </a:bodyPr>
          <a:lstStyle/>
          <a:p>
            <a:r>
              <a:rPr lang="en-US" sz="3600" cap="all" dirty="0">
                <a:solidFill>
                  <a:schemeClr val="bg1"/>
                </a:solidFill>
              </a:rPr>
              <a:t>the missing piece to population health success</a:t>
            </a:r>
          </a:p>
        </p:txBody>
      </p:sp>
      <p:sp>
        <p:nvSpPr>
          <p:cNvPr id="7" name="Rectangle 6">
            <a:extLst>
              <a:ext uri="{FF2B5EF4-FFF2-40B4-BE49-F238E27FC236}">
                <a16:creationId xmlns:a16="http://schemas.microsoft.com/office/drawing/2014/main" id="{F35A72B5-FEF9-458B-B242-8157703AFF9D}"/>
              </a:ext>
            </a:extLst>
          </p:cNvPr>
          <p:cNvSpPr/>
          <p:nvPr/>
        </p:nvSpPr>
        <p:spPr>
          <a:xfrm>
            <a:off x="2170444" y="5369550"/>
            <a:ext cx="9490980" cy="424732"/>
          </a:xfrm>
          <a:prstGeom prst="rect">
            <a:avLst/>
          </a:prstGeom>
        </p:spPr>
        <p:txBody>
          <a:bodyPr wrap="square">
            <a:spAutoFit/>
          </a:bodyPr>
          <a:lstStyle/>
          <a:p>
            <a:pPr marL="28576" defTabSz="914411">
              <a:lnSpc>
                <a:spcPct val="90000"/>
              </a:lnSpc>
              <a:spcAft>
                <a:spcPts val="1200"/>
              </a:spcAft>
              <a:buClr>
                <a:schemeClr val="accent5">
                  <a:lumMod val="50000"/>
                </a:schemeClr>
              </a:buClr>
            </a:pPr>
            <a:r>
              <a:rPr lang="en-US" sz="2400" b="1" cap="all" dirty="0">
                <a:solidFill>
                  <a:srgbClr val="000B2E"/>
                </a:solidFill>
              </a:rPr>
              <a:t>Cleveland Clinic Health System </a:t>
            </a:r>
            <a:r>
              <a:rPr lang="en-US" sz="2400" b="1" cap="small" dirty="0">
                <a:solidFill>
                  <a:srgbClr val="000B2E"/>
                </a:solidFill>
              </a:rPr>
              <a:t>CAN PROMOTE THESE RESULTS FROM DAY ONE!!</a:t>
            </a:r>
          </a:p>
        </p:txBody>
      </p:sp>
      <p:pic>
        <p:nvPicPr>
          <p:cNvPr id="8" name="Graphic 9" descr="Puzzle pieces with solid fill">
            <a:extLst>
              <a:ext uri="{FF2B5EF4-FFF2-40B4-BE49-F238E27FC236}">
                <a16:creationId xmlns:a16="http://schemas.microsoft.com/office/drawing/2014/main" id="{0CA67572-0D3A-6B78-1AF5-F6A1BEB1B50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6428" y="2426082"/>
            <a:ext cx="2767464" cy="2767464"/>
          </a:xfrm>
          <a:prstGeom prst="rect">
            <a:avLst/>
          </a:prstGeom>
        </p:spPr>
      </p:pic>
    </p:spTree>
    <p:extLst>
      <p:ext uri="{BB962C8B-B14F-4D97-AF65-F5344CB8AC3E}">
        <p14:creationId xmlns:p14="http://schemas.microsoft.com/office/powerpoint/2010/main" val="39580609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8">
            <a:extLst>
              <a:ext uri="{FF2B5EF4-FFF2-40B4-BE49-F238E27FC236}">
                <a16:creationId xmlns:a16="http://schemas.microsoft.com/office/drawing/2014/main" id="{44DBAA81-6BB1-41F2-821B-655745573DD6}"/>
              </a:ext>
            </a:extLst>
          </p:cNvPr>
          <p:cNvGraphicFramePr>
            <a:graphicFrameLocks noGrp="1"/>
          </p:cNvGraphicFramePr>
          <p:nvPr>
            <p:extLst>
              <p:ext uri="{D42A27DB-BD31-4B8C-83A1-F6EECF244321}">
                <p14:modId xmlns:p14="http://schemas.microsoft.com/office/powerpoint/2010/main" val="3574623902"/>
              </p:ext>
            </p:extLst>
          </p:nvPr>
        </p:nvGraphicFramePr>
        <p:xfrm>
          <a:off x="4726294" y="136525"/>
          <a:ext cx="7205513" cy="6625708"/>
        </p:xfrm>
        <a:graphic>
          <a:graphicData uri="http://schemas.openxmlformats.org/drawingml/2006/table">
            <a:tbl>
              <a:tblPr firstRow="1" firstCol="1" bandRow="1"/>
              <a:tblGrid>
                <a:gridCol w="2597015">
                  <a:extLst>
                    <a:ext uri="{9D8B030D-6E8A-4147-A177-3AD203B41FA5}">
                      <a16:colId xmlns:a16="http://schemas.microsoft.com/office/drawing/2014/main" val="2366274540"/>
                    </a:ext>
                  </a:extLst>
                </a:gridCol>
                <a:gridCol w="1444924">
                  <a:extLst>
                    <a:ext uri="{9D8B030D-6E8A-4147-A177-3AD203B41FA5}">
                      <a16:colId xmlns:a16="http://schemas.microsoft.com/office/drawing/2014/main" val="3062753151"/>
                    </a:ext>
                  </a:extLst>
                </a:gridCol>
                <a:gridCol w="1581787">
                  <a:extLst>
                    <a:ext uri="{9D8B030D-6E8A-4147-A177-3AD203B41FA5}">
                      <a16:colId xmlns:a16="http://schemas.microsoft.com/office/drawing/2014/main" val="3107867473"/>
                    </a:ext>
                  </a:extLst>
                </a:gridCol>
                <a:gridCol w="1581787">
                  <a:extLst>
                    <a:ext uri="{9D8B030D-6E8A-4147-A177-3AD203B41FA5}">
                      <a16:colId xmlns:a16="http://schemas.microsoft.com/office/drawing/2014/main" val="1167931325"/>
                    </a:ext>
                  </a:extLst>
                </a:gridCol>
              </a:tblGrid>
              <a:tr h="144887">
                <a:tc>
                  <a:txBody>
                    <a:bodyPr/>
                    <a:lstStyle/>
                    <a:p>
                      <a:pPr marL="0" marR="0">
                        <a:lnSpc>
                          <a:spcPct val="107000"/>
                        </a:lnSpc>
                        <a:spcBef>
                          <a:spcPts val="0"/>
                        </a:spcBef>
                        <a:spcAft>
                          <a:spcPts val="0"/>
                        </a:spcAft>
                      </a:pPr>
                      <a:r>
                        <a:rPr lang="en-US" sz="900" b="1" dirty="0">
                          <a:solidFill>
                            <a:srgbClr val="FFFFFF"/>
                          </a:solidFill>
                          <a:effectLst/>
                          <a:latin typeface="Calibri" panose="020F0502020204030204" pitchFamily="34" charset="0"/>
                          <a:ea typeface="Calibri" panose="020F0502020204030204" pitchFamily="34" charset="0"/>
                          <a:cs typeface="Calibri" panose="020F0502020204030204" pitchFamily="34" charset="0"/>
                        </a:rPr>
                        <a:t>CHRONIC CONDITION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nchor="ctr">
                    <a:lnL w="12700" cap="flat" cmpd="sng" algn="ctr">
                      <a:solidFill>
                        <a:srgbClr val="A5A5A5"/>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44F9A"/>
                    </a:solidFill>
                  </a:tcPr>
                </a:tc>
                <a:tc gridSpan="3">
                  <a:txBody>
                    <a:bodyPr/>
                    <a:lstStyle/>
                    <a:p>
                      <a:pPr marL="0" marR="0">
                        <a:lnSpc>
                          <a:spcPct val="107000"/>
                        </a:lnSpc>
                        <a:spcBef>
                          <a:spcPts val="0"/>
                        </a:spcBef>
                        <a:spcAft>
                          <a:spcPts val="0"/>
                        </a:spcAft>
                      </a:pPr>
                      <a:r>
                        <a:rPr lang="en-US" sz="900" b="1" dirty="0">
                          <a:solidFill>
                            <a:srgbClr val="FFFFFF"/>
                          </a:solidFill>
                          <a:effectLst/>
                          <a:latin typeface="Calibri" panose="020F0502020204030204" pitchFamily="34" charset="0"/>
                          <a:ea typeface="Calibri" panose="020F0502020204030204" pitchFamily="34" charset="0"/>
                          <a:cs typeface="Calibri" panose="020F0502020204030204" pitchFamily="34" charset="0"/>
                        </a:rPr>
                        <a:t>MINIMUM ANNUAL CARE RECOMMENDED</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nchor="ctr">
                    <a:lnL w="12700" cap="flat" cmpd="sng" algn="ctr">
                      <a:solidFill>
                        <a:srgbClr val="FFFFFF"/>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44F9A"/>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266498281"/>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ASTHMA</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Spirometry (for patients 10 years of age or older)</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830014585"/>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ATRIAL FIBRILLATION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606190503"/>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CHRONIC OBSTRUCTIVE PULMONARY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Spirometry</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441583740"/>
                  </a:ext>
                </a:extLst>
              </a:tr>
              <a:tr h="591678">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CHRONIC VENOUS THROMBOTIC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previously listed as Thrombo-embolic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48317387"/>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COPD WITH PULMONARY HYPERTENSION/COR PULMONALE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12 months of supplemental 02 Tx</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65065669"/>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CHRONIC KIDNEY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Hgb or Hcrt</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Potassium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Calcium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Phosphorus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3287466772"/>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CONGESTIVE HEART FAILURE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Potassium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1412705431"/>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CORONARY ARTERY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LDL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562143464"/>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DEPRESSION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18016476"/>
                  </a:ext>
                </a:extLst>
              </a:tr>
              <a:tr h="448042">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DIABETES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Glycohemoglobins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2">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IF no nephropathy Dx or ACE/ARB Rx,</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Urine Albumin/Creatinine ratio, Total Protein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extLst>
                  <a:ext uri="{0D108BD9-81ED-4DB2-BD59-A6C34878D82A}">
                    <a16:rowId xmlns:a16="http://schemas.microsoft.com/office/drawing/2014/main" val="2153754943"/>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EPILEPSY</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160324191"/>
                  </a:ext>
                </a:extLst>
              </a:tr>
              <a:tr h="448042">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HUMAN IMMUNODEFICIENCY VIRUS INFECTION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2CBCs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 T-Cell/CD-4 Count</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2">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HIV Quantifications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Pap Smear (for women only, 21 years of age or older)</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extLst>
                  <a:ext uri="{0D108BD9-81ED-4DB2-BD59-A6C34878D82A}">
                    <a16:rowId xmlns:a16="http://schemas.microsoft.com/office/drawing/2014/main" val="645771183"/>
                  </a:ext>
                </a:extLst>
              </a:tr>
              <a:tr h="144887">
                <a:tc>
                  <a:txBody>
                    <a:bodyPr/>
                    <a:lstStyle/>
                    <a:p>
                      <a:pPr marL="0" marR="0">
                        <a:lnSpc>
                          <a:spcPct val="107000"/>
                        </a:lnSpc>
                        <a:spcBef>
                          <a:spcPts val="0"/>
                        </a:spcBef>
                        <a:spcAft>
                          <a:spcPts val="0"/>
                        </a:spcAft>
                      </a:pPr>
                      <a:r>
                        <a:rPr lang="en-US" sz="900" kern="1200" cap="all" baseline="0" dirty="0">
                          <a:solidFill>
                            <a:schemeClr val="tx1"/>
                          </a:solidFill>
                          <a:effectLst/>
                          <a:latin typeface="+mn-lt"/>
                          <a:ea typeface="+mn-ea"/>
                          <a:cs typeface="+mn-cs"/>
                        </a:rPr>
                        <a:t>Hyperlipidemia</a:t>
                      </a:r>
                      <a:endParaRPr lang="en-US" sz="900" cap="all" baseline="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16726325"/>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HYPERTENSION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792869988"/>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HYPERTHYROIDISM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TSH</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T4</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1751188136"/>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HYPOTHYROIDISM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TSH</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1285030"/>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METABOLIC SYNDROME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FBS or HgbA1c</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669260277"/>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MULTIPLE SCLEROSIS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3010610097"/>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PARKINSON'S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2827539696"/>
                  </a:ext>
                </a:extLst>
              </a:tr>
              <a:tr h="599619">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PERIPHERAL ARTERIAL DISEASE (ATHEROSCLEROSIS]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previously listed as Peripheral Vascular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LDL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1078695282"/>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PRE-DIABETES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FBS or HgbA1c</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755897494"/>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POLYMYALGIA RHEUMATICA</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ESR or CRP</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CBC</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413089292"/>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PULMONARY HYPERTENSION (UNRELATED TO COPD)</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319373926"/>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REGIONAL ENTERITIS (INFLAMMATORY BOWEL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3321541292"/>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RHEUMATOID ARTHRITIS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630789343"/>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SLEEP APNEA</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1608131130"/>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ULCERATIVE COLITIS (INFLAMMATORY BOWEL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648385909"/>
                  </a:ext>
                </a:extLst>
              </a:tr>
            </a:tbl>
          </a:graphicData>
        </a:graphic>
      </p:graphicFrame>
      <p:sp>
        <p:nvSpPr>
          <p:cNvPr id="3" name="Title 1">
            <a:extLst>
              <a:ext uri="{FF2B5EF4-FFF2-40B4-BE49-F238E27FC236}">
                <a16:creationId xmlns:a16="http://schemas.microsoft.com/office/drawing/2014/main" id="{F97470F7-7696-413D-9209-D155562954BB}"/>
              </a:ext>
            </a:extLst>
          </p:cNvPr>
          <p:cNvSpPr txBox="1">
            <a:spLocks/>
          </p:cNvSpPr>
          <p:nvPr/>
        </p:nvSpPr>
        <p:spPr>
          <a:xfrm>
            <a:off x="657037" y="1646141"/>
            <a:ext cx="3494834" cy="952500"/>
          </a:xfrm>
          <a:prstGeom prst="rect">
            <a:avLst/>
          </a:prstGeom>
        </p:spPr>
        <p:txBody>
          <a:bodyPr vert="horz" lIns="91440" tIns="45720" rIns="91440" bIns="45720" rtlCol="0" anchor="ctr">
            <a:normAutofit fontScale="92500" lnSpcReduction="10000"/>
          </a:bodyPr>
          <a:lstStyle>
            <a:lvl1pPr algn="ctr" defTabSz="457200" rtl="0" eaLnBrk="1" latinLnBrk="0" hangingPunct="1">
              <a:spcBef>
                <a:spcPct val="0"/>
              </a:spcBef>
              <a:buNone/>
              <a:defRPr sz="3200" b="1" kern="1200">
                <a:solidFill>
                  <a:srgbClr val="F3734E"/>
                </a:solidFill>
                <a:latin typeface="Helvetica"/>
                <a:ea typeface="+mj-ea"/>
                <a:cs typeface="Helvetica"/>
              </a:defRPr>
            </a:lvl1pPr>
          </a:lstStyle>
          <a:p>
            <a:pPr algn="l"/>
            <a:r>
              <a:rPr lang="en-US" dirty="0">
                <a:solidFill>
                  <a:schemeClr val="bg1"/>
                </a:solidFill>
                <a:latin typeface="+mj-lt"/>
              </a:rPr>
              <a:t>CHRONIC DISEASE MANAGEMENT   </a:t>
            </a:r>
          </a:p>
        </p:txBody>
      </p:sp>
      <p:sp>
        <p:nvSpPr>
          <p:cNvPr id="4" name="TextBox 9">
            <a:extLst>
              <a:ext uri="{FF2B5EF4-FFF2-40B4-BE49-F238E27FC236}">
                <a16:creationId xmlns:a16="http://schemas.microsoft.com/office/drawing/2014/main" id="{B8534B2B-9B09-497C-8FF0-E0C8506830D0}"/>
              </a:ext>
            </a:extLst>
          </p:cNvPr>
          <p:cNvSpPr txBox="1"/>
          <p:nvPr/>
        </p:nvSpPr>
        <p:spPr>
          <a:xfrm>
            <a:off x="689518" y="2889855"/>
            <a:ext cx="2794135" cy="2554545"/>
          </a:xfrm>
          <a:prstGeom prst="rect">
            <a:avLst/>
          </a:prstGeom>
          <a:noFill/>
        </p:spPr>
        <p:txBody>
          <a:bodyPr wrap="square" rtlCol="0">
            <a:spAutoFit/>
          </a:bodyPr>
          <a:lstStyle/>
          <a:p>
            <a:pPr>
              <a:spcBef>
                <a:spcPct val="0"/>
              </a:spcBef>
              <a:buClrTx/>
              <a:buSzTx/>
              <a:buFontTx/>
              <a:buNone/>
            </a:pPr>
            <a:r>
              <a:rPr lang="en-US" altLang="en-US" sz="2000" dirty="0">
                <a:solidFill>
                  <a:schemeClr val="bg1"/>
                </a:solidFill>
                <a:latin typeface="+mj-lt"/>
              </a:rPr>
              <a:t>The chronic diseases identified include a list of services (i.e. exams, lab work and diagnostics) rendered by a network provider payable at 100% and not subject to the deductible or copay. </a:t>
            </a:r>
            <a:endParaRPr lang="en-US" sz="2000" dirty="0">
              <a:solidFill>
                <a:schemeClr val="bg1"/>
              </a:solidFill>
              <a:latin typeface="+mj-lt"/>
            </a:endParaRPr>
          </a:p>
        </p:txBody>
      </p:sp>
      <p:sp>
        <p:nvSpPr>
          <p:cNvPr id="5" name="Slide Number Placeholder 15">
            <a:extLst>
              <a:ext uri="{FF2B5EF4-FFF2-40B4-BE49-F238E27FC236}">
                <a16:creationId xmlns:a16="http://schemas.microsoft.com/office/drawing/2014/main" id="{1C3A6D29-B425-4835-A19F-07D86D1044DB}"/>
              </a:ext>
            </a:extLst>
          </p:cNvPr>
          <p:cNvSpPr>
            <a:spLocks noGrp="1"/>
          </p:cNvSpPr>
          <p:nvPr>
            <p:ph type="sldNum" sz="quarter" idx="12"/>
          </p:nvPr>
        </p:nvSpPr>
        <p:spPr>
          <a:xfrm>
            <a:off x="9089572" y="6424927"/>
            <a:ext cx="2743200" cy="365125"/>
          </a:xfrm>
        </p:spPr>
        <p:txBody>
          <a:bodyPr/>
          <a:lstStyle/>
          <a:p>
            <a:fld id="{3AFC719D-C4A7-4544-876E-D411D11AF6C9}" type="slidenum">
              <a:rPr lang="en-US" smtClean="0"/>
              <a:t>18</a:t>
            </a:fld>
            <a:endParaRPr lang="en-US" dirty="0"/>
          </a:p>
        </p:txBody>
      </p:sp>
      <p:sp>
        <p:nvSpPr>
          <p:cNvPr id="6" name="Rectangle 11">
            <a:extLst>
              <a:ext uri="{FF2B5EF4-FFF2-40B4-BE49-F238E27FC236}">
                <a16:creationId xmlns:a16="http://schemas.microsoft.com/office/drawing/2014/main" id="{5B293367-A455-490C-8A35-4511AA3B90CE}"/>
              </a:ext>
            </a:extLst>
          </p:cNvPr>
          <p:cNvSpPr/>
          <p:nvPr/>
        </p:nvSpPr>
        <p:spPr>
          <a:xfrm>
            <a:off x="-1" y="984"/>
            <a:ext cx="4275989" cy="6871084"/>
          </a:xfrm>
          <a:prstGeom prst="rect">
            <a:avLst/>
          </a:prstGeom>
          <a:solidFill>
            <a:srgbClr val="244F9A">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rIns="457200" rtlCol="0" anchor="ctr"/>
          <a:lstStyle/>
          <a:p>
            <a:pPr>
              <a:spcBef>
                <a:spcPct val="0"/>
              </a:spcBef>
              <a:buClrTx/>
              <a:buSzTx/>
              <a:buFontTx/>
              <a:buNone/>
            </a:pPr>
            <a:endParaRPr lang="en-US" sz="1600" b="1" spc="120" dirty="0">
              <a:solidFill>
                <a:schemeClr val="bg1"/>
              </a:solidFill>
            </a:endParaRPr>
          </a:p>
        </p:txBody>
      </p:sp>
      <p:sp>
        <p:nvSpPr>
          <p:cNvPr id="7" name="TextBox 1">
            <a:extLst>
              <a:ext uri="{FF2B5EF4-FFF2-40B4-BE49-F238E27FC236}">
                <a16:creationId xmlns:a16="http://schemas.microsoft.com/office/drawing/2014/main" id="{0255DED4-CAB2-4C40-8464-BA04A291D04E}"/>
              </a:ext>
            </a:extLst>
          </p:cNvPr>
          <p:cNvSpPr txBox="1"/>
          <p:nvPr/>
        </p:nvSpPr>
        <p:spPr>
          <a:xfrm>
            <a:off x="0" y="523930"/>
            <a:ext cx="4275989" cy="830997"/>
          </a:xfrm>
          <a:prstGeom prst="rect">
            <a:avLst/>
          </a:prstGeom>
          <a:noFill/>
        </p:spPr>
        <p:txBody>
          <a:bodyPr wrap="square" rtlCol="0">
            <a:spAutoFit/>
          </a:bodyPr>
          <a:lstStyle/>
          <a:p>
            <a:pPr marL="338142"/>
            <a:r>
              <a:rPr lang="en-US" sz="2400" b="1" dirty="0">
                <a:solidFill>
                  <a:srgbClr val="FFFFFF"/>
                </a:solidFill>
                <a:latin typeface="Arial" panose="020B0604020202020204" pitchFamily="34" charset="0"/>
                <a:cs typeface="Arial" panose="020B0604020202020204" pitchFamily="34" charset="0"/>
              </a:rPr>
              <a:t>INTEGRATION WITH EPIC EHR SYSTEM</a:t>
            </a:r>
            <a:endParaRPr lang="en-US" sz="2400" spc="150" dirty="0">
              <a:solidFill>
                <a:schemeClr val="bg1"/>
              </a:solidFill>
              <a:latin typeface="Arial" panose="020B0604020202020204" pitchFamily="34" charset="0"/>
              <a:cs typeface="Arial" panose="020B0604020202020204" pitchFamily="34" charset="0"/>
            </a:endParaRPr>
          </a:p>
        </p:txBody>
      </p:sp>
      <p:cxnSp>
        <p:nvCxnSpPr>
          <p:cNvPr id="8" name="Straight Connector 17">
            <a:extLst>
              <a:ext uri="{FF2B5EF4-FFF2-40B4-BE49-F238E27FC236}">
                <a16:creationId xmlns:a16="http://schemas.microsoft.com/office/drawing/2014/main" id="{654FDC49-A8BF-414E-8760-AA338D9AABBF}"/>
              </a:ext>
            </a:extLst>
          </p:cNvPr>
          <p:cNvCxnSpPr>
            <a:cxnSpLocks/>
          </p:cNvCxnSpPr>
          <p:nvPr/>
        </p:nvCxnSpPr>
        <p:spPr>
          <a:xfrm>
            <a:off x="437631" y="1627549"/>
            <a:ext cx="3207598" cy="0"/>
          </a:xfrm>
          <a:prstGeom prst="line">
            <a:avLst/>
          </a:prstGeom>
          <a:ln>
            <a:solidFill>
              <a:schemeClr val="bg1"/>
            </a:solidFill>
          </a:ln>
        </p:spPr>
        <p:style>
          <a:lnRef idx="1">
            <a:schemeClr val="accent5"/>
          </a:lnRef>
          <a:fillRef idx="0">
            <a:schemeClr val="accent5"/>
          </a:fillRef>
          <a:effectRef idx="0">
            <a:schemeClr val="accent5"/>
          </a:effectRef>
          <a:fontRef idx="minor">
            <a:schemeClr val="tx1"/>
          </a:fontRef>
        </p:style>
      </p:cxnSp>
      <p:sp>
        <p:nvSpPr>
          <p:cNvPr id="9" name="Freeform: Shape 12">
            <a:extLst>
              <a:ext uri="{FF2B5EF4-FFF2-40B4-BE49-F238E27FC236}">
                <a16:creationId xmlns:a16="http://schemas.microsoft.com/office/drawing/2014/main" id="{85E02AAF-B329-4E86-B476-C851852352F8}"/>
              </a:ext>
            </a:extLst>
          </p:cNvPr>
          <p:cNvSpPr/>
          <p:nvPr/>
        </p:nvSpPr>
        <p:spPr>
          <a:xfrm rot="16200000">
            <a:off x="2097937" y="4698539"/>
            <a:ext cx="1873602" cy="2482501"/>
          </a:xfrm>
          <a:custGeom>
            <a:avLst/>
            <a:gdLst>
              <a:gd name="connsiteX0" fmla="*/ 2160577 w 2160577"/>
              <a:gd name="connsiteY0" fmla="*/ 3114245 h 3114245"/>
              <a:gd name="connsiteX1" fmla="*/ 0 w 2160577"/>
              <a:gd name="connsiteY1" fmla="*/ 3114245 h 3114245"/>
              <a:gd name="connsiteX2" fmla="*/ 0 w 2160577"/>
              <a:gd name="connsiteY2" fmla="*/ 0 h 3114245"/>
              <a:gd name="connsiteX3" fmla="*/ 40185 w 2160577"/>
              <a:gd name="connsiteY3" fmla="*/ 231682 h 3114245"/>
              <a:gd name="connsiteX4" fmla="*/ 2101086 w 2160577"/>
              <a:gd name="connsiteY4" fmla="*/ 3114244 h 3114245"/>
              <a:gd name="connsiteX5" fmla="*/ 2158168 w 2160577"/>
              <a:gd name="connsiteY5" fmla="*/ 3108162 h 311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60577" h="3114245">
                <a:moveTo>
                  <a:pt x="2160577" y="3114245"/>
                </a:moveTo>
                <a:lnTo>
                  <a:pt x="0" y="3114245"/>
                </a:lnTo>
                <a:lnTo>
                  <a:pt x="0" y="0"/>
                </a:lnTo>
                <a:lnTo>
                  <a:pt x="40185" y="231682"/>
                </a:lnTo>
                <a:cubicBezTo>
                  <a:pt x="379730" y="1925643"/>
                  <a:pt x="1174627" y="3114244"/>
                  <a:pt x="2101086" y="3114244"/>
                </a:cubicBezTo>
                <a:lnTo>
                  <a:pt x="2158168" y="3108162"/>
                </a:lnTo>
                <a:close/>
              </a:path>
            </a:pathLst>
          </a:custGeom>
          <a:solidFill>
            <a:srgbClr val="59CAE8">
              <a:alpha val="5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11">
              <a:defRPr/>
            </a:pPr>
            <a:endParaRPr lang="en-US" dirty="0">
              <a:solidFill>
                <a:prstClr val="white"/>
              </a:solidFill>
              <a:latin typeface="Calibri" panose="020F0502020204030204"/>
            </a:endParaRPr>
          </a:p>
        </p:txBody>
      </p:sp>
      <p:sp>
        <p:nvSpPr>
          <p:cNvPr id="10" name="Footer Placeholder 2">
            <a:extLst>
              <a:ext uri="{FF2B5EF4-FFF2-40B4-BE49-F238E27FC236}">
                <a16:creationId xmlns:a16="http://schemas.microsoft.com/office/drawing/2014/main" id="{897791F9-80A6-4A45-A936-C4A4E5494AFD}"/>
              </a:ext>
            </a:extLst>
          </p:cNvPr>
          <p:cNvSpPr>
            <a:spLocks noGrp="1"/>
          </p:cNvSpPr>
          <p:nvPr>
            <p:ph type="ftr" sz="quarter" idx="11"/>
          </p:nvPr>
        </p:nvSpPr>
        <p:spPr>
          <a:xfrm>
            <a:off x="90451" y="6424927"/>
            <a:ext cx="3871949" cy="323354"/>
          </a:xfrm>
        </p:spPr>
        <p:txBody>
          <a:bodyPr/>
          <a:lstStyle/>
          <a:p>
            <a:r>
              <a:rPr lang="en-US" dirty="0"/>
              <a:t>Key Benefit Administrators</a:t>
            </a:r>
          </a:p>
        </p:txBody>
      </p:sp>
      <p:pic>
        <p:nvPicPr>
          <p:cNvPr id="11" name="Picture 2" descr="Epic launches long-planned &quot;App Orchard&quot; app store | MobiHealthNews">
            <a:extLst>
              <a:ext uri="{FF2B5EF4-FFF2-40B4-BE49-F238E27FC236}">
                <a16:creationId xmlns:a16="http://schemas.microsoft.com/office/drawing/2014/main" id="{308658F5-D0C7-2129-4BB2-5ED078F194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9168" y="2044461"/>
            <a:ext cx="3494834" cy="1958481"/>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4">
            <a:extLst>
              <a:ext uri="{FF2B5EF4-FFF2-40B4-BE49-F238E27FC236}">
                <a16:creationId xmlns:a16="http://schemas.microsoft.com/office/drawing/2014/main" id="{E37C4D6D-E015-C93E-59BD-2C619644D714}"/>
              </a:ext>
            </a:extLst>
          </p:cNvPr>
          <p:cNvSpPr txBox="1"/>
          <p:nvPr/>
        </p:nvSpPr>
        <p:spPr>
          <a:xfrm>
            <a:off x="260193" y="4477165"/>
            <a:ext cx="3494834" cy="1200329"/>
          </a:xfrm>
          <a:prstGeom prst="rect">
            <a:avLst/>
          </a:prstGeom>
          <a:noFill/>
        </p:spPr>
        <p:txBody>
          <a:bodyPr wrap="square">
            <a:spAutoFit/>
          </a:bodyPr>
          <a:lstStyle/>
          <a:p>
            <a:pPr marL="0" algn="l" rtl="0" eaLnBrk="1" latinLnBrk="0" hangingPunct="1">
              <a:spcBef>
                <a:spcPts val="0"/>
              </a:spcBef>
              <a:spcAft>
                <a:spcPts val="0"/>
              </a:spcAft>
            </a:pPr>
            <a:r>
              <a:rPr lang="en-US" sz="1800" kern="1200" spc="120" dirty="0">
                <a:solidFill>
                  <a:srgbClr val="FFFFFF"/>
                </a:solidFill>
                <a:effectLst/>
                <a:latin typeface="Calibri" panose="020F0502020204030204" pitchFamily="34" charset="0"/>
                <a:ea typeface="+mn-ea"/>
                <a:cs typeface="+mn-cs"/>
              </a:rPr>
              <a:t>KBA shares evidence-based standards of care for 27 chronic conditions</a:t>
            </a:r>
            <a:r>
              <a:rPr lang="en-US" spc="120" dirty="0">
                <a:solidFill>
                  <a:srgbClr val="FFFFFF"/>
                </a:solidFill>
                <a:latin typeface="Calibri" panose="020F0502020204030204" pitchFamily="34" charset="0"/>
              </a:rPr>
              <a:t> directly into Epic. </a:t>
            </a:r>
            <a:endParaRPr lang="en-US" dirty="0">
              <a:effectLst/>
            </a:endParaRPr>
          </a:p>
        </p:txBody>
      </p:sp>
    </p:spTree>
    <p:custDataLst>
      <p:tags r:id="rId1"/>
    </p:custDataLst>
    <p:extLst>
      <p:ext uri="{BB962C8B-B14F-4D97-AF65-F5344CB8AC3E}">
        <p14:creationId xmlns:p14="http://schemas.microsoft.com/office/powerpoint/2010/main" val="29844336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6B12664C-5A76-42DD-9387-37E05409FCD6}"/>
              </a:ext>
            </a:extLst>
          </p:cNvPr>
          <p:cNvPicPr>
            <a:picLocks noChangeAspect="1" noChangeArrowheads="1"/>
          </p:cNvPicPr>
          <p:nvPr/>
        </p:nvPicPr>
        <p:blipFill>
          <a:blip r:embed="rId2">
            <a:alphaModFix amt="20000"/>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rcRect/>
          <a:stretch>
            <a:fillRect/>
          </a:stretch>
        </p:blipFill>
        <p:spPr bwMode="auto">
          <a:xfrm>
            <a:off x="-1" y="14068"/>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5">
            <a:extLst>
              <a:ext uri="{FF2B5EF4-FFF2-40B4-BE49-F238E27FC236}">
                <a16:creationId xmlns:a16="http://schemas.microsoft.com/office/drawing/2014/main" id="{C5B343BF-74E3-4449-BD50-77404688474B}"/>
              </a:ext>
            </a:extLst>
          </p:cNvPr>
          <p:cNvSpPr/>
          <p:nvPr/>
        </p:nvSpPr>
        <p:spPr>
          <a:xfrm>
            <a:off x="-1" y="0"/>
            <a:ext cx="12192001" cy="3429000"/>
          </a:xfrm>
          <a:prstGeom prst="rect">
            <a:avLst/>
          </a:prstGeom>
          <a:solidFill>
            <a:srgbClr val="244F9A">
              <a:alpha val="7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BDB678D7-E940-4D9A-BC92-54EDE0B96DB2}"/>
              </a:ext>
            </a:extLst>
          </p:cNvPr>
          <p:cNvSpPr>
            <a:spLocks noGrp="1"/>
          </p:cNvSpPr>
          <p:nvPr>
            <p:ph type="title"/>
          </p:nvPr>
        </p:nvSpPr>
        <p:spPr>
          <a:xfrm>
            <a:off x="444305" y="351058"/>
            <a:ext cx="10515600" cy="740459"/>
          </a:xfrm>
        </p:spPr>
        <p:txBody>
          <a:bodyPr>
            <a:normAutofit/>
          </a:bodyPr>
          <a:lstStyle/>
          <a:p>
            <a:r>
              <a:rPr lang="en-US" dirty="0">
                <a:solidFill>
                  <a:schemeClr val="bg1"/>
                </a:solidFill>
              </a:rPr>
              <a:t>Transparent PBM Integration </a:t>
            </a:r>
          </a:p>
        </p:txBody>
      </p:sp>
      <p:sp>
        <p:nvSpPr>
          <p:cNvPr id="5" name="Footer Placeholder 2">
            <a:extLst>
              <a:ext uri="{FF2B5EF4-FFF2-40B4-BE49-F238E27FC236}">
                <a16:creationId xmlns:a16="http://schemas.microsoft.com/office/drawing/2014/main" id="{37D3F8B8-2E49-4602-96D2-63DBC785BD21}"/>
              </a:ext>
            </a:extLst>
          </p:cNvPr>
          <p:cNvSpPr>
            <a:spLocks noGrp="1"/>
          </p:cNvSpPr>
          <p:nvPr>
            <p:ph type="ftr" sz="quarter" idx="11"/>
          </p:nvPr>
        </p:nvSpPr>
        <p:spPr/>
        <p:txBody>
          <a:bodyPr/>
          <a:lstStyle/>
          <a:p>
            <a:r>
              <a:rPr lang="en-US" dirty="0"/>
              <a:t>Key Benefit Administrators</a:t>
            </a:r>
          </a:p>
        </p:txBody>
      </p:sp>
      <p:sp>
        <p:nvSpPr>
          <p:cNvPr id="6" name="Slide Number Placeholder 3">
            <a:extLst>
              <a:ext uri="{FF2B5EF4-FFF2-40B4-BE49-F238E27FC236}">
                <a16:creationId xmlns:a16="http://schemas.microsoft.com/office/drawing/2014/main" id="{41289746-C0F3-4064-B405-1E696D5C76B2}"/>
              </a:ext>
            </a:extLst>
          </p:cNvPr>
          <p:cNvSpPr>
            <a:spLocks noGrp="1"/>
          </p:cNvSpPr>
          <p:nvPr>
            <p:ph type="sldNum" sz="quarter" idx="12"/>
          </p:nvPr>
        </p:nvSpPr>
        <p:spPr/>
        <p:txBody>
          <a:bodyPr/>
          <a:lstStyle/>
          <a:p>
            <a:fld id="{3AFC719D-C4A7-4544-876E-D411D11AF6C9}" type="slidenum">
              <a:rPr lang="en-US" smtClean="0"/>
              <a:t>19</a:t>
            </a:fld>
            <a:endParaRPr lang="en-US" dirty="0"/>
          </a:p>
        </p:txBody>
      </p:sp>
      <p:sp>
        <p:nvSpPr>
          <p:cNvPr id="7" name="Rectangle 6">
            <a:extLst>
              <a:ext uri="{FF2B5EF4-FFF2-40B4-BE49-F238E27FC236}">
                <a16:creationId xmlns:a16="http://schemas.microsoft.com/office/drawing/2014/main" id="{8AFDC632-7C4B-44BF-B435-0CED1B7481B2}"/>
              </a:ext>
            </a:extLst>
          </p:cNvPr>
          <p:cNvSpPr/>
          <p:nvPr/>
        </p:nvSpPr>
        <p:spPr>
          <a:xfrm>
            <a:off x="562791" y="1138424"/>
            <a:ext cx="4970417" cy="1785104"/>
          </a:xfrm>
          <a:prstGeom prst="rect">
            <a:avLst/>
          </a:prstGeom>
        </p:spPr>
        <p:txBody>
          <a:bodyPr wrap="square">
            <a:spAutoFit/>
          </a:bodyPr>
          <a:lstStyle/>
          <a:p>
            <a:pPr marL="285753" indent="-285753">
              <a:spcBef>
                <a:spcPts val="600"/>
              </a:spcBef>
              <a:buFont typeface="Wingdings" panose="05000000000000000000" pitchFamily="2" charset="2"/>
              <a:buChar char="§"/>
            </a:pPr>
            <a:r>
              <a:rPr lang="en-US" sz="2000" dirty="0">
                <a:solidFill>
                  <a:schemeClr val="bg1"/>
                </a:solidFill>
                <a:cs typeface="Century Gothic"/>
              </a:rPr>
              <a:t>Support of Cleveland Clinic’s retail pharmacy(s)</a:t>
            </a:r>
          </a:p>
          <a:p>
            <a:pPr marL="285753" indent="-285753">
              <a:spcBef>
                <a:spcPts val="600"/>
              </a:spcBef>
              <a:buFont typeface="Wingdings" panose="05000000000000000000" pitchFamily="2" charset="2"/>
              <a:buChar char="§"/>
            </a:pPr>
            <a:r>
              <a:rPr lang="en-US" sz="2000" dirty="0">
                <a:solidFill>
                  <a:schemeClr val="bg1"/>
                </a:solidFill>
                <a:cs typeface="Century Gothic"/>
              </a:rPr>
              <a:t>Optimize Cleveland Clinic’s 340B drug pricing program</a:t>
            </a:r>
          </a:p>
          <a:p>
            <a:pPr marL="285753" indent="-285753">
              <a:spcBef>
                <a:spcPts val="600"/>
              </a:spcBef>
              <a:buFont typeface="Wingdings" panose="05000000000000000000" pitchFamily="2" charset="2"/>
              <a:buChar char="§"/>
            </a:pPr>
            <a:r>
              <a:rPr lang="en-US" sz="2000" dirty="0">
                <a:solidFill>
                  <a:schemeClr val="bg1"/>
                </a:solidFill>
              </a:rPr>
              <a:t>Allows Cleveland Clinic to create its own PBM program if desired</a:t>
            </a:r>
          </a:p>
        </p:txBody>
      </p:sp>
      <p:sp>
        <p:nvSpPr>
          <p:cNvPr id="8" name="Rectangle 7">
            <a:extLst>
              <a:ext uri="{FF2B5EF4-FFF2-40B4-BE49-F238E27FC236}">
                <a16:creationId xmlns:a16="http://schemas.microsoft.com/office/drawing/2014/main" id="{BA8BB229-42C0-4FB6-AD0C-615BF4260145}"/>
              </a:ext>
            </a:extLst>
          </p:cNvPr>
          <p:cNvSpPr/>
          <p:nvPr/>
        </p:nvSpPr>
        <p:spPr>
          <a:xfrm>
            <a:off x="6095999" y="1173180"/>
            <a:ext cx="5715585" cy="2092881"/>
          </a:xfrm>
          <a:prstGeom prst="rect">
            <a:avLst/>
          </a:prstGeom>
        </p:spPr>
        <p:txBody>
          <a:bodyPr wrap="square">
            <a:spAutoFit/>
          </a:bodyPr>
          <a:lstStyle/>
          <a:p>
            <a:pPr marL="285753" indent="-285753">
              <a:spcBef>
                <a:spcPts val="600"/>
              </a:spcBef>
              <a:buFont typeface="Wingdings" panose="05000000000000000000" pitchFamily="2" charset="2"/>
              <a:buChar char="§"/>
            </a:pPr>
            <a:r>
              <a:rPr lang="en-US" sz="2000" dirty="0">
                <a:solidFill>
                  <a:schemeClr val="bg1"/>
                </a:solidFill>
              </a:rPr>
              <a:t>Custom telephone number with personalized scripting and separate call tracking &amp; reporting</a:t>
            </a:r>
          </a:p>
          <a:p>
            <a:pPr marL="285753" indent="-285753">
              <a:spcBef>
                <a:spcPts val="600"/>
              </a:spcBef>
              <a:buFont typeface="Wingdings" panose="05000000000000000000" pitchFamily="2" charset="2"/>
              <a:buChar char="§"/>
            </a:pPr>
            <a:r>
              <a:rPr lang="en-US" sz="2000" dirty="0">
                <a:solidFill>
                  <a:schemeClr val="bg1"/>
                </a:solidFill>
              </a:rPr>
              <a:t>Fully customizable member welcome booklet &amp; materials</a:t>
            </a:r>
          </a:p>
          <a:p>
            <a:pPr marL="285753" indent="-285753">
              <a:spcBef>
                <a:spcPts val="600"/>
              </a:spcBef>
              <a:buFont typeface="Wingdings" panose="05000000000000000000" pitchFamily="2" charset="2"/>
              <a:buChar char="§"/>
            </a:pPr>
            <a:r>
              <a:rPr lang="en-US" sz="2000" dirty="0">
                <a:solidFill>
                  <a:schemeClr val="bg1"/>
                </a:solidFill>
              </a:rPr>
              <a:t>White labeled formulary document and marketing materials</a:t>
            </a:r>
          </a:p>
        </p:txBody>
      </p:sp>
      <p:sp>
        <p:nvSpPr>
          <p:cNvPr id="9" name="Rectangle 8">
            <a:extLst>
              <a:ext uri="{FF2B5EF4-FFF2-40B4-BE49-F238E27FC236}">
                <a16:creationId xmlns:a16="http://schemas.microsoft.com/office/drawing/2014/main" id="{CA0477AD-A883-49D0-84C0-1846E555302E}"/>
              </a:ext>
            </a:extLst>
          </p:cNvPr>
          <p:cNvSpPr/>
          <p:nvPr/>
        </p:nvSpPr>
        <p:spPr>
          <a:xfrm>
            <a:off x="472441" y="3804933"/>
            <a:ext cx="5168707" cy="2139047"/>
          </a:xfrm>
          <a:prstGeom prst="rect">
            <a:avLst/>
          </a:prstGeom>
        </p:spPr>
        <p:txBody>
          <a:bodyPr wrap="square">
            <a:spAutoFit/>
          </a:bodyPr>
          <a:lstStyle/>
          <a:p>
            <a:pPr>
              <a:spcBef>
                <a:spcPts val="600"/>
              </a:spcBef>
              <a:spcAft>
                <a:spcPts val="600"/>
              </a:spcAft>
            </a:pPr>
            <a:r>
              <a:rPr lang="en-US" b="1" spc="150" dirty="0">
                <a:solidFill>
                  <a:srgbClr val="59CAE8"/>
                </a:solidFill>
              </a:rPr>
              <a:t>CUSTOM CLIENT SUPPORT</a:t>
            </a:r>
            <a:r>
              <a:rPr lang="en-US" b="1" spc="150" dirty="0">
                <a:solidFill>
                  <a:srgbClr val="0063A3"/>
                </a:solidFill>
              </a:rPr>
              <a:t>:</a:t>
            </a:r>
          </a:p>
          <a:p>
            <a:pPr marL="285753" indent="-285753">
              <a:spcBef>
                <a:spcPts val="600"/>
              </a:spcBef>
              <a:buFont typeface="Wingdings" panose="05000000000000000000" pitchFamily="2" charset="2"/>
              <a:buChar char="§"/>
            </a:pPr>
            <a:r>
              <a:rPr lang="en-US" dirty="0"/>
              <a:t>Specialized call center capabilities</a:t>
            </a:r>
          </a:p>
          <a:p>
            <a:pPr marL="285753" indent="-285753">
              <a:spcBef>
                <a:spcPts val="600"/>
              </a:spcBef>
              <a:buFont typeface="Wingdings" panose="05000000000000000000" pitchFamily="2" charset="2"/>
              <a:buChar char="§"/>
            </a:pPr>
            <a:r>
              <a:rPr lang="en-US" dirty="0"/>
              <a:t>Fully customizable plan designs</a:t>
            </a:r>
          </a:p>
          <a:p>
            <a:pPr marL="285753" indent="-285753">
              <a:spcBef>
                <a:spcPts val="600"/>
              </a:spcBef>
              <a:buFont typeface="Wingdings" panose="05000000000000000000" pitchFamily="2" charset="2"/>
              <a:buChar char="§"/>
            </a:pPr>
            <a:r>
              <a:rPr lang="en-US" dirty="0"/>
              <a:t>Operational access to the platform</a:t>
            </a:r>
          </a:p>
          <a:p>
            <a:pPr marL="285753" indent="-285753">
              <a:spcBef>
                <a:spcPts val="600"/>
              </a:spcBef>
              <a:buFont typeface="Wingdings" panose="05000000000000000000" pitchFamily="2" charset="2"/>
              <a:buChar char="§"/>
            </a:pPr>
            <a:r>
              <a:rPr lang="en-US" dirty="0"/>
              <a:t>Customized process and functions to promote DTE strategy</a:t>
            </a:r>
          </a:p>
        </p:txBody>
      </p:sp>
      <p:sp>
        <p:nvSpPr>
          <p:cNvPr id="10" name="Rectangle 9">
            <a:extLst>
              <a:ext uri="{FF2B5EF4-FFF2-40B4-BE49-F238E27FC236}">
                <a16:creationId xmlns:a16="http://schemas.microsoft.com/office/drawing/2014/main" id="{97E1BE5C-BB73-4F75-AB8A-06D533303EDE}"/>
              </a:ext>
            </a:extLst>
          </p:cNvPr>
          <p:cNvSpPr/>
          <p:nvPr/>
        </p:nvSpPr>
        <p:spPr>
          <a:xfrm>
            <a:off x="6163406" y="3781627"/>
            <a:ext cx="5739036" cy="2693045"/>
          </a:xfrm>
          <a:prstGeom prst="rect">
            <a:avLst/>
          </a:prstGeom>
        </p:spPr>
        <p:txBody>
          <a:bodyPr wrap="square">
            <a:spAutoFit/>
          </a:bodyPr>
          <a:lstStyle/>
          <a:p>
            <a:pPr>
              <a:spcBef>
                <a:spcPts val="600"/>
              </a:spcBef>
              <a:spcAft>
                <a:spcPts val="600"/>
              </a:spcAft>
            </a:pPr>
            <a:r>
              <a:rPr lang="en-US" b="1" spc="150" dirty="0">
                <a:solidFill>
                  <a:srgbClr val="59CAE8"/>
                </a:solidFill>
              </a:rPr>
              <a:t>CLINICAL FLEXIBILITY: </a:t>
            </a:r>
          </a:p>
          <a:p>
            <a:pPr>
              <a:spcBef>
                <a:spcPts val="600"/>
              </a:spcBef>
            </a:pPr>
            <a:r>
              <a:rPr lang="en-US" dirty="0"/>
              <a:t>Full portfolio of custom formulary offerings – with optimized formulary shield</a:t>
            </a:r>
          </a:p>
          <a:p>
            <a:pPr>
              <a:spcBef>
                <a:spcPts val="600"/>
              </a:spcBef>
            </a:pPr>
            <a:r>
              <a:rPr lang="en-US" dirty="0"/>
              <a:t>Clinical programs that drive towards overall DTE strategy</a:t>
            </a:r>
          </a:p>
          <a:p>
            <a:pPr>
              <a:spcBef>
                <a:spcPts val="600"/>
              </a:spcBef>
            </a:pPr>
            <a:r>
              <a:rPr lang="en-US" dirty="0"/>
              <a:t>Options for additional drug savings by driving members to lower cost alternatives</a:t>
            </a:r>
          </a:p>
          <a:p>
            <a:pPr>
              <a:spcBef>
                <a:spcPts val="600"/>
              </a:spcBef>
            </a:pPr>
            <a:r>
              <a:rPr lang="en-US" dirty="0"/>
              <a:t>Flexibility to customize or layer on utilization management programs</a:t>
            </a:r>
          </a:p>
        </p:txBody>
      </p:sp>
    </p:spTree>
    <p:extLst>
      <p:ext uri="{BB962C8B-B14F-4D97-AF65-F5344CB8AC3E}">
        <p14:creationId xmlns:p14="http://schemas.microsoft.com/office/powerpoint/2010/main" val="9027066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24FCE51A-FD08-4E39-82DE-62E323002D4D}"/>
              </a:ext>
            </a:extLst>
          </p:cNvPr>
          <p:cNvSpPr/>
          <p:nvPr/>
        </p:nvSpPr>
        <p:spPr>
          <a:xfrm>
            <a:off x="9748911" y="0"/>
            <a:ext cx="2443089" cy="6859722"/>
          </a:xfrm>
          <a:prstGeom prst="rect">
            <a:avLst/>
          </a:prstGeom>
          <a:solidFill>
            <a:srgbClr val="244F9A">
              <a:alpha val="9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00000"/>
              </a:lnSpc>
            </a:pPr>
            <a:r>
              <a:rPr lang="en-US" dirty="0"/>
              <a:t>Tokio Marine</a:t>
            </a:r>
          </a:p>
          <a:p>
            <a:pPr algn="ctr">
              <a:lnSpc>
                <a:spcPct val="200000"/>
              </a:lnSpc>
            </a:pPr>
            <a:r>
              <a:rPr lang="en-US" dirty="0"/>
              <a:t>Nationwide</a:t>
            </a:r>
          </a:p>
          <a:p>
            <a:pPr algn="ctr">
              <a:lnSpc>
                <a:spcPct val="200000"/>
              </a:lnSpc>
            </a:pPr>
            <a:r>
              <a:rPr lang="en-US" dirty="0"/>
              <a:t>Berkshire Hathaway</a:t>
            </a:r>
          </a:p>
          <a:p>
            <a:pPr algn="ctr">
              <a:lnSpc>
                <a:spcPct val="200000"/>
              </a:lnSpc>
            </a:pPr>
            <a:r>
              <a:rPr lang="en-US" dirty="0"/>
              <a:t>Sun Life</a:t>
            </a:r>
          </a:p>
          <a:p>
            <a:pPr algn="ctr">
              <a:lnSpc>
                <a:spcPct val="200000"/>
              </a:lnSpc>
            </a:pPr>
            <a:r>
              <a:rPr lang="en-US" dirty="0"/>
              <a:t>Liberty Mutual</a:t>
            </a:r>
          </a:p>
          <a:p>
            <a:pPr algn="ctr">
              <a:lnSpc>
                <a:spcPct val="200000"/>
              </a:lnSpc>
            </a:pPr>
            <a:r>
              <a:rPr lang="en-US" dirty="0"/>
              <a:t>Granular (Google)</a:t>
            </a:r>
          </a:p>
          <a:p>
            <a:pPr algn="ctr">
              <a:lnSpc>
                <a:spcPct val="200000"/>
              </a:lnSpc>
            </a:pPr>
            <a:r>
              <a:rPr lang="en-US" dirty="0"/>
              <a:t>Companion Life</a:t>
            </a:r>
          </a:p>
          <a:p>
            <a:pPr algn="ctr">
              <a:lnSpc>
                <a:spcPct val="200000"/>
              </a:lnSpc>
            </a:pPr>
            <a:r>
              <a:rPr lang="en-US" dirty="0"/>
              <a:t>Crum &amp; Forster</a:t>
            </a:r>
          </a:p>
          <a:p>
            <a:pPr algn="ctr">
              <a:lnSpc>
                <a:spcPct val="200000"/>
              </a:lnSpc>
            </a:pPr>
            <a:r>
              <a:rPr lang="en-US" dirty="0"/>
              <a:t>American Fidelity</a:t>
            </a:r>
          </a:p>
          <a:p>
            <a:pPr algn="ctr">
              <a:lnSpc>
                <a:spcPct val="200000"/>
              </a:lnSpc>
            </a:pPr>
            <a:r>
              <a:rPr lang="en-US" dirty="0"/>
              <a:t>RGA</a:t>
            </a:r>
          </a:p>
          <a:p>
            <a:pPr algn="ctr"/>
            <a:endParaRPr lang="en-US" dirty="0"/>
          </a:p>
        </p:txBody>
      </p:sp>
      <p:sp>
        <p:nvSpPr>
          <p:cNvPr id="3" name="Title 1">
            <a:extLst>
              <a:ext uri="{FF2B5EF4-FFF2-40B4-BE49-F238E27FC236}">
                <a16:creationId xmlns:a16="http://schemas.microsoft.com/office/drawing/2014/main" id="{FB174226-47B5-4659-83B1-FE9CD406E947}"/>
              </a:ext>
            </a:extLst>
          </p:cNvPr>
          <p:cNvSpPr>
            <a:spLocks noGrp="1"/>
          </p:cNvSpPr>
          <p:nvPr>
            <p:ph type="title"/>
          </p:nvPr>
        </p:nvSpPr>
        <p:spPr>
          <a:xfrm>
            <a:off x="683456" y="244670"/>
            <a:ext cx="8784101" cy="1095361"/>
          </a:xfrm>
        </p:spPr>
        <p:txBody>
          <a:bodyPr>
            <a:normAutofit/>
          </a:bodyPr>
          <a:lstStyle/>
          <a:p>
            <a:r>
              <a:rPr lang="en-US" sz="3200" spc="200" dirty="0">
                <a:solidFill>
                  <a:srgbClr val="59CAE8"/>
                </a:solidFill>
              </a:rPr>
              <a:t>STOP-LOSS INSURANCE</a:t>
            </a:r>
          </a:p>
        </p:txBody>
      </p:sp>
      <p:sp>
        <p:nvSpPr>
          <p:cNvPr id="4" name="Footer Placeholder 2">
            <a:extLst>
              <a:ext uri="{FF2B5EF4-FFF2-40B4-BE49-F238E27FC236}">
                <a16:creationId xmlns:a16="http://schemas.microsoft.com/office/drawing/2014/main" id="{A577469E-ACE0-4E96-83D4-09F32AADC3F2}"/>
              </a:ext>
            </a:extLst>
          </p:cNvPr>
          <p:cNvSpPr>
            <a:spLocks noGrp="1"/>
          </p:cNvSpPr>
          <p:nvPr>
            <p:ph type="ftr" sz="quarter" idx="11"/>
          </p:nvPr>
        </p:nvSpPr>
        <p:spPr>
          <a:xfrm>
            <a:off x="3018106" y="6430767"/>
            <a:ext cx="4114800" cy="365125"/>
          </a:xfrm>
        </p:spPr>
        <p:txBody>
          <a:bodyPr/>
          <a:lstStyle/>
          <a:p>
            <a:r>
              <a:rPr lang="en-US" dirty="0"/>
              <a:t>Key Benefit Administrators</a:t>
            </a:r>
          </a:p>
        </p:txBody>
      </p:sp>
      <p:sp>
        <p:nvSpPr>
          <p:cNvPr id="5" name="Slide Number Placeholder 3">
            <a:extLst>
              <a:ext uri="{FF2B5EF4-FFF2-40B4-BE49-F238E27FC236}">
                <a16:creationId xmlns:a16="http://schemas.microsoft.com/office/drawing/2014/main" id="{588E06CA-EBB4-47C7-805A-78F1EC93647B}"/>
              </a:ext>
            </a:extLst>
          </p:cNvPr>
          <p:cNvSpPr>
            <a:spLocks noGrp="1"/>
          </p:cNvSpPr>
          <p:nvPr>
            <p:ph type="sldNum" sz="quarter" idx="12"/>
          </p:nvPr>
        </p:nvSpPr>
        <p:spPr>
          <a:xfrm>
            <a:off x="9173894" y="6430766"/>
            <a:ext cx="2743200" cy="365125"/>
          </a:xfrm>
        </p:spPr>
        <p:txBody>
          <a:bodyPr/>
          <a:lstStyle/>
          <a:p>
            <a:fld id="{3AFC719D-C4A7-4544-876E-D411D11AF6C9}" type="slidenum">
              <a:rPr lang="en-US" smtClean="0"/>
              <a:t>20</a:t>
            </a:fld>
            <a:endParaRPr lang="en-US" dirty="0"/>
          </a:p>
        </p:txBody>
      </p:sp>
      <p:sp>
        <p:nvSpPr>
          <p:cNvPr id="6" name="TextBox 4">
            <a:extLst>
              <a:ext uri="{FF2B5EF4-FFF2-40B4-BE49-F238E27FC236}">
                <a16:creationId xmlns:a16="http://schemas.microsoft.com/office/drawing/2014/main" id="{2FF25A3A-C156-4EF4-AAF0-4C022A00A18A}"/>
              </a:ext>
            </a:extLst>
          </p:cNvPr>
          <p:cNvSpPr txBox="1"/>
          <p:nvPr/>
        </p:nvSpPr>
        <p:spPr>
          <a:xfrm>
            <a:off x="683456" y="1340031"/>
            <a:ext cx="8629357" cy="4632037"/>
          </a:xfrm>
          <a:prstGeom prst="rect">
            <a:avLst/>
          </a:prstGeom>
          <a:noFill/>
        </p:spPr>
        <p:txBody>
          <a:bodyPr wrap="square" rtlCol="0">
            <a:spAutoFit/>
          </a:bodyPr>
          <a:lstStyle/>
          <a:p>
            <a:pPr marL="285753" indent="-285753">
              <a:spcAft>
                <a:spcPts val="600"/>
              </a:spcAft>
              <a:buFont typeface="Wingdings" panose="05000000000000000000" pitchFamily="2" charset="2"/>
              <a:buChar char="§"/>
            </a:pPr>
            <a:r>
              <a:rPr lang="en-US" dirty="0"/>
              <a:t>KBA has over 20 stop-loss underwriters and carriers that we work with on core employer sponsored plans and DTE health plans;</a:t>
            </a:r>
          </a:p>
          <a:p>
            <a:pPr marL="285753" indent="-285753">
              <a:spcAft>
                <a:spcPts val="600"/>
              </a:spcAft>
              <a:buFont typeface="Wingdings" panose="05000000000000000000" pitchFamily="2" charset="2"/>
              <a:buChar char="§"/>
            </a:pPr>
            <a:r>
              <a:rPr lang="en-US" dirty="0"/>
              <a:t>KBA performs a comprehensive analysis of each stop-loss partner to approve them for our business;</a:t>
            </a:r>
          </a:p>
          <a:p>
            <a:pPr marL="285753" indent="-285753">
              <a:spcAft>
                <a:spcPts val="600"/>
              </a:spcAft>
              <a:buFont typeface="Wingdings" panose="05000000000000000000" pitchFamily="2" charset="2"/>
              <a:buChar char="§"/>
            </a:pPr>
            <a:r>
              <a:rPr lang="en-US" dirty="0"/>
              <a:t>KBA provides comprehensive pricing and medical service analysis for each DTE health plan to ensure proper pricing;</a:t>
            </a:r>
          </a:p>
          <a:p>
            <a:pPr marL="285753" indent="-285753">
              <a:spcAft>
                <a:spcPts val="600"/>
              </a:spcAft>
              <a:buFont typeface="Wingdings" panose="05000000000000000000" pitchFamily="2" charset="2"/>
              <a:buChar char="§"/>
            </a:pPr>
            <a:r>
              <a:rPr lang="en-US" dirty="0"/>
              <a:t>KBA is also evaluated by the stop-loss markets to be an approved claims payer for them;</a:t>
            </a:r>
          </a:p>
          <a:p>
            <a:pPr marL="285753" indent="-285753">
              <a:spcAft>
                <a:spcPts val="600"/>
              </a:spcAft>
              <a:buFont typeface="Wingdings" panose="05000000000000000000" pitchFamily="2" charset="2"/>
              <a:buChar char="§"/>
            </a:pPr>
            <a:r>
              <a:rPr lang="en-US" dirty="0"/>
              <a:t>KBA provides the administration required of the stop-loss markets:</a:t>
            </a:r>
          </a:p>
          <a:p>
            <a:pPr marL="742960" lvl="1" indent="-285753">
              <a:buFont typeface="Arial" panose="020B0604020202020204" pitchFamily="34" charset="0"/>
              <a:buChar char="•"/>
            </a:pPr>
            <a:r>
              <a:rPr lang="en-US" dirty="0"/>
              <a:t>Bordereau Reporting;</a:t>
            </a:r>
          </a:p>
          <a:p>
            <a:pPr marL="742960" lvl="1" indent="-285753">
              <a:buFont typeface="Arial" panose="020B0604020202020204" pitchFamily="34" charset="0"/>
              <a:buChar char="•"/>
            </a:pPr>
            <a:r>
              <a:rPr lang="en-US" dirty="0"/>
              <a:t>Claim Reporting and Reconciliation;</a:t>
            </a:r>
          </a:p>
          <a:p>
            <a:pPr marL="742960" lvl="1" indent="-285753">
              <a:buFont typeface="Arial" panose="020B0604020202020204" pitchFamily="34" charset="0"/>
              <a:buChar char="•"/>
            </a:pPr>
            <a:r>
              <a:rPr lang="en-US" dirty="0"/>
              <a:t>Evaluation of Networks;</a:t>
            </a:r>
          </a:p>
          <a:p>
            <a:pPr marL="742960" lvl="1" indent="-285753">
              <a:buFont typeface="Arial" panose="020B0604020202020204" pitchFamily="34" charset="0"/>
              <a:buChar char="•"/>
            </a:pPr>
            <a:r>
              <a:rPr lang="en-US" dirty="0"/>
              <a:t>Care Management;</a:t>
            </a:r>
          </a:p>
          <a:p>
            <a:pPr marL="742960" lvl="1" indent="-285753">
              <a:buFont typeface="Arial" panose="020B0604020202020204" pitchFamily="34" charset="0"/>
              <a:buChar char="•"/>
            </a:pPr>
            <a:r>
              <a:rPr lang="en-US" dirty="0"/>
              <a:t>Initial Underwriting; </a:t>
            </a:r>
          </a:p>
          <a:p>
            <a:pPr marL="742960" lvl="1" indent="-285753">
              <a:buFont typeface="Arial" panose="020B0604020202020204" pitchFamily="34" charset="0"/>
              <a:buChar char="•"/>
            </a:pPr>
            <a:r>
              <a:rPr lang="en-US" dirty="0"/>
              <a:t>Negotiation of rates and terms; and</a:t>
            </a:r>
          </a:p>
          <a:p>
            <a:pPr marL="742960" lvl="1" indent="-285753">
              <a:buFont typeface="Arial" panose="020B0604020202020204" pitchFamily="34" charset="0"/>
              <a:buChar char="•"/>
            </a:pPr>
            <a:r>
              <a:rPr lang="en-US" dirty="0"/>
              <a:t>Plan Design Actuarial</a:t>
            </a:r>
            <a:r>
              <a:rPr lang="en-US" b="1" dirty="0">
                <a:solidFill>
                  <a:srgbClr val="0070C0"/>
                </a:solidFill>
              </a:rPr>
              <a:t> </a:t>
            </a:r>
          </a:p>
        </p:txBody>
      </p:sp>
    </p:spTree>
    <p:extLst>
      <p:ext uri="{BB962C8B-B14F-4D97-AF65-F5344CB8AC3E}">
        <p14:creationId xmlns:p14="http://schemas.microsoft.com/office/powerpoint/2010/main" val="38048066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descr="7 Steps to Creating a Successful Sales Meeting">
            <a:extLst>
              <a:ext uri="{FF2B5EF4-FFF2-40B4-BE49-F238E27FC236}">
                <a16:creationId xmlns:a16="http://schemas.microsoft.com/office/drawing/2014/main" id="{429A0FED-F4B3-4E4D-82D7-8EADBA621831}"/>
              </a:ext>
            </a:extLst>
          </p:cNvPr>
          <p:cNvPicPr>
            <a:picLocks noChangeAspect="1" noChangeArrowheads="1"/>
          </p:cNvPicPr>
          <p:nvPr/>
        </p:nvPicPr>
        <p:blipFill rotWithShape="1">
          <a:blip r:embed="rId2" cstate="screen">
            <a:alphaModFix amt="85000"/>
            <a:extLst>
              <a:ext uri="{28A0092B-C50C-407E-A947-70E740481C1C}">
                <a14:useLocalDpi xmlns:a14="http://schemas.microsoft.com/office/drawing/2010/main"/>
              </a:ext>
            </a:extLst>
          </a:blip>
          <a:srcRect/>
          <a:stretch/>
        </p:blipFill>
        <p:spPr bwMode="auto">
          <a:xfrm>
            <a:off x="2819712" y="0"/>
            <a:ext cx="9372289" cy="6858000"/>
          </a:xfrm>
          <a:prstGeom prst="rect">
            <a:avLst/>
          </a:prstGeom>
          <a:solidFill>
            <a:srgbClr val="59CAE8"/>
          </a:solidFill>
        </p:spPr>
      </p:pic>
      <p:sp>
        <p:nvSpPr>
          <p:cNvPr id="3" name="Rectangle 4">
            <a:extLst>
              <a:ext uri="{FF2B5EF4-FFF2-40B4-BE49-F238E27FC236}">
                <a16:creationId xmlns:a16="http://schemas.microsoft.com/office/drawing/2014/main" id="{7BABB220-4ACE-4E11-A8BE-59C504FE2125}"/>
              </a:ext>
            </a:extLst>
          </p:cNvPr>
          <p:cNvSpPr/>
          <p:nvPr/>
        </p:nvSpPr>
        <p:spPr>
          <a:xfrm>
            <a:off x="0" y="2771775"/>
            <a:ext cx="6191250" cy="4086225"/>
          </a:xfrm>
          <a:prstGeom prst="rect">
            <a:avLst/>
          </a:prstGeom>
          <a:solidFill>
            <a:srgbClr val="59CAE8"/>
          </a:solidFill>
        </p:spPr>
        <p:txBody>
          <a:bodyPr vert="horz" lIns="91440" tIns="45720" rIns="91440" bIns="45720" rtlCol="0" anchor="t" anchorCtr="0">
            <a:noAutofit/>
          </a:bodyPr>
          <a:lstStyle/>
          <a:p>
            <a:pPr marL="347667" lvl="2" defTabSz="914411">
              <a:lnSpc>
                <a:spcPct val="90000"/>
              </a:lnSpc>
              <a:spcAft>
                <a:spcPts val="1200"/>
              </a:spcAft>
            </a:pPr>
            <a:endParaRPr lang="en-US" sz="1600" b="1" spc="150" dirty="0">
              <a:solidFill>
                <a:schemeClr val="bg1"/>
              </a:solidFill>
            </a:endParaRPr>
          </a:p>
          <a:p>
            <a:pPr marL="347667" lvl="2" defTabSz="914411">
              <a:lnSpc>
                <a:spcPct val="150000"/>
              </a:lnSpc>
              <a:spcAft>
                <a:spcPts val="1200"/>
              </a:spcAft>
            </a:pPr>
            <a:r>
              <a:rPr lang="en-US" sz="2000" b="1" spc="150" dirty="0">
                <a:solidFill>
                  <a:schemeClr val="bg1"/>
                </a:solidFill>
              </a:rPr>
              <a:t>KBA WORKS WITH YOU TO MANAGE &amp; SELL:</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Branding &amp; Messaging</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Direct &amp; Brokerage Sales Distribution – Focused Sales Representative</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Brochures, Web Site, Media, etc.</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Stop-Loss/Level Funded Down to 20 EE Lives</a:t>
            </a:r>
          </a:p>
          <a:p>
            <a:pPr marL="628658" lvl="1" indent="-285753" defTabSz="914411">
              <a:lnSpc>
                <a:spcPct val="90000"/>
              </a:lnSpc>
              <a:spcAft>
                <a:spcPts val="600"/>
              </a:spcAft>
              <a:buFont typeface="Wingdings" panose="05000000000000000000" pitchFamily="2" charset="2"/>
              <a:buChar char="§"/>
            </a:pPr>
            <a:r>
              <a:rPr lang="en-US" sz="2000" dirty="0">
                <a:solidFill>
                  <a:schemeClr val="bg1"/>
                </a:solidFill>
              </a:rPr>
              <a:t>Sell Through Established Brokers in Your Service Area</a:t>
            </a:r>
          </a:p>
        </p:txBody>
      </p:sp>
      <p:sp>
        <p:nvSpPr>
          <p:cNvPr id="4" name="Title 1">
            <a:extLst>
              <a:ext uri="{FF2B5EF4-FFF2-40B4-BE49-F238E27FC236}">
                <a16:creationId xmlns:a16="http://schemas.microsoft.com/office/drawing/2014/main" id="{EE4CC181-8C0A-4FE1-B12F-4C934443F672}"/>
              </a:ext>
            </a:extLst>
          </p:cNvPr>
          <p:cNvSpPr>
            <a:spLocks noGrp="1"/>
          </p:cNvSpPr>
          <p:nvPr>
            <p:ph type="title"/>
          </p:nvPr>
        </p:nvSpPr>
        <p:spPr>
          <a:xfrm>
            <a:off x="348205" y="483394"/>
            <a:ext cx="2580190" cy="1928812"/>
          </a:xfrm>
        </p:spPr>
        <p:txBody>
          <a:bodyPr>
            <a:normAutofit/>
          </a:bodyPr>
          <a:lstStyle/>
          <a:p>
            <a:r>
              <a:rPr lang="en-US" sz="2400" dirty="0">
                <a:solidFill>
                  <a:srgbClr val="244F9A"/>
                </a:solidFill>
              </a:rPr>
              <a:t>DTE </a:t>
            </a:r>
            <a:br>
              <a:rPr lang="en-US" sz="2400" dirty="0">
                <a:solidFill>
                  <a:srgbClr val="244F9A"/>
                </a:solidFill>
              </a:rPr>
            </a:br>
            <a:r>
              <a:rPr lang="en-US" sz="2400" dirty="0">
                <a:solidFill>
                  <a:srgbClr val="244F9A"/>
                </a:solidFill>
              </a:rPr>
              <a:t>PROGRAM MARKETING </a:t>
            </a:r>
            <a:br>
              <a:rPr lang="en-US" sz="2400" dirty="0">
                <a:solidFill>
                  <a:srgbClr val="244F9A"/>
                </a:solidFill>
              </a:rPr>
            </a:br>
            <a:r>
              <a:rPr lang="en-US" sz="2400" dirty="0">
                <a:solidFill>
                  <a:srgbClr val="244F9A"/>
                </a:solidFill>
              </a:rPr>
              <a:t>&amp; SALES</a:t>
            </a:r>
          </a:p>
        </p:txBody>
      </p:sp>
      <p:sp>
        <p:nvSpPr>
          <p:cNvPr id="5" name="Footer Placeholder 2">
            <a:extLst>
              <a:ext uri="{FF2B5EF4-FFF2-40B4-BE49-F238E27FC236}">
                <a16:creationId xmlns:a16="http://schemas.microsoft.com/office/drawing/2014/main" id="{AE6A2D3A-1C06-4981-9D70-783E212194C1}"/>
              </a:ext>
            </a:extLst>
          </p:cNvPr>
          <p:cNvSpPr>
            <a:spLocks noGrp="1"/>
          </p:cNvSpPr>
          <p:nvPr>
            <p:ph type="ftr" sz="quarter" idx="11"/>
          </p:nvPr>
        </p:nvSpPr>
        <p:spPr>
          <a:xfrm>
            <a:off x="1038225" y="6374606"/>
            <a:ext cx="4114800" cy="365125"/>
          </a:xfrm>
        </p:spPr>
        <p:txBody>
          <a:bodyPr/>
          <a:lstStyle/>
          <a:p>
            <a:r>
              <a:rPr lang="en-US" dirty="0">
                <a:solidFill>
                  <a:schemeClr val="tx1"/>
                </a:solidFill>
              </a:rPr>
              <a:t>Key Benefit Administrators</a:t>
            </a:r>
          </a:p>
        </p:txBody>
      </p:sp>
      <p:sp>
        <p:nvSpPr>
          <p:cNvPr id="6" name="Slide Number Placeholder 3">
            <a:extLst>
              <a:ext uri="{FF2B5EF4-FFF2-40B4-BE49-F238E27FC236}">
                <a16:creationId xmlns:a16="http://schemas.microsoft.com/office/drawing/2014/main" id="{432D94ED-38DB-4C84-A193-F82ECDE09C64}"/>
              </a:ext>
            </a:extLst>
          </p:cNvPr>
          <p:cNvSpPr>
            <a:spLocks noGrp="1"/>
          </p:cNvSpPr>
          <p:nvPr>
            <p:ph type="sldNum" sz="quarter" idx="12"/>
          </p:nvPr>
        </p:nvSpPr>
        <p:spPr>
          <a:xfrm>
            <a:off x="8963336" y="6374605"/>
            <a:ext cx="2743200" cy="365125"/>
          </a:xfrm>
        </p:spPr>
        <p:txBody>
          <a:bodyPr/>
          <a:lstStyle/>
          <a:p>
            <a:fld id="{3AFC719D-C4A7-4544-876E-D411D11AF6C9}" type="slidenum">
              <a:rPr lang="en-US" smtClean="0"/>
              <a:t>21</a:t>
            </a:fld>
            <a:endParaRPr lang="en-US" dirty="0"/>
          </a:p>
        </p:txBody>
      </p:sp>
    </p:spTree>
    <p:extLst>
      <p:ext uri="{BB962C8B-B14F-4D97-AF65-F5344CB8AC3E}">
        <p14:creationId xmlns:p14="http://schemas.microsoft.com/office/powerpoint/2010/main" val="26801220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descr="7 Steps to Creating a Successful Sales Meeting">
            <a:extLst>
              <a:ext uri="{FF2B5EF4-FFF2-40B4-BE49-F238E27FC236}">
                <a16:creationId xmlns:a16="http://schemas.microsoft.com/office/drawing/2014/main" id="{5B70C6AA-61AD-4DD0-B983-F52567B64AFF}"/>
              </a:ext>
            </a:extLst>
          </p:cNvPr>
          <p:cNvPicPr>
            <a:picLocks noChangeAspect="1" noChangeArrowheads="1"/>
          </p:cNvPicPr>
          <p:nvPr/>
        </p:nvPicPr>
        <p:blipFill rotWithShape="1">
          <a:blip r:embed="rId2" cstate="screen">
            <a:duotone>
              <a:schemeClr val="bg2">
                <a:shade val="45000"/>
                <a:satMod val="135000"/>
              </a:schemeClr>
              <a:prstClr val="white"/>
            </a:duotone>
            <a:alphaModFix amt="35000"/>
            <a:extLst>
              <a:ext uri="{28A0092B-C50C-407E-A947-70E740481C1C}">
                <a14:useLocalDpi xmlns:a14="http://schemas.microsoft.com/office/drawing/2010/main"/>
              </a:ext>
            </a:extLst>
          </a:blip>
          <a:src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E3AEE789-2E94-43A2-BF20-56F3182F3E86}"/>
              </a:ext>
            </a:extLst>
          </p:cNvPr>
          <p:cNvSpPr>
            <a:spLocks noGrp="1"/>
          </p:cNvSpPr>
          <p:nvPr>
            <p:ph type="title"/>
          </p:nvPr>
        </p:nvSpPr>
        <p:spPr>
          <a:xfrm>
            <a:off x="1691038" y="626557"/>
            <a:ext cx="8809923" cy="938167"/>
          </a:xfrm>
          <a:noFill/>
          <a:ln>
            <a:noFill/>
          </a:ln>
        </p:spPr>
        <p:txBody>
          <a:bodyPr>
            <a:noAutofit/>
          </a:bodyPr>
          <a:lstStyle/>
          <a:p>
            <a:r>
              <a:rPr lang="en-US" sz="2800" cap="all" dirty="0">
                <a:solidFill>
                  <a:srgbClr val="244F9A"/>
                </a:solidFill>
              </a:rPr>
              <a:t>Complete Sales Distribution System</a:t>
            </a:r>
          </a:p>
        </p:txBody>
      </p:sp>
      <p:graphicFrame>
        <p:nvGraphicFramePr>
          <p:cNvPr id="4" name="Diagram 6">
            <a:extLst>
              <a:ext uri="{FF2B5EF4-FFF2-40B4-BE49-F238E27FC236}">
                <a16:creationId xmlns:a16="http://schemas.microsoft.com/office/drawing/2014/main" id="{9538C73A-9FA7-458F-A114-0449E816E242}"/>
              </a:ext>
            </a:extLst>
          </p:cNvPr>
          <p:cNvGraphicFramePr/>
          <p:nvPr>
            <p:extLst>
              <p:ext uri="{D42A27DB-BD31-4B8C-83A1-F6EECF244321}">
                <p14:modId xmlns:p14="http://schemas.microsoft.com/office/powerpoint/2010/main" val="1186276558"/>
              </p:ext>
            </p:extLst>
          </p:nvPr>
        </p:nvGraphicFramePr>
        <p:xfrm>
          <a:off x="738414" y="1667230"/>
          <a:ext cx="10715172" cy="50235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Slide Number Placeholder 3">
            <a:extLst>
              <a:ext uri="{FF2B5EF4-FFF2-40B4-BE49-F238E27FC236}">
                <a16:creationId xmlns:a16="http://schemas.microsoft.com/office/drawing/2014/main" id="{26AD7A8A-66DD-4BA6-A8DA-CC8BB638DACA}"/>
              </a:ext>
            </a:extLst>
          </p:cNvPr>
          <p:cNvSpPr>
            <a:spLocks noGrp="1"/>
          </p:cNvSpPr>
          <p:nvPr>
            <p:ph type="sldNum" sz="quarter" idx="12"/>
          </p:nvPr>
        </p:nvSpPr>
        <p:spPr>
          <a:xfrm>
            <a:off x="11353800" y="6428186"/>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22</a:t>
            </a:fld>
            <a:endParaRPr lang="en-US" sz="1100" dirty="0">
              <a:solidFill>
                <a:schemeClr val="tx1">
                  <a:lumMod val="50000"/>
                  <a:lumOff val="50000"/>
                </a:schemeClr>
              </a:solidFill>
            </a:endParaRPr>
          </a:p>
        </p:txBody>
      </p:sp>
      <p:sp>
        <p:nvSpPr>
          <p:cNvPr id="6" name="Footer Placeholder 1">
            <a:extLst>
              <a:ext uri="{FF2B5EF4-FFF2-40B4-BE49-F238E27FC236}">
                <a16:creationId xmlns:a16="http://schemas.microsoft.com/office/drawing/2014/main" id="{73EB584F-B688-4D65-AC70-27857B058937}"/>
              </a:ext>
            </a:extLst>
          </p:cNvPr>
          <p:cNvSpPr>
            <a:spLocks noGrp="1"/>
          </p:cNvSpPr>
          <p:nvPr>
            <p:ph type="ftr" sz="quarter" idx="11"/>
          </p:nvPr>
        </p:nvSpPr>
        <p:spPr/>
        <p:txBody>
          <a:bodyPr/>
          <a:lstStyle/>
          <a:p>
            <a:r>
              <a:rPr lang="en-US" dirty="0"/>
              <a:t>Key Benefit Administrators</a:t>
            </a:r>
          </a:p>
        </p:txBody>
      </p:sp>
      <p:sp>
        <p:nvSpPr>
          <p:cNvPr id="7" name="TextBox 3">
            <a:extLst>
              <a:ext uri="{FF2B5EF4-FFF2-40B4-BE49-F238E27FC236}">
                <a16:creationId xmlns:a16="http://schemas.microsoft.com/office/drawing/2014/main" id="{812A6EF0-F485-2EBB-BDEB-7A43025A5A29}"/>
              </a:ext>
            </a:extLst>
          </p:cNvPr>
          <p:cNvSpPr txBox="1"/>
          <p:nvPr/>
        </p:nvSpPr>
        <p:spPr>
          <a:xfrm>
            <a:off x="856622" y="2494128"/>
            <a:ext cx="2811026" cy="1515800"/>
          </a:xfrm>
          <a:prstGeom prst="rect">
            <a:avLst/>
          </a:prstGeom>
          <a:noFill/>
        </p:spPr>
        <p:txBody>
          <a:bodyPr wrap="square">
            <a:spAutoFit/>
          </a:bodyPr>
          <a:lstStyle/>
          <a:p>
            <a:pPr marL="285750" lvl="0" indent="-285750">
              <a:lnSpc>
                <a:spcPct val="100000"/>
              </a:lnSpc>
              <a:spcAft>
                <a:spcPts val="300"/>
              </a:spcAft>
              <a:buFont typeface="Arial" panose="020B0604020202020204" pitchFamily="34" charset="0"/>
              <a:buChar char="•"/>
            </a:pPr>
            <a:r>
              <a:rPr lang="en-US" sz="1700" b="0" dirty="0"/>
              <a:t>Identification of Key Distribution Agents</a:t>
            </a:r>
          </a:p>
          <a:p>
            <a:pPr marL="285750" lvl="0" indent="-285750">
              <a:lnSpc>
                <a:spcPct val="100000"/>
              </a:lnSpc>
              <a:spcAft>
                <a:spcPts val="300"/>
              </a:spcAft>
              <a:buFont typeface="Arial" panose="020B0604020202020204" pitchFamily="34" charset="0"/>
              <a:buChar char="•"/>
            </a:pPr>
            <a:r>
              <a:rPr lang="en-US" sz="1700" b="0" dirty="0"/>
              <a:t>Training and Development</a:t>
            </a:r>
          </a:p>
          <a:p>
            <a:pPr marL="285750" lvl="0" indent="-285750">
              <a:lnSpc>
                <a:spcPct val="100000"/>
              </a:lnSpc>
              <a:spcAft>
                <a:spcPts val="300"/>
              </a:spcAft>
              <a:buFont typeface="Arial" panose="020B0604020202020204" pitchFamily="34" charset="0"/>
              <a:buChar char="•"/>
            </a:pPr>
            <a:r>
              <a:rPr lang="en-US" sz="1700" b="0" dirty="0"/>
              <a:t>Quote Evaluation</a:t>
            </a:r>
          </a:p>
          <a:p>
            <a:pPr marL="285750" lvl="0" indent="-285750">
              <a:lnSpc>
                <a:spcPct val="100000"/>
              </a:lnSpc>
              <a:spcAft>
                <a:spcPts val="300"/>
              </a:spcAft>
              <a:buFont typeface="Arial" panose="020B0604020202020204" pitchFamily="34" charset="0"/>
              <a:buChar char="•"/>
            </a:pPr>
            <a:r>
              <a:rPr lang="en-US" sz="1700" b="0" dirty="0"/>
              <a:t>Compensation</a:t>
            </a:r>
          </a:p>
        </p:txBody>
      </p:sp>
      <p:sp>
        <p:nvSpPr>
          <p:cNvPr id="8" name="TextBox 9">
            <a:extLst>
              <a:ext uri="{FF2B5EF4-FFF2-40B4-BE49-F238E27FC236}">
                <a16:creationId xmlns:a16="http://schemas.microsoft.com/office/drawing/2014/main" id="{537397C7-FB49-032A-7017-50CDF43FA202}"/>
              </a:ext>
            </a:extLst>
          </p:cNvPr>
          <p:cNvSpPr txBox="1"/>
          <p:nvPr/>
        </p:nvSpPr>
        <p:spPr>
          <a:xfrm>
            <a:off x="4499567" y="2525884"/>
            <a:ext cx="2885971" cy="2077492"/>
          </a:xfrm>
          <a:prstGeom prst="rect">
            <a:avLst/>
          </a:prstGeom>
          <a:noFill/>
        </p:spPr>
        <p:txBody>
          <a:bodyPr wrap="square">
            <a:spAutoFit/>
          </a:bodyPr>
          <a:lstStyle/>
          <a:p>
            <a:pPr marL="285750" lvl="0" indent="-285750">
              <a:lnSpc>
                <a:spcPct val="100000"/>
              </a:lnSpc>
              <a:spcAft>
                <a:spcPts val="300"/>
              </a:spcAft>
              <a:buFont typeface="Arial" panose="020B0604020202020204" pitchFamily="34" charset="0"/>
              <a:buChar char="•"/>
            </a:pPr>
            <a:r>
              <a:rPr lang="en-US" sz="1700" b="0" dirty="0"/>
              <a:t>Identification of Key Targets</a:t>
            </a:r>
          </a:p>
          <a:p>
            <a:pPr marL="285750" lvl="0" indent="-285750">
              <a:lnSpc>
                <a:spcPct val="100000"/>
              </a:lnSpc>
              <a:spcAft>
                <a:spcPts val="300"/>
              </a:spcAft>
              <a:buFont typeface="Arial" panose="020B0604020202020204" pitchFamily="34" charset="0"/>
              <a:buChar char="•"/>
            </a:pPr>
            <a:r>
              <a:rPr lang="en-US" sz="1700" b="0" dirty="0">
                <a:solidFill/>
              </a:rPr>
              <a:t>Working with Cleveland Clinic to Engage Specific Employers</a:t>
            </a:r>
          </a:p>
          <a:p>
            <a:pPr marL="285750" lvl="0" indent="-285750">
              <a:lnSpc>
                <a:spcPct val="100000"/>
              </a:lnSpc>
              <a:spcAft>
                <a:spcPts val="300"/>
              </a:spcAft>
              <a:buFont typeface="Arial" panose="020B0604020202020204" pitchFamily="34" charset="0"/>
              <a:buChar char="•"/>
            </a:pPr>
            <a:r>
              <a:rPr lang="en-US" sz="1700" b="0" dirty="0"/>
              <a:t>Meet and Greet</a:t>
            </a:r>
          </a:p>
          <a:p>
            <a:pPr marL="285750" lvl="0" indent="-285750">
              <a:lnSpc>
                <a:spcPct val="100000"/>
              </a:lnSpc>
              <a:spcAft>
                <a:spcPts val="300"/>
              </a:spcAft>
              <a:buFont typeface="Arial" panose="020B0604020202020204" pitchFamily="34" charset="0"/>
              <a:buChar char="•"/>
            </a:pPr>
            <a:r>
              <a:rPr lang="en-US" sz="1700" b="0" dirty="0"/>
              <a:t>Sales Process</a:t>
            </a:r>
          </a:p>
          <a:p>
            <a:pPr marL="285750" lvl="0" indent="-285750">
              <a:lnSpc>
                <a:spcPct val="100000"/>
              </a:lnSpc>
              <a:spcAft>
                <a:spcPts val="300"/>
              </a:spcAft>
              <a:buFont typeface="Arial" panose="020B0604020202020204" pitchFamily="34" charset="0"/>
              <a:buChar char="•"/>
            </a:pPr>
            <a:r>
              <a:rPr lang="en-US" sz="1700" b="0" dirty="0"/>
              <a:t>Closing</a:t>
            </a:r>
          </a:p>
        </p:txBody>
      </p:sp>
      <p:sp>
        <p:nvSpPr>
          <p:cNvPr id="9" name="TextBox 11">
            <a:extLst>
              <a:ext uri="{FF2B5EF4-FFF2-40B4-BE49-F238E27FC236}">
                <a16:creationId xmlns:a16="http://schemas.microsoft.com/office/drawing/2014/main" id="{32AE8163-8376-4B77-CD83-691410ECD2AE}"/>
              </a:ext>
            </a:extLst>
          </p:cNvPr>
          <p:cNvSpPr txBox="1"/>
          <p:nvPr/>
        </p:nvSpPr>
        <p:spPr>
          <a:xfrm>
            <a:off x="8217457" y="2525884"/>
            <a:ext cx="2690445" cy="1554272"/>
          </a:xfrm>
          <a:prstGeom prst="rect">
            <a:avLst/>
          </a:prstGeom>
          <a:noFill/>
        </p:spPr>
        <p:txBody>
          <a:bodyPr wrap="square">
            <a:spAutoFit/>
          </a:bodyPr>
          <a:lstStyle/>
          <a:p>
            <a:pPr marL="285750" lvl="0" indent="-285750">
              <a:lnSpc>
                <a:spcPct val="100000"/>
              </a:lnSpc>
              <a:spcAft>
                <a:spcPts val="300"/>
              </a:spcAft>
              <a:buFont typeface="Arial" panose="020B0604020202020204" pitchFamily="34" charset="0"/>
              <a:buChar char="•"/>
            </a:pPr>
            <a:r>
              <a:rPr lang="en-US" sz="1700" b="0" dirty="0"/>
              <a:t>Quote System</a:t>
            </a:r>
          </a:p>
          <a:p>
            <a:pPr marL="285750" lvl="0" indent="-285750">
              <a:lnSpc>
                <a:spcPct val="100000"/>
              </a:lnSpc>
              <a:spcAft>
                <a:spcPts val="300"/>
              </a:spcAft>
              <a:buFont typeface="Arial" panose="020B0604020202020204" pitchFamily="34" charset="0"/>
              <a:buChar char="•"/>
            </a:pPr>
            <a:r>
              <a:rPr lang="en-US" sz="1700" b="0" dirty="0"/>
              <a:t>Proposal Development</a:t>
            </a:r>
          </a:p>
          <a:p>
            <a:pPr marL="285750" lvl="0" indent="-285750">
              <a:lnSpc>
                <a:spcPct val="100000"/>
              </a:lnSpc>
              <a:spcAft>
                <a:spcPts val="300"/>
              </a:spcAft>
              <a:buFont typeface="Arial" panose="020B0604020202020204" pitchFamily="34" charset="0"/>
              <a:buChar char="•"/>
            </a:pPr>
            <a:r>
              <a:rPr lang="en-US" sz="1700" b="0" dirty="0"/>
              <a:t>Stop Loss Negotiations</a:t>
            </a:r>
          </a:p>
          <a:p>
            <a:pPr marL="285750" lvl="0" indent="-285750">
              <a:lnSpc>
                <a:spcPct val="100000"/>
              </a:lnSpc>
              <a:spcAft>
                <a:spcPts val="300"/>
              </a:spcAft>
              <a:buFont typeface="Arial" panose="020B0604020202020204" pitchFamily="34" charset="0"/>
              <a:buChar char="•"/>
            </a:pPr>
            <a:r>
              <a:rPr lang="en-US" sz="1700" b="0" dirty="0"/>
              <a:t>Reporting &amp; Analysis</a:t>
            </a:r>
          </a:p>
          <a:p>
            <a:pPr marL="342900" lvl="0" indent="-342900">
              <a:lnSpc>
                <a:spcPct val="100000"/>
              </a:lnSpc>
              <a:spcAft>
                <a:spcPts val="300"/>
              </a:spcAft>
              <a:buFont typeface="Arial" panose="020B0604020202020204" pitchFamily="34" charset="0"/>
              <a:buChar char="•"/>
            </a:pPr>
            <a:endParaRPr lang="en-US" sz="1700" b="0" dirty="0"/>
          </a:p>
        </p:txBody>
      </p:sp>
    </p:spTree>
    <p:extLst>
      <p:ext uri="{BB962C8B-B14F-4D97-AF65-F5344CB8AC3E}">
        <p14:creationId xmlns:p14="http://schemas.microsoft.com/office/powerpoint/2010/main" val="6193244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2" name="Picture 3">
            <a:extLst>
              <a:ext uri="{FF2B5EF4-FFF2-40B4-BE49-F238E27FC236}">
                <a16:creationId xmlns:a16="http://schemas.microsoft.com/office/drawing/2014/main" id="{AEF7E883-34E5-46DB-B50C-C63CA63E190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332682" y="174481"/>
            <a:ext cx="5529323" cy="3080297"/>
          </a:xfrm>
          <a:prstGeom prst="rect">
            <a:avLst/>
          </a:prstGeom>
        </p:spPr>
      </p:pic>
      <p:sp>
        <p:nvSpPr>
          <p:cNvPr id="3" name="Rectangle: Single Corner Rounded 2">
            <a:extLst>
              <a:ext uri="{FF2B5EF4-FFF2-40B4-BE49-F238E27FC236}">
                <a16:creationId xmlns:a16="http://schemas.microsoft.com/office/drawing/2014/main" id="{0E0827A4-8831-4F72-BCCA-ED2FC12E6729}"/>
              </a:ext>
            </a:extLst>
          </p:cNvPr>
          <p:cNvSpPr/>
          <p:nvPr/>
        </p:nvSpPr>
        <p:spPr>
          <a:xfrm flipV="1">
            <a:off x="-12708" y="-1"/>
            <a:ext cx="6201467" cy="2586748"/>
          </a:xfrm>
          <a:prstGeom prst="round1Rect">
            <a:avLst>
              <a:gd name="adj" fmla="val 14176"/>
            </a:avLst>
          </a:prstGeom>
          <a:solidFill>
            <a:srgbClr val="59CAE8">
              <a:alpha val="94000"/>
            </a:srgbClr>
          </a:solidFill>
          <a:ln>
            <a:solidFill>
              <a:srgbClr val="59CAE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E25BDB08-48BA-4014-94E1-0CA6432F65F9}"/>
              </a:ext>
            </a:extLst>
          </p:cNvPr>
          <p:cNvSpPr>
            <a:spLocks noGrp="1"/>
          </p:cNvSpPr>
          <p:nvPr>
            <p:ph type="title"/>
          </p:nvPr>
        </p:nvSpPr>
        <p:spPr>
          <a:xfrm>
            <a:off x="297320" y="174481"/>
            <a:ext cx="6597641" cy="580655"/>
          </a:xfrm>
          <a:noFill/>
        </p:spPr>
        <p:txBody>
          <a:bodyPr>
            <a:normAutofit/>
          </a:bodyPr>
          <a:lstStyle/>
          <a:p>
            <a:r>
              <a:rPr lang="en-US" sz="2400" cap="all" dirty="0">
                <a:solidFill>
                  <a:schemeClr val="bg1"/>
                </a:solidFill>
              </a:rPr>
              <a:t>Complete Marketing System</a:t>
            </a:r>
          </a:p>
        </p:txBody>
      </p:sp>
      <p:sp>
        <p:nvSpPr>
          <p:cNvPr id="5" name="TextBox 9">
            <a:extLst>
              <a:ext uri="{FF2B5EF4-FFF2-40B4-BE49-F238E27FC236}">
                <a16:creationId xmlns:a16="http://schemas.microsoft.com/office/drawing/2014/main" id="{ED71BB9D-3705-447C-AA44-226373980B76}"/>
              </a:ext>
            </a:extLst>
          </p:cNvPr>
          <p:cNvSpPr txBox="1"/>
          <p:nvPr/>
        </p:nvSpPr>
        <p:spPr>
          <a:xfrm>
            <a:off x="296181" y="755136"/>
            <a:ext cx="5799819" cy="1631216"/>
          </a:xfrm>
          <a:prstGeom prst="rect">
            <a:avLst/>
          </a:prstGeom>
          <a:noFill/>
        </p:spPr>
        <p:txBody>
          <a:bodyPr wrap="square" rtlCol="0">
            <a:spAutoFit/>
          </a:bodyPr>
          <a:lstStyle/>
          <a:p>
            <a:pPr marL="342905" indent="-342905">
              <a:spcAft>
                <a:spcPts val="600"/>
              </a:spcAft>
              <a:buFont typeface="Wingdings" panose="05000000000000000000" pitchFamily="2" charset="2"/>
              <a:buChar char="§"/>
            </a:pPr>
            <a:r>
              <a:rPr lang="en-US" sz="1600" dirty="0">
                <a:solidFill>
                  <a:schemeClr val="bg1"/>
                </a:solidFill>
              </a:rPr>
              <a:t>Customized Branding and Messaging</a:t>
            </a:r>
          </a:p>
          <a:p>
            <a:pPr marL="342905" indent="-342905">
              <a:spcAft>
                <a:spcPts val="600"/>
              </a:spcAft>
              <a:buFont typeface="Wingdings" panose="05000000000000000000" pitchFamily="2" charset="2"/>
              <a:buChar char="§"/>
            </a:pPr>
            <a:r>
              <a:rPr lang="en-US" sz="1600" dirty="0">
                <a:solidFill>
                  <a:schemeClr val="bg1"/>
                </a:solidFill>
              </a:rPr>
              <a:t>Customized Brochures</a:t>
            </a:r>
          </a:p>
          <a:p>
            <a:pPr marL="342905" indent="-342905">
              <a:spcAft>
                <a:spcPts val="600"/>
              </a:spcAft>
              <a:buFont typeface="Wingdings" panose="05000000000000000000" pitchFamily="2" charset="2"/>
              <a:buChar char="§"/>
            </a:pPr>
            <a:r>
              <a:rPr lang="en-US" sz="1600" dirty="0">
                <a:solidFill>
                  <a:schemeClr val="bg1"/>
                </a:solidFill>
              </a:rPr>
              <a:t>Customized Web Site</a:t>
            </a:r>
          </a:p>
          <a:p>
            <a:pPr marL="342905" indent="-342905">
              <a:spcAft>
                <a:spcPts val="600"/>
              </a:spcAft>
              <a:buFont typeface="Wingdings" panose="05000000000000000000" pitchFamily="2" charset="2"/>
              <a:buChar char="§"/>
            </a:pPr>
            <a:r>
              <a:rPr lang="en-US" sz="1600" dirty="0">
                <a:solidFill>
                  <a:schemeClr val="bg1"/>
                </a:solidFill>
              </a:rPr>
              <a:t>Targeted Employer Outreach</a:t>
            </a:r>
          </a:p>
          <a:p>
            <a:pPr marL="342905" indent="-342905">
              <a:spcAft>
                <a:spcPts val="600"/>
              </a:spcAft>
              <a:buFont typeface="Wingdings" panose="05000000000000000000" pitchFamily="2" charset="2"/>
              <a:buChar char="§"/>
            </a:pPr>
            <a:r>
              <a:rPr lang="en-US" sz="1600" dirty="0">
                <a:solidFill>
                  <a:schemeClr val="bg1"/>
                </a:solidFill>
              </a:rPr>
              <a:t>Sales System (Social Media, Email, Text, etc.)</a:t>
            </a:r>
          </a:p>
        </p:txBody>
      </p:sp>
      <p:pic>
        <p:nvPicPr>
          <p:cNvPr id="6" name="Picture 10">
            <a:extLst>
              <a:ext uri="{FF2B5EF4-FFF2-40B4-BE49-F238E27FC236}">
                <a16:creationId xmlns:a16="http://schemas.microsoft.com/office/drawing/2014/main" id="{611A4305-92DF-45EF-9B03-0DB9043431A7}"/>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36485" y="2995528"/>
            <a:ext cx="2223274" cy="2808514"/>
          </a:xfrm>
          <a:prstGeom prst="rect">
            <a:avLst/>
          </a:prstGeom>
          <a:ln>
            <a:noFill/>
          </a:ln>
          <a:effectLst>
            <a:outerShdw blurRad="292100" dist="139700" dir="2700000" algn="tl" rotWithShape="0">
              <a:srgbClr val="333333">
                <a:alpha val="65000"/>
              </a:srgbClr>
            </a:outerShdw>
          </a:effectLst>
        </p:spPr>
      </p:pic>
      <p:pic>
        <p:nvPicPr>
          <p:cNvPr id="7" name="Picture 11">
            <a:extLst>
              <a:ext uri="{FF2B5EF4-FFF2-40B4-BE49-F238E27FC236}">
                <a16:creationId xmlns:a16="http://schemas.microsoft.com/office/drawing/2014/main" id="{FED11506-66B0-49FB-A0EF-209B8223184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98496" y="2995528"/>
            <a:ext cx="2233972" cy="2808514"/>
          </a:xfrm>
          <a:prstGeom prst="rect">
            <a:avLst/>
          </a:prstGeom>
          <a:ln>
            <a:noFill/>
          </a:ln>
          <a:effectLst>
            <a:outerShdw blurRad="292100" dist="139700" dir="2700000" algn="tl" rotWithShape="0">
              <a:srgbClr val="333333">
                <a:alpha val="65000"/>
              </a:srgbClr>
            </a:outerShdw>
          </a:effectLst>
        </p:spPr>
      </p:pic>
      <p:pic>
        <p:nvPicPr>
          <p:cNvPr id="8" name="Picture 12">
            <a:extLst>
              <a:ext uri="{FF2B5EF4-FFF2-40B4-BE49-F238E27FC236}">
                <a16:creationId xmlns:a16="http://schemas.microsoft.com/office/drawing/2014/main" id="{71A4353A-F77C-46E5-A059-7B4875A5C5EA}"/>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271205" y="2995528"/>
            <a:ext cx="2316270" cy="2847494"/>
          </a:xfrm>
          <a:prstGeom prst="rect">
            <a:avLst/>
          </a:prstGeom>
          <a:ln>
            <a:noFill/>
          </a:ln>
          <a:effectLst>
            <a:outerShdw blurRad="292100" dist="139700" dir="2700000" algn="tl" rotWithShape="0">
              <a:srgbClr val="333333">
                <a:alpha val="65000"/>
              </a:srgbClr>
            </a:outerShdw>
          </a:effectLst>
        </p:spPr>
      </p:pic>
      <p:pic>
        <p:nvPicPr>
          <p:cNvPr id="9" name="Picture 13">
            <a:extLst>
              <a:ext uri="{FF2B5EF4-FFF2-40B4-BE49-F238E27FC236}">
                <a16:creationId xmlns:a16="http://schemas.microsoft.com/office/drawing/2014/main" id="{2CFB10C7-2DC6-451E-90C6-2D68BD31A6EC}"/>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1826212" y="2995528"/>
            <a:ext cx="2197436" cy="2864971"/>
          </a:xfrm>
          <a:prstGeom prst="rect">
            <a:avLst/>
          </a:prstGeom>
          <a:ln>
            <a:noFill/>
          </a:ln>
          <a:effectLst>
            <a:outerShdw blurRad="292100" dist="139700" dir="2700000" algn="tl" rotWithShape="0">
              <a:srgbClr val="333333">
                <a:alpha val="65000"/>
              </a:srgbClr>
            </a:outerShdw>
          </a:effectLst>
        </p:spPr>
      </p:pic>
      <p:pic>
        <p:nvPicPr>
          <p:cNvPr id="10" name="Picture 14">
            <a:extLst>
              <a:ext uri="{FF2B5EF4-FFF2-40B4-BE49-F238E27FC236}">
                <a16:creationId xmlns:a16="http://schemas.microsoft.com/office/drawing/2014/main" id="{775544D0-D189-4053-BD03-A061BD918D83}"/>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2262385" y="2995528"/>
            <a:ext cx="2329516" cy="2861400"/>
          </a:xfrm>
          <a:prstGeom prst="rect">
            <a:avLst/>
          </a:prstGeom>
          <a:ln>
            <a:noFill/>
          </a:ln>
          <a:effectLst>
            <a:outerShdw blurRad="292100" dist="139700" dir="2700000" algn="tl" rotWithShape="0">
              <a:srgbClr val="333333">
                <a:alpha val="65000"/>
              </a:srgbClr>
            </a:outerShdw>
          </a:effectLst>
        </p:spPr>
      </p:pic>
      <p:pic>
        <p:nvPicPr>
          <p:cNvPr id="11" name="Picture 15">
            <a:extLst>
              <a:ext uri="{FF2B5EF4-FFF2-40B4-BE49-F238E27FC236}">
                <a16:creationId xmlns:a16="http://schemas.microsoft.com/office/drawing/2014/main" id="{C064D670-84E1-4B9A-97F8-E62D958DB0B5}"/>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2830638" y="2995528"/>
            <a:ext cx="2525626" cy="2919327"/>
          </a:xfrm>
          <a:prstGeom prst="rect">
            <a:avLst/>
          </a:prstGeom>
          <a:ln>
            <a:noFill/>
          </a:ln>
          <a:effectLst>
            <a:outerShdw blurRad="292100" dist="139700" dir="2700000" algn="tl" rotWithShape="0">
              <a:srgbClr val="333333">
                <a:alpha val="65000"/>
              </a:srgbClr>
            </a:outerShdw>
          </a:effectLst>
        </p:spPr>
      </p:pic>
      <p:pic>
        <p:nvPicPr>
          <p:cNvPr id="12" name="Picture 16">
            <a:extLst>
              <a:ext uri="{FF2B5EF4-FFF2-40B4-BE49-F238E27FC236}">
                <a16:creationId xmlns:a16="http://schemas.microsoft.com/office/drawing/2014/main" id="{87B797F5-B8C2-4C24-8A7A-FE90F04BE322}"/>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3595002" y="2995528"/>
            <a:ext cx="2372536" cy="2936059"/>
          </a:xfrm>
          <a:prstGeom prst="rect">
            <a:avLst/>
          </a:prstGeom>
          <a:ln>
            <a:noFill/>
          </a:ln>
          <a:effectLst>
            <a:outerShdw blurRad="292100" dist="139700" dir="2700000" algn="tl" rotWithShape="0">
              <a:srgbClr val="333333">
                <a:alpha val="65000"/>
              </a:srgbClr>
            </a:outerShdw>
          </a:effectLst>
        </p:spPr>
      </p:pic>
      <p:sp>
        <p:nvSpPr>
          <p:cNvPr id="13" name="Slide Number Placeholder 3">
            <a:extLst>
              <a:ext uri="{FF2B5EF4-FFF2-40B4-BE49-F238E27FC236}">
                <a16:creationId xmlns:a16="http://schemas.microsoft.com/office/drawing/2014/main" id="{43B0C0D7-286F-40CC-99F2-E1758486FAF3}"/>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23</a:t>
            </a:fld>
            <a:endParaRPr lang="en-US" sz="1100" dirty="0">
              <a:solidFill>
                <a:schemeClr val="tx1">
                  <a:lumMod val="50000"/>
                  <a:lumOff val="50000"/>
                </a:schemeClr>
              </a:solidFill>
            </a:endParaRPr>
          </a:p>
        </p:txBody>
      </p:sp>
      <p:sp>
        <p:nvSpPr>
          <p:cNvPr id="14" name="Footer Placeholder 1">
            <a:extLst>
              <a:ext uri="{FF2B5EF4-FFF2-40B4-BE49-F238E27FC236}">
                <a16:creationId xmlns:a16="http://schemas.microsoft.com/office/drawing/2014/main" id="{CDED59B1-EA18-471C-9E96-59ECEF4AB7A5}"/>
              </a:ext>
            </a:extLst>
          </p:cNvPr>
          <p:cNvSpPr>
            <a:spLocks noGrp="1"/>
          </p:cNvSpPr>
          <p:nvPr>
            <p:ph type="ftr" sz="quarter" idx="11"/>
          </p:nvPr>
        </p:nvSpPr>
        <p:spPr/>
        <p:txBody>
          <a:bodyPr/>
          <a:lstStyle/>
          <a:p>
            <a:r>
              <a:rPr lang="en-US" dirty="0"/>
              <a:t>Key Benefit Administrators</a:t>
            </a:r>
          </a:p>
        </p:txBody>
      </p:sp>
      <p:pic>
        <p:nvPicPr>
          <p:cNvPr id="15" name="Picture 4">
            <a:extLst>
              <a:ext uri="{FF2B5EF4-FFF2-40B4-BE49-F238E27FC236}">
                <a16:creationId xmlns:a16="http://schemas.microsoft.com/office/drawing/2014/main" id="{95AED82D-3AD7-4F96-899E-4F246EB12576}"/>
              </a:ext>
            </a:extLst>
          </p:cNvPr>
          <p:cNvPicPr>
            <a:picLocks noChangeAspect="1"/>
          </p:cNvPicPr>
          <p:nvPr/>
        </p:nvPicPr>
        <p:blipFill>
          <a:blip r:embed="rId10" cstate="screen">
            <a:extLst>
              <a:ext uri="{28A0092B-C50C-407E-A947-70E740481C1C}">
                <a14:useLocalDpi xmlns:a14="http://schemas.microsoft.com/office/drawing/2010/main"/>
              </a:ext>
            </a:extLst>
          </a:blip>
          <a:stretch>
            <a:fillRect/>
          </a:stretch>
        </p:blipFill>
        <p:spPr>
          <a:xfrm>
            <a:off x="6757012" y="2543534"/>
            <a:ext cx="5291531" cy="3637660"/>
          </a:xfrm>
          <a:prstGeom prst="rect">
            <a:avLst/>
          </a:prstGeom>
          <a:effectLst>
            <a:outerShdw blurRad="203200" dist="38100" algn="l" rotWithShape="0">
              <a:prstClr val="black">
                <a:alpha val="40000"/>
              </a:prstClr>
            </a:outerShdw>
          </a:effectLst>
        </p:spPr>
      </p:pic>
    </p:spTree>
    <p:extLst>
      <p:ext uri="{BB962C8B-B14F-4D97-AF65-F5344CB8AC3E}">
        <p14:creationId xmlns:p14="http://schemas.microsoft.com/office/powerpoint/2010/main" val="4209598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BBB1F-796B-4271-AAA8-C6BA52CFC027}"/>
              </a:ext>
            </a:extLst>
          </p:cNvPr>
          <p:cNvSpPr>
            <a:spLocks noGrp="1"/>
          </p:cNvSpPr>
          <p:nvPr>
            <p:ph type="title"/>
          </p:nvPr>
        </p:nvSpPr>
        <p:spPr>
          <a:xfrm>
            <a:off x="4825757" y="3179851"/>
            <a:ext cx="6092786" cy="2127287"/>
          </a:xfrm>
        </p:spPr>
        <p:txBody>
          <a:bodyPr vert="horz" lIns="91440" tIns="45720" rIns="91440" bIns="45720" rtlCol="0" anchor="b">
            <a:normAutofit fontScale="90000"/>
          </a:bodyPr>
          <a:lstStyle/>
          <a:p>
            <a:pPr defTabSz="914400"/>
            <a:r>
              <a:rPr lang="en-US" sz="4800" kern="1200" dirty="0">
                <a:solidFill>
                  <a:schemeClr val="tx1"/>
                </a:solidFill>
                <a:latin typeface="+mj-lt"/>
                <a:ea typeface="+mj-ea"/>
                <a:cs typeface="+mj-cs"/>
              </a:rPr>
              <a:t>FINANCIAL PROJECTIONS &amp; ASSUMPTIONS:</a:t>
            </a:r>
            <a:br>
              <a:rPr lang="en-US" sz="4800" kern="1200" dirty="0">
                <a:solidFill>
                  <a:schemeClr val="tx1"/>
                </a:solidFill>
                <a:latin typeface="+mj-lt"/>
                <a:ea typeface="+mj-ea"/>
                <a:cs typeface="+mj-cs"/>
              </a:rPr>
            </a:br>
            <a:endParaRPr lang="en-US" sz="4800" kern="1200" dirty="0">
              <a:solidFill>
                <a:schemeClr val="tx1"/>
              </a:solidFill>
              <a:latin typeface="+mj-lt"/>
              <a:ea typeface="+mj-ea"/>
              <a:cs typeface="+mj-cs"/>
            </a:endParaRPr>
          </a:p>
        </p:txBody>
      </p:sp>
      <p:sp>
        <p:nvSpPr>
          <p:cNvPr id="3" name="Slide Number Placeholder 3">
            <a:extLst>
              <a:ext uri="{FF2B5EF4-FFF2-40B4-BE49-F238E27FC236}">
                <a16:creationId xmlns:a16="http://schemas.microsoft.com/office/drawing/2014/main" id="{9ACFDC11-4125-4126-B894-03D300C80E50}"/>
              </a:ext>
            </a:extLst>
          </p:cNvPr>
          <p:cNvSpPr>
            <a:spLocks noGrp="1"/>
          </p:cNvSpPr>
          <p:nvPr>
            <p:ph type="sldNum" sz="quarter" idx="12"/>
          </p:nvPr>
        </p:nvSpPr>
        <p:spPr>
          <a:xfrm>
            <a:off x="11364091" y="0"/>
            <a:ext cx="826383" cy="680018"/>
          </a:xfrm>
        </p:spPr>
        <p:txBody>
          <a:bodyPr vert="horz" lIns="91440" tIns="45720" rIns="91440" bIns="45720" rtlCol="0" anchor="ctr">
            <a:normAutofit/>
          </a:bodyPr>
          <a:lstStyle/>
          <a:p>
            <a:pPr algn="ctr" defTabSz="914400">
              <a:spcAft>
                <a:spcPts val="600"/>
              </a:spcAft>
            </a:pPr>
            <a:fld id="{3AFC719D-C4A7-4544-876E-D411D11AF6C9}" type="slidenum">
              <a:rPr lang="en-US"/>
              <a:pPr algn="ctr" defTabSz="914400">
                <a:spcAft>
                  <a:spcPts val="600"/>
                </a:spcAft>
              </a:pPr>
              <a:t>24</a:t>
            </a:fld>
            <a:endParaRPr lang="en-US"/>
          </a:p>
        </p:txBody>
      </p:sp>
      <p:pic>
        <p:nvPicPr>
          <p:cNvPr id="4" name="Graphic 9" descr="Upward trend">
            <a:extLst>
              <a:ext uri="{FF2B5EF4-FFF2-40B4-BE49-F238E27FC236}">
                <a16:creationId xmlns:a16="http://schemas.microsoft.com/office/drawing/2014/main" id="{5AD3A551-BDF6-660B-89E2-69C3F947037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63576" y="1550862"/>
            <a:ext cx="3756276" cy="3756276"/>
          </a:xfrm>
          <a:prstGeom prst="rect">
            <a:avLst/>
          </a:prstGeom>
        </p:spPr>
      </p:pic>
      <p:sp>
        <p:nvSpPr>
          <p:cNvPr id="5" name="Footer Placeholder 2">
            <a:extLst>
              <a:ext uri="{FF2B5EF4-FFF2-40B4-BE49-F238E27FC236}">
                <a16:creationId xmlns:a16="http://schemas.microsoft.com/office/drawing/2014/main" id="{DB674536-A498-4F19-9B73-1BEA752574CB}"/>
              </a:ext>
            </a:extLst>
          </p:cNvPr>
          <p:cNvSpPr>
            <a:spLocks noGrp="1"/>
          </p:cNvSpPr>
          <p:nvPr>
            <p:ph type="ftr" sz="quarter" idx="11"/>
          </p:nvPr>
        </p:nvSpPr>
        <p:spPr>
          <a:xfrm>
            <a:off x="6825444" y="6144656"/>
            <a:ext cx="4114800" cy="713344"/>
          </a:xfrm>
        </p:spPr>
        <p:txBody>
          <a:bodyPr vert="horz" lIns="91440" tIns="45720" rIns="91440" bIns="45720" rtlCol="0" anchor="ctr">
            <a:normAutofit/>
          </a:bodyPr>
          <a:lstStyle/>
          <a:p>
            <a:pPr algn="r" defTabSz="914400">
              <a:spcAft>
                <a:spcPts val="600"/>
              </a:spcAft>
            </a:pPr>
            <a:r>
              <a:rPr lang="en-US" kern="1200">
                <a:solidFill>
                  <a:schemeClr val="tx1">
                    <a:tint val="75000"/>
                  </a:schemeClr>
                </a:solidFill>
                <a:latin typeface="+mn-lt"/>
                <a:ea typeface="+mn-ea"/>
                <a:cs typeface="+mn-cs"/>
              </a:rPr>
              <a:t>Key Benefit Administrators</a:t>
            </a:r>
          </a:p>
        </p:txBody>
      </p:sp>
    </p:spTree>
    <p:extLst>
      <p:ext uri="{BB962C8B-B14F-4D97-AF65-F5344CB8AC3E}">
        <p14:creationId xmlns:p14="http://schemas.microsoft.com/office/powerpoint/2010/main" val="32773959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748BE3BD-F9EE-3EE4-860C-3826F1F8465B}"/>
              </a:ext>
            </a:extLst>
          </p:cNvPr>
          <p:cNvSpPr>
            <a:spLocks noGrp="1"/>
          </p:cNvSpPr>
          <p:nvPr>
            <p:ph type="title"/>
          </p:nvPr>
        </p:nvSpPr>
        <p:spPr>
          <a:xfrm>
            <a:off x="474980" y="192960"/>
            <a:ext cx="11242040" cy="1325563"/>
          </a:xfrm>
        </p:spPr>
        <p:txBody>
          <a:bodyPr>
            <a:normAutofit/>
          </a:bodyPr>
          <a:lstStyle/>
          <a:p>
            <a:r>
              <a:rPr lang="en-US" sz="4000" b="1" dirty="0">
                <a:solidFill/>
                <a:latin typeface="+mn-lt"/>
                <a:cs typeface="Arial" panose="020B0604020202020204" pitchFamily="34" charset="0"/>
              </a:rPr>
              <a:t>Estimation of Cleveland Clinic</a:t>
            </a:r>
            <a:r>
              <a:rPr lang="en-US" sz="4000" b="1">
                <a:latin typeface="+mn-lt"/>
                <a:cs typeface="Arial" panose="020B0604020202020204" pitchFamily="34" charset="0"/>
              </a:rPr>
              <a:t>’s 2022 </a:t>
            </a:r>
            <a:r>
              <a:rPr lang="en-US" sz="4000" b="1" dirty="0">
                <a:latin typeface="+mn-lt"/>
                <a:cs typeface="Arial" panose="020B0604020202020204" pitchFamily="34" charset="0"/>
              </a:rPr>
              <a:t>Payer Mix</a:t>
            </a:r>
          </a:p>
        </p:txBody>
      </p:sp>
      <p:sp>
        <p:nvSpPr>
          <p:cNvPr id="3" name="Footer Placeholder 2">
            <a:extLst>
              <a:ext uri="{FF2B5EF4-FFF2-40B4-BE49-F238E27FC236}">
                <a16:creationId xmlns:a16="http://schemas.microsoft.com/office/drawing/2014/main" id="{F881BDBD-806B-1BF1-DC4C-DADBDE399686}"/>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300" normalizeH="0" baseline="0" noProof="0">
                <a:ln>
                  <a:noFill/>
                </a:ln>
                <a:solidFill>
                  <a:prstClr val="black">
                    <a:tint val="75000"/>
                  </a:prstClr>
                </a:solidFill>
                <a:effectLst/>
                <a:uLnTx/>
                <a:uFillTx/>
                <a:latin typeface="Arial" panose="020B0604020202020204" pitchFamily="34" charset="0"/>
                <a:cs typeface="Arial" panose="020B0604020202020204" pitchFamily="34" charset="0"/>
              </a:rPr>
              <a:t>Key Benefit Administrators</a:t>
            </a:r>
            <a:endParaRPr kumimoji="0" lang="en-US" sz="1200" b="0" i="0" u="none" strike="noStrike" kern="1200" cap="none" spc="300" normalizeH="0" baseline="0" noProof="0" dirty="0">
              <a:ln>
                <a:noFill/>
              </a:ln>
              <a:solidFill>
                <a:prstClr val="black">
                  <a:tint val="75000"/>
                </a:prstClr>
              </a:solidFill>
              <a:effectLst/>
              <a:uLnTx/>
              <a:uFillTx/>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E64A413-F33A-E029-FE1C-032E6F189EE6}"/>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pitchFamily="34" charset="0"/>
                <a:cs typeface="Arial" panose="020B060402020202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pitchFamily="34" charset="0"/>
              <a:cs typeface="Arial" panose="020B0604020202020204" pitchFamily="34" charset="0"/>
            </a:endParaRPr>
          </a:p>
        </p:txBody>
      </p:sp>
      <p:graphicFrame>
        <p:nvGraphicFramePr>
          <p:cNvPr id="5" name="Table 7">
            <a:extLst>
              <a:ext uri="{FF2B5EF4-FFF2-40B4-BE49-F238E27FC236}">
                <a16:creationId xmlns:a16="http://schemas.microsoft.com/office/drawing/2014/main" id="{713AD275-CC86-F2BC-8594-AECC0B66117F}"/>
              </a:ext>
            </a:extLst>
          </p:cNvPr>
          <p:cNvGraphicFramePr>
            <a:graphicFrameLocks noGrp="1"/>
          </p:cNvGraphicFramePr>
          <p:nvPr/>
        </p:nvGraphicFramePr>
        <p:xfrm>
          <a:off x="243838" y="1690689"/>
          <a:ext cx="5516882" cy="2560320"/>
        </p:xfrm>
        <a:graphic>
          <a:graphicData uri="http://schemas.openxmlformats.org/drawingml/2006/table">
            <a:tbl>
              <a:tblPr firstRow="1" bandRow="1">
                <a:tableStyleId>{5C22544A-7EE6-4342-B048-85BDC9FD1C3A}</a:tableStyleId>
              </a:tblPr>
              <a:tblGrid>
                <a:gridCol w="1970375">
                  <a:extLst>
                    <a:ext uri="{9D8B030D-6E8A-4147-A177-3AD203B41FA5}">
                      <a16:colId xmlns:a16="http://schemas.microsoft.com/office/drawing/2014/main" val="1990432805"/>
                    </a:ext>
                  </a:extLst>
                </a:gridCol>
                <a:gridCol w="1072861">
                  <a:extLst>
                    <a:ext uri="{9D8B030D-6E8A-4147-A177-3AD203B41FA5}">
                      <a16:colId xmlns:a16="http://schemas.microsoft.com/office/drawing/2014/main" val="2178546237"/>
                    </a:ext>
                  </a:extLst>
                </a:gridCol>
                <a:gridCol w="1326330">
                  <a:extLst>
                    <a:ext uri="{9D8B030D-6E8A-4147-A177-3AD203B41FA5}">
                      <a16:colId xmlns:a16="http://schemas.microsoft.com/office/drawing/2014/main" val="3494448363"/>
                    </a:ext>
                  </a:extLst>
                </a:gridCol>
                <a:gridCol w="1147316">
                  <a:extLst>
                    <a:ext uri="{9D8B030D-6E8A-4147-A177-3AD203B41FA5}">
                      <a16:colId xmlns:a16="http://schemas.microsoft.com/office/drawing/2014/main" val="3564552567"/>
                    </a:ext>
                  </a:extLst>
                </a:gridCol>
              </a:tblGrid>
              <a:tr h="569290">
                <a:tc>
                  <a:txBody>
                    <a:bodyPr/>
                    <a:lstStyle/>
                    <a:p>
                      <a:r>
                        <a:rPr lang="en-US" sz="1400" dirty="0"/>
                        <a:t>Payer Group</a:t>
                      </a:r>
                    </a:p>
                  </a:txBody>
                  <a:tcPr/>
                </a:tc>
                <a:tc>
                  <a:txBody>
                    <a:bodyPr/>
                    <a:lstStyle/>
                    <a:p>
                      <a:r>
                        <a:rPr lang="en-US" sz="1400" dirty="0"/>
                        <a:t>Total Inpatient Days</a:t>
                      </a:r>
                    </a:p>
                  </a:txBody>
                  <a:tcPr/>
                </a:tc>
                <a:tc>
                  <a:txBody>
                    <a:bodyPr/>
                    <a:lstStyle/>
                    <a:p>
                      <a:r>
                        <a:rPr lang="en-US" sz="1400" dirty="0"/>
                        <a:t>Revenue</a:t>
                      </a:r>
                    </a:p>
                  </a:txBody>
                  <a:tcPr/>
                </a:tc>
                <a:tc>
                  <a:txBody>
                    <a:bodyPr/>
                    <a:lstStyle/>
                    <a:p>
                      <a:r>
                        <a:rPr lang="en-US" sz="1400" dirty="0"/>
                        <a:t>Payer Mix</a:t>
                      </a:r>
                    </a:p>
                  </a:txBody>
                  <a:tcPr/>
                </a:tc>
                <a:extLst>
                  <a:ext uri="{0D108BD9-81ED-4DB2-BD59-A6C34878D82A}">
                    <a16:rowId xmlns:a16="http://schemas.microsoft.com/office/drawing/2014/main" val="1397373735"/>
                  </a:ext>
                </a:extLst>
              </a:tr>
              <a:tr h="237204">
                <a:tc>
                  <a:txBody>
                    <a:bodyPr/>
                    <a:lstStyle/>
                    <a:p>
                      <a:r>
                        <a:rPr lang="en-US" sz="1400" dirty="0">
                          <a:solidFill/>
                        </a:rPr>
                        <a:t>All Cleveland Clinic</a:t>
                      </a:r>
                    </a:p>
                  </a:txBody>
                  <a:tcPr>
                    <a:solidFill>
                      <a:schemeClr val="accent3">
                        <a:lumMod val="20000"/>
                        <a:lumOff val="80000"/>
                      </a:schemeClr>
                    </a:solidFill>
                  </a:tcPr>
                </a:tc>
                <a:tc>
                  <a:txBody>
                    <a:bodyPr/>
                    <a:lstStyle/>
                    <a:p>
                      <a:pPr algn="ctr"/>
                      <a:r>
                        <a:rPr lang="en-US" sz="1400" dirty="0">
                          <a:solidFill>
                            <a:schemeClr val="accent1">
                              <a:lumMod val="75000"/>
                            </a:schemeClr>
                          </a:solidFill>
                        </a:rPr>
                        <a:t>1,005,841</a:t>
                      </a:r>
                    </a:p>
                  </a:txBody>
                  <a:tcPr anchor="ctr">
                    <a:solidFill>
                      <a:schemeClr val="accent3">
                        <a:lumMod val="20000"/>
                        <a:lumOff val="80000"/>
                      </a:schemeClr>
                    </a:solidFill>
                  </a:tcPr>
                </a:tc>
                <a:tc>
                  <a:txBody>
                    <a:bodyPr/>
                    <a:lstStyle/>
                    <a:p>
                      <a:pPr algn="ctr"/>
                      <a:r>
                        <a:rPr lang="en-US" sz="1400" dirty="0">
                          <a:solidFill>
                            <a:schemeClr val="accent1">
                              <a:lumMod val="75000"/>
                            </a:schemeClr>
                          </a:solidFill>
                        </a:rPr>
                        <a:t>$10,703,206K</a:t>
                      </a:r>
                    </a:p>
                  </a:txBody>
                  <a:tcPr anchor="ctr">
                    <a:solidFill>
                      <a:schemeClr val="accent3">
                        <a:lumMod val="20000"/>
                        <a:lumOff val="80000"/>
                      </a:schemeClr>
                    </a:solidFill>
                  </a:tcPr>
                </a:tc>
                <a:tc>
                  <a:txBody>
                    <a:bodyPr/>
                    <a:lstStyle/>
                    <a:p>
                      <a:pPr algn="ctr"/>
                      <a:r>
                        <a:rPr lang="en-US" sz="1400" dirty="0">
                          <a:solidFill>
                            <a:schemeClr val="accent2">
                              <a:lumMod val="75000"/>
                            </a:schemeClr>
                          </a:solidFill>
                        </a:rPr>
                        <a:t>100%</a:t>
                      </a:r>
                    </a:p>
                  </a:txBody>
                  <a:tcPr anchor="ctr">
                    <a:solidFill>
                      <a:schemeClr val="accent3">
                        <a:lumMod val="20000"/>
                        <a:lumOff val="80000"/>
                      </a:schemeClr>
                    </a:solidFill>
                  </a:tcPr>
                </a:tc>
                <a:extLst>
                  <a:ext uri="{0D108BD9-81ED-4DB2-BD59-A6C34878D82A}">
                    <a16:rowId xmlns:a16="http://schemas.microsoft.com/office/drawing/2014/main" val="975973942"/>
                  </a:ext>
                </a:extLst>
              </a:tr>
              <a:tr h="237204">
                <a:tc>
                  <a:txBody>
                    <a:bodyPr/>
                    <a:lstStyle/>
                    <a:p>
                      <a:r>
                        <a:rPr lang="en-US" sz="1400" dirty="0"/>
                        <a:t>Medicare</a:t>
                      </a:r>
                    </a:p>
                  </a:txBody>
                  <a:tcPr>
                    <a:solidFill>
                      <a:schemeClr val="accent3">
                        <a:lumMod val="20000"/>
                        <a:lumOff val="80000"/>
                      </a:schemeClr>
                    </a:solidFill>
                  </a:tcPr>
                </a:tc>
                <a:tc>
                  <a:txBody>
                    <a:bodyPr/>
                    <a:lstStyle/>
                    <a:p>
                      <a:pPr algn="ctr"/>
                      <a:r>
                        <a:rPr lang="en-US" sz="1400" dirty="0">
                          <a:solidFill>
                            <a:schemeClr val="accent1">
                              <a:lumMod val="75000"/>
                            </a:schemeClr>
                          </a:solidFill>
                        </a:rPr>
                        <a:t>241,635</a:t>
                      </a:r>
                    </a:p>
                  </a:txBody>
                  <a:tcPr anchor="ctr">
                    <a:solidFill>
                      <a:schemeClr val="accent3">
                        <a:lumMod val="20000"/>
                        <a:lumOff val="80000"/>
                      </a:schemeClr>
                    </a:solidFill>
                  </a:tcPr>
                </a:tc>
                <a:tc>
                  <a:txBody>
                    <a:bodyPr/>
                    <a:lstStyle/>
                    <a:p>
                      <a:pPr algn="ctr"/>
                      <a:r>
                        <a:rPr lang="en-US" sz="1400" dirty="0">
                          <a:solidFill>
                            <a:schemeClr val="accent4">
                              <a:lumMod val="75000"/>
                            </a:schemeClr>
                          </a:solidFill>
                        </a:rPr>
                        <a:t>$1,291,247K</a:t>
                      </a:r>
                    </a:p>
                  </a:txBody>
                  <a:tcPr anchor="ctr">
                    <a:solidFill>
                      <a:schemeClr val="accent3">
                        <a:lumMod val="20000"/>
                        <a:lumOff val="80000"/>
                      </a:schemeClr>
                    </a:solidFill>
                  </a:tcPr>
                </a:tc>
                <a:tc>
                  <a:txBody>
                    <a:bodyPr/>
                    <a:lstStyle/>
                    <a:p>
                      <a:pPr algn="ctr"/>
                      <a:r>
                        <a:rPr lang="en-US" sz="1400" dirty="0">
                          <a:solidFill>
                            <a:schemeClr val="accent2">
                              <a:lumMod val="75000"/>
                            </a:schemeClr>
                          </a:solidFill>
                        </a:rPr>
                        <a:t>24%</a:t>
                      </a:r>
                    </a:p>
                  </a:txBody>
                  <a:tcPr anchor="ctr">
                    <a:solidFill>
                      <a:schemeClr val="accent3">
                        <a:lumMod val="20000"/>
                        <a:lumOff val="80000"/>
                      </a:schemeClr>
                    </a:solidFill>
                  </a:tcPr>
                </a:tc>
                <a:extLst>
                  <a:ext uri="{0D108BD9-81ED-4DB2-BD59-A6C34878D82A}">
                    <a16:rowId xmlns:a16="http://schemas.microsoft.com/office/drawing/2014/main" val="1145544718"/>
                  </a:ext>
                </a:extLst>
              </a:tr>
              <a:tr h="237204">
                <a:tc>
                  <a:txBody>
                    <a:bodyPr/>
                    <a:lstStyle/>
                    <a:p>
                      <a:r>
                        <a:rPr lang="en-US" sz="1400" dirty="0"/>
                        <a:t>Medicaid</a:t>
                      </a:r>
                    </a:p>
                  </a:txBody>
                  <a:tcPr>
                    <a:solidFill>
                      <a:schemeClr val="accent3">
                        <a:lumMod val="20000"/>
                        <a:lumOff val="80000"/>
                      </a:schemeClr>
                    </a:solidFill>
                  </a:tcPr>
                </a:tc>
                <a:tc>
                  <a:txBody>
                    <a:bodyPr/>
                    <a:lstStyle/>
                    <a:p>
                      <a:pPr algn="ctr"/>
                      <a:r>
                        <a:rPr lang="en-US" sz="1400" dirty="0">
                          <a:solidFill>
                            <a:schemeClr val="accent1">
                              <a:lumMod val="75000"/>
                            </a:schemeClr>
                          </a:solidFill>
                        </a:rPr>
                        <a:t>36,929</a:t>
                      </a:r>
                    </a:p>
                  </a:txBody>
                  <a:tcPr anchor="ctr">
                    <a:solidFill>
                      <a:schemeClr val="accent3">
                        <a:lumMod val="20000"/>
                        <a:lumOff val="80000"/>
                      </a:schemeClr>
                    </a:solidFill>
                  </a:tcPr>
                </a:tc>
                <a:tc rowSpan="2">
                  <a:txBody>
                    <a:bodyPr/>
                    <a:lstStyle/>
                    <a:p>
                      <a:pPr algn="ctr"/>
                      <a:r>
                        <a:rPr lang="en-US" sz="1400" dirty="0">
                          <a:solidFill>
                            <a:schemeClr val="accent4">
                              <a:lumMod val="75000"/>
                            </a:schemeClr>
                          </a:solidFill>
                        </a:rPr>
                        <a:t>$856,914K</a:t>
                      </a:r>
                    </a:p>
                  </a:txBody>
                  <a:tcPr anchor="ctr">
                    <a:solidFill>
                      <a:schemeClr val="accent3">
                        <a:lumMod val="20000"/>
                        <a:lumOff val="80000"/>
                      </a:schemeClr>
                    </a:solidFill>
                  </a:tcPr>
                </a:tc>
                <a:tc rowSpan="2">
                  <a:txBody>
                    <a:bodyPr/>
                    <a:lstStyle/>
                    <a:p>
                      <a:pPr algn="ctr"/>
                      <a:r>
                        <a:rPr lang="en-US" sz="1400" dirty="0">
                          <a:solidFill>
                            <a:schemeClr val="accent2">
                              <a:lumMod val="75000"/>
                            </a:schemeClr>
                          </a:solidFill>
                        </a:rPr>
                        <a:t>4%</a:t>
                      </a:r>
                    </a:p>
                  </a:txBody>
                  <a:tcPr anchor="ctr">
                    <a:solidFill>
                      <a:schemeClr val="accent3">
                        <a:lumMod val="20000"/>
                        <a:lumOff val="80000"/>
                      </a:schemeClr>
                    </a:solidFill>
                  </a:tcPr>
                </a:tc>
                <a:extLst>
                  <a:ext uri="{0D108BD9-81ED-4DB2-BD59-A6C34878D82A}">
                    <a16:rowId xmlns:a16="http://schemas.microsoft.com/office/drawing/2014/main" val="680733009"/>
                  </a:ext>
                </a:extLst>
              </a:tr>
              <a:tr h="279964">
                <a:tc>
                  <a:txBody>
                    <a:bodyPr/>
                    <a:lstStyle/>
                    <a:p>
                      <a:r>
                        <a:rPr lang="en-US" sz="1400" dirty="0"/>
                        <a:t>Other Government Pay</a:t>
                      </a:r>
                    </a:p>
                  </a:txBody>
                  <a:tcPr>
                    <a:solidFill>
                      <a:schemeClr val="accent3">
                        <a:lumMod val="20000"/>
                        <a:lumOff val="80000"/>
                      </a:schemeClr>
                    </a:solidFill>
                  </a:tcPr>
                </a:tc>
                <a:tc>
                  <a:txBody>
                    <a:bodyPr/>
                    <a:lstStyle/>
                    <a:p>
                      <a:pPr algn="ctr"/>
                      <a:r>
                        <a:rPr lang="en-US" sz="1400" dirty="0">
                          <a:solidFill>
                            <a:schemeClr val="accent1">
                              <a:lumMod val="75000"/>
                            </a:schemeClr>
                          </a:solidFill>
                        </a:rPr>
                        <a:t>1</a:t>
                      </a:r>
                    </a:p>
                  </a:txBody>
                  <a:tcPr anchor="ctr">
                    <a:solidFill>
                      <a:schemeClr val="accent3">
                        <a:lumMod val="20000"/>
                        <a:lumOff val="80000"/>
                      </a:schemeClr>
                    </a:solidFill>
                  </a:tcPr>
                </a:tc>
                <a:tc vMerge="1">
                  <a:txBody>
                    <a:bodyPr/>
                    <a:lstStyle/>
                    <a:p>
                      <a:endParaRPr lang="en-US" sz="1400" dirty="0">
                        <a:solidFill>
                          <a:schemeClr val="accent2">
                            <a:lumMod val="75000"/>
                          </a:schemeClr>
                        </a:solidFill>
                      </a:endParaRPr>
                    </a:p>
                  </a:txBody>
                  <a:tcPr/>
                </a:tc>
                <a:tc vMerge="1">
                  <a:txBody>
                    <a:bodyPr/>
                    <a:lstStyle/>
                    <a:p>
                      <a:pPr algn="ctr"/>
                      <a:endParaRPr lang="en-US" sz="1400" dirty="0">
                        <a:solidFill>
                          <a:schemeClr val="accent2">
                            <a:lumMod val="75000"/>
                          </a:schemeClr>
                        </a:solidFill>
                      </a:endParaRPr>
                    </a:p>
                  </a:txBody>
                  <a:tcPr anchor="ctr">
                    <a:solidFill>
                      <a:schemeClr val="accent3">
                        <a:lumMod val="20000"/>
                        <a:lumOff val="80000"/>
                      </a:schemeClr>
                    </a:solidFill>
                  </a:tcPr>
                </a:tc>
                <a:extLst>
                  <a:ext uri="{0D108BD9-81ED-4DB2-BD59-A6C34878D82A}">
                    <a16:rowId xmlns:a16="http://schemas.microsoft.com/office/drawing/2014/main" val="194994609"/>
                  </a:ext>
                </a:extLst>
              </a:tr>
              <a:tr h="237204">
                <a:tc>
                  <a:txBody>
                    <a:bodyPr/>
                    <a:lstStyle/>
                    <a:p>
                      <a:r>
                        <a:rPr lang="en-US" sz="1400" dirty="0"/>
                        <a:t>No-Pay, Charity Care</a:t>
                      </a:r>
                    </a:p>
                  </a:txBody>
                  <a:tcPr>
                    <a:solidFill>
                      <a:schemeClr val="accent3">
                        <a:lumMod val="20000"/>
                        <a:lumOff val="80000"/>
                      </a:schemeClr>
                    </a:solidFill>
                  </a:tcPr>
                </a:tc>
                <a:tc>
                  <a:txBody>
                    <a:bodyPr/>
                    <a:lstStyle/>
                    <a:p>
                      <a:pPr algn="ctr"/>
                      <a:r>
                        <a:rPr lang="en-US" sz="1400" dirty="0">
                          <a:solidFill>
                            <a:schemeClr val="accent2">
                              <a:lumMod val="75000"/>
                            </a:schemeClr>
                          </a:solidFill>
                        </a:rPr>
                        <a:t>40,511</a:t>
                      </a:r>
                    </a:p>
                  </a:txBody>
                  <a:tcPr anchor="ctr">
                    <a:solidFill>
                      <a:schemeClr val="accent3">
                        <a:lumMod val="20000"/>
                        <a:lumOff val="80000"/>
                      </a:schemeClr>
                    </a:solidFill>
                  </a:tcPr>
                </a:tc>
                <a:tc>
                  <a:txBody>
                    <a:bodyPr/>
                    <a:lstStyle/>
                    <a:p>
                      <a:pPr algn="ctr"/>
                      <a:r>
                        <a:rPr lang="en-US" sz="1400" dirty="0">
                          <a:solidFill>
                            <a:schemeClr val="accent1">
                              <a:lumMod val="75000"/>
                            </a:schemeClr>
                          </a:solidFill>
                        </a:rPr>
                        <a:t>-$342,133K</a:t>
                      </a:r>
                    </a:p>
                  </a:txBody>
                  <a:tcPr anchor="ctr">
                    <a:solidFill>
                      <a:schemeClr val="accent3">
                        <a:lumMod val="20000"/>
                        <a:lumOff val="80000"/>
                      </a:schemeClr>
                    </a:solidFill>
                  </a:tcPr>
                </a:tc>
                <a:tc>
                  <a:txBody>
                    <a:bodyPr/>
                    <a:lstStyle/>
                    <a:p>
                      <a:pPr algn="ctr"/>
                      <a:r>
                        <a:rPr lang="en-US" sz="1400" dirty="0">
                          <a:solidFill>
                            <a:schemeClr val="accent2">
                              <a:lumMod val="75000"/>
                            </a:schemeClr>
                          </a:solidFill>
                        </a:rPr>
                        <a:t>3%</a:t>
                      </a:r>
                    </a:p>
                  </a:txBody>
                  <a:tcPr anchor="ctr">
                    <a:solidFill>
                      <a:schemeClr val="accent3">
                        <a:lumMod val="20000"/>
                        <a:lumOff val="80000"/>
                      </a:schemeClr>
                    </a:solidFill>
                  </a:tcPr>
                </a:tc>
                <a:extLst>
                  <a:ext uri="{0D108BD9-81ED-4DB2-BD59-A6C34878D82A}">
                    <a16:rowId xmlns:a16="http://schemas.microsoft.com/office/drawing/2014/main" val="1248958224"/>
                  </a:ext>
                </a:extLst>
              </a:tr>
              <a:tr h="237204">
                <a:tc>
                  <a:txBody>
                    <a:bodyPr/>
                    <a:lstStyle/>
                    <a:p>
                      <a:r>
                        <a:rPr lang="en-US" sz="1400" dirty="0"/>
                        <a:t>Commercial/Self Pay</a:t>
                      </a:r>
                    </a:p>
                  </a:txBody>
                  <a:tcP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400" dirty="0">
                          <a:solidFill>
                            <a:schemeClr val="accent2">
                              <a:lumMod val="75000"/>
                            </a:schemeClr>
                          </a:solidFill>
                        </a:rPr>
                        <a:t>686,765</a:t>
                      </a:r>
                    </a:p>
                  </a:txBody>
                  <a:tcPr anchor="ct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400" dirty="0">
                          <a:solidFill>
                            <a:schemeClr val="accent2">
                              <a:lumMod val="75000"/>
                            </a:schemeClr>
                          </a:solidFill>
                        </a:rPr>
                        <a:t>$8,556,662K</a:t>
                      </a:r>
                    </a:p>
                  </a:txBody>
                  <a:tcPr anchor="ctr">
                    <a:solidFill>
                      <a:schemeClr val="accent3">
                        <a:lumMod val="20000"/>
                        <a:lumOff val="80000"/>
                      </a:schemeClr>
                    </a:solidFill>
                  </a:tcPr>
                </a:tc>
                <a:tc>
                  <a:txBody>
                    <a:bodyPr/>
                    <a:lstStyle/>
                    <a:p>
                      <a:pPr algn="ctr"/>
                      <a:r>
                        <a:rPr lang="en-US" sz="1400" dirty="0">
                          <a:solidFill>
                            <a:schemeClr val="accent2">
                              <a:lumMod val="75000"/>
                            </a:schemeClr>
                          </a:solidFill>
                        </a:rPr>
                        <a:t>69%</a:t>
                      </a:r>
                    </a:p>
                  </a:txBody>
                  <a:tcPr anchor="ctr">
                    <a:solidFill>
                      <a:schemeClr val="accent3">
                        <a:lumMod val="20000"/>
                        <a:lumOff val="80000"/>
                      </a:schemeClr>
                    </a:solidFill>
                  </a:tcPr>
                </a:tc>
                <a:extLst>
                  <a:ext uri="{0D108BD9-81ED-4DB2-BD59-A6C34878D82A}">
                    <a16:rowId xmlns:a16="http://schemas.microsoft.com/office/drawing/2014/main" val="1058780832"/>
                  </a:ext>
                </a:extLst>
              </a:tr>
            </a:tbl>
          </a:graphicData>
        </a:graphic>
      </p:graphicFrame>
      <p:sp>
        <p:nvSpPr>
          <p:cNvPr id="6" name="TextBox 8">
            <a:extLst>
              <a:ext uri="{FF2B5EF4-FFF2-40B4-BE49-F238E27FC236}">
                <a16:creationId xmlns:a16="http://schemas.microsoft.com/office/drawing/2014/main" id="{6AC02F6F-C422-9313-946A-CD28952173F8}"/>
              </a:ext>
            </a:extLst>
          </p:cNvPr>
          <p:cNvSpPr txBox="1"/>
          <p:nvPr/>
        </p:nvSpPr>
        <p:spPr>
          <a:xfrm>
            <a:off x="6431282" y="1690688"/>
            <a:ext cx="5648960" cy="181588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Estimating Payer Mix</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Medicare, Medicaid, and other government payer mixes are estimated as the percentage of inpatient days for each group divided by total inpatient days.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No-pay and charity care is estimated as the percentage of no-pay/charity care compared to total overall revenue.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Commercial/self pay is assumed to be the rest of the total payer mix share. </a:t>
            </a:r>
          </a:p>
        </p:txBody>
      </p:sp>
      <p:sp>
        <p:nvSpPr>
          <p:cNvPr id="7" name="TextBox 10">
            <a:extLst>
              <a:ext uri="{FF2B5EF4-FFF2-40B4-BE49-F238E27FC236}">
                <a16:creationId xmlns:a16="http://schemas.microsoft.com/office/drawing/2014/main" id="{E107289D-24BF-1E88-2683-BA2979EC32B6}"/>
              </a:ext>
            </a:extLst>
          </p:cNvPr>
          <p:cNvSpPr txBox="1"/>
          <p:nvPr/>
        </p:nvSpPr>
        <p:spPr>
          <a:xfrm>
            <a:off x="6431282" y="3666233"/>
            <a:ext cx="5648960" cy="116955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Estimating Total Inpatient Days</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Total inpatient days for ‘No Pay’ and ‘Commercial’ are estimated to be the payer mix estimates for “No Pay, Charity Care” and “Commercial/Self Pay” multiplied by the total number of inpatient days. </a:t>
            </a:r>
          </a:p>
        </p:txBody>
      </p:sp>
      <p:sp>
        <p:nvSpPr>
          <p:cNvPr id="8" name="TextBox 11">
            <a:extLst>
              <a:ext uri="{FF2B5EF4-FFF2-40B4-BE49-F238E27FC236}">
                <a16:creationId xmlns:a16="http://schemas.microsoft.com/office/drawing/2014/main" id="{B06F8AA7-185E-8401-4C51-579C44EE0B64}"/>
              </a:ext>
            </a:extLst>
          </p:cNvPr>
          <p:cNvSpPr txBox="1"/>
          <p:nvPr/>
        </p:nvSpPr>
        <p:spPr>
          <a:xfrm>
            <a:off x="416560" y="4435821"/>
            <a:ext cx="5161280" cy="76944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4472C4">
                    <a:lumMod val="75000"/>
                  </a:srgbClr>
                </a:solidFill>
                <a:effectLst/>
                <a:uLnTx/>
                <a:uFillTx/>
                <a:latin typeface="Arial" panose="020B0604020202020204" pitchFamily="34" charset="0"/>
                <a:cs typeface="Arial" panose="020B0604020202020204" pitchFamily="34" charset="0"/>
              </a:rPr>
              <a:t>Values in blue are taken from the 2021 Medicare Provider Cost Report (</a:t>
            </a:r>
            <a:r>
              <a:rPr kumimoji="0" lang="en-US" sz="1100" b="0" i="0" u="none" strike="noStrike" kern="1200" cap="none" spc="0" normalizeH="0" baseline="0" noProof="0" dirty="0">
                <a:ln>
                  <a:noFill/>
                </a:ln>
                <a:solidFill>
                  <a:srgbClr val="4472C4">
                    <a:lumMod val="75000"/>
                  </a:srgbClr>
                </a:solidFill>
                <a:effectLst/>
                <a:uLnTx/>
                <a:uFillTx/>
                <a:latin typeface="Arial" panose="020B0604020202020204" pitchFamily="34" charset="0"/>
                <a:cs typeface="Arial" panose="020B0604020202020204" pitchFamily="34" charset="0"/>
                <a:hlinkClick r:id="rId2"/>
              </a:rPr>
              <a:t>https://data.cms.gov/provider-compliance/cost-report/hospital-provider-cost-report/data</a:t>
            </a:r>
            <a:r>
              <a:rPr kumimoji="0" lang="en-US" sz="1100" b="0" i="0" u="none" strike="noStrike" kern="1200" cap="none" spc="0" normalizeH="0" baseline="0" noProof="0" dirty="0">
                <a:ln>
                  <a:noFill/>
                </a:ln>
                <a:solidFill>
                  <a:srgbClr val="4472C4">
                    <a:lumMod val="75000"/>
                  </a:srgbClr>
                </a:solidFill>
                <a:effectLst/>
                <a:uLnTx/>
                <a:uFillTx/>
                <a:latin typeface="Arial" panose="020B0604020202020204" pitchFamily="34" charset="0"/>
                <a:cs typeface="Arial" panose="020B0604020202020204" pitchFamily="34" charset="0"/>
              </a:rPr>
              <a: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4472C4">
                  <a:lumMod val="75000"/>
                </a:srgbClr>
              </a:solidFill>
              <a:effectLst/>
              <a:uLnTx/>
              <a:uFillTx/>
              <a:latin typeface="Arial" panose="020B0604020202020204" pitchFamily="34" charset="0"/>
              <a:cs typeface="Arial" panose="020B0604020202020204" pitchFamily="34" charset="0"/>
            </a:endParaRPr>
          </a:p>
        </p:txBody>
      </p:sp>
      <p:sp>
        <p:nvSpPr>
          <p:cNvPr id="9" name="TextBox 12">
            <a:extLst>
              <a:ext uri="{FF2B5EF4-FFF2-40B4-BE49-F238E27FC236}">
                <a16:creationId xmlns:a16="http://schemas.microsoft.com/office/drawing/2014/main" id="{CF495B2A-50EF-4B94-1C1C-99E3DB78B211}"/>
              </a:ext>
            </a:extLst>
          </p:cNvPr>
          <p:cNvSpPr txBox="1"/>
          <p:nvPr/>
        </p:nvSpPr>
        <p:spPr>
          <a:xfrm>
            <a:off x="416560" y="5446530"/>
            <a:ext cx="5161280" cy="4308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70AD47">
                    <a:lumMod val="75000"/>
                  </a:srgbClr>
                </a:solidFill>
                <a:effectLst/>
                <a:uLnTx/>
                <a:uFillTx/>
                <a:latin typeface="Arial" panose="020B0604020202020204" pitchFamily="34" charset="0"/>
                <a:cs typeface="Arial" panose="020B0604020202020204" pitchFamily="34" charset="0"/>
              </a:rPr>
              <a:t>Total Medicare patient revenue is reported by CMS in the Medicare Provider Analysis and Review Report (</a:t>
            </a:r>
            <a:r>
              <a:rPr kumimoji="0" lang="en-US" sz="1100" b="0" i="0" u="none" strike="noStrike" kern="1200" cap="none" spc="0" normalizeH="0" baseline="0" noProof="0" dirty="0" err="1">
                <a:ln>
                  <a:noFill/>
                </a:ln>
                <a:solidFill>
                  <a:srgbClr val="70AD47">
                    <a:lumMod val="75000"/>
                  </a:srgbClr>
                </a:solidFill>
                <a:effectLst/>
                <a:uLnTx/>
                <a:uFillTx/>
                <a:latin typeface="Arial" panose="020B0604020202020204" pitchFamily="34" charset="0"/>
                <a:cs typeface="Arial" panose="020B0604020202020204" pitchFamily="34" charset="0"/>
              </a:rPr>
              <a:t>MedPAR</a:t>
            </a:r>
            <a:r>
              <a:rPr kumimoji="0" lang="en-US" sz="1100" b="0" i="0" u="none" strike="noStrike" kern="1200" cap="none" spc="0" normalizeH="0" baseline="0" noProof="0" dirty="0">
                <a:ln>
                  <a:noFill/>
                </a:ln>
                <a:solidFill>
                  <a:srgbClr val="70AD47">
                    <a:lumMod val="75000"/>
                  </a:srgbClr>
                </a:solidFill>
                <a:effectLst/>
                <a:uLnTx/>
                <a:uFillTx/>
                <a:latin typeface="Arial" panose="020B0604020202020204" pitchFamily="34" charset="0"/>
                <a:cs typeface="Arial" panose="020B0604020202020204" pitchFamily="34" charset="0"/>
              </a:rPr>
              <a:t>) </a:t>
            </a:r>
          </a:p>
        </p:txBody>
      </p:sp>
      <p:sp>
        <p:nvSpPr>
          <p:cNvPr id="10" name="Rectangle 16">
            <a:extLst>
              <a:ext uri="{FF2B5EF4-FFF2-40B4-BE49-F238E27FC236}">
                <a16:creationId xmlns:a16="http://schemas.microsoft.com/office/drawing/2014/main" id="{802290A3-B694-4505-9BF2-D6CD7AF07C8B}"/>
              </a:ext>
            </a:extLst>
          </p:cNvPr>
          <p:cNvSpPr/>
          <p:nvPr/>
        </p:nvSpPr>
        <p:spPr>
          <a:xfrm>
            <a:off x="675642" y="6276083"/>
            <a:ext cx="3362960" cy="43088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In other analysis, the outpatient payer mix is assumed to mirror the inpatient payer mix. </a:t>
            </a:r>
          </a:p>
        </p:txBody>
      </p:sp>
      <p:sp>
        <p:nvSpPr>
          <p:cNvPr id="11" name="TextBox 12">
            <a:extLst>
              <a:ext uri="{FF2B5EF4-FFF2-40B4-BE49-F238E27FC236}">
                <a16:creationId xmlns:a16="http://schemas.microsoft.com/office/drawing/2014/main" id="{4D7BD8F7-B0DB-8CCC-E477-F7ABE50AAD26}"/>
              </a:ext>
            </a:extLst>
          </p:cNvPr>
          <p:cNvSpPr txBox="1"/>
          <p:nvPr/>
        </p:nvSpPr>
        <p:spPr>
          <a:xfrm>
            <a:off x="416560" y="5101049"/>
            <a:ext cx="5161280" cy="2616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chemeClr val="accent4">
                    <a:lumMod val="75000"/>
                  </a:schemeClr>
                </a:solidFill>
                <a:effectLst/>
                <a:uLnTx/>
                <a:uFillTx/>
                <a:latin typeface="Arial" panose="020B0604020202020204" pitchFamily="34" charset="0"/>
                <a:cs typeface="Arial" panose="020B0604020202020204" pitchFamily="34" charset="0"/>
              </a:rPr>
              <a:t>Values in yellow are taken from Definitive Healthcare data. </a:t>
            </a:r>
          </a:p>
        </p:txBody>
      </p:sp>
    </p:spTree>
    <p:extLst>
      <p:ext uri="{BB962C8B-B14F-4D97-AF65-F5344CB8AC3E}">
        <p14:creationId xmlns:p14="http://schemas.microsoft.com/office/powerpoint/2010/main" val="40868723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13EFE-107F-C70D-DA9D-3AACDFE5F414}"/>
              </a:ext>
            </a:extLst>
          </p:cNvPr>
          <p:cNvSpPr>
            <a:spLocks noGrp="1"/>
          </p:cNvSpPr>
          <p:nvPr>
            <p:ph type="title"/>
          </p:nvPr>
        </p:nvSpPr>
        <p:spPr/>
        <p:txBody>
          <a:bodyPr/>
          <a:lstStyle/>
          <a:p>
            <a:r>
              <a:rPr lang="en-US" b="1" dirty="0">
                <a:latin typeface="+mn-lt"/>
                <a:cs typeface="Arial" panose="020B0604020202020204" pitchFamily="34" charset="0"/>
              </a:rPr>
              <a:t>Estimation of Margin for Commercial vs. Government Pay</a:t>
            </a:r>
          </a:p>
        </p:txBody>
      </p:sp>
      <p:sp>
        <p:nvSpPr>
          <p:cNvPr id="3" name="Content Placeholder 2">
            <a:extLst>
              <a:ext uri="{FF2B5EF4-FFF2-40B4-BE49-F238E27FC236}">
                <a16:creationId xmlns:a16="http://schemas.microsoft.com/office/drawing/2014/main" id="{47D333E6-57DF-6C19-7BCA-1AE47F6C6568}"/>
              </a:ext>
            </a:extLst>
          </p:cNvPr>
          <p:cNvSpPr>
            <a:spLocks noGrp="1"/>
          </p:cNvSpPr>
          <p:nvPr>
            <p:ph idx="1"/>
          </p:nvPr>
        </p:nvSpPr>
        <p:spPr>
          <a:xfrm>
            <a:off x="838202" y="1825625"/>
            <a:ext cx="10515600" cy="917575"/>
          </a:xfrm>
        </p:spPr>
        <p:txBody>
          <a:bodyPr/>
          <a:lstStyle/>
          <a:p>
            <a:pPr marL="0" indent="0">
              <a:buNone/>
            </a:pPr>
            <a:r>
              <a:rPr lang="en-US" dirty="0">
                <a:solidFill/>
                <a:latin typeface="Arial" panose="020B0604020202020204" pitchFamily="34" charset="0"/>
                <a:cs typeface="Arial" panose="020B0604020202020204" pitchFamily="34" charset="0"/>
              </a:rPr>
              <a:t>The RAND data for Cleveland Clinic estimates commercial insurance reimbursements at 262% of Medicare Rates</a:t>
            </a:r>
          </a:p>
        </p:txBody>
      </p:sp>
      <p:sp>
        <p:nvSpPr>
          <p:cNvPr id="4" name="Footer Placeholder 3">
            <a:extLst>
              <a:ext uri="{FF2B5EF4-FFF2-40B4-BE49-F238E27FC236}">
                <a16:creationId xmlns:a16="http://schemas.microsoft.com/office/drawing/2014/main" id="{AFDF3D97-D614-8EA4-3954-16EBCFCE0752}"/>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300" normalizeH="0" baseline="0" noProof="0">
                <a:ln>
                  <a:noFill/>
                </a:ln>
                <a:solidFill>
                  <a:prstClr val="black">
                    <a:tint val="75000"/>
                  </a:prstClr>
                </a:solidFill>
                <a:effectLst/>
                <a:uLnTx/>
                <a:uFillTx/>
                <a:latin typeface="Arial" panose="020B0604020202020204" pitchFamily="34" charset="0"/>
                <a:cs typeface="Arial" panose="020B0604020202020204" pitchFamily="34" charset="0"/>
              </a:rPr>
              <a:t>Key Benefit Administrators</a:t>
            </a:r>
            <a:endParaRPr kumimoji="0" lang="en-US" sz="1200" b="0" i="0" u="none" strike="noStrike" kern="1200" cap="none" spc="300" normalizeH="0" baseline="0" noProof="0" dirty="0">
              <a:ln>
                <a:noFill/>
              </a:ln>
              <a:solidFill>
                <a:prstClr val="black">
                  <a:tint val="75000"/>
                </a:prstClr>
              </a:solidFill>
              <a:effectLst/>
              <a:uLnTx/>
              <a:uFillTx/>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EDD4D069-E3A2-B95F-CBCE-DE712439D970}"/>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pitchFamily="34" charset="0"/>
                <a:cs typeface="Arial" panose="020B060402020202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pitchFamily="34" charset="0"/>
              <a:cs typeface="Arial" panose="020B0604020202020204" pitchFamily="34" charset="0"/>
            </a:endParaRPr>
          </a:p>
        </p:txBody>
      </p:sp>
      <p:sp>
        <p:nvSpPr>
          <p:cNvPr id="6" name="Content Placeholder 2">
            <a:extLst>
              <a:ext uri="{FF2B5EF4-FFF2-40B4-BE49-F238E27FC236}">
                <a16:creationId xmlns:a16="http://schemas.microsoft.com/office/drawing/2014/main" id="{18BFBD36-1E96-1E59-E3A7-CCEF02D0CF96}"/>
              </a:ext>
            </a:extLst>
          </p:cNvPr>
          <p:cNvSpPr txBox="1">
            <a:spLocks/>
          </p:cNvSpPr>
          <p:nvPr/>
        </p:nvSpPr>
        <p:spPr>
          <a:xfrm>
            <a:off x="838200" y="2970212"/>
            <a:ext cx="4526280" cy="917575"/>
          </a:xfrm>
          <a:prstGeom prst="rect">
            <a:avLst/>
          </a:prstGeom>
        </p:spPr>
        <p:txBody>
          <a:bodyPr vert="horz" lIns="91440" tIns="45720" rIns="91440" bIns="45720" rtlCol="0">
            <a:normAutofit/>
          </a:bodyPr>
          <a:lst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11"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7" name="TextBox 7">
            <a:extLst>
              <a:ext uri="{FF2B5EF4-FFF2-40B4-BE49-F238E27FC236}">
                <a16:creationId xmlns:a16="http://schemas.microsoft.com/office/drawing/2014/main" id="{85163DF1-EB5C-1C3C-A93D-5F16CEEC2B92}"/>
              </a:ext>
            </a:extLst>
          </p:cNvPr>
          <p:cNvSpPr txBox="1"/>
          <p:nvPr/>
        </p:nvSpPr>
        <p:spPr>
          <a:xfrm>
            <a:off x="838199" y="2878137"/>
            <a:ext cx="4742179" cy="89255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4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Estimating Commercial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(Calculated through counterfactual of assuming all CMS/Government pay was paying at commercial rates)</a:t>
            </a:r>
          </a:p>
        </p:txBody>
      </p:sp>
      <p:sp>
        <p:nvSpPr>
          <p:cNvPr id="8" name="TextBox 8">
            <a:extLst>
              <a:ext uri="{FF2B5EF4-FFF2-40B4-BE49-F238E27FC236}">
                <a16:creationId xmlns:a16="http://schemas.microsoft.com/office/drawing/2014/main" id="{020B90EA-11B9-6E81-60B7-F3AFEA7FC5A7}"/>
              </a:ext>
            </a:extLst>
          </p:cNvPr>
          <p:cNvSpPr txBox="1"/>
          <p:nvPr/>
        </p:nvSpPr>
        <p:spPr>
          <a:xfrm>
            <a:off x="6827522" y="2878137"/>
            <a:ext cx="4358640" cy="89255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4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Estimating Gov-Pay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(Calculated through counterfactual of assuming all commercial pay was paying at Medicare rate)</a:t>
            </a:r>
          </a:p>
        </p:txBody>
      </p:sp>
      <p:graphicFrame>
        <p:nvGraphicFramePr>
          <p:cNvPr id="9" name="Table 10">
            <a:extLst>
              <a:ext uri="{FF2B5EF4-FFF2-40B4-BE49-F238E27FC236}">
                <a16:creationId xmlns:a16="http://schemas.microsoft.com/office/drawing/2014/main" id="{30CE50B1-E66B-B63F-C96E-A434E7ECFB6C}"/>
              </a:ext>
            </a:extLst>
          </p:cNvPr>
          <p:cNvGraphicFramePr>
            <a:graphicFrameLocks noGrp="1"/>
          </p:cNvGraphicFramePr>
          <p:nvPr>
            <p:extLst>
              <p:ext uri="{D42A27DB-BD31-4B8C-83A1-F6EECF244321}">
                <p14:modId xmlns:p14="http://schemas.microsoft.com/office/powerpoint/2010/main" val="2769413001"/>
              </p:ext>
            </p:extLst>
          </p:nvPr>
        </p:nvGraphicFramePr>
        <p:xfrm>
          <a:off x="1018541" y="4114799"/>
          <a:ext cx="3997958" cy="2489200"/>
        </p:xfrm>
        <a:graphic>
          <a:graphicData uri="http://schemas.openxmlformats.org/drawingml/2006/table">
            <a:tbl>
              <a:tblPr bandRow="1">
                <a:tableStyleId>{2D5ABB26-0587-4C30-8999-92F81FD0307C}</a:tableStyleId>
              </a:tblPr>
              <a:tblGrid>
                <a:gridCol w="2486659">
                  <a:extLst>
                    <a:ext uri="{9D8B030D-6E8A-4147-A177-3AD203B41FA5}">
                      <a16:colId xmlns:a16="http://schemas.microsoft.com/office/drawing/2014/main" val="1477699201"/>
                    </a:ext>
                  </a:extLst>
                </a:gridCol>
                <a:gridCol w="1511299">
                  <a:extLst>
                    <a:ext uri="{9D8B030D-6E8A-4147-A177-3AD203B41FA5}">
                      <a16:colId xmlns:a16="http://schemas.microsoft.com/office/drawing/2014/main" val="3897938436"/>
                    </a:ext>
                  </a:extLst>
                </a:gridCol>
              </a:tblGrid>
              <a:tr h="370840">
                <a:tc>
                  <a:txBody>
                    <a:bodyPr/>
                    <a:lstStyle/>
                    <a:p>
                      <a:r>
                        <a:rPr lang="en-US" dirty="0">
                          <a:solidFill>
                            <a:schemeClr val="tx1"/>
                          </a:solidFill>
                        </a:rPr>
                        <a:t>Commercial Revenue</a:t>
                      </a:r>
                    </a:p>
                  </a:txBody>
                  <a:tcP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800" dirty="0">
                          <a:solidFill>
                            <a:schemeClr val="tx1"/>
                          </a:solidFill>
                        </a:rPr>
                        <a:t>$</a:t>
                      </a:r>
                      <a:r>
                        <a:rPr lang="en-US" dirty="0">
                          <a:solidFill/>
                        </a:rPr>
                        <a:t>8,584,226K</a:t>
                      </a:r>
                      <a:endParaRPr lang="en-US" sz="1800" dirty="0">
                        <a:solidFill>
                          <a:schemeClr val="tx1"/>
                        </a:solidFill>
                      </a:endParaRPr>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62808004"/>
                  </a:ext>
                </a:extLst>
              </a:tr>
              <a:tr h="370840">
                <a:tc>
                  <a:txBody>
                    <a:bodyPr/>
                    <a:lstStyle/>
                    <a:p>
                      <a:r>
                        <a:rPr lang="en-US" dirty="0">
                          <a:solidFill>
                            <a:schemeClr val="tx1"/>
                          </a:solidFill>
                        </a:rPr>
                        <a:t>Gov-pay revenue at </a:t>
                      </a:r>
                      <a:r>
                        <a:rPr lang="en-US" sz="1800" kern="1200" dirty="0">
                          <a:solidFill>
                            <a:schemeClr val="tx1"/>
                          </a:solidFill>
                          <a:latin typeface="+mn-lt"/>
                          <a:ea typeface="+mn-ea"/>
                          <a:cs typeface="+mn-cs"/>
                        </a:rPr>
                        <a:t>262% current </a:t>
                      </a:r>
                      <a:r>
                        <a:rPr lang="en-US" dirty="0">
                          <a:solidFill>
                            <a:schemeClr val="tx1"/>
                          </a:solidFill>
                        </a:rPr>
                        <a:t>rate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5,661,988K</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420689008"/>
                  </a:ext>
                </a:extLst>
              </a:tr>
              <a:tr h="370840">
                <a:tc>
                  <a:txBody>
                    <a:bodyPr/>
                    <a:lstStyle/>
                    <a:p>
                      <a:r>
                        <a:rPr lang="en-US" dirty="0">
                          <a:solidFill>
                            <a:schemeClr val="tx1"/>
                          </a:solidFill>
                        </a:rPr>
                        <a:t>Total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14,246,214</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11,851,735</a:t>
                      </a:r>
                      <a:r>
                        <a:rPr lang="en-US" sz="1800" dirty="0"/>
                        <a:t>K</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accent6">
                              <a:lumMod val="75000"/>
                            </a:schemeClr>
                          </a:solidFill>
                        </a:rPr>
                        <a:t>$2,394,479K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276861">
                <a:tc>
                  <a:txBody>
                    <a:bodyPr/>
                    <a:lstStyle/>
                    <a:p>
                      <a:endParaRPr lang="en-US" dirty="0">
                        <a:solidFill>
                          <a:schemeClr val="tx1"/>
                        </a:solidFill>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chemeClr val="accent6">
                              <a:lumMod val="75000"/>
                            </a:schemeClr>
                          </a:solidFill>
                        </a:rPr>
                        <a:t>17%</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graphicFrame>
        <p:nvGraphicFramePr>
          <p:cNvPr id="10" name="Table 11">
            <a:extLst>
              <a:ext uri="{FF2B5EF4-FFF2-40B4-BE49-F238E27FC236}">
                <a16:creationId xmlns:a16="http://schemas.microsoft.com/office/drawing/2014/main" id="{BB254502-CBB2-8520-631D-31E05AB0F371}"/>
              </a:ext>
            </a:extLst>
          </p:cNvPr>
          <p:cNvGraphicFramePr>
            <a:graphicFrameLocks noGrp="1"/>
          </p:cNvGraphicFramePr>
          <p:nvPr>
            <p:extLst>
              <p:ext uri="{D42A27DB-BD31-4B8C-83A1-F6EECF244321}">
                <p14:modId xmlns:p14="http://schemas.microsoft.com/office/powerpoint/2010/main" val="2398384907"/>
              </p:ext>
            </p:extLst>
          </p:nvPr>
        </p:nvGraphicFramePr>
        <p:xfrm>
          <a:off x="6611622" y="4079368"/>
          <a:ext cx="3997958" cy="2494280"/>
        </p:xfrm>
        <a:graphic>
          <a:graphicData uri="http://schemas.openxmlformats.org/drawingml/2006/table">
            <a:tbl>
              <a:tblPr bandRow="1">
                <a:tableStyleId>{2D5ABB26-0587-4C30-8999-92F81FD0307C}</a:tableStyleId>
              </a:tblPr>
              <a:tblGrid>
                <a:gridCol w="2486659">
                  <a:extLst>
                    <a:ext uri="{9D8B030D-6E8A-4147-A177-3AD203B41FA5}">
                      <a16:colId xmlns:a16="http://schemas.microsoft.com/office/drawing/2014/main" val="1477699201"/>
                    </a:ext>
                  </a:extLst>
                </a:gridCol>
                <a:gridCol w="1511299">
                  <a:extLst>
                    <a:ext uri="{9D8B030D-6E8A-4147-A177-3AD203B41FA5}">
                      <a16:colId xmlns:a16="http://schemas.microsoft.com/office/drawing/2014/main" val="3897938436"/>
                    </a:ext>
                  </a:extLst>
                </a:gridCol>
              </a:tblGrid>
              <a:tr h="370840">
                <a:tc>
                  <a:txBody>
                    <a:bodyPr/>
                    <a:lstStyle/>
                    <a:p>
                      <a:r>
                        <a:rPr lang="en-US" dirty="0">
                          <a:solidFill>
                            <a:schemeClr val="tx1"/>
                          </a:solidFill>
                        </a:rPr>
                        <a:t>Commercial Revenue </a:t>
                      </a:r>
                      <a:r>
                        <a:rPr lang="en-US" sz="1800" kern="1200" dirty="0">
                          <a:solidFill>
                            <a:schemeClr val="tx1"/>
                          </a:solidFill>
                          <a:latin typeface="+mn-lt"/>
                          <a:ea typeface="+mn-ea"/>
                          <a:cs typeface="+mn-cs"/>
                        </a:rPr>
                        <a:t>Divided by 262%</a:t>
                      </a:r>
                    </a:p>
                  </a:txBody>
                  <a:tcP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800" dirty="0">
                          <a:solidFill>
                            <a:schemeClr val="tx1"/>
                          </a:solidFill>
                        </a:rPr>
                        <a:t>$</a:t>
                      </a:r>
                      <a:r>
                        <a:rPr lang="en-US" dirty="0">
                          <a:solidFill/>
                        </a:rPr>
                        <a:t>3,273,964K</a:t>
                      </a:r>
                      <a:endParaRPr lang="en-US" sz="1800" dirty="0">
                        <a:solidFill>
                          <a:schemeClr val="tx1"/>
                        </a:solidFill>
                      </a:endParaRPr>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62808004"/>
                  </a:ext>
                </a:extLst>
              </a:tr>
              <a:tr h="370840">
                <a:tc>
                  <a:txBody>
                    <a:bodyPr/>
                    <a:lstStyle/>
                    <a:p>
                      <a:r>
                        <a:rPr lang="en-US" dirty="0">
                          <a:solidFill>
                            <a:schemeClr val="tx1"/>
                          </a:solidFill>
                        </a:rPr>
                        <a:t>Gov-pay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2,159,443</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420689008"/>
                  </a:ext>
                </a:extLst>
              </a:tr>
              <a:tr h="370840">
                <a:tc>
                  <a:txBody>
                    <a:bodyPr/>
                    <a:lstStyle/>
                    <a:p>
                      <a:r>
                        <a:rPr lang="en-US" dirty="0">
                          <a:solidFill>
                            <a:schemeClr val="tx1"/>
                          </a:solidFill>
                        </a:rPr>
                        <a:t>Total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5,433,407</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11,851,735</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rgbClr val="C55A11"/>
                          </a:solidFill>
                        </a:rPr>
                        <a:t>$ -6,418,328</a:t>
                      </a:r>
                      <a:r>
                        <a:rPr lang="en-US" dirty="0">
                          <a:solidFill>
                            <a:schemeClr val="accent2">
                              <a:lumMod val="75000"/>
                            </a:schemeClr>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370840">
                <a:tc>
                  <a:txBody>
                    <a:bodyPr/>
                    <a:lstStyle/>
                    <a:p>
                      <a:endParaRPr lang="en-US" dirty="0">
                        <a:solidFill>
                          <a:schemeClr val="tx1"/>
                        </a:solidFill>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rgbClr val="C55A11"/>
                          </a:solidFill>
                        </a:rPr>
                        <a:t>-118%</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spTree>
    <p:extLst>
      <p:ext uri="{BB962C8B-B14F-4D97-AF65-F5344CB8AC3E}">
        <p14:creationId xmlns:p14="http://schemas.microsoft.com/office/powerpoint/2010/main" val="367918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7C8AA-0E66-B861-59D6-F381D95EE319}"/>
              </a:ext>
            </a:extLst>
          </p:cNvPr>
          <p:cNvSpPr>
            <a:spLocks noGrp="1"/>
          </p:cNvSpPr>
          <p:nvPr>
            <p:ph type="title"/>
          </p:nvPr>
        </p:nvSpPr>
        <p:spPr>
          <a:xfrm>
            <a:off x="838200" y="-184997"/>
            <a:ext cx="10515600" cy="1325563"/>
          </a:xfrm>
        </p:spPr>
        <p:txBody>
          <a:bodyPr>
            <a:normAutofit/>
          </a:bodyPr>
          <a:lstStyle/>
          <a:p>
            <a:r>
              <a:rPr lang="en-US" sz="4000" b="1" dirty="0">
                <a:solidFill>
                  <a:schemeClr val="tx1">
                    <a:lumMod val="85000"/>
                    <a:lumOff val="15000"/>
                  </a:schemeClr>
                </a:solidFill>
                <a:latin typeface="Arial" panose="020B0604020202020204" pitchFamily="34" charset="0"/>
                <a:cs typeface="Arial" panose="020B0604020202020204" pitchFamily="34" charset="0"/>
              </a:rPr>
              <a:t>Estimating Market Share</a:t>
            </a:r>
          </a:p>
        </p:txBody>
      </p:sp>
      <p:sp>
        <p:nvSpPr>
          <p:cNvPr id="3" name="Footer Placeholder 3">
            <a:extLst>
              <a:ext uri="{FF2B5EF4-FFF2-40B4-BE49-F238E27FC236}">
                <a16:creationId xmlns:a16="http://schemas.microsoft.com/office/drawing/2014/main" id="{E092F34F-7748-D9DB-3EE4-D064EA0B844B}"/>
              </a:ext>
            </a:extLst>
          </p:cNvPr>
          <p:cNvSpPr>
            <a:spLocks noGrp="1"/>
          </p:cNvSpPr>
          <p:nvPr>
            <p:ph type="ftr" sz="quarter" idx="11"/>
          </p:nvPr>
        </p:nvSpPr>
        <p:spPr/>
        <p:txBody>
          <a:bodyPr/>
          <a:lstStyle/>
          <a:p>
            <a:r>
              <a:rPr lang="en-US"/>
              <a:t>Key Benefit Administrators</a:t>
            </a:r>
            <a:endParaRPr lang="en-US" dirty="0"/>
          </a:p>
        </p:txBody>
      </p:sp>
      <p:sp>
        <p:nvSpPr>
          <p:cNvPr id="4" name="Slide Number Placeholder 4">
            <a:extLst>
              <a:ext uri="{FF2B5EF4-FFF2-40B4-BE49-F238E27FC236}">
                <a16:creationId xmlns:a16="http://schemas.microsoft.com/office/drawing/2014/main" id="{D40FF682-D105-5BF8-1FB9-A89C8D2FA780}"/>
              </a:ext>
            </a:extLst>
          </p:cNvPr>
          <p:cNvSpPr>
            <a:spLocks noGrp="1"/>
          </p:cNvSpPr>
          <p:nvPr>
            <p:ph type="sldNum" sz="quarter" idx="12"/>
          </p:nvPr>
        </p:nvSpPr>
        <p:spPr/>
        <p:txBody>
          <a:bodyPr/>
          <a:lstStyle/>
          <a:p>
            <a:fld id="{3AFC719D-C4A7-4544-876E-D411D11AF6C9}" type="slidenum">
              <a:rPr lang="en-US" smtClean="0"/>
              <a:t>27</a:t>
            </a:fld>
            <a:endParaRPr lang="en-US" dirty="0"/>
          </a:p>
        </p:txBody>
      </p:sp>
      <p:sp>
        <p:nvSpPr>
          <p:cNvPr id="5" name="TextBox 9">
            <a:extLst>
              <a:ext uri="{FF2B5EF4-FFF2-40B4-BE49-F238E27FC236}">
                <a16:creationId xmlns:a16="http://schemas.microsoft.com/office/drawing/2014/main" id="{DD333F58-1E5B-D213-65EE-BB627B8B12A8}"/>
              </a:ext>
            </a:extLst>
          </p:cNvPr>
          <p:cNvSpPr txBox="1"/>
          <p:nvPr/>
        </p:nvSpPr>
        <p:spPr>
          <a:xfrm>
            <a:off x="838199" y="6088454"/>
            <a:ext cx="10515600" cy="507831"/>
          </a:xfrm>
          <a:prstGeom prst="rect">
            <a:avLst/>
          </a:prstGeom>
          <a:noFill/>
        </p:spPr>
        <p:txBody>
          <a:bodyPr wrap="square" rtlCol="0">
            <a:spAutoFit/>
          </a:bodyPr>
          <a:lstStyle/>
          <a:p>
            <a:r>
              <a:rPr lang="en-US" sz="900" dirty="0">
                <a:solidFill/>
                <a:latin typeface="Arial" panose="020B0604020202020204" pitchFamily="34" charset="0"/>
                <a:cs typeface="Arial" panose="020B0604020202020204" pitchFamily="34" charset="0"/>
              </a:rPr>
              <a:t>For outpatient market share, it is estimated that only 66% of local physicians are employed by area hospitals (Research from the Physician Advocacy Institute:  </a:t>
            </a:r>
            <a:r>
              <a:rPr lang="en-US" sz="900" dirty="0">
                <a:latin typeface="Arial" panose="020B0604020202020204" pitchFamily="34" charset="0"/>
                <a:cs typeface="Arial" panose="020B0604020202020204" pitchFamily="34" charset="0"/>
                <a:hlinkClick r:id="rId2"/>
              </a:rPr>
              <a:t>https://www.physiciansadvocacyinstitute.org/Portals/0/assets/docs/PAI-Research/PAI-Avalere%20Physician%20Employment%20Trends%20Study%202019-2023%20Final.pdf?ver=uGHF46u1GSeZgYXMKFyYvw%3d%3d</a:t>
            </a:r>
            <a:r>
              <a:rPr lang="en-US" sz="900" dirty="0">
                <a:latin typeface="Arial" panose="020B0604020202020204" pitchFamily="34" charset="0"/>
                <a:cs typeface="Arial" panose="020B0604020202020204" pitchFamily="34" charset="0"/>
              </a:rPr>
              <a:t>)</a:t>
            </a:r>
          </a:p>
        </p:txBody>
      </p:sp>
      <p:sp>
        <p:nvSpPr>
          <p:cNvPr id="8" name="TextBox 7">
            <a:extLst>
              <a:ext uri="{FF2B5EF4-FFF2-40B4-BE49-F238E27FC236}">
                <a16:creationId xmlns:a16="http://schemas.microsoft.com/office/drawing/2014/main" id="{9B6D3A3D-F7F6-795A-A6C2-53FD734A446C}"/>
              </a:ext>
            </a:extLst>
          </p:cNvPr>
          <p:cNvSpPr txBox="1"/>
          <p:nvPr/>
        </p:nvSpPr>
        <p:spPr>
          <a:xfrm>
            <a:off x="914400" y="5368075"/>
            <a:ext cx="10325100" cy="646331"/>
          </a:xfrm>
          <a:prstGeom prst="rect">
            <a:avLst/>
          </a:prstGeom>
          <a:noFill/>
        </p:spPr>
        <p:txBody>
          <a:bodyPr wrap="square">
            <a:spAutoFit/>
          </a:bodyPr>
          <a:lstStyle/>
          <a:p>
            <a:r>
              <a:rPr lang="en-US" sz="1800" dirty="0">
                <a:solidFill>
                  <a:srgbClr val="000B2E"/>
                </a:solidFill>
              </a:rPr>
              <a:t>Market share for providers in Wayne, Ashtabula, Carroll, Cuyahoga, Erie, Geauga, Holmes, Huron, Lake, Lorain, Medina, Stark, Summit, and Tuscarawas Counties</a:t>
            </a:r>
            <a:endParaRPr lang="en-US" dirty="0"/>
          </a:p>
        </p:txBody>
      </p:sp>
      <p:graphicFrame>
        <p:nvGraphicFramePr>
          <p:cNvPr id="9" name="Table 8">
            <a:extLst>
              <a:ext uri="{FF2B5EF4-FFF2-40B4-BE49-F238E27FC236}">
                <a16:creationId xmlns:a16="http://schemas.microsoft.com/office/drawing/2014/main" id="{28623B24-5252-F148-CB1F-44A65D6328FB}"/>
              </a:ext>
            </a:extLst>
          </p:cNvPr>
          <p:cNvGraphicFramePr>
            <a:graphicFrameLocks noGrp="1"/>
          </p:cNvGraphicFramePr>
          <p:nvPr>
            <p:extLst>
              <p:ext uri="{D42A27DB-BD31-4B8C-83A1-F6EECF244321}">
                <p14:modId xmlns:p14="http://schemas.microsoft.com/office/powerpoint/2010/main" val="1025064753"/>
              </p:ext>
            </p:extLst>
          </p:nvPr>
        </p:nvGraphicFramePr>
        <p:xfrm>
          <a:off x="952500" y="973875"/>
          <a:ext cx="10287000" cy="4394200"/>
        </p:xfrm>
        <a:graphic>
          <a:graphicData uri="http://schemas.openxmlformats.org/drawingml/2006/table">
            <a:tbl>
              <a:tblPr/>
              <a:tblGrid>
                <a:gridCol w="2870791">
                  <a:extLst>
                    <a:ext uri="{9D8B030D-6E8A-4147-A177-3AD203B41FA5}">
                      <a16:colId xmlns:a16="http://schemas.microsoft.com/office/drawing/2014/main" val="1853640356"/>
                    </a:ext>
                  </a:extLst>
                </a:gridCol>
                <a:gridCol w="1196163">
                  <a:extLst>
                    <a:ext uri="{9D8B030D-6E8A-4147-A177-3AD203B41FA5}">
                      <a16:colId xmlns:a16="http://schemas.microsoft.com/office/drawing/2014/main" val="3462247610"/>
                    </a:ext>
                  </a:extLst>
                </a:gridCol>
                <a:gridCol w="1435395">
                  <a:extLst>
                    <a:ext uri="{9D8B030D-6E8A-4147-A177-3AD203B41FA5}">
                      <a16:colId xmlns:a16="http://schemas.microsoft.com/office/drawing/2014/main" val="647419793"/>
                    </a:ext>
                  </a:extLst>
                </a:gridCol>
                <a:gridCol w="1435395">
                  <a:extLst>
                    <a:ext uri="{9D8B030D-6E8A-4147-A177-3AD203B41FA5}">
                      <a16:colId xmlns:a16="http://schemas.microsoft.com/office/drawing/2014/main" val="905257831"/>
                    </a:ext>
                  </a:extLst>
                </a:gridCol>
                <a:gridCol w="1674628">
                  <a:extLst>
                    <a:ext uri="{9D8B030D-6E8A-4147-A177-3AD203B41FA5}">
                      <a16:colId xmlns:a16="http://schemas.microsoft.com/office/drawing/2014/main" val="1375162443"/>
                    </a:ext>
                  </a:extLst>
                </a:gridCol>
                <a:gridCol w="1674628">
                  <a:extLst>
                    <a:ext uri="{9D8B030D-6E8A-4147-A177-3AD203B41FA5}">
                      <a16:colId xmlns:a16="http://schemas.microsoft.com/office/drawing/2014/main" val="109614787"/>
                    </a:ext>
                  </a:extLst>
                </a:gridCol>
              </a:tblGrid>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Hospital Name</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Number of Beds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Inpatient Total Charges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Outpatient Total Charges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Inpatient Percent of Market Total</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Outpatient Percent of Market Total (Assuming 66% of Physicians Employed by Hospitals)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extLst>
                  <a:ext uri="{0D108BD9-81ED-4DB2-BD59-A6C34878D82A}">
                    <a16:rowId xmlns:a16="http://schemas.microsoft.com/office/drawing/2014/main" val="742027755"/>
                  </a:ext>
                </a:extLst>
              </a:tr>
              <a:tr h="228600">
                <a:tc>
                  <a:txBody>
                    <a:bodyPr/>
                    <a:lstStyle/>
                    <a:p>
                      <a:pPr marL="63500" marR="63500" algn="l">
                        <a:lnSpc>
                          <a:spcPct val="100000"/>
                        </a:lnSpc>
                        <a:spcBef>
                          <a:spcPts val="0"/>
                        </a:spcBef>
                        <a:spcAft>
                          <a:spcPts val="0"/>
                        </a:spcAft>
                        <a:buNone/>
                      </a:pPr>
                      <a:r>
                        <a:rPr sz="1000" b="0" i="0" u="none" cap="none" dirty="0">
                          <a:solidFill>
                            <a:srgbClr val="000000">
                              <a:alpha val="100000"/>
                            </a:srgbClr>
                          </a:solidFill>
                          <a:latin typeface="Arial"/>
                          <a:cs typeface="Arial"/>
                          <a:sym typeface="Arial"/>
                        </a:rPr>
                        <a:t>Union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77</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92,671.2K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237,197.0K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64617657"/>
                  </a:ext>
                </a:extLst>
              </a:tr>
              <a:tr h="228600">
                <a:tc>
                  <a:txBody>
                    <a:bodyPr/>
                    <a:lstStyle/>
                    <a:p>
                      <a:pPr marL="63500" marR="63500" algn="l">
                        <a:lnSpc>
                          <a:spcPct val="100000"/>
                        </a:lnSpc>
                        <a:spcBef>
                          <a:spcPts val="0"/>
                        </a:spcBef>
                        <a:spcAft>
                          <a:spcPts val="0"/>
                        </a:spcAft>
                        <a:buNone/>
                      </a:pPr>
                      <a:r>
                        <a:rPr sz="1000" b="0" i="0" u="none" cap="none" dirty="0">
                          <a:solidFill>
                            <a:srgbClr val="000000">
                              <a:alpha val="100000"/>
                            </a:srgbClr>
                          </a:solidFill>
                          <a:latin typeface="Arial"/>
                          <a:cs typeface="Arial"/>
                          <a:sym typeface="Arial"/>
                        </a:rPr>
                        <a:t>Akron General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401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$1,247,284.0K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$ 1,889,319.5K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3419242255"/>
                  </a:ext>
                </a:extLst>
              </a:tr>
              <a:tr h="228600">
                <a:tc>
                  <a:txBody>
                    <a:bodyPr/>
                    <a:lstStyle/>
                    <a:p>
                      <a:pPr marL="63500" marR="63500" algn="l">
                        <a:lnSpc>
                          <a:spcPct val="100000"/>
                        </a:lnSpc>
                        <a:spcBef>
                          <a:spcPts val="0"/>
                        </a:spcBef>
                        <a:spcAft>
                          <a:spcPts val="0"/>
                        </a:spcAft>
                        <a:buNone/>
                      </a:pPr>
                      <a:r>
                        <a:rPr sz="1000" b="0" i="0" u="none" cap="none" dirty="0">
                          <a:solidFill>
                            <a:srgbClr val="000000">
                              <a:alpha val="100000"/>
                            </a:srgbClr>
                          </a:solidFill>
                          <a:latin typeface="Arial"/>
                          <a:cs typeface="Arial"/>
                          <a:sym typeface="Arial"/>
                        </a:rPr>
                        <a:t>Cleveland Clinic Mercy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317</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537,074.5K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969,083.9K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573894312"/>
                  </a:ext>
                </a:extLst>
              </a:tr>
              <a:tr h="228600">
                <a:tc>
                  <a:txBody>
                    <a:bodyPr/>
                    <a:lstStyle/>
                    <a:p>
                      <a:pPr marL="63500" marR="63500" algn="l">
                        <a:lnSpc>
                          <a:spcPct val="100000"/>
                        </a:lnSpc>
                        <a:spcBef>
                          <a:spcPts val="0"/>
                        </a:spcBef>
                        <a:spcAft>
                          <a:spcPts val="0"/>
                        </a:spcAft>
                        <a:buNone/>
                      </a:pPr>
                      <a:r>
                        <a:rPr sz="1000" b="0" i="0" u="none" cap="none" dirty="0">
                          <a:solidFill>
                            <a:srgbClr val="000000">
                              <a:alpha val="100000"/>
                            </a:srgbClr>
                          </a:solidFill>
                          <a:latin typeface="Arial"/>
                          <a:cs typeface="Arial"/>
                          <a:sym typeface="Arial"/>
                        </a:rPr>
                        <a:t>Fairview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dirty="0">
                          <a:solidFill>
                            <a:srgbClr val="000000">
                              <a:alpha val="100000"/>
                            </a:srgbClr>
                          </a:solidFill>
                          <a:latin typeface="Arial"/>
                          <a:cs typeface="Arial"/>
                          <a:sym typeface="Arial"/>
                        </a:rPr>
                        <a:t>466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$1,105,628.9K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$ 1,180,188.2K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3694059681"/>
                  </a:ext>
                </a:extLst>
              </a:tr>
              <a:tr h="228600">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Euclid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dirty="0">
                          <a:solidFill>
                            <a:srgbClr val="000000">
                              <a:alpha val="100000"/>
                            </a:srgbClr>
                          </a:solidFill>
                          <a:latin typeface="Arial"/>
                          <a:cs typeface="Arial"/>
                          <a:sym typeface="Arial"/>
                        </a:rPr>
                        <a:t>90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169,995.3K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285,905.4K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817309853"/>
                  </a:ext>
                </a:extLst>
              </a:tr>
              <a:tr h="228600">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Lutheran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dirty="0">
                          <a:solidFill>
                            <a:srgbClr val="000000">
                              <a:alpha val="100000"/>
                            </a:srgbClr>
                          </a:solidFill>
                          <a:latin typeface="Arial"/>
                          <a:cs typeface="Arial"/>
                          <a:sym typeface="Arial"/>
                        </a:rPr>
                        <a:t>110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202,654.4K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351,343.6K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483657309"/>
                  </a:ext>
                </a:extLst>
              </a:tr>
              <a:tr h="228600">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Medina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148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dirty="0">
                          <a:solidFill>
                            <a:srgbClr val="000000">
                              <a:alpha val="100000"/>
                            </a:srgbClr>
                          </a:solidFill>
                          <a:latin typeface="Arial"/>
                          <a:cs typeface="Arial"/>
                          <a:sym typeface="Arial"/>
                        </a:rPr>
                        <a:t>$  270,076.3K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398,838.4K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2576915437"/>
                  </a:ext>
                </a:extLst>
              </a:tr>
              <a:tr h="228600">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Ashtabula County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105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dirty="0">
                          <a:solidFill>
                            <a:srgbClr val="000000">
                              <a:alpha val="100000"/>
                            </a:srgbClr>
                          </a:solidFill>
                          <a:latin typeface="Arial"/>
                          <a:cs typeface="Arial"/>
                          <a:sym typeface="Arial"/>
                        </a:rPr>
                        <a:t>$  121,564.8K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426,651.8K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638611404"/>
                  </a:ext>
                </a:extLst>
              </a:tr>
              <a:tr h="228600">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Marymount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188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dirty="0">
                          <a:solidFill>
                            <a:srgbClr val="000000">
                              <a:alpha val="100000"/>
                            </a:srgbClr>
                          </a:solidFill>
                          <a:latin typeface="Arial"/>
                          <a:cs typeface="Arial"/>
                          <a:sym typeface="Arial"/>
                        </a:rPr>
                        <a:t>$  291,922.7K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414,326.5K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708239736"/>
                  </a:ext>
                </a:extLst>
              </a:tr>
              <a:tr h="228600">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South Pointe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138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dirty="0">
                          <a:solidFill>
                            <a:srgbClr val="000000">
                              <a:alpha val="100000"/>
                            </a:srgbClr>
                          </a:solidFill>
                          <a:latin typeface="Arial"/>
                          <a:cs typeface="Arial"/>
                          <a:sym typeface="Arial"/>
                        </a:rPr>
                        <a:t>$  252,116.2K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337,113.4K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3259959056"/>
                  </a:ext>
                </a:extLst>
              </a:tr>
              <a:tr h="228600">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Cleveland Clinic Main Campus</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1,299</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dirty="0">
                          <a:solidFill>
                            <a:srgbClr val="000000">
                              <a:alpha val="100000"/>
                            </a:srgbClr>
                          </a:solidFill>
                          <a:latin typeface="Arial"/>
                          <a:cs typeface="Arial"/>
                          <a:sym typeface="Arial"/>
                        </a:rPr>
                        <a:t>$6,174,513.8K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$17,984,513.8K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21%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23%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65180579"/>
                  </a:ext>
                </a:extLst>
              </a:tr>
              <a:tr h="228600">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Hillcrest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483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$1,130,806.2K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$ 1,155,445.7K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932976269"/>
                  </a:ext>
                </a:extLst>
              </a:tr>
              <a:tr h="228600">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Glenbeigh Hospital of Rock Creek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114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78,086.0K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12,428.3K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283584369"/>
                  </a:ext>
                </a:extLst>
              </a:tr>
              <a:tr h="228600">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Avon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126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245,616.2K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518,736.9K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2539664502"/>
                  </a:ext>
                </a:extLst>
              </a:tr>
              <a:tr h="228600">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Akron General Lodi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20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11,677.7K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63,576.8K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dirty="0">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4223692613"/>
                  </a:ext>
                </a:extLst>
              </a:tr>
            </a:tbl>
          </a:graphicData>
        </a:graphic>
      </p:graphicFrame>
    </p:spTree>
    <p:extLst>
      <p:ext uri="{BB962C8B-B14F-4D97-AF65-F5344CB8AC3E}">
        <p14:creationId xmlns:p14="http://schemas.microsoft.com/office/powerpoint/2010/main" val="30349230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1338982226"/>
              </p:ext>
            </p:extLst>
          </p:nvPr>
        </p:nvGraphicFramePr>
        <p:xfrm>
          <a:off x="-2" y="1"/>
          <a:ext cx="12192001" cy="6874332"/>
        </p:xfrm>
        <a:graphic>
          <a:graphicData uri="http://schemas.openxmlformats.org/drawingml/2006/table">
            <a:tbl>
              <a:tblPr/>
              <a:tblGrid>
                <a:gridCol w="2476244">
                  <a:extLst>
                    <a:ext uri="{9D8B030D-6E8A-4147-A177-3AD203B41FA5}">
                      <a16:colId xmlns:a16="http://schemas.microsoft.com/office/drawing/2014/main" val="20000"/>
                    </a:ext>
                  </a:extLst>
                </a:gridCol>
                <a:gridCol w="943061">
                  <a:extLst>
                    <a:ext uri="{9D8B030D-6E8A-4147-A177-3AD203B41FA5}">
                      <a16:colId xmlns:a16="http://schemas.microsoft.com/office/drawing/2014/main" val="20001"/>
                    </a:ext>
                  </a:extLst>
                </a:gridCol>
                <a:gridCol w="925412">
                  <a:extLst>
                    <a:ext uri="{9D8B030D-6E8A-4147-A177-3AD203B41FA5}">
                      <a16:colId xmlns:a16="http://schemas.microsoft.com/office/drawing/2014/main" val="20002"/>
                    </a:ext>
                  </a:extLst>
                </a:gridCol>
                <a:gridCol w="1257799">
                  <a:extLst>
                    <a:ext uri="{9D8B030D-6E8A-4147-A177-3AD203B41FA5}">
                      <a16:colId xmlns:a16="http://schemas.microsoft.com/office/drawing/2014/main" val="20003"/>
                    </a:ext>
                  </a:extLst>
                </a:gridCol>
                <a:gridCol w="1262743">
                  <a:extLst>
                    <a:ext uri="{9D8B030D-6E8A-4147-A177-3AD203B41FA5}">
                      <a16:colId xmlns:a16="http://schemas.microsoft.com/office/drawing/2014/main" val="20004"/>
                    </a:ext>
                  </a:extLst>
                </a:gridCol>
                <a:gridCol w="1088572">
                  <a:extLst>
                    <a:ext uri="{9D8B030D-6E8A-4147-A177-3AD203B41FA5}">
                      <a16:colId xmlns:a16="http://schemas.microsoft.com/office/drawing/2014/main" val="20005"/>
                    </a:ext>
                  </a:extLst>
                </a:gridCol>
                <a:gridCol w="1329633">
                  <a:extLst>
                    <a:ext uri="{9D8B030D-6E8A-4147-A177-3AD203B41FA5}">
                      <a16:colId xmlns:a16="http://schemas.microsoft.com/office/drawing/2014/main" val="20006"/>
                    </a:ext>
                  </a:extLst>
                </a:gridCol>
                <a:gridCol w="1008932">
                  <a:extLst>
                    <a:ext uri="{9D8B030D-6E8A-4147-A177-3AD203B41FA5}">
                      <a16:colId xmlns:a16="http://schemas.microsoft.com/office/drawing/2014/main" val="20007"/>
                    </a:ext>
                  </a:extLst>
                </a:gridCol>
                <a:gridCol w="1899605">
                  <a:extLst>
                    <a:ext uri="{9D8B030D-6E8A-4147-A177-3AD203B41FA5}">
                      <a16:colId xmlns:a16="http://schemas.microsoft.com/office/drawing/2014/main" val="20008"/>
                    </a:ext>
                  </a:extLst>
                </a:gridCol>
              </a:tblGrid>
              <a:tr h="267655">
                <a:tc gridSpan="9">
                  <a:txBody>
                    <a:bodyPr/>
                    <a:lstStyle/>
                    <a:p>
                      <a:pPr marL="63500" marR="63500" algn="ctr">
                        <a:lnSpc>
                          <a:spcPct val="100000"/>
                        </a:lnSpc>
                        <a:spcBef>
                          <a:spcPts val="500"/>
                        </a:spcBef>
                        <a:spcAft>
                          <a:spcPts val="500"/>
                        </a:spcAft>
                        <a:buNone/>
                      </a:pPr>
                      <a:r>
                        <a:rPr sz="1200" b="1" i="0" u="none" cap="none" dirty="0">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583575">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Metric</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Union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dirty="0">
                          <a:solidFill>
                            <a:srgbClr val="000000">
                              <a:alpha val="100000"/>
                            </a:srgbClr>
                          </a:solidFill>
                          <a:latin typeface="Arial"/>
                          <a:cs typeface="Arial"/>
                          <a:sym typeface="Arial"/>
                        </a:rPr>
                        <a:t>Akron General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Cleveland Clinic Mercy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Fairview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Euclid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Lutheran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dirty="0">
                          <a:solidFill>
                            <a:srgbClr val="000000">
                              <a:alpha val="100000"/>
                            </a:srgbClr>
                          </a:solidFill>
                          <a:latin typeface="Arial"/>
                          <a:cs typeface="Arial"/>
                          <a:sym typeface="Arial"/>
                        </a:rPr>
                        <a:t>Medina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dirty="0">
                          <a:solidFill>
                            <a:srgbClr val="000000">
                              <a:alpha val="100000"/>
                            </a:srgbClr>
                          </a:solidFill>
                          <a:latin typeface="Arial"/>
                          <a:cs typeface="Arial"/>
                          <a:sym typeface="Arial"/>
                        </a:rPr>
                        <a:t>Ashtabula County Medical Center</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250456">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Inpatient Patient Revenue</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$31,416K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$329,283K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$126,213K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$325,055K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$38,419K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$58,364K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$74,001K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$33,430K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extLst>
                  <a:ext uri="{0D108BD9-81ED-4DB2-BD59-A6C34878D82A}">
                    <a16:rowId xmlns:a16="http://schemas.microsoft.com/office/drawing/2014/main" val="10002"/>
                  </a:ext>
                </a:extLst>
              </a:tr>
              <a:tr h="250785">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Outpatient Patient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$80,410K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$498,780K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$227,735K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$346,975K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$64,615K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$101,187K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$109,282K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$117,329K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3"/>
                  </a:ext>
                </a:extLst>
              </a:tr>
              <a:tr h="250456">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Medicare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$14,214K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$117,596K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$50,712K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$89,951K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$12,531K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$18,507K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$28,162K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$33,083K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4"/>
                  </a:ext>
                </a:extLst>
              </a:tr>
              <a:tr h="426636">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Medicaid and Other Government-Pay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$10,588K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$88,002K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$44,340K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$76,190K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$20,402K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$26,140K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$9,213K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$19,654K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5"/>
                  </a:ext>
                </a:extLst>
              </a:tr>
              <a:tr h="250456">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Commercial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$87,086K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$622,595K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$259,091K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$504,771K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$70,216K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$114,735K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$145,840K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$98,181K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6"/>
                  </a:ext>
                </a:extLst>
              </a:tr>
              <a:tr h="250744">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Uncompensated Care</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$10,110K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$28,543K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$30,400K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$31,186K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$16,271K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$22,981K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$10,292K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$6,337K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07"/>
                  </a:ext>
                </a:extLst>
              </a:tr>
              <a:tr h="250744">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Inpatient Costs</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$35,445K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$283,759K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$145,563K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$266,933K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$45,364K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$53,382K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$66,407K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$36,348K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08"/>
                  </a:ext>
                </a:extLst>
              </a:tr>
              <a:tr h="250785">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Outpatient Costs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$90,722K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$429,824K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$262,650K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$284,934K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$76,295K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$92,549K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$98,067K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$127,570K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09"/>
                  </a:ext>
                </a:extLst>
              </a:tr>
              <a:tr h="251771">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Operating Expenses</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$126,167K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$713,583K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$408,213K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$551,868K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$121,659K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$145,931K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$164,475K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$163,918K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extLst>
                  <a:ext uri="{0D108BD9-81ED-4DB2-BD59-A6C34878D82A}">
                    <a16:rowId xmlns:a16="http://schemas.microsoft.com/office/drawing/2014/main" val="10010"/>
                  </a:ext>
                </a:extLst>
              </a:tr>
              <a:tr h="338366">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Net Income</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$-14,280K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$114,610K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$-54,070K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$119,044K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$-18,509K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$13,450K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$18,740K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$-12,999K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extLst>
                  <a:ext uri="{0D108BD9-81ED-4DB2-BD59-A6C34878D82A}">
                    <a16:rowId xmlns:a16="http://schemas.microsoft.com/office/drawing/2014/main" val="10011"/>
                  </a:ext>
                </a:extLst>
              </a:tr>
              <a:tr h="25070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Payer Mix Percent Medicare</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29.7%</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21.5%</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21.2%</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18.3%</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22.6%</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14.9%</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30.1%</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37.8%</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2"/>
                  </a:ext>
                </a:extLst>
              </a:tr>
              <a:tr h="25070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Payer Mix Percent Medicaid</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5.6%</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2.9%</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3.3%</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5.4%</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3.8%</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1.1%</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2.4%</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3"/>
                  </a:ext>
                </a:extLst>
              </a:tr>
              <a:tr h="37296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Payer Mix Percent Other Government-Pay</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4"/>
                  </a:ext>
                </a:extLst>
              </a:tr>
              <a:tr h="25070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Payer Mix Percent No Pay</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8.3%</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3.3%</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7.9%</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4.4%</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13.6%</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12.6%</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5.3%</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5"/>
                  </a:ext>
                </a:extLst>
              </a:tr>
              <a:tr h="251729">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Payer Mix Percent Commercial</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56.5%</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72.3%</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65.9%</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74.0%</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58.3%</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68.7%</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63.5%</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55.8%</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extLst>
                  <a:ext uri="{0D108BD9-81ED-4DB2-BD59-A6C34878D82A}">
                    <a16:rowId xmlns:a16="http://schemas.microsoft.com/office/drawing/2014/main" val="10016"/>
                  </a:ext>
                </a:extLst>
              </a:tr>
              <a:tr h="338366">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Commercial Profit Margin</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17.1%</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38.6%</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19.7%</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41.3%</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22.3%</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37.0%</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32.5%</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30.7%</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17"/>
                  </a:ext>
                </a:extLst>
              </a:tr>
              <a:tr h="215001">
                <a:tc gridSpan="9">
                  <a:txBody>
                    <a:bodyPr/>
                    <a:lstStyle/>
                    <a:p>
                      <a:pPr marL="63500" marR="63500" algn="l">
                        <a:lnSpc>
                          <a:spcPct val="100000"/>
                        </a:lnSpc>
                        <a:spcBef>
                          <a:spcPts val="500"/>
                        </a:spcBef>
                        <a:spcAft>
                          <a:spcPts val="500"/>
                        </a:spcAft>
                        <a:buNone/>
                      </a:pPr>
                      <a:r>
                        <a:rPr sz="800" b="0" i="0" u="none" cap="none" dirty="0">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215001">
                <a:tc gridSpan="9">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215001">
                <a:tc gridSpan="9">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0"/>
                  </a:ext>
                </a:extLst>
              </a:tr>
              <a:tr h="215001">
                <a:tc gridSpan="9">
                  <a:txBody>
                    <a:bodyPr/>
                    <a:lstStyle/>
                    <a:p>
                      <a:pPr marL="63500" marR="63500" algn="l">
                        <a:lnSpc>
                          <a:spcPct val="100000"/>
                        </a:lnSpc>
                        <a:spcBef>
                          <a:spcPts val="500"/>
                        </a:spcBef>
                        <a:spcAft>
                          <a:spcPts val="500"/>
                        </a:spcAft>
                        <a:buNone/>
                      </a:pPr>
                      <a:r>
                        <a:rPr sz="800" b="0" i="0" u="none" cap="none" dirty="0">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415716176"/>
              </p:ext>
            </p:extLst>
          </p:nvPr>
        </p:nvGraphicFramePr>
        <p:xfrm>
          <a:off x="-1" y="-43542"/>
          <a:ext cx="12192000" cy="6969452"/>
        </p:xfrm>
        <a:graphic>
          <a:graphicData uri="http://schemas.openxmlformats.org/drawingml/2006/table">
            <a:tbl>
              <a:tblPr/>
              <a:tblGrid>
                <a:gridCol w="2461560">
                  <a:extLst>
                    <a:ext uri="{9D8B030D-6E8A-4147-A177-3AD203B41FA5}">
                      <a16:colId xmlns:a16="http://schemas.microsoft.com/office/drawing/2014/main" val="20000"/>
                    </a:ext>
                  </a:extLst>
                </a:gridCol>
                <a:gridCol w="1210876">
                  <a:extLst>
                    <a:ext uri="{9D8B030D-6E8A-4147-A177-3AD203B41FA5}">
                      <a16:colId xmlns:a16="http://schemas.microsoft.com/office/drawing/2014/main" val="20009"/>
                    </a:ext>
                  </a:extLst>
                </a:gridCol>
                <a:gridCol w="1293954">
                  <a:extLst>
                    <a:ext uri="{9D8B030D-6E8A-4147-A177-3AD203B41FA5}">
                      <a16:colId xmlns:a16="http://schemas.microsoft.com/office/drawing/2014/main" val="20010"/>
                    </a:ext>
                  </a:extLst>
                </a:gridCol>
                <a:gridCol w="1376354">
                  <a:extLst>
                    <a:ext uri="{9D8B030D-6E8A-4147-A177-3AD203B41FA5}">
                      <a16:colId xmlns:a16="http://schemas.microsoft.com/office/drawing/2014/main" val="20011"/>
                    </a:ext>
                  </a:extLst>
                </a:gridCol>
                <a:gridCol w="1414208">
                  <a:extLst>
                    <a:ext uri="{9D8B030D-6E8A-4147-A177-3AD203B41FA5}">
                      <a16:colId xmlns:a16="http://schemas.microsoft.com/office/drawing/2014/main" val="20012"/>
                    </a:ext>
                  </a:extLst>
                </a:gridCol>
                <a:gridCol w="1503163">
                  <a:extLst>
                    <a:ext uri="{9D8B030D-6E8A-4147-A177-3AD203B41FA5}">
                      <a16:colId xmlns:a16="http://schemas.microsoft.com/office/drawing/2014/main" val="20013"/>
                    </a:ext>
                  </a:extLst>
                </a:gridCol>
                <a:gridCol w="1304996">
                  <a:extLst>
                    <a:ext uri="{9D8B030D-6E8A-4147-A177-3AD203B41FA5}">
                      <a16:colId xmlns:a16="http://schemas.microsoft.com/office/drawing/2014/main" val="20014"/>
                    </a:ext>
                  </a:extLst>
                </a:gridCol>
                <a:gridCol w="1626889">
                  <a:extLst>
                    <a:ext uri="{9D8B030D-6E8A-4147-A177-3AD203B41FA5}">
                      <a16:colId xmlns:a16="http://schemas.microsoft.com/office/drawing/2014/main" val="20015"/>
                    </a:ext>
                  </a:extLst>
                </a:gridCol>
              </a:tblGrid>
              <a:tr h="283051">
                <a:tc gridSpan="8">
                  <a:txBody>
                    <a:bodyPr/>
                    <a:lstStyle/>
                    <a:p>
                      <a:pPr marL="63500" marR="63500" algn="ctr">
                        <a:lnSpc>
                          <a:spcPct val="100000"/>
                        </a:lnSpc>
                        <a:spcBef>
                          <a:spcPts val="500"/>
                        </a:spcBef>
                        <a:spcAft>
                          <a:spcPts val="500"/>
                        </a:spcAft>
                        <a:buNone/>
                      </a:pPr>
                      <a:r>
                        <a:rPr sz="1200" b="1" i="0" u="none" cap="none" dirty="0">
                          <a:solidFill>
                            <a:srgbClr val="000000">
                              <a:alpha val="100000"/>
                            </a:srgbClr>
                          </a:solidFill>
                          <a:latin typeface="Arial"/>
                          <a:cs typeface="Arial"/>
                          <a:sym typeface="Arial"/>
                        </a:rPr>
                        <a:t>Hospital Metrics</a:t>
                      </a:r>
                      <a:r>
                        <a:rPr lang="en-US" sz="1200" b="1" i="0" u="none" cap="none" dirty="0">
                          <a:solidFill>
                            <a:srgbClr val="000000">
                              <a:alpha val="100000"/>
                            </a:srgbClr>
                          </a:solidFill>
                          <a:latin typeface="Arial"/>
                          <a:cs typeface="Arial"/>
                          <a:sym typeface="Arial"/>
                        </a:rPr>
                        <a:t> (Continued)</a:t>
                      </a:r>
                      <a:endParaRPr sz="1200" b="1" i="0" u="none" cap="none" dirty="0">
                        <a:solidFill>
                          <a:srgbClr val="000000">
                            <a:alpha val="100000"/>
                          </a:srgbClr>
                        </a:solidFill>
                        <a:latin typeface="Arial"/>
                        <a:cs typeface="Arial"/>
                        <a:sym typeface="Arial"/>
                      </a:endParaRP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solidFill>
                      <a:prstDash val="solid"/>
                      <a:round/>
                      <a:headEnd type="none" w="med" len="med"/>
                      <a:tailEnd type="none" w="med" len="me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617143">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Metric</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dirty="0">
                          <a:solidFill>
                            <a:srgbClr val="000000">
                              <a:alpha val="100000"/>
                            </a:srgbClr>
                          </a:solidFill>
                          <a:latin typeface="Arial"/>
                          <a:cs typeface="Arial"/>
                          <a:sym typeface="Arial"/>
                        </a:rPr>
                        <a:t>Marymount Hospital</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19050" cap="flat" cmpd="sng" algn="ctr">
                      <a:solidFill>
                        <a:srgbClr val="666666"/>
                      </a:solidFill>
                      <a:prstDash val="solid"/>
                      <a:round/>
                      <a:headEnd type="none" w="med" len="med"/>
                      <a:tailEnd type="none" w="med" len="me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dirty="0">
                          <a:solidFill>
                            <a:srgbClr val="000000">
                              <a:alpha val="100000"/>
                            </a:srgbClr>
                          </a:solidFill>
                          <a:latin typeface="Arial"/>
                          <a:cs typeface="Arial"/>
                          <a:sym typeface="Arial"/>
                        </a:rPr>
                        <a:t>South Pointe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dirty="0">
                          <a:solidFill>
                            <a:srgbClr val="000000">
                              <a:alpha val="100000"/>
                            </a:srgbClr>
                          </a:solidFill>
                          <a:latin typeface="Arial"/>
                          <a:cs typeface="Arial"/>
                          <a:sym typeface="Arial"/>
                        </a:rPr>
                        <a:t>Cleveland Clinic Main Campus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dirty="0">
                          <a:solidFill>
                            <a:srgbClr val="000000">
                              <a:alpha val="100000"/>
                            </a:srgbClr>
                          </a:solidFill>
                          <a:latin typeface="Arial"/>
                          <a:cs typeface="Arial"/>
                          <a:sym typeface="Arial"/>
                        </a:rPr>
                        <a:t>Hillcrest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dirty="0" err="1">
                          <a:solidFill>
                            <a:srgbClr val="000000">
                              <a:alpha val="100000"/>
                            </a:srgbClr>
                          </a:solidFill>
                          <a:latin typeface="Arial"/>
                          <a:cs typeface="Arial"/>
                          <a:sym typeface="Arial"/>
                        </a:rPr>
                        <a:t>Glenbeigh</a:t>
                      </a:r>
                      <a:r>
                        <a:rPr sz="1200" b="1" i="0" u="none" cap="none" dirty="0">
                          <a:solidFill>
                            <a:srgbClr val="000000">
                              <a:alpha val="100000"/>
                            </a:srgbClr>
                          </a:solidFill>
                          <a:latin typeface="Arial"/>
                          <a:cs typeface="Arial"/>
                          <a:sym typeface="Arial"/>
                        </a:rPr>
                        <a:t> Hospital of Rock Creek</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Avon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Akron General Lodi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25521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Inpatient Patient Revenue</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$76,484K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$61,264K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$1,778,260K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$313,233K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$18,897K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$64,106K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$6,026K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extLst>
                  <a:ext uri="{0D108BD9-81ED-4DB2-BD59-A6C34878D82A}">
                    <a16:rowId xmlns:a16="http://schemas.microsoft.com/office/drawing/2014/main" val="10002"/>
                  </a:ext>
                </a:extLst>
              </a:tr>
              <a:tr h="25521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Outpatient Patient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$108,554K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$81,919K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$5,179,540K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$320,058K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$3,008K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$135,390K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$32,806K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3"/>
                  </a:ext>
                </a:extLst>
              </a:tr>
              <a:tr h="25521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Medicare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$23,300K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$25,881K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$737,789K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$107,900K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$1,463K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$30,158K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$1,621K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4"/>
                  </a:ext>
                </a:extLst>
              </a:tr>
              <a:tr h="42876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Medicaid and Other Government-Pay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$27,102K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$23,187K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$443,418K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$48,924K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$9,270K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$10,484K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$9,661K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5"/>
                  </a:ext>
                </a:extLst>
              </a:tr>
              <a:tr h="25521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Commercial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$134,381K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$93,793K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$5,779,321K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$476,577K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$11,166K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$158,910K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$27,563K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6"/>
                  </a:ext>
                </a:extLst>
              </a:tr>
              <a:tr h="25521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Uncompensated Care</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$20,289K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solidFill>
                      <a:prstDash val="solid"/>
                      <a:round/>
                      <a:headEnd type="none" w="med" len="med"/>
                      <a:tailEnd type="none" w="med" len="me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$9,298K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$122,003K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$22,854K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$460K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$11,110K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$1,467K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07"/>
                  </a:ext>
                </a:extLst>
              </a:tr>
              <a:tr h="25521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Inpatient Costs</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$81,689K</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$66,089K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$2,127,427K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$286,478K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$19,244K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$50,569K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$3,255K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08"/>
                  </a:ext>
                </a:extLst>
              </a:tr>
              <a:tr h="25521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Outpatient Costs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$115,941K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$88,371K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$6,196,559K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$292,720K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$3,063K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$106,801K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$17,719K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09"/>
                  </a:ext>
                </a:extLst>
              </a:tr>
              <a:tr h="25521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Operating Expenses</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$197,630K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solidFill>
                      <a:prstDash val="solid"/>
                      <a:round/>
                      <a:headEnd type="none" w="med" len="med"/>
                      <a:tailEnd type="none" w="med" len="me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$154,460K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$8,323,986K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$579,197K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$22,306K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$157,370K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$20,973K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extLst>
                  <a:ext uri="{0D108BD9-81ED-4DB2-BD59-A6C34878D82A}">
                    <a16:rowId xmlns:a16="http://schemas.microsoft.com/office/drawing/2014/main" val="10010"/>
                  </a:ext>
                </a:extLst>
              </a:tr>
              <a:tr h="25521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Net Income</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$-12,847K</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$-11,599K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$-1,363,458K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$54,204K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$-408K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$42,183K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$17,872K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extLst>
                  <a:ext uri="{0D108BD9-81ED-4DB2-BD59-A6C34878D82A}">
                    <a16:rowId xmlns:a16="http://schemas.microsoft.com/office/drawing/2014/main" val="10011"/>
                  </a:ext>
                </a:extLst>
              </a:tr>
              <a:tr h="25521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Payer Mix Percent Medicare</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26.5%</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23.0%</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24.5%</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28.5%</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 9.5%</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31.1%</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35.3%</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2"/>
                  </a:ext>
                </a:extLst>
              </a:tr>
              <a:tr h="25521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Payer Mix Percent Medicaid</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2.3%</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5.6%</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4.1%</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3.9%</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NA%</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3"/>
                  </a:ext>
                </a:extLst>
              </a:tr>
              <a:tr h="394415">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Payer Mix Percent Other Government-Pay</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3e-04%</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4"/>
                  </a:ext>
                </a:extLst>
              </a:tr>
              <a:tr h="25521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Payer Mix Percent No Pay</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 9.9%</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6.1%</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1.7%</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3.5%</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2.1%</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5.3%</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3.6%</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5"/>
                  </a:ext>
                </a:extLst>
              </a:tr>
              <a:tr h="394415">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Payer Mix Percent Commercial</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61.4%</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solidFill>
                      <a:prstDash val="solid"/>
                      <a:round/>
                      <a:headEnd type="none" w="med" len="med"/>
                      <a:tailEnd type="none" w="med" len="me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65.3%</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69.7%</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64.1%</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87.5%</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62.1%</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NA%</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extLst>
                  <a:ext uri="{0D108BD9-81ED-4DB2-BD59-A6C34878D82A}">
                    <a16:rowId xmlns:a16="http://schemas.microsoft.com/office/drawing/2014/main" val="10016"/>
                  </a:ext>
                </a:extLst>
              </a:tr>
              <a:tr h="34005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Commercial Profit Margin</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25.9%</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30.6%</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6.2%</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34.8%</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43.3%</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40.7%</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63.3%</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17"/>
                  </a:ext>
                </a:extLst>
              </a:tr>
              <a:tr h="227369">
                <a:tc gridSpan="8">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227369">
                <a:tc gridSpan="8">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227369">
                <a:tc gridSpan="8">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0"/>
                  </a:ext>
                </a:extLst>
              </a:tr>
              <a:tr h="227369">
                <a:tc gridSpan="8">
                  <a:txBody>
                    <a:bodyPr/>
                    <a:lstStyle/>
                    <a:p>
                      <a:pPr marL="63500" marR="63500" algn="l">
                        <a:lnSpc>
                          <a:spcPct val="100000"/>
                        </a:lnSpc>
                        <a:spcBef>
                          <a:spcPts val="500"/>
                        </a:spcBef>
                        <a:spcAft>
                          <a:spcPts val="500"/>
                        </a:spcAft>
                        <a:buNone/>
                      </a:pPr>
                      <a:r>
                        <a:rPr sz="800" b="0" i="0" u="none" cap="none" dirty="0">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bl>
          </a:graphicData>
        </a:graphic>
      </p:graphicFrame>
    </p:spTree>
    <p:extLst>
      <p:ext uri="{BB962C8B-B14F-4D97-AF65-F5344CB8AC3E}">
        <p14:creationId xmlns:p14="http://schemas.microsoft.com/office/powerpoint/2010/main" val="38033161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7">
            <a:extLst>
              <a:ext uri="{FF2B5EF4-FFF2-40B4-BE49-F238E27FC236}">
                <a16:creationId xmlns:a16="http://schemas.microsoft.com/office/drawing/2014/main" id="{E54E0CA3-8729-0C22-A99D-64AA84C3DC78}"/>
              </a:ext>
            </a:extLst>
          </p:cNvPr>
          <p:cNvSpPr/>
          <p:nvPr/>
        </p:nvSpPr>
        <p:spPr>
          <a:xfrm>
            <a:off x="0" y="0"/>
            <a:ext cx="12192000" cy="6858000"/>
          </a:xfrm>
          <a:prstGeom prst="rect">
            <a:avLst/>
          </a:prstGeom>
          <a:solidFill>
            <a:srgbClr val="D6DCE5">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1">
            <a:extLst>
              <a:ext uri="{FF2B5EF4-FFF2-40B4-BE49-F238E27FC236}">
                <a16:creationId xmlns:a16="http://schemas.microsoft.com/office/drawing/2014/main" id="{7C883DE4-3AC3-AC60-06C5-41C0EE69E332}"/>
              </a:ext>
            </a:extLst>
          </p:cNvPr>
          <p:cNvSpPr>
            <a:spLocks noGrp="1"/>
          </p:cNvSpPr>
          <p:nvPr>
            <p:ph type="title"/>
          </p:nvPr>
        </p:nvSpPr>
        <p:spPr>
          <a:xfrm>
            <a:off x="611635" y="389125"/>
            <a:ext cx="10955969" cy="1325563"/>
          </a:xfrm>
        </p:spPr>
        <p:txBody>
          <a:bodyPr/>
          <a:lstStyle/>
          <a:p>
            <a:r>
              <a:rPr lang="en-US" b="1" dirty="0">
                <a:latin typeface="Arial" panose="020B0604020202020204" pitchFamily="34" charset="0"/>
                <a:cs typeface="Arial" panose="020B0604020202020204" pitchFamily="34" charset="0"/>
              </a:rPr>
              <a:t>Estimating PMPY Spend (KBA Data)</a:t>
            </a:r>
          </a:p>
        </p:txBody>
      </p:sp>
      <p:graphicFrame>
        <p:nvGraphicFramePr>
          <p:cNvPr id="4" name="Content Placeholder 5">
            <a:extLst>
              <a:ext uri="{FF2B5EF4-FFF2-40B4-BE49-F238E27FC236}">
                <a16:creationId xmlns:a16="http://schemas.microsoft.com/office/drawing/2014/main" id="{3C07E302-CC45-B04C-2C2D-C436C7863084}"/>
              </a:ext>
            </a:extLst>
          </p:cNvPr>
          <p:cNvGraphicFramePr>
            <a:graphicFrameLocks noGrp="1"/>
          </p:cNvGraphicFramePr>
          <p:nvPr>
            <p:ph idx="1"/>
            <p:extLst>
              <p:ext uri="{D42A27DB-BD31-4B8C-83A1-F6EECF244321}">
                <p14:modId xmlns:p14="http://schemas.microsoft.com/office/powerpoint/2010/main" val="1342252091"/>
              </p:ext>
            </p:extLst>
          </p:nvPr>
        </p:nvGraphicFramePr>
        <p:xfrm>
          <a:off x="727045" y="2103813"/>
          <a:ext cx="10955969" cy="1977078"/>
        </p:xfrm>
        <a:graphic>
          <a:graphicData uri="http://schemas.openxmlformats.org/drawingml/2006/table">
            <a:tbl>
              <a:tblPr>
                <a:tableStyleId>{0E3FDE45-AF77-4B5C-9715-49D594BDF05E}</a:tableStyleId>
              </a:tblPr>
              <a:tblGrid>
                <a:gridCol w="1547010">
                  <a:extLst>
                    <a:ext uri="{9D8B030D-6E8A-4147-A177-3AD203B41FA5}">
                      <a16:colId xmlns:a16="http://schemas.microsoft.com/office/drawing/2014/main" val="3362999399"/>
                    </a:ext>
                  </a:extLst>
                </a:gridCol>
                <a:gridCol w="1623242">
                  <a:extLst>
                    <a:ext uri="{9D8B030D-6E8A-4147-A177-3AD203B41FA5}">
                      <a16:colId xmlns:a16="http://schemas.microsoft.com/office/drawing/2014/main" val="2451770454"/>
                    </a:ext>
                  </a:extLst>
                </a:gridCol>
                <a:gridCol w="1926454">
                  <a:extLst>
                    <a:ext uri="{9D8B030D-6E8A-4147-A177-3AD203B41FA5}">
                      <a16:colId xmlns:a16="http://schemas.microsoft.com/office/drawing/2014/main" val="502797257"/>
                    </a:ext>
                  </a:extLst>
                </a:gridCol>
                <a:gridCol w="1677880">
                  <a:extLst>
                    <a:ext uri="{9D8B030D-6E8A-4147-A177-3AD203B41FA5}">
                      <a16:colId xmlns:a16="http://schemas.microsoft.com/office/drawing/2014/main" val="922876968"/>
                    </a:ext>
                  </a:extLst>
                </a:gridCol>
                <a:gridCol w="1633491">
                  <a:extLst>
                    <a:ext uri="{9D8B030D-6E8A-4147-A177-3AD203B41FA5}">
                      <a16:colId xmlns:a16="http://schemas.microsoft.com/office/drawing/2014/main" val="182128588"/>
                    </a:ext>
                  </a:extLst>
                </a:gridCol>
                <a:gridCol w="2547892">
                  <a:extLst>
                    <a:ext uri="{9D8B030D-6E8A-4147-A177-3AD203B41FA5}">
                      <a16:colId xmlns:a16="http://schemas.microsoft.com/office/drawing/2014/main" val="3900443217"/>
                    </a:ext>
                  </a:extLst>
                </a:gridCol>
              </a:tblGrid>
              <a:tr h="620649">
                <a:tc>
                  <a:txBody>
                    <a:bodyPr/>
                    <a:lstStyle/>
                    <a:p>
                      <a:pPr algn="l" fontAlgn="b"/>
                      <a:r>
                        <a:rPr lang="en-US" sz="1400" u="none" strike="noStrike" dirty="0">
                          <a:effectLst/>
                        </a:rPr>
                        <a:t>Category</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Standardized Allowed Charges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Standardized Paid Charges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Member Years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Nationwide Average of Paid Claims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1" u="none" strike="noStrike" dirty="0">
                          <a:effectLst/>
                        </a:rPr>
                        <a:t>Adjusted </a:t>
                      </a:r>
                      <a:r>
                        <a:rPr lang="en-US" sz="1400" b="1" u="none" strike="noStrike" dirty="0">
                          <a:solidFill/>
                          <a:effectLst/>
                        </a:rPr>
                        <a:t>to Northern Ohio Rates</a:t>
                      </a:r>
                      <a:endParaRPr lang="en-US" sz="1400" b="1" i="0" u="none" strike="noStrike" dirty="0">
                        <a:solidFill>
                          <a:srgbClr val="000000"/>
                        </a:solidFill>
                        <a:effectLst/>
                        <a:latin typeface="Calibri" panose="020F0502020204030204" pitchFamily="34" charset="0"/>
                      </a:endParaRPr>
                    </a:p>
                  </a:txBody>
                  <a:tcPr marL="9525" marR="9525" marT="9525" marB="0" anchor="b">
                    <a:solidFill>
                      <a:schemeClr val="accent1">
                        <a:lumMod val="20000"/>
                        <a:lumOff val="80000"/>
                      </a:schemeClr>
                    </a:solidFill>
                  </a:tcPr>
                </a:tc>
                <a:extLst>
                  <a:ext uri="{0D108BD9-81ED-4DB2-BD59-A6C34878D82A}">
                    <a16:rowId xmlns:a16="http://schemas.microsoft.com/office/drawing/2014/main" val="3953059960"/>
                  </a:ext>
                </a:extLst>
              </a:tr>
              <a:tr h="452143">
                <a:tc>
                  <a:txBody>
                    <a:bodyPr/>
                    <a:lstStyle/>
                    <a:p>
                      <a:pPr algn="l" fontAlgn="b"/>
                      <a:r>
                        <a:rPr lang="en-US" sz="1400" u="none" strike="noStrike" dirty="0">
                          <a:effectLst/>
                        </a:rPr>
                        <a:t>Inpatient</a:t>
                      </a:r>
                      <a:endParaRPr lang="en-US"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$ 561,766,609 </a:t>
                      </a: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$ 358,815,229 </a:t>
                      </a:r>
                    </a:p>
                  </a:txBody>
                  <a:tcPr marL="9525" marR="9525" marT="9525" marB="0" anchor="b"/>
                </a:tc>
                <a:tc rowSpan="3">
                  <a:txBody>
                    <a:bodyPr/>
                    <a:lstStyle/>
                    <a:p>
                      <a:pPr algn="ctr" fontAlgn="b"/>
                      <a:r>
                        <a:rPr lang="en-US" sz="1400" b="0" i="0" u="none" strike="noStrike" dirty="0">
                          <a:solidFill>
                            <a:srgbClr val="000000"/>
                          </a:solidFill>
                          <a:effectLst/>
                          <a:latin typeface="Calibri" panose="020F0502020204030204" pitchFamily="34" charset="0"/>
                        </a:rPr>
                        <a:t> 105,492 </a:t>
                      </a:r>
                    </a:p>
                    <a:p>
                      <a:pPr algn="ctr" fontAlgn="b"/>
                      <a:r>
                        <a:rPr lang="en-US" sz="1400" b="0" i="0" u="none" strike="noStrike" dirty="0">
                          <a:solidFill>
                            <a:srgbClr val="000000"/>
                          </a:solidFill>
                          <a:effectLst/>
                          <a:latin typeface="Calibri" panose="020F0502020204030204" pitchFamily="34" charset="0"/>
                        </a:rPr>
                        <a:t> </a:t>
                      </a:r>
                    </a:p>
                    <a:p>
                      <a:pPr algn="ctr" fontAlgn="b"/>
                      <a:endParaRPr lang="en-US" sz="1400" b="0" i="0" u="none" strike="noStrike" dirty="0">
                        <a:solidFill>
                          <a:srgbClr val="000000"/>
                        </a:solidFill>
                        <a:effectLst/>
                        <a:latin typeface="Calibri" panose="020F0502020204030204" pitchFamily="34" charset="0"/>
                      </a:endParaRPr>
                    </a:p>
                    <a:p>
                      <a:pPr algn="ctr" fontAlgn="b"/>
                      <a:endParaRPr lang="en-US"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$ 3,401 </a:t>
                      </a:r>
                    </a:p>
                  </a:txBody>
                  <a:tcPr marL="9525" marR="9525" marT="9525" marB="0" anchor="b"/>
                </a:tc>
                <a:tc>
                  <a:txBody>
                    <a:bodyPr/>
                    <a:lstStyle/>
                    <a:p>
                      <a:pPr algn="ctr" fontAlgn="b"/>
                      <a:r>
                        <a:rPr lang="en-US" sz="1400" b="1" i="0" u="none" strike="noStrike" dirty="0">
                          <a:solidFill>
                            <a:srgbClr val="000000"/>
                          </a:solidFill>
                          <a:effectLst/>
                          <a:latin typeface="Calibri" panose="020F0502020204030204" pitchFamily="34" charset="0"/>
                        </a:rPr>
                        <a:t> $ 3,401</a:t>
                      </a:r>
                    </a:p>
                  </a:txBody>
                  <a:tcPr marL="9525" marR="9525" marT="9525" marB="0" anchor="b">
                    <a:solidFill>
                      <a:schemeClr val="accent1">
                        <a:lumMod val="20000"/>
                        <a:lumOff val="80000"/>
                      </a:schemeClr>
                    </a:solidFill>
                  </a:tcPr>
                </a:tc>
                <a:extLst>
                  <a:ext uri="{0D108BD9-81ED-4DB2-BD59-A6C34878D82A}">
                    <a16:rowId xmlns:a16="http://schemas.microsoft.com/office/drawing/2014/main" val="405929793"/>
                  </a:ext>
                </a:extLst>
              </a:tr>
              <a:tr h="452143">
                <a:tc>
                  <a:txBody>
                    <a:bodyPr/>
                    <a:lstStyle/>
                    <a:p>
                      <a:pPr algn="l" fontAlgn="b"/>
                      <a:r>
                        <a:rPr lang="en-US" sz="1400" u="none" strike="noStrike">
                          <a:effectLst/>
                        </a:rPr>
                        <a:t>OutPatient</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$ 1,223,989,466 </a:t>
                      </a: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$ 652,333,702 </a:t>
                      </a:r>
                    </a:p>
                  </a:txBody>
                  <a:tcPr marL="9525" marR="9525" marT="9525" marB="0" anchor="b"/>
                </a:tc>
                <a:tc vMerge="1">
                  <a:txBody>
                    <a:bodyPr/>
                    <a:lstStyle/>
                    <a:p>
                      <a:endParaRPr/>
                    </a:p>
                  </a:txBody>
                  <a:tcPr marL="9525" marR="9525" marT="9525" marB="0" anchor="b"/>
                </a:tc>
                <a:tc>
                  <a:txBody>
                    <a:bodyPr/>
                    <a:lstStyle/>
                    <a:p>
                      <a:pPr algn="ctr" fontAlgn="b"/>
                      <a:r>
                        <a:rPr lang="en-US" sz="1400" b="0" i="0" u="none" strike="noStrike">
                          <a:solidFill>
                            <a:srgbClr val="000000"/>
                          </a:solidFill>
                          <a:effectLst/>
                          <a:latin typeface="Calibri" panose="020F0502020204030204" pitchFamily="34" charset="0"/>
                        </a:rPr>
                        <a:t> $ 6,184 </a:t>
                      </a:r>
                    </a:p>
                  </a:txBody>
                  <a:tcPr marL="9525" marR="9525" marT="9525" marB="0" anchor="b"/>
                </a:tc>
                <a:tc>
                  <a:txBody>
                    <a:bodyPr/>
                    <a:lstStyle/>
                    <a:p>
                      <a:pPr algn="ctr" fontAlgn="b"/>
                      <a:r>
                        <a:rPr lang="en-US" sz="1400" b="1" i="0" u="none" strike="noStrike" dirty="0">
                          <a:solidFill>
                            <a:srgbClr val="000000"/>
                          </a:solidFill>
                          <a:effectLst/>
                          <a:latin typeface="Calibri" panose="020F0502020204030204" pitchFamily="34" charset="0"/>
                        </a:rPr>
                        <a:t> $ 6,184</a:t>
                      </a:r>
                    </a:p>
                  </a:txBody>
                  <a:tcPr marL="9525" marR="9525" marT="9525" marB="0" anchor="b">
                    <a:solidFill>
                      <a:schemeClr val="accent1">
                        <a:lumMod val="20000"/>
                        <a:lumOff val="80000"/>
                      </a:schemeClr>
                    </a:solidFill>
                  </a:tcPr>
                </a:tc>
                <a:extLst>
                  <a:ext uri="{0D108BD9-81ED-4DB2-BD59-A6C34878D82A}">
                    <a16:rowId xmlns:a16="http://schemas.microsoft.com/office/drawing/2014/main" val="1220429663"/>
                  </a:ext>
                </a:extLst>
              </a:tr>
              <a:tr h="452143">
                <a:tc>
                  <a:txBody>
                    <a:bodyPr/>
                    <a:lstStyle/>
                    <a:p>
                      <a:pPr algn="l" fontAlgn="b"/>
                      <a:r>
                        <a:rPr lang="en-US" sz="1400" u="none" strike="noStrike">
                          <a:effectLst/>
                        </a:rPr>
                        <a:t>Professional</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a:solidFill>
                            <a:srgbClr val="000000"/>
                          </a:solidFill>
                          <a:effectLst/>
                          <a:latin typeface="Calibri" panose="020F0502020204030204" pitchFamily="34" charset="0"/>
                        </a:rPr>
                        <a:t> $ 549,353,224 </a:t>
                      </a: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$ 304,634,120 </a:t>
                      </a:r>
                    </a:p>
                  </a:txBody>
                  <a:tcPr marL="9525" marR="9525" marT="9525" marB="0" anchor="b"/>
                </a:tc>
                <a:tc vMerge="1">
                  <a:txBody>
                    <a:bodyPr/>
                    <a:lstStyle/>
                    <a:p>
                      <a:endParaRPr dirty="0"/>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$ 2,888 </a:t>
                      </a:r>
                    </a:p>
                  </a:txBody>
                  <a:tcPr marL="9525" marR="9525" marT="9525" marB="0" anchor="b"/>
                </a:tc>
                <a:tc>
                  <a:txBody>
                    <a:bodyPr/>
                    <a:lstStyle/>
                    <a:p>
                      <a:pPr algn="ctr" fontAlgn="b"/>
                      <a:r>
                        <a:rPr lang="en-US" sz="1400" b="1" i="0" u="none" strike="noStrike" dirty="0">
                          <a:solidFill>
                            <a:srgbClr val="000000"/>
                          </a:solidFill>
                          <a:effectLst/>
                          <a:latin typeface="Calibri" panose="020F0502020204030204" pitchFamily="34" charset="0"/>
                        </a:rPr>
                        <a:t> $ 2,888</a:t>
                      </a:r>
                    </a:p>
                  </a:txBody>
                  <a:tcPr marL="9525" marR="9525" marT="9525" marB="0" anchor="b">
                    <a:solidFill>
                      <a:schemeClr val="accent1">
                        <a:lumMod val="20000"/>
                        <a:lumOff val="80000"/>
                      </a:schemeClr>
                    </a:solidFill>
                  </a:tcPr>
                </a:tc>
                <a:extLst>
                  <a:ext uri="{0D108BD9-81ED-4DB2-BD59-A6C34878D82A}">
                    <a16:rowId xmlns:a16="http://schemas.microsoft.com/office/drawing/2014/main" val="3164641254"/>
                  </a:ext>
                </a:extLst>
              </a:tr>
            </a:tbl>
          </a:graphicData>
        </a:graphic>
      </p:graphicFrame>
      <p:sp>
        <p:nvSpPr>
          <p:cNvPr id="5" name="Footer Placeholder 3">
            <a:extLst>
              <a:ext uri="{FF2B5EF4-FFF2-40B4-BE49-F238E27FC236}">
                <a16:creationId xmlns:a16="http://schemas.microsoft.com/office/drawing/2014/main" id="{7BA580EB-C284-801F-0C01-7F0E0784CDF5}"/>
              </a:ext>
            </a:extLst>
          </p:cNvPr>
          <p:cNvSpPr>
            <a:spLocks noGrp="1"/>
          </p:cNvSpPr>
          <p:nvPr>
            <p:ph type="ftr" sz="quarter" idx="11"/>
          </p:nvPr>
        </p:nvSpPr>
        <p:spPr/>
        <p:txBody>
          <a:bodyPr/>
          <a:lstStyle/>
          <a:p>
            <a:r>
              <a:rPr lang="en-US"/>
              <a:t>Key Benefit Administrators</a:t>
            </a:r>
            <a:endParaRPr lang="en-US" dirty="0"/>
          </a:p>
        </p:txBody>
      </p:sp>
      <p:sp>
        <p:nvSpPr>
          <p:cNvPr id="6" name="Slide Number Placeholder 4">
            <a:extLst>
              <a:ext uri="{FF2B5EF4-FFF2-40B4-BE49-F238E27FC236}">
                <a16:creationId xmlns:a16="http://schemas.microsoft.com/office/drawing/2014/main" id="{61D448FD-C0CB-66DA-9574-CB79C1BD7A9D}"/>
              </a:ext>
            </a:extLst>
          </p:cNvPr>
          <p:cNvSpPr>
            <a:spLocks noGrp="1"/>
          </p:cNvSpPr>
          <p:nvPr>
            <p:ph type="sldNum" sz="quarter" idx="12"/>
          </p:nvPr>
        </p:nvSpPr>
        <p:spPr/>
        <p:txBody>
          <a:bodyPr/>
          <a:lstStyle/>
          <a:p>
            <a:fld id="{3AFC719D-C4A7-4544-876E-D411D11AF6C9}" type="slidenum">
              <a:rPr lang="en-US" smtClean="0"/>
              <a:t>30</a:t>
            </a:fld>
            <a:endParaRPr lang="en-US" dirty="0"/>
          </a:p>
        </p:txBody>
      </p:sp>
      <p:sp>
        <p:nvSpPr>
          <p:cNvPr id="7" name="TextBox 6">
            <a:extLst>
              <a:ext uri="{FF2B5EF4-FFF2-40B4-BE49-F238E27FC236}">
                <a16:creationId xmlns:a16="http://schemas.microsoft.com/office/drawing/2014/main" id="{CD602C75-9647-2A81-5720-669FD6EEB5F4}"/>
              </a:ext>
            </a:extLst>
          </p:cNvPr>
          <p:cNvSpPr txBox="1"/>
          <p:nvPr/>
        </p:nvSpPr>
        <p:spPr>
          <a:xfrm>
            <a:off x="1012053" y="4583495"/>
            <a:ext cx="10555551" cy="1384995"/>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KBA utilizes its data warehouse with greater than $3B in yearly adjudicated charges to estimate PMPY spend by inpatient, outpatient and professional charges. Pharmacy and non-health-system charges are excluded. </a:t>
            </a:r>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Using the Milliman area adjustment factors by zip code, charges are standardized to local estimates. </a:t>
            </a:r>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These estimated charges are conservative as KBA claims average ~15% below the market average. </a:t>
            </a:r>
          </a:p>
        </p:txBody>
      </p:sp>
    </p:spTree>
    <p:extLst>
      <p:ext uri="{BB962C8B-B14F-4D97-AF65-F5344CB8AC3E}">
        <p14:creationId xmlns:p14="http://schemas.microsoft.com/office/powerpoint/2010/main" val="949441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8">
            <a:extLst>
              <a:ext uri="{FF2B5EF4-FFF2-40B4-BE49-F238E27FC236}">
                <a16:creationId xmlns:a16="http://schemas.microsoft.com/office/drawing/2014/main" id="{475B7D0B-6778-5BAB-C7D4-9C15D73239FD}"/>
              </a:ext>
            </a:extLst>
          </p:cNvPr>
          <p:cNvSpPr/>
          <p:nvPr/>
        </p:nvSpPr>
        <p:spPr>
          <a:xfrm>
            <a:off x="0" y="0"/>
            <a:ext cx="12192000" cy="6858000"/>
          </a:xfrm>
          <a:prstGeom prst="rect">
            <a:avLst/>
          </a:prstGeom>
          <a:solidFill>
            <a:srgbClr val="D6DCE5">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itle 1">
            <a:extLst>
              <a:ext uri="{FF2B5EF4-FFF2-40B4-BE49-F238E27FC236}">
                <a16:creationId xmlns:a16="http://schemas.microsoft.com/office/drawing/2014/main" id="{4953670C-7BD0-B908-CA73-21D945CCB08B}"/>
              </a:ext>
            </a:extLst>
          </p:cNvPr>
          <p:cNvSpPr>
            <a:spLocks noGrp="1"/>
          </p:cNvSpPr>
          <p:nvPr>
            <p:ph type="title"/>
          </p:nvPr>
        </p:nvSpPr>
        <p:spPr/>
        <p:txBody>
          <a:bodyPr>
            <a:normAutofit/>
          </a:bodyPr>
          <a:lstStyle/>
          <a:p>
            <a:r>
              <a:rPr lang="en-US" sz="4000" b="1" dirty="0">
                <a:latin typeface="Arial" panose="020B0604020202020204" pitchFamily="34" charset="0"/>
                <a:cs typeface="Arial" panose="020B0604020202020204" pitchFamily="34" charset="0"/>
              </a:rPr>
              <a:t>Estimating Expected Steerage (KBA Data)</a:t>
            </a:r>
          </a:p>
        </p:txBody>
      </p:sp>
      <p:sp>
        <p:nvSpPr>
          <p:cNvPr id="4" name="Footer Placeholder 3">
            <a:extLst>
              <a:ext uri="{FF2B5EF4-FFF2-40B4-BE49-F238E27FC236}">
                <a16:creationId xmlns:a16="http://schemas.microsoft.com/office/drawing/2014/main" id="{7FE81BA0-6CC4-7AA2-91FB-5DA5805980DF}"/>
              </a:ext>
            </a:extLst>
          </p:cNvPr>
          <p:cNvSpPr>
            <a:spLocks noGrp="1"/>
          </p:cNvSpPr>
          <p:nvPr>
            <p:ph type="ftr" sz="quarter" idx="11"/>
          </p:nvPr>
        </p:nvSpPr>
        <p:spPr/>
        <p:txBody>
          <a:bodyPr/>
          <a:lstStyle/>
          <a:p>
            <a:r>
              <a:rPr lang="en-US"/>
              <a:t>Key Benefit Administrators</a:t>
            </a:r>
            <a:endParaRPr lang="en-US" dirty="0"/>
          </a:p>
        </p:txBody>
      </p:sp>
      <p:sp>
        <p:nvSpPr>
          <p:cNvPr id="5" name="Slide Number Placeholder 4">
            <a:extLst>
              <a:ext uri="{FF2B5EF4-FFF2-40B4-BE49-F238E27FC236}">
                <a16:creationId xmlns:a16="http://schemas.microsoft.com/office/drawing/2014/main" id="{7A5BE937-4283-AC8F-5066-93360F2AD61D}"/>
              </a:ext>
            </a:extLst>
          </p:cNvPr>
          <p:cNvSpPr>
            <a:spLocks noGrp="1"/>
          </p:cNvSpPr>
          <p:nvPr>
            <p:ph type="sldNum" sz="quarter" idx="12"/>
          </p:nvPr>
        </p:nvSpPr>
        <p:spPr/>
        <p:txBody>
          <a:bodyPr/>
          <a:lstStyle/>
          <a:p>
            <a:fld id="{3AFC719D-C4A7-4544-876E-D411D11AF6C9}" type="slidenum">
              <a:rPr lang="en-US" smtClean="0"/>
              <a:t>31</a:t>
            </a:fld>
            <a:endParaRPr lang="en-US" dirty="0"/>
          </a:p>
        </p:txBody>
      </p:sp>
      <p:graphicFrame>
        <p:nvGraphicFramePr>
          <p:cNvPr id="6" name="Table 5">
            <a:extLst>
              <a:ext uri="{FF2B5EF4-FFF2-40B4-BE49-F238E27FC236}">
                <a16:creationId xmlns:a16="http://schemas.microsoft.com/office/drawing/2014/main" id="{A3BBF012-AA0D-5710-B532-CE355455856C}"/>
              </a:ext>
            </a:extLst>
          </p:cNvPr>
          <p:cNvGraphicFramePr>
            <a:graphicFrameLocks noGrp="1"/>
          </p:cNvGraphicFramePr>
          <p:nvPr>
            <p:extLst>
              <p:ext uri="{D42A27DB-BD31-4B8C-83A1-F6EECF244321}">
                <p14:modId xmlns:p14="http://schemas.microsoft.com/office/powerpoint/2010/main" val="3741339683"/>
              </p:ext>
            </p:extLst>
          </p:nvPr>
        </p:nvGraphicFramePr>
        <p:xfrm>
          <a:off x="629020" y="1690688"/>
          <a:ext cx="9282575" cy="4626660"/>
        </p:xfrm>
        <a:graphic>
          <a:graphicData uri="http://schemas.openxmlformats.org/drawingml/2006/table">
            <a:tbl>
              <a:tblPr/>
              <a:tblGrid>
                <a:gridCol w="1560295">
                  <a:extLst>
                    <a:ext uri="{9D8B030D-6E8A-4147-A177-3AD203B41FA5}">
                      <a16:colId xmlns:a16="http://schemas.microsoft.com/office/drawing/2014/main" val="2016668870"/>
                    </a:ext>
                  </a:extLst>
                </a:gridCol>
                <a:gridCol w="1770126">
                  <a:extLst>
                    <a:ext uri="{9D8B030D-6E8A-4147-A177-3AD203B41FA5}">
                      <a16:colId xmlns:a16="http://schemas.microsoft.com/office/drawing/2014/main" val="2087362137"/>
                    </a:ext>
                  </a:extLst>
                </a:gridCol>
                <a:gridCol w="1318786">
                  <a:extLst>
                    <a:ext uri="{9D8B030D-6E8A-4147-A177-3AD203B41FA5}">
                      <a16:colId xmlns:a16="http://schemas.microsoft.com/office/drawing/2014/main" val="1244890546"/>
                    </a:ext>
                  </a:extLst>
                </a:gridCol>
                <a:gridCol w="1806154">
                  <a:extLst>
                    <a:ext uri="{9D8B030D-6E8A-4147-A177-3AD203B41FA5}">
                      <a16:colId xmlns:a16="http://schemas.microsoft.com/office/drawing/2014/main" val="3152637151"/>
                    </a:ext>
                  </a:extLst>
                </a:gridCol>
                <a:gridCol w="1282758">
                  <a:extLst>
                    <a:ext uri="{9D8B030D-6E8A-4147-A177-3AD203B41FA5}">
                      <a16:colId xmlns:a16="http://schemas.microsoft.com/office/drawing/2014/main" val="663229898"/>
                    </a:ext>
                  </a:extLst>
                </a:gridCol>
                <a:gridCol w="1544456">
                  <a:extLst>
                    <a:ext uri="{9D8B030D-6E8A-4147-A177-3AD203B41FA5}">
                      <a16:colId xmlns:a16="http://schemas.microsoft.com/office/drawing/2014/main" val="1905754699"/>
                    </a:ext>
                  </a:extLst>
                </a:gridCol>
              </a:tblGrid>
              <a:tr h="322321">
                <a:tc>
                  <a:txBody>
                    <a:bodyPr/>
                    <a:lstStyle/>
                    <a:p>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gridSpan="4">
                  <a:txBody>
                    <a:bodyPr/>
                    <a:lstStyle/>
                    <a:p>
                      <a:r>
                        <a:rPr lang="en-US" sz="1600" b="1" u="sng" dirty="0">
                          <a:latin typeface="Arial" panose="020B0604020202020204" pitchFamily="34" charset="0"/>
                          <a:cs typeface="Arial" panose="020B0604020202020204" pitchFamily="34" charset="0"/>
                        </a:rPr>
                        <a:t>DTE Health Plan Tier 1 Utilization –  </a:t>
                      </a:r>
                      <a:r>
                        <a:rPr lang="en-US" sz="1600" b="1" u="sng" dirty="0">
                          <a:solidFill>
                            <a:schemeClr val="accent2"/>
                          </a:solidFill>
                          <a:latin typeface="Arial" panose="020B0604020202020204" pitchFamily="34" charset="0"/>
                          <a:cs typeface="Arial" panose="020B0604020202020204" pitchFamily="34" charset="0"/>
                        </a:rPr>
                        <a:t>Q1 2024</a:t>
                      </a:r>
                      <a:endParaRPr lang="en-US" sz="1600" dirty="0">
                        <a:solidFill>
                          <a:schemeClr val="accent2"/>
                        </a:solidFill>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extLst>
                  <a:ext uri="{0D108BD9-81ED-4DB2-BD59-A6C34878D82A}">
                    <a16:rowId xmlns:a16="http://schemas.microsoft.com/office/drawing/2014/main" val="3238454985"/>
                  </a:ext>
                </a:extLst>
              </a:tr>
              <a:tr h="564062">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pPr algn="ctr"/>
                      <a:r>
                        <a:rPr lang="en-US" sz="1600" b="1" u="sng" dirty="0">
                          <a:latin typeface="Arial" panose="020B0604020202020204" pitchFamily="34" charset="0"/>
                          <a:cs typeface="Arial" panose="020B0604020202020204" pitchFamily="34" charset="0"/>
                        </a:rPr>
                        <a:t>Charges</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b="1" u="sng" dirty="0">
                          <a:latin typeface="Arial" panose="020B0604020202020204" pitchFamily="34" charset="0"/>
                          <a:cs typeface="Arial" panose="020B0604020202020204" pitchFamily="34" charset="0"/>
                        </a:rPr>
                        <a:t>%</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b="1" u="sng" dirty="0">
                          <a:latin typeface="Arial" panose="020B0604020202020204" pitchFamily="34" charset="0"/>
                          <a:cs typeface="Arial" panose="020B0604020202020204" pitchFamily="34" charset="0"/>
                        </a:rPr>
                        <a:t>Paid</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b="1" u="sng" dirty="0">
                          <a:latin typeface="Arial" panose="020B0604020202020204" pitchFamily="34" charset="0"/>
                          <a:cs typeface="Arial" panose="020B0604020202020204" pitchFamily="34" charset="0"/>
                        </a:rPr>
                        <a:t>%</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b="1" dirty="0">
                          <a:latin typeface="Arial" panose="020B0604020202020204" pitchFamily="34" charset="0"/>
                          <a:cs typeface="Arial" panose="020B0604020202020204" pitchFamily="34" charset="0"/>
                        </a:rPr>
                        <a:t>Discount Equivalent</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3978587454"/>
                  </a:ext>
                </a:extLst>
              </a:tr>
              <a:tr h="322321">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b="1" dirty="0">
                          <a:latin typeface="Arial" panose="020B0604020202020204" pitchFamily="34" charset="0"/>
                          <a:cs typeface="Arial" panose="020B0604020202020204" pitchFamily="34" charset="0"/>
                        </a:rPr>
                        <a:t>Charge to Paid</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2651634651"/>
                  </a:ext>
                </a:extLst>
              </a:tr>
              <a:tr h="322321">
                <a:tc>
                  <a:txBody>
                    <a:bodyPr/>
                    <a:lstStyle/>
                    <a:p>
                      <a:r>
                        <a:rPr lang="en-US" sz="1600" b="1" u="sng">
                          <a:latin typeface="Arial" panose="020B0604020202020204" pitchFamily="34" charset="0"/>
                          <a:cs typeface="Arial" panose="020B0604020202020204" pitchFamily="34" charset="0"/>
                        </a:rPr>
                        <a:t>Tier 1</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pPr algn="ctr"/>
                      <a:r>
                        <a:rPr lang="en-US" sz="1600" b="1">
                          <a:latin typeface="Arial" panose="020B0604020202020204" pitchFamily="34" charset="0"/>
                          <a:cs typeface="Arial" panose="020B0604020202020204" pitchFamily="34" charset="0"/>
                        </a:rPr>
                        <a:t>81.26%</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pPr algn="ct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extLst>
                  <a:ext uri="{0D108BD9-81ED-4DB2-BD59-A6C34878D82A}">
                    <a16:rowId xmlns:a16="http://schemas.microsoft.com/office/drawing/2014/main" val="3423413711"/>
                  </a:ext>
                </a:extLst>
              </a:tr>
              <a:tr h="564062">
                <a:tc>
                  <a:txBody>
                    <a:bodyPr/>
                    <a:lstStyle/>
                    <a:p>
                      <a:r>
                        <a:rPr lang="en-US" sz="1600" dirty="0">
                          <a:latin typeface="Arial" panose="020B0604020202020204" pitchFamily="34" charset="0"/>
                          <a:cs typeface="Arial" panose="020B0604020202020204" pitchFamily="34" charset="0"/>
                        </a:rPr>
                        <a:t>Current DTE Network #1</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17,913,805.69</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54.82%</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6,907,327.88</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58.63%</a:t>
                      </a:r>
                    </a:p>
                  </a:txBody>
                  <a:tcPr marL="80580" marR="80580" marT="40290" marB="40290" anchor="ctr">
                    <a:lnL>
                      <a:noFill/>
                    </a:lnL>
                    <a:lnR>
                      <a:noFill/>
                    </a:lnR>
                    <a:lnT>
                      <a:noFill/>
                    </a:lnT>
                    <a:lnB>
                      <a:noFill/>
                    </a:lnB>
                  </a:tcPr>
                </a:tc>
                <a:tc>
                  <a:txBody>
                    <a:bodyPr/>
                    <a:lstStyle/>
                    <a:p>
                      <a:pPr algn="ctr"/>
                      <a:r>
                        <a:rPr lang="en-US" sz="1600" b="1">
                          <a:latin typeface="Arial" panose="020B0604020202020204" pitchFamily="34" charset="0"/>
                          <a:cs typeface="Arial" panose="020B0604020202020204" pitchFamily="34" charset="0"/>
                        </a:rPr>
                        <a:t>-61.44%</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1979987418"/>
                  </a:ext>
                </a:extLst>
              </a:tr>
              <a:tr h="564062">
                <a:tc>
                  <a:txBody>
                    <a:bodyPr/>
                    <a:lstStyle/>
                    <a:p>
                      <a:r>
                        <a:rPr lang="en-US" sz="1600" dirty="0">
                          <a:latin typeface="Arial" panose="020B0604020202020204" pitchFamily="34" charset="0"/>
                          <a:cs typeface="Arial" panose="020B0604020202020204" pitchFamily="34" charset="0"/>
                        </a:rPr>
                        <a:t>Current DTE Network #2</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8,460,570.40</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78.37%</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3,280,571.45</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77.62%</a:t>
                      </a:r>
                    </a:p>
                  </a:txBody>
                  <a:tcPr marL="80580" marR="80580" marT="40290" marB="40290" anchor="ctr">
                    <a:lnL>
                      <a:noFill/>
                    </a:lnL>
                    <a:lnR>
                      <a:noFill/>
                    </a:lnR>
                    <a:lnT>
                      <a:noFill/>
                    </a:lnT>
                    <a:lnB>
                      <a:noFill/>
                    </a:lnB>
                  </a:tcPr>
                </a:tc>
                <a:tc>
                  <a:txBody>
                    <a:bodyPr/>
                    <a:lstStyle/>
                    <a:p>
                      <a:pPr algn="ctr"/>
                      <a:r>
                        <a:rPr lang="en-US" sz="1600" b="1">
                          <a:latin typeface="Arial" panose="020B0604020202020204" pitchFamily="34" charset="0"/>
                          <a:cs typeface="Arial" panose="020B0604020202020204" pitchFamily="34" charset="0"/>
                        </a:rPr>
                        <a:t>-61.23%</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3238957396"/>
                  </a:ext>
                </a:extLst>
              </a:tr>
              <a:tr h="564062">
                <a:tc>
                  <a:txBody>
                    <a:bodyPr/>
                    <a:lstStyle/>
                    <a:p>
                      <a:r>
                        <a:rPr lang="en-US" sz="1600" dirty="0">
                          <a:latin typeface="Arial" panose="020B0604020202020204" pitchFamily="34" charset="0"/>
                          <a:cs typeface="Arial" panose="020B0604020202020204" pitchFamily="34" charset="0"/>
                        </a:rPr>
                        <a:t>Current DTE Network #3</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629,748.27</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72.98%</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198,216.95</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80.64%</a:t>
                      </a:r>
                    </a:p>
                  </a:txBody>
                  <a:tcPr marL="80580" marR="80580" marT="40290" marB="40290" anchor="ctr">
                    <a:lnL>
                      <a:noFill/>
                    </a:lnL>
                    <a:lnR>
                      <a:noFill/>
                    </a:lnR>
                    <a:lnT>
                      <a:noFill/>
                    </a:lnT>
                    <a:lnB>
                      <a:noFill/>
                    </a:lnB>
                  </a:tcPr>
                </a:tc>
                <a:tc>
                  <a:txBody>
                    <a:bodyPr/>
                    <a:lstStyle/>
                    <a:p>
                      <a:pPr algn="ctr"/>
                      <a:r>
                        <a:rPr lang="en-US" sz="1600" b="1">
                          <a:latin typeface="Arial" panose="020B0604020202020204" pitchFamily="34" charset="0"/>
                          <a:cs typeface="Arial" panose="020B0604020202020204" pitchFamily="34" charset="0"/>
                        </a:rPr>
                        <a:t>-68.52%</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2512199195"/>
                  </a:ext>
                </a:extLst>
              </a:tr>
              <a:tr h="564062">
                <a:tc>
                  <a:txBody>
                    <a:bodyPr/>
                    <a:lstStyle/>
                    <a:p>
                      <a:r>
                        <a:rPr lang="en-US" sz="1600" dirty="0">
                          <a:latin typeface="Arial" panose="020B0604020202020204" pitchFamily="34" charset="0"/>
                          <a:cs typeface="Arial" panose="020B0604020202020204" pitchFamily="34" charset="0"/>
                        </a:rPr>
                        <a:t>Current DTE Network #4</a:t>
                      </a:r>
                    </a:p>
                  </a:txBody>
                  <a:tcPr marL="80580" marR="80580" marT="40290" marB="40290" anchor="ctr">
                    <a:lnL>
                      <a:noFill/>
                    </a:lnL>
                    <a:lnR>
                      <a:noFill/>
                    </a:lnR>
                    <a:lnT>
                      <a:noFill/>
                    </a:lnT>
                    <a:lnB>
                      <a:noFill/>
                    </a:lnB>
                  </a:tcPr>
                </a:tc>
                <a:tc>
                  <a:txBody>
                    <a:bodyPr/>
                    <a:lstStyle/>
                    <a:p>
                      <a:pPr algn="ctr"/>
                      <a:r>
                        <a:rPr lang="en-US" sz="1600" u="sng" dirty="0">
                          <a:latin typeface="Arial" panose="020B0604020202020204" pitchFamily="34" charset="0"/>
                          <a:cs typeface="Arial" panose="020B0604020202020204" pitchFamily="34" charset="0"/>
                        </a:rPr>
                        <a:t>$      58,261,069.02</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96.15%</a:t>
                      </a:r>
                    </a:p>
                  </a:txBody>
                  <a:tcPr marL="80580" marR="80580" marT="40290" marB="40290" anchor="ctr">
                    <a:lnL>
                      <a:noFill/>
                    </a:lnL>
                    <a:lnR>
                      <a:noFill/>
                    </a:lnR>
                    <a:lnT>
                      <a:noFill/>
                    </a:lnT>
                    <a:lnB>
                      <a:noFill/>
                    </a:lnB>
                  </a:tcPr>
                </a:tc>
                <a:tc>
                  <a:txBody>
                    <a:bodyPr/>
                    <a:lstStyle/>
                    <a:p>
                      <a:pPr algn="ctr"/>
                      <a:r>
                        <a:rPr lang="en-US" sz="1600" u="sng" dirty="0">
                          <a:latin typeface="Arial" panose="020B0604020202020204" pitchFamily="34" charset="0"/>
                          <a:cs typeface="Arial" panose="020B0604020202020204" pitchFamily="34" charset="0"/>
                        </a:rPr>
                        <a:t>$    12,968,046.77</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93.20%</a:t>
                      </a:r>
                    </a:p>
                  </a:txBody>
                  <a:tcPr marL="80580" marR="80580" marT="40290" marB="40290" anchor="ctr">
                    <a:lnL>
                      <a:noFill/>
                    </a:lnL>
                    <a:lnR>
                      <a:noFill/>
                    </a:lnR>
                    <a:lnT>
                      <a:noFill/>
                    </a:lnT>
                    <a:lnB>
                      <a:noFill/>
                    </a:lnB>
                  </a:tcPr>
                </a:tc>
                <a:tc>
                  <a:txBody>
                    <a:bodyPr/>
                    <a:lstStyle/>
                    <a:p>
                      <a:pPr algn="ctr"/>
                      <a:r>
                        <a:rPr lang="en-US" sz="1600" b="1" dirty="0">
                          <a:latin typeface="Arial" panose="020B0604020202020204" pitchFamily="34" charset="0"/>
                          <a:cs typeface="Arial" panose="020B0604020202020204" pitchFamily="34" charset="0"/>
                        </a:rPr>
                        <a:t>-77.74%</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61225875"/>
                  </a:ext>
                </a:extLst>
              </a:tr>
              <a:tr h="564062">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b="1" dirty="0">
                          <a:latin typeface="Arial" panose="020B0604020202020204" pitchFamily="34" charset="0"/>
                          <a:cs typeface="Arial" panose="020B0604020202020204" pitchFamily="34" charset="0"/>
                        </a:rPr>
                        <a:t>$   85,265,193.38 </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b="1" dirty="0">
                          <a:latin typeface="Arial" panose="020B0604020202020204" pitchFamily="34" charset="0"/>
                          <a:cs typeface="Arial" panose="020B0604020202020204" pitchFamily="34" charset="0"/>
                        </a:rPr>
                        <a:t>$   23,354,163.05</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r>
                        <a:rPr lang="en-US" sz="1600" dirty="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dirty="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extLst>
                  <a:ext uri="{0D108BD9-81ED-4DB2-BD59-A6C34878D82A}">
                    <a16:rowId xmlns:a16="http://schemas.microsoft.com/office/drawing/2014/main" val="2643862706"/>
                  </a:ext>
                </a:extLst>
              </a:tr>
            </a:tbl>
          </a:graphicData>
        </a:graphic>
      </p:graphicFrame>
      <p:sp>
        <p:nvSpPr>
          <p:cNvPr id="7" name="Callout: Bent Line 2">
            <a:extLst>
              <a:ext uri="{FF2B5EF4-FFF2-40B4-BE49-F238E27FC236}">
                <a16:creationId xmlns:a16="http://schemas.microsoft.com/office/drawing/2014/main" id="{26207AF0-B0E9-F90C-AD44-E16816462440}"/>
              </a:ext>
            </a:extLst>
          </p:cNvPr>
          <p:cNvSpPr/>
          <p:nvPr/>
        </p:nvSpPr>
        <p:spPr>
          <a:xfrm>
            <a:off x="9911595" y="1690688"/>
            <a:ext cx="1950205" cy="1325563"/>
          </a:xfrm>
          <a:prstGeom prst="borderCallout2">
            <a:avLst>
              <a:gd name="adj1" fmla="val 18750"/>
              <a:gd name="adj2" fmla="val -8333"/>
              <a:gd name="adj3" fmla="val 18750"/>
              <a:gd name="adj4" fmla="val -16667"/>
              <a:gd name="adj5" fmla="val 127829"/>
              <a:gd name="adj6" fmla="val -109183"/>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bg1"/>
                </a:solidFill>
                <a:latin typeface="Arial" panose="020B0604020202020204" pitchFamily="34" charset="0"/>
                <a:cs typeface="Arial" panose="020B0604020202020204" pitchFamily="34" charset="0"/>
              </a:rPr>
              <a:t>DTE Steerage Impact on an EPO Plan Structure</a:t>
            </a:r>
            <a:endParaRPr lang="en-US" dirty="0">
              <a:solidFill>
                <a:schemeClr val="bg1"/>
              </a:solidFill>
              <a:latin typeface="Arial" panose="020B0604020202020204" pitchFamily="34" charset="0"/>
              <a:cs typeface="Arial" panose="020B0604020202020204" pitchFamily="34" charset="0"/>
            </a:endParaRPr>
          </a:p>
        </p:txBody>
      </p:sp>
      <p:sp>
        <p:nvSpPr>
          <p:cNvPr id="8" name="Rectangle 9">
            <a:extLst>
              <a:ext uri="{FF2B5EF4-FFF2-40B4-BE49-F238E27FC236}">
                <a16:creationId xmlns:a16="http://schemas.microsoft.com/office/drawing/2014/main" id="{1F3C1433-AC36-92EF-BE3F-FF3E9903B966}"/>
              </a:ext>
            </a:extLst>
          </p:cNvPr>
          <p:cNvSpPr/>
          <p:nvPr/>
        </p:nvSpPr>
        <p:spPr>
          <a:xfrm>
            <a:off x="7213600" y="3381376"/>
            <a:ext cx="1066800" cy="2447924"/>
          </a:xfrm>
          <a:prstGeom prst="rect">
            <a:avLst/>
          </a:prstGeom>
          <a:noFill/>
          <a:ln>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10">
            <a:extLst>
              <a:ext uri="{FF2B5EF4-FFF2-40B4-BE49-F238E27FC236}">
                <a16:creationId xmlns:a16="http://schemas.microsoft.com/office/drawing/2014/main" id="{19A2854E-BB8B-2CAE-F670-0D2E7447BA42}"/>
              </a:ext>
            </a:extLst>
          </p:cNvPr>
          <p:cNvSpPr/>
          <p:nvPr/>
        </p:nvSpPr>
        <p:spPr>
          <a:xfrm>
            <a:off x="9804400" y="3429000"/>
            <a:ext cx="2197100" cy="244792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rPr>
              <a:t>KBA is modeling steerage in line with other observed DTE networks.</a:t>
            </a:r>
          </a:p>
        </p:txBody>
      </p:sp>
    </p:spTree>
    <p:extLst>
      <p:ext uri="{BB962C8B-B14F-4D97-AF65-F5344CB8AC3E}">
        <p14:creationId xmlns:p14="http://schemas.microsoft.com/office/powerpoint/2010/main" val="361650228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AD3DCB03-C008-AD89-6957-4E05EFDE3F7B}"/>
              </a:ext>
            </a:extLst>
          </p:cNvPr>
          <p:cNvSpPr>
            <a:spLocks noGrp="1"/>
          </p:cNvSpPr>
          <p:nvPr>
            <p:ph type="ftr" sz="quarter" idx="11"/>
          </p:nvPr>
        </p:nvSpPr>
        <p:spPr/>
        <p:txBody>
          <a:bodyPr/>
          <a:lstStyle/>
          <a:p>
            <a:r>
              <a:rPr lang="en-US"/>
              <a:t>Key Benefit Administrators</a:t>
            </a:r>
            <a:endParaRPr lang="en-US" dirty="0"/>
          </a:p>
        </p:txBody>
      </p:sp>
      <p:sp>
        <p:nvSpPr>
          <p:cNvPr id="3" name="Slide Number Placeholder 4">
            <a:extLst>
              <a:ext uri="{FF2B5EF4-FFF2-40B4-BE49-F238E27FC236}">
                <a16:creationId xmlns:a16="http://schemas.microsoft.com/office/drawing/2014/main" id="{45156905-E918-9971-55DA-1B3D3593A1EC}"/>
              </a:ext>
            </a:extLst>
          </p:cNvPr>
          <p:cNvSpPr>
            <a:spLocks noGrp="1"/>
          </p:cNvSpPr>
          <p:nvPr>
            <p:ph type="sldNum" sz="quarter" idx="12"/>
          </p:nvPr>
        </p:nvSpPr>
        <p:spPr/>
        <p:txBody>
          <a:bodyPr/>
          <a:lstStyle/>
          <a:p>
            <a:fld id="{3AFC719D-C4A7-4544-876E-D411D11AF6C9}" type="slidenum">
              <a:rPr lang="en-US" smtClean="0"/>
              <a:t>32</a:t>
            </a:fld>
            <a:endParaRPr lang="en-US" dirty="0"/>
          </a:p>
        </p:txBody>
      </p:sp>
      <p:sp>
        <p:nvSpPr>
          <p:cNvPr id="4" name="Rectangle 6">
            <a:extLst>
              <a:ext uri="{FF2B5EF4-FFF2-40B4-BE49-F238E27FC236}">
                <a16:creationId xmlns:a16="http://schemas.microsoft.com/office/drawing/2014/main" id="{8E28090C-2F27-C065-17C4-ABD81529AB09}"/>
              </a:ext>
            </a:extLst>
          </p:cNvPr>
          <p:cNvSpPr/>
          <p:nvPr/>
        </p:nvSpPr>
        <p:spPr>
          <a:xfrm>
            <a:off x="0" y="-777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5" name="Title 1">
            <a:extLst>
              <a:ext uri="{FF2B5EF4-FFF2-40B4-BE49-F238E27FC236}">
                <a16:creationId xmlns:a16="http://schemas.microsoft.com/office/drawing/2014/main" id="{A1043D87-228F-7EE7-994A-5E1D92DA9012}"/>
              </a:ext>
            </a:extLst>
          </p:cNvPr>
          <p:cNvSpPr txBox="1">
            <a:spLocks/>
          </p:cNvSpPr>
          <p:nvPr/>
        </p:nvSpPr>
        <p:spPr>
          <a:xfrm rot="16200000">
            <a:off x="-2814764" y="2993452"/>
            <a:ext cx="6553884" cy="752041"/>
          </a:xfrm>
          <a:prstGeom prst="rect">
            <a:avLst/>
          </a:prstGeom>
        </p:spPr>
        <p:txBody>
          <a:bodyPr vert="horz" lIns="91440" tIns="45720" rIns="91440" bIns="45720" rtlCol="0" anchor="ctr">
            <a:noAutofit/>
          </a:bodyPr>
          <a:lstStyle>
            <a:lvl1pPr algn="l" defTabSz="914411"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spcBef>
                <a:spcPts val="600"/>
              </a:spcBef>
            </a:pPr>
            <a:r>
              <a:rPr lang="en-US" sz="3600" dirty="0">
                <a:solidFill>
                  <a:schemeClr val="bg1"/>
                </a:solidFill>
                <a:latin typeface="Arial" panose="020B0604020202020204" pitchFamily="34" charset="0"/>
                <a:cs typeface="Arial" panose="020B0604020202020204" pitchFamily="34" charset="0"/>
              </a:rPr>
              <a:t>PROJECTED PLAN GROWTH</a:t>
            </a:r>
          </a:p>
        </p:txBody>
      </p:sp>
      <p:sp>
        <p:nvSpPr>
          <p:cNvPr id="6" name="TextBox 12">
            <a:extLst>
              <a:ext uri="{FF2B5EF4-FFF2-40B4-BE49-F238E27FC236}">
                <a16:creationId xmlns:a16="http://schemas.microsoft.com/office/drawing/2014/main" id="{E799F91A-3FD1-47AB-858A-263DC729BC42}"/>
              </a:ext>
            </a:extLst>
          </p:cNvPr>
          <p:cNvSpPr txBox="1"/>
          <p:nvPr/>
        </p:nvSpPr>
        <p:spPr>
          <a:xfrm>
            <a:off x="8932985" y="1054579"/>
            <a:ext cx="2868171" cy="3754874"/>
          </a:xfrm>
          <a:prstGeom prst="rect">
            <a:avLst/>
          </a:prstGeom>
          <a:noFill/>
        </p:spPr>
        <p:txBody>
          <a:bodyPr wrap="square" rtlCol="0">
            <a:spAutoFit/>
          </a:bodyPr>
          <a:lstStyle/>
          <a:p>
            <a:r>
              <a:rPr lang="en-US" sz="1400" dirty="0">
                <a:solidFill/>
              </a:rPr>
              <a:t>KBA currently estimates that Cleveland Clinic Health System has 41% inpatient market share, and 33% outpatient market compared to hospitals/clinics in the Wayne, Ashtabula, Carroll, Cuyahoga, Erie, Geauga, Holmes, Huron, Lake, Lorain, Medina, Stark, Summit, and Tuscarawas Counties.</a:t>
            </a:r>
          </a:p>
          <a:p>
            <a:endParaRPr lang="en-US" sz="1400" dirty="0">
              <a:solidFill/>
            </a:endParaRPr>
          </a:p>
          <a:p>
            <a:r>
              <a:rPr lang="en-US" sz="1400" dirty="0">
                <a:solidFill/>
              </a:rPr>
              <a:t>Based on previous DTE experience, KBA expects a significant bump in patient steerage to Cleveland Clinic Health System.</a:t>
            </a:r>
          </a:p>
          <a:p>
            <a:endParaRPr lang="en-US" sz="1400" dirty="0">
              <a:solidFill/>
            </a:endParaRPr>
          </a:p>
          <a:p>
            <a:r>
              <a:rPr lang="en-US" sz="1400" dirty="0">
                <a:solidFill/>
              </a:rPr>
              <a:t>Additional steerage will occur from additional steerage patient benefits and the patient card.  </a:t>
            </a:r>
          </a:p>
          <a:p>
            <a:endParaRPr lang="en-US" sz="1400" dirty="0">
              <a:solidFill/>
            </a:endParaRPr>
          </a:p>
          <a:p>
            <a:r>
              <a:rPr lang="en-US" sz="1400" dirty="0">
                <a:solidFill/>
              </a:rPr>
              <a:t>High estimates start nearly 10% higher than target with low estimates at 10% lower than target</a:t>
            </a:r>
          </a:p>
        </p:txBody>
      </p:sp>
      <p:graphicFrame>
        <p:nvGraphicFramePr>
          <p:cNvPr id="7" name="Table 6"/>
          <p:cNvGraphicFramePr>
            <a:graphicFrameLocks noGrp="1"/>
          </p:cNvGraphicFramePr>
          <p:nvPr>
            <p:extLst>
              <p:ext uri="{D42A27DB-BD31-4B8C-83A1-F6EECF244321}">
                <p14:modId xmlns:p14="http://schemas.microsoft.com/office/powerpoint/2010/main" val="2076423269"/>
              </p:ext>
            </p:extLst>
          </p:nvPr>
        </p:nvGraphicFramePr>
        <p:xfrm>
          <a:off x="1316736" y="384048"/>
          <a:ext cx="6858000" cy="5912585"/>
        </p:xfrm>
        <a:graphic>
          <a:graphicData uri="http://schemas.openxmlformats.org/drawingml/2006/table">
            <a:tbl>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tblGrid>
              <a:tr h="61506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Year</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Employees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Members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Percent of Members Choosing Cleveland Clinic for Inpatient Care</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Percent of Members Choosing Cleveland Clinic for Outpatient Care</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20968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1,400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2,500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50%</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1"/>
                  </a:ext>
                </a:extLst>
              </a:tr>
              <a:tr h="20968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0968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0968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13,000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67%</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58%</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0968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18,900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68%</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59%</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0968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14,700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26,500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68%</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0968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20,100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36,200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68%</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r h="20968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26,800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48,200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68%</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61%</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8"/>
                  </a:ext>
                </a:extLst>
              </a:tr>
              <a:tr h="20968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35,000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63,000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61%</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9"/>
                  </a:ext>
                </a:extLst>
              </a:tr>
              <a:tr h="20968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44,800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80,600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0"/>
                  </a:ext>
                </a:extLst>
              </a:tr>
              <a:tr h="20968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11</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55,900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100,600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1"/>
                  </a:ext>
                </a:extLst>
              </a:tr>
              <a:tr h="20968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68,300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122,900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63%</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2"/>
                  </a:ext>
                </a:extLst>
              </a:tr>
              <a:tr h="20968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81,300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146,300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63%</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3"/>
                  </a:ext>
                </a:extLst>
              </a:tr>
              <a:tr h="20968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94,400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169,900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64%</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4"/>
                  </a:ext>
                </a:extLst>
              </a:tr>
              <a:tr h="20968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106,900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192,400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64%</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5"/>
                  </a:ext>
                </a:extLst>
              </a:tr>
              <a:tr h="20968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118,200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212,800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6"/>
                  </a:ext>
                </a:extLst>
              </a:tr>
              <a:tr h="20968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128,100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230,600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7"/>
                  </a:ext>
                </a:extLst>
              </a:tr>
              <a:tr h="20968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136,300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245,300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8"/>
                  </a:ext>
                </a:extLst>
              </a:tr>
              <a:tr h="20968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143,000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257,400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9"/>
                  </a:ext>
                </a:extLst>
              </a:tr>
              <a:tr h="20968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20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148,100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266,600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20"/>
                  </a:ext>
                </a:extLst>
              </a:tr>
              <a:tr h="20968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21</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152,100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273,800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21"/>
                  </a:ext>
                </a:extLst>
              </a:tr>
              <a:tr h="20968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22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155,100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279,200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22"/>
                  </a:ext>
                </a:extLst>
              </a:tr>
              <a:tr h="20968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23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157,300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283,100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23"/>
                  </a:ext>
                </a:extLst>
              </a:tr>
              <a:tr h="20968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24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158,900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286,000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68%</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24"/>
                  </a:ext>
                </a:extLst>
              </a:tr>
              <a:tr h="20968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25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160,100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288,200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68%</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5"/>
                  </a:ext>
                </a:extLst>
              </a:tr>
            </a:tbl>
          </a:graphicData>
        </a:graphic>
      </p:graphicFrame>
    </p:spTree>
    <p:extLst>
      <p:ext uri="{BB962C8B-B14F-4D97-AF65-F5344CB8AC3E}">
        <p14:creationId xmlns:p14="http://schemas.microsoft.com/office/powerpoint/2010/main" val="21505317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3E4D1330-6559-4480-ECC7-66909D09D0BD}"/>
              </a:ext>
            </a:extLst>
          </p:cNvPr>
          <p:cNvSpPr>
            <a:spLocks noGrp="1"/>
          </p:cNvSpPr>
          <p:nvPr>
            <p:ph type="ftr" sz="quarter" idx="11"/>
          </p:nvPr>
        </p:nvSpPr>
        <p:spPr/>
        <p:txBody>
          <a:bodyPr/>
          <a:lstStyle/>
          <a:p>
            <a:r>
              <a:rPr lang="en-US">
                <a:latin typeface="Arial" panose="020B0604020202020204" pitchFamily="34" charset="0"/>
                <a:cs typeface="Arial" panose="020B0604020202020204" pitchFamily="34" charset="0"/>
              </a:rPr>
              <a:t>Key Benefit Administrators</a:t>
            </a:r>
            <a:endParaRPr lang="en-US" dirty="0">
              <a:latin typeface="Arial" panose="020B0604020202020204" pitchFamily="34" charset="0"/>
              <a:cs typeface="Arial" panose="020B0604020202020204" pitchFamily="34" charset="0"/>
            </a:endParaRPr>
          </a:p>
        </p:txBody>
      </p:sp>
      <p:sp>
        <p:nvSpPr>
          <p:cNvPr id="3" name="Slide Number Placeholder 4">
            <a:extLst>
              <a:ext uri="{FF2B5EF4-FFF2-40B4-BE49-F238E27FC236}">
                <a16:creationId xmlns:a16="http://schemas.microsoft.com/office/drawing/2014/main" id="{FAD03FEC-C905-CEF4-1EA9-88A1334154D0}"/>
              </a:ext>
            </a:extLst>
          </p:cNvPr>
          <p:cNvSpPr>
            <a:spLocks noGrp="1"/>
          </p:cNvSpPr>
          <p:nvPr>
            <p:ph type="sldNum" sz="quarter" idx="12"/>
          </p:nvPr>
        </p:nvSpPr>
        <p:spPr/>
        <p:txBody>
          <a:bodyPr/>
          <a:lstStyle/>
          <a:p>
            <a:fld id="{3AFC719D-C4A7-4544-876E-D411D11AF6C9}" type="slidenum">
              <a:rPr lang="en-US" smtClean="0">
                <a:latin typeface="Arial" panose="020B0604020202020204" pitchFamily="34" charset="0"/>
                <a:cs typeface="Arial" panose="020B0604020202020204" pitchFamily="34" charset="0"/>
              </a:rPr>
              <a:t>33</a:t>
            </a:fld>
            <a:endParaRPr lang="en-US" dirty="0">
              <a:latin typeface="Arial" panose="020B0604020202020204" pitchFamily="34" charset="0"/>
              <a:cs typeface="Arial" panose="020B0604020202020204" pitchFamily="34" charset="0"/>
            </a:endParaRPr>
          </a:p>
        </p:txBody>
      </p:sp>
      <p:graphicFrame>
        <p:nvGraphicFramePr>
          <p:cNvPr id="4" name="Table 5">
            <a:extLst>
              <a:ext uri="{FF2B5EF4-FFF2-40B4-BE49-F238E27FC236}">
                <a16:creationId xmlns:a16="http://schemas.microsoft.com/office/drawing/2014/main" id="{176BAF2A-5136-E457-9AAC-D0878752F10C}"/>
              </a:ext>
            </a:extLst>
          </p:cNvPr>
          <p:cNvGraphicFramePr>
            <a:graphicFrameLocks noGrp="1"/>
          </p:cNvGraphicFramePr>
          <p:nvPr/>
        </p:nvGraphicFramePr>
        <p:xfrm>
          <a:off x="418056" y="764777"/>
          <a:ext cx="6972297" cy="132080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69647">
                  <a:extLst>
                    <a:ext uri="{9D8B030D-6E8A-4147-A177-3AD203B41FA5}">
                      <a16:colId xmlns:a16="http://schemas.microsoft.com/office/drawing/2014/main" val="3987862389"/>
                    </a:ext>
                  </a:extLst>
                </a:gridCol>
                <a:gridCol w="1291169">
                  <a:extLst>
                    <a:ext uri="{9D8B030D-6E8A-4147-A177-3AD203B41FA5}">
                      <a16:colId xmlns:a16="http://schemas.microsoft.com/office/drawing/2014/main" val="2775330707"/>
                    </a:ext>
                  </a:extLst>
                </a:gridCol>
              </a:tblGrid>
              <a:tr h="370840">
                <a:tc>
                  <a:txBody>
                    <a:bodyPr/>
                    <a:lstStyle/>
                    <a:p>
                      <a:r>
                        <a:rPr lang="en-US" sz="1600" b="1" dirty="0">
                          <a:solidFill>
                            <a:schemeClr val="bg1"/>
                          </a:solidFill>
                        </a:rPr>
                        <a:t>Pre-DTE Cohort of 13,000 Employees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532424019"/>
                  </a:ext>
                </a:extLst>
              </a:tr>
              <a:tr h="370840">
                <a:tc>
                  <a:txBody>
                    <a:bodyPr/>
                    <a:lstStyle/>
                    <a:p>
                      <a:r>
                        <a:rPr lang="en-US" sz="1600" dirty="0"/>
                        <a:t>Revenue†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$ 17,917,182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$ 26,829,854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$ 12,529,314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$ 57,276,350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370840">
                <a:tc>
                  <a:txBody>
                    <a:bodyPr/>
                    <a:lstStyle/>
                    <a:p>
                      <a:r>
                        <a:rPr lang="en-US" sz="1600" dirty="0"/>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$ 2,436,737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$ 3,648,860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$ 1,703,987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$ 7,789,584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cxnSp>
        <p:nvCxnSpPr>
          <p:cNvPr id="5" name="Straight Connector 13">
            <a:extLst>
              <a:ext uri="{FF2B5EF4-FFF2-40B4-BE49-F238E27FC236}">
                <a16:creationId xmlns:a16="http://schemas.microsoft.com/office/drawing/2014/main" id="{8EA958C5-E105-8A94-794A-7A8EB2DFEBDC}"/>
              </a:ext>
            </a:extLst>
          </p:cNvPr>
          <p:cNvCxnSpPr/>
          <p:nvPr/>
        </p:nvCxnSpPr>
        <p:spPr>
          <a:xfrm>
            <a:off x="316454" y="3716618"/>
            <a:ext cx="6464300" cy="0"/>
          </a:xfrm>
          <a:prstGeom prst="line">
            <a:avLst/>
          </a:prstGeom>
          <a:ln w="571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6" name="Table 14">
            <a:extLst>
              <a:ext uri="{FF2B5EF4-FFF2-40B4-BE49-F238E27FC236}">
                <a16:creationId xmlns:a16="http://schemas.microsoft.com/office/drawing/2014/main" id="{FF3ACACB-7F38-7EAA-4BDF-1A816CA00AAE}"/>
              </a:ext>
            </a:extLst>
          </p:cNvPr>
          <p:cNvGraphicFramePr>
            <a:graphicFrameLocks noGrp="1"/>
          </p:cNvGraphicFramePr>
          <p:nvPr/>
        </p:nvGraphicFramePr>
        <p:xfrm>
          <a:off x="462503" y="4085951"/>
          <a:ext cx="6927847" cy="2225040"/>
        </p:xfrm>
        <a:graphic>
          <a:graphicData uri="http://schemas.openxmlformats.org/drawingml/2006/table">
            <a:tbl>
              <a:tblPr firstRow="1" bandRow="1">
                <a:tableStyleId>{5940675A-B579-460E-94D1-54222C63F5DA}</a:tableStyleId>
              </a:tblPr>
              <a:tblGrid>
                <a:gridCol w="5622925">
                  <a:extLst>
                    <a:ext uri="{9D8B030D-6E8A-4147-A177-3AD203B41FA5}">
                      <a16:colId xmlns:a16="http://schemas.microsoft.com/office/drawing/2014/main" val="1938271373"/>
                    </a:ext>
                  </a:extLst>
                </a:gridCol>
                <a:gridCol w="1304922">
                  <a:extLst>
                    <a:ext uri="{9D8B030D-6E8A-4147-A177-3AD203B41FA5}">
                      <a16:colId xmlns:a16="http://schemas.microsoft.com/office/drawing/2014/main" val="232002059"/>
                    </a:ext>
                  </a:extLst>
                </a:gridCol>
              </a:tblGrid>
              <a:tr h="370840">
                <a:tc>
                  <a:txBody>
                    <a:bodyPr/>
                    <a:lstStyle/>
                    <a:p>
                      <a:r>
                        <a:rPr lang="en-US" dirty="0"/>
                        <a:t>Total Increase in 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$ 5,496,573</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02265742"/>
                  </a:ext>
                </a:extLst>
              </a:tr>
              <a:tr h="370840">
                <a:tc>
                  <a:txBody>
                    <a:bodyPr/>
                    <a:lstStyle/>
                    <a:p>
                      <a:r>
                        <a:rPr lang="en-US" dirty="0"/>
                        <a:t>Network Access Fee (Revenue) of $1 PMPM</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$ 156,000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504911518"/>
                  </a:ext>
                </a:extLst>
              </a:tr>
              <a:tr h="370840">
                <a:tc>
                  <a:txBody>
                    <a:bodyPr/>
                    <a:lstStyle/>
                    <a:p>
                      <a:r>
                        <a:rPr lang="en-US" dirty="0"/>
                        <a:t>Total Profit Growth</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$ 5,501,373</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634671075"/>
                  </a:ext>
                </a:extLst>
              </a:tr>
              <a:tr h="370840">
                <a:tc>
                  <a:txBody>
                    <a:bodyPr/>
                    <a:lstStyle/>
                    <a:p>
                      <a:r>
                        <a:rPr lang="en-US" dirty="0">
                          <a:solidFill/>
                        </a:rPr>
                        <a:t>Minus Implementation Fee (One-Time)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2"/>
                          </a:solidFill>
                        </a:rPr>
                        <a:t>-$ 0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56359922"/>
                  </a:ext>
                </a:extLst>
              </a:tr>
              <a:tr h="370840">
                <a:tc>
                  <a:txBody>
                    <a:bodyPr/>
                    <a:lstStyle/>
                    <a:p>
                      <a:r>
                        <a:rPr lang="en-US" dirty="0"/>
                        <a:t>Minus Sales and Marketing (Annual – Ongoing)</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2"/>
                          </a:solidFill>
                        </a:rPr>
                        <a:t>-$ 180,000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792837724"/>
                  </a:ext>
                </a:extLst>
              </a:tr>
              <a:tr h="370840">
                <a:tc>
                  <a:txBody>
                    <a:bodyPr/>
                    <a:lstStyle/>
                    <a:p>
                      <a:r>
                        <a:rPr lang="en-US" b="1" dirty="0"/>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b="1" dirty="0">
                          <a:solidFill>
                            <a:schemeClr val="accent6">
                              <a:lumMod val="75000"/>
                            </a:schemeClr>
                          </a:solidFill>
                        </a:rPr>
                        <a:t>$ 5,472,573</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159790193"/>
                  </a:ext>
                </a:extLst>
              </a:tr>
            </a:tbl>
          </a:graphicData>
        </a:graphic>
      </p:graphicFrame>
      <p:graphicFrame>
        <p:nvGraphicFramePr>
          <p:cNvPr id="7" name="Table 15">
            <a:extLst>
              <a:ext uri="{FF2B5EF4-FFF2-40B4-BE49-F238E27FC236}">
                <a16:creationId xmlns:a16="http://schemas.microsoft.com/office/drawing/2014/main" id="{32A51F3A-032C-30E2-F635-DD59B5A29A34}"/>
              </a:ext>
            </a:extLst>
          </p:cNvPr>
          <p:cNvGraphicFramePr>
            <a:graphicFrameLocks noGrp="1"/>
          </p:cNvGraphicFramePr>
          <p:nvPr/>
        </p:nvGraphicFramePr>
        <p:xfrm>
          <a:off x="418055" y="2234768"/>
          <a:ext cx="6972296" cy="100584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58888">
                  <a:extLst>
                    <a:ext uri="{9D8B030D-6E8A-4147-A177-3AD203B41FA5}">
                      <a16:colId xmlns:a16="http://schemas.microsoft.com/office/drawing/2014/main" val="3987862389"/>
                    </a:ext>
                  </a:extLst>
                </a:gridCol>
                <a:gridCol w="1301927">
                  <a:extLst>
                    <a:ext uri="{9D8B030D-6E8A-4147-A177-3AD203B41FA5}">
                      <a16:colId xmlns:a16="http://schemas.microsoft.com/office/drawing/2014/main" val="2775330707"/>
                    </a:ext>
                  </a:extLst>
                </a:gridCol>
              </a:tblGrid>
              <a:tr h="272069">
                <a:tc>
                  <a:txBody>
                    <a:bodyPr/>
                    <a:lstStyle/>
                    <a:p>
                      <a:r>
                        <a:rPr lang="en-US" sz="1600" b="1" dirty="0">
                          <a:solidFill>
                            <a:schemeClr val="bg1"/>
                          </a:solidFill>
                        </a:rPr>
                        <a:t>With DTE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extLst>
                  <a:ext uri="{0D108BD9-81ED-4DB2-BD59-A6C34878D82A}">
                    <a16:rowId xmlns:a16="http://schemas.microsoft.com/office/drawing/2014/main" val="2532424019"/>
                  </a:ext>
                </a:extLst>
              </a:tr>
              <a:tr h="299554">
                <a:tc>
                  <a:txBody>
                    <a:bodyPr/>
                    <a:lstStyle/>
                    <a:p>
                      <a:r>
                        <a:rPr lang="en-US" sz="1600" dirty="0"/>
                        <a:t>Revenue⁰</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$ 29,616,925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$ 46,404,770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$ 21,670,633</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$ 97,692,328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272069">
                <a:tc>
                  <a:txBody>
                    <a:bodyPr/>
                    <a:lstStyle/>
                    <a:p>
                      <a:r>
                        <a:rPr lang="en-US" sz="1600" dirty="0"/>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$ 4,027,902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$ 6,311,049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$ 2,947,206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$ 13,286,157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sp>
        <p:nvSpPr>
          <p:cNvPr id="8" name="TextBox 1">
            <a:extLst>
              <a:ext uri="{FF2B5EF4-FFF2-40B4-BE49-F238E27FC236}">
                <a16:creationId xmlns:a16="http://schemas.microsoft.com/office/drawing/2014/main" id="{60820A86-1B9D-21A4-BBB6-DDFB73605882}"/>
              </a:ext>
            </a:extLst>
          </p:cNvPr>
          <p:cNvSpPr txBox="1"/>
          <p:nvPr/>
        </p:nvSpPr>
        <p:spPr>
          <a:xfrm>
            <a:off x="7752549" y="953947"/>
            <a:ext cx="4318001" cy="738664"/>
          </a:xfrm>
          <a:prstGeom prst="rect">
            <a:avLst/>
          </a:prstGeom>
          <a:noFill/>
        </p:spPr>
        <p:txBody>
          <a:bodyPr wrap="square">
            <a:spAutoFit/>
          </a:bodyPr>
          <a:lstStyle/>
          <a:p>
            <a:r>
              <a:rPr lang="en-US" sz="1400" dirty="0">
                <a:solidFill/>
                <a:latin typeface="Arial" panose="020B0604020202020204" pitchFamily="34" charset="0"/>
                <a:cs typeface="Arial" panose="020B0604020202020204" pitchFamily="34" charset="0"/>
              </a:rPr>
              <a:t>† Assuming proportional revenues from market shares of 41% (inpatient) and 33% (outpatient)</a:t>
            </a:r>
          </a:p>
        </p:txBody>
      </p:sp>
      <p:sp>
        <p:nvSpPr>
          <p:cNvPr id="9" name="TextBox 2">
            <a:extLst>
              <a:ext uri="{FF2B5EF4-FFF2-40B4-BE49-F238E27FC236}">
                <a16:creationId xmlns:a16="http://schemas.microsoft.com/office/drawing/2014/main" id="{6CDBA057-BBD2-8F54-E977-26B782E37F88}"/>
              </a:ext>
            </a:extLst>
          </p:cNvPr>
          <p:cNvSpPr txBox="1"/>
          <p:nvPr/>
        </p:nvSpPr>
        <p:spPr>
          <a:xfrm>
            <a:off x="7752549" y="1801103"/>
            <a:ext cx="4318001" cy="523220"/>
          </a:xfrm>
          <a:prstGeom prst="rect">
            <a:avLst/>
          </a:prstGeom>
          <a:noFill/>
        </p:spPr>
        <p:txBody>
          <a:bodyPr wrap="square">
            <a:spAutoFit/>
          </a:bodyPr>
          <a:lstStyle/>
          <a:p>
            <a:r>
              <a:rPr lang="en-US" sz="1400" dirty="0">
                <a:solidFill/>
                <a:latin typeface="Arial" panose="020B0604020202020204" pitchFamily="34" charset="0"/>
                <a:cs typeface="Arial" panose="020B0604020202020204" pitchFamily="34" charset="0"/>
              </a:rPr>
              <a:t>‡ Conservatively assuming a commercial margin of 13.6% (80% of the estimated commercial margin)</a:t>
            </a:r>
          </a:p>
        </p:txBody>
      </p:sp>
      <p:sp>
        <p:nvSpPr>
          <p:cNvPr id="10" name="TextBox 6">
            <a:extLst>
              <a:ext uri="{FF2B5EF4-FFF2-40B4-BE49-F238E27FC236}">
                <a16:creationId xmlns:a16="http://schemas.microsoft.com/office/drawing/2014/main" id="{C690F22E-C9CA-61DC-5584-149573110610}"/>
              </a:ext>
            </a:extLst>
          </p:cNvPr>
          <p:cNvSpPr txBox="1"/>
          <p:nvPr/>
        </p:nvSpPr>
        <p:spPr>
          <a:xfrm>
            <a:off x="7752549" y="2535638"/>
            <a:ext cx="4318001" cy="738664"/>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⁰ Assuming </a:t>
            </a:r>
            <a:r>
              <a:rPr lang="en-US" sz="1400" dirty="0">
                <a:solidFill/>
                <a:latin typeface="Arial" panose="020B0604020202020204" pitchFamily="34" charset="0"/>
                <a:cs typeface="Arial" panose="020B0604020202020204" pitchFamily="34" charset="0"/>
              </a:rPr>
              <a:t>67% inpatient and 58%  </a:t>
            </a:r>
            <a:r>
              <a:rPr lang="en-US" sz="1400" dirty="0">
                <a:latin typeface="Arial" panose="020B0604020202020204" pitchFamily="34" charset="0"/>
                <a:cs typeface="Arial" panose="020B0604020202020204" pitchFamily="34" charset="0"/>
              </a:rPr>
              <a:t>market steerage based on KBA narrow network DTE experience </a:t>
            </a:r>
            <a:r>
              <a:rPr lang="en-US" sz="1400" dirty="0">
                <a:solidFill/>
                <a:latin typeface="Arial" panose="020B0604020202020204" pitchFamily="34" charset="0"/>
                <a:cs typeface="Arial" panose="020B0604020202020204" pitchFamily="34" charset="0"/>
              </a:rPr>
              <a:t>(see previous slide)</a:t>
            </a:r>
            <a:endParaRPr lang="en-US" sz="1400" dirty="0">
              <a:latin typeface="Arial" panose="020B0604020202020204" pitchFamily="34" charset="0"/>
              <a:cs typeface="Arial" panose="020B0604020202020204" pitchFamily="34" charset="0"/>
            </a:endParaRPr>
          </a:p>
        </p:txBody>
      </p:sp>
      <p:sp>
        <p:nvSpPr>
          <p:cNvPr id="11" name="TextBox 7">
            <a:extLst>
              <a:ext uri="{FF2B5EF4-FFF2-40B4-BE49-F238E27FC236}">
                <a16:creationId xmlns:a16="http://schemas.microsoft.com/office/drawing/2014/main" id="{A897897D-C568-B204-6568-514AD4B71A5C}"/>
              </a:ext>
            </a:extLst>
          </p:cNvPr>
          <p:cNvSpPr txBox="1"/>
          <p:nvPr/>
        </p:nvSpPr>
        <p:spPr>
          <a:xfrm>
            <a:off x="7752548" y="3324229"/>
            <a:ext cx="4318001" cy="1384995"/>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 Conservatively assuming a commercial </a:t>
            </a:r>
            <a:r>
              <a:rPr lang="en-US" sz="1400" dirty="0">
                <a:solidFill/>
                <a:latin typeface="Arial" panose="020B0604020202020204" pitchFamily="34" charset="0"/>
                <a:cs typeface="Arial" panose="020B0604020202020204" pitchFamily="34" charset="0"/>
              </a:rPr>
              <a:t>margin of </a:t>
            </a:r>
            <a:r>
              <a:rPr lang="en-US" sz="1400">
                <a:solidFill/>
                <a:latin typeface="Arial" panose="020B0604020202020204" pitchFamily="34" charset="0"/>
                <a:cs typeface="Arial" panose="020B0604020202020204" pitchFamily="34" charset="0"/>
              </a:rPr>
              <a:t>13.6%, with a 10 percentage-point reduction to reflect competitive-edge rates and a 10 percentage-point increase due to lower billing costs and higher patient responsibility collections because of the member credit card. </a:t>
            </a:r>
            <a:endParaRPr lang="en-US" sz="1400" dirty="0">
              <a:latin typeface="Arial" panose="020B0604020202020204" pitchFamily="34" charset="0"/>
              <a:cs typeface="Arial" panose="020B0604020202020204" pitchFamily="34" charset="0"/>
            </a:endParaRPr>
          </a:p>
        </p:txBody>
      </p:sp>
      <p:sp>
        <p:nvSpPr>
          <p:cNvPr id="12" name="TextBox 8">
            <a:extLst>
              <a:ext uri="{FF2B5EF4-FFF2-40B4-BE49-F238E27FC236}">
                <a16:creationId xmlns:a16="http://schemas.microsoft.com/office/drawing/2014/main" id="{1BBEE831-0583-9B2A-D9B8-C57C918E4C3C}"/>
              </a:ext>
            </a:extLst>
          </p:cNvPr>
          <p:cNvSpPr txBox="1"/>
          <p:nvPr/>
        </p:nvSpPr>
        <p:spPr>
          <a:xfrm>
            <a:off x="316454" y="34749"/>
            <a:ext cx="6286914" cy="584775"/>
          </a:xfrm>
          <a:prstGeom prst="rect">
            <a:avLst/>
          </a:prstGeom>
          <a:noFill/>
        </p:spPr>
        <p:txBody>
          <a:bodyPr wrap="none" rtlCol="0">
            <a:spAutoFit/>
          </a:bodyPr>
          <a:lstStyle/>
          <a:p>
            <a:r>
              <a:rPr lang="en-US" sz="3200" b="1" dirty="0">
                <a:latin typeface="Calibri" panose="020F0502020204030204" pitchFamily="34" charset="0"/>
                <a:cs typeface="Calibri" panose="020F0502020204030204" pitchFamily="34" charset="0"/>
              </a:rPr>
              <a:t>Year </a:t>
            </a:r>
            <a:r>
              <a:rPr lang="en-US" sz="3200" b="1">
                <a:latin typeface="Calibri" panose="020F0502020204030204" pitchFamily="34" charset="0"/>
                <a:cs typeface="Calibri" panose="020F0502020204030204" pitchFamily="34" charset="0"/>
              </a:rPr>
              <a:t>4 Projected </a:t>
            </a:r>
            <a:r>
              <a:rPr lang="en-US" sz="3200" b="1" dirty="0">
                <a:latin typeface="Calibri" panose="020F0502020204030204" pitchFamily="34" charset="0"/>
                <a:cs typeface="Calibri" panose="020F0502020204030204" pitchFamily="34" charset="0"/>
              </a:rPr>
              <a:t>Revenue and Profit</a:t>
            </a:r>
          </a:p>
        </p:txBody>
      </p:sp>
    </p:spTree>
    <p:extLst>
      <p:ext uri="{BB962C8B-B14F-4D97-AF65-F5344CB8AC3E}">
        <p14:creationId xmlns:p14="http://schemas.microsoft.com/office/powerpoint/2010/main" val="141981655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4207296554"/>
              </p:ext>
            </p:extLst>
          </p:nvPr>
        </p:nvGraphicFramePr>
        <p:xfrm>
          <a:off x="0" y="0"/>
          <a:ext cx="12198096" cy="6858000"/>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584592">
                <a:tc gridSpan="5">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Assuming 20%+ Within-Plan Steerage and a Commercial Margin of 13.6%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Assuming 20%+ Within-Plan Steerage and a Commercial Margin of 13.6%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Assuming 20%+ Within-Plan Steerage and a Commercial Margin of 13.6%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Assuming 20%+ Within-Plan Steerage and a Commercial Margin of 13.6%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Assuming 20%+ Within-Plan Steerage and a Commercial Margin of 13.6%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526132">
                <a:tc gridSpan="5">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411042">
                <a:tc>
                  <a:txBody>
                    <a:bodyPr/>
                    <a:lstStyle/>
                    <a:p>
                      <a:pPr marL="63500" marR="63500" algn="l">
                        <a:lnSpc>
                          <a:spcPct val="100000"/>
                        </a:lnSpc>
                        <a:spcBef>
                          <a:spcPts val="0"/>
                        </a:spcBef>
                        <a:spcAft>
                          <a:spcPts val="0"/>
                        </a:spcAft>
                        <a:buNone/>
                      </a:pPr>
                      <a:r>
                        <a:rPr sz="1100" b="1" i="0" u="none" cap="none">
                          <a:solidFill>
                            <a:srgbClr val="000000">
                              <a:alpha val="100000"/>
                            </a:srgbClr>
                          </a:solidFill>
                          <a:latin typeface="Arial"/>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411042">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$2,202.9</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$4,405.9</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$22,029.4</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$110,146.8</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411042">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$299.6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$599.2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$2,996.0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$14,980.0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411042">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$3,288.0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$6,576.0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$32,880.2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$164,401.2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81842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$1,085.1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dirty="0">
                          <a:solidFill>
                            <a:srgbClr val="000000">
                              <a:alpha val="100000"/>
                            </a:srgbClr>
                          </a:solidFill>
                          <a:latin typeface="Arial"/>
                          <a:cs typeface="Arial"/>
                          <a:sym typeface="Arial"/>
                        </a:rPr>
                        <a:t>$2,170.2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$10,850.9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$54,254.4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81842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Incremental Total Revenue by Member</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411042">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$447.2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$894.3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$4,471.7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$22,358.6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411042">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$147.6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$295.1</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$1,475.7</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$7,378.6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411042">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Wellness Share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$12.0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$300.0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411042">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Implementation Fee (One-Time)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411042">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Sales and Marketing Annual Fee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411042">
                <a:tc>
                  <a:txBody>
                    <a:bodyPr/>
                    <a:lstStyle/>
                    <a:p>
                      <a:pPr marL="63500" marR="63500" algn="l">
                        <a:lnSpc>
                          <a:spcPct val="100000"/>
                        </a:lnSpc>
                        <a:spcBef>
                          <a:spcPts val="0"/>
                        </a:spcBef>
                        <a:spcAft>
                          <a:spcPts val="0"/>
                        </a:spcAft>
                        <a:buNone/>
                      </a:pPr>
                      <a:r>
                        <a:rPr sz="1400" b="1" i="0" u="none" cap="none">
                          <a:solidFill>
                            <a:srgbClr val="000000">
                              <a:alpha val="100000"/>
                            </a:srgbClr>
                          </a:solidFill>
                          <a:latin typeface="Arial"/>
                          <a:cs typeface="Arial"/>
                          <a:sym typeface="Arial"/>
                        </a:rPr>
                        <a:t>Net Margin Less DTE Fees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$-176.4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$-22.9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$1,205.7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dirty="0">
                          <a:solidFill>
                            <a:srgbClr val="000000">
                              <a:alpha val="100000"/>
                            </a:srgbClr>
                          </a:solidFill>
                          <a:latin typeface="Arial"/>
                          <a:cs typeface="Arial"/>
                          <a:sym typeface="Arial"/>
                        </a:rPr>
                        <a:t>$7,348.6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549478667"/>
              </p:ext>
            </p:extLst>
          </p:nvPr>
        </p:nvGraphicFramePr>
        <p:xfrm>
          <a:off x="0" y="0"/>
          <a:ext cx="12198096" cy="6858003"/>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329068">
                <a:tc gridSpan="5">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Assuming 20%+ Within-Plan Steerage and a Commercial Margin of 13.6%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Assuming 20%+ Within-Plan Steerage and a Commercial Margin of 13.6%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Assuming 20%+ Within-Plan Steerage and a Commercial Margin of 13.6%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Assuming 20%+ Within-Plan Steerage and a Commercial Margin of 13.6%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Assuming 20%+ Within-Plan Steerage and a Commercial Margin of 13.6%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296162">
                <a:tc gridSpan="5">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231377">
                <a:tc>
                  <a:txBody>
                    <a:bodyPr/>
                    <a:lstStyle/>
                    <a:p>
                      <a:pPr marL="63500" marR="63500" algn="l">
                        <a:lnSpc>
                          <a:spcPct val="100000"/>
                        </a:lnSpc>
                        <a:spcBef>
                          <a:spcPts val="0"/>
                        </a:spcBef>
                        <a:spcAft>
                          <a:spcPts val="0"/>
                        </a:spcAft>
                        <a:buNone/>
                      </a:pPr>
                      <a:r>
                        <a:rPr sz="1100" b="1" i="0" u="none" cap="none">
                          <a:solidFill>
                            <a:srgbClr val="000000">
                              <a:alpha val="100000"/>
                            </a:srgbClr>
                          </a:solidFill>
                          <a:latin typeface="Arial"/>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231377">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$689.1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$1,378.2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$6,891.2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$34,456.1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231377">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$93.7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$187.4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$937.2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$4,686.0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231377">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$1,020.2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$2,040.3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$10,201.6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$51,008.1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231377">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$138.7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$277.5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$1,387.4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$6,937.1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460696">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$331.0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$662.1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$3,310.4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$16,551.9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460696">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Inpatient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$45.0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$90.0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$450.2</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$2,251.1</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8"/>
                  </a:ext>
                </a:extLst>
              </a:tr>
              <a:tr h="231377">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Outpatient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$1,031.9</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$2,063.8</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$10,319.2</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$51,595.9</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9"/>
                  </a:ext>
                </a:extLst>
              </a:tr>
              <a:tr h="231377">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$140.3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$280.7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$1,403.4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$7,017.0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231377">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$1,545.9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$3,091.9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$15,459.3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$77,296.4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1"/>
                  </a:ext>
                </a:extLst>
              </a:tr>
              <a:tr h="231377">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$210.2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$420.5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$2,102.5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$10,512.3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460696">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$514.0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$1,028.0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$5,140.1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$25,700.5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r h="460696">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Outpatient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$69.9</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$139.8</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$699.1</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$3,495.3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4"/>
                  </a:ext>
                </a:extLst>
              </a:tr>
              <a:tr h="460696">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Professional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$481.9</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$963.8</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$4,819.0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$24,094.8</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5"/>
                  </a:ext>
                </a:extLst>
              </a:tr>
              <a:tr h="231377">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$65.5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$131.1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$655.4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$3,276.9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6"/>
                  </a:ext>
                </a:extLst>
              </a:tr>
              <a:tr h="231377">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$721.9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$1,443.9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$7,219.4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$36,096.8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7"/>
                  </a:ext>
                </a:extLst>
              </a:tr>
              <a:tr h="231377">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$98.2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$196.4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$981.8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$4,909.2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460696">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$240.0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dirty="0">
                          <a:solidFill>
                            <a:srgbClr val="000000">
                              <a:alpha val="100000"/>
                            </a:srgbClr>
                          </a:solidFill>
                          <a:latin typeface="Arial"/>
                          <a:cs typeface="Arial"/>
                          <a:sym typeface="Arial"/>
                        </a:rPr>
                        <a:t>$480.1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$2,400.4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$12,001.9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460696">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Professional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$32.6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$65.3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$326.5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$1,632.3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r h="231377">
                <a:tc>
                  <a:txBody>
                    <a:bodyPr/>
                    <a:lstStyle/>
                    <a:p>
                      <a:pPr marL="63500" marR="63500" algn="l">
                        <a:lnSpc>
                          <a:spcPct val="100000"/>
                        </a:lnSpc>
                        <a:spcBef>
                          <a:spcPts val="0"/>
                        </a:spcBef>
                        <a:spcAft>
                          <a:spcPts val="0"/>
                        </a:spcAft>
                        <a:buNone/>
                      </a:pPr>
                      <a:r>
                        <a:rPr sz="1400" b="1" i="0" u="none" cap="none">
                          <a:solidFill>
                            <a:srgbClr val="000000">
                              <a:alpha val="100000"/>
                            </a:srgbClr>
                          </a:solidFill>
                          <a:latin typeface="Arial"/>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$-176.4</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$-22.9</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$1,205.7</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dirty="0">
                          <a:solidFill>
                            <a:srgbClr val="000000">
                              <a:alpha val="100000"/>
                            </a:srgbClr>
                          </a:solidFill>
                          <a:latin typeface="Arial"/>
                          <a:cs typeface="Arial"/>
                          <a:sym typeface="Arial"/>
                        </a:rPr>
                        <a:t>$7,348.6</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bl>
          </a:graphicData>
        </a:graphic>
      </p:graphicFrame>
    </p:spTree>
    <p:extLst>
      <p:ext uri="{BB962C8B-B14F-4D97-AF65-F5344CB8AC3E}">
        <p14:creationId xmlns:p14="http://schemas.microsoft.com/office/powerpoint/2010/main" val="106422298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498184988"/>
              </p:ext>
            </p:extLst>
          </p:nvPr>
        </p:nvGraphicFramePr>
        <p:xfrm>
          <a:off x="0" y="0"/>
          <a:ext cx="12198096" cy="6857996"/>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649550">
                <a:tc gridSpan="5">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High Estimate Assuming 20%+ Within-Plan Steerage and a Commercial Margin of 16.6%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High Estimate Assuming 20%+ Within-Plan Steerage and a Commercial Margin of 16.6%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High Estimate Assuming 20%+ Within-Plan Steerage and a Commercial Margin of 16.6%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High Estimate Assuming 20%+ Within-Plan Steerage and a Commercial Margin of 16.6%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High Estimate Assuming 20%+ Within-Plan Steerage and a Commercial Margin of 16.6%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0"/>
                  </a:ext>
                </a:extLst>
              </a:tr>
              <a:tr h="584595">
                <a:tc gridSpan="5">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1"/>
                  </a:ext>
                </a:extLst>
              </a:tr>
              <a:tr h="471448">
                <a:tc>
                  <a:txBody>
                    <a:bodyPr/>
                    <a:lstStyle/>
                    <a:p>
                      <a:pPr marL="63500" marR="63500" algn="l">
                        <a:lnSpc>
                          <a:spcPct val="100000"/>
                        </a:lnSpc>
                        <a:spcBef>
                          <a:spcPts val="0"/>
                        </a:spcBef>
                        <a:spcAft>
                          <a:spcPts val="0"/>
                        </a:spcAft>
                        <a:buNone/>
                      </a:pPr>
                      <a:r>
                        <a:rPr sz="1100" b="1" i="0" u="none" cap="none">
                          <a:solidFill>
                            <a:srgbClr val="000000">
                              <a:alpha val="100000"/>
                            </a:srgbClr>
                          </a:solidFill>
                          <a:latin typeface="Arial"/>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$2,202.9</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$4,405.9</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$22,029.4</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$110,146.8</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$299.6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$599.2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$2,996.0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$14,980.0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$3,911.1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$7,822.2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$39,110.9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$195,554.3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909371">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$1,708.2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$3,416.3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$17,081.5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$85,407.5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$649.2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$1,298.5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$6,492.4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$32,462.0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$349.6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$699.3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$3,496.4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$17,482.1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Wellness Share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$300.0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Implementation Fee (One-Time)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Sales and Marketing Annual Fee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471448">
                <a:tc>
                  <a:txBody>
                    <a:bodyPr/>
                    <a:lstStyle/>
                    <a:p>
                      <a:pPr marL="63500" marR="63500" algn="l">
                        <a:lnSpc>
                          <a:spcPct val="100000"/>
                        </a:lnSpc>
                        <a:spcBef>
                          <a:spcPts val="0"/>
                        </a:spcBef>
                        <a:spcAft>
                          <a:spcPts val="0"/>
                        </a:spcAft>
                        <a:buNone/>
                      </a:pPr>
                      <a:r>
                        <a:rPr sz="1400" b="1" i="0" u="none" cap="none">
                          <a:solidFill>
                            <a:srgbClr val="000000">
                              <a:alpha val="100000"/>
                            </a:srgbClr>
                          </a:solidFill>
                          <a:latin typeface="Arial"/>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$25.6</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$381.3</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$3,226.4</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dirty="0">
                          <a:solidFill>
                            <a:srgbClr val="000000">
                              <a:alpha val="100000"/>
                            </a:srgbClr>
                          </a:solidFill>
                          <a:latin typeface="Arial"/>
                          <a:cs typeface="Arial"/>
                          <a:sym typeface="Arial"/>
                        </a:rPr>
                        <a:t>$17,452.1</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617234884"/>
              </p:ext>
            </p:extLst>
          </p:nvPr>
        </p:nvGraphicFramePr>
        <p:xfrm>
          <a:off x="0" y="0"/>
          <a:ext cx="12198096" cy="6857996"/>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649550">
                <a:tc gridSpan="5">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Low Estimate Assuming 20%+ Within-Plan Steerage and a Commercial Margin of 10.6%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Low Estimate Assuming 20%+ Within-Plan Steerage and a Commercial Margin of 10.6%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Low Estimate Assuming 20%+ Within-Plan Steerage and a Commercial Margin of 10.6%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Low Estimate Assuming 20%+ Within-Plan Steerage and a Commercial Margin of 10.6%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Low Estimate Assuming 20%+ Within-Plan Steerage and a Commercial Margin of 10.6%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0"/>
                  </a:ext>
                </a:extLst>
              </a:tr>
              <a:tr h="584595">
                <a:tc gridSpan="5">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1"/>
                  </a:ext>
                </a:extLst>
              </a:tr>
              <a:tr h="471448">
                <a:tc>
                  <a:txBody>
                    <a:bodyPr/>
                    <a:lstStyle/>
                    <a:p>
                      <a:pPr marL="63500" marR="63500" algn="l">
                        <a:lnSpc>
                          <a:spcPct val="100000"/>
                        </a:lnSpc>
                        <a:spcBef>
                          <a:spcPts val="0"/>
                        </a:spcBef>
                        <a:spcAft>
                          <a:spcPts val="0"/>
                        </a:spcAft>
                        <a:buNone/>
                      </a:pPr>
                      <a:r>
                        <a:rPr sz="1100" b="1" i="0" u="none" cap="none">
                          <a:solidFill>
                            <a:srgbClr val="000000">
                              <a:alpha val="100000"/>
                            </a:srgbClr>
                          </a:solidFill>
                          <a:latin typeface="Arial"/>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$2,202.9</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$4,405.9</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$22,029.4</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$110,146.8</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$299.6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$599.2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$2,996.0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$14,980.0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$2,829.6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$5,659.1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$28,295.7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$141,478.5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909371">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$626.6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$1,253.3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$6,266.3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$31,331.7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$299.9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$599.9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$2,999.3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$14,996.7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$0.3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$0.7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$16.8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Wellness Share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$300.0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Implementation Fee (One-Time)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dirty="0">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Sales and Marketing Annual Fee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471448">
                <a:tc>
                  <a:txBody>
                    <a:bodyPr/>
                    <a:lstStyle/>
                    <a:p>
                      <a:pPr marL="63500" marR="63500" algn="l">
                        <a:lnSpc>
                          <a:spcPct val="100000"/>
                        </a:lnSpc>
                        <a:spcBef>
                          <a:spcPts val="0"/>
                        </a:spcBef>
                        <a:spcAft>
                          <a:spcPts val="0"/>
                        </a:spcAft>
                        <a:buNone/>
                      </a:pPr>
                      <a:r>
                        <a:rPr sz="1400" b="1" i="0" u="none" cap="none">
                          <a:solidFill>
                            <a:srgbClr val="000000">
                              <a:alpha val="100000"/>
                            </a:srgbClr>
                          </a:solidFill>
                          <a:latin typeface="Arial"/>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$-323.7</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$-317.3</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$-266.6</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dirty="0">
                          <a:solidFill>
                            <a:srgbClr val="000000">
                              <a:alpha val="100000"/>
                            </a:srgbClr>
                          </a:solidFill>
                          <a:latin typeface="Arial"/>
                          <a:cs typeface="Arial"/>
                          <a:sym typeface="Arial"/>
                        </a:rPr>
                        <a:t>$-13.2</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379091793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6">
            <a:extLst>
              <a:ext uri="{FF2B5EF4-FFF2-40B4-BE49-F238E27FC236}">
                <a16:creationId xmlns:a16="http://schemas.microsoft.com/office/drawing/2014/main" id="{1170DD0A-05C2-4268-9BEE-34CB1FB2DDC3}"/>
              </a:ext>
            </a:extLst>
          </p:cNvPr>
          <p:cNvSpPr/>
          <p:nvPr/>
        </p:nvSpPr>
        <p:spPr>
          <a:xfrm>
            <a:off x="3320170" y="2278363"/>
            <a:ext cx="2743200" cy="4180864"/>
          </a:xfrm>
          <a:prstGeom prst="roundRect">
            <a:avLst>
              <a:gd name="adj" fmla="val 5098"/>
            </a:avLst>
          </a:prstGeom>
          <a:solidFill>
            <a:srgbClr val="254F96"/>
          </a:solidFill>
          <a:ln>
            <a:solidFill>
              <a:srgbClr val="ED7623"/>
            </a:solid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500" spc="70" dirty="0">
                <a:latin typeface="+mj-lt"/>
              </a:rPr>
              <a:t>Incremental Revenues and Margin</a:t>
            </a:r>
          </a:p>
          <a:p>
            <a:pPr marL="285753" indent="-285753">
              <a:spcAft>
                <a:spcPts val="200"/>
              </a:spcAft>
              <a:buFont typeface="Wingdings" panose="05000000000000000000" pitchFamily="2" charset="2"/>
              <a:buChar char="§"/>
            </a:pPr>
            <a:r>
              <a:rPr lang="en-US" sz="1500" spc="70" dirty="0">
                <a:latin typeface="+mj-lt"/>
              </a:rPr>
              <a:t>Branding &amp; Messaging</a:t>
            </a:r>
          </a:p>
          <a:p>
            <a:pPr marL="285753" indent="-285753">
              <a:spcAft>
                <a:spcPts val="200"/>
              </a:spcAft>
              <a:buFont typeface="Wingdings" panose="05000000000000000000" pitchFamily="2" charset="2"/>
              <a:buChar char="§"/>
            </a:pPr>
            <a:r>
              <a:rPr lang="en-US" sz="1500" spc="70" dirty="0">
                <a:latin typeface="+mj-lt"/>
              </a:rPr>
              <a:t>Benefit Plan Integration</a:t>
            </a:r>
          </a:p>
          <a:p>
            <a:pPr marL="285753" indent="-285753">
              <a:spcAft>
                <a:spcPts val="200"/>
              </a:spcAft>
              <a:buFont typeface="Wingdings" panose="05000000000000000000" pitchFamily="2" charset="2"/>
              <a:buChar char="§"/>
            </a:pPr>
            <a:r>
              <a:rPr lang="en-US" sz="1500" spc="70" dirty="0">
                <a:latin typeface="+mj-lt"/>
              </a:rPr>
              <a:t>Network Steerage</a:t>
            </a:r>
          </a:p>
          <a:p>
            <a:pPr marL="285753" indent="-285753">
              <a:spcAft>
                <a:spcPts val="200"/>
              </a:spcAft>
              <a:buFont typeface="Wingdings" panose="05000000000000000000" pitchFamily="2" charset="2"/>
              <a:buChar char="§"/>
            </a:pPr>
            <a:r>
              <a:rPr lang="en-US" sz="1500" spc="70" dirty="0">
                <a:latin typeface="+mj-lt"/>
              </a:rPr>
              <a:t>Direct Relationship with Self-Funded Employers</a:t>
            </a:r>
          </a:p>
          <a:p>
            <a:pPr marL="285753" indent="-285753">
              <a:spcAft>
                <a:spcPts val="200"/>
              </a:spcAft>
              <a:buFont typeface="Wingdings" panose="05000000000000000000" pitchFamily="2" charset="2"/>
              <a:buChar char="§"/>
            </a:pPr>
            <a:r>
              <a:rPr lang="en-US" sz="1500" spc="70" dirty="0">
                <a:latin typeface="+mj-lt"/>
              </a:rPr>
              <a:t>Referral Authorization</a:t>
            </a:r>
          </a:p>
          <a:p>
            <a:pPr marL="285753" indent="-285753">
              <a:spcAft>
                <a:spcPts val="200"/>
              </a:spcAft>
              <a:buFont typeface="Wingdings" panose="05000000000000000000" pitchFamily="2" charset="2"/>
              <a:buChar char="§"/>
            </a:pPr>
            <a:r>
              <a:rPr lang="en-US" sz="1500" spc="70" dirty="0">
                <a:latin typeface="+mj-lt"/>
              </a:rPr>
              <a:t>Plan Transparency</a:t>
            </a:r>
          </a:p>
          <a:p>
            <a:pPr marL="285753" indent="-285753">
              <a:spcAft>
                <a:spcPts val="200"/>
              </a:spcAft>
              <a:buFont typeface="Wingdings" panose="05000000000000000000" pitchFamily="2" charset="2"/>
              <a:buChar char="§"/>
            </a:pPr>
            <a:r>
              <a:rPr lang="en-US" sz="1500" spc="70" dirty="0">
                <a:latin typeface="+mj-lt"/>
              </a:rPr>
              <a:t>Direct Access to Members</a:t>
            </a:r>
          </a:p>
        </p:txBody>
      </p:sp>
      <p:sp>
        <p:nvSpPr>
          <p:cNvPr id="3" name="Rectangle: Rounded Corners 14">
            <a:extLst>
              <a:ext uri="{FF2B5EF4-FFF2-40B4-BE49-F238E27FC236}">
                <a16:creationId xmlns:a16="http://schemas.microsoft.com/office/drawing/2014/main" id="{A3776881-4D82-4E5B-9D20-1D9004AEFF9F}"/>
              </a:ext>
            </a:extLst>
          </p:cNvPr>
          <p:cNvSpPr/>
          <p:nvPr/>
        </p:nvSpPr>
        <p:spPr>
          <a:xfrm>
            <a:off x="3297324" y="2014404"/>
            <a:ext cx="2772550" cy="920386"/>
          </a:xfrm>
          <a:prstGeom prst="roundRect">
            <a:avLst>
              <a:gd name="adj" fmla="val 8168"/>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endParaRPr lang="en-US" b="1" spc="300" dirty="0"/>
          </a:p>
        </p:txBody>
      </p:sp>
      <p:sp>
        <p:nvSpPr>
          <p:cNvPr id="4" name="Rectangle: Rounded Corners 12">
            <a:extLst>
              <a:ext uri="{FF2B5EF4-FFF2-40B4-BE49-F238E27FC236}">
                <a16:creationId xmlns:a16="http://schemas.microsoft.com/office/drawing/2014/main" id="{19A4738F-4400-47B5-AF42-3846B7BB42F5}"/>
              </a:ext>
            </a:extLst>
          </p:cNvPr>
          <p:cNvSpPr/>
          <p:nvPr/>
        </p:nvSpPr>
        <p:spPr>
          <a:xfrm>
            <a:off x="3290788" y="640792"/>
            <a:ext cx="2752344" cy="1638357"/>
          </a:xfrm>
          <a:prstGeom prst="roundRect">
            <a:avLst>
              <a:gd name="adj" fmla="val 5098"/>
            </a:avLst>
          </a:pr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Rounded Corners 4">
            <a:extLst>
              <a:ext uri="{FF2B5EF4-FFF2-40B4-BE49-F238E27FC236}">
                <a16:creationId xmlns:a16="http://schemas.microsoft.com/office/drawing/2014/main" id="{033B2561-9797-4F6F-A55B-F4CC8AEBE7EA}"/>
              </a:ext>
            </a:extLst>
          </p:cNvPr>
          <p:cNvSpPr/>
          <p:nvPr/>
        </p:nvSpPr>
        <p:spPr>
          <a:xfrm>
            <a:off x="419877" y="2268991"/>
            <a:ext cx="2743200" cy="4206240"/>
          </a:xfrm>
          <a:prstGeom prst="roundRect">
            <a:avLst>
              <a:gd name="adj" fmla="val 5098"/>
            </a:avLst>
          </a:prstGeom>
          <a:solidFill>
            <a:srgbClr val="000B2E"/>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500" spc="70" dirty="0">
                <a:latin typeface="+mj-lt"/>
              </a:rPr>
              <a:t>Full TPA Administration</a:t>
            </a:r>
          </a:p>
          <a:p>
            <a:pPr marL="285753" indent="-285753">
              <a:spcAft>
                <a:spcPts val="200"/>
              </a:spcAft>
              <a:buFont typeface="Wingdings" panose="05000000000000000000" pitchFamily="2" charset="2"/>
              <a:buChar char="§"/>
            </a:pPr>
            <a:r>
              <a:rPr lang="en-US" sz="1500" spc="70" dirty="0">
                <a:latin typeface="+mj-lt"/>
              </a:rPr>
              <a:t>Stop-Loss Administration</a:t>
            </a:r>
          </a:p>
          <a:p>
            <a:pPr marL="285753" indent="-285753">
              <a:spcAft>
                <a:spcPts val="200"/>
              </a:spcAft>
              <a:buFont typeface="Wingdings" panose="05000000000000000000" pitchFamily="2" charset="2"/>
              <a:buChar char="§"/>
            </a:pPr>
            <a:r>
              <a:rPr lang="en-US" sz="1500" spc="70" dirty="0">
                <a:latin typeface="+mj-lt"/>
              </a:rPr>
              <a:t>True Transparency &amp; Analytics</a:t>
            </a:r>
          </a:p>
          <a:p>
            <a:pPr marL="285753" indent="-285753">
              <a:spcAft>
                <a:spcPts val="200"/>
              </a:spcAft>
              <a:buFont typeface="Wingdings" panose="05000000000000000000" pitchFamily="2" charset="2"/>
              <a:buChar char="§"/>
            </a:pPr>
            <a:r>
              <a:rPr lang="en-US" sz="1500" spc="70" dirty="0">
                <a:latin typeface="+mj-lt"/>
              </a:rPr>
              <a:t>Population Health  Management</a:t>
            </a:r>
          </a:p>
          <a:p>
            <a:pPr marL="285753" indent="-285753">
              <a:spcAft>
                <a:spcPts val="200"/>
              </a:spcAft>
              <a:buFont typeface="Wingdings" panose="05000000000000000000" pitchFamily="2" charset="2"/>
              <a:buChar char="§"/>
            </a:pPr>
            <a:r>
              <a:rPr lang="en-US" sz="1500" spc="70" dirty="0">
                <a:latin typeface="+mj-lt"/>
              </a:rPr>
              <a:t>Utilization &amp; Case Management</a:t>
            </a:r>
          </a:p>
          <a:p>
            <a:pPr marL="285753" indent="-285753">
              <a:spcAft>
                <a:spcPts val="200"/>
              </a:spcAft>
              <a:buFont typeface="Wingdings" panose="05000000000000000000" pitchFamily="2" charset="2"/>
              <a:buChar char="§"/>
            </a:pPr>
            <a:r>
              <a:rPr lang="en-US" sz="1500" spc="70" dirty="0">
                <a:latin typeface="+mj-lt"/>
              </a:rPr>
              <a:t>Sales &amp; Marketing</a:t>
            </a:r>
          </a:p>
          <a:p>
            <a:pPr marL="285753" indent="-285753">
              <a:spcAft>
                <a:spcPts val="200"/>
              </a:spcAft>
              <a:buFont typeface="Wingdings" panose="05000000000000000000" pitchFamily="2" charset="2"/>
              <a:buChar char="§"/>
            </a:pPr>
            <a:r>
              <a:rPr lang="en-US" sz="1500" spc="70" dirty="0">
                <a:latin typeface="+mj-lt"/>
              </a:rPr>
              <a:t>Transparent PBM</a:t>
            </a:r>
          </a:p>
          <a:p>
            <a:pPr marL="285753" indent="-285753">
              <a:spcAft>
                <a:spcPts val="200"/>
              </a:spcAft>
              <a:buFont typeface="Wingdings" panose="05000000000000000000" pitchFamily="2" charset="2"/>
              <a:buChar char="§"/>
            </a:pPr>
            <a:r>
              <a:rPr lang="en-US" sz="1500" spc="70" dirty="0">
                <a:latin typeface="+mj-lt"/>
              </a:rPr>
              <a:t>Website &amp; Mobile App</a:t>
            </a:r>
          </a:p>
          <a:p>
            <a:pPr marL="285753" indent="-285753">
              <a:spcAft>
                <a:spcPts val="200"/>
              </a:spcAft>
              <a:buFont typeface="Wingdings" panose="05000000000000000000" pitchFamily="2" charset="2"/>
              <a:buChar char="§"/>
            </a:pPr>
            <a:r>
              <a:rPr lang="en-US" sz="1500" spc="70" dirty="0">
                <a:latin typeface="+mj-lt"/>
              </a:rPr>
              <a:t>Customizable options &amp;  plans</a:t>
            </a:r>
          </a:p>
        </p:txBody>
      </p:sp>
      <p:sp>
        <p:nvSpPr>
          <p:cNvPr id="6" name="Rectangle: Rounded Corners 7">
            <a:extLst>
              <a:ext uri="{FF2B5EF4-FFF2-40B4-BE49-F238E27FC236}">
                <a16:creationId xmlns:a16="http://schemas.microsoft.com/office/drawing/2014/main" id="{7E2632F1-6823-4C7E-A144-BBB7C0B6DEF9}"/>
              </a:ext>
            </a:extLst>
          </p:cNvPr>
          <p:cNvSpPr/>
          <p:nvPr/>
        </p:nvSpPr>
        <p:spPr>
          <a:xfrm>
            <a:off x="9080246" y="2252987"/>
            <a:ext cx="2743200" cy="4206240"/>
          </a:xfrm>
          <a:prstGeom prst="roundRect">
            <a:avLst>
              <a:gd name="adj" fmla="val 5098"/>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500" spc="70" dirty="0">
                <a:latin typeface="+mj-lt"/>
              </a:rPr>
              <a:t>Reduced Out of Pocket</a:t>
            </a:r>
          </a:p>
          <a:p>
            <a:pPr marL="285753" indent="-285753">
              <a:spcAft>
                <a:spcPts val="200"/>
              </a:spcAft>
              <a:buFont typeface="Wingdings" panose="05000000000000000000" pitchFamily="2" charset="2"/>
              <a:buChar char="§"/>
            </a:pPr>
            <a:r>
              <a:rPr lang="en-US" sz="1500" spc="70" dirty="0">
                <a:latin typeface="+mj-lt"/>
              </a:rPr>
              <a:t>Improved Health</a:t>
            </a:r>
          </a:p>
          <a:p>
            <a:pPr marL="285753" indent="-285753">
              <a:spcAft>
                <a:spcPts val="200"/>
              </a:spcAft>
              <a:buFont typeface="Wingdings" panose="05000000000000000000" pitchFamily="2" charset="2"/>
              <a:buChar char="§"/>
            </a:pPr>
            <a:r>
              <a:rPr lang="en-US" sz="1500" spc="70" dirty="0">
                <a:latin typeface="+mj-lt"/>
              </a:rPr>
              <a:t>Better Coordination &amp; Navigation of Care </a:t>
            </a:r>
          </a:p>
          <a:p>
            <a:pPr marL="285753" indent="-285753">
              <a:spcAft>
                <a:spcPts val="200"/>
              </a:spcAft>
              <a:buFont typeface="Wingdings" panose="05000000000000000000" pitchFamily="2" charset="2"/>
              <a:buChar char="§"/>
            </a:pPr>
            <a:r>
              <a:rPr lang="en-US" sz="1500" spc="70" dirty="0">
                <a:latin typeface="+mj-lt"/>
              </a:rPr>
              <a:t>Direct Access to the Best Medical Providers</a:t>
            </a:r>
          </a:p>
        </p:txBody>
      </p:sp>
      <p:sp>
        <p:nvSpPr>
          <p:cNvPr id="7" name="Rectangle: Rounded Corners 8">
            <a:extLst>
              <a:ext uri="{FF2B5EF4-FFF2-40B4-BE49-F238E27FC236}">
                <a16:creationId xmlns:a16="http://schemas.microsoft.com/office/drawing/2014/main" id="{452F9C72-ACBF-4B37-96AA-5B488724CF16}"/>
              </a:ext>
            </a:extLst>
          </p:cNvPr>
          <p:cNvSpPr/>
          <p:nvPr/>
        </p:nvSpPr>
        <p:spPr>
          <a:xfrm>
            <a:off x="417144" y="767141"/>
            <a:ext cx="2743200" cy="2194560"/>
          </a:xfrm>
          <a:prstGeom prst="roundRect">
            <a:avLst>
              <a:gd name="adj" fmla="val 8168"/>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b="1" spc="300" dirty="0"/>
              <a:t>Key Benefit Administrators</a:t>
            </a:r>
          </a:p>
        </p:txBody>
      </p:sp>
      <p:sp>
        <p:nvSpPr>
          <p:cNvPr id="8" name="Rectangle: Rounded Corners 11">
            <a:extLst>
              <a:ext uri="{FF2B5EF4-FFF2-40B4-BE49-F238E27FC236}">
                <a16:creationId xmlns:a16="http://schemas.microsoft.com/office/drawing/2014/main" id="{28D58689-51BB-4F50-AD3D-5F57EB09F0A5}"/>
              </a:ext>
            </a:extLst>
          </p:cNvPr>
          <p:cNvSpPr/>
          <p:nvPr/>
        </p:nvSpPr>
        <p:spPr>
          <a:xfrm>
            <a:off x="418323" y="614629"/>
            <a:ext cx="2752344" cy="1663734"/>
          </a:xfrm>
          <a:prstGeom prst="roundRect">
            <a:avLst>
              <a:gd name="adj" fmla="val 5098"/>
            </a:avLst>
          </a:prstGeom>
          <a:blipFill>
            <a:blip r:embed="rId3" cstate="screen">
              <a:duotone>
                <a:schemeClr val="accent3">
                  <a:shade val="45000"/>
                  <a:satMod val="135000"/>
                </a:schemeClr>
                <a:prstClr val="white"/>
              </a:duotone>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Rounded Corners 15">
            <a:extLst>
              <a:ext uri="{FF2B5EF4-FFF2-40B4-BE49-F238E27FC236}">
                <a16:creationId xmlns:a16="http://schemas.microsoft.com/office/drawing/2014/main" id="{1588ACF9-8E0F-4A2C-A1CE-0329366276D0}"/>
              </a:ext>
            </a:extLst>
          </p:cNvPr>
          <p:cNvSpPr/>
          <p:nvPr/>
        </p:nvSpPr>
        <p:spPr>
          <a:xfrm>
            <a:off x="9067800" y="751136"/>
            <a:ext cx="2760326" cy="2194560"/>
          </a:xfrm>
          <a:prstGeom prst="roundRect">
            <a:avLst>
              <a:gd name="adj" fmla="val 8168"/>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b="1" spc="300" dirty="0"/>
              <a:t>Employee</a:t>
            </a:r>
          </a:p>
        </p:txBody>
      </p:sp>
      <p:sp>
        <p:nvSpPr>
          <p:cNvPr id="10" name="Rectangle: Rounded Corners 13">
            <a:extLst>
              <a:ext uri="{FF2B5EF4-FFF2-40B4-BE49-F238E27FC236}">
                <a16:creationId xmlns:a16="http://schemas.microsoft.com/office/drawing/2014/main" id="{9CADBD40-EFBC-4DA0-9488-76FEF832A3DA}"/>
              </a:ext>
            </a:extLst>
          </p:cNvPr>
          <p:cNvSpPr/>
          <p:nvPr/>
        </p:nvSpPr>
        <p:spPr>
          <a:xfrm>
            <a:off x="9069166" y="598625"/>
            <a:ext cx="2758959" cy="1663734"/>
          </a:xfrm>
          <a:prstGeom prst="roundRect">
            <a:avLst>
              <a:gd name="adj" fmla="val 5098"/>
            </a:avLst>
          </a:prstGeom>
          <a:blipFill>
            <a:blip r:embed="rId5" cstate="screen">
              <a:duotone>
                <a:prstClr val="black"/>
                <a:schemeClr val="accent3">
                  <a:tint val="45000"/>
                  <a:satMod val="400000"/>
                </a:schemeClr>
              </a:duoton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Rounded Corners 18">
            <a:extLst>
              <a:ext uri="{FF2B5EF4-FFF2-40B4-BE49-F238E27FC236}">
                <a16:creationId xmlns:a16="http://schemas.microsoft.com/office/drawing/2014/main" id="{E603E0FD-1B79-43C3-ABAE-5EA24846155A}"/>
              </a:ext>
            </a:extLst>
          </p:cNvPr>
          <p:cNvSpPr/>
          <p:nvPr/>
        </p:nvSpPr>
        <p:spPr>
          <a:xfrm>
            <a:off x="6190866" y="2268991"/>
            <a:ext cx="2743200" cy="4206240"/>
          </a:xfrm>
          <a:prstGeom prst="roundRect">
            <a:avLst>
              <a:gd name="adj" fmla="val 5098"/>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endParaRPr lang="en-US" sz="1500" spc="70" dirty="0">
              <a:latin typeface="+mj-lt"/>
            </a:endParaRPr>
          </a:p>
        </p:txBody>
      </p:sp>
      <p:sp>
        <p:nvSpPr>
          <p:cNvPr id="12" name="Rectangle: Rounded Corners 19">
            <a:extLst>
              <a:ext uri="{FF2B5EF4-FFF2-40B4-BE49-F238E27FC236}">
                <a16:creationId xmlns:a16="http://schemas.microsoft.com/office/drawing/2014/main" id="{706CA18C-73A5-4798-ADEA-6A91A9CA3E3F}"/>
              </a:ext>
            </a:extLst>
          </p:cNvPr>
          <p:cNvSpPr/>
          <p:nvPr/>
        </p:nvSpPr>
        <p:spPr>
          <a:xfrm>
            <a:off x="6190866" y="767140"/>
            <a:ext cx="2743200" cy="2194560"/>
          </a:xfrm>
          <a:prstGeom prst="roundRect">
            <a:avLst>
              <a:gd name="adj" fmla="val 8168"/>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b="1" spc="300" dirty="0"/>
              <a:t>Employer</a:t>
            </a:r>
          </a:p>
        </p:txBody>
      </p:sp>
      <p:sp>
        <p:nvSpPr>
          <p:cNvPr id="13" name="Rectangle: Rounded Corners 20">
            <a:extLst>
              <a:ext uri="{FF2B5EF4-FFF2-40B4-BE49-F238E27FC236}">
                <a16:creationId xmlns:a16="http://schemas.microsoft.com/office/drawing/2014/main" id="{EC389E6D-655C-44F7-A512-D251981967B7}"/>
              </a:ext>
            </a:extLst>
          </p:cNvPr>
          <p:cNvSpPr/>
          <p:nvPr/>
        </p:nvSpPr>
        <p:spPr>
          <a:xfrm>
            <a:off x="6189312" y="614629"/>
            <a:ext cx="2743200" cy="1646474"/>
          </a:xfrm>
          <a:prstGeom prst="roundRect">
            <a:avLst>
              <a:gd name="adj" fmla="val 5098"/>
            </a:avLst>
          </a:prstGeom>
          <a:blipFill>
            <a:blip r:embed="rId6" cstate="screen">
              <a:duotone>
                <a:schemeClr val="accent3">
                  <a:shade val="45000"/>
                  <a:satMod val="135000"/>
                </a:schemeClr>
                <a:prstClr val="white"/>
              </a:duoton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extBox 28">
            <a:extLst>
              <a:ext uri="{FF2B5EF4-FFF2-40B4-BE49-F238E27FC236}">
                <a16:creationId xmlns:a16="http://schemas.microsoft.com/office/drawing/2014/main" id="{4729117A-BB8C-4EBB-A387-7A08741A215C}"/>
              </a:ext>
            </a:extLst>
          </p:cNvPr>
          <p:cNvSpPr txBox="1"/>
          <p:nvPr/>
        </p:nvSpPr>
        <p:spPr>
          <a:xfrm>
            <a:off x="0" y="88118"/>
            <a:ext cx="12192000" cy="400110"/>
          </a:xfrm>
          <a:prstGeom prst="rect">
            <a:avLst/>
          </a:prstGeom>
          <a:noFill/>
        </p:spPr>
        <p:txBody>
          <a:bodyPr wrap="square" rtlCol="0">
            <a:spAutoFit/>
          </a:bodyPr>
          <a:lstStyle/>
          <a:p>
            <a:pPr algn="ctr"/>
            <a:r>
              <a:rPr lang="en-US" sz="2000" b="1" spc="600" dirty="0">
                <a:solidFill>
                  <a:schemeClr val="tx1">
                    <a:lumMod val="50000"/>
                    <a:lumOff val="50000"/>
                  </a:schemeClr>
                </a:solidFill>
                <a:latin typeface="Arial" panose="020B0604020202020204" pitchFamily="34" charset="0"/>
                <a:cs typeface="Arial" panose="020B0604020202020204" pitchFamily="34" charset="0"/>
              </a:rPr>
              <a:t>COLLABORATION OF STAKEHOLDERS</a:t>
            </a:r>
          </a:p>
        </p:txBody>
      </p:sp>
      <p:sp>
        <p:nvSpPr>
          <p:cNvPr id="15" name="Footer Placeholder 1">
            <a:extLst>
              <a:ext uri="{FF2B5EF4-FFF2-40B4-BE49-F238E27FC236}">
                <a16:creationId xmlns:a16="http://schemas.microsoft.com/office/drawing/2014/main" id="{201E1F3B-34DC-4814-B207-BFA0952F846F}"/>
              </a:ext>
            </a:extLst>
          </p:cNvPr>
          <p:cNvSpPr>
            <a:spLocks noGrp="1"/>
          </p:cNvSpPr>
          <p:nvPr>
            <p:ph type="ftr" sz="quarter" idx="11"/>
          </p:nvPr>
        </p:nvSpPr>
        <p:spPr/>
        <p:txBody>
          <a:bodyPr/>
          <a:lstStyle/>
          <a:p>
            <a:r>
              <a:rPr lang="en-US" dirty="0"/>
              <a:t>Key Benefit Administrators</a:t>
            </a:r>
          </a:p>
        </p:txBody>
      </p:sp>
      <p:sp>
        <p:nvSpPr>
          <p:cNvPr id="16" name="Slide Number Placeholder 4">
            <a:extLst>
              <a:ext uri="{FF2B5EF4-FFF2-40B4-BE49-F238E27FC236}">
                <a16:creationId xmlns:a16="http://schemas.microsoft.com/office/drawing/2014/main" id="{F2BFC0BE-4983-4495-8C0B-3B2676EE2347}"/>
              </a:ext>
            </a:extLst>
          </p:cNvPr>
          <p:cNvSpPr>
            <a:spLocks noGrp="1"/>
          </p:cNvSpPr>
          <p:nvPr>
            <p:ph type="sldNum" sz="quarter" idx="12"/>
          </p:nvPr>
        </p:nvSpPr>
        <p:spPr>
          <a:xfrm>
            <a:off x="8610600" y="6471095"/>
            <a:ext cx="2743200" cy="250380"/>
          </a:xfrm>
        </p:spPr>
        <p:txBody>
          <a:bodyPr/>
          <a:lstStyle/>
          <a:p>
            <a:fld id="{3AFC719D-C4A7-4544-876E-D411D11AF6C9}" type="slidenum">
              <a:rPr lang="en-US" smtClean="0"/>
              <a:t>38</a:t>
            </a:fld>
            <a:endParaRPr lang="en-US" dirty="0"/>
          </a:p>
        </p:txBody>
      </p:sp>
      <p:sp>
        <p:nvSpPr>
          <p:cNvPr id="17" name="TextBox 5">
            <a:extLst>
              <a:ext uri="{FF2B5EF4-FFF2-40B4-BE49-F238E27FC236}">
                <a16:creationId xmlns:a16="http://schemas.microsoft.com/office/drawing/2014/main" id="{9E0B445C-F723-D2CD-7458-1C791D6F47F3}"/>
              </a:ext>
            </a:extLst>
          </p:cNvPr>
          <p:cNvSpPr txBox="1"/>
          <p:nvPr/>
        </p:nvSpPr>
        <p:spPr>
          <a:xfrm>
            <a:off x="3290788" y="2543108"/>
            <a:ext cx="2743200" cy="369332"/>
          </a:xfrm>
          <a:prstGeom prst="rect">
            <a:avLst/>
          </a:prstGeom>
          <a:noFill/>
        </p:spPr>
        <p:txBody>
          <a:bodyPr wrap="square">
            <a:spAutoFit/>
          </a:bodyPr>
          <a:lstStyle/>
          <a:p>
            <a:r>
              <a:rPr lang="en-US" b="1" spc="300" dirty="0">
                <a:solidFill>
                  <a:schemeClr val="bg1"/>
                </a:solidFill>
              </a:rPr>
              <a:t>Cleveland Clinic’s DTE</a:t>
            </a:r>
          </a:p>
        </p:txBody>
      </p:sp>
      <p:sp>
        <p:nvSpPr>
          <p:cNvPr id="18" name="TextBox 3">
            <a:extLst>
              <a:ext uri="{FF2B5EF4-FFF2-40B4-BE49-F238E27FC236}">
                <a16:creationId xmlns:a16="http://schemas.microsoft.com/office/drawing/2014/main" id="{023ECDC4-FBF0-6BFB-8749-2B605D488427}"/>
              </a:ext>
            </a:extLst>
          </p:cNvPr>
          <p:cNvSpPr txBox="1"/>
          <p:nvPr/>
        </p:nvSpPr>
        <p:spPr>
          <a:xfrm>
            <a:off x="6189312" y="3152422"/>
            <a:ext cx="2743200" cy="2092881"/>
          </a:xfrm>
          <a:prstGeom prst="rect">
            <a:avLst/>
          </a:prstGeom>
          <a:noFill/>
        </p:spPr>
        <p:txBody>
          <a:bodyPr wrap="square">
            <a:spAutoFit/>
          </a:bodyPr>
          <a:lstStyle/>
          <a:p>
            <a:pPr marL="285753" indent="-285753">
              <a:spcAft>
                <a:spcPts val="200"/>
              </a:spcAft>
              <a:buFont typeface="Wingdings" panose="05000000000000000000" pitchFamily="2" charset="2"/>
              <a:buChar char="§"/>
            </a:pPr>
            <a:r>
              <a:rPr lang="en-US" sz="1500" spc="70" dirty="0">
                <a:solidFill>
                  <a:schemeClr val="bg1"/>
                </a:solidFill>
                <a:latin typeface="+mj-lt"/>
              </a:rPr>
              <a:t>Reduced Spend</a:t>
            </a:r>
          </a:p>
          <a:p>
            <a:pPr marL="285753" indent="-285753">
              <a:spcAft>
                <a:spcPts val="200"/>
              </a:spcAft>
              <a:buFont typeface="Wingdings" panose="05000000000000000000" pitchFamily="2" charset="2"/>
              <a:buChar char="§"/>
            </a:pPr>
            <a:r>
              <a:rPr lang="en-US" sz="1500" spc="70" dirty="0">
                <a:solidFill>
                  <a:schemeClr val="bg1"/>
                </a:solidFill>
                <a:latin typeface="+mj-lt"/>
              </a:rPr>
              <a:t>“At The Table” with Cleveland Clinic Health System</a:t>
            </a:r>
          </a:p>
          <a:p>
            <a:pPr marL="285753" indent="-285753">
              <a:spcAft>
                <a:spcPts val="200"/>
              </a:spcAft>
              <a:buFont typeface="Wingdings" panose="05000000000000000000" pitchFamily="2" charset="2"/>
              <a:buChar char="§"/>
            </a:pPr>
            <a:r>
              <a:rPr lang="en-US" sz="1500" spc="70" dirty="0">
                <a:solidFill>
                  <a:schemeClr val="bg1"/>
                </a:solidFill>
                <a:latin typeface="+mj-lt"/>
              </a:rPr>
              <a:t>Improved Analytics</a:t>
            </a:r>
          </a:p>
          <a:p>
            <a:pPr marL="285753" indent="-285753">
              <a:spcAft>
                <a:spcPts val="200"/>
              </a:spcAft>
              <a:buFont typeface="Wingdings" panose="05000000000000000000" pitchFamily="2" charset="2"/>
              <a:buChar char="§"/>
            </a:pPr>
            <a:r>
              <a:rPr lang="en-US" sz="1500" spc="70" dirty="0">
                <a:solidFill>
                  <a:schemeClr val="bg1"/>
                </a:solidFill>
                <a:latin typeface="+mj-lt"/>
              </a:rPr>
              <a:t>Complete Transparency</a:t>
            </a:r>
          </a:p>
          <a:p>
            <a:pPr marL="285753" indent="-285753">
              <a:spcAft>
                <a:spcPts val="200"/>
              </a:spcAft>
              <a:buFont typeface="Wingdings" panose="05000000000000000000" pitchFamily="2" charset="2"/>
              <a:buChar char="§"/>
            </a:pPr>
            <a:r>
              <a:rPr lang="en-US" sz="1500" spc="70" dirty="0">
                <a:solidFill>
                  <a:schemeClr val="bg1"/>
                </a:solidFill>
                <a:latin typeface="+mj-lt"/>
              </a:rPr>
              <a:t>Lower Stop-Loss</a:t>
            </a:r>
          </a:p>
          <a:p>
            <a:pPr marL="285753" indent="-285753">
              <a:spcAft>
                <a:spcPts val="200"/>
              </a:spcAft>
              <a:buFont typeface="Wingdings" panose="05000000000000000000" pitchFamily="2" charset="2"/>
              <a:buChar char="§"/>
            </a:pPr>
            <a:r>
              <a:rPr lang="en-US" sz="1500" spc="70" dirty="0">
                <a:solidFill>
                  <a:schemeClr val="bg1"/>
                </a:solidFill>
                <a:latin typeface="+mj-lt"/>
              </a:rPr>
              <a:t>Benefit Plan Stabilization </a:t>
            </a:r>
          </a:p>
          <a:p>
            <a:pPr marL="285753" indent="-285753">
              <a:spcAft>
                <a:spcPts val="200"/>
              </a:spcAft>
              <a:buFont typeface="Wingdings" panose="05000000000000000000" pitchFamily="2" charset="2"/>
              <a:buChar char="§"/>
            </a:pPr>
            <a:r>
              <a:rPr lang="en-US" sz="1500" spc="70" dirty="0">
                <a:solidFill>
                  <a:schemeClr val="bg1"/>
                </a:solidFill>
                <a:latin typeface="+mj-lt"/>
              </a:rPr>
              <a:t>Healthier Population</a:t>
            </a:r>
          </a:p>
        </p:txBody>
      </p:sp>
    </p:spTree>
    <p:extLst>
      <p:ext uri="{BB962C8B-B14F-4D97-AF65-F5344CB8AC3E}">
        <p14:creationId xmlns:p14="http://schemas.microsoft.com/office/powerpoint/2010/main" val="314419213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BBB1F-796B-4271-AAA8-C6BA52CFC027}"/>
              </a:ext>
            </a:extLst>
          </p:cNvPr>
          <p:cNvSpPr>
            <a:spLocks noGrp="1"/>
          </p:cNvSpPr>
          <p:nvPr>
            <p:ph type="title"/>
          </p:nvPr>
        </p:nvSpPr>
        <p:spPr>
          <a:xfrm>
            <a:off x="1013460" y="262490"/>
            <a:ext cx="9576783" cy="528085"/>
          </a:xfrm>
        </p:spPr>
        <p:txBody>
          <a:bodyPr>
            <a:noAutofit/>
          </a:bodyPr>
          <a:lstStyle/>
          <a:p>
            <a:r>
              <a:rPr lang="en-US" sz="2400" dirty="0">
                <a:solidFill>
                  <a:srgbClr val="0063A3"/>
                </a:solidFill>
              </a:rPr>
              <a:t>ROLES &amp; RESPONSIBILITIES</a:t>
            </a:r>
          </a:p>
        </p:txBody>
      </p:sp>
      <p:graphicFrame>
        <p:nvGraphicFramePr>
          <p:cNvPr id="3" name="Table 4">
            <a:extLst>
              <a:ext uri="{FF2B5EF4-FFF2-40B4-BE49-F238E27FC236}">
                <a16:creationId xmlns:a16="http://schemas.microsoft.com/office/drawing/2014/main" id="{3DE2040A-C011-4979-87CF-A22C198DE3CA}"/>
              </a:ext>
            </a:extLst>
          </p:cNvPr>
          <p:cNvGraphicFramePr>
            <a:graphicFrameLocks noGrp="1"/>
          </p:cNvGraphicFramePr>
          <p:nvPr>
            <p:extLst>
              <p:ext uri="{D42A27DB-BD31-4B8C-83A1-F6EECF244321}">
                <p14:modId xmlns:p14="http://schemas.microsoft.com/office/powerpoint/2010/main" val="329094416"/>
              </p:ext>
            </p:extLst>
          </p:nvPr>
        </p:nvGraphicFramePr>
        <p:xfrm>
          <a:off x="1013460" y="857025"/>
          <a:ext cx="10121264" cy="5560539"/>
        </p:xfrm>
        <a:graphic>
          <a:graphicData uri="http://schemas.openxmlformats.org/drawingml/2006/table">
            <a:tbl>
              <a:tblPr firstRow="1">
                <a:tableStyleId>{8799B23B-EC83-4686-B30A-512413B5E67A}</a:tableStyleId>
              </a:tblPr>
              <a:tblGrid>
                <a:gridCol w="4941454">
                  <a:extLst>
                    <a:ext uri="{9D8B030D-6E8A-4147-A177-3AD203B41FA5}">
                      <a16:colId xmlns:a16="http://schemas.microsoft.com/office/drawing/2014/main" val="2456270069"/>
                    </a:ext>
                  </a:extLst>
                </a:gridCol>
                <a:gridCol w="5179810">
                  <a:extLst>
                    <a:ext uri="{9D8B030D-6E8A-4147-A177-3AD203B41FA5}">
                      <a16:colId xmlns:a16="http://schemas.microsoft.com/office/drawing/2014/main" val="88257443"/>
                    </a:ext>
                  </a:extLst>
                </a:gridCol>
              </a:tblGrid>
              <a:tr h="274854">
                <a:tc gridSpan="2">
                  <a:txBody>
                    <a:bodyPr/>
                    <a:lstStyle/>
                    <a:p>
                      <a:pPr marL="0" marR="0" algn="ctr">
                        <a:spcBef>
                          <a:spcPts val="0"/>
                        </a:spcBef>
                        <a:spcAft>
                          <a:spcPts val="0"/>
                        </a:spcAft>
                        <a:tabLst>
                          <a:tab pos="4465955" algn="l"/>
                        </a:tabLst>
                      </a:pPr>
                      <a:r>
                        <a:rPr lang="en-US" sz="1400" spc="300" dirty="0">
                          <a:solidFill>
                            <a:schemeClr val="bg1"/>
                          </a:solidFill>
                          <a:effectLst/>
                        </a:rPr>
                        <a:t>SERVICES &amp; ADMINISTRATIVE SYSTEMS PROVIDED BY:</a:t>
                      </a:r>
                      <a:endParaRPr lang="en-US" sz="1400" spc="3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0B2E"/>
                    </a:solidFill>
                  </a:tcPr>
                </a:tc>
                <a:tc hMerge="1">
                  <a:txBody>
                    <a:bodyPr/>
                    <a:lstStyle/>
                    <a:p>
                      <a:endParaRPr lang="en-US"/>
                    </a:p>
                  </a:txBody>
                  <a:tcPr/>
                </a:tc>
                <a:extLst>
                  <a:ext uri="{0D108BD9-81ED-4DB2-BD59-A6C34878D82A}">
                    <a16:rowId xmlns:a16="http://schemas.microsoft.com/office/drawing/2014/main" val="2661458497"/>
                  </a:ext>
                </a:extLst>
              </a:tr>
              <a:tr h="273577">
                <a:tc>
                  <a:txBody>
                    <a:bodyPr/>
                    <a:lstStyle/>
                    <a:p>
                      <a:pPr marL="0" marR="0" algn="ctr">
                        <a:spcBef>
                          <a:spcPts val="0"/>
                        </a:spcBef>
                        <a:spcAft>
                          <a:spcPts val="0"/>
                        </a:spcAft>
                        <a:tabLst>
                          <a:tab pos="4465955" algn="l"/>
                        </a:tabLst>
                      </a:pPr>
                      <a:r>
                        <a:rPr lang="en-US" sz="1200" b="1" u="none"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Cleveland Clinic Health System</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9CAE8"/>
                    </a:solidFill>
                  </a:tcPr>
                </a:tc>
                <a:tc>
                  <a:txBody>
                    <a:bodyPr/>
                    <a:lstStyle/>
                    <a:p>
                      <a:pPr marL="0" marR="0" algn="ctr">
                        <a:spcBef>
                          <a:spcPts val="0"/>
                        </a:spcBef>
                        <a:spcAft>
                          <a:spcPts val="0"/>
                        </a:spcAft>
                        <a:tabLst>
                          <a:tab pos="4465955" algn="l"/>
                        </a:tabLst>
                      </a:pPr>
                      <a:r>
                        <a:rPr lang="en-US" sz="1200" b="1" u="none" dirty="0">
                          <a:solidFill>
                            <a:schemeClr val="bg1"/>
                          </a:solidFill>
                          <a:effectLst/>
                        </a:rPr>
                        <a:t>KBA Operations</a:t>
                      </a:r>
                      <a:endParaRPr lang="en-US" sz="1200" b="1" u="none"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63A3"/>
                    </a:solidFill>
                  </a:tcPr>
                </a:tc>
                <a:extLst>
                  <a:ext uri="{0D108BD9-81ED-4DB2-BD59-A6C34878D82A}">
                    <a16:rowId xmlns:a16="http://schemas.microsoft.com/office/drawing/2014/main" val="2994131152"/>
                  </a:ext>
                </a:extLst>
              </a:tr>
              <a:tr h="2243128">
                <a:tc>
                  <a:txBody>
                    <a:bodyPr/>
                    <a:lstStyle/>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Tier 1 Provider Network </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Provider Recruitment – If Necessary</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Network Pricing &amp; Contract Terms</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Referral Management Protocols &amp; Approvals</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Medical Director Oversight</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Practice Improvement Program using KBA/AHDI Data with Assistance from KBA</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3">
                  <a:txBody>
                    <a:bodyPr/>
                    <a:lstStyle/>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Network Evaluation – Actuarial Pricing</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PPO Wrap &amp; Tertiary Transplant Network, if needed</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Claims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Plan Design Development, Testing, and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Employer/Member/Provider Customer Service</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Customized Member/Provider/Agent/HR Portal</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Billing, Enrollment (Electronic/Paper), and Premium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Fulfilment – SPD &amp; Customized ID Cards  </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COBRA/HIPAA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Out of Network Negotiations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Wrap PPO Repricing</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Nurse Coaching for Chronically Ill</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Nurse Triage to Physicians and Facilities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Stop-Loss Underwriting, Pricing, and Placement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Stop Loss Claims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Complex Case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PBM Administration Interface</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Reporting</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Utilization &amp; Gaps in Care</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Clinically Based Physician Profiling</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Referrals</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Chronic Disease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Employer Health Risk Management Reports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Ancillary Administration – Dental, Vision, Weekly Income, 5500, Life, etc.</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Health Savings Account (HSA), Flexible Spending (FSA), Health Reimbursement Account (HRA)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Sales &amp; Marketing Plan</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Strategy Development: Branding, Brochures, Web Site</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Distribution System Development</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Sales Management</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29600542"/>
                  </a:ext>
                </a:extLst>
              </a:tr>
              <a:tr h="293678">
                <a:tc>
                  <a:txBody>
                    <a:bodyPr/>
                    <a:lstStyle/>
                    <a:p>
                      <a:pPr marL="0" marR="0" algn="ctr">
                        <a:spcBef>
                          <a:spcPts val="0"/>
                        </a:spcBef>
                        <a:spcAft>
                          <a:spcPts val="0"/>
                        </a:spcAft>
                        <a:tabLst>
                          <a:tab pos="4465955" algn="l"/>
                        </a:tabLst>
                      </a:pPr>
                      <a:r>
                        <a:rPr lang="en-US" sz="1200" b="1" u="none" dirty="0">
                          <a:solidFill>
                            <a:schemeClr val="tx1"/>
                          </a:solidFill>
                          <a:effectLst/>
                        </a:rPr>
                        <a:t>KBA Consulting</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vMerge="1">
                  <a:txBody>
                    <a:bodyPr/>
                    <a:lstStyle/>
                    <a:p>
                      <a:endParaRPr lang="en-US"/>
                    </a:p>
                  </a:txBody>
                  <a:tcPr/>
                </a:tc>
                <a:extLst>
                  <a:ext uri="{0D108BD9-81ED-4DB2-BD59-A6C34878D82A}">
                    <a16:rowId xmlns:a16="http://schemas.microsoft.com/office/drawing/2014/main" val="2629869834"/>
                  </a:ext>
                </a:extLst>
              </a:tr>
              <a:tr h="2475302">
                <a:tc>
                  <a:txBody>
                    <a:bodyPr/>
                    <a:lstStyle/>
                    <a:p>
                      <a:pPr marL="171450" marR="0" lvl="0" indent="-171450">
                        <a:spcBef>
                          <a:spcPts val="0"/>
                        </a:spcBef>
                        <a:spcAft>
                          <a:spcPts val="0"/>
                        </a:spcAft>
                        <a:buClrTx/>
                        <a:buFont typeface="Arial" panose="020B0604020202020204" pitchFamily="34" charset="0"/>
                        <a:buChar char="•"/>
                      </a:pPr>
                      <a:endParaRPr lang="en-US" sz="1200" dirty="0">
                        <a:effectLst/>
                      </a:endParaRPr>
                    </a:p>
                    <a:p>
                      <a:pPr marL="400050" marR="0" lvl="1" indent="-171450">
                        <a:spcBef>
                          <a:spcPts val="0"/>
                        </a:spcBef>
                        <a:spcAft>
                          <a:spcPts val="0"/>
                        </a:spcAft>
                        <a:buClrTx/>
                        <a:buFont typeface="Wingdings" panose="05000000000000000000" pitchFamily="2" charset="2"/>
                        <a:buChar char="§"/>
                      </a:pPr>
                      <a:r>
                        <a:rPr lang="en-US" sz="1200" dirty="0">
                          <a:effectLst/>
                        </a:rPr>
                        <a:t>Program oversight and integration across the enterprise</a:t>
                      </a:r>
                    </a:p>
                    <a:p>
                      <a:pPr marL="400050" marR="0" lvl="1" indent="-171450">
                        <a:spcBef>
                          <a:spcPts val="0"/>
                        </a:spcBef>
                        <a:spcAft>
                          <a:spcPts val="0"/>
                        </a:spcAft>
                        <a:buClrTx/>
                        <a:buFont typeface="Wingdings" panose="05000000000000000000" pitchFamily="2" charset="2"/>
                        <a:buChar char="§"/>
                      </a:pPr>
                      <a:r>
                        <a:rPr lang="en-US" sz="1200" dirty="0">
                          <a:effectLst/>
                        </a:rPr>
                        <a:t>Goal development, agreement and tracking</a:t>
                      </a:r>
                    </a:p>
                    <a:p>
                      <a:pPr marL="400050" marR="0" lvl="1" indent="-171450">
                        <a:spcBef>
                          <a:spcPts val="0"/>
                        </a:spcBef>
                        <a:spcAft>
                          <a:spcPts val="0"/>
                        </a:spcAft>
                        <a:buClrTx/>
                        <a:buFont typeface="Wingdings" panose="05000000000000000000" pitchFamily="2" charset="2"/>
                        <a:buChar char="§"/>
                      </a:pPr>
                      <a:r>
                        <a:rPr lang="en-US" sz="1200" dirty="0">
                          <a:effectLst/>
                        </a:rPr>
                        <a:t>Start-up assessments: market, network, operational and readiness</a:t>
                      </a:r>
                    </a:p>
                    <a:p>
                      <a:pPr marL="400050" marR="0" lvl="1" indent="-171450">
                        <a:spcBef>
                          <a:spcPts val="0"/>
                        </a:spcBef>
                        <a:spcAft>
                          <a:spcPts val="0"/>
                        </a:spcAft>
                        <a:buClrTx/>
                        <a:buFont typeface="Wingdings" panose="05000000000000000000" pitchFamily="2" charset="2"/>
                        <a:buChar char="§"/>
                      </a:pPr>
                      <a:r>
                        <a:rPr lang="en-US" sz="1200" dirty="0">
                          <a:effectLst/>
                        </a:rPr>
                        <a:t>Draft business plan with financial projections</a:t>
                      </a:r>
                    </a:p>
                    <a:p>
                      <a:pPr marL="400050" marR="0" lvl="1" indent="-171450">
                        <a:spcBef>
                          <a:spcPts val="0"/>
                        </a:spcBef>
                        <a:spcAft>
                          <a:spcPts val="0"/>
                        </a:spcAft>
                        <a:buClrTx/>
                        <a:buFont typeface="Wingdings" panose="05000000000000000000" pitchFamily="2" charset="2"/>
                        <a:buChar char="§"/>
                      </a:pPr>
                      <a:r>
                        <a:rPr lang="en-US" sz="1200" dirty="0">
                          <a:solidFill/>
                          <a:effectLst/>
                        </a:rPr>
                        <a:t>Facilitate program communication and engagement with Cleveland Clinic departments including  system c-suite, operations, HR, managed care, marketing, strategy and business development </a:t>
                      </a:r>
                    </a:p>
                    <a:p>
                      <a:pPr marL="0" marR="0">
                        <a:spcBef>
                          <a:spcPts val="0"/>
                        </a:spcBef>
                        <a:spcAft>
                          <a:spcPts val="0"/>
                        </a:spcAft>
                        <a:tabLst>
                          <a:tab pos="4465955" algn="l"/>
                        </a:tabLst>
                      </a:pP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5819" marR="45819"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lang="en-US"/>
                    </a:p>
                  </a:txBody>
                  <a:tcPr/>
                </a:tc>
                <a:extLst>
                  <a:ext uri="{0D108BD9-81ED-4DB2-BD59-A6C34878D82A}">
                    <a16:rowId xmlns:a16="http://schemas.microsoft.com/office/drawing/2014/main" val="111150367"/>
                  </a:ext>
                </a:extLst>
              </a:tr>
            </a:tbl>
          </a:graphicData>
        </a:graphic>
      </p:graphicFrame>
      <p:sp>
        <p:nvSpPr>
          <p:cNvPr id="4" name="Slide Number Placeholder 3">
            <a:extLst>
              <a:ext uri="{FF2B5EF4-FFF2-40B4-BE49-F238E27FC236}">
                <a16:creationId xmlns:a16="http://schemas.microsoft.com/office/drawing/2014/main" id="{9ACFDC11-4125-4126-B894-03D300C80E50}"/>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39</a:t>
            </a:fld>
            <a:endParaRPr lang="en-US" sz="1100" dirty="0">
              <a:solidFill>
                <a:schemeClr val="tx1">
                  <a:lumMod val="50000"/>
                  <a:lumOff val="50000"/>
                </a:schemeClr>
              </a:solidFill>
            </a:endParaRPr>
          </a:p>
        </p:txBody>
      </p:sp>
      <p:sp>
        <p:nvSpPr>
          <p:cNvPr id="5" name="Footer Placeholder 2">
            <a:extLst>
              <a:ext uri="{FF2B5EF4-FFF2-40B4-BE49-F238E27FC236}">
                <a16:creationId xmlns:a16="http://schemas.microsoft.com/office/drawing/2014/main" id="{DB674536-A498-4F19-9B73-1BEA752574CB}"/>
              </a:ext>
            </a:extLst>
          </p:cNvPr>
          <p:cNvSpPr>
            <a:spLocks noGrp="1"/>
          </p:cNvSpPr>
          <p:nvPr>
            <p:ph type="ftr" sz="quarter" idx="11"/>
          </p:nvPr>
        </p:nvSpPr>
        <p:spPr/>
        <p:txBody>
          <a:bodyPr/>
          <a:lstStyle/>
          <a:p>
            <a:r>
              <a:rPr lang="en-US" dirty="0"/>
              <a:t>Key Benefit Administrators</a:t>
            </a:r>
          </a:p>
        </p:txBody>
      </p:sp>
    </p:spTree>
    <p:extLst>
      <p:ext uri="{BB962C8B-B14F-4D97-AF65-F5344CB8AC3E}">
        <p14:creationId xmlns:p14="http://schemas.microsoft.com/office/powerpoint/2010/main" val="21195150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3200" dirty="0">
                <a:solidFill>
                  <a:srgbClr val="244F9A"/>
                </a:solidFill>
              </a:rPr>
              <a:t>PRE-IMPLEMENTATION</a:t>
            </a:r>
          </a:p>
        </p:txBody>
      </p:sp>
      <p:pic>
        <p:nvPicPr>
          <p:cNvPr id="3"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4"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40</a:t>
            </a:fld>
            <a:endParaRPr lang="en-US" sz="1100" dirty="0">
              <a:solidFill>
                <a:schemeClr val="tx1">
                  <a:lumMod val="50000"/>
                  <a:lumOff val="50000"/>
                </a:schemeClr>
              </a:solidFill>
            </a:endParaRPr>
          </a:p>
        </p:txBody>
      </p:sp>
      <p:sp>
        <p:nvSpPr>
          <p:cNvPr id="6"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dirty="0"/>
              <a:t>Key Benefit Administrators</a:t>
            </a:r>
          </a:p>
        </p:txBody>
      </p:sp>
      <p:graphicFrame>
        <p:nvGraphicFramePr>
          <p:cNvPr id="7" name="Diagram 3">
            <a:extLst>
              <a:ext uri="{FF2B5EF4-FFF2-40B4-BE49-F238E27FC236}">
                <a16:creationId xmlns:a16="http://schemas.microsoft.com/office/drawing/2014/main" id="{84E03A31-9E21-4107-85E9-ECD8397925B4}"/>
              </a:ext>
            </a:extLst>
          </p:cNvPr>
          <p:cNvGraphicFramePr/>
          <p:nvPr>
            <p:extLst>
              <p:ext uri="{D42A27DB-BD31-4B8C-83A1-F6EECF244321}">
                <p14:modId xmlns:p14="http://schemas.microsoft.com/office/powerpoint/2010/main" val="3235786818"/>
              </p:ext>
            </p:extLst>
          </p:nvPr>
        </p:nvGraphicFramePr>
        <p:xfrm>
          <a:off x="5000625" y="2314806"/>
          <a:ext cx="7044979" cy="38673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TextBox 8">
            <a:extLst>
              <a:ext uri="{FF2B5EF4-FFF2-40B4-BE49-F238E27FC236}">
                <a16:creationId xmlns:a16="http://schemas.microsoft.com/office/drawing/2014/main" id="{ACF7C59A-89AA-73E4-5A12-3925EF60D603}"/>
              </a:ext>
            </a:extLst>
          </p:cNvPr>
          <p:cNvSpPr txBox="1"/>
          <p:nvPr/>
        </p:nvSpPr>
        <p:spPr>
          <a:xfrm>
            <a:off x="6503796" y="2382657"/>
            <a:ext cx="5463791" cy="1200329"/>
          </a:xfrm>
          <a:prstGeom prst="rect">
            <a:avLst/>
          </a:prstGeom>
          <a:noFill/>
        </p:spPr>
        <p:txBody>
          <a:bodyPr wrap="square">
            <a:spAutoFit/>
          </a:bodyPr>
          <a:lstStyle/>
          <a:p>
            <a:pPr marL="285750" lvl="0" indent="-285750">
              <a:buFont typeface="Arial" panose="020B0604020202020204" pitchFamily="34" charset="0"/>
              <a:buChar char="•"/>
            </a:pPr>
            <a:r>
              <a:rPr lang="en-US" sz="1800" dirty="0"/>
              <a:t>Determine Gaps in Medical Service Delivery</a:t>
            </a:r>
          </a:p>
          <a:p>
            <a:pPr marL="285750" lvl="0" indent="-285750">
              <a:buFont typeface="Arial" panose="020B0604020202020204" pitchFamily="34" charset="0"/>
              <a:buChar char="•"/>
            </a:pPr>
            <a:r>
              <a:rPr lang="en-US" sz="1800" dirty="0">
                <a:solidFill/>
              </a:rPr>
              <a:t>Identify Other Key Providers to Potentially Contract with on Behalf of Cleveland Clinic</a:t>
            </a:r>
          </a:p>
          <a:p>
            <a:pPr marL="285750" lvl="0" indent="-285750">
              <a:buFont typeface="Arial" panose="020B0604020202020204" pitchFamily="34" charset="0"/>
              <a:buChar char="•"/>
            </a:pPr>
            <a:r>
              <a:rPr lang="en-US" sz="1800" dirty="0"/>
              <a:t>Wrap Network to Cover All Other Provider Types</a:t>
            </a:r>
          </a:p>
        </p:txBody>
      </p:sp>
      <p:sp>
        <p:nvSpPr>
          <p:cNvPr id="9" name="TextBox 10">
            <a:extLst>
              <a:ext uri="{FF2B5EF4-FFF2-40B4-BE49-F238E27FC236}">
                <a16:creationId xmlns:a16="http://schemas.microsoft.com/office/drawing/2014/main" id="{7D39916A-1134-A7BF-5090-08FBB7FAA43C}"/>
              </a:ext>
            </a:extLst>
          </p:cNvPr>
          <p:cNvSpPr txBox="1"/>
          <p:nvPr/>
        </p:nvSpPr>
        <p:spPr>
          <a:xfrm>
            <a:off x="6503796" y="4328855"/>
            <a:ext cx="5463791" cy="923330"/>
          </a:xfrm>
          <a:prstGeom prst="rect">
            <a:avLst/>
          </a:prstGeom>
          <a:noFill/>
        </p:spPr>
        <p:txBody>
          <a:bodyPr wrap="square">
            <a:spAutoFit/>
          </a:bodyPr>
          <a:lstStyle/>
          <a:p>
            <a:pPr marL="285750" lvl="0" indent="-285750">
              <a:buFont typeface="Arial" panose="020B0604020202020204" pitchFamily="34" charset="0"/>
              <a:buChar char="•"/>
            </a:pPr>
            <a:r>
              <a:rPr lang="en-US" sz="1800" dirty="0">
                <a:solidFill/>
              </a:rPr>
              <a:t>To Dial in Competitive Stop-Loss Rates and Cleveland Clinic’s Net Revenues/Margins</a:t>
            </a:r>
          </a:p>
          <a:p>
            <a:pPr marL="285750" lvl="0" indent="-285750">
              <a:buFont typeface="Arial" panose="020B0604020202020204" pitchFamily="34" charset="0"/>
              <a:buChar char="•"/>
            </a:pPr>
            <a:r>
              <a:rPr lang="en-US" sz="1800" dirty="0"/>
              <a:t>Actuarial Evaluation Compared to the Market</a:t>
            </a:r>
          </a:p>
        </p:txBody>
      </p:sp>
    </p:spTree>
    <p:extLst>
      <p:ext uri="{BB962C8B-B14F-4D97-AF65-F5344CB8AC3E}">
        <p14:creationId xmlns:p14="http://schemas.microsoft.com/office/powerpoint/2010/main" val="22542228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3200" dirty="0">
                <a:solidFill>
                  <a:srgbClr val="244F9A"/>
                </a:solidFill>
              </a:rPr>
              <a:t>IMPLEMENTATION</a:t>
            </a:r>
          </a:p>
        </p:txBody>
      </p:sp>
      <p:pic>
        <p:nvPicPr>
          <p:cNvPr id="3"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4"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aphicFrame>
        <p:nvGraphicFramePr>
          <p:cNvPr id="5" name="Diagram 4">
            <a:extLst>
              <a:ext uri="{FF2B5EF4-FFF2-40B4-BE49-F238E27FC236}">
                <a16:creationId xmlns:a16="http://schemas.microsoft.com/office/drawing/2014/main" id="{8E6E34C3-E019-4EEA-855C-769086D79D48}"/>
              </a:ext>
            </a:extLst>
          </p:cNvPr>
          <p:cNvGraphicFramePr/>
          <p:nvPr>
            <p:extLst>
              <p:ext uri="{D42A27DB-BD31-4B8C-83A1-F6EECF244321}">
                <p14:modId xmlns:p14="http://schemas.microsoft.com/office/powerpoint/2010/main" val="2883504333"/>
              </p:ext>
            </p:extLst>
          </p:nvPr>
        </p:nvGraphicFramePr>
        <p:xfrm>
          <a:off x="4807387" y="2238738"/>
          <a:ext cx="7124969" cy="391792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41</a:t>
            </a:fld>
            <a:endParaRPr lang="en-US" sz="1100" dirty="0">
              <a:solidFill>
                <a:schemeClr val="tx1">
                  <a:lumMod val="50000"/>
                  <a:lumOff val="50000"/>
                </a:schemeClr>
              </a:solidFill>
            </a:endParaRPr>
          </a:p>
        </p:txBody>
      </p:sp>
      <p:sp>
        <p:nvSpPr>
          <p:cNvPr id="7"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dirty="0"/>
              <a:t>Key Benefit Administrators</a:t>
            </a:r>
          </a:p>
        </p:txBody>
      </p:sp>
    </p:spTree>
    <p:extLst>
      <p:ext uri="{BB962C8B-B14F-4D97-AF65-F5344CB8AC3E}">
        <p14:creationId xmlns:p14="http://schemas.microsoft.com/office/powerpoint/2010/main" val="266012424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Key Benefit Administrators Office Photos | Glassdoor">
            <a:extLst>
              <a:ext uri="{FF2B5EF4-FFF2-40B4-BE49-F238E27FC236}">
                <a16:creationId xmlns:a16="http://schemas.microsoft.com/office/drawing/2014/main" id="{1892E4D4-7A08-4B2B-AE4B-53A6D73CC08E}"/>
              </a:ext>
            </a:extLst>
          </p:cNvPr>
          <p:cNvPicPr>
            <a:picLocks noChangeAspect="1" noChangeArrowheads="1"/>
          </p:cNvPicPr>
          <p:nvPr/>
        </p:nvPicPr>
        <p:blipFill rotWithShape="1">
          <a:blip r:embed="rId2" cstate="screen">
            <a:duotone>
              <a:schemeClr val="bg2">
                <a:shade val="45000"/>
                <a:satMod val="135000"/>
              </a:schemeClr>
              <a:prstClr val="white"/>
            </a:duotone>
            <a:extLst>
              <a:ext uri="{28A0092B-C50C-407E-A947-70E740481C1C}">
                <a14:useLocalDpi xmlns:a14="http://schemas.microsoft.com/office/drawing/2010/main"/>
              </a:ext>
            </a:extLst>
          </a:blip>
          <a:srcRect l="-14"/>
          <a:stretch/>
        </p:blipFill>
        <p:spPr bwMode="auto">
          <a:xfrm>
            <a:off x="0" y="-1057"/>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8">
            <a:extLst>
              <a:ext uri="{FF2B5EF4-FFF2-40B4-BE49-F238E27FC236}">
                <a16:creationId xmlns:a16="http://schemas.microsoft.com/office/drawing/2014/main" id="{ABE43D6C-8B57-42E8-B1DC-2390ECA42EAC}"/>
              </a:ext>
            </a:extLst>
          </p:cNvPr>
          <p:cNvSpPr/>
          <p:nvPr/>
        </p:nvSpPr>
        <p:spPr>
          <a:xfrm>
            <a:off x="1" y="-1057"/>
            <a:ext cx="12203289" cy="6865412"/>
          </a:xfrm>
          <a:prstGeom prst="rect">
            <a:avLst/>
          </a:prstGeom>
          <a:solidFill>
            <a:srgbClr val="59CAE8">
              <a:alpha val="7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FBB9A266-2718-4687-903B-B87AB1E45652}"/>
              </a:ext>
            </a:extLst>
          </p:cNvPr>
          <p:cNvSpPr>
            <a:spLocks noGrp="1"/>
          </p:cNvSpPr>
          <p:nvPr>
            <p:ph type="title"/>
          </p:nvPr>
        </p:nvSpPr>
        <p:spPr>
          <a:xfrm>
            <a:off x="532266" y="560444"/>
            <a:ext cx="6850224" cy="782540"/>
          </a:xfrm>
        </p:spPr>
        <p:txBody>
          <a:bodyPr/>
          <a:lstStyle/>
          <a:p>
            <a:r>
              <a:rPr lang="en-US" dirty="0">
                <a:solidFill>
                  <a:schemeClr val="bg1"/>
                </a:solidFill>
              </a:rPr>
              <a:t>A Partner You Can Trust</a:t>
            </a:r>
          </a:p>
        </p:txBody>
      </p:sp>
      <p:sp>
        <p:nvSpPr>
          <p:cNvPr id="5" name="Footer Placeholder 2">
            <a:extLst>
              <a:ext uri="{FF2B5EF4-FFF2-40B4-BE49-F238E27FC236}">
                <a16:creationId xmlns:a16="http://schemas.microsoft.com/office/drawing/2014/main" id="{049F6874-178E-4F82-9DAB-D6100F3B66A6}"/>
              </a:ext>
            </a:extLst>
          </p:cNvPr>
          <p:cNvSpPr>
            <a:spLocks noGrp="1"/>
          </p:cNvSpPr>
          <p:nvPr>
            <p:ph type="ftr" sz="quarter" idx="11"/>
          </p:nvPr>
        </p:nvSpPr>
        <p:spPr>
          <a:xfrm>
            <a:off x="4038600" y="6480530"/>
            <a:ext cx="4114800" cy="365125"/>
          </a:xfrm>
        </p:spPr>
        <p:txBody>
          <a:bodyPr/>
          <a:lstStyle/>
          <a:p>
            <a:r>
              <a:rPr lang="en-US" dirty="0">
                <a:solidFill>
                  <a:schemeClr val="bg1"/>
                </a:solidFill>
              </a:rPr>
              <a:t>Key Benefit Administrators</a:t>
            </a:r>
          </a:p>
        </p:txBody>
      </p:sp>
      <p:sp>
        <p:nvSpPr>
          <p:cNvPr id="6" name="Slide Number Placeholder 3">
            <a:extLst>
              <a:ext uri="{FF2B5EF4-FFF2-40B4-BE49-F238E27FC236}">
                <a16:creationId xmlns:a16="http://schemas.microsoft.com/office/drawing/2014/main" id="{777C4E82-3249-4BC7-AAC4-401977969277}"/>
              </a:ext>
            </a:extLst>
          </p:cNvPr>
          <p:cNvSpPr>
            <a:spLocks noGrp="1"/>
          </p:cNvSpPr>
          <p:nvPr>
            <p:ph type="sldNum" sz="quarter" idx="12"/>
          </p:nvPr>
        </p:nvSpPr>
        <p:spPr/>
        <p:txBody>
          <a:bodyPr/>
          <a:lstStyle/>
          <a:p>
            <a:fld id="{3AFC719D-C4A7-4544-876E-D411D11AF6C9}" type="slidenum">
              <a:rPr lang="en-US" smtClean="0">
                <a:solidFill>
                  <a:schemeClr val="bg1"/>
                </a:solidFill>
              </a:rPr>
              <a:t>42</a:t>
            </a:fld>
            <a:endParaRPr lang="en-US" dirty="0">
              <a:solidFill>
                <a:schemeClr val="bg1"/>
              </a:solidFill>
            </a:endParaRPr>
          </a:p>
        </p:txBody>
      </p:sp>
      <p:grpSp>
        <p:nvGrpSpPr>
          <p:cNvPr id="7" name="Group 26">
            <a:extLst>
              <a:ext uri="{FF2B5EF4-FFF2-40B4-BE49-F238E27FC236}">
                <a16:creationId xmlns:a16="http://schemas.microsoft.com/office/drawing/2014/main" id="{CE5A4C1D-715F-46F5-A80B-647078B97ADE}"/>
              </a:ext>
            </a:extLst>
          </p:cNvPr>
          <p:cNvGrpSpPr/>
          <p:nvPr/>
        </p:nvGrpSpPr>
        <p:grpSpPr>
          <a:xfrm>
            <a:off x="667280" y="3021140"/>
            <a:ext cx="10857442" cy="1200329"/>
            <a:chOff x="908754" y="2695500"/>
            <a:chExt cx="10558665" cy="1200329"/>
          </a:xfrm>
        </p:grpSpPr>
        <p:sp>
          <p:nvSpPr>
            <p:cNvPr id="8" name="Rectangle 21">
              <a:extLst>
                <a:ext uri="{FF2B5EF4-FFF2-40B4-BE49-F238E27FC236}">
                  <a16:creationId xmlns:a16="http://schemas.microsoft.com/office/drawing/2014/main" id="{E53A35DC-3649-45F8-BE1C-71234D1F47FC}"/>
                </a:ext>
              </a:extLst>
            </p:cNvPr>
            <p:cNvSpPr/>
            <p:nvPr/>
          </p:nvSpPr>
          <p:spPr>
            <a:xfrm>
              <a:off x="908754" y="2695500"/>
              <a:ext cx="2058812" cy="646331"/>
            </a:xfrm>
            <a:prstGeom prst="rect">
              <a:avLst/>
            </a:prstGeom>
          </p:spPr>
          <p:txBody>
            <a:bodyPr wrap="square">
              <a:spAutoFit/>
            </a:bodyPr>
            <a:lstStyle/>
            <a:p>
              <a:r>
                <a:rPr lang="en-US" b="1" dirty="0">
                  <a:solidFill>
                    <a:schemeClr val="bg1"/>
                  </a:solidFill>
                </a:rPr>
                <a:t>OUR OBJECTIVES ARE ALIGNED</a:t>
              </a:r>
            </a:p>
          </p:txBody>
        </p:sp>
        <p:sp>
          <p:nvSpPr>
            <p:cNvPr id="9" name="Rectangle 23">
              <a:extLst>
                <a:ext uri="{FF2B5EF4-FFF2-40B4-BE49-F238E27FC236}">
                  <a16:creationId xmlns:a16="http://schemas.microsoft.com/office/drawing/2014/main" id="{9BB7B37B-58E4-4EF5-8BCD-B5AFD3FF7576}"/>
                </a:ext>
              </a:extLst>
            </p:cNvPr>
            <p:cNvSpPr/>
            <p:nvPr/>
          </p:nvSpPr>
          <p:spPr>
            <a:xfrm>
              <a:off x="3464860" y="2695500"/>
              <a:ext cx="2096575" cy="646331"/>
            </a:xfrm>
            <a:prstGeom prst="rect">
              <a:avLst/>
            </a:prstGeom>
          </p:spPr>
          <p:txBody>
            <a:bodyPr wrap="square">
              <a:spAutoFit/>
            </a:bodyPr>
            <a:lstStyle/>
            <a:p>
              <a:r>
                <a:rPr lang="en-US" b="1" dirty="0">
                  <a:solidFill>
                    <a:schemeClr val="bg1"/>
                  </a:solidFill>
                </a:rPr>
                <a:t>WE KNOW THE </a:t>
              </a:r>
            </a:p>
            <a:p>
              <a:r>
                <a:rPr lang="en-US" b="1" dirty="0">
                  <a:solidFill>
                    <a:schemeClr val="bg1"/>
                  </a:solidFill>
                </a:rPr>
                <a:t>MARKET</a:t>
              </a:r>
            </a:p>
          </p:txBody>
        </p:sp>
        <p:sp>
          <p:nvSpPr>
            <p:cNvPr id="10" name="Rectangle 24">
              <a:extLst>
                <a:ext uri="{FF2B5EF4-FFF2-40B4-BE49-F238E27FC236}">
                  <a16:creationId xmlns:a16="http://schemas.microsoft.com/office/drawing/2014/main" id="{712D71E1-CFC6-401F-B564-C6DB174E5C25}"/>
                </a:ext>
              </a:extLst>
            </p:cNvPr>
            <p:cNvSpPr/>
            <p:nvPr/>
          </p:nvSpPr>
          <p:spPr>
            <a:xfrm>
              <a:off x="6105045" y="2695500"/>
              <a:ext cx="1861517" cy="646331"/>
            </a:xfrm>
            <a:prstGeom prst="rect">
              <a:avLst/>
            </a:prstGeom>
          </p:spPr>
          <p:txBody>
            <a:bodyPr wrap="square">
              <a:spAutoFit/>
            </a:bodyPr>
            <a:lstStyle/>
            <a:p>
              <a:r>
                <a:rPr lang="en-US" b="1" dirty="0">
                  <a:solidFill>
                    <a:schemeClr val="bg1"/>
                  </a:solidFill>
                </a:rPr>
                <a:t>COMPLETELY TRANSPARENT</a:t>
              </a:r>
            </a:p>
          </p:txBody>
        </p:sp>
        <p:sp>
          <p:nvSpPr>
            <p:cNvPr id="11" name="Rectangle 25">
              <a:extLst>
                <a:ext uri="{FF2B5EF4-FFF2-40B4-BE49-F238E27FC236}">
                  <a16:creationId xmlns:a16="http://schemas.microsoft.com/office/drawing/2014/main" id="{3219F81E-41A2-4D21-B41F-E66CCE1EAA9D}"/>
                </a:ext>
              </a:extLst>
            </p:cNvPr>
            <p:cNvSpPr/>
            <p:nvPr/>
          </p:nvSpPr>
          <p:spPr>
            <a:xfrm>
              <a:off x="9062157" y="2695500"/>
              <a:ext cx="2405262" cy="1200329"/>
            </a:xfrm>
            <a:prstGeom prst="rect">
              <a:avLst/>
            </a:prstGeom>
          </p:spPr>
          <p:txBody>
            <a:bodyPr wrap="square">
              <a:spAutoFit/>
            </a:bodyPr>
            <a:lstStyle/>
            <a:p>
              <a:r>
                <a:rPr lang="en-US" b="1" dirty="0">
                  <a:solidFill>
                    <a:schemeClr val="bg1"/>
                  </a:solidFill>
                </a:rPr>
                <a:t>WE HAVE THE SOPHISTICATION AND INFRASTRUCTURE TO EFFECTIVELY COMPETE</a:t>
              </a:r>
            </a:p>
          </p:txBody>
        </p:sp>
      </p:grpSp>
      <p:cxnSp>
        <p:nvCxnSpPr>
          <p:cNvPr id="12" name="Straight Connector 28">
            <a:extLst>
              <a:ext uri="{FF2B5EF4-FFF2-40B4-BE49-F238E27FC236}">
                <a16:creationId xmlns:a16="http://schemas.microsoft.com/office/drawing/2014/main" id="{E6766B73-ED58-4B01-BD6B-A7599019575A}"/>
              </a:ext>
            </a:extLst>
          </p:cNvPr>
          <p:cNvCxnSpPr>
            <a:cxnSpLocks/>
          </p:cNvCxnSpPr>
          <p:nvPr/>
        </p:nvCxnSpPr>
        <p:spPr>
          <a:xfrm>
            <a:off x="2917120"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30">
            <a:extLst>
              <a:ext uri="{FF2B5EF4-FFF2-40B4-BE49-F238E27FC236}">
                <a16:creationId xmlns:a16="http://schemas.microsoft.com/office/drawing/2014/main" id="{C9A43ED8-AB6C-4F7E-9885-C690563292F2}"/>
              </a:ext>
            </a:extLst>
          </p:cNvPr>
          <p:cNvCxnSpPr>
            <a:cxnSpLocks/>
          </p:cNvCxnSpPr>
          <p:nvPr/>
        </p:nvCxnSpPr>
        <p:spPr>
          <a:xfrm>
            <a:off x="8372475"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Straight Connector 31">
            <a:extLst>
              <a:ext uri="{FF2B5EF4-FFF2-40B4-BE49-F238E27FC236}">
                <a16:creationId xmlns:a16="http://schemas.microsoft.com/office/drawing/2014/main" id="{1BD031DC-C93A-4161-9A46-6F11F2AEF085}"/>
              </a:ext>
            </a:extLst>
          </p:cNvPr>
          <p:cNvCxnSpPr>
            <a:cxnSpLocks/>
          </p:cNvCxnSpPr>
          <p:nvPr/>
        </p:nvCxnSpPr>
        <p:spPr>
          <a:xfrm>
            <a:off x="5468408"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5" name="Group 48">
            <a:extLst>
              <a:ext uri="{FF2B5EF4-FFF2-40B4-BE49-F238E27FC236}">
                <a16:creationId xmlns:a16="http://schemas.microsoft.com/office/drawing/2014/main" id="{4CFD71DC-84A4-44EC-928A-6D9297F1CEFD}"/>
              </a:ext>
            </a:extLst>
          </p:cNvPr>
          <p:cNvGrpSpPr/>
          <p:nvPr/>
        </p:nvGrpSpPr>
        <p:grpSpPr>
          <a:xfrm>
            <a:off x="1051119" y="1991365"/>
            <a:ext cx="9064429" cy="723514"/>
            <a:chOff x="1051119" y="1877065"/>
            <a:chExt cx="8870575" cy="723514"/>
          </a:xfrm>
        </p:grpSpPr>
        <p:pic>
          <p:nvPicPr>
            <p:cNvPr id="16" name="Graphic 35" descr="Cycle with people">
              <a:extLst>
                <a:ext uri="{FF2B5EF4-FFF2-40B4-BE49-F238E27FC236}">
                  <a16:creationId xmlns:a16="http://schemas.microsoft.com/office/drawing/2014/main" id="{DD87A908-9804-4DB4-9FF4-150E55D0A4D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51119" y="1877065"/>
              <a:ext cx="723514" cy="723514"/>
            </a:xfrm>
            <a:prstGeom prst="rect">
              <a:avLst/>
            </a:prstGeom>
          </p:spPr>
        </p:pic>
        <p:pic>
          <p:nvPicPr>
            <p:cNvPr id="17" name="Graphic 37" descr="Bar graph with upward trend">
              <a:extLst>
                <a:ext uri="{FF2B5EF4-FFF2-40B4-BE49-F238E27FC236}">
                  <a16:creationId xmlns:a16="http://schemas.microsoft.com/office/drawing/2014/main" id="{A43C7D21-D600-499C-ADE1-3389B478D59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742481" y="1952990"/>
              <a:ext cx="571664" cy="571664"/>
            </a:xfrm>
            <a:prstGeom prst="rect">
              <a:avLst/>
            </a:prstGeom>
          </p:spPr>
        </p:pic>
        <p:pic>
          <p:nvPicPr>
            <p:cNvPr id="18" name="Graphic 41" descr="Research">
              <a:extLst>
                <a:ext uri="{FF2B5EF4-FFF2-40B4-BE49-F238E27FC236}">
                  <a16:creationId xmlns:a16="http://schemas.microsoft.com/office/drawing/2014/main" id="{EB5D0031-3DC4-4608-96CB-BE0770B1915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17105" y="1930239"/>
              <a:ext cx="617166" cy="617166"/>
            </a:xfrm>
            <a:prstGeom prst="rect">
              <a:avLst/>
            </a:prstGeom>
          </p:spPr>
        </p:pic>
        <p:pic>
          <p:nvPicPr>
            <p:cNvPr id="19" name="Graphic 47" descr="Bullseye">
              <a:extLst>
                <a:ext uri="{FF2B5EF4-FFF2-40B4-BE49-F238E27FC236}">
                  <a16:creationId xmlns:a16="http://schemas.microsoft.com/office/drawing/2014/main" id="{F0079980-31B3-4896-9D2D-D82AEDFA3E2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285554" y="1920753"/>
              <a:ext cx="636140" cy="636140"/>
            </a:xfrm>
            <a:prstGeom prst="rect">
              <a:avLst/>
            </a:prstGeom>
          </p:spPr>
        </p:pic>
      </p:grpSp>
      <p:pic>
        <p:nvPicPr>
          <p:cNvPr id="20" name="Picture 4">
            <a:extLst>
              <a:ext uri="{FF2B5EF4-FFF2-40B4-BE49-F238E27FC236}">
                <a16:creationId xmlns:a16="http://schemas.microsoft.com/office/drawing/2014/main" id="{9A68CCDA-F69E-4E1A-9343-202FFC37DCD4}"/>
              </a:ext>
            </a:extLst>
          </p:cNvPr>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auto">
          <a:xfrm>
            <a:off x="4120176" y="4961762"/>
            <a:ext cx="3951647" cy="767730"/>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37AD4757-49A8-4E8D-B5EB-262D21C155F1}"/>
              </a:ext>
            </a:extLst>
          </p:cNvPr>
          <p:cNvSpPr txBox="1"/>
          <p:nvPr/>
        </p:nvSpPr>
        <p:spPr>
          <a:xfrm>
            <a:off x="2976561" y="5746908"/>
            <a:ext cx="6238875" cy="646331"/>
          </a:xfrm>
          <a:prstGeom prst="rect">
            <a:avLst/>
          </a:prstGeom>
          <a:solidFill>
            <a:srgbClr val="244F9A"/>
          </a:solidFill>
          <a:ln>
            <a:noFill/>
          </a:ln>
          <a:effectLst/>
          <a:scene3d>
            <a:camera prst="orthographicFront">
              <a:rot lat="0" lon="0" rev="0"/>
            </a:camera>
            <a:lightRig rig="contrasting" dir="t">
              <a:rot lat="0" lon="0" rev="7800000"/>
            </a:lightRig>
          </a:scene3d>
          <a:sp3d>
            <a:bevelT w="139700" h="139700"/>
          </a:sp3d>
        </p:spPr>
        <p:txBody>
          <a:bodyPr wrap="square" rtlCol="0">
            <a:spAutoFit/>
          </a:bodyPr>
          <a:lstStyle/>
          <a:p>
            <a:pPr algn="ctr"/>
            <a:r>
              <a:rPr lang="en-US" dirty="0">
                <a:solidFill>
                  <a:schemeClr val="bg1"/>
                </a:solidFill>
                <a:latin typeface="Arial" panose="020B0604020202020204" pitchFamily="34" charset="0"/>
                <a:cs typeface="Arial" panose="020B0604020202020204" pitchFamily="34" charset="0"/>
              </a:rPr>
              <a:t>Derek Moore, Senior Vice President – KBA</a:t>
            </a:r>
          </a:p>
          <a:p>
            <a:pPr algn="ctr"/>
            <a:r>
              <a:rPr lang="en-US" dirty="0">
                <a:solidFill>
                  <a:schemeClr val="bg1"/>
                </a:solidFill>
                <a:latin typeface="Arial" panose="020B0604020202020204" pitchFamily="34" charset="0"/>
                <a:cs typeface="Arial" panose="020B0604020202020204" pitchFamily="34" charset="0"/>
              </a:rPr>
              <a:t>845-283-9973 * derek.moore@keybenefit.com</a:t>
            </a:r>
          </a:p>
        </p:txBody>
      </p:sp>
    </p:spTree>
    <p:extLst>
      <p:ext uri="{BB962C8B-B14F-4D97-AF65-F5344CB8AC3E}">
        <p14:creationId xmlns:p14="http://schemas.microsoft.com/office/powerpoint/2010/main" val="231728394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29"/>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0643EB6F1B5124D9F8A552D994B00B3" ma:contentTypeVersion="15" ma:contentTypeDescription="Create a new document." ma:contentTypeScope="" ma:versionID="07f1af8f4acde182c1b3188558a15fee">
  <xsd:schema xmlns:xsd="http://www.w3.org/2001/XMLSchema" xmlns:xs="http://www.w3.org/2001/XMLSchema" xmlns:p="http://schemas.microsoft.com/office/2006/metadata/properties" xmlns:ns1="http://schemas.microsoft.com/sharepoint/v3" xmlns:ns3="73b4665c-884a-4375-a2af-95b1b9fefebd" xmlns:ns4="f00513cd-d03f-4a36-8031-96ec2b1a2332" targetNamespace="http://schemas.microsoft.com/office/2006/metadata/properties" ma:root="true" ma:fieldsID="b940c9d8acf570648efc7a679d034003" ns1:_="" ns3:_="" ns4:_="">
    <xsd:import namespace="http://schemas.microsoft.com/sharepoint/v3"/>
    <xsd:import namespace="73b4665c-884a-4375-a2af-95b1b9fefebd"/>
    <xsd:import namespace="f00513cd-d03f-4a36-8031-96ec2b1a2332"/>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DateTaken" minOccurs="0"/>
                <xsd:element ref="ns3:MediaServiceOCR" minOccurs="0"/>
                <xsd:element ref="ns3:MediaServiceEventHashCode" minOccurs="0"/>
                <xsd:element ref="ns3:MediaServiceGenerationTime" minOccurs="0"/>
                <xsd:element ref="ns3:MediaServiceLocation" minOccurs="0"/>
                <xsd:element ref="ns1:_ip_UnifiedCompliancePolicyProperties" minOccurs="0"/>
                <xsd:element ref="ns1:_ip_UnifiedCompliancePolicyUIAction" minOccurs="0"/>
                <xsd:element ref="ns4:SharedWithUsers" minOccurs="0"/>
                <xsd:element ref="ns4:SharedWithDetails" minOccurs="0"/>
                <xsd:element ref="ns4:SharingHintHash"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Unified Compliance Policy Properties" ma:hidden="true" ma:internalName="_ip_UnifiedCompliancePolicyProperties">
      <xsd:simpleType>
        <xsd:restriction base="dms:Note"/>
      </xsd:simpleType>
    </xsd:element>
    <xsd:element name="_ip_UnifiedCompliancePolicyUIAction" ma:index="1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3b4665c-884a-4375-a2af-95b1b9fefe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00513cd-d03f-4a36-8031-96ec2b1a2332"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56F5604B-F201-4300-A086-2482203EA6BC}">
  <ds:schemaRefs>
    <ds:schemaRef ds:uri="http://schemas.microsoft.com/sharepoint/v3/contenttype/forms"/>
  </ds:schemaRefs>
</ds:datastoreItem>
</file>

<file path=customXml/itemProps2.xml><?xml version="1.0" encoding="utf-8"?>
<ds:datastoreItem xmlns:ds="http://schemas.openxmlformats.org/officeDocument/2006/customXml" ds:itemID="{BF208B6D-7736-4F94-9580-EE469D7406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3b4665c-884a-4375-a2af-95b1b9fefebd"/>
    <ds:schemaRef ds:uri="f00513cd-d03f-4a36-8031-96ec2b1a23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2DF0AA1-9465-45DA-A905-9501DB639AB6}">
  <ds:schemaRefs>
    <ds:schemaRef ds:uri="http://schemas.openxmlformats.org/package/2006/metadata/core-properties"/>
    <ds:schemaRef ds:uri="http://schemas.microsoft.com/sharepoint/v3"/>
    <ds:schemaRef ds:uri="http://schemas.microsoft.com/office/2006/metadata/properties"/>
    <ds:schemaRef ds:uri="http://schemas.microsoft.com/office/2006/documentManagement/types"/>
    <ds:schemaRef ds:uri="http://purl.org/dc/dcmitype/"/>
    <ds:schemaRef ds:uri="http://purl.org/dc/terms/"/>
    <ds:schemaRef ds:uri="http://purl.org/dc/elements/1.1/"/>
    <ds:schemaRef ds:uri="73b4665c-884a-4375-a2af-95b1b9fefebd"/>
    <ds:schemaRef ds:uri="http://www.w3.org/XML/1998/namespace"/>
    <ds:schemaRef ds:uri="http://schemas.microsoft.com/office/infopath/2007/PartnerControls"/>
    <ds:schemaRef ds:uri="f00513cd-d03f-4a36-8031-96ec2b1a2332"/>
  </ds:schemaRefs>
</ds:datastoreItem>
</file>

<file path=docProps/app.xml><?xml version="1.0" encoding="utf-8"?>
<Properties xmlns="http://schemas.openxmlformats.org/officeDocument/2006/extended-properties" xmlns:vt="http://schemas.openxmlformats.org/officeDocument/2006/docPropsVTypes">
  <TotalTime>46149</TotalTime>
  <Words>5932</Words>
  <Application>Microsoft Office PowerPoint</Application>
  <PresentationFormat>Widescreen</PresentationFormat>
  <Paragraphs>1716</Paragraphs>
  <Slides>42</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42</vt:i4>
      </vt:variant>
    </vt:vector>
  </HeadingPairs>
  <TitlesOfParts>
    <vt:vector size="50" baseType="lpstr">
      <vt:lpstr>Aptos Narrow</vt:lpstr>
      <vt:lpstr>Arial</vt:lpstr>
      <vt:lpstr>Arial Black</vt:lpstr>
      <vt:lpstr>Calibri</vt:lpstr>
      <vt:lpstr>Calibri Light</vt:lpstr>
      <vt:lpstr>Century Gothic</vt:lpstr>
      <vt:lpstr>Wingdings</vt:lpstr>
      <vt:lpstr>Office Theme</vt:lpstr>
      <vt:lpstr>PowerPoint Presentation</vt:lpstr>
      <vt:lpstr>PowerPoint Presentation</vt:lpstr>
      <vt:lpstr>Market Leader in Private Labeled DTE Plans</vt:lpstr>
      <vt:lpstr>Direct-to-Employer (DTE)  Your Health Plan Focused on a Direct Relationship with Self-Funded Employers in Your Market</vt:lpstr>
      <vt:lpstr>DTE Keys to Success for Cleveland Clinic Health System</vt:lpstr>
      <vt:lpstr>Every $1 of Care</vt:lpstr>
      <vt:lpstr>Direct-to-Employer Strategy: Powerful Employer Value</vt:lpstr>
      <vt:lpstr>Significant Opportunity for Plan Growth </vt:lpstr>
      <vt:lpstr>Plan Potential Growth Paths</vt:lpstr>
      <vt:lpstr>Growing Powerful, Lasting Profitability</vt:lpstr>
      <vt:lpstr>Estimated Financial Returns and Assumptions</vt:lpstr>
      <vt:lpstr>FOUR-YEAR PROJECTIONS</vt:lpstr>
      <vt:lpstr>Direct-to-Employer Strategy: Only Available to Premier Health Systems</vt:lpstr>
      <vt:lpstr>Cleveland Clinic NETWORK </vt:lpstr>
      <vt:lpstr>PowerPoint Presentation</vt:lpstr>
      <vt:lpstr>SINGLE YEAR SUMMARY</vt:lpstr>
      <vt:lpstr>the missing piece to population health success</vt:lpstr>
      <vt:lpstr>PowerPoint Presentation</vt:lpstr>
      <vt:lpstr>Transparent PBM Integration </vt:lpstr>
      <vt:lpstr>STOP-LOSS INSURANCE</vt:lpstr>
      <vt:lpstr>DTE  PROGRAM MARKETING  &amp; SALES</vt:lpstr>
      <vt:lpstr>Complete Sales Distribution System</vt:lpstr>
      <vt:lpstr>Complete Marketing System</vt:lpstr>
      <vt:lpstr>FINANCIAL PROJECTIONS &amp; ASSUMPTIONS: </vt:lpstr>
      <vt:lpstr>Estimation of Cleveland Clinic’s 2022 Payer Mix</vt:lpstr>
      <vt:lpstr>Estimation of Margin for Commercial vs. Government Pay</vt:lpstr>
      <vt:lpstr>Estimating Market Share</vt:lpstr>
      <vt:lpstr>PowerPoint Presentation</vt:lpstr>
      <vt:lpstr>PowerPoint Presentation</vt:lpstr>
      <vt:lpstr>Estimating PMPY Spend (KBA Data)</vt:lpstr>
      <vt:lpstr>Estimating Expected Steerage (KBA Data)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ROLES &amp; RESPONSIBILITIES</vt:lpstr>
      <vt:lpstr>PRE-IMPLEMENTATION</vt:lpstr>
      <vt:lpstr>IMPLEMENTATION</vt:lpstr>
      <vt:lpstr>A Partner You Can Trust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Hill, Jack</dc:creator>
  <cp:lastModifiedBy>Taylor Davis</cp:lastModifiedBy>
  <cp:revision>112</cp:revision>
  <cp:lastPrinted>2023-07-13T10:24:43Z</cp:lastPrinted>
  <dcterms:created xsi:type="dcterms:W3CDTF">2021-01-20T14:12:11Z</dcterms:created>
  <dcterms:modified xsi:type="dcterms:W3CDTF">2024-10-29T03:49:32Z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0x01010070643EB6F1B5124D9F8A552D994B00B3</vt:lpwstr>
  </property>
</Properties>
</file>