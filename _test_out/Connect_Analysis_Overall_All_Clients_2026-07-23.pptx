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Connect rate</c:v>
                </c:pt>
              </c:strCache>
            </c:strRef>
          </c:tx>
          <c:spPr>
            <a:solidFill>
              <a:srgbClr val="0077B5"/>
            </a:solidFill>
            <a:ln w="38100" cap="flat">
              <a:solidFill>
                <a:srgbClr val="0077B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077B5"/>
              </a:solidFill>
              <a:ln w="9525" cap="flat">
                <a:solidFill>
                  <a:srgbClr val="0077B5"/>
                </a:solidFill>
                <a:prstDash val="solid"/>
                <a:round/>
              </a:ln>
              <a:effectLst/>
            </c:spPr>
          </c:marker>
          <c:cat>
            <c:multiLvlStrRef>
              <c:f>Sheet1!$A$2:$A$11</c:f>
              <c:multiLvlStrCache>
                <c:ptCount val="10"/>
                <c:lvl>
                  <c:pt idx="0">
                    <c:v>Oct 25</c:v>
                  </c:pt>
                  <c:pt idx="1">
                    <c:v>Nov 25</c:v>
                  </c:pt>
                  <c:pt idx="2">
                    <c:v>Dec 25</c:v>
                  </c:pt>
                  <c:pt idx="3">
                    <c:v>Jan 26</c:v>
                  </c:pt>
                  <c:pt idx="4">
                    <c:v>Feb 26</c:v>
                  </c:pt>
                  <c:pt idx="5">
                    <c:v>Mar 26</c:v>
                  </c:pt>
                  <c:pt idx="6">
                    <c:v>Apr 26</c:v>
                  </c:pt>
                  <c:pt idx="7">
                    <c:v>May 26</c:v>
                  </c:pt>
                  <c:pt idx="8">
                    <c:v>Jun 26</c:v>
                  </c:pt>
                  <c:pt idx="9">
                    <c:v>Jul 26</c:v>
                  </c:pt>
                </c:lvl>
              </c:multiLvlStrCache>
            </c:multiLvlStrRef>
          </c:cat>
          <c:val>
            <c:numRef>
              <c:f>Sheet1!$B$2:$B$11</c:f>
              <c:numCache>
                <c:formatCode>General</c:formatCode>
                <c:ptCount val="10"/>
                <c:pt idx="0">
                  <c:v>59.7</c:v>
                </c:pt>
                <c:pt idx="1">
                  <c:v>44</c:v>
                </c:pt>
                <c:pt idx="2">
                  <c:v>38.5</c:v>
                </c:pt>
                <c:pt idx="3">
                  <c:v>30.4</c:v>
                </c:pt>
                <c:pt idx="4">
                  <c:v>23.4</c:v>
                </c:pt>
                <c:pt idx="5">
                  <c:v>20.6</c:v>
                </c:pt>
                <c:pt idx="6">
                  <c:v>23.4</c:v>
                </c:pt>
                <c:pt idx="7">
                  <c:v>23.9</c:v>
                </c:pt>
                <c:pt idx="8">
                  <c:v>21.9</c:v>
                </c:pt>
                <c:pt idx="9">
                  <c:v>20.1</c:v>
                </c:pt>
              </c:numCache>
            </c:numRef>
          </c:val>
          <c:smooth val="1"/>
        </c:ser>
        <c:ser>
          <c:idx val="1"/>
          <c:order val="1"/>
          <c:tx>
            <c:strRef>
              <c:f>Sheet1!$C$1</c:f>
              <c:strCache>
                <c:ptCount val="1"/>
                <c:pt idx="0">
                  <c:v>Reply rate</c:v>
                </c:pt>
              </c:strCache>
            </c:strRef>
          </c:tx>
          <c:spPr>
            <a:solidFill>
              <a:srgbClr val="8B5CF6"/>
            </a:solidFill>
            <a:ln w="38100" cap="flat">
              <a:solidFill>
                <a:srgbClr val="8B5CF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8B5CF6"/>
              </a:solidFill>
              <a:ln w="9525" cap="flat">
                <a:solidFill>
                  <a:srgbClr val="8B5CF6"/>
                </a:solidFill>
                <a:prstDash val="solid"/>
                <a:round/>
              </a:ln>
              <a:effectLst/>
            </c:spPr>
          </c:marker>
          <c:cat>
            <c:multiLvlStrRef>
              <c:f>Sheet1!$A$2:$A$11</c:f>
              <c:multiLvlStrCache>
                <c:ptCount val="10"/>
                <c:lvl>
                  <c:pt idx="0">
                    <c:v>Oct 25</c:v>
                  </c:pt>
                  <c:pt idx="1">
                    <c:v>Nov 25</c:v>
                  </c:pt>
                  <c:pt idx="2">
                    <c:v>Dec 25</c:v>
                  </c:pt>
                  <c:pt idx="3">
                    <c:v>Jan 26</c:v>
                  </c:pt>
                  <c:pt idx="4">
                    <c:v>Feb 26</c:v>
                  </c:pt>
                  <c:pt idx="5">
                    <c:v>Mar 26</c:v>
                  </c:pt>
                  <c:pt idx="6">
                    <c:v>Apr 26</c:v>
                  </c:pt>
                  <c:pt idx="7">
                    <c:v>May 26</c:v>
                  </c:pt>
                  <c:pt idx="8">
                    <c:v>Jun 26</c:v>
                  </c:pt>
                  <c:pt idx="9">
                    <c:v>Jul 26</c:v>
                  </c:pt>
                </c:lvl>
              </c:multiLvlStrCache>
            </c:multiLvlStrRef>
          </c:cat>
          <c:val>
            <c:numRef>
              <c:f>Sheet1!$C$2:$C$11</c:f>
              <c:numCache>
                <c:formatCode>General</c:formatCode>
                <c:ptCount val="10"/>
                <c:pt idx="0">
                  <c:v>29.4</c:v>
                </c:pt>
                <c:pt idx="1">
                  <c:v>35.5</c:v>
                </c:pt>
                <c:pt idx="2">
                  <c:v>17.6</c:v>
                </c:pt>
                <c:pt idx="3">
                  <c:v>7.7</c:v>
                </c:pt>
                <c:pt idx="4">
                  <c:v>6.6</c:v>
                </c:pt>
                <c:pt idx="5">
                  <c:v>3.7</c:v>
                </c:pt>
                <c:pt idx="6">
                  <c:v>3.1</c:v>
                </c:pt>
                <c:pt idx="7">
                  <c:v>3.4</c:v>
                </c:pt>
                <c:pt idx="8">
                  <c:v>3.3</c:v>
                </c:pt>
                <c:pt idx="9">
                  <c:v>3</c:v>
                </c:pt>
              </c:numCache>
            </c:numRef>
          </c:val>
          <c:smooth val="1"/>
        </c:ser>
        <c:ser>
          <c:idx val="2"/>
          <c:order val="2"/>
          <c:tx>
            <c:strRef>
              <c:f>Sheet1!$D$1</c:f>
              <c:strCache>
                <c:ptCount val="1"/>
                <c:pt idx="0">
                  <c:v>Meeting rate</c:v>
                </c:pt>
              </c:strCache>
            </c:strRef>
          </c:tx>
          <c:spPr>
            <a:solidFill>
              <a:srgbClr val="10B981"/>
            </a:solidFill>
            <a:ln w="38100" cap="flat">
              <a:solidFill>
                <a:srgbClr val="10B98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0B981"/>
              </a:solidFill>
              <a:ln w="9525" cap="flat">
                <a:solidFill>
                  <a:srgbClr val="10B981"/>
                </a:solidFill>
                <a:prstDash val="solid"/>
                <a:round/>
              </a:ln>
              <a:effectLst/>
            </c:spPr>
          </c:marker>
          <c:cat>
            <c:multiLvlStrRef>
              <c:f>Sheet1!$A$2:$A$11</c:f>
              <c:multiLvlStrCache>
                <c:ptCount val="10"/>
                <c:lvl>
                  <c:pt idx="0">
                    <c:v>Oct 25</c:v>
                  </c:pt>
                  <c:pt idx="1">
                    <c:v>Nov 25</c:v>
                  </c:pt>
                  <c:pt idx="2">
                    <c:v>Dec 25</c:v>
                  </c:pt>
                  <c:pt idx="3">
                    <c:v>Jan 26</c:v>
                  </c:pt>
                  <c:pt idx="4">
                    <c:v>Feb 26</c:v>
                  </c:pt>
                  <c:pt idx="5">
                    <c:v>Mar 26</c:v>
                  </c:pt>
                  <c:pt idx="6">
                    <c:v>Apr 26</c:v>
                  </c:pt>
                  <c:pt idx="7">
                    <c:v>May 26</c:v>
                  </c:pt>
                  <c:pt idx="8">
                    <c:v>Jun 26</c:v>
                  </c:pt>
                  <c:pt idx="9">
                    <c:v>Jul 26</c:v>
                  </c:pt>
                </c:lvl>
              </c:multiLvlStrCache>
            </c:multiLvlStrRef>
          </c:cat>
          <c:val>
            <c:numRef>
              <c:f>Sheet1!$D$2:$D$11</c:f>
              <c:numCache>
                <c:formatCode>General</c:formatCode>
                <c:ptCount val="10"/>
                <c:pt idx="0">
                  <c:v>7.56</c:v>
                </c:pt>
                <c:pt idx="1">
                  <c:v>13.25</c:v>
                </c:pt>
                <c:pt idx="2">
                  <c:v>3.23</c:v>
                </c:pt>
                <c:pt idx="3">
                  <c:v>1.41</c:v>
                </c:pt>
                <c:pt idx="4">
                  <c:v>0.91</c:v>
                </c:pt>
                <c:pt idx="5">
                  <c:v>0.49</c:v>
                </c:pt>
                <c:pt idx="6">
                  <c:v>0.74</c:v>
                </c:pt>
                <c:pt idx="7">
                  <c:v>0.87</c:v>
                </c:pt>
                <c:pt idx="8">
                  <c:v>0.38</c:v>
                </c:pt>
                <c:pt idx="9">
                  <c:v>0.52</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B556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F1F5F9"/>
              </a:solidFill>
              <a:prstDash val="solid"/>
              <a:round/>
            </a:ln>
          </c:spPr>
        </c:majorGridlines>
        <c:title>
          <c:tx>
            <c:rich>
              <a:bodyPr/>
              <a:lstStyle/>
              <a:p>
                <a:pPr>
                  <a:defRPr sz="1000" b="0" i="0" u="none" strike="noStrike">
                    <a:solidFill>
                      <a:srgbClr val="4B5563"/>
                    </a:solidFill>
                    <a:latin typeface="Arial"/>
                  </a:defRPr>
                </a:pPr>
                <a:r>
                  <a:rPr sz="1000" b="0" i="0" u="none" strike="noStrike">
                    <a:solidFill>
                      <a:srgbClr val="4B5563"/>
                    </a:solidFill>
                    <a:latin typeface="Arial"/>
                  </a:rPr>
                  <a:t>Rate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55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74151"/>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0077B5"/>
          </a:solidFill>
          <a:ln/>
        </p:spPr>
      </p:sp>
      <p:sp>
        <p:nvSpPr>
          <p:cNvPr id="3" name="Shape 1"/>
          <p:cNvSpPr/>
          <p:nvPr/>
        </p:nvSpPr>
        <p:spPr>
          <a:xfrm>
            <a:off x="0" y="6748272"/>
            <a:ext cx="12188952" cy="109728"/>
          </a:xfrm>
          <a:prstGeom prst="rect">
            <a:avLst/>
          </a:prstGeom>
          <a:solidFill>
            <a:srgbClr val="0077B5"/>
          </a:solidFill>
          <a:ln/>
        </p:spPr>
      </p:sp>
      <p:sp>
        <p:nvSpPr>
          <p:cNvPr id="4" name="Text 2"/>
          <p:cNvSpPr/>
          <p:nvPr/>
        </p:nvSpPr>
        <p:spPr>
          <a:xfrm>
            <a:off x="731520" y="2148840"/>
            <a:ext cx="10698480" cy="365760"/>
          </a:xfrm>
          <a:prstGeom prst="rect">
            <a:avLst/>
          </a:prstGeom>
          <a:noFill/>
          <a:ln/>
        </p:spPr>
        <p:txBody>
          <a:bodyPr wrap="square" rtlCol="0" anchor="ctr"/>
          <a:lstStyle/>
          <a:p>
            <a:pPr indent="0" marL="0">
              <a:buNone/>
            </a:pPr>
            <a:r>
              <a:rPr lang="en-US" sz="1500" b="1" spc="200" kern="0" dirty="0">
                <a:solidFill>
                  <a:srgbClr val="5EC2EE"/>
                </a:solidFill>
                <a:latin typeface="Calibri" pitchFamily="34" charset="0"/>
                <a:ea typeface="Calibri" pitchFamily="34" charset="-122"/>
                <a:cs typeface="Calibri" pitchFamily="34" charset="-120"/>
              </a:rPr>
              <a:t>CONNECT SUCCESS ANALYSIS</a:t>
            </a:r>
            <a:endParaRPr lang="en-US" sz="1500" dirty="0"/>
          </a:p>
        </p:txBody>
      </p:sp>
      <p:sp>
        <p:nvSpPr>
          <p:cNvPr id="5" name="Text 3"/>
          <p:cNvSpPr/>
          <p:nvPr/>
        </p:nvSpPr>
        <p:spPr>
          <a:xfrm>
            <a:off x="731520" y="2514600"/>
            <a:ext cx="10698480" cy="1051560"/>
          </a:xfrm>
          <a:prstGeom prst="rect">
            <a:avLst/>
          </a:prstGeom>
          <a:noFill/>
          <a:ln/>
        </p:spPr>
        <p:txBody>
          <a:bodyPr wrap="square" rtlCol="0" anchor="ctr">
            <a:normAutofit/>
          </a:bodyPr>
          <a:lstStyle/>
          <a:p>
            <a:pPr indent="0" marL="0">
              <a:buNone/>
            </a:pPr>
            <a:r>
              <a:rPr lang="en-US" sz="3800" b="1" dirty="0">
                <a:solidFill>
                  <a:srgbClr val="FFFFFF"/>
                </a:solidFill>
                <a:latin typeface="Calibri" pitchFamily="34" charset="0"/>
                <a:ea typeface="Calibri" pitchFamily="34" charset="-122"/>
                <a:cs typeface="Calibri" pitchFamily="34" charset="-120"/>
              </a:rPr>
              <a:t>Overall — All Clients</a:t>
            </a:r>
            <a:endParaRPr lang="en-US" sz="3800" dirty="0"/>
          </a:p>
        </p:txBody>
      </p:sp>
      <p:sp>
        <p:nvSpPr>
          <p:cNvPr id="6" name="Text 4"/>
          <p:cNvSpPr/>
          <p:nvPr/>
        </p:nvSpPr>
        <p:spPr>
          <a:xfrm>
            <a:off x="731520" y="4114800"/>
            <a:ext cx="10058400" cy="365760"/>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What is driving connections and meetings — and what to do more of.</a:t>
            </a:r>
            <a:endParaRPr lang="en-US" sz="1300" dirty="0"/>
          </a:p>
        </p:txBody>
      </p:sp>
      <p:sp>
        <p:nvSpPr>
          <p:cNvPr id="7" name="Text 5"/>
          <p:cNvSpPr/>
          <p:nvPr/>
        </p:nvSpPr>
        <p:spPr>
          <a:xfrm>
            <a:off x="731520" y="5989320"/>
            <a:ext cx="10698480" cy="32004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Analysis run: July 23, 2026   ·   Generated July 23,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EXECUTIVE SUMMARY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Outreach Funnel &amp; Blended Score</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a:t>
            </a:r>
            <a:endParaRPr lang="en-US" sz="900" dirty="0"/>
          </a:p>
        </p:txBody>
      </p:sp>
      <p:sp>
        <p:nvSpPr>
          <p:cNvPr id="9" name="Shape 7"/>
          <p:cNvSpPr/>
          <p:nvPr/>
        </p:nvSpPr>
        <p:spPr>
          <a:xfrm>
            <a:off x="457200" y="1234440"/>
            <a:ext cx="2880360" cy="2286000"/>
          </a:xfrm>
          <a:prstGeom prst="roundRect">
            <a:avLst>
              <a:gd name="adj" fmla="val 2400"/>
            </a:avLst>
          </a:prstGeom>
          <a:solidFill>
            <a:srgbClr val="0F172A"/>
          </a:solidFill>
          <a:ln/>
        </p:spPr>
      </p:sp>
      <p:sp>
        <p:nvSpPr>
          <p:cNvPr id="10" name="Text 8"/>
          <p:cNvSpPr/>
          <p:nvPr/>
        </p:nvSpPr>
        <p:spPr>
          <a:xfrm>
            <a:off x="685800" y="1417320"/>
            <a:ext cx="2423160" cy="274320"/>
          </a:xfrm>
          <a:prstGeom prst="rect">
            <a:avLst/>
          </a:prstGeom>
          <a:noFill/>
          <a:ln/>
        </p:spPr>
        <p:txBody>
          <a:bodyPr wrap="square" rtlCol="0" anchor="ctr"/>
          <a:lstStyle/>
          <a:p>
            <a:pPr indent="0" marL="0">
              <a:buNone/>
            </a:pPr>
            <a:r>
              <a:rPr lang="en-US" sz="1000" b="1" spc="100" kern="0" dirty="0">
                <a:solidFill>
                  <a:srgbClr val="5EC2EE"/>
                </a:solidFill>
                <a:latin typeface="Calibri" pitchFamily="34" charset="0"/>
                <a:ea typeface="Calibri" pitchFamily="34" charset="-122"/>
                <a:cs typeface="Calibri" pitchFamily="34" charset="-120"/>
              </a:rPr>
              <a:t>BLENDED SUCCESS SCORE</a:t>
            </a:r>
            <a:endParaRPr lang="en-US" sz="1000" dirty="0"/>
          </a:p>
        </p:txBody>
      </p:sp>
      <p:sp>
        <p:nvSpPr>
          <p:cNvPr id="11" name="Text 9"/>
          <p:cNvSpPr/>
          <p:nvPr/>
        </p:nvSpPr>
        <p:spPr>
          <a:xfrm>
            <a:off x="685800" y="1691640"/>
            <a:ext cx="2423160" cy="914400"/>
          </a:xfrm>
          <a:prstGeom prst="rect">
            <a:avLst/>
          </a:prstGeom>
          <a:noFill/>
          <a:ln/>
        </p:spPr>
        <p:txBody>
          <a:bodyPr wrap="square"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5.36</a:t>
            </a:r>
            <a:endParaRPr lang="en-US" sz="5200" dirty="0"/>
          </a:p>
        </p:txBody>
      </p:sp>
      <p:sp>
        <p:nvSpPr>
          <p:cNvPr id="12" name="Text 10"/>
          <p:cNvSpPr/>
          <p:nvPr/>
        </p:nvSpPr>
        <p:spPr>
          <a:xfrm>
            <a:off x="685800" y="2907792"/>
            <a:ext cx="2423160" cy="548640"/>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15% connect + 35% reply + 50% meeting rate. Weighted toward meetings booked.</a:t>
            </a:r>
            <a:endParaRPr lang="en-US" sz="950" dirty="0"/>
          </a:p>
        </p:txBody>
      </p:sp>
      <p:sp>
        <p:nvSpPr>
          <p:cNvPr id="13" name="Text 11"/>
          <p:cNvSpPr/>
          <p:nvPr/>
        </p:nvSpPr>
        <p:spPr>
          <a:xfrm>
            <a:off x="3657600" y="1280160"/>
            <a:ext cx="4206240" cy="274320"/>
          </a:xfrm>
          <a:prstGeom prst="rect">
            <a:avLst/>
          </a:prstGeom>
          <a:noFill/>
          <a:ln/>
        </p:spPr>
        <p:txBody>
          <a:bodyPr wrap="square"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Contacted</a:t>
            </a:r>
            <a:endParaRPr lang="en-US" sz="1300" dirty="0"/>
          </a:p>
        </p:txBody>
      </p:sp>
      <p:sp>
        <p:nvSpPr>
          <p:cNvPr id="14" name="Text 12"/>
          <p:cNvSpPr/>
          <p:nvPr/>
        </p:nvSpPr>
        <p:spPr>
          <a:xfrm>
            <a:off x="7525512" y="1280160"/>
            <a:ext cx="4206240" cy="274320"/>
          </a:xfrm>
          <a:prstGeom prst="rect">
            <a:avLst/>
          </a:prstGeom>
          <a:noFill/>
          <a:ln/>
        </p:spPr>
        <p:txBody>
          <a:bodyPr wrap="square" rtlCol="0" anchor="ctr"/>
          <a:lstStyle/>
          <a:p>
            <a:pPr algn="r" indent="0" marL="0">
              <a:buNone/>
            </a:pPr>
            <a:r>
              <a:rPr lang="en-US" sz="1200" dirty="0">
                <a:solidFill>
                  <a:srgbClr val="4B5563"/>
                </a:solidFill>
                <a:latin typeface="Calibri" pitchFamily="34" charset="0"/>
                <a:ea typeface="Calibri" pitchFamily="34" charset="-122"/>
                <a:cs typeface="Calibri" pitchFamily="34" charset="-120"/>
              </a:rPr>
              <a:t>41,475  (100% of contacted)</a:t>
            </a:r>
            <a:endParaRPr lang="en-US" sz="1200" dirty="0"/>
          </a:p>
        </p:txBody>
      </p:sp>
      <p:sp>
        <p:nvSpPr>
          <p:cNvPr id="15" name="Shape 13"/>
          <p:cNvSpPr/>
          <p:nvPr/>
        </p:nvSpPr>
        <p:spPr>
          <a:xfrm>
            <a:off x="3657600" y="1572768"/>
            <a:ext cx="8074152" cy="237744"/>
          </a:xfrm>
          <a:prstGeom prst="roundRect">
            <a:avLst>
              <a:gd name="adj" fmla="val 134615"/>
            </a:avLst>
          </a:prstGeom>
          <a:solidFill>
            <a:srgbClr val="F1F5F9"/>
          </a:solidFill>
          <a:ln/>
        </p:spPr>
      </p:sp>
      <p:sp>
        <p:nvSpPr>
          <p:cNvPr id="16" name="Shape 14"/>
          <p:cNvSpPr/>
          <p:nvPr/>
        </p:nvSpPr>
        <p:spPr>
          <a:xfrm>
            <a:off x="3657600" y="1572768"/>
            <a:ext cx="8074152" cy="237744"/>
          </a:xfrm>
          <a:prstGeom prst="roundRect">
            <a:avLst>
              <a:gd name="adj" fmla="val 134615"/>
            </a:avLst>
          </a:prstGeom>
          <a:solidFill>
            <a:srgbClr val="9CA3AF"/>
          </a:solidFill>
          <a:ln/>
        </p:spPr>
      </p:sp>
      <p:sp>
        <p:nvSpPr>
          <p:cNvPr id="17" name="Text 15"/>
          <p:cNvSpPr/>
          <p:nvPr/>
        </p:nvSpPr>
        <p:spPr>
          <a:xfrm>
            <a:off x="3657600" y="2331720"/>
            <a:ext cx="4206240" cy="274320"/>
          </a:xfrm>
          <a:prstGeom prst="rect">
            <a:avLst/>
          </a:prstGeom>
          <a:noFill/>
          <a:ln/>
        </p:spPr>
        <p:txBody>
          <a:bodyPr wrap="square"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Connected</a:t>
            </a:r>
            <a:endParaRPr lang="en-US" sz="1300" dirty="0"/>
          </a:p>
        </p:txBody>
      </p:sp>
      <p:sp>
        <p:nvSpPr>
          <p:cNvPr id="18" name="Text 16"/>
          <p:cNvSpPr/>
          <p:nvPr/>
        </p:nvSpPr>
        <p:spPr>
          <a:xfrm>
            <a:off x="7525512" y="2331720"/>
            <a:ext cx="4206240" cy="274320"/>
          </a:xfrm>
          <a:prstGeom prst="rect">
            <a:avLst/>
          </a:prstGeom>
          <a:noFill/>
          <a:ln/>
        </p:spPr>
        <p:txBody>
          <a:bodyPr wrap="square" rtlCol="0" anchor="ctr"/>
          <a:lstStyle/>
          <a:p>
            <a:pPr algn="r" indent="0" marL="0">
              <a:buNone/>
            </a:pPr>
            <a:r>
              <a:rPr lang="en-US" sz="1200" dirty="0">
                <a:solidFill>
                  <a:srgbClr val="4B5563"/>
                </a:solidFill>
                <a:latin typeface="Calibri" pitchFamily="34" charset="0"/>
                <a:ea typeface="Calibri" pitchFamily="34" charset="-122"/>
                <a:cs typeface="Calibri" pitchFamily="34" charset="-120"/>
              </a:rPr>
              <a:t>9,354  (22.6% of contacted)</a:t>
            </a:r>
            <a:endParaRPr lang="en-US" sz="1200" dirty="0"/>
          </a:p>
        </p:txBody>
      </p:sp>
      <p:sp>
        <p:nvSpPr>
          <p:cNvPr id="19" name="Shape 17"/>
          <p:cNvSpPr/>
          <p:nvPr/>
        </p:nvSpPr>
        <p:spPr>
          <a:xfrm>
            <a:off x="3657600" y="2624328"/>
            <a:ext cx="8074152" cy="237744"/>
          </a:xfrm>
          <a:prstGeom prst="roundRect">
            <a:avLst>
              <a:gd name="adj" fmla="val 134615"/>
            </a:avLst>
          </a:prstGeom>
          <a:solidFill>
            <a:srgbClr val="F1F5F9"/>
          </a:solidFill>
          <a:ln/>
        </p:spPr>
      </p:sp>
      <p:sp>
        <p:nvSpPr>
          <p:cNvPr id="20" name="Shape 18"/>
          <p:cNvSpPr/>
          <p:nvPr/>
        </p:nvSpPr>
        <p:spPr>
          <a:xfrm>
            <a:off x="3657600" y="2624328"/>
            <a:ext cx="1824758" cy="237744"/>
          </a:xfrm>
          <a:prstGeom prst="roundRect">
            <a:avLst>
              <a:gd name="adj" fmla="val 134615"/>
            </a:avLst>
          </a:prstGeom>
          <a:solidFill>
            <a:srgbClr val="0077B5"/>
          </a:solidFill>
          <a:ln/>
        </p:spPr>
      </p:sp>
      <p:sp>
        <p:nvSpPr>
          <p:cNvPr id="21" name="Text 19"/>
          <p:cNvSpPr/>
          <p:nvPr/>
        </p:nvSpPr>
        <p:spPr>
          <a:xfrm>
            <a:off x="3657600" y="3383280"/>
            <a:ext cx="4206240" cy="274320"/>
          </a:xfrm>
          <a:prstGeom prst="rect">
            <a:avLst/>
          </a:prstGeom>
          <a:noFill/>
          <a:ln/>
        </p:spPr>
        <p:txBody>
          <a:bodyPr wrap="square"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Replied</a:t>
            </a:r>
            <a:endParaRPr lang="en-US" sz="1300" dirty="0"/>
          </a:p>
        </p:txBody>
      </p:sp>
      <p:sp>
        <p:nvSpPr>
          <p:cNvPr id="22" name="Text 20"/>
          <p:cNvSpPr/>
          <p:nvPr/>
        </p:nvSpPr>
        <p:spPr>
          <a:xfrm>
            <a:off x="7525512" y="3383280"/>
            <a:ext cx="4206240" cy="274320"/>
          </a:xfrm>
          <a:prstGeom prst="rect">
            <a:avLst/>
          </a:prstGeom>
          <a:noFill/>
          <a:ln/>
        </p:spPr>
        <p:txBody>
          <a:bodyPr wrap="square" rtlCol="0" anchor="ctr"/>
          <a:lstStyle/>
          <a:p>
            <a:pPr algn="r" indent="0" marL="0">
              <a:buNone/>
            </a:pPr>
            <a:r>
              <a:rPr lang="en-US" sz="1200" dirty="0">
                <a:solidFill>
                  <a:srgbClr val="4B5563"/>
                </a:solidFill>
                <a:latin typeface="Calibri" pitchFamily="34" charset="0"/>
                <a:ea typeface="Calibri" pitchFamily="34" charset="-122"/>
                <a:cs typeface="Calibri" pitchFamily="34" charset="-120"/>
              </a:rPr>
              <a:t>1,760  (4.2% of contacted)</a:t>
            </a:r>
            <a:endParaRPr lang="en-US" sz="1200" dirty="0"/>
          </a:p>
        </p:txBody>
      </p:sp>
      <p:sp>
        <p:nvSpPr>
          <p:cNvPr id="23" name="Shape 21"/>
          <p:cNvSpPr/>
          <p:nvPr/>
        </p:nvSpPr>
        <p:spPr>
          <a:xfrm>
            <a:off x="3657600" y="3675888"/>
            <a:ext cx="8074152" cy="237744"/>
          </a:xfrm>
          <a:prstGeom prst="roundRect">
            <a:avLst>
              <a:gd name="adj" fmla="val 134615"/>
            </a:avLst>
          </a:prstGeom>
          <a:solidFill>
            <a:srgbClr val="F1F5F9"/>
          </a:solidFill>
          <a:ln/>
        </p:spPr>
      </p:sp>
      <p:sp>
        <p:nvSpPr>
          <p:cNvPr id="24" name="Shape 22"/>
          <p:cNvSpPr/>
          <p:nvPr/>
        </p:nvSpPr>
        <p:spPr>
          <a:xfrm>
            <a:off x="3657600" y="3675888"/>
            <a:ext cx="339114" cy="237744"/>
          </a:xfrm>
          <a:prstGeom prst="roundRect">
            <a:avLst>
              <a:gd name="adj" fmla="val 134615"/>
            </a:avLst>
          </a:prstGeom>
          <a:solidFill>
            <a:srgbClr val="8B5CF6"/>
          </a:solidFill>
          <a:ln/>
        </p:spPr>
      </p:sp>
      <p:sp>
        <p:nvSpPr>
          <p:cNvPr id="25" name="Text 23"/>
          <p:cNvSpPr/>
          <p:nvPr/>
        </p:nvSpPr>
        <p:spPr>
          <a:xfrm>
            <a:off x="3657600" y="3931920"/>
            <a:ext cx="8074152" cy="219456"/>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18.8% of those connected</a:t>
            </a:r>
            <a:endParaRPr lang="en-US" sz="950" dirty="0"/>
          </a:p>
        </p:txBody>
      </p:sp>
      <p:sp>
        <p:nvSpPr>
          <p:cNvPr id="26" name="Text 24"/>
          <p:cNvSpPr/>
          <p:nvPr/>
        </p:nvSpPr>
        <p:spPr>
          <a:xfrm>
            <a:off x="3657600" y="4434840"/>
            <a:ext cx="4206240" cy="274320"/>
          </a:xfrm>
          <a:prstGeom prst="rect">
            <a:avLst/>
          </a:prstGeom>
          <a:noFill/>
          <a:ln/>
        </p:spPr>
        <p:txBody>
          <a:bodyPr wrap="square" rtlCol="0" anchor="ctr"/>
          <a:lstStyle/>
          <a:p>
            <a:pPr indent="0" marL="0">
              <a:buNone/>
            </a:pPr>
            <a:r>
              <a:rPr lang="en-US" sz="1300" b="1" dirty="0">
                <a:solidFill>
                  <a:srgbClr val="1F2937"/>
                </a:solidFill>
                <a:latin typeface="Calibri" pitchFamily="34" charset="0"/>
                <a:ea typeface="Calibri" pitchFamily="34" charset="-122"/>
                <a:cs typeface="Calibri" pitchFamily="34" charset="-120"/>
              </a:rPr>
              <a:t>Scheduled a Meeting</a:t>
            </a:r>
            <a:endParaRPr lang="en-US" sz="1300" dirty="0"/>
          </a:p>
        </p:txBody>
      </p:sp>
      <p:sp>
        <p:nvSpPr>
          <p:cNvPr id="27" name="Text 25"/>
          <p:cNvSpPr/>
          <p:nvPr/>
        </p:nvSpPr>
        <p:spPr>
          <a:xfrm>
            <a:off x="7525512" y="4434840"/>
            <a:ext cx="4206240" cy="274320"/>
          </a:xfrm>
          <a:prstGeom prst="rect">
            <a:avLst/>
          </a:prstGeom>
          <a:noFill/>
          <a:ln/>
        </p:spPr>
        <p:txBody>
          <a:bodyPr wrap="square" rtlCol="0" anchor="ctr"/>
          <a:lstStyle/>
          <a:p>
            <a:pPr algn="r" indent="0" marL="0">
              <a:buNone/>
            </a:pPr>
            <a:r>
              <a:rPr lang="en-US" sz="1200" dirty="0">
                <a:solidFill>
                  <a:srgbClr val="4B5563"/>
                </a:solidFill>
                <a:latin typeface="Calibri" pitchFamily="34" charset="0"/>
                <a:ea typeface="Calibri" pitchFamily="34" charset="-122"/>
                <a:cs typeface="Calibri" pitchFamily="34" charset="-120"/>
              </a:rPr>
              <a:t>405  (1.0% of contacted)</a:t>
            </a:r>
            <a:endParaRPr lang="en-US" sz="1200" dirty="0"/>
          </a:p>
        </p:txBody>
      </p:sp>
      <p:sp>
        <p:nvSpPr>
          <p:cNvPr id="28" name="Shape 26"/>
          <p:cNvSpPr/>
          <p:nvPr/>
        </p:nvSpPr>
        <p:spPr>
          <a:xfrm>
            <a:off x="3657600" y="4727448"/>
            <a:ext cx="8074152" cy="237744"/>
          </a:xfrm>
          <a:prstGeom prst="roundRect">
            <a:avLst>
              <a:gd name="adj" fmla="val 134615"/>
            </a:avLst>
          </a:prstGeom>
          <a:solidFill>
            <a:srgbClr val="F1F5F9"/>
          </a:solidFill>
          <a:ln/>
        </p:spPr>
      </p:sp>
      <p:sp>
        <p:nvSpPr>
          <p:cNvPr id="29" name="Shape 27"/>
          <p:cNvSpPr/>
          <p:nvPr/>
        </p:nvSpPr>
        <p:spPr>
          <a:xfrm>
            <a:off x="3657600" y="4727448"/>
            <a:ext cx="109728" cy="237744"/>
          </a:xfrm>
          <a:prstGeom prst="roundRect">
            <a:avLst>
              <a:gd name="adj" fmla="val 291667"/>
            </a:avLst>
          </a:prstGeom>
          <a:solidFill>
            <a:srgbClr val="10B981"/>
          </a:solidFill>
          <a:ln/>
        </p:spPr>
      </p:sp>
      <p:sp>
        <p:nvSpPr>
          <p:cNvPr id="30" name="Text 28"/>
          <p:cNvSpPr/>
          <p:nvPr/>
        </p:nvSpPr>
        <p:spPr>
          <a:xfrm>
            <a:off x="3657600" y="4983480"/>
            <a:ext cx="8074152" cy="219456"/>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23.0% of those who replied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TREND</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Rates Over Time</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graphicFrame>
        <p:nvGraphicFramePr>
          <p:cNvPr id="9" name="Chart 0" descr=""/>
          <p:cNvGraphicFramePr/>
          <p:nvPr/>
        </p:nvGraphicFramePr>
        <p:xfrm>
          <a:off x="457200" y="1280160"/>
          <a:ext cx="11274552" cy="448056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457200" y="5897880"/>
            <a:ext cx="11274552" cy="320040"/>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Months with fewer than 50 outreaches are excluded — too noisy to chart reliably.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KEYS TO SUCCESS</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What's Working — and What to Fix</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9" name="Text 7"/>
          <p:cNvSpPr/>
          <p:nvPr/>
        </p:nvSpPr>
        <p:spPr>
          <a:xfrm>
            <a:off x="457200" y="1234440"/>
            <a:ext cx="5440680" cy="237744"/>
          </a:xfrm>
          <a:prstGeom prst="rect">
            <a:avLst/>
          </a:prstGeom>
          <a:noFill/>
          <a:ln/>
        </p:spPr>
        <p:txBody>
          <a:bodyPr wrap="square"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WHAT'S WORKING</a:t>
            </a:r>
            <a:endParaRPr lang="en-US" sz="1200" dirty="0"/>
          </a:p>
        </p:txBody>
      </p:sp>
      <p:sp>
        <p:nvSpPr>
          <p:cNvPr id="10" name="Text 8"/>
          <p:cNvSpPr/>
          <p:nvPr/>
        </p:nvSpPr>
        <p:spPr>
          <a:xfrm>
            <a:off x="6291072" y="1234440"/>
            <a:ext cx="5440680" cy="237744"/>
          </a:xfrm>
          <a:prstGeom prst="rect">
            <a:avLst/>
          </a:prstGeom>
          <a:noFill/>
          <a:ln/>
        </p:spPr>
        <p:txBody>
          <a:bodyPr wrap="square" rtlCol="0" anchor="ctr"/>
          <a:lstStyle/>
          <a:p>
            <a:pPr indent="0" marL="0">
              <a:buNone/>
            </a:pPr>
            <a:r>
              <a:rPr lang="en-US" sz="1200" b="1" dirty="0">
                <a:solidFill>
                  <a:srgbClr val="B91C1C"/>
                </a:solidFill>
                <a:latin typeface="Calibri" pitchFamily="34" charset="0"/>
                <a:ea typeface="Calibri" pitchFamily="34" charset="-122"/>
                <a:cs typeface="Calibri" pitchFamily="34" charset="-120"/>
              </a:rPr>
              <a:t>WHAT TO FIX</a:t>
            </a:r>
            <a:endParaRPr lang="en-US" sz="1200" dirty="0"/>
          </a:p>
        </p:txBody>
      </p:sp>
      <p:sp>
        <p:nvSpPr>
          <p:cNvPr id="11" name="Shape 9"/>
          <p:cNvSpPr/>
          <p:nvPr/>
        </p:nvSpPr>
        <p:spPr>
          <a:xfrm>
            <a:off x="457200" y="1527048"/>
            <a:ext cx="5440680" cy="518922"/>
          </a:xfrm>
          <a:prstGeom prst="roundRect">
            <a:avLst>
              <a:gd name="adj" fmla="val 4405"/>
            </a:avLst>
          </a:prstGeom>
          <a:solidFill>
            <a:srgbClr val="E7F8F0"/>
          </a:solidFill>
          <a:ln w="9525">
            <a:solidFill>
              <a:srgbClr val="10B981"/>
            </a:solidFill>
            <a:prstDash val="solid"/>
          </a:ln>
        </p:spPr>
      </p:sp>
      <p:sp>
        <p:nvSpPr>
          <p:cNvPr id="12" name="Shape 10"/>
          <p:cNvSpPr/>
          <p:nvPr/>
        </p:nvSpPr>
        <p:spPr>
          <a:xfrm>
            <a:off x="457200" y="1527048"/>
            <a:ext cx="54864" cy="518922"/>
          </a:xfrm>
          <a:prstGeom prst="rect">
            <a:avLst/>
          </a:prstGeom>
          <a:solidFill>
            <a:srgbClr val="10B981"/>
          </a:solidFill>
          <a:ln/>
        </p:spPr>
      </p:sp>
      <p:sp>
        <p:nvSpPr>
          <p:cNvPr id="13" name="Text 11"/>
          <p:cNvSpPr/>
          <p:nvPr/>
        </p:nvSpPr>
        <p:spPr>
          <a:xfrm>
            <a:off x="603504" y="1563624"/>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Prospect replied warmly/enthusiastically</a:t>
            </a:r>
            <a:endParaRPr lang="en-US" sz="950" dirty="0"/>
          </a:p>
        </p:txBody>
      </p:sp>
      <p:sp>
        <p:nvSpPr>
          <p:cNvPr id="14" name="Text 12"/>
          <p:cNvSpPr/>
          <p:nvPr/>
        </p:nvSpPr>
        <p:spPr>
          <a:xfrm>
            <a:off x="4937760" y="1563624"/>
            <a:ext cx="822960" cy="259461"/>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+21.5 pp</a:t>
            </a:r>
            <a:endParaRPr lang="en-US" sz="1200" dirty="0"/>
          </a:p>
        </p:txBody>
      </p:sp>
      <p:sp>
        <p:nvSpPr>
          <p:cNvPr id="15" name="Text 13"/>
          <p:cNvSpPr/>
          <p:nvPr/>
        </p:nvSpPr>
        <p:spPr>
          <a:xfrm>
            <a:off x="603504" y="1786509"/>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Follow-up · High conf. · With 26.6% / Without 7.1%</a:t>
            </a:r>
            <a:endParaRPr lang="en-US" sz="780" dirty="0"/>
          </a:p>
        </p:txBody>
      </p:sp>
      <p:sp>
        <p:nvSpPr>
          <p:cNvPr id="16" name="Shape 14"/>
          <p:cNvSpPr/>
          <p:nvPr/>
        </p:nvSpPr>
        <p:spPr>
          <a:xfrm>
            <a:off x="457200" y="2119122"/>
            <a:ext cx="5440680" cy="518922"/>
          </a:xfrm>
          <a:prstGeom prst="roundRect">
            <a:avLst>
              <a:gd name="adj" fmla="val 4405"/>
            </a:avLst>
          </a:prstGeom>
          <a:solidFill>
            <a:srgbClr val="E7F8F0"/>
          </a:solidFill>
          <a:ln w="9525">
            <a:solidFill>
              <a:srgbClr val="10B981"/>
            </a:solidFill>
            <a:prstDash val="solid"/>
          </a:ln>
        </p:spPr>
      </p:sp>
      <p:sp>
        <p:nvSpPr>
          <p:cNvPr id="17" name="Shape 15"/>
          <p:cNvSpPr/>
          <p:nvPr/>
        </p:nvSpPr>
        <p:spPr>
          <a:xfrm>
            <a:off x="457200" y="2119122"/>
            <a:ext cx="54864" cy="518922"/>
          </a:xfrm>
          <a:prstGeom prst="rect">
            <a:avLst/>
          </a:prstGeom>
          <a:solidFill>
            <a:srgbClr val="10B981"/>
          </a:solidFill>
          <a:ln/>
        </p:spPr>
      </p:sp>
      <p:sp>
        <p:nvSpPr>
          <p:cNvPr id="18" name="Text 16"/>
          <p:cNvSpPr/>
          <p:nvPr/>
        </p:nvSpPr>
        <p:spPr>
          <a:xfrm>
            <a:off x="603504" y="2155698"/>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Prospect wrote a substantive first reply</a:t>
            </a:r>
            <a:endParaRPr lang="en-US" sz="950" dirty="0"/>
          </a:p>
        </p:txBody>
      </p:sp>
      <p:sp>
        <p:nvSpPr>
          <p:cNvPr id="19" name="Text 17"/>
          <p:cNvSpPr/>
          <p:nvPr/>
        </p:nvSpPr>
        <p:spPr>
          <a:xfrm>
            <a:off x="4937760" y="2155698"/>
            <a:ext cx="822960" cy="259461"/>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+20.7 pp</a:t>
            </a:r>
            <a:endParaRPr lang="en-US" sz="1200" dirty="0"/>
          </a:p>
        </p:txBody>
      </p:sp>
      <p:sp>
        <p:nvSpPr>
          <p:cNvPr id="20" name="Text 18"/>
          <p:cNvSpPr/>
          <p:nvPr/>
        </p:nvSpPr>
        <p:spPr>
          <a:xfrm>
            <a:off x="603504" y="2378583"/>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Follow-up · High conf. · With 34.7% / Without 15.3%</a:t>
            </a:r>
            <a:endParaRPr lang="en-US" sz="780" dirty="0"/>
          </a:p>
        </p:txBody>
      </p:sp>
      <p:sp>
        <p:nvSpPr>
          <p:cNvPr id="21" name="Shape 19"/>
          <p:cNvSpPr/>
          <p:nvPr/>
        </p:nvSpPr>
        <p:spPr>
          <a:xfrm>
            <a:off x="457200" y="2711196"/>
            <a:ext cx="5440680" cy="518922"/>
          </a:xfrm>
          <a:prstGeom prst="roundRect">
            <a:avLst>
              <a:gd name="adj" fmla="val 4405"/>
            </a:avLst>
          </a:prstGeom>
          <a:solidFill>
            <a:srgbClr val="E7F8F0"/>
          </a:solidFill>
          <a:ln w="9525">
            <a:solidFill>
              <a:srgbClr val="10B981"/>
            </a:solidFill>
            <a:prstDash val="solid"/>
          </a:ln>
        </p:spPr>
      </p:sp>
      <p:sp>
        <p:nvSpPr>
          <p:cNvPr id="22" name="Shape 20"/>
          <p:cNvSpPr/>
          <p:nvPr/>
        </p:nvSpPr>
        <p:spPr>
          <a:xfrm>
            <a:off x="457200" y="2711196"/>
            <a:ext cx="54864" cy="518922"/>
          </a:xfrm>
          <a:prstGeom prst="rect">
            <a:avLst/>
          </a:prstGeom>
          <a:solidFill>
            <a:srgbClr val="10B981"/>
          </a:solidFill>
          <a:ln/>
        </p:spPr>
      </p:sp>
      <p:sp>
        <p:nvSpPr>
          <p:cNvPr id="23" name="Text 21"/>
          <p:cNvSpPr/>
          <p:nvPr/>
        </p:nvSpPr>
        <p:spPr>
          <a:xfrm>
            <a:off x="603504" y="2747772"/>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Long message (&gt;250 chars)</a:t>
            </a:r>
            <a:endParaRPr lang="en-US" sz="950" dirty="0"/>
          </a:p>
        </p:txBody>
      </p:sp>
      <p:sp>
        <p:nvSpPr>
          <p:cNvPr id="24" name="Text 22"/>
          <p:cNvSpPr/>
          <p:nvPr/>
        </p:nvSpPr>
        <p:spPr>
          <a:xfrm>
            <a:off x="4937760" y="2747772"/>
            <a:ext cx="822960" cy="259461"/>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+16.9 pp</a:t>
            </a:r>
            <a:endParaRPr lang="en-US" sz="1200" dirty="0"/>
          </a:p>
        </p:txBody>
      </p:sp>
      <p:sp>
        <p:nvSpPr>
          <p:cNvPr id="25" name="Text 23"/>
          <p:cNvSpPr/>
          <p:nvPr/>
        </p:nvSpPr>
        <p:spPr>
          <a:xfrm>
            <a:off x="603504" y="2970657"/>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Message Craft · High conf. · With 25.8% / Without 3.9%</a:t>
            </a:r>
            <a:endParaRPr lang="en-US" sz="780" dirty="0"/>
          </a:p>
        </p:txBody>
      </p:sp>
      <p:sp>
        <p:nvSpPr>
          <p:cNvPr id="26" name="Shape 24"/>
          <p:cNvSpPr/>
          <p:nvPr/>
        </p:nvSpPr>
        <p:spPr>
          <a:xfrm>
            <a:off x="457200" y="3303270"/>
            <a:ext cx="5440680" cy="518922"/>
          </a:xfrm>
          <a:prstGeom prst="roundRect">
            <a:avLst>
              <a:gd name="adj" fmla="val 4405"/>
            </a:avLst>
          </a:prstGeom>
          <a:solidFill>
            <a:srgbClr val="E7F8F0"/>
          </a:solidFill>
          <a:ln w="9525">
            <a:solidFill>
              <a:srgbClr val="10B981"/>
            </a:solidFill>
            <a:prstDash val="solid"/>
          </a:ln>
        </p:spPr>
      </p:sp>
      <p:sp>
        <p:nvSpPr>
          <p:cNvPr id="27" name="Shape 25"/>
          <p:cNvSpPr/>
          <p:nvPr/>
        </p:nvSpPr>
        <p:spPr>
          <a:xfrm>
            <a:off x="457200" y="3303270"/>
            <a:ext cx="54864" cy="518922"/>
          </a:xfrm>
          <a:prstGeom prst="rect">
            <a:avLst/>
          </a:prstGeom>
          <a:solidFill>
            <a:srgbClr val="10B981"/>
          </a:solidFill>
          <a:ln/>
        </p:spPr>
      </p:sp>
      <p:sp>
        <p:nvSpPr>
          <p:cNvPr id="28" name="Text 26"/>
          <p:cNvSpPr/>
          <p:nvPr/>
        </p:nvSpPr>
        <p:spPr>
          <a:xfrm>
            <a:off x="603504" y="3339846"/>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Reason: referral / mutual connection</a:t>
            </a:r>
            <a:endParaRPr lang="en-US" sz="950" dirty="0"/>
          </a:p>
        </p:txBody>
      </p:sp>
      <p:sp>
        <p:nvSpPr>
          <p:cNvPr id="29" name="Text 27"/>
          <p:cNvSpPr/>
          <p:nvPr/>
        </p:nvSpPr>
        <p:spPr>
          <a:xfrm>
            <a:off x="4937760" y="3339846"/>
            <a:ext cx="822960" cy="259461"/>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+16.4 pp</a:t>
            </a:r>
            <a:endParaRPr lang="en-US" sz="1200" dirty="0"/>
          </a:p>
        </p:txBody>
      </p:sp>
      <p:sp>
        <p:nvSpPr>
          <p:cNvPr id="30" name="Text 28"/>
          <p:cNvSpPr/>
          <p:nvPr/>
        </p:nvSpPr>
        <p:spPr>
          <a:xfrm>
            <a:off x="603504" y="3562731"/>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Reason to Connect · High conf. · With 25.8% / Without 4.0%</a:t>
            </a:r>
            <a:endParaRPr lang="en-US" sz="780" dirty="0"/>
          </a:p>
        </p:txBody>
      </p:sp>
      <p:sp>
        <p:nvSpPr>
          <p:cNvPr id="31" name="Shape 29"/>
          <p:cNvSpPr/>
          <p:nvPr/>
        </p:nvSpPr>
        <p:spPr>
          <a:xfrm>
            <a:off x="457200" y="3895344"/>
            <a:ext cx="5440680" cy="518922"/>
          </a:xfrm>
          <a:prstGeom prst="roundRect">
            <a:avLst>
              <a:gd name="adj" fmla="val 4405"/>
            </a:avLst>
          </a:prstGeom>
          <a:solidFill>
            <a:srgbClr val="E7F8F0"/>
          </a:solidFill>
          <a:ln w="9525">
            <a:solidFill>
              <a:srgbClr val="10B981"/>
            </a:solidFill>
            <a:prstDash val="solid"/>
          </a:ln>
        </p:spPr>
      </p:sp>
      <p:sp>
        <p:nvSpPr>
          <p:cNvPr id="32" name="Shape 30"/>
          <p:cNvSpPr/>
          <p:nvPr/>
        </p:nvSpPr>
        <p:spPr>
          <a:xfrm>
            <a:off x="457200" y="3895344"/>
            <a:ext cx="54864" cy="518922"/>
          </a:xfrm>
          <a:prstGeom prst="rect">
            <a:avLst/>
          </a:prstGeom>
          <a:solidFill>
            <a:srgbClr val="10B981"/>
          </a:solidFill>
          <a:ln/>
        </p:spPr>
      </p:sp>
      <p:sp>
        <p:nvSpPr>
          <p:cNvPr id="33" name="Text 31"/>
          <p:cNvSpPr/>
          <p:nvPr/>
        </p:nvSpPr>
        <p:spPr>
          <a:xfrm>
            <a:off x="603504" y="3931920"/>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Follow-up pushed for a meeting</a:t>
            </a:r>
            <a:endParaRPr lang="en-US" sz="950" dirty="0"/>
          </a:p>
        </p:txBody>
      </p:sp>
      <p:sp>
        <p:nvSpPr>
          <p:cNvPr id="34" name="Text 32"/>
          <p:cNvSpPr/>
          <p:nvPr/>
        </p:nvSpPr>
        <p:spPr>
          <a:xfrm>
            <a:off x="4937760" y="3931920"/>
            <a:ext cx="822960" cy="259461"/>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+14.7 pp</a:t>
            </a:r>
            <a:endParaRPr lang="en-US" sz="1200" dirty="0"/>
          </a:p>
        </p:txBody>
      </p:sp>
      <p:sp>
        <p:nvSpPr>
          <p:cNvPr id="35" name="Text 33"/>
          <p:cNvSpPr/>
          <p:nvPr/>
        </p:nvSpPr>
        <p:spPr>
          <a:xfrm>
            <a:off x="603504" y="4154805"/>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Follow-up · High conf. · With 22.6% / Without 9.2%</a:t>
            </a:r>
            <a:endParaRPr lang="en-US" sz="780" dirty="0"/>
          </a:p>
        </p:txBody>
      </p:sp>
      <p:sp>
        <p:nvSpPr>
          <p:cNvPr id="36" name="Shape 34"/>
          <p:cNvSpPr/>
          <p:nvPr/>
        </p:nvSpPr>
        <p:spPr>
          <a:xfrm>
            <a:off x="457200" y="4487418"/>
            <a:ext cx="5440680" cy="518922"/>
          </a:xfrm>
          <a:prstGeom prst="roundRect">
            <a:avLst>
              <a:gd name="adj" fmla="val 4405"/>
            </a:avLst>
          </a:prstGeom>
          <a:solidFill>
            <a:srgbClr val="E7F8F0"/>
          </a:solidFill>
          <a:ln w="9525">
            <a:solidFill>
              <a:srgbClr val="10B981"/>
            </a:solidFill>
            <a:prstDash val="solid"/>
          </a:ln>
        </p:spPr>
      </p:sp>
      <p:sp>
        <p:nvSpPr>
          <p:cNvPr id="37" name="Shape 35"/>
          <p:cNvSpPr/>
          <p:nvPr/>
        </p:nvSpPr>
        <p:spPr>
          <a:xfrm>
            <a:off x="457200" y="4487418"/>
            <a:ext cx="54864" cy="518922"/>
          </a:xfrm>
          <a:prstGeom prst="rect">
            <a:avLst/>
          </a:prstGeom>
          <a:solidFill>
            <a:srgbClr val="10B981"/>
          </a:solidFill>
          <a:ln/>
        </p:spPr>
      </p:sp>
      <p:sp>
        <p:nvSpPr>
          <p:cNvPr id="38" name="Text 36"/>
          <p:cNvSpPr/>
          <p:nvPr/>
        </p:nvSpPr>
        <p:spPr>
          <a:xfrm>
            <a:off x="603504" y="4523994"/>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Replied to them within 3 hours</a:t>
            </a:r>
            <a:endParaRPr lang="en-US" sz="950" dirty="0"/>
          </a:p>
        </p:txBody>
      </p:sp>
      <p:sp>
        <p:nvSpPr>
          <p:cNvPr id="39" name="Text 37"/>
          <p:cNvSpPr/>
          <p:nvPr/>
        </p:nvSpPr>
        <p:spPr>
          <a:xfrm>
            <a:off x="4937760" y="4523994"/>
            <a:ext cx="822960" cy="259461"/>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+10.9 pp</a:t>
            </a:r>
            <a:endParaRPr lang="en-US" sz="1200" dirty="0"/>
          </a:p>
        </p:txBody>
      </p:sp>
      <p:sp>
        <p:nvSpPr>
          <p:cNvPr id="40" name="Text 38"/>
          <p:cNvSpPr/>
          <p:nvPr/>
        </p:nvSpPr>
        <p:spPr>
          <a:xfrm>
            <a:off x="603504" y="4746879"/>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Follow-up · High conf. · With 28.5% / Without 18.2%</a:t>
            </a:r>
            <a:endParaRPr lang="en-US" sz="780" dirty="0"/>
          </a:p>
        </p:txBody>
      </p:sp>
      <p:sp>
        <p:nvSpPr>
          <p:cNvPr id="41" name="Shape 39"/>
          <p:cNvSpPr/>
          <p:nvPr/>
        </p:nvSpPr>
        <p:spPr>
          <a:xfrm>
            <a:off x="457200" y="5079492"/>
            <a:ext cx="5440680" cy="518922"/>
          </a:xfrm>
          <a:prstGeom prst="roundRect">
            <a:avLst>
              <a:gd name="adj" fmla="val 4405"/>
            </a:avLst>
          </a:prstGeom>
          <a:solidFill>
            <a:srgbClr val="E7F8F0"/>
          </a:solidFill>
          <a:ln w="9525">
            <a:solidFill>
              <a:srgbClr val="10B981"/>
            </a:solidFill>
            <a:prstDash val="solid"/>
          </a:ln>
        </p:spPr>
      </p:sp>
      <p:sp>
        <p:nvSpPr>
          <p:cNvPr id="42" name="Shape 40"/>
          <p:cNvSpPr/>
          <p:nvPr/>
        </p:nvSpPr>
        <p:spPr>
          <a:xfrm>
            <a:off x="457200" y="5079492"/>
            <a:ext cx="54864" cy="518922"/>
          </a:xfrm>
          <a:prstGeom prst="rect">
            <a:avLst/>
          </a:prstGeom>
          <a:solidFill>
            <a:srgbClr val="10B981"/>
          </a:solidFill>
          <a:ln/>
        </p:spPr>
      </p:sp>
      <p:sp>
        <p:nvSpPr>
          <p:cNvPr id="43" name="Text 41"/>
          <p:cNvSpPr/>
          <p:nvPr/>
        </p:nvSpPr>
        <p:spPr>
          <a:xfrm>
            <a:off x="603504" y="5116068"/>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Follow-up matched their energy</a:t>
            </a:r>
            <a:endParaRPr lang="en-US" sz="950" dirty="0"/>
          </a:p>
        </p:txBody>
      </p:sp>
      <p:sp>
        <p:nvSpPr>
          <p:cNvPr id="44" name="Text 42"/>
          <p:cNvSpPr/>
          <p:nvPr/>
        </p:nvSpPr>
        <p:spPr>
          <a:xfrm>
            <a:off x="4937760" y="5116068"/>
            <a:ext cx="822960" cy="259461"/>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+8.8 pp</a:t>
            </a:r>
            <a:endParaRPr lang="en-US" sz="1200" dirty="0"/>
          </a:p>
        </p:txBody>
      </p:sp>
      <p:sp>
        <p:nvSpPr>
          <p:cNvPr id="45" name="Text 43"/>
          <p:cNvSpPr/>
          <p:nvPr/>
        </p:nvSpPr>
        <p:spPr>
          <a:xfrm>
            <a:off x="603504" y="5338953"/>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Follow-up · High conf. · With 16.7% / Without 6.9%</a:t>
            </a:r>
            <a:endParaRPr lang="en-US" sz="780" dirty="0"/>
          </a:p>
        </p:txBody>
      </p:sp>
      <p:sp>
        <p:nvSpPr>
          <p:cNvPr id="46" name="Shape 44"/>
          <p:cNvSpPr/>
          <p:nvPr/>
        </p:nvSpPr>
        <p:spPr>
          <a:xfrm>
            <a:off x="457200" y="5671566"/>
            <a:ext cx="5440680" cy="518922"/>
          </a:xfrm>
          <a:prstGeom prst="roundRect">
            <a:avLst>
              <a:gd name="adj" fmla="val 4405"/>
            </a:avLst>
          </a:prstGeom>
          <a:solidFill>
            <a:srgbClr val="E7F8F0"/>
          </a:solidFill>
          <a:ln w="9525">
            <a:solidFill>
              <a:srgbClr val="10B981"/>
            </a:solidFill>
            <a:prstDash val="solid"/>
          </a:ln>
        </p:spPr>
      </p:sp>
      <p:sp>
        <p:nvSpPr>
          <p:cNvPr id="47" name="Shape 45"/>
          <p:cNvSpPr/>
          <p:nvPr/>
        </p:nvSpPr>
        <p:spPr>
          <a:xfrm>
            <a:off x="457200" y="5671566"/>
            <a:ext cx="54864" cy="518922"/>
          </a:xfrm>
          <a:prstGeom prst="rect">
            <a:avLst/>
          </a:prstGeom>
          <a:solidFill>
            <a:srgbClr val="10B981"/>
          </a:solidFill>
          <a:ln/>
        </p:spPr>
      </p:sp>
      <p:sp>
        <p:nvSpPr>
          <p:cNvPr id="48" name="Text 46"/>
          <p:cNvSpPr/>
          <p:nvPr/>
        </p:nvSpPr>
        <p:spPr>
          <a:xfrm>
            <a:off x="603504" y="5708142"/>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Generic / low-quality hook</a:t>
            </a:r>
            <a:endParaRPr lang="en-US" sz="950" dirty="0"/>
          </a:p>
        </p:txBody>
      </p:sp>
      <p:sp>
        <p:nvSpPr>
          <p:cNvPr id="49" name="Text 47"/>
          <p:cNvSpPr/>
          <p:nvPr/>
        </p:nvSpPr>
        <p:spPr>
          <a:xfrm>
            <a:off x="4937760" y="5708142"/>
            <a:ext cx="822960" cy="259461"/>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+8.6 pp</a:t>
            </a:r>
            <a:endParaRPr lang="en-US" sz="1200" dirty="0"/>
          </a:p>
        </p:txBody>
      </p:sp>
      <p:sp>
        <p:nvSpPr>
          <p:cNvPr id="50" name="Text 48"/>
          <p:cNvSpPr/>
          <p:nvPr/>
        </p:nvSpPr>
        <p:spPr>
          <a:xfrm>
            <a:off x="603504" y="5931027"/>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Message Craft · High conf. · With 13.0% / Without 3.9%</a:t>
            </a:r>
            <a:endParaRPr lang="en-US" sz="780" dirty="0"/>
          </a:p>
        </p:txBody>
      </p:sp>
      <p:sp>
        <p:nvSpPr>
          <p:cNvPr id="51" name="Shape 49"/>
          <p:cNvSpPr/>
          <p:nvPr/>
        </p:nvSpPr>
        <p:spPr>
          <a:xfrm>
            <a:off x="6291072" y="1527048"/>
            <a:ext cx="5440680" cy="518922"/>
          </a:xfrm>
          <a:prstGeom prst="roundRect">
            <a:avLst>
              <a:gd name="adj" fmla="val 4405"/>
            </a:avLst>
          </a:prstGeom>
          <a:solidFill>
            <a:srgbClr val="FDECEC"/>
          </a:solidFill>
          <a:ln w="9525">
            <a:solidFill>
              <a:srgbClr val="EF4444"/>
            </a:solidFill>
            <a:prstDash val="solid"/>
          </a:ln>
        </p:spPr>
      </p:sp>
      <p:sp>
        <p:nvSpPr>
          <p:cNvPr id="52" name="Shape 50"/>
          <p:cNvSpPr/>
          <p:nvPr/>
        </p:nvSpPr>
        <p:spPr>
          <a:xfrm>
            <a:off x="6291072" y="1527048"/>
            <a:ext cx="54864" cy="518922"/>
          </a:xfrm>
          <a:prstGeom prst="rect">
            <a:avLst/>
          </a:prstGeom>
          <a:solidFill>
            <a:srgbClr val="EF4444"/>
          </a:solidFill>
          <a:ln/>
        </p:spPr>
      </p:sp>
      <p:sp>
        <p:nvSpPr>
          <p:cNvPr id="53" name="Text 51"/>
          <p:cNvSpPr/>
          <p:nvPr/>
        </p:nvSpPr>
        <p:spPr>
          <a:xfrm>
            <a:off x="6437376" y="1563624"/>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Follow-up gave value first</a:t>
            </a:r>
            <a:endParaRPr lang="en-US" sz="950" dirty="0"/>
          </a:p>
        </p:txBody>
      </p:sp>
      <p:sp>
        <p:nvSpPr>
          <p:cNvPr id="54" name="Text 52"/>
          <p:cNvSpPr/>
          <p:nvPr/>
        </p:nvSpPr>
        <p:spPr>
          <a:xfrm>
            <a:off x="10771632" y="1563624"/>
            <a:ext cx="822960" cy="259461"/>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-13.9 pp</a:t>
            </a:r>
            <a:endParaRPr lang="en-US" sz="1200" dirty="0"/>
          </a:p>
        </p:txBody>
      </p:sp>
      <p:sp>
        <p:nvSpPr>
          <p:cNvPr id="55" name="Text 53"/>
          <p:cNvSpPr/>
          <p:nvPr/>
        </p:nvSpPr>
        <p:spPr>
          <a:xfrm>
            <a:off x="6437376" y="1786509"/>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Follow-up · High conf. · With 2.7% / Without 14.6%</a:t>
            </a:r>
            <a:endParaRPr lang="en-US" sz="780" dirty="0"/>
          </a:p>
        </p:txBody>
      </p:sp>
      <p:sp>
        <p:nvSpPr>
          <p:cNvPr id="56" name="Shape 54"/>
          <p:cNvSpPr/>
          <p:nvPr/>
        </p:nvSpPr>
        <p:spPr>
          <a:xfrm>
            <a:off x="6291072" y="2119122"/>
            <a:ext cx="5440680" cy="518922"/>
          </a:xfrm>
          <a:prstGeom prst="roundRect">
            <a:avLst>
              <a:gd name="adj" fmla="val 4405"/>
            </a:avLst>
          </a:prstGeom>
          <a:solidFill>
            <a:srgbClr val="FDECEC"/>
          </a:solidFill>
          <a:ln w="9525">
            <a:solidFill>
              <a:srgbClr val="EF4444"/>
            </a:solidFill>
            <a:prstDash val="solid"/>
          </a:ln>
        </p:spPr>
      </p:sp>
      <p:sp>
        <p:nvSpPr>
          <p:cNvPr id="57" name="Shape 55"/>
          <p:cNvSpPr/>
          <p:nvPr/>
        </p:nvSpPr>
        <p:spPr>
          <a:xfrm>
            <a:off x="6291072" y="2119122"/>
            <a:ext cx="54864" cy="518922"/>
          </a:xfrm>
          <a:prstGeom prst="rect">
            <a:avLst/>
          </a:prstGeom>
          <a:solidFill>
            <a:srgbClr val="EF4444"/>
          </a:solidFill>
          <a:ln/>
        </p:spPr>
      </p:sp>
      <p:sp>
        <p:nvSpPr>
          <p:cNvPr id="58" name="Text 56"/>
          <p:cNvSpPr/>
          <p:nvPr/>
        </p:nvSpPr>
        <p:spPr>
          <a:xfrm>
            <a:off x="6437376" y="2155698"/>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Says "Worth connecting"</a:t>
            </a:r>
            <a:endParaRPr lang="en-US" sz="950" dirty="0"/>
          </a:p>
        </p:txBody>
      </p:sp>
      <p:sp>
        <p:nvSpPr>
          <p:cNvPr id="59" name="Text 57"/>
          <p:cNvSpPr/>
          <p:nvPr/>
        </p:nvSpPr>
        <p:spPr>
          <a:xfrm>
            <a:off x="10771632" y="2155698"/>
            <a:ext cx="822960" cy="259461"/>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-8.5 pp</a:t>
            </a:r>
            <a:endParaRPr lang="en-US" sz="1200" dirty="0"/>
          </a:p>
        </p:txBody>
      </p:sp>
      <p:sp>
        <p:nvSpPr>
          <p:cNvPr id="60" name="Text 58"/>
          <p:cNvSpPr/>
          <p:nvPr/>
        </p:nvSpPr>
        <p:spPr>
          <a:xfrm>
            <a:off x="6437376" y="2378583"/>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Connect Ask · High conf. · With 11.1% / Without 20.9%</a:t>
            </a:r>
            <a:endParaRPr lang="en-US" sz="780" dirty="0"/>
          </a:p>
        </p:txBody>
      </p:sp>
      <p:sp>
        <p:nvSpPr>
          <p:cNvPr id="61" name="Shape 59"/>
          <p:cNvSpPr/>
          <p:nvPr/>
        </p:nvSpPr>
        <p:spPr>
          <a:xfrm>
            <a:off x="6291072" y="2711196"/>
            <a:ext cx="5440680" cy="518922"/>
          </a:xfrm>
          <a:prstGeom prst="roundRect">
            <a:avLst>
              <a:gd name="adj" fmla="val 4405"/>
            </a:avLst>
          </a:prstGeom>
          <a:solidFill>
            <a:srgbClr val="FDECEC"/>
          </a:solidFill>
          <a:ln w="9525">
            <a:solidFill>
              <a:srgbClr val="EF4444"/>
            </a:solidFill>
            <a:prstDash val="solid"/>
          </a:ln>
        </p:spPr>
      </p:sp>
      <p:sp>
        <p:nvSpPr>
          <p:cNvPr id="62" name="Shape 60"/>
          <p:cNvSpPr/>
          <p:nvPr/>
        </p:nvSpPr>
        <p:spPr>
          <a:xfrm>
            <a:off x="6291072" y="2711196"/>
            <a:ext cx="54864" cy="518922"/>
          </a:xfrm>
          <a:prstGeom prst="rect">
            <a:avLst/>
          </a:prstGeom>
          <a:solidFill>
            <a:srgbClr val="EF4444"/>
          </a:solidFill>
          <a:ln/>
        </p:spPr>
      </p:sp>
      <p:sp>
        <p:nvSpPr>
          <p:cNvPr id="63" name="Text 61"/>
          <p:cNvSpPr/>
          <p:nvPr/>
        </p:nvSpPr>
        <p:spPr>
          <a:xfrm>
            <a:off x="6437376" y="2747772"/>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Follow-up shared a resource</a:t>
            </a:r>
            <a:endParaRPr lang="en-US" sz="950" dirty="0"/>
          </a:p>
        </p:txBody>
      </p:sp>
      <p:sp>
        <p:nvSpPr>
          <p:cNvPr id="64" name="Text 62"/>
          <p:cNvSpPr/>
          <p:nvPr/>
        </p:nvSpPr>
        <p:spPr>
          <a:xfrm>
            <a:off x="10771632" y="2747772"/>
            <a:ext cx="822960" cy="259461"/>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-8.0 pp</a:t>
            </a:r>
            <a:endParaRPr lang="en-US" sz="1200" dirty="0"/>
          </a:p>
        </p:txBody>
      </p:sp>
      <p:sp>
        <p:nvSpPr>
          <p:cNvPr id="65" name="Text 63"/>
          <p:cNvSpPr/>
          <p:nvPr/>
        </p:nvSpPr>
        <p:spPr>
          <a:xfrm>
            <a:off x="6437376" y="2970657"/>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Follow-up · Low conf. · With 10.4% / Without 13.6%</a:t>
            </a:r>
            <a:endParaRPr lang="en-US" sz="780" dirty="0"/>
          </a:p>
        </p:txBody>
      </p:sp>
      <p:sp>
        <p:nvSpPr>
          <p:cNvPr id="66" name="Shape 64"/>
          <p:cNvSpPr/>
          <p:nvPr/>
        </p:nvSpPr>
        <p:spPr>
          <a:xfrm>
            <a:off x="6291072" y="3303270"/>
            <a:ext cx="5440680" cy="518922"/>
          </a:xfrm>
          <a:prstGeom prst="roundRect">
            <a:avLst>
              <a:gd name="adj" fmla="val 4405"/>
            </a:avLst>
          </a:prstGeom>
          <a:solidFill>
            <a:srgbClr val="FDECEC"/>
          </a:solidFill>
          <a:ln w="9525">
            <a:solidFill>
              <a:srgbClr val="EF4444"/>
            </a:solidFill>
            <a:prstDash val="solid"/>
          </a:ln>
        </p:spPr>
      </p:sp>
      <p:sp>
        <p:nvSpPr>
          <p:cNvPr id="67" name="Shape 65"/>
          <p:cNvSpPr/>
          <p:nvPr/>
        </p:nvSpPr>
        <p:spPr>
          <a:xfrm>
            <a:off x="6291072" y="3303270"/>
            <a:ext cx="54864" cy="518922"/>
          </a:xfrm>
          <a:prstGeom prst="rect">
            <a:avLst/>
          </a:prstGeom>
          <a:solidFill>
            <a:srgbClr val="EF4444"/>
          </a:solidFill>
          <a:ln/>
        </p:spPr>
      </p:sp>
      <p:sp>
        <p:nvSpPr>
          <p:cNvPr id="68" name="Text 66"/>
          <p:cNvSpPr/>
          <p:nvPr/>
        </p:nvSpPr>
        <p:spPr>
          <a:xfrm>
            <a:off x="6437376" y="3339846"/>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Follow-up was a soft check-in</a:t>
            </a:r>
            <a:endParaRPr lang="en-US" sz="950" dirty="0"/>
          </a:p>
        </p:txBody>
      </p:sp>
      <p:sp>
        <p:nvSpPr>
          <p:cNvPr id="69" name="Text 67"/>
          <p:cNvSpPr/>
          <p:nvPr/>
        </p:nvSpPr>
        <p:spPr>
          <a:xfrm>
            <a:off x="10771632" y="3339846"/>
            <a:ext cx="822960" cy="259461"/>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-6.0 pp</a:t>
            </a:r>
            <a:endParaRPr lang="en-US" sz="1200" dirty="0"/>
          </a:p>
        </p:txBody>
      </p:sp>
      <p:sp>
        <p:nvSpPr>
          <p:cNvPr id="70" name="Text 68"/>
          <p:cNvSpPr/>
          <p:nvPr/>
        </p:nvSpPr>
        <p:spPr>
          <a:xfrm>
            <a:off x="6437376" y="3562731"/>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Follow-up · High conf. · With 9.5% / Without 15.2%</a:t>
            </a:r>
            <a:endParaRPr lang="en-US" sz="780" dirty="0"/>
          </a:p>
        </p:txBody>
      </p:sp>
      <p:sp>
        <p:nvSpPr>
          <p:cNvPr id="71" name="Shape 69"/>
          <p:cNvSpPr/>
          <p:nvPr/>
        </p:nvSpPr>
        <p:spPr>
          <a:xfrm>
            <a:off x="6291072" y="3895344"/>
            <a:ext cx="5440680" cy="518922"/>
          </a:xfrm>
          <a:prstGeom prst="roundRect">
            <a:avLst>
              <a:gd name="adj" fmla="val 4405"/>
            </a:avLst>
          </a:prstGeom>
          <a:solidFill>
            <a:srgbClr val="FDECEC"/>
          </a:solidFill>
          <a:ln w="9525">
            <a:solidFill>
              <a:srgbClr val="EF4444"/>
            </a:solidFill>
            <a:prstDash val="solid"/>
          </a:ln>
        </p:spPr>
      </p:sp>
      <p:sp>
        <p:nvSpPr>
          <p:cNvPr id="72" name="Shape 70"/>
          <p:cNvSpPr/>
          <p:nvPr/>
        </p:nvSpPr>
        <p:spPr>
          <a:xfrm>
            <a:off x="6291072" y="3895344"/>
            <a:ext cx="54864" cy="518922"/>
          </a:xfrm>
          <a:prstGeom prst="rect">
            <a:avLst/>
          </a:prstGeom>
          <a:solidFill>
            <a:srgbClr val="EF4444"/>
          </a:solidFill>
          <a:ln/>
        </p:spPr>
      </p:sp>
      <p:sp>
        <p:nvSpPr>
          <p:cNvPr id="73" name="Text 71"/>
          <p:cNvSpPr/>
          <p:nvPr/>
        </p:nvSpPr>
        <p:spPr>
          <a:xfrm>
            <a:off x="6437376" y="3931920"/>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Target is C-Suite</a:t>
            </a:r>
            <a:endParaRPr lang="en-US" sz="950" dirty="0"/>
          </a:p>
        </p:txBody>
      </p:sp>
      <p:sp>
        <p:nvSpPr>
          <p:cNvPr id="74" name="Text 72"/>
          <p:cNvSpPr/>
          <p:nvPr/>
        </p:nvSpPr>
        <p:spPr>
          <a:xfrm>
            <a:off x="10771632" y="3931920"/>
            <a:ext cx="822960" cy="259461"/>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-5.7 pp</a:t>
            </a:r>
            <a:endParaRPr lang="en-US" sz="1200" dirty="0"/>
          </a:p>
        </p:txBody>
      </p:sp>
      <p:sp>
        <p:nvSpPr>
          <p:cNvPr id="75" name="Text 73"/>
          <p:cNvSpPr/>
          <p:nvPr/>
        </p:nvSpPr>
        <p:spPr>
          <a:xfrm>
            <a:off x="6437376" y="4154805"/>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Audience · High conf. · With 20.2% / Without 21.2%</a:t>
            </a:r>
            <a:endParaRPr lang="en-US" sz="780" dirty="0"/>
          </a:p>
        </p:txBody>
      </p:sp>
      <p:sp>
        <p:nvSpPr>
          <p:cNvPr id="76" name="Shape 74"/>
          <p:cNvSpPr/>
          <p:nvPr/>
        </p:nvSpPr>
        <p:spPr>
          <a:xfrm>
            <a:off x="6291072" y="4487418"/>
            <a:ext cx="5440680" cy="518922"/>
          </a:xfrm>
          <a:prstGeom prst="roundRect">
            <a:avLst>
              <a:gd name="adj" fmla="val 4405"/>
            </a:avLst>
          </a:prstGeom>
          <a:solidFill>
            <a:srgbClr val="FDECEC"/>
          </a:solidFill>
          <a:ln w="9525">
            <a:solidFill>
              <a:srgbClr val="EF4444"/>
            </a:solidFill>
            <a:prstDash val="solid"/>
          </a:ln>
        </p:spPr>
      </p:sp>
      <p:sp>
        <p:nvSpPr>
          <p:cNvPr id="77" name="Shape 75"/>
          <p:cNvSpPr/>
          <p:nvPr/>
        </p:nvSpPr>
        <p:spPr>
          <a:xfrm>
            <a:off x="6291072" y="4487418"/>
            <a:ext cx="54864" cy="518922"/>
          </a:xfrm>
          <a:prstGeom prst="rect">
            <a:avLst/>
          </a:prstGeom>
          <a:solidFill>
            <a:srgbClr val="EF4444"/>
          </a:solidFill>
          <a:ln/>
        </p:spPr>
      </p:sp>
      <p:sp>
        <p:nvSpPr>
          <p:cNvPr id="78" name="Text 76"/>
          <p:cNvSpPr/>
          <p:nvPr/>
        </p:nvSpPr>
        <p:spPr>
          <a:xfrm>
            <a:off x="6437376" y="4523994"/>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Hook: personal compliment</a:t>
            </a:r>
            <a:endParaRPr lang="en-US" sz="950" dirty="0"/>
          </a:p>
        </p:txBody>
      </p:sp>
      <p:sp>
        <p:nvSpPr>
          <p:cNvPr id="79" name="Text 77"/>
          <p:cNvSpPr/>
          <p:nvPr/>
        </p:nvSpPr>
        <p:spPr>
          <a:xfrm>
            <a:off x="10771632" y="4523994"/>
            <a:ext cx="822960" cy="259461"/>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-5.3 pp</a:t>
            </a:r>
            <a:endParaRPr lang="en-US" sz="1200" dirty="0"/>
          </a:p>
        </p:txBody>
      </p:sp>
      <p:sp>
        <p:nvSpPr>
          <p:cNvPr id="80" name="Text 78"/>
          <p:cNvSpPr/>
          <p:nvPr/>
        </p:nvSpPr>
        <p:spPr>
          <a:xfrm>
            <a:off x="6437376" y="4746879"/>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Hook · High conf. · With 15.0% / Without 23.8%</a:t>
            </a:r>
            <a:endParaRPr lang="en-US" sz="780" dirty="0"/>
          </a:p>
        </p:txBody>
      </p:sp>
      <p:sp>
        <p:nvSpPr>
          <p:cNvPr id="81" name="Shape 79"/>
          <p:cNvSpPr/>
          <p:nvPr/>
        </p:nvSpPr>
        <p:spPr>
          <a:xfrm>
            <a:off x="6291072" y="5079492"/>
            <a:ext cx="5440680" cy="518922"/>
          </a:xfrm>
          <a:prstGeom prst="roundRect">
            <a:avLst>
              <a:gd name="adj" fmla="val 4405"/>
            </a:avLst>
          </a:prstGeom>
          <a:solidFill>
            <a:srgbClr val="FDECEC"/>
          </a:solidFill>
          <a:ln w="9525">
            <a:solidFill>
              <a:srgbClr val="EF4444"/>
            </a:solidFill>
            <a:prstDash val="solid"/>
          </a:ln>
        </p:spPr>
      </p:sp>
      <p:sp>
        <p:nvSpPr>
          <p:cNvPr id="82" name="Shape 80"/>
          <p:cNvSpPr/>
          <p:nvPr/>
        </p:nvSpPr>
        <p:spPr>
          <a:xfrm>
            <a:off x="6291072" y="5079492"/>
            <a:ext cx="54864" cy="518922"/>
          </a:xfrm>
          <a:prstGeom prst="rect">
            <a:avLst/>
          </a:prstGeom>
          <a:solidFill>
            <a:srgbClr val="EF4444"/>
          </a:solidFill>
          <a:ln/>
        </p:spPr>
      </p:sp>
      <p:sp>
        <p:nvSpPr>
          <p:cNvPr id="83" name="Text 81"/>
          <p:cNvSpPr/>
          <p:nvPr/>
        </p:nvSpPr>
        <p:spPr>
          <a:xfrm>
            <a:off x="6437376" y="5116068"/>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Reason: direct value proposition</a:t>
            </a:r>
            <a:endParaRPr lang="en-US" sz="950" dirty="0"/>
          </a:p>
        </p:txBody>
      </p:sp>
      <p:sp>
        <p:nvSpPr>
          <p:cNvPr id="84" name="Text 82"/>
          <p:cNvSpPr/>
          <p:nvPr/>
        </p:nvSpPr>
        <p:spPr>
          <a:xfrm>
            <a:off x="10771632" y="5116068"/>
            <a:ext cx="822960" cy="259461"/>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-2.4 pp</a:t>
            </a:r>
            <a:endParaRPr lang="en-US" sz="1200" dirty="0"/>
          </a:p>
        </p:txBody>
      </p:sp>
      <p:sp>
        <p:nvSpPr>
          <p:cNvPr id="85" name="Text 83"/>
          <p:cNvSpPr/>
          <p:nvPr/>
        </p:nvSpPr>
        <p:spPr>
          <a:xfrm>
            <a:off x="6437376" y="5338953"/>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Reason to Connect · High conf. · With 2.0% / Without 4.5%</a:t>
            </a:r>
            <a:endParaRPr lang="en-US" sz="780" dirty="0"/>
          </a:p>
        </p:txBody>
      </p:sp>
      <p:sp>
        <p:nvSpPr>
          <p:cNvPr id="86" name="Shape 84"/>
          <p:cNvSpPr/>
          <p:nvPr/>
        </p:nvSpPr>
        <p:spPr>
          <a:xfrm>
            <a:off x="6291072" y="5671566"/>
            <a:ext cx="5440680" cy="518922"/>
          </a:xfrm>
          <a:prstGeom prst="roundRect">
            <a:avLst>
              <a:gd name="adj" fmla="val 4405"/>
            </a:avLst>
          </a:prstGeom>
          <a:solidFill>
            <a:srgbClr val="FDECEC"/>
          </a:solidFill>
          <a:ln w="9525">
            <a:solidFill>
              <a:srgbClr val="EF4444"/>
            </a:solidFill>
            <a:prstDash val="solid"/>
          </a:ln>
        </p:spPr>
      </p:sp>
      <p:sp>
        <p:nvSpPr>
          <p:cNvPr id="87" name="Shape 85"/>
          <p:cNvSpPr/>
          <p:nvPr/>
        </p:nvSpPr>
        <p:spPr>
          <a:xfrm>
            <a:off x="6291072" y="5671566"/>
            <a:ext cx="54864" cy="518922"/>
          </a:xfrm>
          <a:prstGeom prst="rect">
            <a:avLst/>
          </a:prstGeom>
          <a:solidFill>
            <a:srgbClr val="EF4444"/>
          </a:solidFill>
          <a:ln/>
        </p:spPr>
      </p:sp>
      <p:sp>
        <p:nvSpPr>
          <p:cNvPr id="88" name="Text 86"/>
          <p:cNvSpPr/>
          <p:nvPr/>
        </p:nvSpPr>
        <p:spPr>
          <a:xfrm>
            <a:off x="6437376" y="5708142"/>
            <a:ext cx="4389120" cy="259461"/>
          </a:xfrm>
          <a:prstGeom prst="rect">
            <a:avLst/>
          </a:prstGeom>
          <a:noFill/>
          <a:ln/>
        </p:spPr>
        <p:txBody>
          <a:bodyPr wrap="square" rtlCol="0" anchor="ctr">
            <a:normAutofit/>
          </a:bodyPr>
          <a:lstStyle/>
          <a:p>
            <a:pPr indent="0" marL="0">
              <a:buNone/>
            </a:pPr>
            <a:r>
              <a:rPr lang="en-US" sz="950" b="1" dirty="0">
                <a:solidFill>
                  <a:srgbClr val="1F2937"/>
                </a:solidFill>
                <a:latin typeface="Calibri" pitchFamily="34" charset="0"/>
                <a:ea typeface="Calibri" pitchFamily="34" charset="-122"/>
                <a:cs typeface="Calibri" pitchFamily="34" charset="-120"/>
              </a:rPr>
              <a:t>Says "Let's connect"</a:t>
            </a:r>
            <a:endParaRPr lang="en-US" sz="950" dirty="0"/>
          </a:p>
        </p:txBody>
      </p:sp>
      <p:sp>
        <p:nvSpPr>
          <p:cNvPr id="89" name="Text 87"/>
          <p:cNvSpPr/>
          <p:nvPr/>
        </p:nvSpPr>
        <p:spPr>
          <a:xfrm>
            <a:off x="10771632" y="5708142"/>
            <a:ext cx="822960" cy="259461"/>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-2.4 pp</a:t>
            </a:r>
            <a:endParaRPr lang="en-US" sz="1200" dirty="0"/>
          </a:p>
        </p:txBody>
      </p:sp>
      <p:sp>
        <p:nvSpPr>
          <p:cNvPr id="90" name="Text 88"/>
          <p:cNvSpPr/>
          <p:nvPr/>
        </p:nvSpPr>
        <p:spPr>
          <a:xfrm>
            <a:off x="6437376" y="5931027"/>
            <a:ext cx="5184648" cy="238704"/>
          </a:xfrm>
          <a:prstGeom prst="rect">
            <a:avLst/>
          </a:prstGeom>
          <a:noFill/>
          <a:ln/>
        </p:spPr>
        <p:txBody>
          <a:bodyPr wrap="square" rtlCol="0" anchor="ctr">
            <a:normAutofit/>
          </a:bodyPr>
          <a:lstStyle/>
          <a:p>
            <a:pPr indent="0" marL="0">
              <a:buNone/>
            </a:pPr>
            <a:r>
              <a:rPr lang="en-US" sz="780" dirty="0">
                <a:solidFill>
                  <a:srgbClr val="4B5563"/>
                </a:solidFill>
                <a:latin typeface="Calibri" pitchFamily="34" charset="0"/>
                <a:ea typeface="Calibri" pitchFamily="34" charset="-122"/>
                <a:cs typeface="Calibri" pitchFamily="34" charset="-120"/>
              </a:rPr>
              <a:t>Connect Ask · Medium conf. · With 18.7% / Without 20.9%</a:t>
            </a:r>
            <a:endParaRPr lang="en-US" sz="780" dirty="0"/>
          </a:p>
        </p:txBody>
      </p:sp>
      <p:sp>
        <p:nvSpPr>
          <p:cNvPr id="91" name="Text 89"/>
          <p:cNvSpPr/>
          <p:nvPr/>
        </p:nvSpPr>
        <p:spPr>
          <a:xfrm>
            <a:off x="457200" y="6281928"/>
            <a:ext cx="11274552" cy="182880"/>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Showing the top 8 of each, ranked by effect size — see the full list on the site.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BEST TIME TO SEND</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When to Send the Connection Request</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9" name="Text 7"/>
          <p:cNvSpPr/>
          <p:nvPr/>
        </p:nvSpPr>
        <p:spPr>
          <a:xfrm>
            <a:off x="457200" y="1188720"/>
            <a:ext cx="11274552" cy="36576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True send-time data isn't available yet for this segment — showing first-message dates instead (these mostly track acceptance/reply timing).</a:t>
            </a:r>
            <a:endParaRPr lang="en-US" sz="1000" dirty="0"/>
          </a:p>
        </p:txBody>
      </p:sp>
      <p:sp>
        <p:nvSpPr>
          <p:cNvPr id="10" name="Text 8"/>
          <p:cNvSpPr/>
          <p:nvPr/>
        </p:nvSpPr>
        <p:spPr>
          <a:xfrm>
            <a:off x="457200" y="1627632"/>
            <a:ext cx="5440680" cy="256032"/>
          </a:xfrm>
          <a:prstGeom prst="rect">
            <a:avLst/>
          </a:prstGeom>
          <a:noFill/>
          <a:ln/>
        </p:spPr>
        <p:txBody>
          <a:bodyPr wrap="square" rtlCol="0" anchor="ctr"/>
          <a:lstStyle/>
          <a:p>
            <a:pPr indent="0" marL="0">
              <a:buNone/>
            </a:pPr>
            <a:r>
              <a:rPr lang="en-US" sz="1100" b="1" spc="50" kern="0" dirty="0">
                <a:solidFill>
                  <a:srgbClr val="374151"/>
                </a:solidFill>
                <a:latin typeface="Calibri" pitchFamily="34" charset="0"/>
                <a:ea typeface="Calibri" pitchFamily="34" charset="-122"/>
                <a:cs typeface="Calibri" pitchFamily="34" charset="-120"/>
              </a:rPr>
              <a:t>DAY OF WEEK</a:t>
            </a:r>
            <a:endParaRPr lang="en-US" sz="1100" dirty="0"/>
          </a:p>
        </p:txBody>
      </p:sp>
      <p:sp>
        <p:nvSpPr>
          <p:cNvPr id="11" name="Shape 9"/>
          <p:cNvSpPr/>
          <p:nvPr/>
        </p:nvSpPr>
        <p:spPr>
          <a:xfrm>
            <a:off x="402336" y="1984248"/>
            <a:ext cx="5550408" cy="603504"/>
          </a:xfrm>
          <a:prstGeom prst="roundRect">
            <a:avLst>
              <a:gd name="adj" fmla="val 6061"/>
            </a:avLst>
          </a:prstGeom>
          <a:solidFill>
            <a:srgbClr val="E7F8F0"/>
          </a:solidFill>
          <a:ln/>
        </p:spPr>
      </p:sp>
      <p:sp>
        <p:nvSpPr>
          <p:cNvPr id="12" name="Text 10"/>
          <p:cNvSpPr/>
          <p:nvPr/>
        </p:nvSpPr>
        <p:spPr>
          <a:xfrm>
            <a:off x="457200" y="2011680"/>
            <a:ext cx="1783080" cy="566928"/>
          </a:xfrm>
          <a:prstGeom prst="rect">
            <a:avLst/>
          </a:prstGeom>
          <a:noFill/>
          <a:ln/>
        </p:spPr>
        <p:txBody>
          <a:bodyPr wrap="square" rtlCol="0" anchor="ctr">
            <a:normAutofit/>
          </a:bodyPr>
          <a:lstStyle/>
          <a:p>
            <a:pPr indent="0" marL="0">
              <a:buNone/>
            </a:pPr>
            <a:r>
              <a:rPr lang="en-US" sz="1050" b="1" dirty="0">
                <a:solidFill>
                  <a:srgbClr val="047857"/>
                </a:solidFill>
                <a:latin typeface="Calibri" pitchFamily="34" charset="0"/>
                <a:ea typeface="Calibri" pitchFamily="34" charset="-122"/>
                <a:cs typeface="Calibri" pitchFamily="34" charset="-120"/>
              </a:rPr>
              <a:t>★ Sunday</a:t>
            </a:r>
            <a:endParaRPr lang="en-US" sz="1050" dirty="0"/>
          </a:p>
        </p:txBody>
      </p:sp>
      <p:sp>
        <p:nvSpPr>
          <p:cNvPr id="13" name="Shape 11"/>
          <p:cNvSpPr/>
          <p:nvPr/>
        </p:nvSpPr>
        <p:spPr>
          <a:xfrm>
            <a:off x="2331720" y="2235708"/>
            <a:ext cx="1874520" cy="118872"/>
          </a:xfrm>
          <a:prstGeom prst="roundRect">
            <a:avLst>
              <a:gd name="adj" fmla="val 230769"/>
            </a:avLst>
          </a:prstGeom>
          <a:solidFill>
            <a:srgbClr val="F1F5F9"/>
          </a:solidFill>
          <a:ln/>
        </p:spPr>
      </p:sp>
      <p:sp>
        <p:nvSpPr>
          <p:cNvPr id="14" name="Shape 12"/>
          <p:cNvSpPr/>
          <p:nvPr/>
        </p:nvSpPr>
        <p:spPr>
          <a:xfrm>
            <a:off x="2331720" y="2235708"/>
            <a:ext cx="1874520" cy="118872"/>
          </a:xfrm>
          <a:prstGeom prst="roundRect">
            <a:avLst>
              <a:gd name="adj" fmla="val 230769"/>
            </a:avLst>
          </a:prstGeom>
          <a:solidFill>
            <a:srgbClr val="10B981"/>
          </a:solidFill>
          <a:ln/>
        </p:spPr>
      </p:sp>
      <p:sp>
        <p:nvSpPr>
          <p:cNvPr id="15" name="Text 13"/>
          <p:cNvSpPr/>
          <p:nvPr/>
        </p:nvSpPr>
        <p:spPr>
          <a:xfrm>
            <a:off x="4297680" y="2011680"/>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29.8% · n=2,077</a:t>
            </a:r>
            <a:endParaRPr lang="en-US" sz="950" dirty="0"/>
          </a:p>
        </p:txBody>
      </p:sp>
      <p:sp>
        <p:nvSpPr>
          <p:cNvPr id="16" name="Text 14"/>
          <p:cNvSpPr/>
          <p:nvPr/>
        </p:nvSpPr>
        <p:spPr>
          <a:xfrm>
            <a:off x="457200" y="2670048"/>
            <a:ext cx="1783080" cy="566928"/>
          </a:xfrm>
          <a:prstGeom prst="rect">
            <a:avLst/>
          </a:prstGeom>
          <a:noFill/>
          <a:ln/>
        </p:spPr>
        <p:txBody>
          <a:bodyPr wrap="square" rtlCol="0" anchor="ctr">
            <a:normAutofit/>
          </a:bodyPr>
          <a:lstStyle/>
          <a:p>
            <a:pPr indent="0" marL="0">
              <a:buNone/>
            </a:pPr>
            <a:r>
              <a:rPr lang="en-US" sz="1050" dirty="0">
                <a:solidFill>
                  <a:srgbClr val="1F2937"/>
                </a:solidFill>
                <a:latin typeface="Calibri" pitchFamily="34" charset="0"/>
                <a:ea typeface="Calibri" pitchFamily="34" charset="-122"/>
                <a:cs typeface="Calibri" pitchFamily="34" charset="-120"/>
              </a:rPr>
              <a:t>Thursday</a:t>
            </a:r>
            <a:endParaRPr lang="en-US" sz="1050" dirty="0"/>
          </a:p>
        </p:txBody>
      </p:sp>
      <p:sp>
        <p:nvSpPr>
          <p:cNvPr id="17" name="Shape 15"/>
          <p:cNvSpPr/>
          <p:nvPr/>
        </p:nvSpPr>
        <p:spPr>
          <a:xfrm>
            <a:off x="2331720" y="2894076"/>
            <a:ext cx="1874520" cy="118872"/>
          </a:xfrm>
          <a:prstGeom prst="roundRect">
            <a:avLst>
              <a:gd name="adj" fmla="val 230769"/>
            </a:avLst>
          </a:prstGeom>
          <a:solidFill>
            <a:srgbClr val="F1F5F9"/>
          </a:solidFill>
          <a:ln/>
        </p:spPr>
      </p:sp>
      <p:sp>
        <p:nvSpPr>
          <p:cNvPr id="18" name="Shape 16"/>
          <p:cNvSpPr/>
          <p:nvPr/>
        </p:nvSpPr>
        <p:spPr>
          <a:xfrm>
            <a:off x="2331720" y="2894076"/>
            <a:ext cx="1641778" cy="118872"/>
          </a:xfrm>
          <a:prstGeom prst="roundRect">
            <a:avLst>
              <a:gd name="adj" fmla="val 230769"/>
            </a:avLst>
          </a:prstGeom>
          <a:solidFill>
            <a:srgbClr val="0077B5"/>
          </a:solidFill>
          <a:ln/>
        </p:spPr>
      </p:sp>
      <p:sp>
        <p:nvSpPr>
          <p:cNvPr id="19" name="Text 17"/>
          <p:cNvSpPr/>
          <p:nvPr/>
        </p:nvSpPr>
        <p:spPr>
          <a:xfrm>
            <a:off x="4297680" y="2670048"/>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26.1% · n=4,647</a:t>
            </a:r>
            <a:endParaRPr lang="en-US" sz="950" dirty="0"/>
          </a:p>
        </p:txBody>
      </p:sp>
      <p:sp>
        <p:nvSpPr>
          <p:cNvPr id="20" name="Text 18"/>
          <p:cNvSpPr/>
          <p:nvPr/>
        </p:nvSpPr>
        <p:spPr>
          <a:xfrm>
            <a:off x="457200" y="3328416"/>
            <a:ext cx="1783080" cy="566928"/>
          </a:xfrm>
          <a:prstGeom prst="rect">
            <a:avLst/>
          </a:prstGeom>
          <a:noFill/>
          <a:ln/>
        </p:spPr>
        <p:txBody>
          <a:bodyPr wrap="square" rtlCol="0" anchor="ctr">
            <a:normAutofit/>
          </a:bodyPr>
          <a:lstStyle/>
          <a:p>
            <a:pPr indent="0" marL="0">
              <a:buNone/>
            </a:pPr>
            <a:r>
              <a:rPr lang="en-US" sz="1050" dirty="0">
                <a:solidFill>
                  <a:srgbClr val="1F2937"/>
                </a:solidFill>
                <a:latin typeface="Calibri" pitchFamily="34" charset="0"/>
                <a:ea typeface="Calibri" pitchFamily="34" charset="-122"/>
                <a:cs typeface="Calibri" pitchFamily="34" charset="-120"/>
              </a:rPr>
              <a:t>Tuesday</a:t>
            </a:r>
            <a:endParaRPr lang="en-US" sz="1050" dirty="0"/>
          </a:p>
        </p:txBody>
      </p:sp>
      <p:sp>
        <p:nvSpPr>
          <p:cNvPr id="21" name="Shape 19"/>
          <p:cNvSpPr/>
          <p:nvPr/>
        </p:nvSpPr>
        <p:spPr>
          <a:xfrm>
            <a:off x="2331720" y="3552444"/>
            <a:ext cx="1874520" cy="118872"/>
          </a:xfrm>
          <a:prstGeom prst="roundRect">
            <a:avLst>
              <a:gd name="adj" fmla="val 230769"/>
            </a:avLst>
          </a:prstGeom>
          <a:solidFill>
            <a:srgbClr val="F1F5F9"/>
          </a:solidFill>
          <a:ln/>
        </p:spPr>
      </p:sp>
      <p:sp>
        <p:nvSpPr>
          <p:cNvPr id="22" name="Shape 20"/>
          <p:cNvSpPr/>
          <p:nvPr/>
        </p:nvSpPr>
        <p:spPr>
          <a:xfrm>
            <a:off x="2331720" y="3552444"/>
            <a:ext cx="1308390" cy="118872"/>
          </a:xfrm>
          <a:prstGeom prst="roundRect">
            <a:avLst>
              <a:gd name="adj" fmla="val 230769"/>
            </a:avLst>
          </a:prstGeom>
          <a:solidFill>
            <a:srgbClr val="0077B5"/>
          </a:solidFill>
          <a:ln/>
        </p:spPr>
      </p:sp>
      <p:sp>
        <p:nvSpPr>
          <p:cNvPr id="23" name="Text 21"/>
          <p:cNvSpPr/>
          <p:nvPr/>
        </p:nvSpPr>
        <p:spPr>
          <a:xfrm>
            <a:off x="4297680" y="3328416"/>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20.8% · n=7,697</a:t>
            </a:r>
            <a:endParaRPr lang="en-US" sz="950" dirty="0"/>
          </a:p>
        </p:txBody>
      </p:sp>
      <p:sp>
        <p:nvSpPr>
          <p:cNvPr id="24" name="Text 22"/>
          <p:cNvSpPr/>
          <p:nvPr/>
        </p:nvSpPr>
        <p:spPr>
          <a:xfrm>
            <a:off x="457200" y="3986784"/>
            <a:ext cx="1783080" cy="566928"/>
          </a:xfrm>
          <a:prstGeom prst="rect">
            <a:avLst/>
          </a:prstGeom>
          <a:noFill/>
          <a:ln/>
        </p:spPr>
        <p:txBody>
          <a:bodyPr wrap="square" rtlCol="0" anchor="ctr">
            <a:normAutofit/>
          </a:bodyPr>
          <a:lstStyle/>
          <a:p>
            <a:pPr indent="0" marL="0">
              <a:buNone/>
            </a:pPr>
            <a:r>
              <a:rPr lang="en-US" sz="1050" dirty="0">
                <a:solidFill>
                  <a:srgbClr val="1F2937"/>
                </a:solidFill>
                <a:latin typeface="Calibri" pitchFamily="34" charset="0"/>
                <a:ea typeface="Calibri" pitchFamily="34" charset="-122"/>
                <a:cs typeface="Calibri" pitchFamily="34" charset="-120"/>
              </a:rPr>
              <a:t>Friday</a:t>
            </a:r>
            <a:endParaRPr lang="en-US" sz="1050" dirty="0"/>
          </a:p>
        </p:txBody>
      </p:sp>
      <p:sp>
        <p:nvSpPr>
          <p:cNvPr id="25" name="Shape 23"/>
          <p:cNvSpPr/>
          <p:nvPr/>
        </p:nvSpPr>
        <p:spPr>
          <a:xfrm>
            <a:off x="2331720" y="4210812"/>
            <a:ext cx="1874520" cy="118872"/>
          </a:xfrm>
          <a:prstGeom prst="roundRect">
            <a:avLst>
              <a:gd name="adj" fmla="val 230769"/>
            </a:avLst>
          </a:prstGeom>
          <a:solidFill>
            <a:srgbClr val="F1F5F9"/>
          </a:solidFill>
          <a:ln/>
        </p:spPr>
      </p:sp>
      <p:sp>
        <p:nvSpPr>
          <p:cNvPr id="26" name="Shape 24"/>
          <p:cNvSpPr/>
          <p:nvPr/>
        </p:nvSpPr>
        <p:spPr>
          <a:xfrm>
            <a:off x="2331720" y="4210812"/>
            <a:ext cx="1295809" cy="118872"/>
          </a:xfrm>
          <a:prstGeom prst="roundRect">
            <a:avLst>
              <a:gd name="adj" fmla="val 230769"/>
            </a:avLst>
          </a:prstGeom>
          <a:solidFill>
            <a:srgbClr val="0077B5"/>
          </a:solidFill>
          <a:ln/>
        </p:spPr>
      </p:sp>
      <p:sp>
        <p:nvSpPr>
          <p:cNvPr id="27" name="Text 25"/>
          <p:cNvSpPr/>
          <p:nvPr/>
        </p:nvSpPr>
        <p:spPr>
          <a:xfrm>
            <a:off x="4297680" y="3986784"/>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20.6% · n=6,034</a:t>
            </a:r>
            <a:endParaRPr lang="en-US" sz="950" dirty="0"/>
          </a:p>
        </p:txBody>
      </p:sp>
      <p:sp>
        <p:nvSpPr>
          <p:cNvPr id="28" name="Text 26"/>
          <p:cNvSpPr/>
          <p:nvPr/>
        </p:nvSpPr>
        <p:spPr>
          <a:xfrm>
            <a:off x="457200" y="4645152"/>
            <a:ext cx="1783080" cy="566928"/>
          </a:xfrm>
          <a:prstGeom prst="rect">
            <a:avLst/>
          </a:prstGeom>
          <a:noFill/>
          <a:ln/>
        </p:spPr>
        <p:txBody>
          <a:bodyPr wrap="square" rtlCol="0" anchor="ctr">
            <a:normAutofit/>
          </a:bodyPr>
          <a:lstStyle/>
          <a:p>
            <a:pPr indent="0" marL="0">
              <a:buNone/>
            </a:pPr>
            <a:r>
              <a:rPr lang="en-US" sz="1050" dirty="0">
                <a:solidFill>
                  <a:srgbClr val="1F2937"/>
                </a:solidFill>
                <a:latin typeface="Calibri" pitchFamily="34" charset="0"/>
                <a:ea typeface="Calibri" pitchFamily="34" charset="-122"/>
                <a:cs typeface="Calibri" pitchFamily="34" charset="-120"/>
              </a:rPr>
              <a:t>Wednesday</a:t>
            </a:r>
            <a:endParaRPr lang="en-US" sz="1050" dirty="0"/>
          </a:p>
        </p:txBody>
      </p:sp>
      <p:sp>
        <p:nvSpPr>
          <p:cNvPr id="29" name="Shape 27"/>
          <p:cNvSpPr/>
          <p:nvPr/>
        </p:nvSpPr>
        <p:spPr>
          <a:xfrm>
            <a:off x="2331720" y="4869180"/>
            <a:ext cx="1874520" cy="118872"/>
          </a:xfrm>
          <a:prstGeom prst="roundRect">
            <a:avLst>
              <a:gd name="adj" fmla="val 230769"/>
            </a:avLst>
          </a:prstGeom>
          <a:solidFill>
            <a:srgbClr val="F1F5F9"/>
          </a:solidFill>
          <a:ln/>
        </p:spPr>
      </p:sp>
      <p:sp>
        <p:nvSpPr>
          <p:cNvPr id="30" name="Shape 28"/>
          <p:cNvSpPr/>
          <p:nvPr/>
        </p:nvSpPr>
        <p:spPr>
          <a:xfrm>
            <a:off x="2331720" y="4869180"/>
            <a:ext cx="1239196" cy="118872"/>
          </a:xfrm>
          <a:prstGeom prst="roundRect">
            <a:avLst>
              <a:gd name="adj" fmla="val 230769"/>
            </a:avLst>
          </a:prstGeom>
          <a:solidFill>
            <a:srgbClr val="0077B5"/>
          </a:solidFill>
          <a:ln/>
        </p:spPr>
      </p:sp>
      <p:sp>
        <p:nvSpPr>
          <p:cNvPr id="31" name="Text 29"/>
          <p:cNvSpPr/>
          <p:nvPr/>
        </p:nvSpPr>
        <p:spPr>
          <a:xfrm>
            <a:off x="4297680" y="4645152"/>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19.7% · n=7,347</a:t>
            </a:r>
            <a:endParaRPr lang="en-US" sz="950" dirty="0"/>
          </a:p>
        </p:txBody>
      </p:sp>
      <p:sp>
        <p:nvSpPr>
          <p:cNvPr id="32" name="Text 30"/>
          <p:cNvSpPr/>
          <p:nvPr/>
        </p:nvSpPr>
        <p:spPr>
          <a:xfrm>
            <a:off x="457200" y="5303520"/>
            <a:ext cx="1783080" cy="566928"/>
          </a:xfrm>
          <a:prstGeom prst="rect">
            <a:avLst/>
          </a:prstGeom>
          <a:noFill/>
          <a:ln/>
        </p:spPr>
        <p:txBody>
          <a:bodyPr wrap="square" rtlCol="0" anchor="ctr">
            <a:normAutofit/>
          </a:bodyPr>
          <a:lstStyle/>
          <a:p>
            <a:pPr indent="0" marL="0">
              <a:buNone/>
            </a:pPr>
            <a:r>
              <a:rPr lang="en-US" sz="1050" dirty="0">
                <a:solidFill>
                  <a:srgbClr val="1F2937"/>
                </a:solidFill>
                <a:latin typeface="Calibri" pitchFamily="34" charset="0"/>
                <a:ea typeface="Calibri" pitchFamily="34" charset="-122"/>
                <a:cs typeface="Calibri" pitchFamily="34" charset="-120"/>
              </a:rPr>
              <a:t>Saturday</a:t>
            </a:r>
            <a:endParaRPr lang="en-US" sz="1050" dirty="0"/>
          </a:p>
        </p:txBody>
      </p:sp>
      <p:sp>
        <p:nvSpPr>
          <p:cNvPr id="33" name="Shape 31"/>
          <p:cNvSpPr/>
          <p:nvPr/>
        </p:nvSpPr>
        <p:spPr>
          <a:xfrm>
            <a:off x="2331720" y="5527548"/>
            <a:ext cx="1874520" cy="118872"/>
          </a:xfrm>
          <a:prstGeom prst="roundRect">
            <a:avLst>
              <a:gd name="adj" fmla="val 230769"/>
            </a:avLst>
          </a:prstGeom>
          <a:solidFill>
            <a:srgbClr val="F1F5F9"/>
          </a:solidFill>
          <a:ln/>
        </p:spPr>
      </p:sp>
      <p:sp>
        <p:nvSpPr>
          <p:cNvPr id="34" name="Shape 32"/>
          <p:cNvSpPr/>
          <p:nvPr/>
        </p:nvSpPr>
        <p:spPr>
          <a:xfrm>
            <a:off x="2331720" y="5527548"/>
            <a:ext cx="1151131" cy="118872"/>
          </a:xfrm>
          <a:prstGeom prst="roundRect">
            <a:avLst>
              <a:gd name="adj" fmla="val 230769"/>
            </a:avLst>
          </a:prstGeom>
          <a:solidFill>
            <a:srgbClr val="0077B5"/>
          </a:solidFill>
          <a:ln/>
        </p:spPr>
      </p:sp>
      <p:sp>
        <p:nvSpPr>
          <p:cNvPr id="35" name="Text 33"/>
          <p:cNvSpPr/>
          <p:nvPr/>
        </p:nvSpPr>
        <p:spPr>
          <a:xfrm>
            <a:off x="4297680" y="5303520"/>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18.3% · n=5,267</a:t>
            </a:r>
            <a:endParaRPr lang="en-US" sz="950" dirty="0"/>
          </a:p>
        </p:txBody>
      </p:sp>
      <p:sp>
        <p:nvSpPr>
          <p:cNvPr id="36" name="Text 34"/>
          <p:cNvSpPr/>
          <p:nvPr/>
        </p:nvSpPr>
        <p:spPr>
          <a:xfrm>
            <a:off x="6291072" y="1627632"/>
            <a:ext cx="5440680" cy="256032"/>
          </a:xfrm>
          <a:prstGeom prst="rect">
            <a:avLst/>
          </a:prstGeom>
          <a:noFill/>
          <a:ln/>
        </p:spPr>
        <p:txBody>
          <a:bodyPr wrap="square" rtlCol="0" anchor="ctr"/>
          <a:lstStyle/>
          <a:p>
            <a:pPr indent="0" marL="0">
              <a:buNone/>
            </a:pPr>
            <a:r>
              <a:rPr lang="en-US" sz="1100" b="1" spc="50" kern="0" dirty="0">
                <a:solidFill>
                  <a:srgbClr val="374151"/>
                </a:solidFill>
                <a:latin typeface="Calibri" pitchFamily="34" charset="0"/>
                <a:ea typeface="Calibri" pitchFamily="34" charset="-122"/>
                <a:cs typeface="Calibri" pitchFamily="34" charset="-120"/>
              </a:rPr>
              <a:t>TIME OF DAY (CENTRAL)</a:t>
            </a:r>
            <a:endParaRPr lang="en-US" sz="1100" dirty="0"/>
          </a:p>
        </p:txBody>
      </p:sp>
      <p:sp>
        <p:nvSpPr>
          <p:cNvPr id="37" name="Shape 35"/>
          <p:cNvSpPr/>
          <p:nvPr/>
        </p:nvSpPr>
        <p:spPr>
          <a:xfrm>
            <a:off x="6236208" y="1984248"/>
            <a:ext cx="5550408" cy="603504"/>
          </a:xfrm>
          <a:prstGeom prst="roundRect">
            <a:avLst>
              <a:gd name="adj" fmla="val 6061"/>
            </a:avLst>
          </a:prstGeom>
          <a:solidFill>
            <a:srgbClr val="E7F8F0"/>
          </a:solidFill>
          <a:ln/>
        </p:spPr>
      </p:sp>
      <p:sp>
        <p:nvSpPr>
          <p:cNvPr id="38" name="Text 36"/>
          <p:cNvSpPr/>
          <p:nvPr/>
        </p:nvSpPr>
        <p:spPr>
          <a:xfrm>
            <a:off x="6291072" y="2011680"/>
            <a:ext cx="1783080" cy="566928"/>
          </a:xfrm>
          <a:prstGeom prst="rect">
            <a:avLst/>
          </a:prstGeom>
          <a:noFill/>
          <a:ln/>
        </p:spPr>
        <p:txBody>
          <a:bodyPr wrap="square" rtlCol="0" anchor="ctr">
            <a:normAutofit/>
          </a:bodyPr>
          <a:lstStyle/>
          <a:p>
            <a:pPr indent="0" marL="0">
              <a:buNone/>
            </a:pPr>
            <a:r>
              <a:rPr lang="en-US" sz="1050" b="1" dirty="0">
                <a:solidFill>
                  <a:srgbClr val="047857"/>
                </a:solidFill>
                <a:latin typeface="Calibri" pitchFamily="34" charset="0"/>
                <a:ea typeface="Calibri" pitchFamily="34" charset="-122"/>
                <a:cs typeface="Calibri" pitchFamily="34" charset="-120"/>
              </a:rPr>
              <a:t>★ Evening (6-9p)</a:t>
            </a:r>
            <a:endParaRPr lang="en-US" sz="1050" dirty="0"/>
          </a:p>
        </p:txBody>
      </p:sp>
      <p:sp>
        <p:nvSpPr>
          <p:cNvPr id="39" name="Shape 37"/>
          <p:cNvSpPr/>
          <p:nvPr/>
        </p:nvSpPr>
        <p:spPr>
          <a:xfrm>
            <a:off x="8165592" y="2235708"/>
            <a:ext cx="1874520" cy="118872"/>
          </a:xfrm>
          <a:prstGeom prst="roundRect">
            <a:avLst>
              <a:gd name="adj" fmla="val 230769"/>
            </a:avLst>
          </a:prstGeom>
          <a:solidFill>
            <a:srgbClr val="F1F5F9"/>
          </a:solidFill>
          <a:ln/>
        </p:spPr>
      </p:sp>
      <p:sp>
        <p:nvSpPr>
          <p:cNvPr id="40" name="Shape 38"/>
          <p:cNvSpPr/>
          <p:nvPr/>
        </p:nvSpPr>
        <p:spPr>
          <a:xfrm>
            <a:off x="8165592" y="2235708"/>
            <a:ext cx="1874520" cy="118872"/>
          </a:xfrm>
          <a:prstGeom prst="roundRect">
            <a:avLst>
              <a:gd name="adj" fmla="val 230769"/>
            </a:avLst>
          </a:prstGeom>
          <a:solidFill>
            <a:srgbClr val="10B981"/>
          </a:solidFill>
          <a:ln/>
        </p:spPr>
      </p:sp>
      <p:sp>
        <p:nvSpPr>
          <p:cNvPr id="41" name="Text 39"/>
          <p:cNvSpPr/>
          <p:nvPr/>
        </p:nvSpPr>
        <p:spPr>
          <a:xfrm>
            <a:off x="10131552" y="2011680"/>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38.1% · n=4,692</a:t>
            </a:r>
            <a:endParaRPr lang="en-US" sz="950" dirty="0"/>
          </a:p>
        </p:txBody>
      </p:sp>
      <p:sp>
        <p:nvSpPr>
          <p:cNvPr id="42" name="Text 40"/>
          <p:cNvSpPr/>
          <p:nvPr/>
        </p:nvSpPr>
        <p:spPr>
          <a:xfrm>
            <a:off x="6291072" y="2670048"/>
            <a:ext cx="1783080" cy="566928"/>
          </a:xfrm>
          <a:prstGeom prst="rect">
            <a:avLst/>
          </a:prstGeom>
          <a:noFill/>
          <a:ln/>
        </p:spPr>
        <p:txBody>
          <a:bodyPr wrap="square" rtlCol="0" anchor="ctr">
            <a:normAutofit/>
          </a:bodyPr>
          <a:lstStyle/>
          <a:p>
            <a:pPr indent="0" marL="0">
              <a:buNone/>
            </a:pPr>
            <a:r>
              <a:rPr lang="en-US" sz="1050" dirty="0">
                <a:solidFill>
                  <a:srgbClr val="1F2937"/>
                </a:solidFill>
                <a:latin typeface="Calibri" pitchFamily="34" charset="0"/>
                <a:ea typeface="Calibri" pitchFamily="34" charset="-122"/>
                <a:cs typeface="Calibri" pitchFamily="34" charset="-120"/>
              </a:rPr>
              <a:t>Overnight (10p-4a)</a:t>
            </a:r>
            <a:endParaRPr lang="en-US" sz="1050" dirty="0"/>
          </a:p>
        </p:txBody>
      </p:sp>
      <p:sp>
        <p:nvSpPr>
          <p:cNvPr id="43" name="Shape 41"/>
          <p:cNvSpPr/>
          <p:nvPr/>
        </p:nvSpPr>
        <p:spPr>
          <a:xfrm>
            <a:off x="8165592" y="2894076"/>
            <a:ext cx="1874520" cy="118872"/>
          </a:xfrm>
          <a:prstGeom prst="roundRect">
            <a:avLst>
              <a:gd name="adj" fmla="val 230769"/>
            </a:avLst>
          </a:prstGeom>
          <a:solidFill>
            <a:srgbClr val="F1F5F9"/>
          </a:solidFill>
          <a:ln/>
        </p:spPr>
      </p:sp>
      <p:sp>
        <p:nvSpPr>
          <p:cNvPr id="44" name="Shape 42"/>
          <p:cNvSpPr/>
          <p:nvPr/>
        </p:nvSpPr>
        <p:spPr>
          <a:xfrm>
            <a:off x="8165592" y="2894076"/>
            <a:ext cx="1790880" cy="118872"/>
          </a:xfrm>
          <a:prstGeom prst="roundRect">
            <a:avLst>
              <a:gd name="adj" fmla="val 230769"/>
            </a:avLst>
          </a:prstGeom>
          <a:solidFill>
            <a:srgbClr val="0077B5"/>
          </a:solidFill>
          <a:ln/>
        </p:spPr>
      </p:sp>
      <p:sp>
        <p:nvSpPr>
          <p:cNvPr id="45" name="Text 43"/>
          <p:cNvSpPr/>
          <p:nvPr/>
        </p:nvSpPr>
        <p:spPr>
          <a:xfrm>
            <a:off x="10131552" y="2670048"/>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36.4% · n=1,842</a:t>
            </a:r>
            <a:endParaRPr lang="en-US" sz="950" dirty="0"/>
          </a:p>
        </p:txBody>
      </p:sp>
      <p:sp>
        <p:nvSpPr>
          <p:cNvPr id="46" name="Text 44"/>
          <p:cNvSpPr/>
          <p:nvPr/>
        </p:nvSpPr>
        <p:spPr>
          <a:xfrm>
            <a:off x="6291072" y="3328416"/>
            <a:ext cx="1783080" cy="566928"/>
          </a:xfrm>
          <a:prstGeom prst="rect">
            <a:avLst/>
          </a:prstGeom>
          <a:noFill/>
          <a:ln/>
        </p:spPr>
        <p:txBody>
          <a:bodyPr wrap="square" rtlCol="0" anchor="ctr">
            <a:normAutofit/>
          </a:bodyPr>
          <a:lstStyle/>
          <a:p>
            <a:pPr indent="0" marL="0">
              <a:buNone/>
            </a:pPr>
            <a:r>
              <a:rPr lang="en-US" sz="1050" dirty="0">
                <a:solidFill>
                  <a:srgbClr val="1F2937"/>
                </a:solidFill>
                <a:latin typeface="Calibri" pitchFamily="34" charset="0"/>
                <a:ea typeface="Calibri" pitchFamily="34" charset="-122"/>
                <a:cs typeface="Calibri" pitchFamily="34" charset="-120"/>
              </a:rPr>
              <a:t>Late afternoon (3-5p)</a:t>
            </a:r>
            <a:endParaRPr lang="en-US" sz="1050" dirty="0"/>
          </a:p>
        </p:txBody>
      </p:sp>
      <p:sp>
        <p:nvSpPr>
          <p:cNvPr id="47" name="Shape 45"/>
          <p:cNvSpPr/>
          <p:nvPr/>
        </p:nvSpPr>
        <p:spPr>
          <a:xfrm>
            <a:off x="8165592" y="3552444"/>
            <a:ext cx="1874520" cy="118872"/>
          </a:xfrm>
          <a:prstGeom prst="roundRect">
            <a:avLst>
              <a:gd name="adj" fmla="val 230769"/>
            </a:avLst>
          </a:prstGeom>
          <a:solidFill>
            <a:srgbClr val="F1F5F9"/>
          </a:solidFill>
          <a:ln/>
        </p:spPr>
      </p:sp>
      <p:sp>
        <p:nvSpPr>
          <p:cNvPr id="48" name="Shape 46"/>
          <p:cNvSpPr/>
          <p:nvPr/>
        </p:nvSpPr>
        <p:spPr>
          <a:xfrm>
            <a:off x="8165592" y="3552444"/>
            <a:ext cx="1033200" cy="118872"/>
          </a:xfrm>
          <a:prstGeom prst="roundRect">
            <a:avLst>
              <a:gd name="adj" fmla="val 230769"/>
            </a:avLst>
          </a:prstGeom>
          <a:solidFill>
            <a:srgbClr val="0077B5"/>
          </a:solidFill>
          <a:ln/>
        </p:spPr>
      </p:sp>
      <p:sp>
        <p:nvSpPr>
          <p:cNvPr id="49" name="Text 47"/>
          <p:cNvSpPr/>
          <p:nvPr/>
        </p:nvSpPr>
        <p:spPr>
          <a:xfrm>
            <a:off x="10131552" y="3328416"/>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21.0% · n=7,434</a:t>
            </a:r>
            <a:endParaRPr lang="en-US" sz="950" dirty="0"/>
          </a:p>
        </p:txBody>
      </p:sp>
      <p:sp>
        <p:nvSpPr>
          <p:cNvPr id="50" name="Text 48"/>
          <p:cNvSpPr/>
          <p:nvPr/>
        </p:nvSpPr>
        <p:spPr>
          <a:xfrm>
            <a:off x="6291072" y="3986784"/>
            <a:ext cx="1783080" cy="566928"/>
          </a:xfrm>
          <a:prstGeom prst="rect">
            <a:avLst/>
          </a:prstGeom>
          <a:noFill/>
          <a:ln/>
        </p:spPr>
        <p:txBody>
          <a:bodyPr wrap="square" rtlCol="0" anchor="ctr">
            <a:normAutofit/>
          </a:bodyPr>
          <a:lstStyle/>
          <a:p>
            <a:pPr indent="0" marL="0">
              <a:buNone/>
            </a:pPr>
            <a:r>
              <a:rPr lang="en-US" sz="1050" dirty="0">
                <a:solidFill>
                  <a:srgbClr val="1F2937"/>
                </a:solidFill>
                <a:latin typeface="Calibri" pitchFamily="34" charset="0"/>
                <a:ea typeface="Calibri" pitchFamily="34" charset="-122"/>
                <a:cs typeface="Calibri" pitchFamily="34" charset="-120"/>
              </a:rPr>
              <a:t>Afternoon (12-2p)</a:t>
            </a:r>
            <a:endParaRPr lang="en-US" sz="1050" dirty="0"/>
          </a:p>
        </p:txBody>
      </p:sp>
      <p:sp>
        <p:nvSpPr>
          <p:cNvPr id="51" name="Shape 49"/>
          <p:cNvSpPr/>
          <p:nvPr/>
        </p:nvSpPr>
        <p:spPr>
          <a:xfrm>
            <a:off x="8165592" y="4210812"/>
            <a:ext cx="1874520" cy="118872"/>
          </a:xfrm>
          <a:prstGeom prst="roundRect">
            <a:avLst>
              <a:gd name="adj" fmla="val 230769"/>
            </a:avLst>
          </a:prstGeom>
          <a:solidFill>
            <a:srgbClr val="F1F5F9"/>
          </a:solidFill>
          <a:ln/>
        </p:spPr>
      </p:sp>
      <p:sp>
        <p:nvSpPr>
          <p:cNvPr id="52" name="Shape 50"/>
          <p:cNvSpPr/>
          <p:nvPr/>
        </p:nvSpPr>
        <p:spPr>
          <a:xfrm>
            <a:off x="8165592" y="4210812"/>
            <a:ext cx="964320" cy="118872"/>
          </a:xfrm>
          <a:prstGeom prst="roundRect">
            <a:avLst>
              <a:gd name="adj" fmla="val 230769"/>
            </a:avLst>
          </a:prstGeom>
          <a:solidFill>
            <a:srgbClr val="0077B5"/>
          </a:solidFill>
          <a:ln/>
        </p:spPr>
      </p:sp>
      <p:sp>
        <p:nvSpPr>
          <p:cNvPr id="53" name="Text 51"/>
          <p:cNvSpPr/>
          <p:nvPr/>
        </p:nvSpPr>
        <p:spPr>
          <a:xfrm>
            <a:off x="10131552" y="3986784"/>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19.6% · n=8,806</a:t>
            </a:r>
            <a:endParaRPr lang="en-US" sz="950" dirty="0"/>
          </a:p>
        </p:txBody>
      </p:sp>
      <p:sp>
        <p:nvSpPr>
          <p:cNvPr id="54" name="Text 52"/>
          <p:cNvSpPr/>
          <p:nvPr/>
        </p:nvSpPr>
        <p:spPr>
          <a:xfrm>
            <a:off x="6291072" y="4645152"/>
            <a:ext cx="1783080" cy="566928"/>
          </a:xfrm>
          <a:prstGeom prst="rect">
            <a:avLst/>
          </a:prstGeom>
          <a:noFill/>
          <a:ln/>
        </p:spPr>
        <p:txBody>
          <a:bodyPr wrap="square" rtlCol="0" anchor="ctr">
            <a:normAutofit/>
          </a:bodyPr>
          <a:lstStyle/>
          <a:p>
            <a:pPr indent="0" marL="0">
              <a:buNone/>
            </a:pPr>
            <a:r>
              <a:rPr lang="en-US" sz="1050" dirty="0">
                <a:solidFill>
                  <a:srgbClr val="1F2937"/>
                </a:solidFill>
                <a:latin typeface="Calibri" pitchFamily="34" charset="0"/>
                <a:ea typeface="Calibri" pitchFamily="34" charset="-122"/>
                <a:cs typeface="Calibri" pitchFamily="34" charset="-120"/>
              </a:rPr>
              <a:t>Early morning (5-8a)</a:t>
            </a:r>
            <a:endParaRPr lang="en-US" sz="1050" dirty="0"/>
          </a:p>
        </p:txBody>
      </p:sp>
      <p:sp>
        <p:nvSpPr>
          <p:cNvPr id="55" name="Shape 53"/>
          <p:cNvSpPr/>
          <p:nvPr/>
        </p:nvSpPr>
        <p:spPr>
          <a:xfrm>
            <a:off x="8165592" y="4869180"/>
            <a:ext cx="1874520" cy="118872"/>
          </a:xfrm>
          <a:prstGeom prst="roundRect">
            <a:avLst>
              <a:gd name="adj" fmla="val 230769"/>
            </a:avLst>
          </a:prstGeom>
          <a:solidFill>
            <a:srgbClr val="F1F5F9"/>
          </a:solidFill>
          <a:ln/>
        </p:spPr>
      </p:sp>
      <p:sp>
        <p:nvSpPr>
          <p:cNvPr id="56" name="Shape 54"/>
          <p:cNvSpPr/>
          <p:nvPr/>
        </p:nvSpPr>
        <p:spPr>
          <a:xfrm>
            <a:off x="8165592" y="4869180"/>
            <a:ext cx="826560" cy="118872"/>
          </a:xfrm>
          <a:prstGeom prst="roundRect">
            <a:avLst>
              <a:gd name="adj" fmla="val 230769"/>
            </a:avLst>
          </a:prstGeom>
          <a:solidFill>
            <a:srgbClr val="0077B5"/>
          </a:solidFill>
          <a:ln/>
        </p:spPr>
      </p:sp>
      <p:sp>
        <p:nvSpPr>
          <p:cNvPr id="57" name="Text 55"/>
          <p:cNvSpPr/>
          <p:nvPr/>
        </p:nvSpPr>
        <p:spPr>
          <a:xfrm>
            <a:off x="10131552" y="4645152"/>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16.8% · n=6,444</a:t>
            </a:r>
            <a:endParaRPr lang="en-US" sz="950" dirty="0"/>
          </a:p>
        </p:txBody>
      </p:sp>
      <p:sp>
        <p:nvSpPr>
          <p:cNvPr id="58" name="Text 56"/>
          <p:cNvSpPr/>
          <p:nvPr/>
        </p:nvSpPr>
        <p:spPr>
          <a:xfrm>
            <a:off x="6291072" y="5303520"/>
            <a:ext cx="1783080" cy="566928"/>
          </a:xfrm>
          <a:prstGeom prst="rect">
            <a:avLst/>
          </a:prstGeom>
          <a:noFill/>
          <a:ln/>
        </p:spPr>
        <p:txBody>
          <a:bodyPr wrap="square" rtlCol="0" anchor="ctr">
            <a:normAutofit/>
          </a:bodyPr>
          <a:lstStyle/>
          <a:p>
            <a:pPr indent="0" marL="0">
              <a:buNone/>
            </a:pPr>
            <a:r>
              <a:rPr lang="en-US" sz="1050" dirty="0">
                <a:solidFill>
                  <a:srgbClr val="1F2937"/>
                </a:solidFill>
                <a:latin typeface="Calibri" pitchFamily="34" charset="0"/>
                <a:ea typeface="Calibri" pitchFamily="34" charset="-122"/>
                <a:cs typeface="Calibri" pitchFamily="34" charset="-120"/>
              </a:rPr>
              <a:t>Morning (9-11a)</a:t>
            </a:r>
            <a:endParaRPr lang="en-US" sz="1050" dirty="0"/>
          </a:p>
        </p:txBody>
      </p:sp>
      <p:sp>
        <p:nvSpPr>
          <p:cNvPr id="59" name="Shape 57"/>
          <p:cNvSpPr/>
          <p:nvPr/>
        </p:nvSpPr>
        <p:spPr>
          <a:xfrm>
            <a:off x="8165592" y="5527548"/>
            <a:ext cx="1874520" cy="118872"/>
          </a:xfrm>
          <a:prstGeom prst="roundRect">
            <a:avLst>
              <a:gd name="adj" fmla="val 230769"/>
            </a:avLst>
          </a:prstGeom>
          <a:solidFill>
            <a:srgbClr val="F1F5F9"/>
          </a:solidFill>
          <a:ln/>
        </p:spPr>
      </p:sp>
      <p:sp>
        <p:nvSpPr>
          <p:cNvPr id="60" name="Shape 58"/>
          <p:cNvSpPr/>
          <p:nvPr/>
        </p:nvSpPr>
        <p:spPr>
          <a:xfrm>
            <a:off x="8165592" y="5527548"/>
            <a:ext cx="683880" cy="118872"/>
          </a:xfrm>
          <a:prstGeom prst="roundRect">
            <a:avLst>
              <a:gd name="adj" fmla="val 230769"/>
            </a:avLst>
          </a:prstGeom>
          <a:solidFill>
            <a:srgbClr val="0077B5"/>
          </a:solidFill>
          <a:ln/>
        </p:spPr>
      </p:sp>
      <p:sp>
        <p:nvSpPr>
          <p:cNvPr id="61" name="Text 59"/>
          <p:cNvSpPr/>
          <p:nvPr/>
        </p:nvSpPr>
        <p:spPr>
          <a:xfrm>
            <a:off x="10131552" y="5303520"/>
            <a:ext cx="1600200" cy="566928"/>
          </a:xfrm>
          <a:prstGeom prst="rect">
            <a:avLst/>
          </a:prstGeom>
          <a:noFill/>
          <a:ln/>
        </p:spPr>
        <p:txBody>
          <a:bodyPr wrap="square" rtlCol="0" anchor="ctr"/>
          <a:lstStyle/>
          <a:p>
            <a:pPr algn="r" indent="0" marL="0">
              <a:buNone/>
            </a:pPr>
            <a:r>
              <a:rPr lang="en-US" sz="950" dirty="0">
                <a:solidFill>
                  <a:srgbClr val="4B5563"/>
                </a:solidFill>
                <a:latin typeface="Calibri" pitchFamily="34" charset="0"/>
                <a:ea typeface="Calibri" pitchFamily="34" charset="-122"/>
                <a:cs typeface="Calibri" pitchFamily="34" charset="-120"/>
              </a:rPr>
              <a:t>13.9% · n=10,501</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Winning Style Cheat-Sheet — What to Do More Of</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9" name="Text 7"/>
          <p:cNvSpPr/>
          <p:nvPr/>
        </p:nvSpPr>
        <p:spPr>
          <a:xfrm>
            <a:off x="457200" y="1188720"/>
            <a:ext cx="11274552" cy="365760"/>
          </a:xfrm>
          <a:prstGeom prst="rect">
            <a:avLst/>
          </a:prstGeom>
          <a:noFill/>
          <a:ln/>
        </p:spPr>
        <p:txBody>
          <a:bodyPr wrap="square"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Quick reference: the best-performing option in each dimension, ranked by reply rate (n ≥ 20 preferred). The full breakdown of every option — with real examples — follows in the next section.</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536192"/>
          <a:ext cx="11274552" cy="914400"/>
        </p:xfrm>
        <a:graphic>
          <a:graphicData uri="http://schemas.openxmlformats.org/drawingml/2006/table">
            <a:tbl>
              <a:tblPr/>
              <a:tblGrid>
                <a:gridCol w="2377440"/>
                <a:gridCol w="3657600"/>
                <a:gridCol w="1508760"/>
                <a:gridCol w="1508760"/>
                <a:gridCol w="1508760"/>
                <a:gridCol w="713232"/>
              </a:tblGrid>
              <a:tr h="365760">
                <a:tc>
                  <a:txBody>
                    <a:bodyPr/>
                    <a:lstStyle/>
                    <a:p>
                      <a:pPr algn="l" indent="0" marL="0">
                        <a:buNone/>
                      </a:pPr>
                      <a:r>
                        <a:rPr lang="en-US" sz="1050" b="1" dirty="0">
                          <a:solidFill>
                            <a:srgbClr val="FFFFFF"/>
                          </a:solidFill>
                        </a:rPr>
                        <a:t>Dimension</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l" indent="0" marL="0">
                        <a:buNone/>
                      </a:pPr>
                      <a:r>
                        <a:rPr lang="en-US" sz="1050" b="1" dirty="0">
                          <a:solidFill>
                            <a:srgbClr val="FFFFFF"/>
                          </a:solidFill>
                        </a:rPr>
                        <a:t>Best-performing option</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1050" b="1" dirty="0">
                          <a:solidFill>
                            <a:srgbClr val="FFFFFF"/>
                          </a:solidFill>
                        </a:rPr>
                        <a:t>Connect</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1050" b="1" dirty="0">
                          <a:solidFill>
                            <a:srgbClr val="FFFFFF"/>
                          </a:solidFill>
                        </a:rPr>
                        <a:t>Reply</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1050" b="1" dirty="0">
                          <a:solidFill>
                            <a:srgbClr val="FFFFFF"/>
                          </a:solidFill>
                        </a:rPr>
                        <a:t>Meeting</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1050" b="1" dirty="0">
                          <a:solidFill>
                            <a:srgbClr val="FFFFFF"/>
                          </a:solidFill>
                        </a:rPr>
                        <a:t>n</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r>
              <a:tr h="365760">
                <a:tc>
                  <a:txBody>
                    <a:bodyPr/>
                    <a:lstStyle/>
                    <a:p>
                      <a:pPr algn="l" indent="0" marL="0">
                        <a:buNone/>
                      </a:pPr>
                      <a:r>
                        <a:rPr lang="en-US" sz="1050" b="1" dirty="0">
                          <a:solidFill>
                            <a:srgbClr val="1F2937"/>
                          </a:solidFill>
                        </a:rPr>
                        <a:t>Tone</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rPr>
                        <a:t>Generic</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16.8%</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77B5"/>
                          </a:solidFill>
                        </a:rPr>
                        <a:t>6.9%</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2.95%</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B7280"/>
                          </a:solidFill>
                        </a:rPr>
                        <a:t>1,290</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1F2937"/>
                          </a:solidFill>
                        </a:rPr>
                        <a:t>Hook</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l" indent="0" marL="0">
                        <a:buNone/>
                      </a:pPr>
                      <a:r>
                        <a:rPr lang="en-US" sz="1050" dirty="0">
                          <a:solidFill>
                            <a:srgbClr val="1F2937"/>
                          </a:solidFill>
                        </a:rPr>
                        <a:t>Post Reaction</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1F2937"/>
                          </a:solidFill>
                        </a:rPr>
                        <a:t>32.5%</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0077B5"/>
                          </a:solidFill>
                        </a:rPr>
                        <a:t>7.7%</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1F2937"/>
                          </a:solidFill>
                        </a:rPr>
                        <a:t>1.44%</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6B7280"/>
                          </a:solidFill>
                        </a:rPr>
                        <a:t>10,208</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365760">
                <a:tc>
                  <a:txBody>
                    <a:bodyPr/>
                    <a:lstStyle/>
                    <a:p>
                      <a:pPr algn="l" indent="0" marL="0">
                        <a:buNone/>
                      </a:pPr>
                      <a:r>
                        <a:rPr lang="en-US" sz="1050" b="1" dirty="0">
                          <a:solidFill>
                            <a:srgbClr val="1F2937"/>
                          </a:solidFill>
                        </a:rPr>
                        <a:t>Reason to Connect</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rPr>
                        <a:t>Unclear</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8.0%</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77B5"/>
                          </a:solidFill>
                        </a:rPr>
                        <a:t>62.0%</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50.00%</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B7280"/>
                          </a:solidFill>
                        </a:rPr>
                        <a:t>50</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1F2937"/>
                          </a:solidFill>
                        </a:rPr>
                        <a:t>Opening Line</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l" indent="0" marL="0">
                        <a:buNone/>
                      </a:pPr>
                      <a:r>
                        <a:rPr lang="en-US" sz="1050" dirty="0">
                          <a:solidFill>
                            <a:srgbClr val="1F2937"/>
                          </a:solidFill>
                        </a:rPr>
                        <a:t>Question</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1F2937"/>
                          </a:solidFill>
                        </a:rPr>
                        <a:t>29.6%</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0077B5"/>
                          </a:solidFill>
                        </a:rPr>
                        <a:t>5.9%</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1F2937"/>
                          </a:solidFill>
                        </a:rPr>
                        <a:t>2.96%</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6B7280"/>
                          </a:solidFill>
                        </a:rPr>
                        <a:t>169</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365760">
                <a:tc>
                  <a:txBody>
                    <a:bodyPr/>
                    <a:lstStyle/>
                    <a:p>
                      <a:pPr algn="l" indent="0" marL="0">
                        <a:buNone/>
                      </a:pPr>
                      <a:r>
                        <a:rPr lang="en-US" sz="1050" b="1" dirty="0">
                          <a:solidFill>
                            <a:srgbClr val="1F2937"/>
                          </a:solidFill>
                        </a:rPr>
                        <a:t>Question Type</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rPr>
                        <a:t>About Meeting</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17.1%</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77B5"/>
                          </a:solidFill>
                        </a:rPr>
                        <a:t>4.3%</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2.17%</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B7280"/>
                          </a:solidFill>
                        </a:rPr>
                        <a:t>2,163</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1F2937"/>
                          </a:solidFill>
                        </a:rPr>
                        <a:t>Personal Sharing</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l" indent="0" marL="0">
                        <a:buNone/>
                      </a:pPr>
                      <a:r>
                        <a:rPr lang="en-US" sz="1050" dirty="0">
                          <a:solidFill>
                            <a:srgbClr val="1F2937"/>
                          </a:solidFill>
                        </a:rPr>
                        <a:t>Generic</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1F2937"/>
                          </a:solidFill>
                        </a:rPr>
                        <a:t>23.6%</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0077B5"/>
                          </a:solidFill>
                        </a:rPr>
                        <a:t>8.6%</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1F2937"/>
                          </a:solidFill>
                        </a:rPr>
                        <a:t>1.77%</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6B7280"/>
                          </a:solidFill>
                        </a:rPr>
                        <a:t>793</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365760">
                <a:tc>
                  <a:txBody>
                    <a:bodyPr/>
                    <a:lstStyle/>
                    <a:p>
                      <a:pPr algn="l" indent="0" marL="0">
                        <a:buNone/>
                      </a:pPr>
                      <a:r>
                        <a:rPr lang="en-US" sz="1050" b="1" dirty="0">
                          <a:solidFill>
                            <a:srgbClr val="1F2937"/>
                          </a:solidFill>
                        </a:rPr>
                        <a:t>Connect-Ask Phrasing</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rPr>
                        <a:t>No connect ask</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22.0%</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77B5"/>
                          </a:solidFill>
                        </a:rPr>
                        <a:t>4.8%</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1.04%</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B7280"/>
                          </a:solidFill>
                        </a:rPr>
                        <a:t>25,153</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1F2937"/>
                          </a:solidFill>
                        </a:rPr>
                        <a:t>Message Length</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l" indent="0" marL="0">
                        <a:buNone/>
                      </a:pPr>
                      <a:r>
                        <a:rPr lang="en-US" sz="1050" dirty="0">
                          <a:solidFill>
                            <a:srgbClr val="1F2937"/>
                          </a:solidFill>
                        </a:rPr>
                        <a:t>226-250</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1F2937"/>
                          </a:solidFill>
                        </a:rPr>
                        <a:t>16.3%</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0077B5"/>
                          </a:solidFill>
                        </a:rPr>
                        <a:t>46.9%</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1F2937"/>
                          </a:solidFill>
                        </a:rPr>
                        <a:t>16.33%</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6B7280"/>
                          </a:solidFill>
                        </a:rPr>
                        <a:t>49</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365760">
                <a:tc>
                  <a:txBody>
                    <a:bodyPr/>
                    <a:lstStyle/>
                    <a:p>
                      <a:pPr algn="l" indent="0" marL="0">
                        <a:buNone/>
                      </a:pPr>
                      <a:r>
                        <a:rPr lang="en-US" sz="1050" b="1" dirty="0">
                          <a:solidFill>
                            <a:srgbClr val="1F2937"/>
                          </a:solidFill>
                        </a:rPr>
                        <a:t>Exclamation Marks</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rPr>
                        <a:t>One</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22.5%</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77B5"/>
                          </a:solidFill>
                        </a:rPr>
                        <a:t>6.3%</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1.63%</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B7280"/>
                          </a:solidFill>
                        </a:rPr>
                        <a:t>2,640</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365760">
                <a:tc>
                  <a:txBody>
                    <a:bodyPr/>
                    <a:lstStyle/>
                    <a:p>
                      <a:pPr algn="l" indent="0" marL="0">
                        <a:buNone/>
                      </a:pPr>
                      <a:r>
                        <a:rPr lang="en-US" sz="1050" b="1" dirty="0">
                          <a:solidFill>
                            <a:srgbClr val="1F2937"/>
                          </a:solidFill>
                        </a:rPr>
                        <a:t>Emoji Use</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l" indent="0" marL="0">
                        <a:buNone/>
                      </a:pPr>
                      <a:r>
                        <a:rPr lang="en-US" sz="1050" dirty="0">
                          <a:solidFill>
                            <a:srgbClr val="1F2937"/>
                          </a:solidFill>
                        </a:rPr>
                        <a:t>None</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1F2937"/>
                          </a:solidFill>
                        </a:rPr>
                        <a:t>20.8%</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b="1" dirty="0">
                          <a:solidFill>
                            <a:srgbClr val="0077B5"/>
                          </a:solidFill>
                        </a:rPr>
                        <a:t>4.1%</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1F2937"/>
                          </a:solidFill>
                        </a:rPr>
                        <a:t>0.92%</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1050" dirty="0">
                          <a:solidFill>
                            <a:srgbClr val="6B7280"/>
                          </a:solidFill>
                        </a:rPr>
                        <a:t>39,718</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r>
              <a:tr h="365760">
                <a:tc>
                  <a:txBody>
                    <a:bodyPr/>
                    <a:lstStyle/>
                    <a:p>
                      <a:pPr algn="l" indent="0" marL="0">
                        <a:buNone/>
                      </a:pPr>
                      <a:r>
                        <a:rPr lang="en-US" sz="1050" b="1" dirty="0">
                          <a:solidFill>
                            <a:srgbClr val="1F2937"/>
                          </a:solidFill>
                        </a:rPr>
                        <a:t>Abbreviations</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F2937"/>
                          </a:solidFill>
                        </a:rPr>
                        <a:t>No abbreviations</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20.9%</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077B5"/>
                          </a:solidFill>
                        </a:rPr>
                        <a:t>4.1%</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2937"/>
                          </a:solidFill>
                        </a:rPr>
                        <a:t>0.92%</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6B7280"/>
                          </a:solidFill>
                        </a:rPr>
                        <a:t>39,373</a:t>
                      </a:r>
                      <a:endParaRPr lang="en-US" sz="10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3200400"/>
            <a:ext cx="12188952" cy="54864"/>
          </a:xfrm>
          <a:prstGeom prst="rect">
            <a:avLst/>
          </a:prstGeom>
          <a:solidFill>
            <a:srgbClr val="0077B5"/>
          </a:solidFill>
          <a:ln/>
        </p:spPr>
      </p:sp>
      <p:sp>
        <p:nvSpPr>
          <p:cNvPr id="3" name="Text 1"/>
          <p:cNvSpPr/>
          <p:nvPr/>
        </p:nvSpPr>
        <p:spPr>
          <a:xfrm>
            <a:off x="731520" y="2606040"/>
            <a:ext cx="10698480" cy="548640"/>
          </a:xfrm>
          <a:prstGeom prst="rect">
            <a:avLst/>
          </a:prstGeom>
          <a:noFill/>
          <a:ln/>
        </p:spPr>
        <p:txBody>
          <a:bodyPr wrap="square" rtlCol="0" anchor="ctr">
            <a:normAutofit/>
          </a:bodyPr>
          <a:lstStyle/>
          <a:p>
            <a:pPr indent="0" marL="0">
              <a:buNone/>
            </a:pPr>
            <a:r>
              <a:rPr lang="en-US" sz="3000" b="1" dirty="0">
                <a:solidFill>
                  <a:srgbClr val="FFFFFF"/>
                </a:solidFill>
                <a:latin typeface="Calibri" pitchFamily="34" charset="0"/>
                <a:ea typeface="Calibri" pitchFamily="34" charset="-122"/>
                <a:cs typeface="Calibri" pitchFamily="34" charset="-120"/>
              </a:rPr>
              <a:t>Message Craft — What to Say</a:t>
            </a:r>
            <a:endParaRPr lang="en-US" sz="3000" dirty="0"/>
          </a:p>
        </p:txBody>
      </p:sp>
      <p:sp>
        <p:nvSpPr>
          <p:cNvPr id="4" name="Text 2"/>
          <p:cNvSpPr/>
          <p:nvPr/>
        </p:nvSpPr>
        <p:spPr>
          <a:xfrm>
            <a:off x="731520" y="3383280"/>
            <a:ext cx="10698480" cy="45720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Tone, hooks, phrasing, and formatting choices that move reply and meeting rates.</a:t>
            </a:r>
            <a:endParaRPr lang="en-US" sz="1400" dirty="0"/>
          </a:p>
        </p:txBody>
      </p:sp>
      <p:sp>
        <p:nvSpPr>
          <p:cNvPr id="5" name="Text 3"/>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6" name="Text 4"/>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Reason for Connecting</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Unclear</a:t>
            </a:r>
            <a:endParaRPr lang="en-US" sz="950" dirty="0"/>
          </a:p>
        </p:txBody>
      </p:sp>
      <p:sp>
        <p:nvSpPr>
          <p:cNvPr id="10" name="Shape 8"/>
          <p:cNvSpPr/>
          <p:nvPr/>
        </p:nvSpPr>
        <p:spPr>
          <a:xfrm>
            <a:off x="2377440" y="1491626"/>
            <a:ext cx="2697480" cy="52557"/>
          </a:xfrm>
          <a:prstGeom prst="roundRect">
            <a:avLst>
              <a:gd name="adj" fmla="val 695930"/>
            </a:avLst>
          </a:prstGeom>
          <a:solidFill>
            <a:srgbClr val="F1F5F9"/>
          </a:solidFill>
          <a:ln/>
        </p:spPr>
      </p:sp>
      <p:sp>
        <p:nvSpPr>
          <p:cNvPr id="11" name="Shape 9"/>
          <p:cNvSpPr/>
          <p:nvPr/>
        </p:nvSpPr>
        <p:spPr>
          <a:xfrm>
            <a:off x="2377440" y="1491626"/>
            <a:ext cx="2697480" cy="52557"/>
          </a:xfrm>
          <a:prstGeom prst="roundRect">
            <a:avLst>
              <a:gd name="adj" fmla="val 695930"/>
            </a:avLst>
          </a:prstGeom>
          <a:solidFill>
            <a:srgbClr val="10B981"/>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62.0% reply · n=50</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Referral</a:t>
            </a:r>
            <a:endParaRPr lang="en-US" sz="950" dirty="0"/>
          </a:p>
        </p:txBody>
      </p:sp>
      <p:sp>
        <p:nvSpPr>
          <p:cNvPr id="14" name="Shape 12"/>
          <p:cNvSpPr/>
          <p:nvPr/>
        </p:nvSpPr>
        <p:spPr>
          <a:xfrm>
            <a:off x="2377440" y="2059280"/>
            <a:ext cx="2697480" cy="51103"/>
          </a:xfrm>
          <a:prstGeom prst="roundRect">
            <a:avLst>
              <a:gd name="adj" fmla="val 715731"/>
            </a:avLst>
          </a:prstGeom>
          <a:solidFill>
            <a:srgbClr val="F1F5F9"/>
          </a:solidFill>
          <a:ln/>
        </p:spPr>
      </p:sp>
      <p:sp>
        <p:nvSpPr>
          <p:cNvPr id="15" name="Shape 13"/>
          <p:cNvSpPr/>
          <p:nvPr/>
        </p:nvSpPr>
        <p:spPr>
          <a:xfrm>
            <a:off x="2377440" y="2059280"/>
            <a:ext cx="1122500" cy="51103"/>
          </a:xfrm>
          <a:prstGeom prst="roundRect">
            <a:avLst>
              <a:gd name="adj" fmla="val 715731"/>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25.8% reply · n=31</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Reacting To Content</a:t>
            </a:r>
            <a:endParaRPr lang="en-US" sz="950" dirty="0"/>
          </a:p>
        </p:txBody>
      </p:sp>
      <p:sp>
        <p:nvSpPr>
          <p:cNvPr id="18" name="Shape 16"/>
          <p:cNvSpPr/>
          <p:nvPr/>
        </p:nvSpPr>
        <p:spPr>
          <a:xfrm>
            <a:off x="2377440" y="2574036"/>
            <a:ext cx="2697480" cy="155448"/>
          </a:xfrm>
          <a:prstGeom prst="roundRect">
            <a:avLst>
              <a:gd name="adj" fmla="val 235294"/>
            </a:avLst>
          </a:prstGeom>
          <a:solidFill>
            <a:srgbClr val="F1F5F9"/>
          </a:solidFill>
          <a:ln/>
        </p:spPr>
      </p:sp>
      <p:sp>
        <p:nvSpPr>
          <p:cNvPr id="19" name="Shape 17"/>
          <p:cNvSpPr/>
          <p:nvPr/>
        </p:nvSpPr>
        <p:spPr>
          <a:xfrm>
            <a:off x="2377440" y="2574036"/>
            <a:ext cx="274099" cy="155448"/>
          </a:xfrm>
          <a:prstGeom prst="roundRect">
            <a:avLst>
              <a:gd name="adj" fmla="val 235294"/>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6.3% reply · n=12,880</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Congratulations</a:t>
            </a:r>
            <a:endParaRPr lang="en-US" sz="950" dirty="0"/>
          </a:p>
        </p:txBody>
      </p:sp>
      <p:sp>
        <p:nvSpPr>
          <p:cNvPr id="22" name="Shape 20"/>
          <p:cNvSpPr/>
          <p:nvPr/>
        </p:nvSpPr>
        <p:spPr>
          <a:xfrm>
            <a:off x="2377440" y="3167126"/>
            <a:ext cx="2697480" cy="103124"/>
          </a:xfrm>
          <a:prstGeom prst="roundRect">
            <a:avLst>
              <a:gd name="adj" fmla="val 354680"/>
            </a:avLst>
          </a:prstGeom>
          <a:solidFill>
            <a:srgbClr val="F1F5F9"/>
          </a:solidFill>
          <a:ln/>
        </p:spPr>
      </p:sp>
      <p:sp>
        <p:nvSpPr>
          <p:cNvPr id="23" name="Shape 21"/>
          <p:cNvSpPr/>
          <p:nvPr/>
        </p:nvSpPr>
        <p:spPr>
          <a:xfrm>
            <a:off x="2377440" y="3167126"/>
            <a:ext cx="187083" cy="103124"/>
          </a:xfrm>
          <a:prstGeom prst="roundRect">
            <a:avLst>
              <a:gd name="adj" fmla="val 354680"/>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4.3% reply · n=3,525</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Mutual Interest</a:t>
            </a:r>
            <a:endParaRPr lang="en-US" sz="950" dirty="0"/>
          </a:p>
        </p:txBody>
      </p:sp>
      <p:sp>
        <p:nvSpPr>
          <p:cNvPr id="26" name="Shape 24"/>
          <p:cNvSpPr/>
          <p:nvPr/>
        </p:nvSpPr>
        <p:spPr>
          <a:xfrm>
            <a:off x="2377440" y="3722157"/>
            <a:ext cx="2697480" cy="126918"/>
          </a:xfrm>
          <a:prstGeom prst="roundRect">
            <a:avLst>
              <a:gd name="adj" fmla="val 288186"/>
            </a:avLst>
          </a:prstGeom>
          <a:solidFill>
            <a:srgbClr val="F1F5F9"/>
          </a:solidFill>
          <a:ln/>
        </p:spPr>
      </p:sp>
      <p:sp>
        <p:nvSpPr>
          <p:cNvPr id="27" name="Shape 25"/>
          <p:cNvSpPr/>
          <p:nvPr/>
        </p:nvSpPr>
        <p:spPr>
          <a:xfrm>
            <a:off x="2377440" y="3722157"/>
            <a:ext cx="126172" cy="126918"/>
          </a:xfrm>
          <a:prstGeom prst="roundRect">
            <a:avLst>
              <a:gd name="adj" fmla="val 289890"/>
            </a:avLst>
          </a:prstGeom>
          <a:solidFill>
            <a:srgbClr val="0077B5"/>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2.9% reply · n=7,053</a:t>
            </a:r>
            <a:endParaRPr lang="en-US" sz="850" dirty="0"/>
          </a:p>
        </p:txBody>
      </p:sp>
      <p:sp>
        <p:nvSpPr>
          <p:cNvPr id="29" name="Text 27"/>
          <p:cNvSpPr/>
          <p:nvPr/>
        </p:nvSpPr>
        <p:spPr>
          <a:xfrm>
            <a:off x="457200" y="406908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Shared Background</a:t>
            </a:r>
            <a:endParaRPr lang="en-US" sz="950" dirty="0"/>
          </a:p>
        </p:txBody>
      </p:sp>
      <p:sp>
        <p:nvSpPr>
          <p:cNvPr id="30" name="Shape 28"/>
          <p:cNvSpPr/>
          <p:nvPr/>
        </p:nvSpPr>
        <p:spPr>
          <a:xfrm>
            <a:off x="2377440" y="4289993"/>
            <a:ext cx="2697480" cy="125102"/>
          </a:xfrm>
          <a:prstGeom prst="roundRect">
            <a:avLst>
              <a:gd name="adj" fmla="val 292369"/>
            </a:avLst>
          </a:prstGeom>
          <a:solidFill>
            <a:srgbClr val="F1F5F9"/>
          </a:solidFill>
          <a:ln/>
        </p:spPr>
      </p:sp>
      <p:sp>
        <p:nvSpPr>
          <p:cNvPr id="31" name="Shape 29"/>
          <p:cNvSpPr/>
          <p:nvPr/>
        </p:nvSpPr>
        <p:spPr>
          <a:xfrm>
            <a:off x="2377440" y="4289993"/>
            <a:ext cx="126172" cy="125102"/>
          </a:xfrm>
          <a:prstGeom prst="roundRect">
            <a:avLst>
              <a:gd name="adj" fmla="val 292369"/>
            </a:avLst>
          </a:prstGeom>
          <a:solidFill>
            <a:srgbClr val="0077B5"/>
          </a:solidFill>
          <a:ln/>
        </p:spPr>
      </p:sp>
      <p:sp>
        <p:nvSpPr>
          <p:cNvPr id="32" name="Text 30"/>
          <p:cNvSpPr/>
          <p:nvPr/>
        </p:nvSpPr>
        <p:spPr>
          <a:xfrm>
            <a:off x="5212080" y="406908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2.9% reply · n=6,741</a:t>
            </a:r>
            <a:endParaRPr lang="en-US" sz="850" dirty="0"/>
          </a:p>
        </p:txBody>
      </p:sp>
      <p:sp>
        <p:nvSpPr>
          <p:cNvPr id="33" name="Text 31"/>
          <p:cNvSpPr/>
          <p:nvPr/>
        </p:nvSpPr>
        <p:spPr>
          <a:xfrm>
            <a:off x="457200" y="463600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Direct Value Prop</a:t>
            </a:r>
            <a:endParaRPr lang="en-US" sz="950" dirty="0"/>
          </a:p>
        </p:txBody>
      </p:sp>
      <p:sp>
        <p:nvSpPr>
          <p:cNvPr id="34" name="Shape 32"/>
          <p:cNvSpPr/>
          <p:nvPr/>
        </p:nvSpPr>
        <p:spPr>
          <a:xfrm>
            <a:off x="2377440" y="4854526"/>
            <a:ext cx="2697480" cy="129892"/>
          </a:xfrm>
          <a:prstGeom prst="roundRect">
            <a:avLst>
              <a:gd name="adj" fmla="val 281588"/>
            </a:avLst>
          </a:prstGeom>
          <a:solidFill>
            <a:srgbClr val="F1F5F9"/>
          </a:solidFill>
          <a:ln/>
        </p:spPr>
      </p:sp>
      <p:sp>
        <p:nvSpPr>
          <p:cNvPr id="35" name="Shape 33"/>
          <p:cNvSpPr/>
          <p:nvPr/>
        </p:nvSpPr>
        <p:spPr>
          <a:xfrm>
            <a:off x="2377440" y="4854526"/>
            <a:ext cx="87015" cy="129892"/>
          </a:xfrm>
          <a:prstGeom prst="roundRect">
            <a:avLst>
              <a:gd name="adj" fmla="val 420341"/>
            </a:avLst>
          </a:prstGeom>
          <a:solidFill>
            <a:srgbClr val="0077B5"/>
          </a:solidFill>
          <a:ln/>
        </p:spPr>
      </p:sp>
      <p:sp>
        <p:nvSpPr>
          <p:cNvPr id="36" name="Text 34"/>
          <p:cNvSpPr/>
          <p:nvPr/>
        </p:nvSpPr>
        <p:spPr>
          <a:xfrm>
            <a:off x="5212080" y="463600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2.0% reply · n=7,579</a:t>
            </a:r>
            <a:endParaRPr lang="en-US" sz="850" dirty="0"/>
          </a:p>
        </p:txBody>
      </p:sp>
      <p:sp>
        <p:nvSpPr>
          <p:cNvPr id="37" name="Text 35"/>
          <p:cNvSpPr/>
          <p:nvPr/>
        </p:nvSpPr>
        <p:spPr>
          <a:xfrm>
            <a:off x="457200" y="520293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Curiosity Question</a:t>
            </a:r>
            <a:endParaRPr lang="en-US" sz="950" dirty="0"/>
          </a:p>
        </p:txBody>
      </p:sp>
      <p:sp>
        <p:nvSpPr>
          <p:cNvPr id="38" name="Shape 36"/>
          <p:cNvSpPr/>
          <p:nvPr/>
        </p:nvSpPr>
        <p:spPr>
          <a:xfrm>
            <a:off x="2377440" y="5448360"/>
            <a:ext cx="2697480" cy="76080"/>
          </a:xfrm>
          <a:prstGeom prst="roundRect">
            <a:avLst>
              <a:gd name="adj" fmla="val 480757"/>
            </a:avLst>
          </a:prstGeom>
          <a:solidFill>
            <a:srgbClr val="F1F5F9"/>
          </a:solidFill>
          <a:ln/>
        </p:spPr>
      </p:sp>
      <p:sp>
        <p:nvSpPr>
          <p:cNvPr id="39" name="Shape 37"/>
          <p:cNvSpPr/>
          <p:nvPr/>
        </p:nvSpPr>
        <p:spPr>
          <a:xfrm>
            <a:off x="2377440" y="5448360"/>
            <a:ext cx="65262" cy="76080"/>
          </a:xfrm>
          <a:prstGeom prst="roundRect">
            <a:avLst>
              <a:gd name="adj" fmla="val 560449"/>
            </a:avLst>
          </a:prstGeom>
          <a:solidFill>
            <a:srgbClr val="0077B5"/>
          </a:solidFill>
          <a:ln/>
        </p:spPr>
      </p:sp>
      <p:sp>
        <p:nvSpPr>
          <p:cNvPr id="40" name="Text 38"/>
          <p:cNvSpPr/>
          <p:nvPr/>
        </p:nvSpPr>
        <p:spPr>
          <a:xfrm>
            <a:off x="5212080" y="520293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1.5% reply · n=986</a:t>
            </a:r>
            <a:endParaRPr lang="en-US" sz="850" dirty="0"/>
          </a:p>
        </p:txBody>
      </p:sp>
      <p:sp>
        <p:nvSpPr>
          <p:cNvPr id="41" name="Text 39"/>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42" name="Shape 40"/>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43" name="Text 41"/>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44" name="Text 42"/>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Nevin Ramanujan</a:t>
            </a:r>
            <a:endParaRPr lang="en-US" sz="1500" dirty="0"/>
          </a:p>
        </p:txBody>
      </p:sp>
      <p:sp>
        <p:nvSpPr>
          <p:cNvPr id="45" name="Text 43"/>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General Partner @ InnovateHealth Ventures</a:t>
            </a:r>
            <a:endParaRPr lang="en-US" sz="1100" dirty="0"/>
          </a:p>
        </p:txBody>
      </p:sp>
      <p:sp>
        <p:nvSpPr>
          <p:cNvPr id="46" name="Text 44"/>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Hi Nevin, happy to chat sometime.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Opening Hook</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Post Reaction</a:t>
            </a:r>
            <a:endParaRPr lang="en-US" sz="950" dirty="0"/>
          </a:p>
        </p:txBody>
      </p:sp>
      <p:sp>
        <p:nvSpPr>
          <p:cNvPr id="10" name="Shape 8"/>
          <p:cNvSpPr/>
          <p:nvPr/>
        </p:nvSpPr>
        <p:spPr>
          <a:xfrm>
            <a:off x="2377440" y="1444830"/>
            <a:ext cx="2697480" cy="146149"/>
          </a:xfrm>
          <a:prstGeom prst="roundRect">
            <a:avLst>
              <a:gd name="adj" fmla="val 250265"/>
            </a:avLst>
          </a:prstGeom>
          <a:solidFill>
            <a:srgbClr val="F1F5F9"/>
          </a:solidFill>
          <a:ln/>
        </p:spPr>
      </p:sp>
      <p:sp>
        <p:nvSpPr>
          <p:cNvPr id="11" name="Shape 9"/>
          <p:cNvSpPr/>
          <p:nvPr/>
        </p:nvSpPr>
        <p:spPr>
          <a:xfrm>
            <a:off x="2377440" y="1444830"/>
            <a:ext cx="2697480" cy="146149"/>
          </a:xfrm>
          <a:prstGeom prst="roundRect">
            <a:avLst>
              <a:gd name="adj" fmla="val 250265"/>
            </a:avLst>
          </a:prstGeom>
          <a:solidFill>
            <a:srgbClr val="10B981"/>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7.7% reply · n=10,208</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Generic Intro</a:t>
            </a:r>
            <a:endParaRPr lang="en-US" sz="950" dirty="0"/>
          </a:p>
        </p:txBody>
      </p:sp>
      <p:sp>
        <p:nvSpPr>
          <p:cNvPr id="14" name="Shape 12"/>
          <p:cNvSpPr/>
          <p:nvPr/>
        </p:nvSpPr>
        <p:spPr>
          <a:xfrm>
            <a:off x="2377440" y="2045228"/>
            <a:ext cx="2697480" cy="79208"/>
          </a:xfrm>
          <a:prstGeom prst="roundRect">
            <a:avLst>
              <a:gd name="adj" fmla="val 461772"/>
            </a:avLst>
          </a:prstGeom>
          <a:solidFill>
            <a:srgbClr val="F1F5F9"/>
          </a:solidFill>
          <a:ln/>
        </p:spPr>
      </p:sp>
      <p:sp>
        <p:nvSpPr>
          <p:cNvPr id="15" name="Shape 13"/>
          <p:cNvSpPr/>
          <p:nvPr/>
        </p:nvSpPr>
        <p:spPr>
          <a:xfrm>
            <a:off x="2377440" y="2045228"/>
            <a:ext cx="2662448" cy="79208"/>
          </a:xfrm>
          <a:prstGeom prst="roundRect">
            <a:avLst>
              <a:gd name="adj" fmla="val 461772"/>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7.6% reply · n=1,135</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Event Conference</a:t>
            </a:r>
            <a:endParaRPr lang="en-US" sz="950" dirty="0"/>
          </a:p>
        </p:txBody>
      </p:sp>
      <p:sp>
        <p:nvSpPr>
          <p:cNvPr id="18" name="Shape 16"/>
          <p:cNvSpPr/>
          <p:nvPr/>
        </p:nvSpPr>
        <p:spPr>
          <a:xfrm>
            <a:off x="2377440" y="2599142"/>
            <a:ext cx="2697480" cy="105236"/>
          </a:xfrm>
          <a:prstGeom prst="roundRect">
            <a:avLst>
              <a:gd name="adj" fmla="val 347562"/>
            </a:avLst>
          </a:prstGeom>
          <a:solidFill>
            <a:srgbClr val="F1F5F9"/>
          </a:solidFill>
          <a:ln/>
        </p:spPr>
      </p:sp>
      <p:sp>
        <p:nvSpPr>
          <p:cNvPr id="19" name="Shape 17"/>
          <p:cNvSpPr/>
          <p:nvPr/>
        </p:nvSpPr>
        <p:spPr>
          <a:xfrm>
            <a:off x="2377440" y="2599142"/>
            <a:ext cx="1226127" cy="105236"/>
          </a:xfrm>
          <a:prstGeom prst="roundRect">
            <a:avLst>
              <a:gd name="adj" fmla="val 347562"/>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3.5% reply · n=3,585</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Shared Interest</a:t>
            </a:r>
            <a:endParaRPr lang="en-US" sz="950" dirty="0"/>
          </a:p>
        </p:txBody>
      </p:sp>
      <p:sp>
        <p:nvSpPr>
          <p:cNvPr id="22" name="Shape 20"/>
          <p:cNvSpPr/>
          <p:nvPr/>
        </p:nvSpPr>
        <p:spPr>
          <a:xfrm>
            <a:off x="2377440" y="3159537"/>
            <a:ext cx="2697480" cy="118303"/>
          </a:xfrm>
          <a:prstGeom prst="roundRect">
            <a:avLst>
              <a:gd name="adj" fmla="val 309172"/>
            </a:avLst>
          </a:prstGeom>
          <a:solidFill>
            <a:srgbClr val="F1F5F9"/>
          </a:solidFill>
          <a:ln/>
        </p:spPr>
      </p:sp>
      <p:sp>
        <p:nvSpPr>
          <p:cNvPr id="23" name="Shape 21"/>
          <p:cNvSpPr/>
          <p:nvPr/>
        </p:nvSpPr>
        <p:spPr>
          <a:xfrm>
            <a:off x="2377440" y="3159537"/>
            <a:ext cx="945870" cy="118303"/>
          </a:xfrm>
          <a:prstGeom prst="roundRect">
            <a:avLst>
              <a:gd name="adj" fmla="val 309172"/>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2.7% reply · n=5,332</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News Award</a:t>
            </a:r>
            <a:endParaRPr lang="en-US" sz="950" dirty="0"/>
          </a:p>
        </p:txBody>
      </p:sp>
      <p:sp>
        <p:nvSpPr>
          <p:cNvPr id="26" name="Shape 24"/>
          <p:cNvSpPr/>
          <p:nvPr/>
        </p:nvSpPr>
        <p:spPr>
          <a:xfrm>
            <a:off x="2377440" y="3725286"/>
            <a:ext cx="2697480" cy="120660"/>
          </a:xfrm>
          <a:prstGeom prst="roundRect">
            <a:avLst>
              <a:gd name="adj" fmla="val 303133"/>
            </a:avLst>
          </a:prstGeom>
          <a:solidFill>
            <a:srgbClr val="F1F5F9"/>
          </a:solidFill>
          <a:ln/>
        </p:spPr>
      </p:sp>
      <p:sp>
        <p:nvSpPr>
          <p:cNvPr id="27" name="Shape 25"/>
          <p:cNvSpPr/>
          <p:nvPr/>
        </p:nvSpPr>
        <p:spPr>
          <a:xfrm>
            <a:off x="2377440" y="3725286"/>
            <a:ext cx="805741" cy="120660"/>
          </a:xfrm>
          <a:prstGeom prst="roundRect">
            <a:avLst>
              <a:gd name="adj" fmla="val 303133"/>
            </a:avLst>
          </a:prstGeom>
          <a:solidFill>
            <a:srgbClr val="0077B5"/>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2.3% reply · n=5,684</a:t>
            </a:r>
            <a:endParaRPr lang="en-US" sz="850" dirty="0"/>
          </a:p>
        </p:txBody>
      </p:sp>
      <p:sp>
        <p:nvSpPr>
          <p:cNvPr id="29" name="Text 27"/>
          <p:cNvSpPr/>
          <p:nvPr/>
        </p:nvSpPr>
        <p:spPr>
          <a:xfrm>
            <a:off x="457200" y="406908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Personal Compliment</a:t>
            </a:r>
            <a:endParaRPr lang="en-US" sz="950" dirty="0"/>
          </a:p>
        </p:txBody>
      </p:sp>
      <p:sp>
        <p:nvSpPr>
          <p:cNvPr id="30" name="Shape 28"/>
          <p:cNvSpPr/>
          <p:nvPr/>
        </p:nvSpPr>
        <p:spPr>
          <a:xfrm>
            <a:off x="2377440" y="4274820"/>
            <a:ext cx="2697480" cy="155448"/>
          </a:xfrm>
          <a:prstGeom prst="roundRect">
            <a:avLst>
              <a:gd name="adj" fmla="val 235294"/>
            </a:avLst>
          </a:prstGeom>
          <a:solidFill>
            <a:srgbClr val="F1F5F9"/>
          </a:solidFill>
          <a:ln/>
        </p:spPr>
      </p:sp>
      <p:sp>
        <p:nvSpPr>
          <p:cNvPr id="31" name="Shape 29"/>
          <p:cNvSpPr/>
          <p:nvPr/>
        </p:nvSpPr>
        <p:spPr>
          <a:xfrm>
            <a:off x="2377440" y="4274820"/>
            <a:ext cx="805741" cy="155448"/>
          </a:xfrm>
          <a:prstGeom prst="roundRect">
            <a:avLst>
              <a:gd name="adj" fmla="val 235294"/>
            </a:avLst>
          </a:prstGeom>
          <a:solidFill>
            <a:srgbClr val="0077B5"/>
          </a:solidFill>
          <a:ln/>
        </p:spPr>
      </p:sp>
      <p:sp>
        <p:nvSpPr>
          <p:cNvPr id="32" name="Text 30"/>
          <p:cNvSpPr/>
          <p:nvPr/>
        </p:nvSpPr>
        <p:spPr>
          <a:xfrm>
            <a:off x="5212080" y="406908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2.3% reply · n=12,186</a:t>
            </a:r>
            <a:endParaRPr lang="en-US" sz="850" dirty="0"/>
          </a:p>
        </p:txBody>
      </p:sp>
      <p:sp>
        <p:nvSpPr>
          <p:cNvPr id="33" name="Text 31"/>
          <p:cNvSpPr/>
          <p:nvPr/>
        </p:nvSpPr>
        <p:spPr>
          <a:xfrm>
            <a:off x="457200" y="463600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Other</a:t>
            </a:r>
            <a:endParaRPr lang="en-US" sz="950" dirty="0"/>
          </a:p>
        </p:txBody>
      </p:sp>
      <p:sp>
        <p:nvSpPr>
          <p:cNvPr id="34" name="Shape 32"/>
          <p:cNvSpPr/>
          <p:nvPr/>
        </p:nvSpPr>
        <p:spPr>
          <a:xfrm>
            <a:off x="2377440" y="4888913"/>
            <a:ext cx="2697480" cy="61119"/>
          </a:xfrm>
          <a:prstGeom prst="roundRect">
            <a:avLst>
              <a:gd name="adj" fmla="val 598439"/>
            </a:avLst>
          </a:prstGeom>
          <a:solidFill>
            <a:srgbClr val="F1F5F9"/>
          </a:solidFill>
          <a:ln/>
        </p:spPr>
      </p:sp>
      <p:sp>
        <p:nvSpPr>
          <p:cNvPr id="35" name="Shape 33"/>
          <p:cNvSpPr/>
          <p:nvPr/>
        </p:nvSpPr>
        <p:spPr>
          <a:xfrm>
            <a:off x="2377440" y="4888913"/>
            <a:ext cx="735676" cy="61119"/>
          </a:xfrm>
          <a:prstGeom prst="roundRect">
            <a:avLst>
              <a:gd name="adj" fmla="val 598439"/>
            </a:avLst>
          </a:prstGeom>
          <a:solidFill>
            <a:srgbClr val="0077B5"/>
          </a:solidFill>
          <a:ln/>
        </p:spPr>
      </p:sp>
      <p:sp>
        <p:nvSpPr>
          <p:cNvPr id="36" name="Text 34"/>
          <p:cNvSpPr/>
          <p:nvPr/>
        </p:nvSpPr>
        <p:spPr>
          <a:xfrm>
            <a:off x="5212080" y="463600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2.1% reply · n=240</a:t>
            </a:r>
            <a:endParaRPr lang="en-US" sz="850" dirty="0"/>
          </a:p>
        </p:txBody>
      </p:sp>
      <p:sp>
        <p:nvSpPr>
          <p:cNvPr id="37" name="Text 35"/>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38" name="Shape 36"/>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39" name="Text 37"/>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40" name="Text 38"/>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Apurva Desai</a:t>
            </a:r>
            <a:endParaRPr lang="en-US" sz="1500" dirty="0"/>
          </a:p>
        </p:txBody>
      </p:sp>
      <p:sp>
        <p:nvSpPr>
          <p:cNvPr id="41" name="Text 39"/>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Partner @ Interstate Fusion Ventures</a:t>
            </a:r>
            <a:endParaRPr lang="en-US" sz="1100" dirty="0"/>
          </a:p>
        </p:txBody>
      </p:sp>
      <p:sp>
        <p:nvSpPr>
          <p:cNvPr id="42" name="Text 40"/>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about Dina's milestone - sounds like a big moment for the team you helped build. We're exploring funding partners, would love to connect.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Tone</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Generic</a:t>
            </a:r>
            <a:endParaRPr lang="en-US" sz="950" dirty="0"/>
          </a:p>
        </p:txBody>
      </p:sp>
      <p:sp>
        <p:nvSpPr>
          <p:cNvPr id="10" name="Shape 8"/>
          <p:cNvSpPr/>
          <p:nvPr/>
        </p:nvSpPr>
        <p:spPr>
          <a:xfrm>
            <a:off x="2377440" y="1480677"/>
            <a:ext cx="2697480" cy="74453"/>
          </a:xfrm>
          <a:prstGeom prst="roundRect">
            <a:avLst>
              <a:gd name="adj" fmla="val 491263"/>
            </a:avLst>
          </a:prstGeom>
          <a:solidFill>
            <a:srgbClr val="F1F5F9"/>
          </a:solidFill>
          <a:ln/>
        </p:spPr>
      </p:sp>
      <p:sp>
        <p:nvSpPr>
          <p:cNvPr id="11" name="Shape 9"/>
          <p:cNvSpPr/>
          <p:nvPr/>
        </p:nvSpPr>
        <p:spPr>
          <a:xfrm>
            <a:off x="2377440" y="1480677"/>
            <a:ext cx="2697480" cy="74453"/>
          </a:xfrm>
          <a:prstGeom prst="roundRect">
            <a:avLst>
              <a:gd name="adj" fmla="val 491263"/>
            </a:avLst>
          </a:prstGeom>
          <a:solidFill>
            <a:srgbClr val="10B981"/>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6.9% reply · n=1,290</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Genuine</a:t>
            </a:r>
            <a:endParaRPr lang="en-US" sz="950" dirty="0"/>
          </a:p>
        </p:txBody>
      </p:sp>
      <p:sp>
        <p:nvSpPr>
          <p:cNvPr id="14" name="Shape 12"/>
          <p:cNvSpPr/>
          <p:nvPr/>
        </p:nvSpPr>
        <p:spPr>
          <a:xfrm>
            <a:off x="2377440" y="2007108"/>
            <a:ext cx="2697480" cy="155448"/>
          </a:xfrm>
          <a:prstGeom prst="roundRect">
            <a:avLst>
              <a:gd name="adj" fmla="val 235294"/>
            </a:avLst>
          </a:prstGeom>
          <a:solidFill>
            <a:srgbClr val="F1F5F9"/>
          </a:solidFill>
          <a:ln/>
        </p:spPr>
      </p:sp>
      <p:sp>
        <p:nvSpPr>
          <p:cNvPr id="15" name="Shape 13"/>
          <p:cNvSpPr/>
          <p:nvPr/>
        </p:nvSpPr>
        <p:spPr>
          <a:xfrm>
            <a:off x="2377440" y="2007108"/>
            <a:ext cx="1798320" cy="155448"/>
          </a:xfrm>
          <a:prstGeom prst="roundRect">
            <a:avLst>
              <a:gd name="adj" fmla="val 235294"/>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4.6% reply · n=18,813</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Conversational</a:t>
            </a:r>
            <a:endParaRPr lang="en-US" sz="950" dirty="0"/>
          </a:p>
        </p:txBody>
      </p:sp>
      <p:sp>
        <p:nvSpPr>
          <p:cNvPr id="18" name="Shape 16"/>
          <p:cNvSpPr/>
          <p:nvPr/>
        </p:nvSpPr>
        <p:spPr>
          <a:xfrm>
            <a:off x="2377440" y="2583869"/>
            <a:ext cx="2697480" cy="135783"/>
          </a:xfrm>
          <a:prstGeom prst="roundRect">
            <a:avLst>
              <a:gd name="adj" fmla="val 269371"/>
            </a:avLst>
          </a:prstGeom>
          <a:solidFill>
            <a:srgbClr val="F1F5F9"/>
          </a:solidFill>
          <a:ln/>
        </p:spPr>
      </p:sp>
      <p:sp>
        <p:nvSpPr>
          <p:cNvPr id="19" name="Shape 17"/>
          <p:cNvSpPr/>
          <p:nvPr/>
        </p:nvSpPr>
        <p:spPr>
          <a:xfrm>
            <a:off x="2377440" y="2583869"/>
            <a:ext cx="1524663" cy="135783"/>
          </a:xfrm>
          <a:prstGeom prst="roundRect">
            <a:avLst>
              <a:gd name="adj" fmla="val 269371"/>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3.9% reply · n=12,674</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Salesy</a:t>
            </a:r>
            <a:endParaRPr lang="en-US" sz="950" dirty="0"/>
          </a:p>
        </p:txBody>
      </p:sp>
      <p:sp>
        <p:nvSpPr>
          <p:cNvPr id="22" name="Shape 20"/>
          <p:cNvSpPr/>
          <p:nvPr/>
        </p:nvSpPr>
        <p:spPr>
          <a:xfrm>
            <a:off x="2377440" y="3173222"/>
            <a:ext cx="2697480" cy="90932"/>
          </a:xfrm>
          <a:prstGeom prst="roundRect">
            <a:avLst>
              <a:gd name="adj" fmla="val 402235"/>
            </a:avLst>
          </a:prstGeom>
          <a:solidFill>
            <a:srgbClr val="F1F5F9"/>
          </a:solidFill>
          <a:ln/>
        </p:spPr>
      </p:sp>
      <p:sp>
        <p:nvSpPr>
          <p:cNvPr id="23" name="Shape 21"/>
          <p:cNvSpPr/>
          <p:nvPr/>
        </p:nvSpPr>
        <p:spPr>
          <a:xfrm>
            <a:off x="2377440" y="3173222"/>
            <a:ext cx="977348" cy="90932"/>
          </a:xfrm>
          <a:prstGeom prst="roundRect">
            <a:avLst>
              <a:gd name="adj" fmla="val 402235"/>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2.5% reply · n=3,194</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Flattering</a:t>
            </a:r>
            <a:endParaRPr lang="en-US" sz="950" dirty="0"/>
          </a:p>
        </p:txBody>
      </p:sp>
      <p:sp>
        <p:nvSpPr>
          <p:cNvPr id="26" name="Shape 24"/>
          <p:cNvSpPr/>
          <p:nvPr/>
        </p:nvSpPr>
        <p:spPr>
          <a:xfrm>
            <a:off x="2377440" y="3740669"/>
            <a:ext cx="2697480" cy="89894"/>
          </a:xfrm>
          <a:prstGeom prst="roundRect">
            <a:avLst>
              <a:gd name="adj" fmla="val 406879"/>
            </a:avLst>
          </a:prstGeom>
          <a:solidFill>
            <a:srgbClr val="F1F5F9"/>
          </a:solidFill>
          <a:ln/>
        </p:spPr>
      </p:sp>
      <p:sp>
        <p:nvSpPr>
          <p:cNvPr id="27" name="Shape 25"/>
          <p:cNvSpPr/>
          <p:nvPr/>
        </p:nvSpPr>
        <p:spPr>
          <a:xfrm>
            <a:off x="2377440" y="3740669"/>
            <a:ext cx="469127" cy="89894"/>
          </a:xfrm>
          <a:prstGeom prst="roundRect">
            <a:avLst>
              <a:gd name="adj" fmla="val 406879"/>
            </a:avLst>
          </a:prstGeom>
          <a:solidFill>
            <a:srgbClr val="0077B5"/>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1.2% reply · n=3,049</a:t>
            </a:r>
            <a:endParaRPr lang="en-US" sz="850" dirty="0"/>
          </a:p>
        </p:txBody>
      </p:sp>
      <p:sp>
        <p:nvSpPr>
          <p:cNvPr id="29" name="Text 27"/>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30" name="Shape 28"/>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31" name="Text 29"/>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32" name="Text 30"/>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Samantha Metayer</a:t>
            </a:r>
            <a:endParaRPr lang="en-US" sz="1500" dirty="0"/>
          </a:p>
        </p:txBody>
      </p:sp>
      <p:sp>
        <p:nvSpPr>
          <p:cNvPr id="33" name="Text 31"/>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Vice President Operations, Integra @ Care New England</a:t>
            </a:r>
            <a:endParaRPr lang="en-US" sz="1100" dirty="0"/>
          </a:p>
        </p:txBody>
      </p:sp>
      <p:sp>
        <p:nvSpPr>
          <p:cNvPr id="34" name="Text 32"/>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Hi Samantha, hosting a closed-door summit June 10–12 in Austin on AI in patient access &amp; engagement. Senior health system leaders will attend, no cost, with lodging and meals covered. Interested?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Question Asked</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About Meeting</a:t>
            </a:r>
            <a:endParaRPr lang="en-US" sz="950" dirty="0"/>
          </a:p>
        </p:txBody>
      </p:sp>
      <p:sp>
        <p:nvSpPr>
          <p:cNvPr id="10" name="Shape 8"/>
          <p:cNvSpPr/>
          <p:nvPr/>
        </p:nvSpPr>
        <p:spPr>
          <a:xfrm>
            <a:off x="2377440" y="1480745"/>
            <a:ext cx="2697480" cy="74319"/>
          </a:xfrm>
          <a:prstGeom prst="roundRect">
            <a:avLst>
              <a:gd name="adj" fmla="val 492149"/>
            </a:avLst>
          </a:prstGeom>
          <a:solidFill>
            <a:srgbClr val="F1F5F9"/>
          </a:solidFill>
          <a:ln/>
        </p:spPr>
      </p:sp>
      <p:sp>
        <p:nvSpPr>
          <p:cNvPr id="11" name="Shape 9"/>
          <p:cNvSpPr/>
          <p:nvPr/>
        </p:nvSpPr>
        <p:spPr>
          <a:xfrm>
            <a:off x="2377440" y="1480745"/>
            <a:ext cx="2697480" cy="74319"/>
          </a:xfrm>
          <a:prstGeom prst="roundRect">
            <a:avLst>
              <a:gd name="adj" fmla="val 492149"/>
            </a:avLst>
          </a:prstGeom>
          <a:solidFill>
            <a:srgbClr val="10B981"/>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4.3% reply · n=2,163</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None</a:t>
            </a:r>
            <a:endParaRPr lang="en-US" sz="950" dirty="0"/>
          </a:p>
        </p:txBody>
      </p:sp>
      <p:sp>
        <p:nvSpPr>
          <p:cNvPr id="14" name="Shape 12"/>
          <p:cNvSpPr/>
          <p:nvPr/>
        </p:nvSpPr>
        <p:spPr>
          <a:xfrm>
            <a:off x="2377440" y="2007108"/>
            <a:ext cx="2697480" cy="155448"/>
          </a:xfrm>
          <a:prstGeom prst="roundRect">
            <a:avLst>
              <a:gd name="adj" fmla="val 235294"/>
            </a:avLst>
          </a:prstGeom>
          <a:solidFill>
            <a:srgbClr val="F1F5F9"/>
          </a:solidFill>
          <a:ln/>
        </p:spPr>
      </p:sp>
      <p:sp>
        <p:nvSpPr>
          <p:cNvPr id="15" name="Shape 13"/>
          <p:cNvSpPr/>
          <p:nvPr/>
        </p:nvSpPr>
        <p:spPr>
          <a:xfrm>
            <a:off x="2377440" y="2007108"/>
            <a:ext cx="2634748" cy="155448"/>
          </a:xfrm>
          <a:prstGeom prst="roundRect">
            <a:avLst>
              <a:gd name="adj" fmla="val 235294"/>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4.2% reply · n=31,842</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About Them</a:t>
            </a:r>
            <a:endParaRPr lang="en-US" sz="950" dirty="0"/>
          </a:p>
        </p:txBody>
      </p:sp>
      <p:sp>
        <p:nvSpPr>
          <p:cNvPr id="18" name="Shape 16"/>
          <p:cNvSpPr/>
          <p:nvPr/>
        </p:nvSpPr>
        <p:spPr>
          <a:xfrm>
            <a:off x="2377440" y="2614053"/>
            <a:ext cx="2697480" cy="75415"/>
          </a:xfrm>
          <a:prstGeom prst="roundRect">
            <a:avLst>
              <a:gd name="adj" fmla="val 484996"/>
            </a:avLst>
          </a:prstGeom>
          <a:solidFill>
            <a:srgbClr val="F1F5F9"/>
          </a:solidFill>
          <a:ln/>
        </p:spPr>
      </p:sp>
      <p:sp>
        <p:nvSpPr>
          <p:cNvPr id="19" name="Shape 17"/>
          <p:cNvSpPr/>
          <p:nvPr/>
        </p:nvSpPr>
        <p:spPr>
          <a:xfrm>
            <a:off x="2377440" y="2614053"/>
            <a:ext cx="2258355" cy="75415"/>
          </a:xfrm>
          <a:prstGeom prst="roundRect">
            <a:avLst>
              <a:gd name="adj" fmla="val 484996"/>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3.6% reply · n=2,332</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Rhetorical</a:t>
            </a:r>
            <a:endParaRPr lang="en-US" sz="950" dirty="0"/>
          </a:p>
        </p:txBody>
      </p:sp>
      <p:sp>
        <p:nvSpPr>
          <p:cNvPr id="22" name="Shape 20"/>
          <p:cNvSpPr/>
          <p:nvPr/>
        </p:nvSpPr>
        <p:spPr>
          <a:xfrm>
            <a:off x="2377440" y="3179977"/>
            <a:ext cx="2697480" cy="77423"/>
          </a:xfrm>
          <a:prstGeom prst="roundRect">
            <a:avLst>
              <a:gd name="adj" fmla="val 472418"/>
            </a:avLst>
          </a:prstGeom>
          <a:solidFill>
            <a:srgbClr val="F1F5F9"/>
          </a:solidFill>
          <a:ln/>
        </p:spPr>
      </p:sp>
      <p:sp>
        <p:nvSpPr>
          <p:cNvPr id="23" name="Shape 21"/>
          <p:cNvSpPr/>
          <p:nvPr/>
        </p:nvSpPr>
        <p:spPr>
          <a:xfrm>
            <a:off x="2377440" y="3179977"/>
            <a:ext cx="1442838" cy="77423"/>
          </a:xfrm>
          <a:prstGeom prst="roundRect">
            <a:avLst>
              <a:gd name="adj" fmla="val 472418"/>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2.3% reply · n=2,658</a:t>
            </a:r>
            <a:endParaRPr lang="en-US" sz="850" dirty="0"/>
          </a:p>
        </p:txBody>
      </p:sp>
      <p:sp>
        <p:nvSpPr>
          <p:cNvPr id="25" name="Text 23"/>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26" name="Shape 24"/>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27" name="Text 25"/>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28" name="Text 26"/>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Zachary Rasmussen</a:t>
            </a:r>
            <a:endParaRPr lang="en-US" sz="1500" dirty="0"/>
          </a:p>
        </p:txBody>
      </p:sp>
      <p:sp>
        <p:nvSpPr>
          <p:cNvPr id="29" name="Text 27"/>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Emergency Medicine Physician @ UnityPoint Health</a:t>
            </a:r>
            <a:endParaRPr lang="en-US" sz="1100" dirty="0"/>
          </a:p>
        </p:txBody>
      </p:sp>
      <p:sp>
        <p:nvSpPr>
          <p:cNvPr id="30" name="Text 28"/>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Zachary, engineering system-wide throughput protocols while leading EM operations is impressive. Thank you for your work. We help EDs cut burnout from scheduling drama - worth a chat?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Opener Style</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Question</a:t>
            </a:r>
            <a:endParaRPr lang="en-US" sz="950" dirty="0"/>
          </a:p>
        </p:txBody>
      </p:sp>
      <p:sp>
        <p:nvSpPr>
          <p:cNvPr id="10" name="Shape 8"/>
          <p:cNvSpPr/>
          <p:nvPr/>
        </p:nvSpPr>
        <p:spPr>
          <a:xfrm>
            <a:off x="2377440" y="1489287"/>
            <a:ext cx="2697480" cy="57234"/>
          </a:xfrm>
          <a:prstGeom prst="roundRect">
            <a:avLst>
              <a:gd name="adj" fmla="val 639061"/>
            </a:avLst>
          </a:prstGeom>
          <a:solidFill>
            <a:srgbClr val="F1F5F9"/>
          </a:solidFill>
          <a:ln/>
        </p:spPr>
      </p:sp>
      <p:sp>
        <p:nvSpPr>
          <p:cNvPr id="11" name="Shape 9"/>
          <p:cNvSpPr/>
          <p:nvPr/>
        </p:nvSpPr>
        <p:spPr>
          <a:xfrm>
            <a:off x="2377440" y="1489287"/>
            <a:ext cx="2697480" cy="57234"/>
          </a:xfrm>
          <a:prstGeom prst="roundRect">
            <a:avLst>
              <a:gd name="adj" fmla="val 639061"/>
            </a:avLst>
          </a:prstGeom>
          <a:solidFill>
            <a:srgbClr val="10B981"/>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5.9% reply · n=169</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Congratulations</a:t>
            </a:r>
            <a:endParaRPr lang="en-US" sz="950" dirty="0"/>
          </a:p>
        </p:txBody>
      </p:sp>
      <p:sp>
        <p:nvSpPr>
          <p:cNvPr id="14" name="Shape 12"/>
          <p:cNvSpPr/>
          <p:nvPr/>
        </p:nvSpPr>
        <p:spPr>
          <a:xfrm>
            <a:off x="2377440" y="2048716"/>
            <a:ext cx="2697480" cy="72232"/>
          </a:xfrm>
          <a:prstGeom prst="roundRect">
            <a:avLst>
              <a:gd name="adj" fmla="val 506368"/>
            </a:avLst>
          </a:prstGeom>
          <a:solidFill>
            <a:srgbClr val="F1F5F9"/>
          </a:solidFill>
          <a:ln/>
        </p:spPr>
      </p:sp>
      <p:sp>
        <p:nvSpPr>
          <p:cNvPr id="15" name="Shape 13"/>
          <p:cNvSpPr/>
          <p:nvPr/>
        </p:nvSpPr>
        <p:spPr>
          <a:xfrm>
            <a:off x="2377440" y="2048716"/>
            <a:ext cx="2514600" cy="72232"/>
          </a:xfrm>
          <a:prstGeom prst="roundRect">
            <a:avLst>
              <a:gd name="adj" fmla="val 506368"/>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5.5% reply · n=896</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Observation about them</a:t>
            </a:r>
            <a:endParaRPr lang="en-US" sz="950" dirty="0"/>
          </a:p>
        </p:txBody>
      </p:sp>
      <p:sp>
        <p:nvSpPr>
          <p:cNvPr id="18" name="Shape 16"/>
          <p:cNvSpPr/>
          <p:nvPr/>
        </p:nvSpPr>
        <p:spPr>
          <a:xfrm>
            <a:off x="2377440" y="2574036"/>
            <a:ext cx="2697480" cy="155448"/>
          </a:xfrm>
          <a:prstGeom prst="roundRect">
            <a:avLst>
              <a:gd name="adj" fmla="val 235294"/>
            </a:avLst>
          </a:prstGeom>
          <a:solidFill>
            <a:srgbClr val="F1F5F9"/>
          </a:solidFill>
          <a:ln/>
        </p:spPr>
      </p:sp>
      <p:sp>
        <p:nvSpPr>
          <p:cNvPr id="19" name="Shape 17"/>
          <p:cNvSpPr/>
          <p:nvPr/>
        </p:nvSpPr>
        <p:spPr>
          <a:xfrm>
            <a:off x="2377440" y="2574036"/>
            <a:ext cx="2286000" cy="155448"/>
          </a:xfrm>
          <a:prstGeom prst="roundRect">
            <a:avLst>
              <a:gd name="adj" fmla="val 235294"/>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5.0% reply · n=15,348</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About you</a:t>
            </a:r>
            <a:endParaRPr lang="en-US" sz="950" dirty="0"/>
          </a:p>
        </p:txBody>
      </p:sp>
      <p:sp>
        <p:nvSpPr>
          <p:cNvPr id="22" name="Shape 20"/>
          <p:cNvSpPr/>
          <p:nvPr/>
        </p:nvSpPr>
        <p:spPr>
          <a:xfrm>
            <a:off x="2377440" y="3159398"/>
            <a:ext cx="2697480" cy="118580"/>
          </a:xfrm>
          <a:prstGeom prst="roundRect">
            <a:avLst>
              <a:gd name="adj" fmla="val 308450"/>
            </a:avLst>
          </a:prstGeom>
          <a:solidFill>
            <a:srgbClr val="F1F5F9"/>
          </a:solidFill>
          <a:ln/>
        </p:spPr>
      </p:sp>
      <p:sp>
        <p:nvSpPr>
          <p:cNvPr id="23" name="Shape 21"/>
          <p:cNvSpPr/>
          <p:nvPr/>
        </p:nvSpPr>
        <p:spPr>
          <a:xfrm>
            <a:off x="2377440" y="3159398"/>
            <a:ext cx="1645920" cy="118580"/>
          </a:xfrm>
          <a:prstGeom prst="roundRect">
            <a:avLst>
              <a:gd name="adj" fmla="val 308450"/>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3.6% reply · n=6,767</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About us</a:t>
            </a:r>
            <a:endParaRPr lang="en-US" sz="950" dirty="0"/>
          </a:p>
        </p:txBody>
      </p:sp>
      <p:sp>
        <p:nvSpPr>
          <p:cNvPr id="26" name="Shape 24"/>
          <p:cNvSpPr/>
          <p:nvPr/>
        </p:nvSpPr>
        <p:spPr>
          <a:xfrm>
            <a:off x="2377440" y="3740218"/>
            <a:ext cx="2697480" cy="90796"/>
          </a:xfrm>
          <a:prstGeom prst="roundRect">
            <a:avLst>
              <a:gd name="adj" fmla="val 402837"/>
            </a:avLst>
          </a:prstGeom>
          <a:solidFill>
            <a:srgbClr val="F1F5F9"/>
          </a:solidFill>
          <a:ln/>
        </p:spPr>
      </p:sp>
      <p:sp>
        <p:nvSpPr>
          <p:cNvPr id="27" name="Shape 25"/>
          <p:cNvSpPr/>
          <p:nvPr/>
        </p:nvSpPr>
        <p:spPr>
          <a:xfrm>
            <a:off x="2377440" y="3740218"/>
            <a:ext cx="1600200" cy="90796"/>
          </a:xfrm>
          <a:prstGeom prst="roundRect">
            <a:avLst>
              <a:gd name="adj" fmla="val 402837"/>
            </a:avLst>
          </a:prstGeom>
          <a:solidFill>
            <a:srgbClr val="0077B5"/>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3.5% reply · n=2,590</a:t>
            </a:r>
            <a:endParaRPr lang="en-US" sz="850" dirty="0"/>
          </a:p>
        </p:txBody>
      </p:sp>
      <p:sp>
        <p:nvSpPr>
          <p:cNvPr id="29" name="Text 27"/>
          <p:cNvSpPr/>
          <p:nvPr/>
        </p:nvSpPr>
        <p:spPr>
          <a:xfrm>
            <a:off x="457200" y="406908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Other</a:t>
            </a:r>
            <a:endParaRPr lang="en-US" sz="950" dirty="0"/>
          </a:p>
        </p:txBody>
      </p:sp>
      <p:sp>
        <p:nvSpPr>
          <p:cNvPr id="30" name="Shape 28"/>
          <p:cNvSpPr/>
          <p:nvPr/>
        </p:nvSpPr>
        <p:spPr>
          <a:xfrm>
            <a:off x="2377440" y="4277380"/>
            <a:ext cx="2697480" cy="150328"/>
          </a:xfrm>
          <a:prstGeom prst="roundRect">
            <a:avLst>
              <a:gd name="adj" fmla="val 243308"/>
            </a:avLst>
          </a:prstGeom>
          <a:solidFill>
            <a:srgbClr val="F1F5F9"/>
          </a:solidFill>
          <a:ln/>
        </p:spPr>
      </p:sp>
      <p:sp>
        <p:nvSpPr>
          <p:cNvPr id="31" name="Shape 29"/>
          <p:cNvSpPr/>
          <p:nvPr/>
        </p:nvSpPr>
        <p:spPr>
          <a:xfrm>
            <a:off x="2377440" y="4277380"/>
            <a:ext cx="1508760" cy="150328"/>
          </a:xfrm>
          <a:prstGeom prst="roundRect">
            <a:avLst>
              <a:gd name="adj" fmla="val 243308"/>
            </a:avLst>
          </a:prstGeom>
          <a:solidFill>
            <a:srgbClr val="0077B5"/>
          </a:solidFill>
          <a:ln/>
        </p:spPr>
      </p:sp>
      <p:sp>
        <p:nvSpPr>
          <p:cNvPr id="32" name="Text 30"/>
          <p:cNvSpPr/>
          <p:nvPr/>
        </p:nvSpPr>
        <p:spPr>
          <a:xfrm>
            <a:off x="5212080" y="406908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3.3% reply · n=13,949</a:t>
            </a:r>
            <a:endParaRPr lang="en-US" sz="850" dirty="0"/>
          </a:p>
        </p:txBody>
      </p:sp>
      <p:sp>
        <p:nvSpPr>
          <p:cNvPr id="33" name="Text 31"/>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34" name="Shape 32"/>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35" name="Text 33"/>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36" name="Text 34"/>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Craig FAMIA</a:t>
            </a:r>
            <a:endParaRPr lang="en-US" sz="1500" dirty="0"/>
          </a:p>
        </p:txBody>
      </p:sp>
      <p:sp>
        <p:nvSpPr>
          <p:cNvPr id="37" name="Text 35"/>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Chief Medical Officer @ Nordic Global</a:t>
            </a:r>
            <a:endParaRPr lang="en-US" sz="1100" dirty="0"/>
          </a:p>
        </p:txBody>
      </p:sp>
      <p:sp>
        <p:nvSpPr>
          <p:cNvPr id="38" name="Text 36"/>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Have a minute? Something I want to ask you about.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Message Type</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9" name="Text 7"/>
          <p:cNvSpPr/>
          <p:nvPr/>
        </p:nvSpPr>
        <p:spPr>
          <a:xfrm>
            <a:off x="457200" y="1234440"/>
            <a:ext cx="1783080" cy="518160"/>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Other</a:t>
            </a:r>
            <a:endParaRPr lang="en-US" sz="950" dirty="0"/>
          </a:p>
        </p:txBody>
      </p:sp>
      <p:sp>
        <p:nvSpPr>
          <p:cNvPr id="10" name="Shape 8"/>
          <p:cNvSpPr/>
          <p:nvPr/>
        </p:nvSpPr>
        <p:spPr>
          <a:xfrm>
            <a:off x="2377440" y="1488641"/>
            <a:ext cx="2697480" cy="55477"/>
          </a:xfrm>
          <a:prstGeom prst="roundRect">
            <a:avLst>
              <a:gd name="adj" fmla="val 659300"/>
            </a:avLst>
          </a:prstGeom>
          <a:solidFill>
            <a:srgbClr val="F1F5F9"/>
          </a:solidFill>
          <a:ln/>
        </p:spPr>
      </p:sp>
      <p:sp>
        <p:nvSpPr>
          <p:cNvPr id="11" name="Shape 9"/>
          <p:cNvSpPr/>
          <p:nvPr/>
        </p:nvSpPr>
        <p:spPr>
          <a:xfrm>
            <a:off x="2377440" y="1488641"/>
            <a:ext cx="2697480" cy="55477"/>
          </a:xfrm>
          <a:prstGeom prst="roundRect">
            <a:avLst>
              <a:gd name="adj" fmla="val 659300"/>
            </a:avLst>
          </a:prstGeom>
          <a:solidFill>
            <a:srgbClr val="10B981"/>
          </a:solidFill>
          <a:ln/>
        </p:spPr>
      </p:sp>
      <p:sp>
        <p:nvSpPr>
          <p:cNvPr id="12" name="Text 10"/>
          <p:cNvSpPr/>
          <p:nvPr/>
        </p:nvSpPr>
        <p:spPr>
          <a:xfrm>
            <a:off x="5212080" y="1234440"/>
            <a:ext cx="1783080" cy="51816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87.0% reply · n=131</a:t>
            </a:r>
            <a:endParaRPr lang="en-US" sz="850" dirty="0"/>
          </a:p>
        </p:txBody>
      </p:sp>
      <p:sp>
        <p:nvSpPr>
          <p:cNvPr id="13" name="Text 11"/>
          <p:cNvSpPr/>
          <p:nvPr/>
        </p:nvSpPr>
        <p:spPr>
          <a:xfrm>
            <a:off x="457200" y="1798320"/>
            <a:ext cx="1783080" cy="518160"/>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Post</a:t>
            </a:r>
            <a:endParaRPr lang="en-US" sz="950" dirty="0"/>
          </a:p>
        </p:txBody>
      </p:sp>
      <p:sp>
        <p:nvSpPr>
          <p:cNvPr id="14" name="Shape 12"/>
          <p:cNvSpPr/>
          <p:nvPr/>
        </p:nvSpPr>
        <p:spPr>
          <a:xfrm>
            <a:off x="2377440" y="2027709"/>
            <a:ext cx="2697480" cy="105102"/>
          </a:xfrm>
          <a:prstGeom prst="roundRect">
            <a:avLst>
              <a:gd name="adj" fmla="val 348005"/>
            </a:avLst>
          </a:prstGeom>
          <a:solidFill>
            <a:srgbClr val="F1F5F9"/>
          </a:solidFill>
          <a:ln/>
        </p:spPr>
      </p:sp>
      <p:sp>
        <p:nvSpPr>
          <p:cNvPr id="15" name="Shape 13"/>
          <p:cNvSpPr/>
          <p:nvPr/>
        </p:nvSpPr>
        <p:spPr>
          <a:xfrm>
            <a:off x="2377440" y="2027709"/>
            <a:ext cx="390670" cy="105102"/>
          </a:xfrm>
          <a:prstGeom prst="roundRect">
            <a:avLst>
              <a:gd name="adj" fmla="val 348005"/>
            </a:avLst>
          </a:prstGeom>
          <a:solidFill>
            <a:srgbClr val="0077B5"/>
          </a:solidFill>
          <a:ln/>
        </p:spPr>
      </p:sp>
      <p:sp>
        <p:nvSpPr>
          <p:cNvPr id="16" name="Text 14"/>
          <p:cNvSpPr/>
          <p:nvPr/>
        </p:nvSpPr>
        <p:spPr>
          <a:xfrm>
            <a:off x="5212080" y="1798320"/>
            <a:ext cx="1783080" cy="51816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12.6% reply · n=4,852</a:t>
            </a:r>
            <a:endParaRPr lang="en-US" sz="850" dirty="0"/>
          </a:p>
        </p:txBody>
      </p:sp>
      <p:sp>
        <p:nvSpPr>
          <p:cNvPr id="17" name="Text 15"/>
          <p:cNvSpPr/>
          <p:nvPr/>
        </p:nvSpPr>
        <p:spPr>
          <a:xfrm>
            <a:off x="457200" y="2362200"/>
            <a:ext cx="1783080" cy="518160"/>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About Me Connect</a:t>
            </a:r>
            <a:endParaRPr lang="en-US" sz="950" dirty="0"/>
          </a:p>
        </p:txBody>
      </p:sp>
      <p:sp>
        <p:nvSpPr>
          <p:cNvPr id="18" name="Shape 16"/>
          <p:cNvSpPr/>
          <p:nvPr/>
        </p:nvSpPr>
        <p:spPr>
          <a:xfrm>
            <a:off x="2377440" y="2566416"/>
            <a:ext cx="2697480" cy="155448"/>
          </a:xfrm>
          <a:prstGeom prst="roundRect">
            <a:avLst>
              <a:gd name="adj" fmla="val 235294"/>
            </a:avLst>
          </a:prstGeom>
          <a:solidFill>
            <a:srgbClr val="F1F5F9"/>
          </a:solidFill>
          <a:ln/>
        </p:spPr>
      </p:sp>
      <p:sp>
        <p:nvSpPr>
          <p:cNvPr id="19" name="Shape 17"/>
          <p:cNvSpPr/>
          <p:nvPr/>
        </p:nvSpPr>
        <p:spPr>
          <a:xfrm>
            <a:off x="2377440" y="2566416"/>
            <a:ext cx="102318" cy="155448"/>
          </a:xfrm>
          <a:prstGeom prst="roundRect">
            <a:avLst>
              <a:gd name="adj" fmla="val 357474"/>
            </a:avLst>
          </a:prstGeom>
          <a:solidFill>
            <a:srgbClr val="0077B5"/>
          </a:solidFill>
          <a:ln/>
        </p:spPr>
      </p:sp>
      <p:sp>
        <p:nvSpPr>
          <p:cNvPr id="20" name="Text 18"/>
          <p:cNvSpPr/>
          <p:nvPr/>
        </p:nvSpPr>
        <p:spPr>
          <a:xfrm>
            <a:off x="5212080" y="2362200"/>
            <a:ext cx="1783080" cy="51816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3.3% reply · n=16,567</a:t>
            </a:r>
            <a:endParaRPr lang="en-US" sz="850" dirty="0"/>
          </a:p>
        </p:txBody>
      </p:sp>
      <p:sp>
        <p:nvSpPr>
          <p:cNvPr id="21" name="Text 19"/>
          <p:cNvSpPr/>
          <p:nvPr/>
        </p:nvSpPr>
        <p:spPr>
          <a:xfrm>
            <a:off x="457200" y="2926080"/>
            <a:ext cx="1783080" cy="518160"/>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News</a:t>
            </a:r>
            <a:endParaRPr lang="en-US" sz="950" dirty="0"/>
          </a:p>
        </p:txBody>
      </p:sp>
      <p:sp>
        <p:nvSpPr>
          <p:cNvPr id="22" name="Shape 20"/>
          <p:cNvSpPr/>
          <p:nvPr/>
        </p:nvSpPr>
        <p:spPr>
          <a:xfrm>
            <a:off x="2377440" y="3166871"/>
            <a:ext cx="2697480" cy="82298"/>
          </a:xfrm>
          <a:prstGeom prst="roundRect">
            <a:avLst>
              <a:gd name="adj" fmla="val 444434"/>
            </a:avLst>
          </a:prstGeom>
          <a:solidFill>
            <a:srgbClr val="F1F5F9"/>
          </a:solidFill>
          <a:ln/>
        </p:spPr>
      </p:sp>
      <p:sp>
        <p:nvSpPr>
          <p:cNvPr id="23" name="Shape 21"/>
          <p:cNvSpPr/>
          <p:nvPr/>
        </p:nvSpPr>
        <p:spPr>
          <a:xfrm>
            <a:off x="2377440" y="3166871"/>
            <a:ext cx="96117" cy="82298"/>
          </a:xfrm>
          <a:prstGeom prst="roundRect">
            <a:avLst>
              <a:gd name="adj" fmla="val 444434"/>
            </a:avLst>
          </a:prstGeom>
          <a:solidFill>
            <a:srgbClr val="0077B5"/>
          </a:solidFill>
          <a:ln/>
        </p:spPr>
      </p:sp>
      <p:sp>
        <p:nvSpPr>
          <p:cNvPr id="24" name="Text 22"/>
          <p:cNvSpPr/>
          <p:nvPr/>
        </p:nvSpPr>
        <p:spPr>
          <a:xfrm>
            <a:off x="5212080" y="2926080"/>
            <a:ext cx="1783080" cy="51816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3.1% reply · n=1,841</a:t>
            </a:r>
            <a:endParaRPr lang="en-US" sz="850" dirty="0"/>
          </a:p>
        </p:txBody>
      </p:sp>
      <p:sp>
        <p:nvSpPr>
          <p:cNvPr id="25" name="Text 23"/>
          <p:cNvSpPr/>
          <p:nvPr/>
        </p:nvSpPr>
        <p:spPr>
          <a:xfrm>
            <a:off x="457200" y="3489960"/>
            <a:ext cx="1783080" cy="518160"/>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Fast Prospect</a:t>
            </a:r>
            <a:endParaRPr lang="en-US" sz="950" dirty="0"/>
          </a:p>
        </p:txBody>
      </p:sp>
      <p:sp>
        <p:nvSpPr>
          <p:cNvPr id="26" name="Shape 24"/>
          <p:cNvSpPr/>
          <p:nvPr/>
        </p:nvSpPr>
        <p:spPr>
          <a:xfrm>
            <a:off x="2377440" y="3724051"/>
            <a:ext cx="2697480" cy="95699"/>
          </a:xfrm>
          <a:prstGeom prst="roundRect">
            <a:avLst>
              <a:gd name="adj" fmla="val 382198"/>
            </a:avLst>
          </a:prstGeom>
          <a:solidFill>
            <a:srgbClr val="F1F5F9"/>
          </a:solidFill>
          <a:ln/>
        </p:spPr>
      </p:sp>
      <p:sp>
        <p:nvSpPr>
          <p:cNvPr id="27" name="Shape 25"/>
          <p:cNvSpPr/>
          <p:nvPr/>
        </p:nvSpPr>
        <p:spPr>
          <a:xfrm>
            <a:off x="2377440" y="3724051"/>
            <a:ext cx="83715" cy="95699"/>
          </a:xfrm>
          <a:prstGeom prst="roundRect">
            <a:avLst>
              <a:gd name="adj" fmla="val 436911"/>
            </a:avLst>
          </a:prstGeom>
          <a:solidFill>
            <a:srgbClr val="0077B5"/>
          </a:solidFill>
          <a:ln/>
        </p:spPr>
      </p:sp>
      <p:sp>
        <p:nvSpPr>
          <p:cNvPr id="28" name="Text 26"/>
          <p:cNvSpPr/>
          <p:nvPr/>
        </p:nvSpPr>
        <p:spPr>
          <a:xfrm>
            <a:off x="5212080" y="3489960"/>
            <a:ext cx="1783080" cy="51816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2.7% reply · n=3,437</a:t>
            </a:r>
            <a:endParaRPr lang="en-US" sz="850" dirty="0"/>
          </a:p>
        </p:txBody>
      </p:sp>
      <p:sp>
        <p:nvSpPr>
          <p:cNvPr id="29" name="Text 27"/>
          <p:cNvSpPr/>
          <p:nvPr/>
        </p:nvSpPr>
        <p:spPr>
          <a:xfrm>
            <a:off x="457200" y="4053840"/>
            <a:ext cx="1783080" cy="518160"/>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Org News</a:t>
            </a:r>
            <a:endParaRPr lang="en-US" sz="950" dirty="0"/>
          </a:p>
        </p:txBody>
      </p:sp>
      <p:sp>
        <p:nvSpPr>
          <p:cNvPr id="30" name="Shape 28"/>
          <p:cNvSpPr/>
          <p:nvPr/>
        </p:nvSpPr>
        <p:spPr>
          <a:xfrm>
            <a:off x="2377440" y="4287786"/>
            <a:ext cx="2697480" cy="95989"/>
          </a:xfrm>
          <a:prstGeom prst="roundRect">
            <a:avLst>
              <a:gd name="adj" fmla="val 381044"/>
            </a:avLst>
          </a:prstGeom>
          <a:solidFill>
            <a:srgbClr val="F1F5F9"/>
          </a:solidFill>
          <a:ln/>
        </p:spPr>
      </p:sp>
      <p:sp>
        <p:nvSpPr>
          <p:cNvPr id="31" name="Shape 29"/>
          <p:cNvSpPr/>
          <p:nvPr/>
        </p:nvSpPr>
        <p:spPr>
          <a:xfrm>
            <a:off x="2377440" y="4287786"/>
            <a:ext cx="52709" cy="95989"/>
          </a:xfrm>
          <a:prstGeom prst="roundRect">
            <a:avLst>
              <a:gd name="adj" fmla="val 693923"/>
            </a:avLst>
          </a:prstGeom>
          <a:solidFill>
            <a:srgbClr val="0077B5"/>
          </a:solidFill>
          <a:ln/>
        </p:spPr>
      </p:sp>
      <p:sp>
        <p:nvSpPr>
          <p:cNvPr id="32" name="Text 30"/>
          <p:cNvSpPr/>
          <p:nvPr/>
        </p:nvSpPr>
        <p:spPr>
          <a:xfrm>
            <a:off x="5212080" y="4053840"/>
            <a:ext cx="1783080" cy="51816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1.7% reply · n=3,477</a:t>
            </a:r>
            <a:endParaRPr lang="en-US" sz="850" dirty="0"/>
          </a:p>
        </p:txBody>
      </p:sp>
      <p:sp>
        <p:nvSpPr>
          <p:cNvPr id="33" name="Text 31"/>
          <p:cNvSpPr/>
          <p:nvPr/>
        </p:nvSpPr>
        <p:spPr>
          <a:xfrm>
            <a:off x="457200" y="4617720"/>
            <a:ext cx="1783080" cy="518160"/>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Profile</a:t>
            </a:r>
            <a:endParaRPr lang="en-US" sz="950" dirty="0"/>
          </a:p>
        </p:txBody>
      </p:sp>
      <p:sp>
        <p:nvSpPr>
          <p:cNvPr id="34" name="Shape 32"/>
          <p:cNvSpPr/>
          <p:nvPr/>
        </p:nvSpPr>
        <p:spPr>
          <a:xfrm>
            <a:off x="2377440" y="4838456"/>
            <a:ext cx="2697480" cy="122407"/>
          </a:xfrm>
          <a:prstGeom prst="roundRect">
            <a:avLst>
              <a:gd name="adj" fmla="val 298806"/>
            </a:avLst>
          </a:prstGeom>
          <a:solidFill>
            <a:srgbClr val="F1F5F9"/>
          </a:solidFill>
          <a:ln/>
        </p:spPr>
      </p:sp>
      <p:sp>
        <p:nvSpPr>
          <p:cNvPr id="35" name="Shape 33"/>
          <p:cNvSpPr/>
          <p:nvPr/>
        </p:nvSpPr>
        <p:spPr>
          <a:xfrm>
            <a:off x="2377440" y="4838456"/>
            <a:ext cx="49609" cy="122407"/>
          </a:xfrm>
          <a:prstGeom prst="roundRect">
            <a:avLst>
              <a:gd name="adj" fmla="val 737286"/>
            </a:avLst>
          </a:prstGeom>
          <a:solidFill>
            <a:srgbClr val="0077B5"/>
          </a:solidFill>
          <a:ln/>
        </p:spPr>
      </p:sp>
      <p:sp>
        <p:nvSpPr>
          <p:cNvPr id="36" name="Text 34"/>
          <p:cNvSpPr/>
          <p:nvPr/>
        </p:nvSpPr>
        <p:spPr>
          <a:xfrm>
            <a:off x="5212080" y="4617720"/>
            <a:ext cx="1783080" cy="51816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1.6% reply · n=8,092</a:t>
            </a:r>
            <a:endParaRPr lang="en-US" sz="850" dirty="0"/>
          </a:p>
        </p:txBody>
      </p:sp>
      <p:sp>
        <p:nvSpPr>
          <p:cNvPr id="37" name="Text 35"/>
          <p:cNvSpPr/>
          <p:nvPr/>
        </p:nvSpPr>
        <p:spPr>
          <a:xfrm>
            <a:off x="457200" y="5181600"/>
            <a:ext cx="1783080" cy="518160"/>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Complement</a:t>
            </a:r>
            <a:endParaRPr lang="en-US" sz="950" dirty="0"/>
          </a:p>
        </p:txBody>
      </p:sp>
      <p:sp>
        <p:nvSpPr>
          <p:cNvPr id="38" name="Shape 36"/>
          <p:cNvSpPr/>
          <p:nvPr/>
        </p:nvSpPr>
        <p:spPr>
          <a:xfrm>
            <a:off x="2377440" y="5424221"/>
            <a:ext cx="2697480" cy="78638"/>
          </a:xfrm>
          <a:prstGeom prst="roundRect">
            <a:avLst>
              <a:gd name="adj" fmla="val 465119"/>
            </a:avLst>
          </a:prstGeom>
          <a:solidFill>
            <a:srgbClr val="F1F5F9"/>
          </a:solidFill>
          <a:ln/>
        </p:spPr>
      </p:sp>
      <p:sp>
        <p:nvSpPr>
          <p:cNvPr id="39" name="Shape 37"/>
          <p:cNvSpPr/>
          <p:nvPr/>
        </p:nvSpPr>
        <p:spPr>
          <a:xfrm>
            <a:off x="2377440" y="5424221"/>
            <a:ext cx="37207" cy="78638"/>
          </a:xfrm>
          <a:prstGeom prst="roundRect">
            <a:avLst>
              <a:gd name="adj" fmla="val 983041"/>
            </a:avLst>
          </a:prstGeom>
          <a:solidFill>
            <a:srgbClr val="0077B5"/>
          </a:solidFill>
          <a:ln/>
        </p:spPr>
      </p:sp>
      <p:sp>
        <p:nvSpPr>
          <p:cNvPr id="40" name="Text 38"/>
          <p:cNvSpPr/>
          <p:nvPr/>
        </p:nvSpPr>
        <p:spPr>
          <a:xfrm>
            <a:off x="5212080" y="5181600"/>
            <a:ext cx="1783080" cy="51816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1.2% reply · n=1,491</a:t>
            </a:r>
            <a:endParaRPr lang="en-US" sz="850" dirty="0"/>
          </a:p>
        </p:txBody>
      </p:sp>
      <p:sp>
        <p:nvSpPr>
          <p:cNvPr id="41" name="Text 39"/>
          <p:cNvSpPr/>
          <p:nvPr/>
        </p:nvSpPr>
        <p:spPr>
          <a:xfrm>
            <a:off x="457200" y="5745480"/>
            <a:ext cx="1783080" cy="518160"/>
          </a:xfrm>
          <a:prstGeom prst="rect">
            <a:avLst/>
          </a:prstGeom>
          <a:noFill/>
          <a:ln/>
        </p:spPr>
        <p:txBody>
          <a:bodyPr wrap="square" rtlCol="0" anchor="ctr">
            <a:normAutofit/>
          </a:bodyPr>
          <a:lstStyle/>
          <a:p>
            <a:pPr indent="0" marL="0">
              <a:buNone/>
            </a:pPr>
            <a:r>
              <a:rPr lang="en-US" sz="950" dirty="0">
                <a:solidFill>
                  <a:srgbClr val="6B7280"/>
                </a:solidFill>
                <a:latin typeface="Calibri" pitchFamily="34" charset="0"/>
                <a:ea typeface="Calibri" pitchFamily="34" charset="-122"/>
                <a:cs typeface="Calibri" pitchFamily="34" charset="-120"/>
              </a:rPr>
              <a:t>Contact News</a:t>
            </a:r>
            <a:endParaRPr lang="en-US" sz="950" dirty="0"/>
          </a:p>
        </p:txBody>
      </p:sp>
      <p:sp>
        <p:nvSpPr>
          <p:cNvPr id="42" name="Shape 40"/>
          <p:cNvSpPr/>
          <p:nvPr/>
        </p:nvSpPr>
        <p:spPr>
          <a:xfrm>
            <a:off x="2377440" y="6003957"/>
            <a:ext cx="2697480" cy="46926"/>
          </a:xfrm>
          <a:prstGeom prst="roundRect">
            <a:avLst>
              <a:gd name="adj" fmla="val 779440"/>
            </a:avLst>
          </a:prstGeom>
          <a:solidFill>
            <a:srgbClr val="F1F5F9"/>
          </a:solidFill>
          <a:ln/>
        </p:spPr>
      </p:sp>
      <p:sp>
        <p:nvSpPr>
          <p:cNvPr id="43" name="Shape 41"/>
          <p:cNvSpPr/>
          <p:nvPr/>
        </p:nvSpPr>
        <p:spPr>
          <a:xfrm>
            <a:off x="2377440" y="6003957"/>
            <a:ext cx="36576" cy="46926"/>
          </a:xfrm>
          <a:prstGeom prst="roundRect">
            <a:avLst>
              <a:gd name="adj" fmla="val 1000000"/>
            </a:avLst>
          </a:prstGeom>
          <a:solidFill>
            <a:srgbClr val="D1D5DB"/>
          </a:solidFill>
          <a:ln/>
        </p:spPr>
      </p:sp>
      <p:sp>
        <p:nvSpPr>
          <p:cNvPr id="44" name="Text 42"/>
          <p:cNvSpPr/>
          <p:nvPr/>
        </p:nvSpPr>
        <p:spPr>
          <a:xfrm>
            <a:off x="5212080" y="5745480"/>
            <a:ext cx="1783080" cy="518160"/>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0.0% reply · n=2</a:t>
            </a:r>
            <a:endParaRPr lang="en-US" sz="850" dirty="0"/>
          </a:p>
        </p:txBody>
      </p:sp>
      <p:sp>
        <p:nvSpPr>
          <p:cNvPr id="45" name="Text 43"/>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46" name="Shape 44"/>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47" name="Text 45"/>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48" name="Text 46"/>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Susan OCN</a:t>
            </a:r>
            <a:endParaRPr lang="en-US" sz="1500" dirty="0"/>
          </a:p>
        </p:txBody>
      </p:sp>
      <p:sp>
        <p:nvSpPr>
          <p:cNvPr id="49" name="Text 47"/>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Director of Operations | Operations Manager @ Atlanta Cancer Care</a:t>
            </a:r>
            <a:endParaRPr lang="en-US" sz="1100" dirty="0"/>
          </a:p>
        </p:txBody>
      </p:sp>
      <p:sp>
        <p:nvSpPr>
          <p:cNvPr id="50" name="Text 48"/>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Our team saw your post celebrating Oncology Nursing Month. Inviting you to a biopharma-funded patient feedback collaborative. Interested?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About Them vs. About Us</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9" name="Text 7"/>
          <p:cNvSpPr/>
          <p:nvPr/>
        </p:nvSpPr>
        <p:spPr>
          <a:xfrm>
            <a:off x="457200" y="1234440"/>
            <a:ext cx="11274552" cy="274320"/>
          </a:xfrm>
          <a:prstGeom prst="rect">
            <a:avLst/>
          </a:prstGeom>
          <a:noFill/>
          <a:ln/>
        </p:spPr>
        <p:txBody>
          <a:bodyPr wrap="square" rtlCol="0" anchor="ctr"/>
          <a:lstStyle/>
          <a:p>
            <a:pPr indent="0" marL="0">
              <a:buNone/>
            </a:pPr>
            <a:r>
              <a:rPr lang="en-US" sz="1100" b="1" dirty="0">
                <a:solidFill>
                  <a:srgbClr val="0077B5"/>
                </a:solidFill>
                <a:latin typeface="Calibri" pitchFamily="34" charset="0"/>
                <a:ea typeface="Calibri" pitchFamily="34" charset="-122"/>
                <a:cs typeface="Calibri" pitchFamily="34" charset="-120"/>
              </a:rPr>
              <a:t>Avg. content about the prospect: 57%   ·   Avg. content about us: 35%</a:t>
            </a:r>
            <a:endParaRPr lang="en-US" sz="1100" dirty="0"/>
          </a:p>
        </p:txBody>
      </p:sp>
      <p:sp>
        <p:nvSpPr>
          <p:cNvPr id="10" name="Text 8"/>
          <p:cNvSpPr/>
          <p:nvPr/>
        </p:nvSpPr>
        <p:spPr>
          <a:xfrm>
            <a:off x="457200" y="160020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76-100% about them</a:t>
            </a:r>
            <a:endParaRPr lang="en-US" sz="950" dirty="0"/>
          </a:p>
        </p:txBody>
      </p:sp>
      <p:sp>
        <p:nvSpPr>
          <p:cNvPr id="11" name="Shape 9"/>
          <p:cNvSpPr/>
          <p:nvPr/>
        </p:nvSpPr>
        <p:spPr>
          <a:xfrm>
            <a:off x="2377440" y="1805940"/>
            <a:ext cx="2697480" cy="155448"/>
          </a:xfrm>
          <a:prstGeom prst="roundRect">
            <a:avLst>
              <a:gd name="adj" fmla="val 235294"/>
            </a:avLst>
          </a:prstGeom>
          <a:solidFill>
            <a:srgbClr val="F1F5F9"/>
          </a:solidFill>
          <a:ln/>
        </p:spPr>
      </p:sp>
      <p:sp>
        <p:nvSpPr>
          <p:cNvPr id="12" name="Shape 10"/>
          <p:cNvSpPr/>
          <p:nvPr/>
        </p:nvSpPr>
        <p:spPr>
          <a:xfrm>
            <a:off x="2377440" y="1805940"/>
            <a:ext cx="2697480" cy="155448"/>
          </a:xfrm>
          <a:prstGeom prst="roundRect">
            <a:avLst>
              <a:gd name="adj" fmla="val 235294"/>
            </a:avLst>
          </a:prstGeom>
          <a:solidFill>
            <a:srgbClr val="10B981"/>
          </a:solidFill>
          <a:ln/>
        </p:spPr>
      </p:sp>
      <p:sp>
        <p:nvSpPr>
          <p:cNvPr id="13" name="Text 11"/>
          <p:cNvSpPr/>
          <p:nvPr/>
        </p:nvSpPr>
        <p:spPr>
          <a:xfrm>
            <a:off x="5212080" y="160020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4.7% reply · n=13,738</a:t>
            </a:r>
            <a:endParaRPr lang="en-US" sz="850" dirty="0"/>
          </a:p>
        </p:txBody>
      </p:sp>
      <p:sp>
        <p:nvSpPr>
          <p:cNvPr id="14" name="Text 12"/>
          <p:cNvSpPr/>
          <p:nvPr/>
        </p:nvSpPr>
        <p:spPr>
          <a:xfrm>
            <a:off x="457200" y="216712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0-25% about them</a:t>
            </a:r>
            <a:endParaRPr lang="en-US" sz="950" dirty="0"/>
          </a:p>
        </p:txBody>
      </p:sp>
      <p:sp>
        <p:nvSpPr>
          <p:cNvPr id="15" name="Shape 13"/>
          <p:cNvSpPr/>
          <p:nvPr/>
        </p:nvSpPr>
        <p:spPr>
          <a:xfrm>
            <a:off x="2377440" y="2390165"/>
            <a:ext cx="2697480" cy="120853"/>
          </a:xfrm>
          <a:prstGeom prst="roundRect">
            <a:avLst>
              <a:gd name="adj" fmla="val 302649"/>
            </a:avLst>
          </a:prstGeom>
          <a:solidFill>
            <a:srgbClr val="F1F5F9"/>
          </a:solidFill>
          <a:ln/>
        </p:spPr>
      </p:sp>
      <p:sp>
        <p:nvSpPr>
          <p:cNvPr id="16" name="Shape 14"/>
          <p:cNvSpPr/>
          <p:nvPr/>
        </p:nvSpPr>
        <p:spPr>
          <a:xfrm>
            <a:off x="2377440" y="2390165"/>
            <a:ext cx="2525300" cy="120853"/>
          </a:xfrm>
          <a:prstGeom prst="roundRect">
            <a:avLst>
              <a:gd name="adj" fmla="val 302649"/>
            </a:avLst>
          </a:prstGeom>
          <a:solidFill>
            <a:srgbClr val="0077B5"/>
          </a:solidFill>
          <a:ln/>
        </p:spPr>
      </p:sp>
      <p:sp>
        <p:nvSpPr>
          <p:cNvPr id="17" name="Text 15"/>
          <p:cNvSpPr/>
          <p:nvPr/>
        </p:nvSpPr>
        <p:spPr>
          <a:xfrm>
            <a:off x="5212080" y="216712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4.4% reply · n=6,441</a:t>
            </a:r>
            <a:endParaRPr lang="en-US" sz="850" dirty="0"/>
          </a:p>
        </p:txBody>
      </p:sp>
      <p:sp>
        <p:nvSpPr>
          <p:cNvPr id="18" name="Text 16"/>
          <p:cNvSpPr/>
          <p:nvPr/>
        </p:nvSpPr>
        <p:spPr>
          <a:xfrm>
            <a:off x="457200" y="273405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26-50% about them</a:t>
            </a:r>
            <a:endParaRPr lang="en-US" sz="950" dirty="0"/>
          </a:p>
        </p:txBody>
      </p:sp>
      <p:sp>
        <p:nvSpPr>
          <p:cNvPr id="19" name="Shape 17"/>
          <p:cNvSpPr/>
          <p:nvPr/>
        </p:nvSpPr>
        <p:spPr>
          <a:xfrm>
            <a:off x="2377440" y="2951284"/>
            <a:ext cx="2697480" cy="132471"/>
          </a:xfrm>
          <a:prstGeom prst="roundRect">
            <a:avLst>
              <a:gd name="adj" fmla="val 276106"/>
            </a:avLst>
          </a:prstGeom>
          <a:solidFill>
            <a:srgbClr val="F1F5F9"/>
          </a:solidFill>
          <a:ln/>
        </p:spPr>
      </p:sp>
      <p:sp>
        <p:nvSpPr>
          <p:cNvPr id="20" name="Shape 18"/>
          <p:cNvSpPr/>
          <p:nvPr/>
        </p:nvSpPr>
        <p:spPr>
          <a:xfrm>
            <a:off x="2377440" y="2951284"/>
            <a:ext cx="2008762" cy="132471"/>
          </a:xfrm>
          <a:prstGeom prst="roundRect">
            <a:avLst>
              <a:gd name="adj" fmla="val 276106"/>
            </a:avLst>
          </a:prstGeom>
          <a:solidFill>
            <a:srgbClr val="0077B5"/>
          </a:solidFill>
          <a:ln/>
        </p:spPr>
      </p:sp>
      <p:sp>
        <p:nvSpPr>
          <p:cNvPr id="21" name="Text 19"/>
          <p:cNvSpPr/>
          <p:nvPr/>
        </p:nvSpPr>
        <p:spPr>
          <a:xfrm>
            <a:off x="5212080" y="273405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3.5% reply · n=8,587</a:t>
            </a:r>
            <a:endParaRPr lang="en-US" sz="850" dirty="0"/>
          </a:p>
        </p:txBody>
      </p:sp>
      <p:sp>
        <p:nvSpPr>
          <p:cNvPr id="22" name="Text 20"/>
          <p:cNvSpPr/>
          <p:nvPr/>
        </p:nvSpPr>
        <p:spPr>
          <a:xfrm>
            <a:off x="457200" y="330098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51-75% about them</a:t>
            </a:r>
            <a:endParaRPr lang="en-US" sz="950" dirty="0"/>
          </a:p>
        </p:txBody>
      </p:sp>
      <p:sp>
        <p:nvSpPr>
          <p:cNvPr id="23" name="Shape 21"/>
          <p:cNvSpPr/>
          <p:nvPr/>
        </p:nvSpPr>
        <p:spPr>
          <a:xfrm>
            <a:off x="2377440" y="3514000"/>
            <a:ext cx="2697480" cy="140897"/>
          </a:xfrm>
          <a:prstGeom prst="roundRect">
            <a:avLst>
              <a:gd name="adj" fmla="val 259594"/>
            </a:avLst>
          </a:prstGeom>
          <a:solidFill>
            <a:srgbClr val="F1F5F9"/>
          </a:solidFill>
          <a:ln/>
        </p:spPr>
      </p:sp>
      <p:sp>
        <p:nvSpPr>
          <p:cNvPr id="24" name="Shape 22"/>
          <p:cNvSpPr/>
          <p:nvPr/>
        </p:nvSpPr>
        <p:spPr>
          <a:xfrm>
            <a:off x="2377440" y="3514000"/>
            <a:ext cx="2008762" cy="140897"/>
          </a:xfrm>
          <a:prstGeom prst="roundRect">
            <a:avLst>
              <a:gd name="adj" fmla="val 259594"/>
            </a:avLst>
          </a:prstGeom>
          <a:solidFill>
            <a:srgbClr val="0077B5"/>
          </a:solidFill>
          <a:ln/>
        </p:spPr>
      </p:sp>
      <p:sp>
        <p:nvSpPr>
          <p:cNvPr id="25" name="Text 23"/>
          <p:cNvSpPr/>
          <p:nvPr/>
        </p:nvSpPr>
        <p:spPr>
          <a:xfrm>
            <a:off x="5212080" y="330098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3.5% reply · n=10,336</a:t>
            </a:r>
            <a:endParaRPr lang="en-US" sz="850" dirty="0"/>
          </a:p>
        </p:txBody>
      </p:sp>
      <p:sp>
        <p:nvSpPr>
          <p:cNvPr id="26" name="Text 24"/>
          <p:cNvSpPr/>
          <p:nvPr/>
        </p:nvSpPr>
        <p:spPr>
          <a:xfrm>
            <a:off x="7205472" y="160020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27" name="Shape 25"/>
          <p:cNvSpPr/>
          <p:nvPr/>
        </p:nvSpPr>
        <p:spPr>
          <a:xfrm>
            <a:off x="7205472" y="1856232"/>
            <a:ext cx="4526280" cy="4453128"/>
          </a:xfrm>
          <a:prstGeom prst="roundRect">
            <a:avLst>
              <a:gd name="adj" fmla="val 513"/>
            </a:avLst>
          </a:prstGeom>
          <a:solidFill>
            <a:srgbClr val="F8FAFC"/>
          </a:solidFill>
          <a:ln w="12700">
            <a:solidFill>
              <a:srgbClr val="E5E7EB"/>
            </a:solidFill>
            <a:prstDash val="solid"/>
          </a:ln>
        </p:spPr>
      </p:sp>
      <p:sp>
        <p:nvSpPr>
          <p:cNvPr id="28" name="Text 26"/>
          <p:cNvSpPr/>
          <p:nvPr/>
        </p:nvSpPr>
        <p:spPr>
          <a:xfrm>
            <a:off x="7296912" y="181051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29" name="Text 27"/>
          <p:cNvSpPr/>
          <p:nvPr/>
        </p:nvSpPr>
        <p:spPr>
          <a:xfrm>
            <a:off x="7525512" y="213055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Neha MPH</a:t>
            </a:r>
            <a:endParaRPr lang="en-US" sz="1500" dirty="0"/>
          </a:p>
        </p:txBody>
      </p:sp>
      <p:sp>
        <p:nvSpPr>
          <p:cNvPr id="30" name="Text 28"/>
          <p:cNvSpPr/>
          <p:nvPr/>
        </p:nvSpPr>
        <p:spPr>
          <a:xfrm>
            <a:off x="7525512" y="247802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MPH Epidemiology | Dentist 🦷 | Infectious Disease Epidemiology | Clinical Research | Healthcare Consultant @ Lead Clinical Research Coordinator, Hematology and Cellular Therapy Division</a:t>
            </a:r>
            <a:endParaRPr lang="en-US" sz="1100" dirty="0"/>
          </a:p>
        </p:txBody>
      </p:sp>
      <p:sp>
        <p:nvSpPr>
          <p:cNvPr id="31" name="Text 29"/>
          <p:cNvSpPr/>
          <p:nvPr/>
        </p:nvSpPr>
        <p:spPr>
          <a:xfrm>
            <a:off x="7525512" y="2907792"/>
            <a:ext cx="3886200" cy="308152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You lead clinical research in hematology and cellular therapy, impressive work. We're running a biopharma funded patient data outcomes collaborative, would love to invite you.</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AI Feel</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9" name="Text 7"/>
          <p:cNvSpPr/>
          <p:nvPr/>
        </p:nvSpPr>
        <p:spPr>
          <a:xfrm>
            <a:off x="457200" y="1234440"/>
            <a:ext cx="11274552" cy="274320"/>
          </a:xfrm>
          <a:prstGeom prst="rect">
            <a:avLst/>
          </a:prstGeom>
          <a:noFill/>
          <a:ln/>
        </p:spPr>
        <p:txBody>
          <a:bodyPr wrap="square" rtlCol="0" anchor="ctr"/>
          <a:lstStyle/>
          <a:p>
            <a:pPr indent="0" marL="0">
              <a:buNone/>
            </a:pPr>
            <a:r>
              <a:rPr lang="en-US" sz="1100" b="1" dirty="0">
                <a:solidFill>
                  <a:srgbClr val="0077B5"/>
                </a:solidFill>
                <a:latin typeface="Calibri" pitchFamily="34" charset="0"/>
                <a:ea typeface="Calibri" pitchFamily="34" charset="-122"/>
                <a:cs typeface="Calibri" pitchFamily="34" charset="-120"/>
              </a:rPr>
              <a:t>Average "AI feel" score: 2.4 / 5  (1 = clearly human, 5 = obviously AI)</a:t>
            </a:r>
            <a:endParaRPr lang="en-US" sz="1100" dirty="0"/>
          </a:p>
        </p:txBody>
      </p:sp>
      <p:sp>
        <p:nvSpPr>
          <p:cNvPr id="10" name="Text 8"/>
          <p:cNvSpPr/>
          <p:nvPr/>
        </p:nvSpPr>
        <p:spPr>
          <a:xfrm>
            <a:off x="457200" y="160020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Score 5</a:t>
            </a:r>
            <a:endParaRPr lang="en-US" sz="950" dirty="0"/>
          </a:p>
        </p:txBody>
      </p:sp>
      <p:sp>
        <p:nvSpPr>
          <p:cNvPr id="11" name="Shape 9"/>
          <p:cNvSpPr/>
          <p:nvPr/>
        </p:nvSpPr>
        <p:spPr>
          <a:xfrm>
            <a:off x="2377440" y="1858086"/>
            <a:ext cx="2697480" cy="51155"/>
          </a:xfrm>
          <a:prstGeom prst="roundRect">
            <a:avLst>
              <a:gd name="adj" fmla="val 715003"/>
            </a:avLst>
          </a:prstGeom>
          <a:solidFill>
            <a:srgbClr val="F1F5F9"/>
          </a:solidFill>
          <a:ln/>
        </p:spPr>
      </p:sp>
      <p:sp>
        <p:nvSpPr>
          <p:cNvPr id="12" name="Shape 10"/>
          <p:cNvSpPr/>
          <p:nvPr/>
        </p:nvSpPr>
        <p:spPr>
          <a:xfrm>
            <a:off x="2377440" y="1858086"/>
            <a:ext cx="2697480" cy="51155"/>
          </a:xfrm>
          <a:prstGeom prst="roundRect">
            <a:avLst>
              <a:gd name="adj" fmla="val 715003"/>
            </a:avLst>
          </a:prstGeom>
          <a:solidFill>
            <a:srgbClr val="10B981"/>
          </a:solidFill>
          <a:ln/>
        </p:spPr>
      </p:sp>
      <p:sp>
        <p:nvSpPr>
          <p:cNvPr id="13" name="Text 11"/>
          <p:cNvSpPr/>
          <p:nvPr/>
        </p:nvSpPr>
        <p:spPr>
          <a:xfrm>
            <a:off x="5212080" y="160020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46.2% reply · n=65</a:t>
            </a:r>
            <a:endParaRPr lang="en-US" sz="850" dirty="0"/>
          </a:p>
        </p:txBody>
      </p:sp>
      <p:sp>
        <p:nvSpPr>
          <p:cNvPr id="14" name="Text 12"/>
          <p:cNvSpPr/>
          <p:nvPr/>
        </p:nvSpPr>
        <p:spPr>
          <a:xfrm>
            <a:off x="457200" y="216712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Score 1</a:t>
            </a:r>
            <a:endParaRPr lang="en-US" sz="950" dirty="0"/>
          </a:p>
        </p:txBody>
      </p:sp>
      <p:sp>
        <p:nvSpPr>
          <p:cNvPr id="15" name="Shape 13"/>
          <p:cNvSpPr/>
          <p:nvPr/>
        </p:nvSpPr>
        <p:spPr>
          <a:xfrm>
            <a:off x="2377440" y="2422521"/>
            <a:ext cx="2697480" cy="56142"/>
          </a:xfrm>
          <a:prstGeom prst="roundRect">
            <a:avLst>
              <a:gd name="adj" fmla="val 651491"/>
            </a:avLst>
          </a:prstGeom>
          <a:solidFill>
            <a:srgbClr val="F1F5F9"/>
          </a:solidFill>
          <a:ln/>
        </p:spPr>
      </p:sp>
      <p:sp>
        <p:nvSpPr>
          <p:cNvPr id="16" name="Shape 14"/>
          <p:cNvSpPr/>
          <p:nvPr/>
        </p:nvSpPr>
        <p:spPr>
          <a:xfrm>
            <a:off x="2377440" y="2422521"/>
            <a:ext cx="461257" cy="56142"/>
          </a:xfrm>
          <a:prstGeom prst="roundRect">
            <a:avLst>
              <a:gd name="adj" fmla="val 651491"/>
            </a:avLst>
          </a:prstGeom>
          <a:solidFill>
            <a:srgbClr val="0077B5"/>
          </a:solidFill>
          <a:ln/>
        </p:spPr>
      </p:sp>
      <p:sp>
        <p:nvSpPr>
          <p:cNvPr id="17" name="Text 15"/>
          <p:cNvSpPr/>
          <p:nvPr/>
        </p:nvSpPr>
        <p:spPr>
          <a:xfrm>
            <a:off x="5212080" y="216712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7.9% reply · n=239</a:t>
            </a:r>
            <a:endParaRPr lang="en-US" sz="850" dirty="0"/>
          </a:p>
        </p:txBody>
      </p:sp>
      <p:sp>
        <p:nvSpPr>
          <p:cNvPr id="18" name="Text 16"/>
          <p:cNvSpPr/>
          <p:nvPr/>
        </p:nvSpPr>
        <p:spPr>
          <a:xfrm>
            <a:off x="457200" y="273405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Score 2</a:t>
            </a:r>
            <a:endParaRPr lang="en-US" sz="950" dirty="0"/>
          </a:p>
        </p:txBody>
      </p:sp>
      <p:sp>
        <p:nvSpPr>
          <p:cNvPr id="19" name="Shape 17"/>
          <p:cNvSpPr/>
          <p:nvPr/>
        </p:nvSpPr>
        <p:spPr>
          <a:xfrm>
            <a:off x="2377440" y="2939796"/>
            <a:ext cx="2697480" cy="155448"/>
          </a:xfrm>
          <a:prstGeom prst="roundRect">
            <a:avLst>
              <a:gd name="adj" fmla="val 235294"/>
            </a:avLst>
          </a:prstGeom>
          <a:solidFill>
            <a:srgbClr val="F1F5F9"/>
          </a:solidFill>
          <a:ln/>
        </p:spPr>
      </p:sp>
      <p:sp>
        <p:nvSpPr>
          <p:cNvPr id="20" name="Shape 18"/>
          <p:cNvSpPr/>
          <p:nvPr/>
        </p:nvSpPr>
        <p:spPr>
          <a:xfrm>
            <a:off x="2377440" y="2939796"/>
            <a:ext cx="268580" cy="155448"/>
          </a:xfrm>
          <a:prstGeom prst="roundRect">
            <a:avLst>
              <a:gd name="adj" fmla="val 235294"/>
            </a:avLst>
          </a:prstGeom>
          <a:solidFill>
            <a:srgbClr val="0077B5"/>
          </a:solidFill>
          <a:ln/>
        </p:spPr>
      </p:sp>
      <p:sp>
        <p:nvSpPr>
          <p:cNvPr id="21" name="Text 19"/>
          <p:cNvSpPr/>
          <p:nvPr/>
        </p:nvSpPr>
        <p:spPr>
          <a:xfrm>
            <a:off x="5212080" y="273405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4.6% reply · n=26,494</a:t>
            </a:r>
            <a:endParaRPr lang="en-US" sz="850" dirty="0"/>
          </a:p>
        </p:txBody>
      </p:sp>
      <p:sp>
        <p:nvSpPr>
          <p:cNvPr id="22" name="Text 20"/>
          <p:cNvSpPr/>
          <p:nvPr/>
        </p:nvSpPr>
        <p:spPr>
          <a:xfrm>
            <a:off x="457200" y="330098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Score 4</a:t>
            </a:r>
            <a:endParaRPr lang="en-US" sz="950" dirty="0"/>
          </a:p>
        </p:txBody>
      </p:sp>
      <p:sp>
        <p:nvSpPr>
          <p:cNvPr id="23" name="Shape 21"/>
          <p:cNvSpPr/>
          <p:nvPr/>
        </p:nvSpPr>
        <p:spPr>
          <a:xfrm>
            <a:off x="2377440" y="3542390"/>
            <a:ext cx="2697480" cy="84116"/>
          </a:xfrm>
          <a:prstGeom prst="roundRect">
            <a:avLst>
              <a:gd name="adj" fmla="val 434828"/>
            </a:avLst>
          </a:prstGeom>
          <a:solidFill>
            <a:srgbClr val="F1F5F9"/>
          </a:solidFill>
          <a:ln/>
        </p:spPr>
      </p:sp>
      <p:sp>
        <p:nvSpPr>
          <p:cNvPr id="24" name="Shape 22"/>
          <p:cNvSpPr/>
          <p:nvPr/>
        </p:nvSpPr>
        <p:spPr>
          <a:xfrm>
            <a:off x="2377440" y="3542390"/>
            <a:ext cx="181000" cy="84116"/>
          </a:xfrm>
          <a:prstGeom prst="roundRect">
            <a:avLst>
              <a:gd name="adj" fmla="val 434828"/>
            </a:avLst>
          </a:prstGeom>
          <a:solidFill>
            <a:srgbClr val="0077B5"/>
          </a:solidFill>
          <a:ln/>
        </p:spPr>
      </p:sp>
      <p:sp>
        <p:nvSpPr>
          <p:cNvPr id="25" name="Text 23"/>
          <p:cNvSpPr/>
          <p:nvPr/>
        </p:nvSpPr>
        <p:spPr>
          <a:xfrm>
            <a:off x="5212080" y="330098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3.1% reply · n=3,244</a:t>
            </a:r>
            <a:endParaRPr lang="en-US" sz="850" dirty="0"/>
          </a:p>
        </p:txBody>
      </p:sp>
      <p:sp>
        <p:nvSpPr>
          <p:cNvPr id="26" name="Text 24"/>
          <p:cNvSpPr/>
          <p:nvPr/>
        </p:nvSpPr>
        <p:spPr>
          <a:xfrm>
            <a:off x="457200" y="3867912"/>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Score 3</a:t>
            </a:r>
            <a:endParaRPr lang="en-US" sz="950" dirty="0"/>
          </a:p>
        </p:txBody>
      </p:sp>
      <p:sp>
        <p:nvSpPr>
          <p:cNvPr id="27" name="Shape 25"/>
          <p:cNvSpPr/>
          <p:nvPr/>
        </p:nvSpPr>
        <p:spPr>
          <a:xfrm>
            <a:off x="2377440" y="4096545"/>
            <a:ext cx="2697480" cy="109663"/>
          </a:xfrm>
          <a:prstGeom prst="roundRect">
            <a:avLst>
              <a:gd name="adj" fmla="val 333531"/>
            </a:avLst>
          </a:prstGeom>
          <a:solidFill>
            <a:srgbClr val="F1F5F9"/>
          </a:solidFill>
          <a:ln/>
        </p:spPr>
      </p:sp>
      <p:sp>
        <p:nvSpPr>
          <p:cNvPr id="28" name="Shape 26"/>
          <p:cNvSpPr/>
          <p:nvPr/>
        </p:nvSpPr>
        <p:spPr>
          <a:xfrm>
            <a:off x="2377440" y="4096545"/>
            <a:ext cx="140129" cy="109663"/>
          </a:xfrm>
          <a:prstGeom prst="roundRect">
            <a:avLst>
              <a:gd name="adj" fmla="val 333531"/>
            </a:avLst>
          </a:prstGeom>
          <a:solidFill>
            <a:srgbClr val="0077B5"/>
          </a:solidFill>
          <a:ln/>
        </p:spPr>
      </p:sp>
      <p:sp>
        <p:nvSpPr>
          <p:cNvPr id="29" name="Text 27"/>
          <p:cNvSpPr/>
          <p:nvPr/>
        </p:nvSpPr>
        <p:spPr>
          <a:xfrm>
            <a:off x="5212080" y="386791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2.4% reply · n=8,997</a:t>
            </a:r>
            <a:endParaRPr lang="en-US" sz="850" dirty="0"/>
          </a:p>
        </p:txBody>
      </p:sp>
      <p:sp>
        <p:nvSpPr>
          <p:cNvPr id="30" name="Text 28"/>
          <p:cNvSpPr/>
          <p:nvPr/>
        </p:nvSpPr>
        <p:spPr>
          <a:xfrm>
            <a:off x="7205472" y="160020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31" name="Shape 29"/>
          <p:cNvSpPr/>
          <p:nvPr/>
        </p:nvSpPr>
        <p:spPr>
          <a:xfrm>
            <a:off x="7205472" y="1856232"/>
            <a:ext cx="4526280" cy="4453128"/>
          </a:xfrm>
          <a:prstGeom prst="roundRect">
            <a:avLst>
              <a:gd name="adj" fmla="val 513"/>
            </a:avLst>
          </a:prstGeom>
          <a:solidFill>
            <a:srgbClr val="F8FAFC"/>
          </a:solidFill>
          <a:ln w="12700">
            <a:solidFill>
              <a:srgbClr val="E5E7EB"/>
            </a:solidFill>
            <a:prstDash val="solid"/>
          </a:ln>
        </p:spPr>
      </p:sp>
      <p:sp>
        <p:nvSpPr>
          <p:cNvPr id="32" name="Text 30"/>
          <p:cNvSpPr/>
          <p:nvPr/>
        </p:nvSpPr>
        <p:spPr>
          <a:xfrm>
            <a:off x="7296912" y="181051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33" name="Text 31"/>
          <p:cNvSpPr/>
          <p:nvPr/>
        </p:nvSpPr>
        <p:spPr>
          <a:xfrm>
            <a:off x="7525512" y="213055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Nevin Ramanujan</a:t>
            </a:r>
            <a:endParaRPr lang="en-US" sz="1500" dirty="0"/>
          </a:p>
        </p:txBody>
      </p:sp>
      <p:sp>
        <p:nvSpPr>
          <p:cNvPr id="34" name="Text 32"/>
          <p:cNvSpPr/>
          <p:nvPr/>
        </p:nvSpPr>
        <p:spPr>
          <a:xfrm>
            <a:off x="7525512" y="247802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General Partner @ InnovateHealth Ventures</a:t>
            </a:r>
            <a:endParaRPr lang="en-US" sz="1100" dirty="0"/>
          </a:p>
        </p:txBody>
      </p:sp>
      <p:sp>
        <p:nvSpPr>
          <p:cNvPr id="35" name="Text 33"/>
          <p:cNvSpPr/>
          <p:nvPr/>
        </p:nvSpPr>
        <p:spPr>
          <a:xfrm>
            <a:off x="7525512" y="2907792"/>
            <a:ext cx="3886200" cy="308152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Hi Nevin, happy to chat sometime.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Message Length</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9" name="Text 7"/>
          <p:cNvSpPr/>
          <p:nvPr/>
        </p:nvSpPr>
        <p:spPr>
          <a:xfrm>
            <a:off x="457200" y="1234440"/>
            <a:ext cx="1783080" cy="415636"/>
          </a:xfrm>
          <a:prstGeom prst="rect">
            <a:avLst/>
          </a:prstGeom>
          <a:noFill/>
          <a:ln/>
        </p:spPr>
        <p:txBody>
          <a:bodyPr wrap="square" rtlCol="0" anchor="ctr">
            <a:normAutofit/>
          </a:bodyPr>
          <a:lstStyle/>
          <a:p>
            <a:pPr indent="0" marL="0">
              <a:buNone/>
            </a:pPr>
            <a:r>
              <a:rPr lang="en-US" sz="950" dirty="0">
                <a:solidFill>
                  <a:srgbClr val="6B7280"/>
                </a:solidFill>
                <a:latin typeface="Calibri" pitchFamily="34" charset="0"/>
                <a:ea typeface="Calibri" pitchFamily="34" charset="-122"/>
                <a:cs typeface="Calibri" pitchFamily="34" charset="-120"/>
              </a:rPr>
              <a:t>1-25</a:t>
            </a:r>
            <a:endParaRPr lang="en-US" sz="950" dirty="0"/>
          </a:p>
        </p:txBody>
      </p:sp>
      <p:sp>
        <p:nvSpPr>
          <p:cNvPr id="10" name="Shape 8"/>
          <p:cNvSpPr/>
          <p:nvPr/>
        </p:nvSpPr>
        <p:spPr>
          <a:xfrm>
            <a:off x="2377440" y="1440842"/>
            <a:ext cx="2697480" cy="48552"/>
          </a:xfrm>
          <a:prstGeom prst="roundRect">
            <a:avLst>
              <a:gd name="adj" fmla="val 753337"/>
            </a:avLst>
          </a:prstGeom>
          <a:solidFill>
            <a:srgbClr val="F1F5F9"/>
          </a:solidFill>
          <a:ln/>
        </p:spPr>
      </p:sp>
      <p:sp>
        <p:nvSpPr>
          <p:cNvPr id="11" name="Shape 9"/>
          <p:cNvSpPr/>
          <p:nvPr/>
        </p:nvSpPr>
        <p:spPr>
          <a:xfrm>
            <a:off x="2377440" y="1440842"/>
            <a:ext cx="2616958" cy="48552"/>
          </a:xfrm>
          <a:prstGeom prst="roundRect">
            <a:avLst>
              <a:gd name="adj" fmla="val 753337"/>
            </a:avLst>
          </a:prstGeom>
          <a:solidFill>
            <a:srgbClr val="D1D5DB"/>
          </a:solidFill>
          <a:ln/>
        </p:spPr>
      </p:sp>
      <p:sp>
        <p:nvSpPr>
          <p:cNvPr id="12" name="Text 10"/>
          <p:cNvSpPr/>
          <p:nvPr/>
        </p:nvSpPr>
        <p:spPr>
          <a:xfrm>
            <a:off x="5212080" y="1234440"/>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45.5% reply · n=11</a:t>
            </a:r>
            <a:endParaRPr lang="en-US" sz="850" dirty="0"/>
          </a:p>
        </p:txBody>
      </p:sp>
      <p:sp>
        <p:nvSpPr>
          <p:cNvPr id="13" name="Text 11"/>
          <p:cNvSpPr/>
          <p:nvPr/>
        </p:nvSpPr>
        <p:spPr>
          <a:xfrm>
            <a:off x="457200" y="1695796"/>
            <a:ext cx="1783080" cy="415636"/>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26-50</a:t>
            </a:r>
            <a:endParaRPr lang="en-US" sz="950" dirty="0"/>
          </a:p>
        </p:txBody>
      </p:sp>
      <p:sp>
        <p:nvSpPr>
          <p:cNvPr id="14" name="Shape 12"/>
          <p:cNvSpPr/>
          <p:nvPr/>
        </p:nvSpPr>
        <p:spPr>
          <a:xfrm>
            <a:off x="2377440" y="1899918"/>
            <a:ext cx="2697480" cy="53114"/>
          </a:xfrm>
          <a:prstGeom prst="roundRect">
            <a:avLst>
              <a:gd name="adj" fmla="val 688632"/>
            </a:avLst>
          </a:prstGeom>
          <a:solidFill>
            <a:srgbClr val="F1F5F9"/>
          </a:solidFill>
          <a:ln/>
        </p:spPr>
      </p:sp>
      <p:sp>
        <p:nvSpPr>
          <p:cNvPr id="15" name="Shape 13"/>
          <p:cNvSpPr/>
          <p:nvPr/>
        </p:nvSpPr>
        <p:spPr>
          <a:xfrm>
            <a:off x="2377440" y="1899918"/>
            <a:ext cx="2070560" cy="53114"/>
          </a:xfrm>
          <a:prstGeom prst="roundRect">
            <a:avLst>
              <a:gd name="adj" fmla="val 688632"/>
            </a:avLst>
          </a:prstGeom>
          <a:solidFill>
            <a:srgbClr val="0077B5"/>
          </a:solidFill>
          <a:ln/>
        </p:spPr>
      </p:sp>
      <p:sp>
        <p:nvSpPr>
          <p:cNvPr id="16" name="Text 14"/>
          <p:cNvSpPr/>
          <p:nvPr/>
        </p:nvSpPr>
        <p:spPr>
          <a:xfrm>
            <a:off x="5212080" y="1695796"/>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36.0% reply · n=75</a:t>
            </a:r>
            <a:endParaRPr lang="en-US" sz="850" dirty="0"/>
          </a:p>
        </p:txBody>
      </p:sp>
      <p:sp>
        <p:nvSpPr>
          <p:cNvPr id="17" name="Text 15"/>
          <p:cNvSpPr/>
          <p:nvPr/>
        </p:nvSpPr>
        <p:spPr>
          <a:xfrm>
            <a:off x="457200" y="2157153"/>
            <a:ext cx="1783080" cy="415636"/>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51-75</a:t>
            </a:r>
            <a:endParaRPr lang="en-US" sz="950" dirty="0"/>
          </a:p>
        </p:txBody>
      </p:sp>
      <p:sp>
        <p:nvSpPr>
          <p:cNvPr id="18" name="Shape 16"/>
          <p:cNvSpPr/>
          <p:nvPr/>
        </p:nvSpPr>
        <p:spPr>
          <a:xfrm>
            <a:off x="2377440" y="2359956"/>
            <a:ext cx="2697480" cy="55749"/>
          </a:xfrm>
          <a:prstGeom prst="roundRect">
            <a:avLst>
              <a:gd name="adj" fmla="val 656084"/>
            </a:avLst>
          </a:prstGeom>
          <a:solidFill>
            <a:srgbClr val="F1F5F9"/>
          </a:solidFill>
          <a:ln/>
        </p:spPr>
      </p:sp>
      <p:sp>
        <p:nvSpPr>
          <p:cNvPr id="19" name="Shape 17"/>
          <p:cNvSpPr/>
          <p:nvPr/>
        </p:nvSpPr>
        <p:spPr>
          <a:xfrm>
            <a:off x="2377440" y="2359956"/>
            <a:ext cx="1167566" cy="55749"/>
          </a:xfrm>
          <a:prstGeom prst="roundRect">
            <a:avLst>
              <a:gd name="adj" fmla="val 656084"/>
            </a:avLst>
          </a:prstGeom>
          <a:solidFill>
            <a:srgbClr val="0077B5"/>
          </a:solidFill>
          <a:ln/>
        </p:spPr>
      </p:sp>
      <p:sp>
        <p:nvSpPr>
          <p:cNvPr id="20" name="Text 18"/>
          <p:cNvSpPr/>
          <p:nvPr/>
        </p:nvSpPr>
        <p:spPr>
          <a:xfrm>
            <a:off x="5212080" y="2157153"/>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20.3% reply · n=138</a:t>
            </a:r>
            <a:endParaRPr lang="en-US" sz="850" dirty="0"/>
          </a:p>
        </p:txBody>
      </p:sp>
      <p:sp>
        <p:nvSpPr>
          <p:cNvPr id="21" name="Text 19"/>
          <p:cNvSpPr/>
          <p:nvPr/>
        </p:nvSpPr>
        <p:spPr>
          <a:xfrm>
            <a:off x="457200" y="2618509"/>
            <a:ext cx="1783080" cy="415636"/>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76-100</a:t>
            </a:r>
            <a:endParaRPr lang="en-US" sz="950" dirty="0"/>
          </a:p>
        </p:txBody>
      </p:sp>
      <p:sp>
        <p:nvSpPr>
          <p:cNvPr id="22" name="Shape 20"/>
          <p:cNvSpPr/>
          <p:nvPr/>
        </p:nvSpPr>
        <p:spPr>
          <a:xfrm>
            <a:off x="2377440" y="2817152"/>
            <a:ext cx="2697480" cy="64070"/>
          </a:xfrm>
          <a:prstGeom prst="roundRect">
            <a:avLst>
              <a:gd name="adj" fmla="val 570876"/>
            </a:avLst>
          </a:prstGeom>
          <a:solidFill>
            <a:srgbClr val="F1F5F9"/>
          </a:solidFill>
          <a:ln/>
        </p:spPr>
      </p:sp>
      <p:sp>
        <p:nvSpPr>
          <p:cNvPr id="23" name="Shape 21"/>
          <p:cNvSpPr/>
          <p:nvPr/>
        </p:nvSpPr>
        <p:spPr>
          <a:xfrm>
            <a:off x="2377440" y="2817152"/>
            <a:ext cx="511889" cy="64070"/>
          </a:xfrm>
          <a:prstGeom prst="roundRect">
            <a:avLst>
              <a:gd name="adj" fmla="val 570876"/>
            </a:avLst>
          </a:prstGeom>
          <a:solidFill>
            <a:srgbClr val="0077B5"/>
          </a:solidFill>
          <a:ln/>
        </p:spPr>
      </p:sp>
      <p:sp>
        <p:nvSpPr>
          <p:cNvPr id="24" name="Text 22"/>
          <p:cNvSpPr/>
          <p:nvPr/>
        </p:nvSpPr>
        <p:spPr>
          <a:xfrm>
            <a:off x="5212080" y="2618509"/>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8.9% reply · n=462</a:t>
            </a:r>
            <a:endParaRPr lang="en-US" sz="850" dirty="0"/>
          </a:p>
        </p:txBody>
      </p:sp>
      <p:sp>
        <p:nvSpPr>
          <p:cNvPr id="25" name="Text 23"/>
          <p:cNvSpPr/>
          <p:nvPr/>
        </p:nvSpPr>
        <p:spPr>
          <a:xfrm>
            <a:off x="457200" y="3079865"/>
            <a:ext cx="1783080" cy="415636"/>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101-125</a:t>
            </a:r>
            <a:endParaRPr lang="en-US" sz="950" dirty="0"/>
          </a:p>
        </p:txBody>
      </p:sp>
      <p:sp>
        <p:nvSpPr>
          <p:cNvPr id="26" name="Shape 24"/>
          <p:cNvSpPr/>
          <p:nvPr/>
        </p:nvSpPr>
        <p:spPr>
          <a:xfrm>
            <a:off x="2377440" y="3268589"/>
            <a:ext cx="2697480" cy="83910"/>
          </a:xfrm>
          <a:prstGeom prst="roundRect">
            <a:avLst>
              <a:gd name="adj" fmla="val 435896"/>
            </a:avLst>
          </a:prstGeom>
          <a:solidFill>
            <a:srgbClr val="F1F5F9"/>
          </a:solidFill>
          <a:ln/>
        </p:spPr>
      </p:sp>
      <p:sp>
        <p:nvSpPr>
          <p:cNvPr id="27" name="Shape 25"/>
          <p:cNvSpPr/>
          <p:nvPr/>
        </p:nvSpPr>
        <p:spPr>
          <a:xfrm>
            <a:off x="2377440" y="3268589"/>
            <a:ext cx="339342" cy="83910"/>
          </a:xfrm>
          <a:prstGeom prst="roundRect">
            <a:avLst>
              <a:gd name="adj" fmla="val 435896"/>
            </a:avLst>
          </a:prstGeom>
          <a:solidFill>
            <a:srgbClr val="0077B5"/>
          </a:solidFill>
          <a:ln/>
        </p:spPr>
      </p:sp>
      <p:sp>
        <p:nvSpPr>
          <p:cNvPr id="28" name="Text 26"/>
          <p:cNvSpPr/>
          <p:nvPr/>
        </p:nvSpPr>
        <p:spPr>
          <a:xfrm>
            <a:off x="5212080" y="3079865"/>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5.9% reply · n=2,001</a:t>
            </a:r>
            <a:endParaRPr lang="en-US" sz="850" dirty="0"/>
          </a:p>
        </p:txBody>
      </p:sp>
      <p:sp>
        <p:nvSpPr>
          <p:cNvPr id="29" name="Text 27"/>
          <p:cNvSpPr/>
          <p:nvPr/>
        </p:nvSpPr>
        <p:spPr>
          <a:xfrm>
            <a:off x="457200" y="3541222"/>
            <a:ext cx="1783080" cy="415636"/>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126-150</a:t>
            </a:r>
            <a:endParaRPr lang="en-US" sz="950" dirty="0"/>
          </a:p>
        </p:txBody>
      </p:sp>
      <p:sp>
        <p:nvSpPr>
          <p:cNvPr id="30" name="Shape 28"/>
          <p:cNvSpPr/>
          <p:nvPr/>
        </p:nvSpPr>
        <p:spPr>
          <a:xfrm>
            <a:off x="2377440" y="3712666"/>
            <a:ext cx="2697480" cy="118468"/>
          </a:xfrm>
          <a:prstGeom prst="roundRect">
            <a:avLst>
              <a:gd name="adj" fmla="val 308742"/>
            </a:avLst>
          </a:prstGeom>
          <a:solidFill>
            <a:srgbClr val="F1F5F9"/>
          </a:solidFill>
          <a:ln/>
        </p:spPr>
      </p:sp>
      <p:sp>
        <p:nvSpPr>
          <p:cNvPr id="31" name="Shape 29"/>
          <p:cNvSpPr/>
          <p:nvPr/>
        </p:nvSpPr>
        <p:spPr>
          <a:xfrm>
            <a:off x="2377440" y="3712666"/>
            <a:ext cx="230062" cy="118468"/>
          </a:xfrm>
          <a:prstGeom prst="roundRect">
            <a:avLst>
              <a:gd name="adj" fmla="val 308742"/>
            </a:avLst>
          </a:prstGeom>
          <a:solidFill>
            <a:srgbClr val="0077B5"/>
          </a:solidFill>
          <a:ln/>
        </p:spPr>
      </p:sp>
      <p:sp>
        <p:nvSpPr>
          <p:cNvPr id="32" name="Text 30"/>
          <p:cNvSpPr/>
          <p:nvPr/>
        </p:nvSpPr>
        <p:spPr>
          <a:xfrm>
            <a:off x="5212080" y="3541222"/>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4.0% reply · n=7,261</a:t>
            </a:r>
            <a:endParaRPr lang="en-US" sz="850" dirty="0"/>
          </a:p>
        </p:txBody>
      </p:sp>
      <p:sp>
        <p:nvSpPr>
          <p:cNvPr id="33" name="Text 31"/>
          <p:cNvSpPr/>
          <p:nvPr/>
        </p:nvSpPr>
        <p:spPr>
          <a:xfrm>
            <a:off x="457200" y="4002578"/>
            <a:ext cx="1783080" cy="415636"/>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151-175</a:t>
            </a:r>
            <a:endParaRPr lang="en-US" sz="950" dirty="0"/>
          </a:p>
        </p:txBody>
      </p:sp>
      <p:sp>
        <p:nvSpPr>
          <p:cNvPr id="34" name="Shape 32"/>
          <p:cNvSpPr/>
          <p:nvPr/>
        </p:nvSpPr>
        <p:spPr>
          <a:xfrm>
            <a:off x="2377440" y="4162562"/>
            <a:ext cx="2697480" cy="141388"/>
          </a:xfrm>
          <a:prstGeom prst="roundRect">
            <a:avLst>
              <a:gd name="adj" fmla="val 258692"/>
            </a:avLst>
          </a:prstGeom>
          <a:solidFill>
            <a:srgbClr val="F1F5F9"/>
          </a:solidFill>
          <a:ln/>
        </p:spPr>
      </p:sp>
      <p:sp>
        <p:nvSpPr>
          <p:cNvPr id="35" name="Shape 33"/>
          <p:cNvSpPr/>
          <p:nvPr/>
        </p:nvSpPr>
        <p:spPr>
          <a:xfrm>
            <a:off x="2377440" y="4162562"/>
            <a:ext cx="195553" cy="141388"/>
          </a:xfrm>
          <a:prstGeom prst="roundRect">
            <a:avLst>
              <a:gd name="adj" fmla="val 258692"/>
            </a:avLst>
          </a:prstGeom>
          <a:solidFill>
            <a:srgbClr val="0077B5"/>
          </a:solidFill>
          <a:ln/>
        </p:spPr>
      </p:sp>
      <p:sp>
        <p:nvSpPr>
          <p:cNvPr id="36" name="Text 34"/>
          <p:cNvSpPr/>
          <p:nvPr/>
        </p:nvSpPr>
        <p:spPr>
          <a:xfrm>
            <a:off x="5212080" y="4002578"/>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3.4% reply · n=12,557</a:t>
            </a:r>
            <a:endParaRPr lang="en-US" sz="850" dirty="0"/>
          </a:p>
        </p:txBody>
      </p:sp>
      <p:sp>
        <p:nvSpPr>
          <p:cNvPr id="37" name="Text 35"/>
          <p:cNvSpPr/>
          <p:nvPr/>
        </p:nvSpPr>
        <p:spPr>
          <a:xfrm>
            <a:off x="457200" y="4463935"/>
            <a:ext cx="1783080" cy="415636"/>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176-200</a:t>
            </a:r>
            <a:endParaRPr lang="en-US" sz="950" dirty="0"/>
          </a:p>
        </p:txBody>
      </p:sp>
      <p:sp>
        <p:nvSpPr>
          <p:cNvPr id="38" name="Shape 36"/>
          <p:cNvSpPr/>
          <p:nvPr/>
        </p:nvSpPr>
        <p:spPr>
          <a:xfrm>
            <a:off x="2377440" y="4616889"/>
            <a:ext cx="2697480" cy="155448"/>
          </a:xfrm>
          <a:prstGeom prst="roundRect">
            <a:avLst>
              <a:gd name="adj" fmla="val 235294"/>
            </a:avLst>
          </a:prstGeom>
          <a:solidFill>
            <a:srgbClr val="F1F5F9"/>
          </a:solidFill>
          <a:ln/>
        </p:spPr>
      </p:sp>
      <p:sp>
        <p:nvSpPr>
          <p:cNvPr id="39" name="Shape 37"/>
          <p:cNvSpPr/>
          <p:nvPr/>
        </p:nvSpPr>
        <p:spPr>
          <a:xfrm>
            <a:off x="2377440" y="4616889"/>
            <a:ext cx="184050" cy="155448"/>
          </a:xfrm>
          <a:prstGeom prst="roundRect">
            <a:avLst>
              <a:gd name="adj" fmla="val 235294"/>
            </a:avLst>
          </a:prstGeom>
          <a:solidFill>
            <a:srgbClr val="0077B5"/>
          </a:solidFill>
          <a:ln/>
        </p:spPr>
      </p:sp>
      <p:sp>
        <p:nvSpPr>
          <p:cNvPr id="40" name="Text 38"/>
          <p:cNvSpPr/>
          <p:nvPr/>
        </p:nvSpPr>
        <p:spPr>
          <a:xfrm>
            <a:off x="5212080" y="4463935"/>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3.2% reply · n=16,519</a:t>
            </a:r>
            <a:endParaRPr lang="en-US" sz="850" dirty="0"/>
          </a:p>
        </p:txBody>
      </p:sp>
      <p:sp>
        <p:nvSpPr>
          <p:cNvPr id="41" name="Text 39"/>
          <p:cNvSpPr/>
          <p:nvPr/>
        </p:nvSpPr>
        <p:spPr>
          <a:xfrm>
            <a:off x="457200" y="4925291"/>
            <a:ext cx="1783080" cy="415636"/>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201-225</a:t>
            </a:r>
            <a:endParaRPr lang="en-US" sz="950" dirty="0"/>
          </a:p>
        </p:txBody>
      </p:sp>
      <p:sp>
        <p:nvSpPr>
          <p:cNvPr id="42" name="Shape 40"/>
          <p:cNvSpPr/>
          <p:nvPr/>
        </p:nvSpPr>
        <p:spPr>
          <a:xfrm>
            <a:off x="2377440" y="5125852"/>
            <a:ext cx="2697480" cy="60234"/>
          </a:xfrm>
          <a:prstGeom prst="roundRect">
            <a:avLst>
              <a:gd name="adj" fmla="val 607232"/>
            </a:avLst>
          </a:prstGeom>
          <a:solidFill>
            <a:srgbClr val="F1F5F9"/>
          </a:solidFill>
          <a:ln/>
        </p:spPr>
      </p:sp>
      <p:sp>
        <p:nvSpPr>
          <p:cNvPr id="43" name="Shape 41"/>
          <p:cNvSpPr/>
          <p:nvPr/>
        </p:nvSpPr>
        <p:spPr>
          <a:xfrm>
            <a:off x="2377440" y="5125852"/>
            <a:ext cx="856982" cy="60234"/>
          </a:xfrm>
          <a:prstGeom prst="roundRect">
            <a:avLst>
              <a:gd name="adj" fmla="val 607232"/>
            </a:avLst>
          </a:prstGeom>
          <a:solidFill>
            <a:srgbClr val="0077B5"/>
          </a:solidFill>
          <a:ln/>
        </p:spPr>
      </p:sp>
      <p:sp>
        <p:nvSpPr>
          <p:cNvPr id="44" name="Text 42"/>
          <p:cNvSpPr/>
          <p:nvPr/>
        </p:nvSpPr>
        <p:spPr>
          <a:xfrm>
            <a:off x="5212080" y="4925291"/>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14.9% reply · n=289</a:t>
            </a:r>
            <a:endParaRPr lang="en-US" sz="850" dirty="0"/>
          </a:p>
        </p:txBody>
      </p:sp>
      <p:sp>
        <p:nvSpPr>
          <p:cNvPr id="45" name="Text 43"/>
          <p:cNvSpPr/>
          <p:nvPr/>
        </p:nvSpPr>
        <p:spPr>
          <a:xfrm>
            <a:off x="457200" y="5386647"/>
            <a:ext cx="1783080" cy="415636"/>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226-250</a:t>
            </a:r>
            <a:endParaRPr lang="en-US" sz="950" dirty="0"/>
          </a:p>
        </p:txBody>
      </p:sp>
      <p:sp>
        <p:nvSpPr>
          <p:cNvPr id="46" name="Shape 44"/>
          <p:cNvSpPr/>
          <p:nvPr/>
        </p:nvSpPr>
        <p:spPr>
          <a:xfrm>
            <a:off x="2377440" y="5591477"/>
            <a:ext cx="2697480" cy="51696"/>
          </a:xfrm>
          <a:prstGeom prst="roundRect">
            <a:avLst>
              <a:gd name="adj" fmla="val 707521"/>
            </a:avLst>
          </a:prstGeom>
          <a:solidFill>
            <a:srgbClr val="F1F5F9"/>
          </a:solidFill>
          <a:ln/>
        </p:spPr>
      </p:sp>
      <p:sp>
        <p:nvSpPr>
          <p:cNvPr id="47" name="Shape 45"/>
          <p:cNvSpPr/>
          <p:nvPr/>
        </p:nvSpPr>
        <p:spPr>
          <a:xfrm>
            <a:off x="2377440" y="5591477"/>
            <a:ext cx="2697480" cy="51696"/>
          </a:xfrm>
          <a:prstGeom prst="roundRect">
            <a:avLst>
              <a:gd name="adj" fmla="val 707521"/>
            </a:avLst>
          </a:prstGeom>
          <a:solidFill>
            <a:srgbClr val="10B981"/>
          </a:solidFill>
          <a:ln/>
        </p:spPr>
      </p:sp>
      <p:sp>
        <p:nvSpPr>
          <p:cNvPr id="48" name="Text 46"/>
          <p:cNvSpPr/>
          <p:nvPr/>
        </p:nvSpPr>
        <p:spPr>
          <a:xfrm>
            <a:off x="5212080" y="5386647"/>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46.9% reply · n=49</a:t>
            </a:r>
            <a:endParaRPr lang="en-US" sz="850" dirty="0"/>
          </a:p>
        </p:txBody>
      </p:sp>
      <p:sp>
        <p:nvSpPr>
          <p:cNvPr id="49" name="Text 47"/>
          <p:cNvSpPr/>
          <p:nvPr/>
        </p:nvSpPr>
        <p:spPr>
          <a:xfrm>
            <a:off x="457200" y="5848004"/>
            <a:ext cx="1783080" cy="415636"/>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251+</a:t>
            </a:r>
            <a:endParaRPr lang="en-US" sz="950" dirty="0"/>
          </a:p>
        </p:txBody>
      </p:sp>
      <p:sp>
        <p:nvSpPr>
          <p:cNvPr id="50" name="Shape 48"/>
          <p:cNvSpPr/>
          <p:nvPr/>
        </p:nvSpPr>
        <p:spPr>
          <a:xfrm>
            <a:off x="2377440" y="6047756"/>
            <a:ext cx="2697480" cy="61851"/>
          </a:xfrm>
          <a:prstGeom prst="roundRect">
            <a:avLst>
              <a:gd name="adj" fmla="val 591357"/>
            </a:avLst>
          </a:prstGeom>
          <a:solidFill>
            <a:srgbClr val="F1F5F9"/>
          </a:solidFill>
          <a:ln/>
        </p:spPr>
      </p:sp>
      <p:sp>
        <p:nvSpPr>
          <p:cNvPr id="51" name="Shape 49"/>
          <p:cNvSpPr/>
          <p:nvPr/>
        </p:nvSpPr>
        <p:spPr>
          <a:xfrm>
            <a:off x="2377440" y="6047756"/>
            <a:ext cx="1483902" cy="61851"/>
          </a:xfrm>
          <a:prstGeom prst="roundRect">
            <a:avLst>
              <a:gd name="adj" fmla="val 591357"/>
            </a:avLst>
          </a:prstGeom>
          <a:solidFill>
            <a:srgbClr val="0077B5"/>
          </a:solidFill>
          <a:ln/>
        </p:spPr>
      </p:sp>
      <p:sp>
        <p:nvSpPr>
          <p:cNvPr id="52" name="Text 50"/>
          <p:cNvSpPr/>
          <p:nvPr/>
        </p:nvSpPr>
        <p:spPr>
          <a:xfrm>
            <a:off x="5212080" y="5848004"/>
            <a:ext cx="1783080" cy="415636"/>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25.8% reply · n=357</a:t>
            </a:r>
            <a:endParaRPr lang="en-US" sz="850" dirty="0"/>
          </a:p>
        </p:txBody>
      </p:sp>
      <p:sp>
        <p:nvSpPr>
          <p:cNvPr id="53" name="Text 51"/>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54" name="Shape 52"/>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55" name="Text 53"/>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56" name="Text 54"/>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Benjamin John</a:t>
            </a:r>
            <a:endParaRPr lang="en-US" sz="1500" dirty="0"/>
          </a:p>
        </p:txBody>
      </p:sp>
      <p:sp>
        <p:nvSpPr>
          <p:cNvPr id="57" name="Text 55"/>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a:t>
            </a:r>
            <a:endParaRPr lang="en-US" sz="1100" dirty="0"/>
          </a:p>
        </p:txBody>
      </p:sp>
      <p:sp>
        <p:nvSpPr>
          <p:cNvPr id="58" name="Text 56"/>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Hi Ben. Thanks for connecting with me. I was looking at people who had recently connected with me--and seeing your profile--I really want to connect.   We help brokers/employers ensure value with major medical.  You open to meeting?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Readability</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Easy (&lt;=6)</a:t>
            </a:r>
            <a:endParaRPr lang="en-US" sz="950" dirty="0"/>
          </a:p>
        </p:txBody>
      </p:sp>
      <p:sp>
        <p:nvSpPr>
          <p:cNvPr id="10" name="Shape 8"/>
          <p:cNvSpPr/>
          <p:nvPr/>
        </p:nvSpPr>
        <p:spPr>
          <a:xfrm>
            <a:off x="2377440" y="1476638"/>
            <a:ext cx="2697480" cy="82533"/>
          </a:xfrm>
          <a:prstGeom prst="roundRect">
            <a:avLst>
              <a:gd name="adj" fmla="val 443168"/>
            </a:avLst>
          </a:prstGeom>
          <a:solidFill>
            <a:srgbClr val="F1F5F9"/>
          </a:solidFill>
          <a:ln/>
        </p:spPr>
      </p:sp>
      <p:sp>
        <p:nvSpPr>
          <p:cNvPr id="11" name="Shape 9"/>
          <p:cNvSpPr/>
          <p:nvPr/>
        </p:nvSpPr>
        <p:spPr>
          <a:xfrm>
            <a:off x="2377440" y="1476638"/>
            <a:ext cx="2697480" cy="82533"/>
          </a:xfrm>
          <a:prstGeom prst="roundRect">
            <a:avLst>
              <a:gd name="adj" fmla="val 443168"/>
            </a:avLst>
          </a:prstGeom>
          <a:solidFill>
            <a:srgbClr val="10B981"/>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9.1% reply · n=1,977</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Standard (7-9)</a:t>
            </a:r>
            <a:endParaRPr lang="en-US" sz="950" dirty="0"/>
          </a:p>
        </p:txBody>
      </p:sp>
      <p:sp>
        <p:nvSpPr>
          <p:cNvPr id="14" name="Shape 12"/>
          <p:cNvSpPr/>
          <p:nvPr/>
        </p:nvSpPr>
        <p:spPr>
          <a:xfrm>
            <a:off x="2377440" y="2010505"/>
            <a:ext cx="2697480" cy="148653"/>
          </a:xfrm>
          <a:prstGeom prst="roundRect">
            <a:avLst>
              <a:gd name="adj" fmla="val 246050"/>
            </a:avLst>
          </a:prstGeom>
          <a:solidFill>
            <a:srgbClr val="F1F5F9"/>
          </a:solidFill>
          <a:ln/>
        </p:spPr>
      </p:sp>
      <p:sp>
        <p:nvSpPr>
          <p:cNvPr id="15" name="Shape 13"/>
          <p:cNvSpPr/>
          <p:nvPr/>
        </p:nvSpPr>
        <p:spPr>
          <a:xfrm>
            <a:off x="2377440" y="2010505"/>
            <a:ext cx="1274633" cy="148653"/>
          </a:xfrm>
          <a:prstGeom prst="roundRect">
            <a:avLst>
              <a:gd name="adj" fmla="val 246050"/>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4.3% reply · n=15,457</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Advanced (10-12)</a:t>
            </a:r>
            <a:endParaRPr lang="en-US" sz="950" dirty="0"/>
          </a:p>
        </p:txBody>
      </p:sp>
      <p:sp>
        <p:nvSpPr>
          <p:cNvPr id="18" name="Shape 16"/>
          <p:cNvSpPr/>
          <p:nvPr/>
        </p:nvSpPr>
        <p:spPr>
          <a:xfrm>
            <a:off x="2377440" y="2574036"/>
            <a:ext cx="2697480" cy="155448"/>
          </a:xfrm>
          <a:prstGeom prst="roundRect">
            <a:avLst>
              <a:gd name="adj" fmla="val 235294"/>
            </a:avLst>
          </a:prstGeom>
          <a:solidFill>
            <a:srgbClr val="F1F5F9"/>
          </a:solidFill>
          <a:ln/>
        </p:spPr>
      </p:sp>
      <p:sp>
        <p:nvSpPr>
          <p:cNvPr id="19" name="Shape 17"/>
          <p:cNvSpPr/>
          <p:nvPr/>
        </p:nvSpPr>
        <p:spPr>
          <a:xfrm>
            <a:off x="2377440" y="2574036"/>
            <a:ext cx="1007850" cy="155448"/>
          </a:xfrm>
          <a:prstGeom prst="roundRect">
            <a:avLst>
              <a:gd name="adj" fmla="val 235294"/>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3.4% reply · n=17,565</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Complex (13+)</a:t>
            </a:r>
            <a:endParaRPr lang="en-US" sz="950" dirty="0"/>
          </a:p>
        </p:txBody>
      </p:sp>
      <p:sp>
        <p:nvSpPr>
          <p:cNvPr id="22" name="Shape 20"/>
          <p:cNvSpPr/>
          <p:nvPr/>
        </p:nvSpPr>
        <p:spPr>
          <a:xfrm>
            <a:off x="2377440" y="3167388"/>
            <a:ext cx="2697480" cy="102601"/>
          </a:xfrm>
          <a:prstGeom prst="roundRect">
            <a:avLst>
              <a:gd name="adj" fmla="val 356488"/>
            </a:avLst>
          </a:prstGeom>
          <a:solidFill>
            <a:srgbClr val="F1F5F9"/>
          </a:solidFill>
          <a:ln/>
        </p:spPr>
      </p:sp>
      <p:sp>
        <p:nvSpPr>
          <p:cNvPr id="23" name="Shape 21"/>
          <p:cNvSpPr/>
          <p:nvPr/>
        </p:nvSpPr>
        <p:spPr>
          <a:xfrm>
            <a:off x="2377440" y="3167388"/>
            <a:ext cx="1096778" cy="102601"/>
          </a:xfrm>
          <a:prstGeom prst="roundRect">
            <a:avLst>
              <a:gd name="adj" fmla="val 356488"/>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3.7% reply · n=4,720</a:t>
            </a:r>
            <a:endParaRPr lang="en-US" sz="850" dirty="0"/>
          </a:p>
        </p:txBody>
      </p:sp>
      <p:sp>
        <p:nvSpPr>
          <p:cNvPr id="25" name="Text 23"/>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26" name="Shape 24"/>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27" name="Text 25"/>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28" name="Text 26"/>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Branson 🍋</a:t>
            </a:r>
            <a:endParaRPr lang="en-US" sz="1500" dirty="0"/>
          </a:p>
        </p:txBody>
      </p:sp>
      <p:sp>
        <p:nvSpPr>
          <p:cNvPr id="29" name="Text 27"/>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Customer Success Manager @ Build then Bless</a:t>
            </a:r>
            <a:endParaRPr lang="en-US" sz="1100" dirty="0"/>
          </a:p>
        </p:txBody>
      </p:sp>
      <p:sp>
        <p:nvSpPr>
          <p:cNvPr id="30" name="Text 28"/>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Came across your older post about blessing 1 billion lives. I love finding ways to serve too, and we both value family. I run a bookkeeping firm in American Fork. Let's connect.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Personal Sharing</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Unique</a:t>
            </a:r>
            <a:endParaRPr lang="en-US" sz="950" dirty="0"/>
          </a:p>
        </p:txBody>
      </p:sp>
      <p:sp>
        <p:nvSpPr>
          <p:cNvPr id="10" name="Shape 8"/>
          <p:cNvSpPr/>
          <p:nvPr/>
        </p:nvSpPr>
        <p:spPr>
          <a:xfrm>
            <a:off x="2377440" y="1473112"/>
            <a:ext cx="2697480" cy="89584"/>
          </a:xfrm>
          <a:prstGeom prst="roundRect">
            <a:avLst>
              <a:gd name="adj" fmla="val 408287"/>
            </a:avLst>
          </a:prstGeom>
          <a:solidFill>
            <a:srgbClr val="F1F5F9"/>
          </a:solidFill>
          <a:ln/>
        </p:spPr>
      </p:sp>
      <p:sp>
        <p:nvSpPr>
          <p:cNvPr id="11" name="Shape 9"/>
          <p:cNvSpPr/>
          <p:nvPr/>
        </p:nvSpPr>
        <p:spPr>
          <a:xfrm>
            <a:off x="2377440" y="1473112"/>
            <a:ext cx="2038793" cy="89584"/>
          </a:xfrm>
          <a:prstGeom prst="roundRect">
            <a:avLst>
              <a:gd name="adj" fmla="val 408287"/>
            </a:avLst>
          </a:prstGeom>
          <a:solidFill>
            <a:srgbClr val="0077B5"/>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6.5% reply · n=524</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Generic</a:t>
            </a:r>
            <a:endParaRPr lang="en-US" sz="950" dirty="0"/>
          </a:p>
        </p:txBody>
      </p:sp>
      <p:sp>
        <p:nvSpPr>
          <p:cNvPr id="14" name="Shape 12"/>
          <p:cNvSpPr/>
          <p:nvPr/>
        </p:nvSpPr>
        <p:spPr>
          <a:xfrm>
            <a:off x="2377440" y="2034991"/>
            <a:ext cx="2697480" cy="99681"/>
          </a:xfrm>
          <a:prstGeom prst="roundRect">
            <a:avLst>
              <a:gd name="adj" fmla="val 366931"/>
            </a:avLst>
          </a:prstGeom>
          <a:solidFill>
            <a:srgbClr val="F1F5F9"/>
          </a:solidFill>
          <a:ln/>
        </p:spPr>
      </p:sp>
      <p:sp>
        <p:nvSpPr>
          <p:cNvPr id="15" name="Shape 13"/>
          <p:cNvSpPr/>
          <p:nvPr/>
        </p:nvSpPr>
        <p:spPr>
          <a:xfrm>
            <a:off x="2377440" y="2034991"/>
            <a:ext cx="2697480" cy="99681"/>
          </a:xfrm>
          <a:prstGeom prst="roundRect">
            <a:avLst>
              <a:gd name="adj" fmla="val 366931"/>
            </a:avLst>
          </a:prstGeom>
          <a:solidFill>
            <a:srgbClr val="10B981"/>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8.6% reply · n=793</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None</a:t>
            </a:r>
            <a:endParaRPr lang="en-US" sz="950" dirty="0"/>
          </a:p>
        </p:txBody>
      </p:sp>
      <p:sp>
        <p:nvSpPr>
          <p:cNvPr id="18" name="Shape 16"/>
          <p:cNvSpPr/>
          <p:nvPr/>
        </p:nvSpPr>
        <p:spPr>
          <a:xfrm>
            <a:off x="2377440" y="2574036"/>
            <a:ext cx="2697480" cy="155448"/>
          </a:xfrm>
          <a:prstGeom prst="roundRect">
            <a:avLst>
              <a:gd name="adj" fmla="val 235294"/>
            </a:avLst>
          </a:prstGeom>
          <a:solidFill>
            <a:srgbClr val="F1F5F9"/>
          </a:solidFill>
          <a:ln/>
        </p:spPr>
      </p:sp>
      <p:sp>
        <p:nvSpPr>
          <p:cNvPr id="19" name="Shape 17"/>
          <p:cNvSpPr/>
          <p:nvPr/>
        </p:nvSpPr>
        <p:spPr>
          <a:xfrm>
            <a:off x="2377440" y="2574036"/>
            <a:ext cx="1756499" cy="155448"/>
          </a:xfrm>
          <a:prstGeom prst="roundRect">
            <a:avLst>
              <a:gd name="adj" fmla="val 235294"/>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5.6% reply · n=3,279</a:t>
            </a:r>
            <a:endParaRPr lang="en-US" sz="850" dirty="0"/>
          </a:p>
        </p:txBody>
      </p:sp>
      <p:sp>
        <p:nvSpPr>
          <p:cNvPr id="21" name="Text 19"/>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22" name="Shape 20"/>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23" name="Text 21"/>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24" name="Text 22"/>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Spencer Hutchins</a:t>
            </a:r>
            <a:endParaRPr lang="en-US" sz="1500" dirty="0"/>
          </a:p>
        </p:txBody>
      </p:sp>
      <p:sp>
        <p:nvSpPr>
          <p:cNvPr id="25" name="Text 23"/>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Founder and CEO @ Concert Health</a:t>
            </a:r>
            <a:endParaRPr lang="en-US" sz="1100" dirty="0"/>
          </a:p>
        </p:txBody>
      </p:sp>
      <p:sp>
        <p:nvSpPr>
          <p:cNvPr id="26" name="Text 24"/>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I'm a founder too, working on access to care via virtual neuropsych testing. Would love to hear how you scaled Concert Health's behavioral health model.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Connect-Request Phrasing</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No connect ask</a:t>
            </a:r>
            <a:endParaRPr lang="en-US" sz="950" dirty="0"/>
          </a:p>
        </p:txBody>
      </p:sp>
      <p:sp>
        <p:nvSpPr>
          <p:cNvPr id="10" name="Shape 8"/>
          <p:cNvSpPr/>
          <p:nvPr/>
        </p:nvSpPr>
        <p:spPr>
          <a:xfrm>
            <a:off x="2377440" y="1440180"/>
            <a:ext cx="2697480" cy="155448"/>
          </a:xfrm>
          <a:prstGeom prst="roundRect">
            <a:avLst>
              <a:gd name="adj" fmla="val 235294"/>
            </a:avLst>
          </a:prstGeom>
          <a:solidFill>
            <a:srgbClr val="F1F5F9"/>
          </a:solidFill>
          <a:ln/>
        </p:spPr>
      </p:sp>
      <p:sp>
        <p:nvSpPr>
          <p:cNvPr id="11" name="Shape 9"/>
          <p:cNvSpPr/>
          <p:nvPr/>
        </p:nvSpPr>
        <p:spPr>
          <a:xfrm>
            <a:off x="2377440" y="1440180"/>
            <a:ext cx="2697480" cy="155448"/>
          </a:xfrm>
          <a:prstGeom prst="roundRect">
            <a:avLst>
              <a:gd name="adj" fmla="val 235294"/>
            </a:avLst>
          </a:prstGeom>
          <a:solidFill>
            <a:srgbClr val="10B981"/>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4.8% reply · n=25,153</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Other connect ask</a:t>
            </a:r>
            <a:endParaRPr lang="en-US" sz="950" dirty="0"/>
          </a:p>
        </p:txBody>
      </p:sp>
      <p:sp>
        <p:nvSpPr>
          <p:cNvPr id="14" name="Shape 12"/>
          <p:cNvSpPr/>
          <p:nvPr/>
        </p:nvSpPr>
        <p:spPr>
          <a:xfrm>
            <a:off x="2377440" y="2045501"/>
            <a:ext cx="2697480" cy="78662"/>
          </a:xfrm>
          <a:prstGeom prst="roundRect">
            <a:avLst>
              <a:gd name="adj" fmla="val 464977"/>
            </a:avLst>
          </a:prstGeom>
          <a:solidFill>
            <a:srgbClr val="F1F5F9"/>
          </a:solidFill>
          <a:ln/>
        </p:spPr>
      </p:sp>
      <p:sp>
        <p:nvSpPr>
          <p:cNvPr id="15" name="Shape 13"/>
          <p:cNvSpPr/>
          <p:nvPr/>
        </p:nvSpPr>
        <p:spPr>
          <a:xfrm>
            <a:off x="2377440" y="2045501"/>
            <a:ext cx="2360295" cy="78662"/>
          </a:xfrm>
          <a:prstGeom prst="roundRect">
            <a:avLst>
              <a:gd name="adj" fmla="val 464977"/>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4.2% reply · n=2,267</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Would like to connect</a:t>
            </a:r>
            <a:endParaRPr lang="en-US" sz="950" dirty="0"/>
          </a:p>
        </p:txBody>
      </p:sp>
      <p:sp>
        <p:nvSpPr>
          <p:cNvPr id="18" name="Shape 16"/>
          <p:cNvSpPr/>
          <p:nvPr/>
        </p:nvSpPr>
        <p:spPr>
          <a:xfrm>
            <a:off x="2377440" y="2620217"/>
            <a:ext cx="2697480" cy="63086"/>
          </a:xfrm>
          <a:prstGeom prst="roundRect">
            <a:avLst>
              <a:gd name="adj" fmla="val 579780"/>
            </a:avLst>
          </a:prstGeom>
          <a:solidFill>
            <a:srgbClr val="F1F5F9"/>
          </a:solidFill>
          <a:ln/>
        </p:spPr>
      </p:sp>
      <p:sp>
        <p:nvSpPr>
          <p:cNvPr id="19" name="Shape 17"/>
          <p:cNvSpPr/>
          <p:nvPr/>
        </p:nvSpPr>
        <p:spPr>
          <a:xfrm>
            <a:off x="2377440" y="2620217"/>
            <a:ext cx="1517333" cy="63086"/>
          </a:xfrm>
          <a:prstGeom prst="roundRect">
            <a:avLst>
              <a:gd name="adj" fmla="val 579780"/>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2.7% reply · n=630</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Would love to connect</a:t>
            </a:r>
            <a:endParaRPr lang="en-US" sz="950" dirty="0"/>
          </a:p>
        </p:txBody>
      </p:sp>
      <p:sp>
        <p:nvSpPr>
          <p:cNvPr id="22" name="Shape 20"/>
          <p:cNvSpPr/>
          <p:nvPr/>
        </p:nvSpPr>
        <p:spPr>
          <a:xfrm>
            <a:off x="2377440" y="3161637"/>
            <a:ext cx="2697480" cy="114103"/>
          </a:xfrm>
          <a:prstGeom prst="roundRect">
            <a:avLst>
              <a:gd name="adj" fmla="val 320552"/>
            </a:avLst>
          </a:prstGeom>
          <a:solidFill>
            <a:srgbClr val="F1F5F9"/>
          </a:solidFill>
          <a:ln/>
        </p:spPr>
      </p:sp>
      <p:sp>
        <p:nvSpPr>
          <p:cNvPr id="23" name="Shape 21"/>
          <p:cNvSpPr/>
          <p:nvPr/>
        </p:nvSpPr>
        <p:spPr>
          <a:xfrm>
            <a:off x="2377440" y="3161637"/>
            <a:ext cx="1517333" cy="114103"/>
          </a:xfrm>
          <a:prstGeom prst="roundRect">
            <a:avLst>
              <a:gd name="adj" fmla="val 320552"/>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2.7% reply · n=9,769</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Let's connect</a:t>
            </a:r>
            <a:endParaRPr lang="en-US" sz="950" dirty="0"/>
          </a:p>
        </p:txBody>
      </p:sp>
      <p:sp>
        <p:nvSpPr>
          <p:cNvPr id="26" name="Shape 24"/>
          <p:cNvSpPr/>
          <p:nvPr/>
        </p:nvSpPr>
        <p:spPr>
          <a:xfrm>
            <a:off x="2377440" y="3751231"/>
            <a:ext cx="2697480" cy="68771"/>
          </a:xfrm>
          <a:prstGeom prst="roundRect">
            <a:avLst>
              <a:gd name="adj" fmla="val 531852"/>
            </a:avLst>
          </a:prstGeom>
          <a:solidFill>
            <a:srgbClr val="F1F5F9"/>
          </a:solidFill>
          <a:ln/>
        </p:spPr>
      </p:sp>
      <p:sp>
        <p:nvSpPr>
          <p:cNvPr id="27" name="Shape 25"/>
          <p:cNvSpPr/>
          <p:nvPr/>
        </p:nvSpPr>
        <p:spPr>
          <a:xfrm>
            <a:off x="2377440" y="3751231"/>
            <a:ext cx="1236345" cy="68771"/>
          </a:xfrm>
          <a:prstGeom prst="roundRect">
            <a:avLst>
              <a:gd name="adj" fmla="val 531852"/>
            </a:avLst>
          </a:prstGeom>
          <a:solidFill>
            <a:srgbClr val="0077B5"/>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2.2% reply · n=1,110</a:t>
            </a:r>
            <a:endParaRPr lang="en-US" sz="850" dirty="0"/>
          </a:p>
        </p:txBody>
      </p:sp>
      <p:sp>
        <p:nvSpPr>
          <p:cNvPr id="29" name="Text 27"/>
          <p:cNvSpPr/>
          <p:nvPr/>
        </p:nvSpPr>
        <p:spPr>
          <a:xfrm>
            <a:off x="457200" y="406908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Open to connecting</a:t>
            </a:r>
            <a:endParaRPr lang="en-US" sz="950" dirty="0"/>
          </a:p>
        </p:txBody>
      </p:sp>
      <p:sp>
        <p:nvSpPr>
          <p:cNvPr id="30" name="Shape 28"/>
          <p:cNvSpPr/>
          <p:nvPr/>
        </p:nvSpPr>
        <p:spPr>
          <a:xfrm>
            <a:off x="2377440" y="4322477"/>
            <a:ext cx="2697480" cy="60133"/>
          </a:xfrm>
          <a:prstGeom prst="roundRect">
            <a:avLst>
              <a:gd name="adj" fmla="val 608252"/>
            </a:avLst>
          </a:prstGeom>
          <a:solidFill>
            <a:srgbClr val="F1F5F9"/>
          </a:solidFill>
          <a:ln/>
        </p:spPr>
      </p:sp>
      <p:sp>
        <p:nvSpPr>
          <p:cNvPr id="31" name="Shape 29"/>
          <p:cNvSpPr/>
          <p:nvPr/>
        </p:nvSpPr>
        <p:spPr>
          <a:xfrm>
            <a:off x="2377440" y="4322477"/>
            <a:ext cx="505778" cy="60133"/>
          </a:xfrm>
          <a:prstGeom prst="roundRect">
            <a:avLst>
              <a:gd name="adj" fmla="val 608252"/>
            </a:avLst>
          </a:prstGeom>
          <a:solidFill>
            <a:srgbClr val="0077B5"/>
          </a:solidFill>
          <a:ln/>
        </p:spPr>
      </p:sp>
      <p:sp>
        <p:nvSpPr>
          <p:cNvPr id="32" name="Text 30"/>
          <p:cNvSpPr/>
          <p:nvPr/>
        </p:nvSpPr>
        <p:spPr>
          <a:xfrm>
            <a:off x="5212080" y="406908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0.9% reply · n=434</a:t>
            </a:r>
            <a:endParaRPr lang="en-US" sz="850" dirty="0"/>
          </a:p>
        </p:txBody>
      </p:sp>
      <p:sp>
        <p:nvSpPr>
          <p:cNvPr id="33" name="Text 31"/>
          <p:cNvSpPr/>
          <p:nvPr/>
        </p:nvSpPr>
        <p:spPr>
          <a:xfrm>
            <a:off x="457200" y="463600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Happy to connect</a:t>
            </a:r>
            <a:endParaRPr lang="en-US" sz="950" dirty="0"/>
          </a:p>
        </p:txBody>
      </p:sp>
      <p:sp>
        <p:nvSpPr>
          <p:cNvPr id="34" name="Shape 32"/>
          <p:cNvSpPr/>
          <p:nvPr/>
        </p:nvSpPr>
        <p:spPr>
          <a:xfrm>
            <a:off x="2377440" y="4892389"/>
            <a:ext cx="2697480" cy="54165"/>
          </a:xfrm>
          <a:prstGeom prst="roundRect">
            <a:avLst>
              <a:gd name="adj" fmla="val 675270"/>
            </a:avLst>
          </a:prstGeom>
          <a:solidFill>
            <a:srgbClr val="F1F5F9"/>
          </a:solidFill>
          <a:ln/>
        </p:spPr>
      </p:sp>
      <p:sp>
        <p:nvSpPr>
          <p:cNvPr id="35" name="Shape 33"/>
          <p:cNvSpPr/>
          <p:nvPr/>
        </p:nvSpPr>
        <p:spPr>
          <a:xfrm>
            <a:off x="2377440" y="4892389"/>
            <a:ext cx="393383" cy="54165"/>
          </a:xfrm>
          <a:prstGeom prst="roundRect">
            <a:avLst>
              <a:gd name="adj" fmla="val 675270"/>
            </a:avLst>
          </a:prstGeom>
          <a:solidFill>
            <a:srgbClr val="0077B5"/>
          </a:solidFill>
          <a:ln/>
        </p:spPr>
      </p:sp>
      <p:sp>
        <p:nvSpPr>
          <p:cNvPr id="36" name="Text 34"/>
          <p:cNvSpPr/>
          <p:nvPr/>
        </p:nvSpPr>
        <p:spPr>
          <a:xfrm>
            <a:off x="5212080" y="463600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0.7% reply · n=149</a:t>
            </a:r>
            <a:endParaRPr lang="en-US" sz="850" dirty="0"/>
          </a:p>
        </p:txBody>
      </p:sp>
      <p:sp>
        <p:nvSpPr>
          <p:cNvPr id="37" name="Text 35"/>
          <p:cNvSpPr/>
          <p:nvPr/>
        </p:nvSpPr>
        <p:spPr>
          <a:xfrm>
            <a:off x="457200" y="520293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Worth connecting</a:t>
            </a:r>
            <a:endParaRPr lang="en-US" sz="950" dirty="0"/>
          </a:p>
        </p:txBody>
      </p:sp>
      <p:sp>
        <p:nvSpPr>
          <p:cNvPr id="38" name="Shape 36"/>
          <p:cNvSpPr/>
          <p:nvPr/>
        </p:nvSpPr>
        <p:spPr>
          <a:xfrm>
            <a:off x="2377440" y="5458563"/>
            <a:ext cx="2697480" cy="55674"/>
          </a:xfrm>
          <a:prstGeom prst="roundRect">
            <a:avLst>
              <a:gd name="adj" fmla="val 656967"/>
            </a:avLst>
          </a:prstGeom>
          <a:solidFill>
            <a:srgbClr val="F1F5F9"/>
          </a:solidFill>
          <a:ln/>
        </p:spPr>
      </p:sp>
      <p:sp>
        <p:nvSpPr>
          <p:cNvPr id="39" name="Shape 37"/>
          <p:cNvSpPr/>
          <p:nvPr/>
        </p:nvSpPr>
        <p:spPr>
          <a:xfrm>
            <a:off x="2377440" y="5458563"/>
            <a:ext cx="280988" cy="55674"/>
          </a:xfrm>
          <a:prstGeom prst="roundRect">
            <a:avLst>
              <a:gd name="adj" fmla="val 656967"/>
            </a:avLst>
          </a:prstGeom>
          <a:solidFill>
            <a:srgbClr val="0077B5"/>
          </a:solidFill>
          <a:ln/>
        </p:spPr>
      </p:sp>
      <p:sp>
        <p:nvSpPr>
          <p:cNvPr id="40" name="Text 38"/>
          <p:cNvSpPr/>
          <p:nvPr/>
        </p:nvSpPr>
        <p:spPr>
          <a:xfrm>
            <a:off x="5212080" y="520293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0.5% reply · n=207</a:t>
            </a:r>
            <a:endParaRPr lang="en-US" sz="850" dirty="0"/>
          </a:p>
        </p:txBody>
      </p:sp>
      <p:sp>
        <p:nvSpPr>
          <p:cNvPr id="41" name="Text 39"/>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42" name="Shape 40"/>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43" name="Text 41"/>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44" name="Text 42"/>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Spencer Hutchins</a:t>
            </a:r>
            <a:endParaRPr lang="en-US" sz="1500" dirty="0"/>
          </a:p>
        </p:txBody>
      </p:sp>
      <p:sp>
        <p:nvSpPr>
          <p:cNvPr id="45" name="Text 43"/>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Founder and CEO @ Concert Health</a:t>
            </a:r>
            <a:endParaRPr lang="en-US" sz="1100" dirty="0"/>
          </a:p>
        </p:txBody>
      </p:sp>
      <p:sp>
        <p:nvSpPr>
          <p:cNvPr id="46" name="Text 44"/>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I'm a founder too, working on access to care via virtual neuropsych testing. Would love to hear how you scaled Concert Health's behavioral health model.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Exclamation Marks</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None</a:t>
            </a:r>
            <a:endParaRPr lang="en-US" sz="950" dirty="0"/>
          </a:p>
        </p:txBody>
      </p:sp>
      <p:sp>
        <p:nvSpPr>
          <p:cNvPr id="10" name="Shape 8"/>
          <p:cNvSpPr/>
          <p:nvPr/>
        </p:nvSpPr>
        <p:spPr>
          <a:xfrm>
            <a:off x="2377440" y="1440180"/>
            <a:ext cx="2697480" cy="155448"/>
          </a:xfrm>
          <a:prstGeom prst="roundRect">
            <a:avLst>
              <a:gd name="adj" fmla="val 235294"/>
            </a:avLst>
          </a:prstGeom>
          <a:solidFill>
            <a:srgbClr val="F1F5F9"/>
          </a:solidFill>
          <a:ln/>
        </p:spPr>
      </p:sp>
      <p:sp>
        <p:nvSpPr>
          <p:cNvPr id="11" name="Shape 9"/>
          <p:cNvSpPr/>
          <p:nvPr/>
        </p:nvSpPr>
        <p:spPr>
          <a:xfrm>
            <a:off x="2377440" y="1440180"/>
            <a:ext cx="1669869" cy="155448"/>
          </a:xfrm>
          <a:prstGeom prst="roundRect">
            <a:avLst>
              <a:gd name="adj" fmla="val 235294"/>
            </a:avLst>
          </a:prstGeom>
          <a:solidFill>
            <a:srgbClr val="0077B5"/>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3.9% reply · n=36,933</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One</a:t>
            </a:r>
            <a:endParaRPr lang="en-US" sz="950" dirty="0"/>
          </a:p>
        </p:txBody>
      </p:sp>
      <p:sp>
        <p:nvSpPr>
          <p:cNvPr id="14" name="Shape 12"/>
          <p:cNvSpPr/>
          <p:nvPr/>
        </p:nvSpPr>
        <p:spPr>
          <a:xfrm>
            <a:off x="2377440" y="2047304"/>
            <a:ext cx="2697480" cy="75057"/>
          </a:xfrm>
          <a:prstGeom prst="roundRect">
            <a:avLst>
              <a:gd name="adj" fmla="val 487310"/>
            </a:avLst>
          </a:prstGeom>
          <a:solidFill>
            <a:srgbClr val="F1F5F9"/>
          </a:solidFill>
          <a:ln/>
        </p:spPr>
      </p:sp>
      <p:sp>
        <p:nvSpPr>
          <p:cNvPr id="15" name="Shape 13"/>
          <p:cNvSpPr/>
          <p:nvPr/>
        </p:nvSpPr>
        <p:spPr>
          <a:xfrm>
            <a:off x="2377440" y="2047304"/>
            <a:ext cx="2697480" cy="75057"/>
          </a:xfrm>
          <a:prstGeom prst="roundRect">
            <a:avLst>
              <a:gd name="adj" fmla="val 487310"/>
            </a:avLst>
          </a:prstGeom>
          <a:solidFill>
            <a:srgbClr val="10B981"/>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6.3% reply · n=2,640</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Multiple (2+)</a:t>
            </a:r>
            <a:endParaRPr lang="en-US" sz="950" dirty="0"/>
          </a:p>
        </p:txBody>
      </p:sp>
      <p:sp>
        <p:nvSpPr>
          <p:cNvPr id="18" name="Shape 16"/>
          <p:cNvSpPr/>
          <p:nvPr/>
        </p:nvSpPr>
        <p:spPr>
          <a:xfrm>
            <a:off x="2377440" y="2625450"/>
            <a:ext cx="2697480" cy="52619"/>
          </a:xfrm>
          <a:prstGeom prst="roundRect">
            <a:avLst>
              <a:gd name="adj" fmla="val 695110"/>
            </a:avLst>
          </a:prstGeom>
          <a:solidFill>
            <a:srgbClr val="F1F5F9"/>
          </a:solidFill>
          <a:ln/>
        </p:spPr>
      </p:sp>
      <p:sp>
        <p:nvSpPr>
          <p:cNvPr id="19" name="Shape 17"/>
          <p:cNvSpPr/>
          <p:nvPr/>
        </p:nvSpPr>
        <p:spPr>
          <a:xfrm>
            <a:off x="2377440" y="2625450"/>
            <a:ext cx="2354943" cy="52619"/>
          </a:xfrm>
          <a:prstGeom prst="roundRect">
            <a:avLst>
              <a:gd name="adj" fmla="val 695110"/>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5.5% reply · n=146</a:t>
            </a:r>
            <a:endParaRPr lang="en-US" sz="850" dirty="0"/>
          </a:p>
        </p:txBody>
      </p:sp>
      <p:sp>
        <p:nvSpPr>
          <p:cNvPr id="21" name="Text 19"/>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22" name="Shape 20"/>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23" name="Text 21"/>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24" name="Text 22"/>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Frank O'Connell</a:t>
            </a:r>
            <a:endParaRPr lang="en-US" sz="1500" dirty="0"/>
          </a:p>
        </p:txBody>
      </p:sp>
      <p:sp>
        <p:nvSpPr>
          <p:cNvPr id="25" name="Text 23"/>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Vice President of IT ✢ Transforming Legacy Systems and Process to Leading Edge ✢ Change Management and Process Design ✢ Employee and Customer Champion ✢ Managed Services Provider ✢ Managing Director @ All Covered</a:t>
            </a:r>
            <a:endParaRPr lang="en-US" sz="1100" dirty="0"/>
          </a:p>
        </p:txBody>
      </p:sp>
      <p:sp>
        <p:nvSpPr>
          <p:cNvPr id="26" name="Text 24"/>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Your work consolidating ServiceNow and Remedy into one ITSM platform caught my eye. I'm navigating similar legacy system challenges. Would love to connect!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Emoji Use</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None</a:t>
            </a:r>
            <a:endParaRPr lang="en-US" sz="950" dirty="0"/>
          </a:p>
        </p:txBody>
      </p:sp>
      <p:sp>
        <p:nvSpPr>
          <p:cNvPr id="10" name="Shape 8"/>
          <p:cNvSpPr/>
          <p:nvPr/>
        </p:nvSpPr>
        <p:spPr>
          <a:xfrm>
            <a:off x="2377440" y="1440180"/>
            <a:ext cx="2697480" cy="155448"/>
          </a:xfrm>
          <a:prstGeom prst="roundRect">
            <a:avLst>
              <a:gd name="adj" fmla="val 235294"/>
            </a:avLst>
          </a:prstGeom>
          <a:solidFill>
            <a:srgbClr val="F1F5F9"/>
          </a:solidFill>
          <a:ln/>
        </p:spPr>
      </p:sp>
      <p:sp>
        <p:nvSpPr>
          <p:cNvPr id="11" name="Shape 9"/>
          <p:cNvSpPr/>
          <p:nvPr/>
        </p:nvSpPr>
        <p:spPr>
          <a:xfrm>
            <a:off x="2377440" y="1440180"/>
            <a:ext cx="2697480" cy="155448"/>
          </a:xfrm>
          <a:prstGeom prst="roundRect">
            <a:avLst>
              <a:gd name="adj" fmla="val 235294"/>
            </a:avLst>
          </a:prstGeom>
          <a:solidFill>
            <a:srgbClr val="10B981"/>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4.1% reply · n=39,718</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6B7280"/>
                </a:solidFill>
                <a:latin typeface="Calibri" pitchFamily="34" charset="0"/>
                <a:ea typeface="Calibri" pitchFamily="34" charset="-122"/>
                <a:cs typeface="Calibri" pitchFamily="34" charset="-120"/>
              </a:rPr>
              <a:t>One</a:t>
            </a:r>
            <a:endParaRPr lang="en-US" sz="950" dirty="0"/>
          </a:p>
        </p:txBody>
      </p:sp>
      <p:sp>
        <p:nvSpPr>
          <p:cNvPr id="14" name="Shape 12"/>
          <p:cNvSpPr/>
          <p:nvPr/>
        </p:nvSpPr>
        <p:spPr>
          <a:xfrm>
            <a:off x="2377440" y="2061697"/>
            <a:ext cx="2697480" cy="46271"/>
          </a:xfrm>
          <a:prstGeom prst="roundRect">
            <a:avLst>
              <a:gd name="adj" fmla="val 790474"/>
            </a:avLst>
          </a:prstGeom>
          <a:solidFill>
            <a:srgbClr val="F1F5F9"/>
          </a:solidFill>
          <a:ln/>
        </p:spPr>
      </p:sp>
      <p:sp>
        <p:nvSpPr>
          <p:cNvPr id="15" name="Shape 13"/>
          <p:cNvSpPr/>
          <p:nvPr/>
        </p:nvSpPr>
        <p:spPr>
          <a:xfrm>
            <a:off x="2377440" y="2061697"/>
            <a:ext cx="36576" cy="46271"/>
          </a:xfrm>
          <a:prstGeom prst="roundRect">
            <a:avLst>
              <a:gd name="adj" fmla="val 1000000"/>
            </a:avLst>
          </a:prstGeom>
          <a:solidFill>
            <a:srgbClr val="D1D5DB"/>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0.0% reply · n=1</a:t>
            </a:r>
            <a:endParaRPr lang="en-US" sz="850" dirty="0"/>
          </a:p>
        </p:txBody>
      </p:sp>
      <p:sp>
        <p:nvSpPr>
          <p:cNvPr id="17" name="Text 15"/>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18" name="Shape 16"/>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19" name="Text 17"/>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20" name="Text 18"/>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Apurva Desai</a:t>
            </a:r>
            <a:endParaRPr lang="en-US" sz="1500" dirty="0"/>
          </a:p>
        </p:txBody>
      </p:sp>
      <p:sp>
        <p:nvSpPr>
          <p:cNvPr id="21" name="Text 19"/>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Partner @ Interstate Fusion Ventures</a:t>
            </a:r>
            <a:endParaRPr lang="en-US" sz="1100" dirty="0"/>
          </a:p>
        </p:txBody>
      </p:sp>
      <p:sp>
        <p:nvSpPr>
          <p:cNvPr id="22" name="Text 20"/>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about Dina's milestone - sounds like a big moment for the team you helped build. We're exploring funding partners, would love to connect.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 — WHAT TO SAY</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Informal Abbreviations</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Uses abbreviations</a:t>
            </a:r>
            <a:endParaRPr lang="en-US" sz="950" dirty="0"/>
          </a:p>
        </p:txBody>
      </p:sp>
      <p:sp>
        <p:nvSpPr>
          <p:cNvPr id="10" name="Shape 8"/>
          <p:cNvSpPr/>
          <p:nvPr/>
        </p:nvSpPr>
        <p:spPr>
          <a:xfrm>
            <a:off x="2377440" y="1489901"/>
            <a:ext cx="2697480" cy="56006"/>
          </a:xfrm>
          <a:prstGeom prst="roundRect">
            <a:avLst>
              <a:gd name="adj" fmla="val 653073"/>
            </a:avLst>
          </a:prstGeom>
          <a:solidFill>
            <a:srgbClr val="F1F5F9"/>
          </a:solidFill>
          <a:ln/>
        </p:spPr>
      </p:sp>
      <p:sp>
        <p:nvSpPr>
          <p:cNvPr id="11" name="Shape 9"/>
          <p:cNvSpPr/>
          <p:nvPr/>
        </p:nvSpPr>
        <p:spPr>
          <a:xfrm>
            <a:off x="2377440" y="1489901"/>
            <a:ext cx="2302727" cy="56006"/>
          </a:xfrm>
          <a:prstGeom prst="roundRect">
            <a:avLst>
              <a:gd name="adj" fmla="val 653073"/>
            </a:avLst>
          </a:prstGeom>
          <a:solidFill>
            <a:srgbClr val="0077B5"/>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3.5% reply · n=346</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No abbreviations</a:t>
            </a:r>
            <a:endParaRPr lang="en-US" sz="950" dirty="0"/>
          </a:p>
        </p:txBody>
      </p:sp>
      <p:sp>
        <p:nvSpPr>
          <p:cNvPr id="14" name="Shape 12"/>
          <p:cNvSpPr/>
          <p:nvPr/>
        </p:nvSpPr>
        <p:spPr>
          <a:xfrm>
            <a:off x="2377440" y="2007108"/>
            <a:ext cx="2697480" cy="155448"/>
          </a:xfrm>
          <a:prstGeom prst="roundRect">
            <a:avLst>
              <a:gd name="adj" fmla="val 235294"/>
            </a:avLst>
          </a:prstGeom>
          <a:solidFill>
            <a:srgbClr val="F1F5F9"/>
          </a:solidFill>
          <a:ln/>
        </p:spPr>
      </p:sp>
      <p:sp>
        <p:nvSpPr>
          <p:cNvPr id="15" name="Shape 13"/>
          <p:cNvSpPr/>
          <p:nvPr/>
        </p:nvSpPr>
        <p:spPr>
          <a:xfrm>
            <a:off x="2377440" y="2007108"/>
            <a:ext cx="2697480" cy="155448"/>
          </a:xfrm>
          <a:prstGeom prst="roundRect">
            <a:avLst>
              <a:gd name="adj" fmla="val 235294"/>
            </a:avLst>
          </a:prstGeom>
          <a:solidFill>
            <a:srgbClr val="10B981"/>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4.1% reply · n=39,373</a:t>
            </a:r>
            <a:endParaRPr lang="en-US" sz="850" dirty="0"/>
          </a:p>
        </p:txBody>
      </p:sp>
      <p:sp>
        <p:nvSpPr>
          <p:cNvPr id="17" name="Text 15"/>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18" name="Shape 16"/>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19" name="Text 17"/>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20" name="Text 18"/>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Apurva Desai</a:t>
            </a:r>
            <a:endParaRPr lang="en-US" sz="1500" dirty="0"/>
          </a:p>
        </p:txBody>
      </p:sp>
      <p:sp>
        <p:nvSpPr>
          <p:cNvPr id="21" name="Text 19"/>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Partner @ Interstate Fusion Ventures</a:t>
            </a:r>
            <a:endParaRPr lang="en-US" sz="1100" dirty="0"/>
          </a:p>
        </p:txBody>
      </p:sp>
      <p:sp>
        <p:nvSpPr>
          <p:cNvPr id="22" name="Text 20"/>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about Dina's milestone - sounds like a big moment for the team you helped build. We're exploring funding partners, would love to connect.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3200400"/>
            <a:ext cx="12188952" cy="54864"/>
          </a:xfrm>
          <a:prstGeom prst="rect">
            <a:avLst/>
          </a:prstGeom>
          <a:solidFill>
            <a:srgbClr val="0077B5"/>
          </a:solidFill>
          <a:ln/>
        </p:spPr>
      </p:sp>
      <p:sp>
        <p:nvSpPr>
          <p:cNvPr id="3" name="Text 1"/>
          <p:cNvSpPr/>
          <p:nvPr/>
        </p:nvSpPr>
        <p:spPr>
          <a:xfrm>
            <a:off x="731520" y="2606040"/>
            <a:ext cx="10698480" cy="548640"/>
          </a:xfrm>
          <a:prstGeom prst="rect">
            <a:avLst/>
          </a:prstGeom>
          <a:noFill/>
          <a:ln/>
        </p:spPr>
        <p:txBody>
          <a:bodyPr wrap="square" rtlCol="0" anchor="ctr">
            <a:normAutofit/>
          </a:bodyPr>
          <a:lstStyle/>
          <a:p>
            <a:pPr indent="0" marL="0">
              <a:buNone/>
            </a:pPr>
            <a:r>
              <a:rPr lang="en-US" sz="3000" b="1" dirty="0">
                <a:solidFill>
                  <a:srgbClr val="FFFFFF"/>
                </a:solidFill>
                <a:latin typeface="Calibri" pitchFamily="34" charset="0"/>
                <a:ea typeface="Calibri" pitchFamily="34" charset="-122"/>
                <a:cs typeface="Calibri" pitchFamily="34" charset="-120"/>
              </a:rPr>
              <a:t>Timing &amp; Volume — When to Send</a:t>
            </a:r>
            <a:endParaRPr lang="en-US" sz="3000" dirty="0"/>
          </a:p>
        </p:txBody>
      </p:sp>
      <p:sp>
        <p:nvSpPr>
          <p:cNvPr id="4" name="Text 2"/>
          <p:cNvSpPr/>
          <p:nvPr/>
        </p:nvSpPr>
        <p:spPr>
          <a:xfrm>
            <a:off x="731520" y="3383280"/>
            <a:ext cx="10698480" cy="45720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Day, time of day, and how outreach/thread volume relate to outcomes.</a:t>
            </a:r>
            <a:endParaRPr lang="en-US" sz="1400" dirty="0"/>
          </a:p>
        </p:txBody>
      </p:sp>
      <p:sp>
        <p:nvSpPr>
          <p:cNvPr id="5" name="Text 3"/>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6" name="Text 4"/>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TIMING &amp; VOLUME — WHEN TO SEND</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Day Sent</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Monday</a:t>
            </a:r>
            <a:endParaRPr lang="en-US" sz="950" dirty="0"/>
          </a:p>
        </p:txBody>
      </p:sp>
      <p:sp>
        <p:nvSpPr>
          <p:cNvPr id="10" name="Shape 8"/>
          <p:cNvSpPr/>
          <p:nvPr/>
        </p:nvSpPr>
        <p:spPr>
          <a:xfrm>
            <a:off x="2377440" y="1443415"/>
            <a:ext cx="2697480" cy="148977"/>
          </a:xfrm>
          <a:prstGeom prst="roundRect">
            <a:avLst>
              <a:gd name="adj" fmla="val 245514"/>
            </a:avLst>
          </a:prstGeom>
          <a:solidFill>
            <a:srgbClr val="F1F5F9"/>
          </a:solidFill>
          <a:ln/>
        </p:spPr>
      </p:sp>
      <p:sp>
        <p:nvSpPr>
          <p:cNvPr id="11" name="Shape 9"/>
          <p:cNvSpPr/>
          <p:nvPr/>
        </p:nvSpPr>
        <p:spPr>
          <a:xfrm>
            <a:off x="2377440" y="1443415"/>
            <a:ext cx="1393698" cy="148977"/>
          </a:xfrm>
          <a:prstGeom prst="roundRect">
            <a:avLst>
              <a:gd name="adj" fmla="val 245514"/>
            </a:avLst>
          </a:prstGeom>
          <a:solidFill>
            <a:srgbClr val="0077B5"/>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3.1% reply · n=6,816</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Tuesday</a:t>
            </a:r>
            <a:endParaRPr lang="en-US" sz="950" dirty="0"/>
          </a:p>
        </p:txBody>
      </p:sp>
      <p:sp>
        <p:nvSpPr>
          <p:cNvPr id="14" name="Shape 12"/>
          <p:cNvSpPr/>
          <p:nvPr/>
        </p:nvSpPr>
        <p:spPr>
          <a:xfrm>
            <a:off x="2377440" y="2007108"/>
            <a:ext cx="2697480" cy="155448"/>
          </a:xfrm>
          <a:prstGeom prst="roundRect">
            <a:avLst>
              <a:gd name="adj" fmla="val 235294"/>
            </a:avLst>
          </a:prstGeom>
          <a:solidFill>
            <a:srgbClr val="F1F5F9"/>
          </a:solidFill>
          <a:ln/>
        </p:spPr>
      </p:sp>
      <p:sp>
        <p:nvSpPr>
          <p:cNvPr id="15" name="Shape 13"/>
          <p:cNvSpPr/>
          <p:nvPr/>
        </p:nvSpPr>
        <p:spPr>
          <a:xfrm>
            <a:off x="2377440" y="2007108"/>
            <a:ext cx="1888236" cy="155448"/>
          </a:xfrm>
          <a:prstGeom prst="roundRect">
            <a:avLst>
              <a:gd name="adj" fmla="val 235294"/>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4.2% reply · n=7,697</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Wednesday</a:t>
            </a:r>
            <a:endParaRPr lang="en-US" sz="950" dirty="0"/>
          </a:p>
        </p:txBody>
      </p:sp>
      <p:sp>
        <p:nvSpPr>
          <p:cNvPr id="18" name="Shape 16"/>
          <p:cNvSpPr/>
          <p:nvPr/>
        </p:nvSpPr>
        <p:spPr>
          <a:xfrm>
            <a:off x="2377440" y="2575298"/>
            <a:ext cx="2697480" cy="152924"/>
          </a:xfrm>
          <a:prstGeom prst="roundRect">
            <a:avLst>
              <a:gd name="adj" fmla="val 239178"/>
            </a:avLst>
          </a:prstGeom>
          <a:solidFill>
            <a:srgbClr val="F1F5F9"/>
          </a:solidFill>
          <a:ln/>
        </p:spPr>
      </p:sp>
      <p:sp>
        <p:nvSpPr>
          <p:cNvPr id="19" name="Shape 17"/>
          <p:cNvSpPr/>
          <p:nvPr/>
        </p:nvSpPr>
        <p:spPr>
          <a:xfrm>
            <a:off x="2377440" y="2575298"/>
            <a:ext cx="1753362" cy="152924"/>
          </a:xfrm>
          <a:prstGeom prst="roundRect">
            <a:avLst>
              <a:gd name="adj" fmla="val 239178"/>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3.9% reply · n=7,347</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Thursday</a:t>
            </a:r>
            <a:endParaRPr lang="en-US" sz="950" dirty="0"/>
          </a:p>
        </p:txBody>
      </p:sp>
      <p:sp>
        <p:nvSpPr>
          <p:cNvPr id="22" name="Shape 20"/>
          <p:cNvSpPr/>
          <p:nvPr/>
        </p:nvSpPr>
        <p:spPr>
          <a:xfrm>
            <a:off x="2377440" y="3153198"/>
            <a:ext cx="2697480" cy="130980"/>
          </a:xfrm>
          <a:prstGeom prst="roundRect">
            <a:avLst>
              <a:gd name="adj" fmla="val 279249"/>
            </a:avLst>
          </a:prstGeom>
          <a:solidFill>
            <a:srgbClr val="F1F5F9"/>
          </a:solidFill>
          <a:ln/>
        </p:spPr>
      </p:sp>
      <p:sp>
        <p:nvSpPr>
          <p:cNvPr id="23" name="Shape 21"/>
          <p:cNvSpPr/>
          <p:nvPr/>
        </p:nvSpPr>
        <p:spPr>
          <a:xfrm>
            <a:off x="2377440" y="3153198"/>
            <a:ext cx="2697480" cy="130980"/>
          </a:xfrm>
          <a:prstGeom prst="roundRect">
            <a:avLst>
              <a:gd name="adj" fmla="val 279249"/>
            </a:avLst>
          </a:prstGeom>
          <a:solidFill>
            <a:srgbClr val="10B981"/>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6.0% reply · n=4,647</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Friday</a:t>
            </a:r>
            <a:endParaRPr lang="en-US" sz="950" dirty="0"/>
          </a:p>
        </p:txBody>
      </p:sp>
      <p:sp>
        <p:nvSpPr>
          <p:cNvPr id="26" name="Shape 24"/>
          <p:cNvSpPr/>
          <p:nvPr/>
        </p:nvSpPr>
        <p:spPr>
          <a:xfrm>
            <a:off x="2377440" y="3714179"/>
            <a:ext cx="2697480" cy="142874"/>
          </a:xfrm>
          <a:prstGeom prst="roundRect">
            <a:avLst>
              <a:gd name="adj" fmla="val 256002"/>
            </a:avLst>
          </a:prstGeom>
          <a:solidFill>
            <a:srgbClr val="F1F5F9"/>
          </a:solidFill>
          <a:ln/>
        </p:spPr>
      </p:sp>
      <p:sp>
        <p:nvSpPr>
          <p:cNvPr id="27" name="Shape 25"/>
          <p:cNvSpPr/>
          <p:nvPr/>
        </p:nvSpPr>
        <p:spPr>
          <a:xfrm>
            <a:off x="2377440" y="3714179"/>
            <a:ext cx="1888236" cy="142874"/>
          </a:xfrm>
          <a:prstGeom prst="roundRect">
            <a:avLst>
              <a:gd name="adj" fmla="val 256002"/>
            </a:avLst>
          </a:prstGeom>
          <a:solidFill>
            <a:srgbClr val="0077B5"/>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4.2% reply · n=6,034</a:t>
            </a:r>
            <a:endParaRPr lang="en-US" sz="850" dirty="0"/>
          </a:p>
        </p:txBody>
      </p:sp>
      <p:sp>
        <p:nvSpPr>
          <p:cNvPr id="29" name="Text 27"/>
          <p:cNvSpPr/>
          <p:nvPr/>
        </p:nvSpPr>
        <p:spPr>
          <a:xfrm>
            <a:off x="457200" y="406908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Saturday</a:t>
            </a:r>
            <a:endParaRPr lang="en-US" sz="950" dirty="0"/>
          </a:p>
        </p:txBody>
      </p:sp>
      <p:sp>
        <p:nvSpPr>
          <p:cNvPr id="30" name="Shape 28"/>
          <p:cNvSpPr/>
          <p:nvPr/>
        </p:nvSpPr>
        <p:spPr>
          <a:xfrm>
            <a:off x="2377440" y="4284299"/>
            <a:ext cx="2697480" cy="136489"/>
          </a:xfrm>
          <a:prstGeom prst="roundRect">
            <a:avLst>
              <a:gd name="adj" fmla="val 267978"/>
            </a:avLst>
          </a:prstGeom>
          <a:solidFill>
            <a:srgbClr val="F1F5F9"/>
          </a:solidFill>
          <a:ln/>
        </p:spPr>
      </p:sp>
      <p:sp>
        <p:nvSpPr>
          <p:cNvPr id="31" name="Shape 29"/>
          <p:cNvSpPr/>
          <p:nvPr/>
        </p:nvSpPr>
        <p:spPr>
          <a:xfrm>
            <a:off x="2377440" y="4284299"/>
            <a:ext cx="1348740" cy="136489"/>
          </a:xfrm>
          <a:prstGeom prst="roundRect">
            <a:avLst>
              <a:gd name="adj" fmla="val 267978"/>
            </a:avLst>
          </a:prstGeom>
          <a:solidFill>
            <a:srgbClr val="0077B5"/>
          </a:solidFill>
          <a:ln/>
        </p:spPr>
      </p:sp>
      <p:sp>
        <p:nvSpPr>
          <p:cNvPr id="32" name="Text 30"/>
          <p:cNvSpPr/>
          <p:nvPr/>
        </p:nvSpPr>
        <p:spPr>
          <a:xfrm>
            <a:off x="5212080" y="406908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3.0% reply · n=5,267</a:t>
            </a:r>
            <a:endParaRPr lang="en-US" sz="850" dirty="0"/>
          </a:p>
        </p:txBody>
      </p:sp>
      <p:sp>
        <p:nvSpPr>
          <p:cNvPr id="33" name="Text 31"/>
          <p:cNvSpPr/>
          <p:nvPr/>
        </p:nvSpPr>
        <p:spPr>
          <a:xfrm>
            <a:off x="457200" y="463600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Sunday</a:t>
            </a:r>
            <a:endParaRPr lang="en-US" sz="950" dirty="0"/>
          </a:p>
        </p:txBody>
      </p:sp>
      <p:sp>
        <p:nvSpPr>
          <p:cNvPr id="34" name="Shape 32"/>
          <p:cNvSpPr/>
          <p:nvPr/>
        </p:nvSpPr>
        <p:spPr>
          <a:xfrm>
            <a:off x="2377440" y="4868112"/>
            <a:ext cx="2697480" cy="102720"/>
          </a:xfrm>
          <a:prstGeom prst="roundRect">
            <a:avLst>
              <a:gd name="adj" fmla="val 356075"/>
            </a:avLst>
          </a:prstGeom>
          <a:solidFill>
            <a:srgbClr val="F1F5F9"/>
          </a:solidFill>
          <a:ln/>
        </p:spPr>
      </p:sp>
      <p:sp>
        <p:nvSpPr>
          <p:cNvPr id="35" name="Shape 33"/>
          <p:cNvSpPr/>
          <p:nvPr/>
        </p:nvSpPr>
        <p:spPr>
          <a:xfrm>
            <a:off x="2377440" y="4868112"/>
            <a:ext cx="2427732" cy="102720"/>
          </a:xfrm>
          <a:prstGeom prst="roundRect">
            <a:avLst>
              <a:gd name="adj" fmla="val 356075"/>
            </a:avLst>
          </a:prstGeom>
          <a:solidFill>
            <a:srgbClr val="0077B5"/>
          </a:solidFill>
          <a:ln/>
        </p:spPr>
      </p:sp>
      <p:sp>
        <p:nvSpPr>
          <p:cNvPr id="36" name="Text 34"/>
          <p:cNvSpPr/>
          <p:nvPr/>
        </p:nvSpPr>
        <p:spPr>
          <a:xfrm>
            <a:off x="5212080" y="463600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5.4% reply · n=2,077</a:t>
            </a:r>
            <a:endParaRPr lang="en-US" sz="850" dirty="0"/>
          </a:p>
        </p:txBody>
      </p:sp>
      <p:sp>
        <p:nvSpPr>
          <p:cNvPr id="37" name="Text 35"/>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38" name="Shape 36"/>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39" name="Text 37"/>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40" name="Text 38"/>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Apurva Desai</a:t>
            </a:r>
            <a:endParaRPr lang="en-US" sz="1500" dirty="0"/>
          </a:p>
        </p:txBody>
      </p:sp>
      <p:sp>
        <p:nvSpPr>
          <p:cNvPr id="41" name="Text 39"/>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Partner @ Interstate Fusion Ventures</a:t>
            </a:r>
            <a:endParaRPr lang="en-US" sz="1100" dirty="0"/>
          </a:p>
        </p:txBody>
      </p:sp>
      <p:sp>
        <p:nvSpPr>
          <p:cNvPr id="42" name="Text 40"/>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about Dina's milestone - sounds like a big moment for the team you helped build. We're exploring funding partners, would love to connect.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TIMING &amp; VOLUME — WHEN TO SEND</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Best Time of Day to Send (Central)</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Early morning (5-8a)</a:t>
            </a:r>
            <a:endParaRPr lang="en-US" sz="950" dirty="0"/>
          </a:p>
        </p:txBody>
      </p:sp>
      <p:sp>
        <p:nvSpPr>
          <p:cNvPr id="10" name="Shape 8"/>
          <p:cNvSpPr/>
          <p:nvPr/>
        </p:nvSpPr>
        <p:spPr>
          <a:xfrm>
            <a:off x="2377440" y="1452066"/>
            <a:ext cx="2697480" cy="131677"/>
          </a:xfrm>
          <a:prstGeom prst="roundRect">
            <a:avLst>
              <a:gd name="adj" fmla="val 277771"/>
            </a:avLst>
          </a:prstGeom>
          <a:solidFill>
            <a:srgbClr val="F1F5F9"/>
          </a:solidFill>
          <a:ln/>
        </p:spPr>
      </p:sp>
      <p:sp>
        <p:nvSpPr>
          <p:cNvPr id="11" name="Shape 9"/>
          <p:cNvSpPr/>
          <p:nvPr/>
        </p:nvSpPr>
        <p:spPr>
          <a:xfrm>
            <a:off x="2377440" y="1452066"/>
            <a:ext cx="1024359" cy="131677"/>
          </a:xfrm>
          <a:prstGeom prst="roundRect">
            <a:avLst>
              <a:gd name="adj" fmla="val 277771"/>
            </a:avLst>
          </a:prstGeom>
          <a:solidFill>
            <a:srgbClr val="0077B5"/>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3.0% reply · n=6,444</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Morning (9-11a)</a:t>
            </a:r>
            <a:endParaRPr lang="en-US" sz="950" dirty="0"/>
          </a:p>
        </p:txBody>
      </p:sp>
      <p:sp>
        <p:nvSpPr>
          <p:cNvPr id="14" name="Shape 12"/>
          <p:cNvSpPr/>
          <p:nvPr/>
        </p:nvSpPr>
        <p:spPr>
          <a:xfrm>
            <a:off x="2377440" y="2007108"/>
            <a:ext cx="2697480" cy="155448"/>
          </a:xfrm>
          <a:prstGeom prst="roundRect">
            <a:avLst>
              <a:gd name="adj" fmla="val 235294"/>
            </a:avLst>
          </a:prstGeom>
          <a:solidFill>
            <a:srgbClr val="F1F5F9"/>
          </a:solidFill>
          <a:ln/>
        </p:spPr>
      </p:sp>
      <p:sp>
        <p:nvSpPr>
          <p:cNvPr id="15" name="Shape 13"/>
          <p:cNvSpPr/>
          <p:nvPr/>
        </p:nvSpPr>
        <p:spPr>
          <a:xfrm>
            <a:off x="2377440" y="2007108"/>
            <a:ext cx="682906" cy="155448"/>
          </a:xfrm>
          <a:prstGeom prst="roundRect">
            <a:avLst>
              <a:gd name="adj" fmla="val 235294"/>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2.0% reply · n=10,501</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Afternoon (12-2p)</a:t>
            </a:r>
            <a:endParaRPr lang="en-US" sz="950" dirty="0"/>
          </a:p>
        </p:txBody>
      </p:sp>
      <p:sp>
        <p:nvSpPr>
          <p:cNvPr id="18" name="Shape 16"/>
          <p:cNvSpPr/>
          <p:nvPr/>
        </p:nvSpPr>
        <p:spPr>
          <a:xfrm>
            <a:off x="2377440" y="2578659"/>
            <a:ext cx="2697480" cy="146203"/>
          </a:xfrm>
          <a:prstGeom prst="roundRect">
            <a:avLst>
              <a:gd name="adj" fmla="val 250173"/>
            </a:avLst>
          </a:prstGeom>
          <a:solidFill>
            <a:srgbClr val="F1F5F9"/>
          </a:solidFill>
          <a:ln/>
        </p:spPr>
      </p:sp>
      <p:sp>
        <p:nvSpPr>
          <p:cNvPr id="19" name="Shape 17"/>
          <p:cNvSpPr/>
          <p:nvPr/>
        </p:nvSpPr>
        <p:spPr>
          <a:xfrm>
            <a:off x="2377440" y="2578659"/>
            <a:ext cx="1263377" cy="146203"/>
          </a:xfrm>
          <a:prstGeom prst="roundRect">
            <a:avLst>
              <a:gd name="adj" fmla="val 250173"/>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3.7% reply · n=8,806</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Late afternoon (3-5p)</a:t>
            </a:r>
            <a:endParaRPr lang="en-US" sz="950" dirty="0"/>
          </a:p>
        </p:txBody>
      </p:sp>
      <p:sp>
        <p:nvSpPr>
          <p:cNvPr id="22" name="Shape 20"/>
          <p:cNvSpPr/>
          <p:nvPr/>
        </p:nvSpPr>
        <p:spPr>
          <a:xfrm>
            <a:off x="2377440" y="3149666"/>
            <a:ext cx="2697480" cy="138044"/>
          </a:xfrm>
          <a:prstGeom prst="roundRect">
            <a:avLst>
              <a:gd name="adj" fmla="val 264959"/>
            </a:avLst>
          </a:prstGeom>
          <a:solidFill>
            <a:srgbClr val="F1F5F9"/>
          </a:solidFill>
          <a:ln/>
        </p:spPr>
      </p:sp>
      <p:sp>
        <p:nvSpPr>
          <p:cNvPr id="23" name="Shape 21"/>
          <p:cNvSpPr/>
          <p:nvPr/>
        </p:nvSpPr>
        <p:spPr>
          <a:xfrm>
            <a:off x="2377440" y="3149666"/>
            <a:ext cx="1775556" cy="138044"/>
          </a:xfrm>
          <a:prstGeom prst="roundRect">
            <a:avLst>
              <a:gd name="adj" fmla="val 264959"/>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5.2% reply · n=7,434</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Evening (6-9p)</a:t>
            </a:r>
            <a:endParaRPr lang="en-US" sz="950" dirty="0"/>
          </a:p>
        </p:txBody>
      </p:sp>
      <p:sp>
        <p:nvSpPr>
          <p:cNvPr id="26" name="Shape 24"/>
          <p:cNvSpPr/>
          <p:nvPr/>
        </p:nvSpPr>
        <p:spPr>
          <a:xfrm>
            <a:off x="2377440" y="3726083"/>
            <a:ext cx="2697480" cy="119067"/>
          </a:xfrm>
          <a:prstGeom prst="roundRect">
            <a:avLst>
              <a:gd name="adj" fmla="val 307188"/>
            </a:avLst>
          </a:prstGeom>
          <a:solidFill>
            <a:srgbClr val="F1F5F9"/>
          </a:solidFill>
          <a:ln/>
        </p:spPr>
      </p:sp>
      <p:sp>
        <p:nvSpPr>
          <p:cNvPr id="27" name="Shape 25"/>
          <p:cNvSpPr/>
          <p:nvPr/>
        </p:nvSpPr>
        <p:spPr>
          <a:xfrm>
            <a:off x="2377440" y="3726083"/>
            <a:ext cx="2697480" cy="119067"/>
          </a:xfrm>
          <a:prstGeom prst="roundRect">
            <a:avLst>
              <a:gd name="adj" fmla="val 307188"/>
            </a:avLst>
          </a:prstGeom>
          <a:solidFill>
            <a:srgbClr val="10B981"/>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7.9% reply · n=4,692</a:t>
            </a:r>
            <a:endParaRPr lang="en-US" sz="850" dirty="0"/>
          </a:p>
        </p:txBody>
      </p:sp>
      <p:sp>
        <p:nvSpPr>
          <p:cNvPr id="29" name="Text 27"/>
          <p:cNvSpPr/>
          <p:nvPr/>
        </p:nvSpPr>
        <p:spPr>
          <a:xfrm>
            <a:off x="457200" y="406908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Overnight (10p-4a)</a:t>
            </a:r>
            <a:endParaRPr lang="en-US" sz="950" dirty="0"/>
          </a:p>
        </p:txBody>
      </p:sp>
      <p:sp>
        <p:nvSpPr>
          <p:cNvPr id="30" name="Shape 28"/>
          <p:cNvSpPr/>
          <p:nvPr/>
        </p:nvSpPr>
        <p:spPr>
          <a:xfrm>
            <a:off x="2377440" y="4306706"/>
            <a:ext cx="2697480" cy="91677"/>
          </a:xfrm>
          <a:prstGeom prst="roundRect">
            <a:avLst>
              <a:gd name="adj" fmla="val 398966"/>
            </a:avLst>
          </a:prstGeom>
          <a:solidFill>
            <a:srgbClr val="F1F5F9"/>
          </a:solidFill>
          <a:ln/>
        </p:spPr>
      </p:sp>
      <p:sp>
        <p:nvSpPr>
          <p:cNvPr id="31" name="Shape 29"/>
          <p:cNvSpPr/>
          <p:nvPr/>
        </p:nvSpPr>
        <p:spPr>
          <a:xfrm>
            <a:off x="2377440" y="4306706"/>
            <a:ext cx="2560899" cy="91677"/>
          </a:xfrm>
          <a:prstGeom prst="roundRect">
            <a:avLst>
              <a:gd name="adj" fmla="val 398966"/>
            </a:avLst>
          </a:prstGeom>
          <a:solidFill>
            <a:srgbClr val="0077B5"/>
          </a:solidFill>
          <a:ln/>
        </p:spPr>
      </p:sp>
      <p:sp>
        <p:nvSpPr>
          <p:cNvPr id="32" name="Text 30"/>
          <p:cNvSpPr/>
          <p:nvPr/>
        </p:nvSpPr>
        <p:spPr>
          <a:xfrm>
            <a:off x="5212080" y="406908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7.5% reply · n=1,842</a:t>
            </a:r>
            <a:endParaRPr lang="en-US" sz="850" dirty="0"/>
          </a:p>
        </p:txBody>
      </p:sp>
      <p:sp>
        <p:nvSpPr>
          <p:cNvPr id="33" name="Text 31"/>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34" name="Shape 32"/>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35" name="Text 33"/>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36" name="Text 34"/>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Apurva Desai</a:t>
            </a:r>
            <a:endParaRPr lang="en-US" sz="1500" dirty="0"/>
          </a:p>
        </p:txBody>
      </p:sp>
      <p:sp>
        <p:nvSpPr>
          <p:cNvPr id="37" name="Text 35"/>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Partner @ Interstate Fusion Ventures</a:t>
            </a:r>
            <a:endParaRPr lang="en-US" sz="1100" dirty="0"/>
          </a:p>
        </p:txBody>
      </p:sp>
      <p:sp>
        <p:nvSpPr>
          <p:cNvPr id="38" name="Text 36"/>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about Dina's milestone - sounds like a big moment for the team you helped build. We're exploring funding partners, would love to connect.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TIMING &amp; VOLUME — WHEN TO SEND</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Day × Time Heatmap</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
        <p:nvSpPr>
          <p:cNvPr id="9" name="Text 7"/>
          <p:cNvSpPr/>
          <p:nvPr/>
        </p:nvSpPr>
        <p:spPr>
          <a:xfrm>
            <a:off x="457200" y="1234440"/>
            <a:ext cx="11274552" cy="256032"/>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Reply rate by day × time window. Cells with fewer than 20 sends are faded — too small to draw conclusions from.</a:t>
            </a:r>
            <a:endParaRPr lang="en-US" sz="9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563624"/>
          <a:ext cx="11274552" cy="914400"/>
        </p:xfrm>
        <a:graphic>
          <a:graphicData uri="http://schemas.openxmlformats.org/drawingml/2006/table">
            <a:tbl>
              <a:tblPr/>
              <a:tblGrid>
                <a:gridCol w="777240"/>
                <a:gridCol w="1749552"/>
                <a:gridCol w="1749552"/>
                <a:gridCol w="1749552"/>
                <a:gridCol w="1749552"/>
                <a:gridCol w="1749552"/>
                <a:gridCol w="1749552"/>
              </a:tblGrid>
              <a:tr h="593217">
                <a:tc>
                  <a:txBody>
                    <a:bodyPr/>
                    <a:lstStyle/>
                    <a:p>
                      <a:pPr indent="0" marL="0">
                        <a:buNone/>
                      </a:pPr>
                      <a:endParaRPr lang="en-US" sz="1200" dirty="0"/>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rPr>
                        <a:t>Early morning</a:t>
                      </a:r>
                      <a:endParaRPr lang="en-US" sz="8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rPr>
                        <a:t>Morning</a:t>
                      </a:r>
                      <a:endParaRPr lang="en-US" sz="8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rPr>
                        <a:t>Afternoon</a:t>
                      </a:r>
                      <a:endParaRPr lang="en-US" sz="8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rPr>
                        <a:t>Late afternoon</a:t>
                      </a:r>
                      <a:endParaRPr lang="en-US" sz="8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rPr>
                        <a:t>Evening</a:t>
                      </a:r>
                      <a:endParaRPr lang="en-US" sz="8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rPr>
                        <a:t>Overnight</a:t>
                      </a:r>
                      <a:endParaRPr lang="en-US" sz="85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0F172A"/>
                    </a:solidFill>
                  </a:tcPr>
                </a:tc>
              </a:tr>
              <a:tr h="593217">
                <a:tc>
                  <a:txBody>
                    <a:bodyPr/>
                    <a:lstStyle/>
                    <a:p>
                      <a:pPr algn="ctr" indent="0" marL="0">
                        <a:buNone/>
                      </a:pPr>
                      <a:r>
                        <a:rPr lang="en-US" sz="900" b="1" dirty="0">
                          <a:solidFill>
                            <a:srgbClr val="374151"/>
                          </a:solidFill>
                        </a:rPr>
                        <a:t>Mon</a:t>
                      </a:r>
                      <a:endParaRPr lang="en-US" sz="9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F2937"/>
                          </a:solidFill>
                        </a:rPr>
                        <a:t>4.7%</a:t>
                      </a:r>
                      <a:endParaRPr lang="en-US" sz="1200" dirty="0"/>
                    </a:p>
                    <a:p>
                      <a:pPr algn="ctr" indent="0" marL="0">
                        <a:buNone/>
                      </a:pPr>
                      <a:r>
                        <a:rPr lang="en-US" sz="700" dirty="0">
                          <a:solidFill>
                            <a:srgbClr val="6B7280"/>
                          </a:solidFill>
                        </a:rPr>
                        <a:t>n=636</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8000"/>
                      </a:srgbClr>
                    </a:solidFill>
                  </a:tcPr>
                </a:tc>
                <a:tc>
                  <a:txBody>
                    <a:bodyPr/>
                    <a:lstStyle/>
                    <a:p>
                      <a:pPr algn="ctr" indent="0" marL="0">
                        <a:buNone/>
                      </a:pPr>
                      <a:r>
                        <a:rPr lang="en-US" sz="950" b="1" dirty="0">
                          <a:solidFill>
                            <a:srgbClr val="1F2937"/>
                          </a:solidFill>
                        </a:rPr>
                        <a:t>1.1%</a:t>
                      </a:r>
                      <a:endParaRPr lang="en-US" sz="1200" dirty="0"/>
                    </a:p>
                    <a:p>
                      <a:pPr algn="ctr" indent="0" marL="0">
                        <a:buNone/>
                      </a:pPr>
                      <a:r>
                        <a:rPr lang="en-US" sz="700" dirty="0">
                          <a:solidFill>
                            <a:srgbClr val="6B7280"/>
                          </a:solidFill>
                        </a:rPr>
                        <a:t>n=2,588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16000"/>
                      </a:srgbClr>
                    </a:solidFill>
                  </a:tcPr>
                </a:tc>
                <a:tc>
                  <a:txBody>
                    <a:bodyPr/>
                    <a:lstStyle/>
                    <a:p>
                      <a:pPr algn="ctr" indent="0" marL="0">
                        <a:buNone/>
                      </a:pPr>
                      <a:r>
                        <a:rPr lang="en-US" sz="950" b="1" dirty="0">
                          <a:solidFill>
                            <a:srgbClr val="1F2937"/>
                          </a:solidFill>
                        </a:rPr>
                        <a:t>2.5%</a:t>
                      </a:r>
                      <a:endParaRPr lang="en-US" sz="1200" dirty="0"/>
                    </a:p>
                    <a:p>
                      <a:pPr algn="ctr" indent="0" marL="0">
                        <a:buNone/>
                      </a:pPr>
                      <a:r>
                        <a:rPr lang="en-US" sz="700" dirty="0">
                          <a:solidFill>
                            <a:srgbClr val="6B7280"/>
                          </a:solidFill>
                        </a:rPr>
                        <a:t>n=1,377</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0000"/>
                      </a:srgbClr>
                    </a:solidFill>
                  </a:tcPr>
                </a:tc>
                <a:tc>
                  <a:txBody>
                    <a:bodyPr/>
                    <a:lstStyle/>
                    <a:p>
                      <a:pPr algn="ctr" indent="0" marL="0">
                        <a:buNone/>
                      </a:pPr>
                      <a:r>
                        <a:rPr lang="en-US" sz="950" b="1" dirty="0">
                          <a:solidFill>
                            <a:srgbClr val="1F2937"/>
                          </a:solidFill>
                        </a:rPr>
                        <a:t>4.3%</a:t>
                      </a:r>
                      <a:endParaRPr lang="en-US" sz="1200" dirty="0"/>
                    </a:p>
                    <a:p>
                      <a:pPr algn="ctr" indent="0" marL="0">
                        <a:buNone/>
                      </a:pPr>
                      <a:r>
                        <a:rPr lang="en-US" sz="700" dirty="0">
                          <a:solidFill>
                            <a:srgbClr val="6B7280"/>
                          </a:solidFill>
                        </a:rPr>
                        <a:t>n=1,517</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7000"/>
                      </a:srgbClr>
                    </a:solidFill>
                  </a:tcPr>
                </a:tc>
                <a:tc>
                  <a:txBody>
                    <a:bodyPr/>
                    <a:lstStyle/>
                    <a:p>
                      <a:pPr algn="ctr" indent="0" marL="0">
                        <a:buNone/>
                      </a:pPr>
                      <a:r>
                        <a:rPr lang="en-US" sz="950" b="1" dirty="0">
                          <a:solidFill>
                            <a:srgbClr val="1F2937"/>
                          </a:solidFill>
                        </a:rPr>
                        <a:t>6.6%</a:t>
                      </a:r>
                      <a:endParaRPr lang="en-US" sz="1200" dirty="0"/>
                    </a:p>
                    <a:p>
                      <a:pPr algn="ctr" indent="0" marL="0">
                        <a:buNone/>
                      </a:pPr>
                      <a:r>
                        <a:rPr lang="en-US" sz="700" dirty="0">
                          <a:solidFill>
                            <a:srgbClr val="6B7280"/>
                          </a:solidFill>
                        </a:rPr>
                        <a:t>n=621</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34000"/>
                      </a:srgbClr>
                    </a:solidFill>
                  </a:tcPr>
                </a:tc>
                <a:tc>
                  <a:txBody>
                    <a:bodyPr/>
                    <a:lstStyle/>
                    <a:p>
                      <a:pPr algn="ctr" indent="0" marL="0">
                        <a:buNone/>
                      </a:pPr>
                      <a:r>
                        <a:rPr lang="en-US" sz="950" b="1" dirty="0">
                          <a:solidFill>
                            <a:srgbClr val="1F2937"/>
                          </a:solidFill>
                        </a:rPr>
                        <a:t>14.3%</a:t>
                      </a:r>
                      <a:endParaRPr lang="en-US" sz="1200" dirty="0"/>
                    </a:p>
                    <a:p>
                      <a:pPr algn="ctr" indent="0" marL="0">
                        <a:buNone/>
                      </a:pPr>
                      <a:r>
                        <a:rPr lang="en-US" sz="700" dirty="0">
                          <a:solidFill>
                            <a:srgbClr val="6B7280"/>
                          </a:solidFill>
                        </a:rPr>
                        <a:t>n=77</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60000"/>
                      </a:srgbClr>
                    </a:solidFill>
                  </a:tcPr>
                </a:tc>
              </a:tr>
              <a:tr h="593217">
                <a:tc>
                  <a:txBody>
                    <a:bodyPr/>
                    <a:lstStyle/>
                    <a:p>
                      <a:pPr algn="ctr" indent="0" marL="0">
                        <a:buNone/>
                      </a:pPr>
                      <a:r>
                        <a:rPr lang="en-US" sz="900" b="1" dirty="0">
                          <a:solidFill>
                            <a:srgbClr val="374151"/>
                          </a:solidFill>
                        </a:rPr>
                        <a:t>Tue</a:t>
                      </a:r>
                      <a:endParaRPr lang="en-US" sz="9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F2937"/>
                          </a:solidFill>
                        </a:rPr>
                        <a:t>2.8%</a:t>
                      </a:r>
                      <a:endParaRPr lang="en-US" sz="1200" dirty="0"/>
                    </a:p>
                    <a:p>
                      <a:pPr algn="ctr" indent="0" marL="0">
                        <a:buNone/>
                      </a:pPr>
                      <a:r>
                        <a:rPr lang="en-US" sz="700" dirty="0">
                          <a:solidFill>
                            <a:srgbClr val="6B7280"/>
                          </a:solidFill>
                        </a:rPr>
                        <a:t>n=1,283</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1000"/>
                      </a:srgbClr>
                    </a:solidFill>
                  </a:tcPr>
                </a:tc>
                <a:tc>
                  <a:txBody>
                    <a:bodyPr/>
                    <a:lstStyle/>
                    <a:p>
                      <a:pPr algn="ctr" indent="0" marL="0">
                        <a:buNone/>
                      </a:pPr>
                      <a:r>
                        <a:rPr lang="en-US" sz="950" b="1" dirty="0">
                          <a:solidFill>
                            <a:srgbClr val="1F2937"/>
                          </a:solidFill>
                        </a:rPr>
                        <a:t>2.6%</a:t>
                      </a:r>
                      <a:endParaRPr lang="en-US" sz="1200" dirty="0"/>
                    </a:p>
                    <a:p>
                      <a:pPr algn="ctr" indent="0" marL="0">
                        <a:buNone/>
                      </a:pPr>
                      <a:r>
                        <a:rPr lang="en-US" sz="700" dirty="0">
                          <a:solidFill>
                            <a:srgbClr val="6B7280"/>
                          </a:solidFill>
                        </a:rPr>
                        <a:t>n=1,565</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1000"/>
                      </a:srgbClr>
                    </a:solidFill>
                  </a:tcPr>
                </a:tc>
                <a:tc>
                  <a:txBody>
                    <a:bodyPr/>
                    <a:lstStyle/>
                    <a:p>
                      <a:pPr algn="ctr" indent="0" marL="0">
                        <a:buNone/>
                      </a:pPr>
                      <a:r>
                        <a:rPr lang="en-US" sz="950" b="1" dirty="0">
                          <a:solidFill>
                            <a:srgbClr val="1F2937"/>
                          </a:solidFill>
                        </a:rPr>
                        <a:t>3.3%</a:t>
                      </a:r>
                      <a:endParaRPr lang="en-US" sz="1200" dirty="0"/>
                    </a:p>
                    <a:p>
                      <a:pPr algn="ctr" indent="0" marL="0">
                        <a:buNone/>
                      </a:pPr>
                      <a:r>
                        <a:rPr lang="en-US" sz="700" dirty="0">
                          <a:solidFill>
                            <a:srgbClr val="6B7280"/>
                          </a:solidFill>
                        </a:rPr>
                        <a:t>n=1,798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3000"/>
                      </a:srgbClr>
                    </a:solidFill>
                  </a:tcPr>
                </a:tc>
                <a:tc>
                  <a:txBody>
                    <a:bodyPr/>
                    <a:lstStyle/>
                    <a:p>
                      <a:pPr algn="ctr" indent="0" marL="0">
                        <a:buNone/>
                      </a:pPr>
                      <a:r>
                        <a:rPr lang="en-US" sz="950" b="1" dirty="0">
                          <a:solidFill>
                            <a:srgbClr val="1F2937"/>
                          </a:solidFill>
                        </a:rPr>
                        <a:t>5.3%</a:t>
                      </a:r>
                      <a:endParaRPr lang="en-US" sz="1200" dirty="0"/>
                    </a:p>
                    <a:p>
                      <a:pPr algn="ctr" indent="0" marL="0">
                        <a:buNone/>
                      </a:pPr>
                      <a:r>
                        <a:rPr lang="en-US" sz="700" dirty="0">
                          <a:solidFill>
                            <a:srgbClr val="6B7280"/>
                          </a:solidFill>
                        </a:rPr>
                        <a:t>n=1,835</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30000"/>
                      </a:srgbClr>
                    </a:solidFill>
                  </a:tcPr>
                </a:tc>
                <a:tc>
                  <a:txBody>
                    <a:bodyPr/>
                    <a:lstStyle/>
                    <a:p>
                      <a:pPr algn="ctr" indent="0" marL="0">
                        <a:buNone/>
                      </a:pPr>
                      <a:r>
                        <a:rPr lang="en-US" sz="950" b="1" dirty="0">
                          <a:solidFill>
                            <a:srgbClr val="1F2937"/>
                          </a:solidFill>
                        </a:rPr>
                        <a:t>8.8%</a:t>
                      </a:r>
                      <a:endParaRPr lang="en-US" sz="1200" dirty="0"/>
                    </a:p>
                    <a:p>
                      <a:pPr algn="ctr" indent="0" marL="0">
                        <a:buNone/>
                      </a:pPr>
                      <a:r>
                        <a:rPr lang="en-US" sz="700" dirty="0">
                          <a:solidFill>
                            <a:srgbClr val="6B7280"/>
                          </a:solidFill>
                        </a:rPr>
                        <a:t>n=788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42000"/>
                      </a:srgbClr>
                    </a:solidFill>
                  </a:tcPr>
                </a:tc>
                <a:tc>
                  <a:txBody>
                    <a:bodyPr/>
                    <a:lstStyle/>
                    <a:p>
                      <a:pPr algn="ctr" indent="0" marL="0">
                        <a:buNone/>
                      </a:pPr>
                      <a:r>
                        <a:rPr lang="en-US" sz="950" b="1" dirty="0">
                          <a:solidFill>
                            <a:srgbClr val="1F2937"/>
                          </a:solidFill>
                        </a:rPr>
                        <a:t>8.6%</a:t>
                      </a:r>
                      <a:endParaRPr lang="en-US" sz="1200" dirty="0"/>
                    </a:p>
                    <a:p>
                      <a:pPr algn="ctr" indent="0" marL="0">
                        <a:buNone/>
                      </a:pPr>
                      <a:r>
                        <a:rPr lang="en-US" sz="700" dirty="0">
                          <a:solidFill>
                            <a:srgbClr val="6B7280"/>
                          </a:solidFill>
                        </a:rPr>
                        <a:t>n=266</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41000"/>
                      </a:srgbClr>
                    </a:solidFill>
                  </a:tcPr>
                </a:tc>
              </a:tr>
              <a:tr h="593217">
                <a:tc>
                  <a:txBody>
                    <a:bodyPr/>
                    <a:lstStyle/>
                    <a:p>
                      <a:pPr algn="ctr" indent="0" marL="0">
                        <a:buNone/>
                      </a:pPr>
                      <a:r>
                        <a:rPr lang="en-US" sz="900" b="1" dirty="0">
                          <a:solidFill>
                            <a:srgbClr val="374151"/>
                          </a:solidFill>
                        </a:rPr>
                        <a:t>Wed</a:t>
                      </a:r>
                      <a:endParaRPr lang="en-US" sz="9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F2937"/>
                          </a:solidFill>
                        </a:rPr>
                        <a:t>4.1%</a:t>
                      </a:r>
                      <a:endParaRPr lang="en-US" sz="1200" dirty="0"/>
                    </a:p>
                    <a:p>
                      <a:pPr algn="ctr" indent="0" marL="0">
                        <a:buNone/>
                      </a:pPr>
                      <a:r>
                        <a:rPr lang="en-US" sz="700" dirty="0">
                          <a:solidFill>
                            <a:srgbClr val="6B7280"/>
                          </a:solidFill>
                        </a:rPr>
                        <a:t>n=977</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6000"/>
                      </a:srgbClr>
                    </a:solidFill>
                  </a:tcPr>
                </a:tc>
                <a:tc>
                  <a:txBody>
                    <a:bodyPr/>
                    <a:lstStyle/>
                    <a:p>
                      <a:pPr algn="ctr" indent="0" marL="0">
                        <a:buNone/>
                      </a:pPr>
                      <a:r>
                        <a:rPr lang="en-US" sz="950" b="1" dirty="0">
                          <a:solidFill>
                            <a:srgbClr val="1F2937"/>
                          </a:solidFill>
                        </a:rPr>
                        <a:t>1.6%</a:t>
                      </a:r>
                      <a:endParaRPr lang="en-US" sz="1200" dirty="0"/>
                    </a:p>
                    <a:p>
                      <a:pPr algn="ctr" indent="0" marL="0">
                        <a:buNone/>
                      </a:pPr>
                      <a:r>
                        <a:rPr lang="en-US" sz="700" dirty="0">
                          <a:solidFill>
                            <a:srgbClr val="6B7280"/>
                          </a:solidFill>
                        </a:rPr>
                        <a:t>n=1,820</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17000"/>
                      </a:srgbClr>
                    </a:solidFill>
                  </a:tcPr>
                </a:tc>
                <a:tc>
                  <a:txBody>
                    <a:bodyPr/>
                    <a:lstStyle/>
                    <a:p>
                      <a:pPr algn="ctr" indent="0" marL="0">
                        <a:buNone/>
                      </a:pPr>
                      <a:r>
                        <a:rPr lang="en-US" sz="950" b="1" dirty="0">
                          <a:solidFill>
                            <a:srgbClr val="1F2937"/>
                          </a:solidFill>
                        </a:rPr>
                        <a:t>3.7%</a:t>
                      </a:r>
                      <a:endParaRPr lang="en-US" sz="1200" dirty="0"/>
                    </a:p>
                    <a:p>
                      <a:pPr algn="ctr" indent="0" marL="0">
                        <a:buNone/>
                      </a:pPr>
                      <a:r>
                        <a:rPr lang="en-US" sz="700" dirty="0">
                          <a:solidFill>
                            <a:srgbClr val="6B7280"/>
                          </a:solidFill>
                        </a:rPr>
                        <a:t>n=1,606</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4000"/>
                      </a:srgbClr>
                    </a:solidFill>
                  </a:tcPr>
                </a:tc>
                <a:tc>
                  <a:txBody>
                    <a:bodyPr/>
                    <a:lstStyle/>
                    <a:p>
                      <a:pPr algn="ctr" indent="0" marL="0">
                        <a:buNone/>
                      </a:pPr>
                      <a:r>
                        <a:rPr lang="en-US" sz="950" b="1" dirty="0">
                          <a:solidFill>
                            <a:srgbClr val="1F2937"/>
                          </a:solidFill>
                        </a:rPr>
                        <a:t>3.6%</a:t>
                      </a:r>
                      <a:endParaRPr lang="en-US" sz="1200" dirty="0"/>
                    </a:p>
                    <a:p>
                      <a:pPr algn="ctr" indent="0" marL="0">
                        <a:buNone/>
                      </a:pPr>
                      <a:r>
                        <a:rPr lang="en-US" sz="700" dirty="0">
                          <a:solidFill>
                            <a:srgbClr val="6B7280"/>
                          </a:solidFill>
                        </a:rPr>
                        <a:t>n=1,856</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4000"/>
                      </a:srgbClr>
                    </a:solidFill>
                  </a:tcPr>
                </a:tc>
                <a:tc>
                  <a:txBody>
                    <a:bodyPr/>
                    <a:lstStyle/>
                    <a:p>
                      <a:pPr algn="ctr" indent="0" marL="0">
                        <a:buNone/>
                      </a:pPr>
                      <a:r>
                        <a:rPr lang="en-US" sz="950" b="1" dirty="0">
                          <a:solidFill>
                            <a:srgbClr val="1F2937"/>
                          </a:solidFill>
                        </a:rPr>
                        <a:t>7.9%</a:t>
                      </a:r>
                      <a:endParaRPr lang="en-US" sz="1200" dirty="0"/>
                    </a:p>
                    <a:p>
                      <a:pPr algn="ctr" indent="0" marL="0">
                        <a:buNone/>
                      </a:pPr>
                      <a:r>
                        <a:rPr lang="en-US" sz="700" dirty="0">
                          <a:solidFill>
                            <a:srgbClr val="6B7280"/>
                          </a:solidFill>
                        </a:rPr>
                        <a:t>n=833</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39000"/>
                      </a:srgbClr>
                    </a:solidFill>
                  </a:tcPr>
                </a:tc>
                <a:tc>
                  <a:txBody>
                    <a:bodyPr/>
                    <a:lstStyle/>
                    <a:p>
                      <a:pPr algn="ctr" indent="0" marL="0">
                        <a:buNone/>
                      </a:pPr>
                      <a:r>
                        <a:rPr lang="en-US" sz="950" b="1" dirty="0">
                          <a:solidFill>
                            <a:srgbClr val="1F2937"/>
                          </a:solidFill>
                        </a:rPr>
                        <a:t>9.8%</a:t>
                      </a:r>
                      <a:endParaRPr lang="en-US" sz="1200" dirty="0"/>
                    </a:p>
                    <a:p>
                      <a:pPr algn="ctr" indent="0" marL="0">
                        <a:buNone/>
                      </a:pPr>
                      <a:r>
                        <a:rPr lang="en-US" sz="700" dirty="0">
                          <a:solidFill>
                            <a:srgbClr val="6B7280"/>
                          </a:solidFill>
                        </a:rPr>
                        <a:t>n=254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45000"/>
                      </a:srgbClr>
                    </a:solidFill>
                  </a:tcPr>
                </a:tc>
              </a:tr>
              <a:tr h="593217">
                <a:tc>
                  <a:txBody>
                    <a:bodyPr/>
                    <a:lstStyle/>
                    <a:p>
                      <a:pPr algn="ctr" indent="0" marL="0">
                        <a:buNone/>
                      </a:pPr>
                      <a:r>
                        <a:rPr lang="en-US" sz="900" b="1" dirty="0">
                          <a:solidFill>
                            <a:srgbClr val="374151"/>
                          </a:solidFill>
                        </a:rPr>
                        <a:t>Thu</a:t>
                      </a:r>
                      <a:endParaRPr lang="en-US" sz="9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F2937"/>
                          </a:solidFill>
                        </a:rPr>
                        <a:t>2.8%</a:t>
                      </a:r>
                      <a:endParaRPr lang="en-US" sz="1200" dirty="0"/>
                    </a:p>
                    <a:p>
                      <a:pPr algn="ctr" indent="0" marL="0">
                        <a:buNone/>
                      </a:pPr>
                      <a:r>
                        <a:rPr lang="en-US" sz="700" dirty="0">
                          <a:solidFill>
                            <a:srgbClr val="6B7280"/>
                          </a:solidFill>
                        </a:rPr>
                        <a:t>n=1,168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1000"/>
                      </a:srgbClr>
                    </a:solidFill>
                  </a:tcPr>
                </a:tc>
                <a:tc>
                  <a:txBody>
                    <a:bodyPr/>
                    <a:lstStyle/>
                    <a:p>
                      <a:pPr algn="ctr" indent="0" marL="0">
                        <a:buNone/>
                      </a:pPr>
                      <a:r>
                        <a:rPr lang="en-US" sz="950" b="1" dirty="0">
                          <a:solidFill>
                            <a:srgbClr val="1F2937"/>
                          </a:solidFill>
                        </a:rPr>
                        <a:t>2.6%</a:t>
                      </a:r>
                      <a:endParaRPr lang="en-US" sz="1200" dirty="0"/>
                    </a:p>
                    <a:p>
                      <a:pPr algn="ctr" indent="0" marL="0">
                        <a:buNone/>
                      </a:pPr>
                      <a:r>
                        <a:rPr lang="en-US" sz="700" dirty="0">
                          <a:solidFill>
                            <a:srgbClr val="6B7280"/>
                          </a:solidFill>
                        </a:rPr>
                        <a:t>n=1,521</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1000"/>
                      </a:srgbClr>
                    </a:solidFill>
                  </a:tcPr>
                </a:tc>
                <a:tc>
                  <a:txBody>
                    <a:bodyPr/>
                    <a:lstStyle/>
                    <a:p>
                      <a:pPr algn="ctr" indent="0" marL="0">
                        <a:buNone/>
                      </a:pPr>
                      <a:r>
                        <a:rPr lang="en-US" sz="950" b="1" dirty="0">
                          <a:solidFill>
                            <a:srgbClr val="1F2937"/>
                          </a:solidFill>
                        </a:rPr>
                        <a:t>10.8%</a:t>
                      </a:r>
                      <a:endParaRPr lang="en-US" sz="1200" dirty="0"/>
                    </a:p>
                    <a:p>
                      <a:pPr algn="ctr" indent="0" marL="0">
                        <a:buNone/>
                      </a:pPr>
                      <a:r>
                        <a:rPr lang="en-US" sz="700" dirty="0">
                          <a:solidFill>
                            <a:srgbClr val="6B7280"/>
                          </a:solidFill>
                        </a:rPr>
                        <a:t>n=584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48000"/>
                      </a:srgbClr>
                    </a:solidFill>
                  </a:tcPr>
                </a:tc>
                <a:tc>
                  <a:txBody>
                    <a:bodyPr/>
                    <a:lstStyle/>
                    <a:p>
                      <a:pPr algn="ctr" indent="0" marL="0">
                        <a:buNone/>
                      </a:pPr>
                      <a:r>
                        <a:rPr lang="en-US" sz="950" b="1" dirty="0">
                          <a:solidFill>
                            <a:srgbClr val="1F2937"/>
                          </a:solidFill>
                        </a:rPr>
                        <a:t>10.2%</a:t>
                      </a:r>
                      <a:endParaRPr lang="en-US" sz="1200" dirty="0"/>
                    </a:p>
                    <a:p>
                      <a:pPr algn="ctr" indent="0" marL="0">
                        <a:buNone/>
                      </a:pPr>
                      <a:r>
                        <a:rPr lang="en-US" sz="700" dirty="0">
                          <a:solidFill>
                            <a:srgbClr val="6B7280"/>
                          </a:solidFill>
                        </a:rPr>
                        <a:t>n=527</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46000"/>
                      </a:srgbClr>
                    </a:solidFill>
                  </a:tcPr>
                </a:tc>
                <a:tc>
                  <a:txBody>
                    <a:bodyPr/>
                    <a:lstStyle/>
                    <a:p>
                      <a:pPr algn="ctr" indent="0" marL="0">
                        <a:buNone/>
                      </a:pPr>
                      <a:r>
                        <a:rPr lang="en-US" sz="950" b="1" dirty="0">
                          <a:solidFill>
                            <a:srgbClr val="1F2937"/>
                          </a:solidFill>
                        </a:rPr>
                        <a:t>10.6%</a:t>
                      </a:r>
                      <a:endParaRPr lang="en-US" sz="1200" dirty="0"/>
                    </a:p>
                    <a:p>
                      <a:pPr algn="ctr" indent="0" marL="0">
                        <a:buNone/>
                      </a:pPr>
                      <a:r>
                        <a:rPr lang="en-US" sz="700" dirty="0">
                          <a:solidFill>
                            <a:srgbClr val="6B7280"/>
                          </a:solidFill>
                        </a:rPr>
                        <a:t>n=594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48000"/>
                      </a:srgbClr>
                    </a:solidFill>
                  </a:tcPr>
                </a:tc>
                <a:tc>
                  <a:txBody>
                    <a:bodyPr/>
                    <a:lstStyle/>
                    <a:p>
                      <a:pPr algn="ctr" indent="0" marL="0">
                        <a:buNone/>
                      </a:pPr>
                      <a:r>
                        <a:rPr lang="en-US" sz="950" b="1" dirty="0">
                          <a:solidFill>
                            <a:srgbClr val="1F2937"/>
                          </a:solidFill>
                        </a:rPr>
                        <a:t>10.3%</a:t>
                      </a:r>
                      <a:endParaRPr lang="en-US" sz="1200" dirty="0"/>
                    </a:p>
                    <a:p>
                      <a:pPr algn="ctr" indent="0" marL="0">
                        <a:buNone/>
                      </a:pPr>
                      <a:r>
                        <a:rPr lang="en-US" sz="700" dirty="0">
                          <a:solidFill>
                            <a:srgbClr val="6B7280"/>
                          </a:solidFill>
                        </a:rPr>
                        <a:t>n=253</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47000"/>
                      </a:srgbClr>
                    </a:solidFill>
                  </a:tcPr>
                </a:tc>
              </a:tr>
              <a:tr h="593217">
                <a:tc>
                  <a:txBody>
                    <a:bodyPr/>
                    <a:lstStyle/>
                    <a:p>
                      <a:pPr algn="ctr" indent="0" marL="0">
                        <a:buNone/>
                      </a:pPr>
                      <a:r>
                        <a:rPr lang="en-US" sz="900" b="1" dirty="0">
                          <a:solidFill>
                            <a:srgbClr val="374151"/>
                          </a:solidFill>
                        </a:rPr>
                        <a:t>Fri</a:t>
                      </a:r>
                      <a:endParaRPr lang="en-US" sz="9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F2937"/>
                          </a:solidFill>
                        </a:rPr>
                        <a:t>3.0%</a:t>
                      </a:r>
                      <a:endParaRPr lang="en-US" sz="1200" dirty="0"/>
                    </a:p>
                    <a:p>
                      <a:pPr algn="ctr" indent="0" marL="0">
                        <a:buNone/>
                      </a:pPr>
                      <a:r>
                        <a:rPr lang="en-US" sz="700" dirty="0">
                          <a:solidFill>
                            <a:srgbClr val="6B7280"/>
                          </a:solidFill>
                        </a:rPr>
                        <a:t>n=834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2000"/>
                      </a:srgbClr>
                    </a:solidFill>
                  </a:tcPr>
                </a:tc>
                <a:tc>
                  <a:txBody>
                    <a:bodyPr/>
                    <a:lstStyle/>
                    <a:p>
                      <a:pPr algn="ctr" indent="0" marL="0">
                        <a:buNone/>
                      </a:pPr>
                      <a:r>
                        <a:rPr lang="en-US" sz="950" b="1" dirty="0">
                          <a:solidFill>
                            <a:srgbClr val="1F2937"/>
                          </a:solidFill>
                        </a:rPr>
                        <a:t>2.2%</a:t>
                      </a:r>
                      <a:endParaRPr lang="en-US" sz="1200" dirty="0"/>
                    </a:p>
                    <a:p>
                      <a:pPr algn="ctr" indent="0" marL="0">
                        <a:buNone/>
                      </a:pPr>
                      <a:r>
                        <a:rPr lang="en-US" sz="700" dirty="0">
                          <a:solidFill>
                            <a:srgbClr val="6B7280"/>
                          </a:solidFill>
                        </a:rPr>
                        <a:t>n=1,624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19000"/>
                      </a:srgbClr>
                    </a:solidFill>
                  </a:tcPr>
                </a:tc>
                <a:tc>
                  <a:txBody>
                    <a:bodyPr/>
                    <a:lstStyle/>
                    <a:p>
                      <a:pPr algn="ctr" indent="0" marL="0">
                        <a:buNone/>
                      </a:pPr>
                      <a:r>
                        <a:rPr lang="en-US" sz="950" b="1" dirty="0">
                          <a:solidFill>
                            <a:srgbClr val="1F2937"/>
                          </a:solidFill>
                        </a:rPr>
                        <a:t>2.4%</a:t>
                      </a:r>
                      <a:endParaRPr lang="en-US" sz="1200" dirty="0"/>
                    </a:p>
                    <a:p>
                      <a:pPr algn="ctr" indent="0" marL="0">
                        <a:buNone/>
                      </a:pPr>
                      <a:r>
                        <a:rPr lang="en-US" sz="700" dirty="0">
                          <a:solidFill>
                            <a:srgbClr val="6B7280"/>
                          </a:solidFill>
                        </a:rPr>
                        <a:t>n=1,813</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0000"/>
                      </a:srgbClr>
                    </a:solidFill>
                  </a:tcPr>
                </a:tc>
                <a:tc>
                  <a:txBody>
                    <a:bodyPr/>
                    <a:lstStyle/>
                    <a:p>
                      <a:pPr algn="ctr" indent="0" marL="0">
                        <a:buNone/>
                      </a:pPr>
                      <a:r>
                        <a:rPr lang="en-US" sz="950" b="1" dirty="0">
                          <a:solidFill>
                            <a:srgbClr val="1F2937"/>
                          </a:solidFill>
                        </a:rPr>
                        <a:t>6.3%</a:t>
                      </a:r>
                      <a:endParaRPr lang="en-US" sz="1200" dirty="0"/>
                    </a:p>
                    <a:p>
                      <a:pPr algn="ctr" indent="0" marL="0">
                        <a:buNone/>
                      </a:pPr>
                      <a:r>
                        <a:rPr lang="en-US" sz="700" dirty="0">
                          <a:solidFill>
                            <a:srgbClr val="6B7280"/>
                          </a:solidFill>
                        </a:rPr>
                        <a:t>n=995</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33000"/>
                      </a:srgbClr>
                    </a:solidFill>
                  </a:tcPr>
                </a:tc>
                <a:tc>
                  <a:txBody>
                    <a:bodyPr/>
                    <a:lstStyle/>
                    <a:p>
                      <a:pPr algn="ctr" indent="0" marL="0">
                        <a:buNone/>
                      </a:pPr>
                      <a:r>
                        <a:rPr lang="en-US" sz="950" b="1" dirty="0">
                          <a:solidFill>
                            <a:srgbClr val="1F2937"/>
                          </a:solidFill>
                        </a:rPr>
                        <a:t>11.0%</a:t>
                      </a:r>
                      <a:endParaRPr lang="en-US" sz="1200" dirty="0"/>
                    </a:p>
                    <a:p>
                      <a:pPr algn="ctr" indent="0" marL="0">
                        <a:buNone/>
                      </a:pPr>
                      <a:r>
                        <a:rPr lang="en-US" sz="700" dirty="0">
                          <a:solidFill>
                            <a:srgbClr val="6B7280"/>
                          </a:solidFill>
                        </a:rPr>
                        <a:t>n=584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49000"/>
                      </a:srgbClr>
                    </a:solidFill>
                  </a:tcPr>
                </a:tc>
                <a:tc>
                  <a:txBody>
                    <a:bodyPr/>
                    <a:lstStyle/>
                    <a:p>
                      <a:pPr algn="ctr" indent="0" marL="0">
                        <a:buNone/>
                      </a:pPr>
                      <a:r>
                        <a:rPr lang="en-US" sz="950" b="1" dirty="0">
                          <a:solidFill>
                            <a:srgbClr val="1F2937"/>
                          </a:solidFill>
                        </a:rPr>
                        <a:t>12.6%</a:t>
                      </a:r>
                      <a:endParaRPr lang="en-US" sz="1200" dirty="0"/>
                    </a:p>
                    <a:p>
                      <a:pPr algn="ctr" indent="0" marL="0">
                        <a:buNone/>
                      </a:pPr>
                      <a:r>
                        <a:rPr lang="en-US" sz="700" dirty="0">
                          <a:solidFill>
                            <a:srgbClr val="6B7280"/>
                          </a:solidFill>
                        </a:rPr>
                        <a:t>n=182</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55000"/>
                      </a:srgbClr>
                    </a:solidFill>
                  </a:tcPr>
                </a:tc>
              </a:tr>
              <a:tr h="593217">
                <a:tc>
                  <a:txBody>
                    <a:bodyPr/>
                    <a:lstStyle/>
                    <a:p>
                      <a:pPr algn="ctr" indent="0" marL="0">
                        <a:buNone/>
                      </a:pPr>
                      <a:r>
                        <a:rPr lang="en-US" sz="900" b="1" dirty="0">
                          <a:solidFill>
                            <a:srgbClr val="374151"/>
                          </a:solidFill>
                        </a:rPr>
                        <a:t>Sat</a:t>
                      </a:r>
                      <a:endParaRPr lang="en-US" sz="9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F2937"/>
                          </a:solidFill>
                        </a:rPr>
                        <a:t>1.5%</a:t>
                      </a:r>
                      <a:endParaRPr lang="en-US" sz="1200" dirty="0"/>
                    </a:p>
                    <a:p>
                      <a:pPr algn="ctr" indent="0" marL="0">
                        <a:buNone/>
                      </a:pPr>
                      <a:r>
                        <a:rPr lang="en-US" sz="700" dirty="0">
                          <a:solidFill>
                            <a:srgbClr val="6B7280"/>
                          </a:solidFill>
                        </a:rPr>
                        <a:t>n=890</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17000"/>
                      </a:srgbClr>
                    </a:solidFill>
                  </a:tcPr>
                </a:tc>
                <a:tc>
                  <a:txBody>
                    <a:bodyPr/>
                    <a:lstStyle/>
                    <a:p>
                      <a:pPr algn="ctr" indent="0" marL="0">
                        <a:buNone/>
                      </a:pPr>
                      <a:r>
                        <a:rPr lang="en-US" sz="950" b="1" dirty="0">
                          <a:solidFill>
                            <a:srgbClr val="1F2937"/>
                          </a:solidFill>
                        </a:rPr>
                        <a:t>2.0%</a:t>
                      </a:r>
                      <a:endParaRPr lang="en-US" sz="1200" dirty="0"/>
                    </a:p>
                    <a:p>
                      <a:pPr algn="ctr" indent="0" marL="0">
                        <a:buNone/>
                      </a:pPr>
                      <a:r>
                        <a:rPr lang="en-US" sz="700" dirty="0">
                          <a:solidFill>
                            <a:srgbClr val="6B7280"/>
                          </a:solidFill>
                        </a:rPr>
                        <a:t>n=1,298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19000"/>
                      </a:srgbClr>
                    </a:solidFill>
                  </a:tcPr>
                </a:tc>
                <a:tc>
                  <a:txBody>
                    <a:bodyPr/>
                    <a:lstStyle/>
                    <a:p>
                      <a:pPr algn="ctr" indent="0" marL="0">
                        <a:buNone/>
                      </a:pPr>
                      <a:r>
                        <a:rPr lang="en-US" sz="950" b="1" dirty="0">
                          <a:solidFill>
                            <a:srgbClr val="1F2937"/>
                          </a:solidFill>
                        </a:rPr>
                        <a:t>2.5%</a:t>
                      </a:r>
                      <a:endParaRPr lang="en-US" sz="1200" dirty="0"/>
                    </a:p>
                    <a:p>
                      <a:pPr algn="ctr" indent="0" marL="0">
                        <a:buNone/>
                      </a:pPr>
                      <a:r>
                        <a:rPr lang="en-US" sz="700" dirty="0">
                          <a:solidFill>
                            <a:srgbClr val="6B7280"/>
                          </a:solidFill>
                        </a:rPr>
                        <a:t>n=1,364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0000"/>
                      </a:srgbClr>
                    </a:solidFill>
                  </a:tcPr>
                </a:tc>
                <a:tc>
                  <a:txBody>
                    <a:bodyPr/>
                    <a:lstStyle/>
                    <a:p>
                      <a:pPr algn="ctr" indent="0" marL="0">
                        <a:buNone/>
                      </a:pPr>
                      <a:r>
                        <a:rPr lang="en-US" sz="950" b="1" dirty="0">
                          <a:solidFill>
                            <a:srgbClr val="1F2937"/>
                          </a:solidFill>
                        </a:rPr>
                        <a:t>3.0%</a:t>
                      </a:r>
                      <a:endParaRPr lang="en-US" sz="1200" dirty="0"/>
                    </a:p>
                    <a:p>
                      <a:pPr algn="ctr" indent="0" marL="0">
                        <a:buNone/>
                      </a:pPr>
                      <a:r>
                        <a:rPr lang="en-US" sz="700" dirty="0">
                          <a:solidFill>
                            <a:srgbClr val="6B7280"/>
                          </a:solidFill>
                        </a:rPr>
                        <a:t>n=596</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2000"/>
                      </a:srgbClr>
                    </a:solidFill>
                  </a:tcPr>
                </a:tc>
                <a:tc>
                  <a:txBody>
                    <a:bodyPr/>
                    <a:lstStyle/>
                    <a:p>
                      <a:pPr algn="ctr" indent="0" marL="0">
                        <a:buNone/>
                      </a:pPr>
                      <a:r>
                        <a:rPr lang="en-US" sz="950" b="1" dirty="0">
                          <a:solidFill>
                            <a:srgbClr val="1F2937"/>
                          </a:solidFill>
                        </a:rPr>
                        <a:t>8.0%</a:t>
                      </a:r>
                      <a:endParaRPr lang="en-US" sz="1200" dirty="0"/>
                    </a:p>
                    <a:p>
                      <a:pPr algn="ctr" indent="0" marL="0">
                        <a:buNone/>
                      </a:pPr>
                      <a:r>
                        <a:rPr lang="en-US" sz="700" dirty="0">
                          <a:solidFill>
                            <a:srgbClr val="6B7280"/>
                          </a:solidFill>
                        </a:rPr>
                        <a:t>n=564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39000"/>
                      </a:srgbClr>
                    </a:solidFill>
                  </a:tcPr>
                </a:tc>
                <a:tc>
                  <a:txBody>
                    <a:bodyPr/>
                    <a:lstStyle/>
                    <a:p>
                      <a:pPr algn="ctr" indent="0" marL="0">
                        <a:buNone/>
                      </a:pPr>
                      <a:r>
                        <a:rPr lang="en-US" sz="950" b="1" dirty="0">
                          <a:solidFill>
                            <a:srgbClr val="1F2937"/>
                          </a:solidFill>
                        </a:rPr>
                        <a:t>3.8%</a:t>
                      </a:r>
                      <a:endParaRPr lang="en-US" sz="1200" dirty="0"/>
                    </a:p>
                    <a:p>
                      <a:pPr algn="ctr" indent="0" marL="0">
                        <a:buNone/>
                      </a:pPr>
                      <a:r>
                        <a:rPr lang="en-US" sz="700" dirty="0">
                          <a:solidFill>
                            <a:srgbClr val="6B7280"/>
                          </a:solidFill>
                        </a:rPr>
                        <a:t>n=554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5000"/>
                      </a:srgbClr>
                    </a:solidFill>
                  </a:tcPr>
                </a:tc>
              </a:tr>
              <a:tr h="593217">
                <a:tc>
                  <a:txBody>
                    <a:bodyPr/>
                    <a:lstStyle/>
                    <a:p>
                      <a:pPr algn="ctr" indent="0" marL="0">
                        <a:buNone/>
                      </a:pPr>
                      <a:r>
                        <a:rPr lang="en-US" sz="900" b="1" dirty="0">
                          <a:solidFill>
                            <a:srgbClr val="374151"/>
                          </a:solidFill>
                        </a:rPr>
                        <a:t>Sun</a:t>
                      </a:r>
                      <a:endParaRPr lang="en-US" sz="9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8FAFC"/>
                    </a:solidFill>
                  </a:tcPr>
                </a:tc>
                <a:tc>
                  <a:txBody>
                    <a:bodyPr/>
                    <a:lstStyle/>
                    <a:p>
                      <a:pPr algn="ctr" indent="0" marL="0">
                        <a:buNone/>
                      </a:pPr>
                      <a:r>
                        <a:rPr lang="en-US" sz="950" b="1" dirty="0">
                          <a:solidFill>
                            <a:srgbClr val="1F2937"/>
                          </a:solidFill>
                        </a:rPr>
                        <a:t>2.1%</a:t>
                      </a:r>
                      <a:endParaRPr lang="en-US" sz="1200" dirty="0"/>
                    </a:p>
                    <a:p>
                      <a:pPr algn="ctr" indent="0" marL="0">
                        <a:buNone/>
                      </a:pPr>
                      <a:r>
                        <a:rPr lang="en-US" sz="700" dirty="0">
                          <a:solidFill>
                            <a:srgbClr val="6B7280"/>
                          </a:solidFill>
                        </a:rPr>
                        <a:t>n=656</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19000"/>
                      </a:srgbClr>
                    </a:solidFill>
                  </a:tcPr>
                </a:tc>
                <a:tc>
                  <a:txBody>
                    <a:bodyPr/>
                    <a:lstStyle/>
                    <a:p>
                      <a:pPr algn="ctr" indent="0" marL="0">
                        <a:buNone/>
                      </a:pPr>
                      <a:r>
                        <a:rPr lang="en-US" sz="950" b="1" dirty="0">
                          <a:solidFill>
                            <a:srgbClr val="1F2937"/>
                          </a:solidFill>
                        </a:rPr>
                        <a:t>16.5%</a:t>
                      </a:r>
                      <a:endParaRPr lang="en-US" sz="1200" dirty="0"/>
                    </a:p>
                    <a:p>
                      <a:pPr algn="ctr" indent="0" marL="0">
                        <a:buNone/>
                      </a:pPr>
                      <a:r>
                        <a:rPr lang="en-US" sz="700" dirty="0">
                          <a:solidFill>
                            <a:srgbClr val="6B7280"/>
                          </a:solidFill>
                        </a:rPr>
                        <a:t>n=85</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68000"/>
                      </a:srgbClr>
                    </a:solidFill>
                  </a:tcPr>
                </a:tc>
                <a:tc>
                  <a:txBody>
                    <a:bodyPr/>
                    <a:lstStyle/>
                    <a:p>
                      <a:pPr algn="ctr" indent="0" marL="0">
                        <a:buNone/>
                      </a:pPr>
                      <a:r>
                        <a:rPr lang="en-US" sz="950" b="1" dirty="0">
                          <a:solidFill>
                            <a:srgbClr val="1F2937"/>
                          </a:solidFill>
                        </a:rPr>
                        <a:t>10.6%</a:t>
                      </a:r>
                      <a:endParaRPr lang="en-US" sz="1200" dirty="0"/>
                    </a:p>
                    <a:p>
                      <a:pPr algn="ctr" indent="0" marL="0">
                        <a:buNone/>
                      </a:pPr>
                      <a:r>
                        <a:rPr lang="en-US" sz="700" dirty="0">
                          <a:solidFill>
                            <a:srgbClr val="6B7280"/>
                          </a:solidFill>
                        </a:rPr>
                        <a:t>n=264</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48000"/>
                      </a:srgbClr>
                    </a:solidFill>
                  </a:tcPr>
                </a:tc>
                <a:tc>
                  <a:txBody>
                    <a:bodyPr/>
                    <a:lstStyle/>
                    <a:p>
                      <a:pPr algn="ctr" indent="0" marL="0">
                        <a:buNone/>
                      </a:pPr>
                      <a:r>
                        <a:rPr lang="en-US" sz="950" b="1" dirty="0">
                          <a:solidFill>
                            <a:srgbClr val="1F2937"/>
                          </a:solidFill>
                        </a:rPr>
                        <a:t>23.1%</a:t>
                      </a:r>
                      <a:endParaRPr lang="en-US" sz="1200" dirty="0"/>
                    </a:p>
                    <a:p>
                      <a:pPr algn="ctr" indent="0" marL="0">
                        <a:buNone/>
                      </a:pPr>
                      <a:r>
                        <a:rPr lang="en-US" sz="700" dirty="0">
                          <a:solidFill>
                            <a:srgbClr val="6B7280"/>
                          </a:solidFill>
                        </a:rPr>
                        <a:t>n=108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90000"/>
                      </a:srgbClr>
                    </a:solidFill>
                  </a:tcPr>
                </a:tc>
                <a:tc>
                  <a:txBody>
                    <a:bodyPr/>
                    <a:lstStyle/>
                    <a:p>
                      <a:pPr algn="ctr" indent="0" marL="0">
                        <a:buNone/>
                      </a:pPr>
                      <a:r>
                        <a:rPr lang="en-US" sz="950" b="1" dirty="0">
                          <a:solidFill>
                            <a:srgbClr val="1F2937"/>
                          </a:solidFill>
                        </a:rPr>
                        <a:t>3.2%</a:t>
                      </a:r>
                      <a:endParaRPr lang="en-US" sz="1200" dirty="0"/>
                    </a:p>
                    <a:p>
                      <a:pPr algn="ctr" indent="0" marL="0">
                        <a:buNone/>
                      </a:pPr>
                      <a:r>
                        <a:rPr lang="en-US" sz="700" dirty="0">
                          <a:solidFill>
                            <a:srgbClr val="6B7280"/>
                          </a:solidFill>
                        </a:rPr>
                        <a:t>n=708</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3000"/>
                      </a:srgbClr>
                    </a:solidFill>
                  </a:tcPr>
                </a:tc>
                <a:tc>
                  <a:txBody>
                    <a:bodyPr/>
                    <a:lstStyle/>
                    <a:p>
                      <a:pPr algn="ctr" indent="0" marL="0">
                        <a:buNone/>
                      </a:pPr>
                      <a:r>
                        <a:rPr lang="en-US" sz="950" b="1" dirty="0">
                          <a:solidFill>
                            <a:srgbClr val="1F2937"/>
                          </a:solidFill>
                        </a:rPr>
                        <a:t>3.5%</a:t>
                      </a:r>
                      <a:endParaRPr lang="en-US" sz="1200" dirty="0"/>
                    </a:p>
                    <a:p>
                      <a:pPr algn="ctr" indent="0" marL="0">
                        <a:buNone/>
                      </a:pPr>
                      <a:r>
                        <a:rPr lang="en-US" sz="700" dirty="0">
                          <a:solidFill>
                            <a:srgbClr val="6B7280"/>
                          </a:solidFill>
                        </a:rPr>
                        <a:t>n=256</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A78BFA">
                        <a:alpha val="24000"/>
                      </a:srgbClr>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TIMING &amp; VOLUME — WHEN TO SEND</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Prospect's Network Size</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&lt;500</a:t>
            </a:r>
            <a:endParaRPr lang="en-US" sz="950" dirty="0"/>
          </a:p>
        </p:txBody>
      </p:sp>
      <p:sp>
        <p:nvSpPr>
          <p:cNvPr id="10" name="Shape 8"/>
          <p:cNvSpPr/>
          <p:nvPr/>
        </p:nvSpPr>
        <p:spPr>
          <a:xfrm>
            <a:off x="2377440" y="1440180"/>
            <a:ext cx="2697480" cy="155448"/>
          </a:xfrm>
          <a:prstGeom prst="roundRect">
            <a:avLst>
              <a:gd name="adj" fmla="val 235294"/>
            </a:avLst>
          </a:prstGeom>
          <a:solidFill>
            <a:srgbClr val="F1F5F9"/>
          </a:solidFill>
          <a:ln/>
        </p:spPr>
      </p:sp>
      <p:sp>
        <p:nvSpPr>
          <p:cNvPr id="11" name="Shape 9"/>
          <p:cNvSpPr/>
          <p:nvPr/>
        </p:nvSpPr>
        <p:spPr>
          <a:xfrm>
            <a:off x="2377440" y="1440180"/>
            <a:ext cx="255167" cy="155448"/>
          </a:xfrm>
          <a:prstGeom prst="roundRect">
            <a:avLst>
              <a:gd name="adj" fmla="val 235294"/>
            </a:avLst>
          </a:prstGeom>
          <a:solidFill>
            <a:srgbClr val="0077B5"/>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1.4% reply · n=8,840</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500-999</a:t>
            </a:r>
            <a:endParaRPr lang="en-US" sz="950" dirty="0"/>
          </a:p>
        </p:txBody>
      </p:sp>
      <p:sp>
        <p:nvSpPr>
          <p:cNvPr id="14" name="Shape 12"/>
          <p:cNvSpPr/>
          <p:nvPr/>
        </p:nvSpPr>
        <p:spPr>
          <a:xfrm>
            <a:off x="2377440" y="2013564"/>
            <a:ext cx="2697480" cy="142536"/>
          </a:xfrm>
          <a:prstGeom prst="roundRect">
            <a:avLst>
              <a:gd name="adj" fmla="val 256609"/>
            </a:avLst>
          </a:prstGeom>
          <a:solidFill>
            <a:srgbClr val="F1F5F9"/>
          </a:solidFill>
          <a:ln/>
        </p:spPr>
      </p:sp>
      <p:sp>
        <p:nvSpPr>
          <p:cNvPr id="15" name="Shape 13"/>
          <p:cNvSpPr/>
          <p:nvPr/>
        </p:nvSpPr>
        <p:spPr>
          <a:xfrm>
            <a:off x="2377440" y="2013564"/>
            <a:ext cx="473882" cy="142536"/>
          </a:xfrm>
          <a:prstGeom prst="roundRect">
            <a:avLst>
              <a:gd name="adj" fmla="val 256609"/>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2.6% reply · n=6,882</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1,000-2,499</a:t>
            </a:r>
            <a:endParaRPr lang="en-US" sz="950" dirty="0"/>
          </a:p>
        </p:txBody>
      </p:sp>
      <p:sp>
        <p:nvSpPr>
          <p:cNvPr id="18" name="Shape 16"/>
          <p:cNvSpPr/>
          <p:nvPr/>
        </p:nvSpPr>
        <p:spPr>
          <a:xfrm>
            <a:off x="2377440" y="2577886"/>
            <a:ext cx="2697480" cy="147749"/>
          </a:xfrm>
          <a:prstGeom prst="roundRect">
            <a:avLst>
              <a:gd name="adj" fmla="val 247555"/>
            </a:avLst>
          </a:prstGeom>
          <a:solidFill>
            <a:srgbClr val="F1F5F9"/>
          </a:solidFill>
          <a:ln/>
        </p:spPr>
      </p:sp>
      <p:sp>
        <p:nvSpPr>
          <p:cNvPr id="19" name="Shape 17"/>
          <p:cNvSpPr/>
          <p:nvPr/>
        </p:nvSpPr>
        <p:spPr>
          <a:xfrm>
            <a:off x="2377440" y="2577886"/>
            <a:ext cx="838406" cy="147749"/>
          </a:xfrm>
          <a:prstGeom prst="roundRect">
            <a:avLst>
              <a:gd name="adj" fmla="val 247555"/>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4.6% reply · n=7,643</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2,500-4,999</a:t>
            </a:r>
            <a:endParaRPr lang="en-US" sz="950" dirty="0"/>
          </a:p>
        </p:txBody>
      </p:sp>
      <p:sp>
        <p:nvSpPr>
          <p:cNvPr id="22" name="Shape 20"/>
          <p:cNvSpPr/>
          <p:nvPr/>
        </p:nvSpPr>
        <p:spPr>
          <a:xfrm>
            <a:off x="2377440" y="3166057"/>
            <a:ext cx="2697480" cy="105263"/>
          </a:xfrm>
          <a:prstGeom prst="roundRect">
            <a:avLst>
              <a:gd name="adj" fmla="val 347473"/>
            </a:avLst>
          </a:prstGeom>
          <a:solidFill>
            <a:srgbClr val="F1F5F9"/>
          </a:solidFill>
          <a:ln/>
        </p:spPr>
      </p:sp>
      <p:sp>
        <p:nvSpPr>
          <p:cNvPr id="23" name="Shape 21"/>
          <p:cNvSpPr/>
          <p:nvPr/>
        </p:nvSpPr>
        <p:spPr>
          <a:xfrm>
            <a:off x="2377440" y="3166057"/>
            <a:ext cx="1567455" cy="105263"/>
          </a:xfrm>
          <a:prstGeom prst="roundRect">
            <a:avLst>
              <a:gd name="adj" fmla="val 347473"/>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8.6% reply · n=2,603</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5,000+</a:t>
            </a:r>
            <a:endParaRPr lang="en-US" sz="950" dirty="0"/>
          </a:p>
        </p:txBody>
      </p:sp>
      <p:sp>
        <p:nvSpPr>
          <p:cNvPr id="26" name="Shape 24"/>
          <p:cNvSpPr/>
          <p:nvPr/>
        </p:nvSpPr>
        <p:spPr>
          <a:xfrm>
            <a:off x="2377440" y="3740728"/>
            <a:ext cx="2697480" cy="89775"/>
          </a:xfrm>
          <a:prstGeom prst="roundRect">
            <a:avLst>
              <a:gd name="adj" fmla="val 407419"/>
            </a:avLst>
          </a:prstGeom>
          <a:solidFill>
            <a:srgbClr val="F1F5F9"/>
          </a:solidFill>
          <a:ln/>
        </p:spPr>
      </p:sp>
      <p:sp>
        <p:nvSpPr>
          <p:cNvPr id="27" name="Shape 25"/>
          <p:cNvSpPr/>
          <p:nvPr/>
        </p:nvSpPr>
        <p:spPr>
          <a:xfrm>
            <a:off x="2377440" y="3740728"/>
            <a:ext cx="2697480" cy="89775"/>
          </a:xfrm>
          <a:prstGeom prst="roundRect">
            <a:avLst>
              <a:gd name="adj" fmla="val 407419"/>
            </a:avLst>
          </a:prstGeom>
          <a:solidFill>
            <a:srgbClr val="10B981"/>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14.8% reply · n=1,425</a:t>
            </a:r>
            <a:endParaRPr lang="en-US" sz="850" dirty="0"/>
          </a:p>
        </p:txBody>
      </p:sp>
      <p:sp>
        <p:nvSpPr>
          <p:cNvPr id="29" name="Text 27"/>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30" name="Shape 28"/>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31" name="Text 29"/>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32" name="Text 30"/>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Ankit Shrivastava</a:t>
            </a:r>
            <a:endParaRPr lang="en-US" sz="1500" dirty="0"/>
          </a:p>
        </p:txBody>
      </p:sp>
      <p:sp>
        <p:nvSpPr>
          <p:cNvPr id="33" name="Text 31"/>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Founder &amp; Managing Partner, Enventure @ Enventure Holdings</a:t>
            </a:r>
            <a:endParaRPr lang="en-US" sz="1100" dirty="0"/>
          </a:p>
        </p:txBody>
      </p:sp>
      <p:sp>
        <p:nvSpPr>
          <p:cNvPr id="34" name="Text 32"/>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on Indian founders misreading the US market-the point on brand equity not transferring stood out. We're exploring funding partners and would love to connect.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TIMING &amp; VOLUME — WHEN TO SEND</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Messages Sent in Thread</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1</a:t>
            </a:r>
            <a:endParaRPr lang="en-US" sz="950" dirty="0"/>
          </a:p>
        </p:txBody>
      </p:sp>
      <p:sp>
        <p:nvSpPr>
          <p:cNvPr id="10" name="Shape 8"/>
          <p:cNvSpPr/>
          <p:nvPr/>
        </p:nvSpPr>
        <p:spPr>
          <a:xfrm>
            <a:off x="2377440" y="1491421"/>
            <a:ext cx="2697480" cy="52966"/>
          </a:xfrm>
          <a:prstGeom prst="roundRect">
            <a:avLst>
              <a:gd name="adj" fmla="val 690556"/>
            </a:avLst>
          </a:prstGeom>
          <a:solidFill>
            <a:srgbClr val="F1F5F9"/>
          </a:solidFill>
          <a:ln/>
        </p:spPr>
      </p:sp>
      <p:sp>
        <p:nvSpPr>
          <p:cNvPr id="11" name="Shape 9"/>
          <p:cNvSpPr/>
          <p:nvPr/>
        </p:nvSpPr>
        <p:spPr>
          <a:xfrm>
            <a:off x="2377440" y="1491421"/>
            <a:ext cx="36576" cy="52966"/>
          </a:xfrm>
          <a:prstGeom prst="roundRect">
            <a:avLst>
              <a:gd name="adj" fmla="val 1000000"/>
            </a:avLst>
          </a:prstGeom>
          <a:solidFill>
            <a:srgbClr val="0077B5"/>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0.0% reply · n=163</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2</a:t>
            </a:r>
            <a:endParaRPr lang="en-US" sz="950" dirty="0"/>
          </a:p>
        </p:txBody>
      </p:sp>
      <p:sp>
        <p:nvSpPr>
          <p:cNvPr id="14" name="Shape 12"/>
          <p:cNvSpPr/>
          <p:nvPr/>
        </p:nvSpPr>
        <p:spPr>
          <a:xfrm>
            <a:off x="2377440" y="2007108"/>
            <a:ext cx="2697480" cy="155448"/>
          </a:xfrm>
          <a:prstGeom prst="roundRect">
            <a:avLst>
              <a:gd name="adj" fmla="val 235294"/>
            </a:avLst>
          </a:prstGeom>
          <a:solidFill>
            <a:srgbClr val="F1F5F9"/>
          </a:solidFill>
          <a:ln/>
        </p:spPr>
      </p:sp>
      <p:sp>
        <p:nvSpPr>
          <p:cNvPr id="15" name="Shape 13"/>
          <p:cNvSpPr/>
          <p:nvPr/>
        </p:nvSpPr>
        <p:spPr>
          <a:xfrm>
            <a:off x="2377440" y="2007108"/>
            <a:ext cx="36576" cy="155448"/>
          </a:xfrm>
          <a:prstGeom prst="roundRect">
            <a:avLst>
              <a:gd name="adj" fmla="val 1000000"/>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0.0% reply · n=37,381</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3</a:t>
            </a:r>
            <a:endParaRPr lang="en-US" sz="950" dirty="0"/>
          </a:p>
        </p:txBody>
      </p:sp>
      <p:sp>
        <p:nvSpPr>
          <p:cNvPr id="18" name="Shape 16"/>
          <p:cNvSpPr/>
          <p:nvPr/>
        </p:nvSpPr>
        <p:spPr>
          <a:xfrm>
            <a:off x="2377440" y="2621244"/>
            <a:ext cx="2697480" cy="61033"/>
          </a:xfrm>
          <a:prstGeom prst="roundRect">
            <a:avLst>
              <a:gd name="adj" fmla="val 599282"/>
            </a:avLst>
          </a:prstGeom>
          <a:solidFill>
            <a:srgbClr val="F1F5F9"/>
          </a:solidFill>
          <a:ln/>
        </p:spPr>
      </p:sp>
      <p:sp>
        <p:nvSpPr>
          <p:cNvPr id="19" name="Shape 17"/>
          <p:cNvSpPr/>
          <p:nvPr/>
        </p:nvSpPr>
        <p:spPr>
          <a:xfrm>
            <a:off x="2377440" y="2621244"/>
            <a:ext cx="776874" cy="61033"/>
          </a:xfrm>
          <a:prstGeom prst="roundRect">
            <a:avLst>
              <a:gd name="adj" fmla="val 599282"/>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28.8% reply · n=728</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4-5</a:t>
            </a:r>
            <a:endParaRPr lang="en-US" sz="950" dirty="0"/>
          </a:p>
        </p:txBody>
      </p:sp>
      <p:sp>
        <p:nvSpPr>
          <p:cNvPr id="22" name="Shape 20"/>
          <p:cNvSpPr/>
          <p:nvPr/>
        </p:nvSpPr>
        <p:spPr>
          <a:xfrm>
            <a:off x="2377440" y="3186783"/>
            <a:ext cx="2697480" cy="63810"/>
          </a:xfrm>
          <a:prstGeom prst="roundRect">
            <a:avLst>
              <a:gd name="adj" fmla="val 573202"/>
            </a:avLst>
          </a:prstGeom>
          <a:solidFill>
            <a:srgbClr val="F1F5F9"/>
          </a:solidFill>
          <a:ln/>
        </p:spPr>
      </p:sp>
      <p:sp>
        <p:nvSpPr>
          <p:cNvPr id="23" name="Shape 21"/>
          <p:cNvSpPr/>
          <p:nvPr/>
        </p:nvSpPr>
        <p:spPr>
          <a:xfrm>
            <a:off x="2377440" y="3186783"/>
            <a:ext cx="2225421" cy="63810"/>
          </a:xfrm>
          <a:prstGeom prst="roundRect">
            <a:avLst>
              <a:gd name="adj" fmla="val 573202"/>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82.5% reply · n=1,016</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6-10</a:t>
            </a:r>
            <a:endParaRPr lang="en-US" sz="950" dirty="0"/>
          </a:p>
        </p:txBody>
      </p:sp>
      <p:sp>
        <p:nvSpPr>
          <p:cNvPr id="26" name="Shape 24"/>
          <p:cNvSpPr/>
          <p:nvPr/>
        </p:nvSpPr>
        <p:spPr>
          <a:xfrm>
            <a:off x="2377440" y="3756565"/>
            <a:ext cx="2697480" cy="58102"/>
          </a:xfrm>
          <a:prstGeom prst="roundRect">
            <a:avLst>
              <a:gd name="adj" fmla="val 629514"/>
            </a:avLst>
          </a:prstGeom>
          <a:solidFill>
            <a:srgbClr val="F1F5F9"/>
          </a:solidFill>
          <a:ln/>
        </p:spPr>
      </p:sp>
      <p:sp>
        <p:nvSpPr>
          <p:cNvPr id="27" name="Shape 25"/>
          <p:cNvSpPr/>
          <p:nvPr/>
        </p:nvSpPr>
        <p:spPr>
          <a:xfrm>
            <a:off x="2377440" y="3756565"/>
            <a:ext cx="2554514" cy="58102"/>
          </a:xfrm>
          <a:prstGeom prst="roundRect">
            <a:avLst>
              <a:gd name="adj" fmla="val 629514"/>
            </a:avLst>
          </a:prstGeom>
          <a:solidFill>
            <a:srgbClr val="0077B5"/>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94.7% reply · n=476</a:t>
            </a:r>
            <a:endParaRPr lang="en-US" sz="850" dirty="0"/>
          </a:p>
        </p:txBody>
      </p:sp>
      <p:sp>
        <p:nvSpPr>
          <p:cNvPr id="29" name="Text 27"/>
          <p:cNvSpPr/>
          <p:nvPr/>
        </p:nvSpPr>
        <p:spPr>
          <a:xfrm>
            <a:off x="457200" y="406908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11+</a:t>
            </a:r>
            <a:endParaRPr lang="en-US" sz="950" dirty="0"/>
          </a:p>
        </p:txBody>
      </p:sp>
      <p:sp>
        <p:nvSpPr>
          <p:cNvPr id="30" name="Shape 28"/>
          <p:cNvSpPr/>
          <p:nvPr/>
        </p:nvSpPr>
        <p:spPr>
          <a:xfrm>
            <a:off x="2377440" y="4326499"/>
            <a:ext cx="2697480" cy="52091"/>
          </a:xfrm>
          <a:prstGeom prst="roundRect">
            <a:avLst>
              <a:gd name="adj" fmla="val 702156"/>
            </a:avLst>
          </a:prstGeom>
          <a:solidFill>
            <a:srgbClr val="F1F5F9"/>
          </a:solidFill>
          <a:ln/>
        </p:spPr>
      </p:sp>
      <p:sp>
        <p:nvSpPr>
          <p:cNvPr id="31" name="Shape 29"/>
          <p:cNvSpPr/>
          <p:nvPr/>
        </p:nvSpPr>
        <p:spPr>
          <a:xfrm>
            <a:off x="2377440" y="4326499"/>
            <a:ext cx="2697480" cy="52091"/>
          </a:xfrm>
          <a:prstGeom prst="roundRect">
            <a:avLst>
              <a:gd name="adj" fmla="val 702156"/>
            </a:avLst>
          </a:prstGeom>
          <a:solidFill>
            <a:srgbClr val="10B981"/>
          </a:solidFill>
          <a:ln/>
        </p:spPr>
      </p:sp>
      <p:sp>
        <p:nvSpPr>
          <p:cNvPr id="32" name="Text 30"/>
          <p:cNvSpPr/>
          <p:nvPr/>
        </p:nvSpPr>
        <p:spPr>
          <a:xfrm>
            <a:off x="5212080" y="406908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100.0% reply · n=126</a:t>
            </a:r>
            <a:endParaRPr lang="en-US" sz="850" dirty="0"/>
          </a:p>
        </p:txBody>
      </p:sp>
      <p:sp>
        <p:nvSpPr>
          <p:cNvPr id="33" name="Text 31"/>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34" name="Shape 32"/>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35" name="Text 33"/>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36" name="Text 34"/>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Zachary Rasmussen</a:t>
            </a:r>
            <a:endParaRPr lang="en-US" sz="1500" dirty="0"/>
          </a:p>
        </p:txBody>
      </p:sp>
      <p:sp>
        <p:nvSpPr>
          <p:cNvPr id="37" name="Text 35"/>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Emergency Medicine Physician @ UnityPoint Health</a:t>
            </a:r>
            <a:endParaRPr lang="en-US" sz="1100" dirty="0"/>
          </a:p>
        </p:txBody>
      </p:sp>
      <p:sp>
        <p:nvSpPr>
          <p:cNvPr id="38" name="Text 36"/>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Zachary, engineering system-wide throughput protocols while leading EM operations is impressive. Thank you for your work. We help EDs cut burnout from scheduling drama - worth a chat?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3200400"/>
            <a:ext cx="12188952" cy="54864"/>
          </a:xfrm>
          <a:prstGeom prst="rect">
            <a:avLst/>
          </a:prstGeom>
          <a:solidFill>
            <a:srgbClr val="0077B5"/>
          </a:solidFill>
          <a:ln/>
        </p:spPr>
      </p:sp>
      <p:sp>
        <p:nvSpPr>
          <p:cNvPr id="3" name="Text 1"/>
          <p:cNvSpPr/>
          <p:nvPr/>
        </p:nvSpPr>
        <p:spPr>
          <a:xfrm>
            <a:off x="731520" y="2606040"/>
            <a:ext cx="10698480" cy="548640"/>
          </a:xfrm>
          <a:prstGeom prst="rect">
            <a:avLst/>
          </a:prstGeom>
          <a:noFill/>
          <a:ln/>
        </p:spPr>
        <p:txBody>
          <a:bodyPr wrap="square" rtlCol="0" anchor="ctr">
            <a:normAutofit/>
          </a:bodyPr>
          <a:lstStyle/>
          <a:p>
            <a:pPr indent="0" marL="0">
              <a:buNone/>
            </a:pPr>
            <a:r>
              <a:rPr lang="en-US" sz="3000" b="1" dirty="0">
                <a:solidFill>
                  <a:srgbClr val="FFFFFF"/>
                </a:solidFill>
                <a:latin typeface="Calibri" pitchFamily="34" charset="0"/>
                <a:ea typeface="Calibri" pitchFamily="34" charset="-122"/>
                <a:cs typeface="Calibri" pitchFamily="34" charset="-120"/>
              </a:rPr>
              <a:t>Audience &amp; Team — Who Responds Best</a:t>
            </a:r>
            <a:endParaRPr lang="en-US" sz="3000" dirty="0"/>
          </a:p>
        </p:txBody>
      </p:sp>
      <p:sp>
        <p:nvSpPr>
          <p:cNvPr id="4" name="Text 2"/>
          <p:cNvSpPr/>
          <p:nvPr/>
        </p:nvSpPr>
        <p:spPr>
          <a:xfrm>
            <a:off x="731520" y="3383280"/>
            <a:ext cx="10698480" cy="45720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Seniority, organization type, and BDR performance.</a:t>
            </a:r>
            <a:endParaRPr lang="en-US" sz="1400" dirty="0"/>
          </a:p>
        </p:txBody>
      </p:sp>
      <p:sp>
        <p:nvSpPr>
          <p:cNvPr id="5" name="Text 3"/>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6" name="Text 4"/>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AUDIENCE &amp; TEAM — WHO RESPONDS BEST</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Seniority</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Unknown</a:t>
            </a:r>
            <a:endParaRPr lang="en-US" sz="950" dirty="0"/>
          </a:p>
        </p:txBody>
      </p:sp>
      <p:sp>
        <p:nvSpPr>
          <p:cNvPr id="10" name="Shape 8"/>
          <p:cNvSpPr/>
          <p:nvPr/>
        </p:nvSpPr>
        <p:spPr>
          <a:xfrm>
            <a:off x="2377440" y="1481891"/>
            <a:ext cx="2697480" cy="72026"/>
          </a:xfrm>
          <a:prstGeom prst="roundRect">
            <a:avLst>
              <a:gd name="adj" fmla="val 507817"/>
            </a:avLst>
          </a:prstGeom>
          <a:solidFill>
            <a:srgbClr val="F1F5F9"/>
          </a:solidFill>
          <a:ln/>
        </p:spPr>
      </p:sp>
      <p:sp>
        <p:nvSpPr>
          <p:cNvPr id="11" name="Shape 9"/>
          <p:cNvSpPr/>
          <p:nvPr/>
        </p:nvSpPr>
        <p:spPr>
          <a:xfrm>
            <a:off x="2377440" y="1481891"/>
            <a:ext cx="2697480" cy="72026"/>
          </a:xfrm>
          <a:prstGeom prst="roundRect">
            <a:avLst>
              <a:gd name="adj" fmla="val 507817"/>
            </a:avLst>
          </a:prstGeom>
          <a:solidFill>
            <a:srgbClr val="10B981"/>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12.1% reply · n=853</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Manager</a:t>
            </a:r>
            <a:endParaRPr lang="en-US" sz="950" dirty="0"/>
          </a:p>
        </p:txBody>
      </p:sp>
      <p:sp>
        <p:nvSpPr>
          <p:cNvPr id="14" name="Shape 12"/>
          <p:cNvSpPr/>
          <p:nvPr/>
        </p:nvSpPr>
        <p:spPr>
          <a:xfrm>
            <a:off x="2377440" y="2037207"/>
            <a:ext cx="2697480" cy="95251"/>
          </a:xfrm>
          <a:prstGeom prst="roundRect">
            <a:avLst>
              <a:gd name="adj" fmla="val 383996"/>
            </a:avLst>
          </a:prstGeom>
          <a:solidFill>
            <a:srgbClr val="F1F5F9"/>
          </a:solidFill>
          <a:ln/>
        </p:spPr>
      </p:sp>
      <p:sp>
        <p:nvSpPr>
          <p:cNvPr id="15" name="Shape 13"/>
          <p:cNvSpPr/>
          <p:nvPr/>
        </p:nvSpPr>
        <p:spPr>
          <a:xfrm>
            <a:off x="2377440" y="2037207"/>
            <a:ext cx="891729" cy="95251"/>
          </a:xfrm>
          <a:prstGeom prst="roundRect">
            <a:avLst>
              <a:gd name="adj" fmla="val 383996"/>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4.0% reply · n=3,024</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C-Suite</a:t>
            </a:r>
            <a:endParaRPr lang="en-US" sz="950" dirty="0"/>
          </a:p>
        </p:txBody>
      </p:sp>
      <p:sp>
        <p:nvSpPr>
          <p:cNvPr id="18" name="Shape 16"/>
          <p:cNvSpPr/>
          <p:nvPr/>
        </p:nvSpPr>
        <p:spPr>
          <a:xfrm>
            <a:off x="2377440" y="2588750"/>
            <a:ext cx="2697480" cy="126020"/>
          </a:xfrm>
          <a:prstGeom prst="roundRect">
            <a:avLst>
              <a:gd name="adj" fmla="val 290240"/>
            </a:avLst>
          </a:prstGeom>
          <a:solidFill>
            <a:srgbClr val="F1F5F9"/>
          </a:solidFill>
          <a:ln/>
        </p:spPr>
      </p:sp>
      <p:sp>
        <p:nvSpPr>
          <p:cNvPr id="19" name="Shape 17"/>
          <p:cNvSpPr/>
          <p:nvPr/>
        </p:nvSpPr>
        <p:spPr>
          <a:xfrm>
            <a:off x="2377440" y="2588750"/>
            <a:ext cx="869436" cy="126020"/>
          </a:xfrm>
          <a:prstGeom prst="roundRect">
            <a:avLst>
              <a:gd name="adj" fmla="val 290240"/>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3.9% reply · n=7,948</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Director</a:t>
            </a:r>
            <a:endParaRPr lang="en-US" sz="950" dirty="0"/>
          </a:p>
        </p:txBody>
      </p:sp>
      <p:sp>
        <p:nvSpPr>
          <p:cNvPr id="22" name="Shape 20"/>
          <p:cNvSpPr/>
          <p:nvPr/>
        </p:nvSpPr>
        <p:spPr>
          <a:xfrm>
            <a:off x="2377440" y="3140964"/>
            <a:ext cx="2697480" cy="155448"/>
          </a:xfrm>
          <a:prstGeom prst="roundRect">
            <a:avLst>
              <a:gd name="adj" fmla="val 235294"/>
            </a:avLst>
          </a:prstGeom>
          <a:solidFill>
            <a:srgbClr val="F1F5F9"/>
          </a:solidFill>
          <a:ln/>
        </p:spPr>
      </p:sp>
      <p:sp>
        <p:nvSpPr>
          <p:cNvPr id="23" name="Shape 21"/>
          <p:cNvSpPr/>
          <p:nvPr/>
        </p:nvSpPr>
        <p:spPr>
          <a:xfrm>
            <a:off x="2377440" y="3140964"/>
            <a:ext cx="869436" cy="155448"/>
          </a:xfrm>
          <a:prstGeom prst="roundRect">
            <a:avLst>
              <a:gd name="adj" fmla="val 235294"/>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3.9% reply · n=14,841</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VP</a:t>
            </a:r>
            <a:endParaRPr lang="en-US" sz="950" dirty="0"/>
          </a:p>
        </p:txBody>
      </p:sp>
      <p:sp>
        <p:nvSpPr>
          <p:cNvPr id="26" name="Shape 24"/>
          <p:cNvSpPr/>
          <p:nvPr/>
        </p:nvSpPr>
        <p:spPr>
          <a:xfrm>
            <a:off x="2377440" y="3719009"/>
            <a:ext cx="2697480" cy="133214"/>
          </a:xfrm>
          <a:prstGeom prst="roundRect">
            <a:avLst>
              <a:gd name="adj" fmla="val 274566"/>
            </a:avLst>
          </a:prstGeom>
          <a:solidFill>
            <a:srgbClr val="F1F5F9"/>
          </a:solidFill>
          <a:ln/>
        </p:spPr>
      </p:sp>
      <p:sp>
        <p:nvSpPr>
          <p:cNvPr id="27" name="Shape 25"/>
          <p:cNvSpPr/>
          <p:nvPr/>
        </p:nvSpPr>
        <p:spPr>
          <a:xfrm>
            <a:off x="2377440" y="3719009"/>
            <a:ext cx="824849" cy="133214"/>
          </a:xfrm>
          <a:prstGeom prst="roundRect">
            <a:avLst>
              <a:gd name="adj" fmla="val 274566"/>
            </a:avLst>
          </a:prstGeom>
          <a:solidFill>
            <a:srgbClr val="0077B5"/>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3.7% reply · n=9,436</a:t>
            </a:r>
            <a:endParaRPr lang="en-US" sz="850" dirty="0"/>
          </a:p>
        </p:txBody>
      </p:sp>
      <p:sp>
        <p:nvSpPr>
          <p:cNvPr id="29" name="Text 27"/>
          <p:cNvSpPr/>
          <p:nvPr/>
        </p:nvSpPr>
        <p:spPr>
          <a:xfrm>
            <a:off x="457200" y="406908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IC</a:t>
            </a:r>
            <a:endParaRPr lang="en-US" sz="950" dirty="0"/>
          </a:p>
        </p:txBody>
      </p:sp>
      <p:sp>
        <p:nvSpPr>
          <p:cNvPr id="30" name="Shape 28"/>
          <p:cNvSpPr/>
          <p:nvPr/>
        </p:nvSpPr>
        <p:spPr>
          <a:xfrm>
            <a:off x="2377440" y="4308123"/>
            <a:ext cx="2697480" cy="88841"/>
          </a:xfrm>
          <a:prstGeom prst="roundRect">
            <a:avLst>
              <a:gd name="adj" fmla="val 411702"/>
            </a:avLst>
          </a:prstGeom>
          <a:solidFill>
            <a:srgbClr val="F1F5F9"/>
          </a:solidFill>
          <a:ln/>
        </p:spPr>
      </p:sp>
      <p:sp>
        <p:nvSpPr>
          <p:cNvPr id="31" name="Shape 29"/>
          <p:cNvSpPr/>
          <p:nvPr/>
        </p:nvSpPr>
        <p:spPr>
          <a:xfrm>
            <a:off x="2377440" y="4308123"/>
            <a:ext cx="802556" cy="88841"/>
          </a:xfrm>
          <a:prstGeom prst="roundRect">
            <a:avLst>
              <a:gd name="adj" fmla="val 411702"/>
            </a:avLst>
          </a:prstGeom>
          <a:solidFill>
            <a:srgbClr val="0077B5"/>
          </a:solidFill>
          <a:ln/>
        </p:spPr>
      </p:sp>
      <p:sp>
        <p:nvSpPr>
          <p:cNvPr id="32" name="Text 30"/>
          <p:cNvSpPr/>
          <p:nvPr/>
        </p:nvSpPr>
        <p:spPr>
          <a:xfrm>
            <a:off x="5212080" y="406908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3.6% reply · n=2,292</a:t>
            </a:r>
            <a:endParaRPr lang="en-US" sz="850" dirty="0"/>
          </a:p>
        </p:txBody>
      </p:sp>
      <p:sp>
        <p:nvSpPr>
          <p:cNvPr id="33" name="Text 31"/>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34" name="Shape 32"/>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35" name="Text 33"/>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36" name="Text 34"/>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Apurva Desai</a:t>
            </a:r>
            <a:endParaRPr lang="en-US" sz="1500" dirty="0"/>
          </a:p>
        </p:txBody>
      </p:sp>
      <p:sp>
        <p:nvSpPr>
          <p:cNvPr id="37" name="Text 35"/>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Partner @ Interstate Fusion Ventures</a:t>
            </a:r>
            <a:endParaRPr lang="en-US" sz="1100" dirty="0"/>
          </a:p>
        </p:txBody>
      </p:sp>
      <p:sp>
        <p:nvSpPr>
          <p:cNvPr id="38" name="Text 36"/>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about Dina's milestone - sounds like a big moment for the team you helped build. We're exploring funding partners, would love to connect.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AUDIENCE &amp; TEAM — WHO RESPONDS BEST</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Organization Type</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
        <p:nvSpPr>
          <p:cNvPr id="9" name="Text 7"/>
          <p:cNvSpPr/>
          <p:nvPr/>
        </p:nvSpPr>
        <p:spPr>
          <a:xfrm>
            <a:off x="457200" y="1234440"/>
            <a:ext cx="1783080" cy="521208"/>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Unknown</a:t>
            </a:r>
            <a:endParaRPr lang="en-US" sz="950" dirty="0"/>
          </a:p>
        </p:txBody>
      </p:sp>
      <p:sp>
        <p:nvSpPr>
          <p:cNvPr id="10" name="Shape 8"/>
          <p:cNvSpPr/>
          <p:nvPr/>
        </p:nvSpPr>
        <p:spPr>
          <a:xfrm>
            <a:off x="2377440" y="1487334"/>
            <a:ext cx="2697480" cy="61140"/>
          </a:xfrm>
          <a:prstGeom prst="roundRect">
            <a:avLst>
              <a:gd name="adj" fmla="val 598234"/>
            </a:avLst>
          </a:prstGeom>
          <a:solidFill>
            <a:srgbClr val="F1F5F9"/>
          </a:solidFill>
          <a:ln/>
        </p:spPr>
      </p:sp>
      <p:sp>
        <p:nvSpPr>
          <p:cNvPr id="11" name="Shape 9"/>
          <p:cNvSpPr/>
          <p:nvPr/>
        </p:nvSpPr>
        <p:spPr>
          <a:xfrm>
            <a:off x="2377440" y="1487334"/>
            <a:ext cx="2697480" cy="61140"/>
          </a:xfrm>
          <a:prstGeom prst="roundRect">
            <a:avLst>
              <a:gd name="adj" fmla="val 598234"/>
            </a:avLst>
          </a:prstGeom>
          <a:solidFill>
            <a:srgbClr val="10B981"/>
          </a:solidFill>
          <a:ln/>
        </p:spPr>
      </p:sp>
      <p:sp>
        <p:nvSpPr>
          <p:cNvPr id="12" name="Text 10"/>
          <p:cNvSpPr/>
          <p:nvPr/>
        </p:nvSpPr>
        <p:spPr>
          <a:xfrm>
            <a:off x="5212080" y="123444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17.7% reply · n=271</a:t>
            </a:r>
            <a:endParaRPr lang="en-US" sz="850" dirty="0"/>
          </a:p>
        </p:txBody>
      </p:sp>
      <p:sp>
        <p:nvSpPr>
          <p:cNvPr id="13" name="Text 11"/>
          <p:cNvSpPr/>
          <p:nvPr/>
        </p:nvSpPr>
        <p:spPr>
          <a:xfrm>
            <a:off x="457200" y="180136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Vendor Tech</a:t>
            </a:r>
            <a:endParaRPr lang="en-US" sz="950" dirty="0"/>
          </a:p>
        </p:txBody>
      </p:sp>
      <p:sp>
        <p:nvSpPr>
          <p:cNvPr id="14" name="Shape 12"/>
          <p:cNvSpPr/>
          <p:nvPr/>
        </p:nvSpPr>
        <p:spPr>
          <a:xfrm>
            <a:off x="2377440" y="2013276"/>
            <a:ext cx="2697480" cy="143112"/>
          </a:xfrm>
          <a:prstGeom prst="roundRect">
            <a:avLst>
              <a:gd name="adj" fmla="val 255576"/>
            </a:avLst>
          </a:prstGeom>
          <a:solidFill>
            <a:srgbClr val="F1F5F9"/>
          </a:solidFill>
          <a:ln/>
        </p:spPr>
      </p:sp>
      <p:sp>
        <p:nvSpPr>
          <p:cNvPr id="15" name="Shape 13"/>
          <p:cNvSpPr/>
          <p:nvPr/>
        </p:nvSpPr>
        <p:spPr>
          <a:xfrm>
            <a:off x="2377440" y="2013276"/>
            <a:ext cx="944880" cy="143112"/>
          </a:xfrm>
          <a:prstGeom prst="roundRect">
            <a:avLst>
              <a:gd name="adj" fmla="val 255576"/>
            </a:avLst>
          </a:prstGeom>
          <a:solidFill>
            <a:srgbClr val="0077B5"/>
          </a:solidFill>
          <a:ln/>
        </p:spPr>
      </p:sp>
      <p:sp>
        <p:nvSpPr>
          <p:cNvPr id="16" name="Text 14"/>
          <p:cNvSpPr/>
          <p:nvPr/>
        </p:nvSpPr>
        <p:spPr>
          <a:xfrm>
            <a:off x="5212080" y="180136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6.2% reply · n=10,810</a:t>
            </a:r>
            <a:endParaRPr lang="en-US" sz="850" dirty="0"/>
          </a:p>
        </p:txBody>
      </p:sp>
      <p:sp>
        <p:nvSpPr>
          <p:cNvPr id="17" name="Text 15"/>
          <p:cNvSpPr/>
          <p:nvPr/>
        </p:nvSpPr>
        <p:spPr>
          <a:xfrm>
            <a:off x="457200" y="2368296"/>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Other</a:t>
            </a:r>
            <a:endParaRPr lang="en-US" sz="950" dirty="0"/>
          </a:p>
        </p:txBody>
      </p:sp>
      <p:sp>
        <p:nvSpPr>
          <p:cNvPr id="18" name="Shape 16"/>
          <p:cNvSpPr/>
          <p:nvPr/>
        </p:nvSpPr>
        <p:spPr>
          <a:xfrm>
            <a:off x="2377440" y="2592524"/>
            <a:ext cx="2697480" cy="118471"/>
          </a:xfrm>
          <a:prstGeom prst="roundRect">
            <a:avLst>
              <a:gd name="adj" fmla="val 308734"/>
            </a:avLst>
          </a:prstGeom>
          <a:solidFill>
            <a:srgbClr val="F1F5F9"/>
          </a:solidFill>
          <a:ln/>
        </p:spPr>
      </p:sp>
      <p:sp>
        <p:nvSpPr>
          <p:cNvPr id="19" name="Shape 17"/>
          <p:cNvSpPr/>
          <p:nvPr/>
        </p:nvSpPr>
        <p:spPr>
          <a:xfrm>
            <a:off x="2377440" y="2592524"/>
            <a:ext cx="701040" cy="118471"/>
          </a:xfrm>
          <a:prstGeom prst="roundRect">
            <a:avLst>
              <a:gd name="adj" fmla="val 308734"/>
            </a:avLst>
          </a:prstGeom>
          <a:solidFill>
            <a:srgbClr val="0077B5"/>
          </a:solidFill>
          <a:ln/>
        </p:spPr>
      </p:sp>
      <p:sp>
        <p:nvSpPr>
          <p:cNvPr id="20" name="Text 18"/>
          <p:cNvSpPr/>
          <p:nvPr/>
        </p:nvSpPr>
        <p:spPr>
          <a:xfrm>
            <a:off x="5212080" y="2368296"/>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4.6% reply · n=6,032</a:t>
            </a:r>
            <a:endParaRPr lang="en-US" sz="850" dirty="0"/>
          </a:p>
        </p:txBody>
      </p:sp>
      <p:sp>
        <p:nvSpPr>
          <p:cNvPr id="21" name="Text 19"/>
          <p:cNvSpPr/>
          <p:nvPr/>
        </p:nvSpPr>
        <p:spPr>
          <a:xfrm>
            <a:off x="457200" y="2935224"/>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Payer</a:t>
            </a:r>
            <a:endParaRPr lang="en-US" sz="950" dirty="0"/>
          </a:p>
        </p:txBody>
      </p:sp>
      <p:sp>
        <p:nvSpPr>
          <p:cNvPr id="22" name="Shape 20"/>
          <p:cNvSpPr/>
          <p:nvPr/>
        </p:nvSpPr>
        <p:spPr>
          <a:xfrm>
            <a:off x="2377440" y="3167166"/>
            <a:ext cx="2697480" cy="103044"/>
          </a:xfrm>
          <a:prstGeom prst="roundRect">
            <a:avLst>
              <a:gd name="adj" fmla="val 354955"/>
            </a:avLst>
          </a:prstGeom>
          <a:solidFill>
            <a:srgbClr val="F1F5F9"/>
          </a:solidFill>
          <a:ln/>
        </p:spPr>
      </p:sp>
      <p:sp>
        <p:nvSpPr>
          <p:cNvPr id="23" name="Shape 21"/>
          <p:cNvSpPr/>
          <p:nvPr/>
        </p:nvSpPr>
        <p:spPr>
          <a:xfrm>
            <a:off x="2377440" y="3167166"/>
            <a:ext cx="594360" cy="103044"/>
          </a:xfrm>
          <a:prstGeom prst="roundRect">
            <a:avLst>
              <a:gd name="adj" fmla="val 354955"/>
            </a:avLst>
          </a:prstGeom>
          <a:solidFill>
            <a:srgbClr val="0077B5"/>
          </a:solidFill>
          <a:ln/>
        </p:spPr>
      </p:sp>
      <p:sp>
        <p:nvSpPr>
          <p:cNvPr id="24" name="Text 22"/>
          <p:cNvSpPr/>
          <p:nvPr/>
        </p:nvSpPr>
        <p:spPr>
          <a:xfrm>
            <a:off x="5212080" y="2935224"/>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3.9% reply · n=3,745</a:t>
            </a:r>
            <a:endParaRPr lang="en-US" sz="850" dirty="0"/>
          </a:p>
        </p:txBody>
      </p:sp>
      <p:sp>
        <p:nvSpPr>
          <p:cNvPr id="25" name="Text 23"/>
          <p:cNvSpPr/>
          <p:nvPr/>
        </p:nvSpPr>
        <p:spPr>
          <a:xfrm>
            <a:off x="457200" y="3502152"/>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Physician Group</a:t>
            </a:r>
            <a:endParaRPr lang="en-US" sz="950" dirty="0"/>
          </a:p>
        </p:txBody>
      </p:sp>
      <p:sp>
        <p:nvSpPr>
          <p:cNvPr id="26" name="Shape 24"/>
          <p:cNvSpPr/>
          <p:nvPr/>
        </p:nvSpPr>
        <p:spPr>
          <a:xfrm>
            <a:off x="2377440" y="3741979"/>
            <a:ext cx="2697480" cy="87275"/>
          </a:xfrm>
          <a:prstGeom prst="roundRect">
            <a:avLst>
              <a:gd name="adj" fmla="val 419089"/>
            </a:avLst>
          </a:prstGeom>
          <a:solidFill>
            <a:srgbClr val="F1F5F9"/>
          </a:solidFill>
          <a:ln/>
        </p:spPr>
      </p:sp>
      <p:sp>
        <p:nvSpPr>
          <p:cNvPr id="27" name="Shape 25"/>
          <p:cNvSpPr/>
          <p:nvPr/>
        </p:nvSpPr>
        <p:spPr>
          <a:xfrm>
            <a:off x="2377440" y="3741979"/>
            <a:ext cx="457200" cy="87275"/>
          </a:xfrm>
          <a:prstGeom prst="roundRect">
            <a:avLst>
              <a:gd name="adj" fmla="val 419089"/>
            </a:avLst>
          </a:prstGeom>
          <a:solidFill>
            <a:srgbClr val="0077B5"/>
          </a:solidFill>
          <a:ln/>
        </p:spPr>
      </p:sp>
      <p:sp>
        <p:nvSpPr>
          <p:cNvPr id="28" name="Text 26"/>
          <p:cNvSpPr/>
          <p:nvPr/>
        </p:nvSpPr>
        <p:spPr>
          <a:xfrm>
            <a:off x="5212080" y="3502152"/>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3.0% reply · n=1,968</a:t>
            </a:r>
            <a:endParaRPr lang="en-US" sz="850" dirty="0"/>
          </a:p>
        </p:txBody>
      </p:sp>
      <p:sp>
        <p:nvSpPr>
          <p:cNvPr id="29" name="Text 27"/>
          <p:cNvSpPr/>
          <p:nvPr/>
        </p:nvSpPr>
        <p:spPr>
          <a:xfrm>
            <a:off x="457200" y="4069080"/>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Hospital</a:t>
            </a:r>
            <a:endParaRPr lang="en-US" sz="950" dirty="0"/>
          </a:p>
        </p:txBody>
      </p:sp>
      <p:sp>
        <p:nvSpPr>
          <p:cNvPr id="30" name="Shape 28"/>
          <p:cNvSpPr/>
          <p:nvPr/>
        </p:nvSpPr>
        <p:spPr>
          <a:xfrm>
            <a:off x="2377440" y="4306582"/>
            <a:ext cx="2697480" cy="91924"/>
          </a:xfrm>
          <a:prstGeom prst="roundRect">
            <a:avLst>
              <a:gd name="adj" fmla="val 397894"/>
            </a:avLst>
          </a:prstGeom>
          <a:solidFill>
            <a:srgbClr val="F1F5F9"/>
          </a:solidFill>
          <a:ln/>
        </p:spPr>
      </p:sp>
      <p:sp>
        <p:nvSpPr>
          <p:cNvPr id="31" name="Shape 29"/>
          <p:cNvSpPr/>
          <p:nvPr/>
        </p:nvSpPr>
        <p:spPr>
          <a:xfrm>
            <a:off x="2377440" y="4306582"/>
            <a:ext cx="365760" cy="91924"/>
          </a:xfrm>
          <a:prstGeom prst="roundRect">
            <a:avLst>
              <a:gd name="adj" fmla="val 397894"/>
            </a:avLst>
          </a:prstGeom>
          <a:solidFill>
            <a:srgbClr val="0077B5"/>
          </a:solidFill>
          <a:ln/>
        </p:spPr>
      </p:sp>
      <p:sp>
        <p:nvSpPr>
          <p:cNvPr id="32" name="Text 30"/>
          <p:cNvSpPr/>
          <p:nvPr/>
        </p:nvSpPr>
        <p:spPr>
          <a:xfrm>
            <a:off x="5212080" y="4069080"/>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2.4% reply · n=2,433</a:t>
            </a:r>
            <a:endParaRPr lang="en-US" sz="850" dirty="0"/>
          </a:p>
        </p:txBody>
      </p:sp>
      <p:sp>
        <p:nvSpPr>
          <p:cNvPr id="33" name="Text 31"/>
          <p:cNvSpPr/>
          <p:nvPr/>
        </p:nvSpPr>
        <p:spPr>
          <a:xfrm>
            <a:off x="457200" y="4636008"/>
            <a:ext cx="1783080" cy="521208"/>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Health System</a:t>
            </a:r>
            <a:endParaRPr lang="en-US" sz="950" dirty="0"/>
          </a:p>
        </p:txBody>
      </p:sp>
      <p:sp>
        <p:nvSpPr>
          <p:cNvPr id="34" name="Shape 32"/>
          <p:cNvSpPr/>
          <p:nvPr/>
        </p:nvSpPr>
        <p:spPr>
          <a:xfrm>
            <a:off x="2377440" y="4841748"/>
            <a:ext cx="2697480" cy="155448"/>
          </a:xfrm>
          <a:prstGeom prst="roundRect">
            <a:avLst>
              <a:gd name="adj" fmla="val 235294"/>
            </a:avLst>
          </a:prstGeom>
          <a:solidFill>
            <a:srgbClr val="F1F5F9"/>
          </a:solidFill>
          <a:ln/>
        </p:spPr>
      </p:sp>
      <p:sp>
        <p:nvSpPr>
          <p:cNvPr id="35" name="Shape 33"/>
          <p:cNvSpPr/>
          <p:nvPr/>
        </p:nvSpPr>
        <p:spPr>
          <a:xfrm>
            <a:off x="2377440" y="4841748"/>
            <a:ext cx="350520" cy="155448"/>
          </a:xfrm>
          <a:prstGeom prst="roundRect">
            <a:avLst>
              <a:gd name="adj" fmla="val 235294"/>
            </a:avLst>
          </a:prstGeom>
          <a:solidFill>
            <a:srgbClr val="0077B5"/>
          </a:solidFill>
          <a:ln/>
        </p:spPr>
      </p:sp>
      <p:sp>
        <p:nvSpPr>
          <p:cNvPr id="36" name="Text 34"/>
          <p:cNvSpPr/>
          <p:nvPr/>
        </p:nvSpPr>
        <p:spPr>
          <a:xfrm>
            <a:off x="5212080" y="4636008"/>
            <a:ext cx="1783080" cy="521208"/>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2.3% reply · n=13,722</a:t>
            </a:r>
            <a:endParaRPr lang="en-US" sz="850" dirty="0"/>
          </a:p>
        </p:txBody>
      </p:sp>
      <p:sp>
        <p:nvSpPr>
          <p:cNvPr id="37" name="Text 35"/>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38" name="Shape 36"/>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39" name="Text 37"/>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40" name="Text 38"/>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John Ward</a:t>
            </a:r>
            <a:endParaRPr lang="en-US" sz="1500" dirty="0"/>
          </a:p>
        </p:txBody>
      </p:sp>
      <p:sp>
        <p:nvSpPr>
          <p:cNvPr id="41" name="Text 39"/>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Managing Partner @ Capital Pro Partners</a:t>
            </a:r>
            <a:endParaRPr lang="en-US" sz="1100" dirty="0"/>
          </a:p>
        </p:txBody>
      </p:sp>
      <p:sp>
        <p:nvSpPr>
          <p:cNvPr id="42" name="Text 40"/>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John, loved your older post on the CRE maturity wall. I run a Utah bookkeeping practice and clean financials matter most in tight markets. Would love to connect.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AUDIENCE &amp; TEAM — WHO RESPONDS BEST</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BDR Performance</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sp>
        <p:nvSpPr>
          <p:cNvPr id="9" name="Text 7"/>
          <p:cNvSpPr/>
          <p:nvPr/>
        </p:nvSpPr>
        <p:spPr>
          <a:xfrm>
            <a:off x="457200" y="1234440"/>
            <a:ext cx="1783080" cy="358902"/>
          </a:xfrm>
          <a:prstGeom prst="rect">
            <a:avLst/>
          </a:prstGeom>
          <a:noFill/>
          <a:ln/>
        </p:spPr>
        <p:txBody>
          <a:bodyPr wrap="square" rtlCol="0" anchor="ctr">
            <a:normAutofit/>
          </a:bodyPr>
          <a:lstStyle/>
          <a:p>
            <a:pPr indent="0" marL="0">
              <a:buNone/>
            </a:pPr>
            <a:r>
              <a:rPr lang="en-US" sz="950" b="1" dirty="0">
                <a:solidFill>
                  <a:srgbClr val="047857"/>
                </a:solidFill>
                <a:latin typeface="Calibri" pitchFamily="34" charset="0"/>
                <a:ea typeface="Calibri" pitchFamily="34" charset="-122"/>
                <a:cs typeface="Calibri" pitchFamily="34" charset="-120"/>
              </a:rPr>
              <a:t>★ Taylor Davis</a:t>
            </a:r>
            <a:endParaRPr lang="en-US" sz="950" dirty="0"/>
          </a:p>
        </p:txBody>
      </p:sp>
      <p:sp>
        <p:nvSpPr>
          <p:cNvPr id="10" name="Shape 8"/>
          <p:cNvSpPr/>
          <p:nvPr/>
        </p:nvSpPr>
        <p:spPr>
          <a:xfrm>
            <a:off x="2377440" y="1364387"/>
            <a:ext cx="2697480" cy="144729"/>
          </a:xfrm>
          <a:prstGeom prst="roundRect">
            <a:avLst>
              <a:gd name="adj" fmla="val 252721"/>
            </a:avLst>
          </a:prstGeom>
          <a:solidFill>
            <a:srgbClr val="F1F5F9"/>
          </a:solidFill>
          <a:ln/>
        </p:spPr>
      </p:sp>
      <p:sp>
        <p:nvSpPr>
          <p:cNvPr id="11" name="Shape 9"/>
          <p:cNvSpPr/>
          <p:nvPr/>
        </p:nvSpPr>
        <p:spPr>
          <a:xfrm>
            <a:off x="2377440" y="1364387"/>
            <a:ext cx="2697480" cy="144729"/>
          </a:xfrm>
          <a:prstGeom prst="roundRect">
            <a:avLst>
              <a:gd name="adj" fmla="val 252721"/>
            </a:avLst>
          </a:prstGeom>
          <a:solidFill>
            <a:srgbClr val="10B981"/>
          </a:solidFill>
          <a:ln/>
        </p:spPr>
      </p:sp>
      <p:sp>
        <p:nvSpPr>
          <p:cNvPr id="12" name="Text 10"/>
          <p:cNvSpPr/>
          <p:nvPr/>
        </p:nvSpPr>
        <p:spPr>
          <a:xfrm>
            <a:off x="5212080" y="1234440"/>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13.7% reply · n=2,598</a:t>
            </a:r>
            <a:endParaRPr lang="en-US" sz="850" dirty="0"/>
          </a:p>
        </p:txBody>
      </p:sp>
      <p:sp>
        <p:nvSpPr>
          <p:cNvPr id="13" name="Text 11"/>
          <p:cNvSpPr/>
          <p:nvPr/>
        </p:nvSpPr>
        <p:spPr>
          <a:xfrm>
            <a:off x="457200" y="1639062"/>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Joe Annoreno</a:t>
            </a:r>
            <a:endParaRPr lang="en-US" sz="950" dirty="0"/>
          </a:p>
        </p:txBody>
      </p:sp>
      <p:sp>
        <p:nvSpPr>
          <p:cNvPr id="14" name="Shape 12"/>
          <p:cNvSpPr/>
          <p:nvPr/>
        </p:nvSpPr>
        <p:spPr>
          <a:xfrm>
            <a:off x="2377440" y="1767240"/>
            <a:ext cx="2697480" cy="148267"/>
          </a:xfrm>
          <a:prstGeom prst="roundRect">
            <a:avLst>
              <a:gd name="adj" fmla="val 246690"/>
            </a:avLst>
          </a:prstGeom>
          <a:solidFill>
            <a:srgbClr val="F1F5F9"/>
          </a:solidFill>
          <a:ln/>
        </p:spPr>
      </p:sp>
      <p:sp>
        <p:nvSpPr>
          <p:cNvPr id="15" name="Shape 13"/>
          <p:cNvSpPr/>
          <p:nvPr/>
        </p:nvSpPr>
        <p:spPr>
          <a:xfrm>
            <a:off x="2377440" y="1767240"/>
            <a:ext cx="1831136" cy="148267"/>
          </a:xfrm>
          <a:prstGeom prst="roundRect">
            <a:avLst>
              <a:gd name="adj" fmla="val 246690"/>
            </a:avLst>
          </a:prstGeom>
          <a:solidFill>
            <a:srgbClr val="0077B5"/>
          </a:solidFill>
          <a:ln/>
        </p:spPr>
      </p:sp>
      <p:sp>
        <p:nvSpPr>
          <p:cNvPr id="16" name="Text 14"/>
          <p:cNvSpPr/>
          <p:nvPr/>
        </p:nvSpPr>
        <p:spPr>
          <a:xfrm>
            <a:off x="5212080" y="1639062"/>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9.3% reply · n=2,787</a:t>
            </a:r>
            <a:endParaRPr lang="en-US" sz="850" dirty="0"/>
          </a:p>
        </p:txBody>
      </p:sp>
      <p:sp>
        <p:nvSpPr>
          <p:cNvPr id="17" name="Text 15"/>
          <p:cNvSpPr/>
          <p:nvPr/>
        </p:nvSpPr>
        <p:spPr>
          <a:xfrm>
            <a:off x="457200" y="2043684"/>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Travis Mecham</a:t>
            </a:r>
            <a:endParaRPr lang="en-US" sz="950" dirty="0"/>
          </a:p>
        </p:txBody>
      </p:sp>
      <p:sp>
        <p:nvSpPr>
          <p:cNvPr id="18" name="Shape 16"/>
          <p:cNvSpPr/>
          <p:nvPr/>
        </p:nvSpPr>
        <p:spPr>
          <a:xfrm>
            <a:off x="2377440" y="2198146"/>
            <a:ext cx="2697480" cy="95698"/>
          </a:xfrm>
          <a:prstGeom prst="roundRect">
            <a:avLst>
              <a:gd name="adj" fmla="val 382202"/>
            </a:avLst>
          </a:prstGeom>
          <a:solidFill>
            <a:srgbClr val="F1F5F9"/>
          </a:solidFill>
          <a:ln/>
        </p:spPr>
      </p:sp>
      <p:sp>
        <p:nvSpPr>
          <p:cNvPr id="19" name="Shape 17"/>
          <p:cNvSpPr/>
          <p:nvPr/>
        </p:nvSpPr>
        <p:spPr>
          <a:xfrm>
            <a:off x="2377440" y="2198146"/>
            <a:ext cx="1299516" cy="95698"/>
          </a:xfrm>
          <a:prstGeom prst="roundRect">
            <a:avLst>
              <a:gd name="adj" fmla="val 382202"/>
            </a:avLst>
          </a:prstGeom>
          <a:solidFill>
            <a:srgbClr val="0077B5"/>
          </a:solidFill>
          <a:ln/>
        </p:spPr>
      </p:sp>
      <p:sp>
        <p:nvSpPr>
          <p:cNvPr id="20" name="Text 18"/>
          <p:cNvSpPr/>
          <p:nvPr/>
        </p:nvSpPr>
        <p:spPr>
          <a:xfrm>
            <a:off x="5212080" y="2043684"/>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6.6% reply · n=662</a:t>
            </a:r>
            <a:endParaRPr lang="en-US" sz="850" dirty="0"/>
          </a:p>
        </p:txBody>
      </p:sp>
      <p:sp>
        <p:nvSpPr>
          <p:cNvPr id="21" name="Text 19"/>
          <p:cNvSpPr/>
          <p:nvPr/>
        </p:nvSpPr>
        <p:spPr>
          <a:xfrm>
            <a:off x="457200" y="2448306"/>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Greg Miller</a:t>
            </a:r>
            <a:endParaRPr lang="en-US" sz="950" dirty="0"/>
          </a:p>
        </p:txBody>
      </p:sp>
      <p:sp>
        <p:nvSpPr>
          <p:cNvPr id="22" name="Shape 20"/>
          <p:cNvSpPr/>
          <p:nvPr/>
        </p:nvSpPr>
        <p:spPr>
          <a:xfrm>
            <a:off x="2377440" y="2598059"/>
            <a:ext cx="2697480" cy="105116"/>
          </a:xfrm>
          <a:prstGeom prst="roundRect">
            <a:avLst>
              <a:gd name="adj" fmla="val 347958"/>
            </a:avLst>
          </a:prstGeom>
          <a:solidFill>
            <a:srgbClr val="F1F5F9"/>
          </a:solidFill>
          <a:ln/>
        </p:spPr>
      </p:sp>
      <p:sp>
        <p:nvSpPr>
          <p:cNvPr id="23" name="Shape 21"/>
          <p:cNvSpPr/>
          <p:nvPr/>
        </p:nvSpPr>
        <p:spPr>
          <a:xfrm>
            <a:off x="2377440" y="2598059"/>
            <a:ext cx="1141999" cy="105116"/>
          </a:xfrm>
          <a:prstGeom prst="roundRect">
            <a:avLst>
              <a:gd name="adj" fmla="val 347958"/>
            </a:avLst>
          </a:prstGeom>
          <a:solidFill>
            <a:srgbClr val="0077B5"/>
          </a:solidFill>
          <a:ln/>
        </p:spPr>
      </p:sp>
      <p:sp>
        <p:nvSpPr>
          <p:cNvPr id="24" name="Text 22"/>
          <p:cNvSpPr/>
          <p:nvPr/>
        </p:nvSpPr>
        <p:spPr>
          <a:xfrm>
            <a:off x="5212080" y="2448306"/>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5.8% reply · n=935</a:t>
            </a:r>
            <a:endParaRPr lang="en-US" sz="850" dirty="0"/>
          </a:p>
        </p:txBody>
      </p:sp>
      <p:sp>
        <p:nvSpPr>
          <p:cNvPr id="25" name="Text 23"/>
          <p:cNvSpPr/>
          <p:nvPr/>
        </p:nvSpPr>
        <p:spPr>
          <a:xfrm>
            <a:off x="457200" y="2852928"/>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Jean Paty</a:t>
            </a:r>
            <a:endParaRPr lang="en-US" sz="950" dirty="0"/>
          </a:p>
        </p:txBody>
      </p:sp>
      <p:sp>
        <p:nvSpPr>
          <p:cNvPr id="26" name="Shape 24"/>
          <p:cNvSpPr/>
          <p:nvPr/>
        </p:nvSpPr>
        <p:spPr>
          <a:xfrm>
            <a:off x="2377440" y="2977515"/>
            <a:ext cx="2697480" cy="155448"/>
          </a:xfrm>
          <a:prstGeom prst="roundRect">
            <a:avLst>
              <a:gd name="adj" fmla="val 235294"/>
            </a:avLst>
          </a:prstGeom>
          <a:solidFill>
            <a:srgbClr val="F1F5F9"/>
          </a:solidFill>
          <a:ln/>
        </p:spPr>
      </p:sp>
      <p:sp>
        <p:nvSpPr>
          <p:cNvPr id="27" name="Shape 25"/>
          <p:cNvSpPr/>
          <p:nvPr/>
        </p:nvSpPr>
        <p:spPr>
          <a:xfrm>
            <a:off x="2377440" y="2977515"/>
            <a:ext cx="1004171" cy="155448"/>
          </a:xfrm>
          <a:prstGeom prst="roundRect">
            <a:avLst>
              <a:gd name="adj" fmla="val 235294"/>
            </a:avLst>
          </a:prstGeom>
          <a:solidFill>
            <a:srgbClr val="0077B5"/>
          </a:solidFill>
          <a:ln/>
        </p:spPr>
      </p:sp>
      <p:sp>
        <p:nvSpPr>
          <p:cNvPr id="28" name="Text 26"/>
          <p:cNvSpPr/>
          <p:nvPr/>
        </p:nvSpPr>
        <p:spPr>
          <a:xfrm>
            <a:off x="5212080" y="2852928"/>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5.1% reply · n=3,191</a:t>
            </a:r>
            <a:endParaRPr lang="en-US" sz="850" dirty="0"/>
          </a:p>
        </p:txBody>
      </p:sp>
      <p:sp>
        <p:nvSpPr>
          <p:cNvPr id="29" name="Text 27"/>
          <p:cNvSpPr/>
          <p:nvPr/>
        </p:nvSpPr>
        <p:spPr>
          <a:xfrm>
            <a:off x="457200" y="3257550"/>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Sam Ellsworth</a:t>
            </a:r>
            <a:endParaRPr lang="en-US" sz="950" dirty="0"/>
          </a:p>
        </p:txBody>
      </p:sp>
      <p:sp>
        <p:nvSpPr>
          <p:cNvPr id="30" name="Shape 28"/>
          <p:cNvSpPr/>
          <p:nvPr/>
        </p:nvSpPr>
        <p:spPr>
          <a:xfrm>
            <a:off x="2377440" y="3423231"/>
            <a:ext cx="2697480" cy="73259"/>
          </a:xfrm>
          <a:prstGeom prst="roundRect">
            <a:avLst>
              <a:gd name="adj" fmla="val 499270"/>
            </a:avLst>
          </a:prstGeom>
          <a:solidFill>
            <a:srgbClr val="F1F5F9"/>
          </a:solidFill>
          <a:ln/>
        </p:spPr>
      </p:sp>
      <p:sp>
        <p:nvSpPr>
          <p:cNvPr id="31" name="Shape 29"/>
          <p:cNvSpPr/>
          <p:nvPr/>
        </p:nvSpPr>
        <p:spPr>
          <a:xfrm>
            <a:off x="2377440" y="3423231"/>
            <a:ext cx="984482" cy="73259"/>
          </a:xfrm>
          <a:prstGeom prst="roundRect">
            <a:avLst>
              <a:gd name="adj" fmla="val 499270"/>
            </a:avLst>
          </a:prstGeom>
          <a:solidFill>
            <a:srgbClr val="0077B5"/>
          </a:solidFill>
          <a:ln/>
        </p:spPr>
      </p:sp>
      <p:sp>
        <p:nvSpPr>
          <p:cNvPr id="32" name="Text 30"/>
          <p:cNvSpPr/>
          <p:nvPr/>
        </p:nvSpPr>
        <p:spPr>
          <a:xfrm>
            <a:off x="5212080" y="3257550"/>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5.0% reply · n=201</a:t>
            </a:r>
            <a:endParaRPr lang="en-US" sz="850" dirty="0"/>
          </a:p>
        </p:txBody>
      </p:sp>
      <p:sp>
        <p:nvSpPr>
          <p:cNvPr id="33" name="Text 31"/>
          <p:cNvSpPr/>
          <p:nvPr/>
        </p:nvSpPr>
        <p:spPr>
          <a:xfrm>
            <a:off x="457200" y="3662172"/>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Ryan Saliman</a:t>
            </a:r>
            <a:endParaRPr lang="en-US" sz="950" dirty="0"/>
          </a:p>
        </p:txBody>
      </p:sp>
      <p:sp>
        <p:nvSpPr>
          <p:cNvPr id="34" name="Shape 32"/>
          <p:cNvSpPr/>
          <p:nvPr/>
        </p:nvSpPr>
        <p:spPr>
          <a:xfrm>
            <a:off x="2377440" y="3801285"/>
            <a:ext cx="2697480" cy="126397"/>
          </a:xfrm>
          <a:prstGeom prst="roundRect">
            <a:avLst>
              <a:gd name="adj" fmla="val 289374"/>
            </a:avLst>
          </a:prstGeom>
          <a:solidFill>
            <a:srgbClr val="F1F5F9"/>
          </a:solidFill>
          <a:ln/>
        </p:spPr>
      </p:sp>
      <p:sp>
        <p:nvSpPr>
          <p:cNvPr id="35" name="Shape 33"/>
          <p:cNvSpPr/>
          <p:nvPr/>
        </p:nvSpPr>
        <p:spPr>
          <a:xfrm>
            <a:off x="2377440" y="3801285"/>
            <a:ext cx="925413" cy="126397"/>
          </a:xfrm>
          <a:prstGeom prst="roundRect">
            <a:avLst>
              <a:gd name="adj" fmla="val 289374"/>
            </a:avLst>
          </a:prstGeom>
          <a:solidFill>
            <a:srgbClr val="0077B5"/>
          </a:solidFill>
          <a:ln/>
        </p:spPr>
      </p:sp>
      <p:sp>
        <p:nvSpPr>
          <p:cNvPr id="36" name="Text 34"/>
          <p:cNvSpPr/>
          <p:nvPr/>
        </p:nvSpPr>
        <p:spPr>
          <a:xfrm>
            <a:off x="5212080" y="3662172"/>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4.7% reply · n=1,725</a:t>
            </a:r>
            <a:endParaRPr lang="en-US" sz="850" dirty="0"/>
          </a:p>
        </p:txBody>
      </p:sp>
      <p:sp>
        <p:nvSpPr>
          <p:cNvPr id="37" name="Text 35"/>
          <p:cNvSpPr/>
          <p:nvPr/>
        </p:nvSpPr>
        <p:spPr>
          <a:xfrm>
            <a:off x="457200" y="4066794"/>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Levie Hofstee</a:t>
            </a:r>
            <a:endParaRPr lang="en-US" sz="950" dirty="0"/>
          </a:p>
        </p:txBody>
      </p:sp>
      <p:sp>
        <p:nvSpPr>
          <p:cNvPr id="38" name="Shape 36"/>
          <p:cNvSpPr/>
          <p:nvPr/>
        </p:nvSpPr>
        <p:spPr>
          <a:xfrm>
            <a:off x="2377440" y="4217846"/>
            <a:ext cx="2697480" cy="102519"/>
          </a:xfrm>
          <a:prstGeom prst="roundRect">
            <a:avLst>
              <a:gd name="adj" fmla="val 356773"/>
            </a:avLst>
          </a:prstGeom>
          <a:solidFill>
            <a:srgbClr val="F1F5F9"/>
          </a:solidFill>
          <a:ln/>
        </p:spPr>
      </p:sp>
      <p:sp>
        <p:nvSpPr>
          <p:cNvPr id="39" name="Shape 37"/>
          <p:cNvSpPr/>
          <p:nvPr/>
        </p:nvSpPr>
        <p:spPr>
          <a:xfrm>
            <a:off x="2377440" y="4217846"/>
            <a:ext cx="807275" cy="102519"/>
          </a:xfrm>
          <a:prstGeom prst="roundRect">
            <a:avLst>
              <a:gd name="adj" fmla="val 356773"/>
            </a:avLst>
          </a:prstGeom>
          <a:solidFill>
            <a:srgbClr val="0077B5"/>
          </a:solidFill>
          <a:ln/>
        </p:spPr>
      </p:sp>
      <p:sp>
        <p:nvSpPr>
          <p:cNvPr id="40" name="Text 38"/>
          <p:cNvSpPr/>
          <p:nvPr/>
        </p:nvSpPr>
        <p:spPr>
          <a:xfrm>
            <a:off x="5212080" y="4066794"/>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4.1% reply · n=855</a:t>
            </a:r>
            <a:endParaRPr lang="en-US" sz="850" dirty="0"/>
          </a:p>
        </p:txBody>
      </p:sp>
      <p:sp>
        <p:nvSpPr>
          <p:cNvPr id="41" name="Text 39"/>
          <p:cNvSpPr/>
          <p:nvPr/>
        </p:nvSpPr>
        <p:spPr>
          <a:xfrm>
            <a:off x="457200" y="4471416"/>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Derek Moore</a:t>
            </a:r>
            <a:endParaRPr lang="en-US" sz="950" dirty="0"/>
          </a:p>
        </p:txBody>
      </p:sp>
      <p:sp>
        <p:nvSpPr>
          <p:cNvPr id="42" name="Shape 40"/>
          <p:cNvSpPr/>
          <p:nvPr/>
        </p:nvSpPr>
        <p:spPr>
          <a:xfrm>
            <a:off x="2377440" y="4606583"/>
            <a:ext cx="2697480" cy="134289"/>
          </a:xfrm>
          <a:prstGeom prst="roundRect">
            <a:avLst>
              <a:gd name="adj" fmla="val 272368"/>
            </a:avLst>
          </a:prstGeom>
          <a:solidFill>
            <a:srgbClr val="F1F5F9"/>
          </a:solidFill>
          <a:ln/>
        </p:spPr>
      </p:sp>
      <p:sp>
        <p:nvSpPr>
          <p:cNvPr id="43" name="Shape 41"/>
          <p:cNvSpPr/>
          <p:nvPr/>
        </p:nvSpPr>
        <p:spPr>
          <a:xfrm>
            <a:off x="2377440" y="4606583"/>
            <a:ext cx="787585" cy="134289"/>
          </a:xfrm>
          <a:prstGeom prst="roundRect">
            <a:avLst>
              <a:gd name="adj" fmla="val 272368"/>
            </a:avLst>
          </a:prstGeom>
          <a:solidFill>
            <a:srgbClr val="0077B5"/>
          </a:solidFill>
          <a:ln/>
        </p:spPr>
      </p:sp>
      <p:sp>
        <p:nvSpPr>
          <p:cNvPr id="44" name="Text 42"/>
          <p:cNvSpPr/>
          <p:nvPr/>
        </p:nvSpPr>
        <p:spPr>
          <a:xfrm>
            <a:off x="5212080" y="4471416"/>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4.0% reply · n=2,079</a:t>
            </a:r>
            <a:endParaRPr lang="en-US" sz="850" dirty="0"/>
          </a:p>
        </p:txBody>
      </p:sp>
      <p:sp>
        <p:nvSpPr>
          <p:cNvPr id="45" name="Text 43"/>
          <p:cNvSpPr/>
          <p:nvPr/>
        </p:nvSpPr>
        <p:spPr>
          <a:xfrm>
            <a:off x="457200" y="4876038"/>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Ali Schratt</a:t>
            </a:r>
            <a:endParaRPr lang="en-US" sz="950" dirty="0"/>
          </a:p>
        </p:txBody>
      </p:sp>
      <p:sp>
        <p:nvSpPr>
          <p:cNvPr id="46" name="Shape 44"/>
          <p:cNvSpPr/>
          <p:nvPr/>
        </p:nvSpPr>
        <p:spPr>
          <a:xfrm>
            <a:off x="2377440" y="5005482"/>
            <a:ext cx="2697480" cy="145734"/>
          </a:xfrm>
          <a:prstGeom prst="roundRect">
            <a:avLst>
              <a:gd name="adj" fmla="val 250978"/>
            </a:avLst>
          </a:prstGeom>
          <a:solidFill>
            <a:srgbClr val="F1F5F9"/>
          </a:solidFill>
          <a:ln/>
        </p:spPr>
      </p:sp>
      <p:sp>
        <p:nvSpPr>
          <p:cNvPr id="47" name="Shape 45"/>
          <p:cNvSpPr/>
          <p:nvPr/>
        </p:nvSpPr>
        <p:spPr>
          <a:xfrm>
            <a:off x="2377440" y="5005482"/>
            <a:ext cx="767896" cy="145734"/>
          </a:xfrm>
          <a:prstGeom prst="roundRect">
            <a:avLst>
              <a:gd name="adj" fmla="val 250978"/>
            </a:avLst>
          </a:prstGeom>
          <a:solidFill>
            <a:srgbClr val="0077B5"/>
          </a:solidFill>
          <a:ln/>
        </p:spPr>
      </p:sp>
      <p:sp>
        <p:nvSpPr>
          <p:cNvPr id="48" name="Text 46"/>
          <p:cNvSpPr/>
          <p:nvPr/>
        </p:nvSpPr>
        <p:spPr>
          <a:xfrm>
            <a:off x="5212080" y="4876038"/>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3.9% reply · n=2,651</a:t>
            </a:r>
            <a:endParaRPr lang="en-US" sz="850" dirty="0"/>
          </a:p>
        </p:txBody>
      </p:sp>
      <p:sp>
        <p:nvSpPr>
          <p:cNvPr id="49" name="Text 47"/>
          <p:cNvSpPr/>
          <p:nvPr/>
        </p:nvSpPr>
        <p:spPr>
          <a:xfrm>
            <a:off x="457200" y="5280660"/>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Bobby Guelich</a:t>
            </a:r>
            <a:endParaRPr lang="en-US" sz="950" dirty="0"/>
          </a:p>
        </p:txBody>
      </p:sp>
      <p:sp>
        <p:nvSpPr>
          <p:cNvPr id="50" name="Shape 48"/>
          <p:cNvSpPr/>
          <p:nvPr/>
        </p:nvSpPr>
        <p:spPr>
          <a:xfrm>
            <a:off x="2377440" y="5418235"/>
            <a:ext cx="2697480" cy="129472"/>
          </a:xfrm>
          <a:prstGeom prst="roundRect">
            <a:avLst>
              <a:gd name="adj" fmla="val 282501"/>
            </a:avLst>
          </a:prstGeom>
          <a:solidFill>
            <a:srgbClr val="F1F5F9"/>
          </a:solidFill>
          <a:ln/>
        </p:spPr>
      </p:sp>
      <p:sp>
        <p:nvSpPr>
          <p:cNvPr id="51" name="Shape 49"/>
          <p:cNvSpPr/>
          <p:nvPr/>
        </p:nvSpPr>
        <p:spPr>
          <a:xfrm>
            <a:off x="2377440" y="5418235"/>
            <a:ext cx="689137" cy="129472"/>
          </a:xfrm>
          <a:prstGeom prst="roundRect">
            <a:avLst>
              <a:gd name="adj" fmla="val 282501"/>
            </a:avLst>
          </a:prstGeom>
          <a:solidFill>
            <a:srgbClr val="0077B5"/>
          </a:solidFill>
          <a:ln/>
        </p:spPr>
      </p:sp>
      <p:sp>
        <p:nvSpPr>
          <p:cNvPr id="52" name="Text 50"/>
          <p:cNvSpPr/>
          <p:nvPr/>
        </p:nvSpPr>
        <p:spPr>
          <a:xfrm>
            <a:off x="5212080" y="5280660"/>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3.5% reply · n=1,859</a:t>
            </a:r>
            <a:endParaRPr lang="en-US" sz="850" dirty="0"/>
          </a:p>
        </p:txBody>
      </p:sp>
      <p:sp>
        <p:nvSpPr>
          <p:cNvPr id="53" name="Text 51"/>
          <p:cNvSpPr/>
          <p:nvPr/>
        </p:nvSpPr>
        <p:spPr>
          <a:xfrm>
            <a:off x="457200" y="5685282"/>
            <a:ext cx="1783080" cy="358902"/>
          </a:xfrm>
          <a:prstGeom prst="rect">
            <a:avLst/>
          </a:prstGeom>
          <a:noFill/>
          <a:ln/>
        </p:spPr>
        <p:txBody>
          <a:bodyPr wrap="square" rtlCol="0" anchor="ctr">
            <a:normAutofit/>
          </a:bodyPr>
          <a:lstStyle/>
          <a:p>
            <a:pPr indent="0" marL="0">
              <a:buNone/>
            </a:pPr>
            <a:r>
              <a:rPr lang="en-US" sz="950" dirty="0">
                <a:solidFill>
                  <a:srgbClr val="1F2937"/>
                </a:solidFill>
                <a:latin typeface="Calibri" pitchFamily="34" charset="0"/>
                <a:ea typeface="Calibri" pitchFamily="34" charset="-122"/>
                <a:cs typeface="Calibri" pitchFamily="34" charset="-120"/>
              </a:rPr>
              <a:t>Chelsea Weeks</a:t>
            </a:r>
            <a:endParaRPr lang="en-US" sz="950" dirty="0"/>
          </a:p>
        </p:txBody>
      </p:sp>
      <p:sp>
        <p:nvSpPr>
          <p:cNvPr id="54" name="Shape 52"/>
          <p:cNvSpPr/>
          <p:nvPr/>
        </p:nvSpPr>
        <p:spPr>
          <a:xfrm>
            <a:off x="2377440" y="5811439"/>
            <a:ext cx="2697480" cy="152308"/>
          </a:xfrm>
          <a:prstGeom prst="roundRect">
            <a:avLst>
              <a:gd name="adj" fmla="val 240145"/>
            </a:avLst>
          </a:prstGeom>
          <a:solidFill>
            <a:srgbClr val="F1F5F9"/>
          </a:solidFill>
          <a:ln/>
        </p:spPr>
      </p:sp>
      <p:sp>
        <p:nvSpPr>
          <p:cNvPr id="55" name="Shape 53"/>
          <p:cNvSpPr/>
          <p:nvPr/>
        </p:nvSpPr>
        <p:spPr>
          <a:xfrm>
            <a:off x="2377440" y="5811439"/>
            <a:ext cx="630068" cy="152308"/>
          </a:xfrm>
          <a:prstGeom prst="roundRect">
            <a:avLst>
              <a:gd name="adj" fmla="val 240145"/>
            </a:avLst>
          </a:prstGeom>
          <a:solidFill>
            <a:srgbClr val="0077B5"/>
          </a:solidFill>
          <a:ln/>
        </p:spPr>
      </p:sp>
      <p:sp>
        <p:nvSpPr>
          <p:cNvPr id="56" name="Text 54"/>
          <p:cNvSpPr/>
          <p:nvPr/>
        </p:nvSpPr>
        <p:spPr>
          <a:xfrm>
            <a:off x="5212080" y="5685282"/>
            <a:ext cx="1783080" cy="358902"/>
          </a:xfrm>
          <a:prstGeom prst="rect">
            <a:avLst/>
          </a:prstGeom>
          <a:noFill/>
          <a:ln/>
        </p:spPr>
        <p:txBody>
          <a:bodyPr wrap="square" rtlCol="0" anchor="ctr"/>
          <a:lstStyle/>
          <a:p>
            <a:pPr algn="r" indent="0" marL="0">
              <a:buNone/>
            </a:pPr>
            <a:r>
              <a:rPr lang="en-US" sz="850" dirty="0">
                <a:solidFill>
                  <a:srgbClr val="4B5563"/>
                </a:solidFill>
                <a:latin typeface="Calibri" pitchFamily="34" charset="0"/>
                <a:ea typeface="Calibri" pitchFamily="34" charset="-122"/>
                <a:cs typeface="Calibri" pitchFamily="34" charset="-120"/>
              </a:rPr>
              <a:t>3.2% reply · n=3,011</a:t>
            </a:r>
            <a:endParaRPr lang="en-US" sz="850" dirty="0"/>
          </a:p>
        </p:txBody>
      </p:sp>
      <p:sp>
        <p:nvSpPr>
          <p:cNvPr id="57" name="Text 55"/>
          <p:cNvSpPr/>
          <p:nvPr/>
        </p:nvSpPr>
        <p:spPr>
          <a:xfrm>
            <a:off x="457200" y="6108192"/>
            <a:ext cx="6537960" cy="219456"/>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+ 11 more levels — see the full breakdown on the site.</a:t>
            </a:r>
            <a:endParaRPr lang="en-US" sz="850" dirty="0"/>
          </a:p>
        </p:txBody>
      </p:sp>
      <p:sp>
        <p:nvSpPr>
          <p:cNvPr id="58" name="Text 56"/>
          <p:cNvSpPr/>
          <p:nvPr/>
        </p:nvSpPr>
        <p:spPr>
          <a:xfrm>
            <a:off x="7205472" y="1234440"/>
            <a:ext cx="4526280" cy="219456"/>
          </a:xfrm>
          <a:prstGeom prst="rect">
            <a:avLst/>
          </a:prstGeom>
          <a:noFill/>
          <a:ln/>
        </p:spPr>
        <p:txBody>
          <a:bodyPr wrap="square" rtlCol="0" anchor="ctr"/>
          <a:lstStyle/>
          <a:p>
            <a:pPr indent="0" marL="0">
              <a:buNone/>
            </a:pPr>
            <a:r>
              <a:rPr lang="en-US" sz="950" b="1" spc="50" kern="0" dirty="0">
                <a:solidFill>
                  <a:srgbClr val="6B7280"/>
                </a:solidFill>
                <a:latin typeface="Calibri" pitchFamily="34" charset="0"/>
                <a:ea typeface="Calibri" pitchFamily="34" charset="-122"/>
                <a:cs typeface="Calibri" pitchFamily="34" charset="-120"/>
              </a:rPr>
              <a:t>STRONGEST EXAMPLE</a:t>
            </a:r>
            <a:endParaRPr lang="en-US" sz="950" dirty="0"/>
          </a:p>
        </p:txBody>
      </p:sp>
      <p:sp>
        <p:nvSpPr>
          <p:cNvPr id="59" name="Shape 57"/>
          <p:cNvSpPr/>
          <p:nvPr/>
        </p:nvSpPr>
        <p:spPr>
          <a:xfrm>
            <a:off x="7205472" y="1490472"/>
            <a:ext cx="4526280" cy="4818888"/>
          </a:xfrm>
          <a:prstGeom prst="roundRect">
            <a:avLst>
              <a:gd name="adj" fmla="val 505"/>
            </a:avLst>
          </a:prstGeom>
          <a:solidFill>
            <a:srgbClr val="F8FAFC"/>
          </a:solidFill>
          <a:ln w="12700">
            <a:solidFill>
              <a:srgbClr val="E5E7EB"/>
            </a:solidFill>
            <a:prstDash val="solid"/>
          </a:ln>
        </p:spPr>
      </p:sp>
      <p:sp>
        <p:nvSpPr>
          <p:cNvPr id="60" name="Text 58"/>
          <p:cNvSpPr/>
          <p:nvPr/>
        </p:nvSpPr>
        <p:spPr>
          <a:xfrm>
            <a:off x="7296912" y="1444752"/>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61" name="Text 59"/>
          <p:cNvSpPr/>
          <p:nvPr/>
        </p:nvSpPr>
        <p:spPr>
          <a:xfrm>
            <a:off x="7525512" y="1764792"/>
            <a:ext cx="3886200"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Jon Perkins</a:t>
            </a:r>
            <a:endParaRPr lang="en-US" sz="1500" dirty="0"/>
          </a:p>
        </p:txBody>
      </p:sp>
      <p:sp>
        <p:nvSpPr>
          <p:cNvPr id="62" name="Text 60"/>
          <p:cNvSpPr/>
          <p:nvPr/>
        </p:nvSpPr>
        <p:spPr>
          <a:xfrm>
            <a:off x="7525512" y="2112264"/>
            <a:ext cx="3886200"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Business Excellence Leader, NA Region @ Philips</a:t>
            </a:r>
            <a:endParaRPr lang="en-US" sz="1100" dirty="0"/>
          </a:p>
        </p:txBody>
      </p:sp>
      <p:sp>
        <p:nvSpPr>
          <p:cNvPr id="63" name="Text 61"/>
          <p:cNvSpPr/>
          <p:nvPr/>
        </p:nvSpPr>
        <p:spPr>
          <a:xfrm>
            <a:off x="7525512" y="2542032"/>
            <a:ext cx="3886200" cy="3447288"/>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Your post on visibility vs ownership hit home, ambiguous accountability really stalls execution. Are your senior leaders getting the network support they need to keep growth moving?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MESSAGE CRAFT</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Phrases That Move Reply Rate</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
        <p:nvSpPr>
          <p:cNvPr id="9" name="Text 7"/>
          <p:cNvSpPr/>
          <p:nvPr/>
        </p:nvSpPr>
        <p:spPr>
          <a:xfrm>
            <a:off x="457200" y="1234440"/>
            <a:ext cx="5440680" cy="237744"/>
          </a:xfrm>
          <a:prstGeom prst="rect">
            <a:avLst/>
          </a:prstGeom>
          <a:noFill/>
          <a:ln/>
        </p:spPr>
        <p:txBody>
          <a:bodyPr wrap="square" rtlCol="0" anchor="ctr"/>
          <a:lstStyle/>
          <a:p>
            <a:pPr indent="0" marL="0">
              <a:buNone/>
            </a:pPr>
            <a:r>
              <a:rPr lang="en-US" sz="1200" b="1" dirty="0">
                <a:solidFill>
                  <a:srgbClr val="047857"/>
                </a:solidFill>
                <a:latin typeface="Calibri" pitchFamily="34" charset="0"/>
                <a:ea typeface="Calibri" pitchFamily="34" charset="-122"/>
                <a:cs typeface="Calibri" pitchFamily="34" charset="-120"/>
              </a:rPr>
              <a:t>BOOSTS REPLY RATE</a:t>
            </a:r>
            <a:endParaRPr lang="en-US" sz="1200" dirty="0"/>
          </a:p>
        </p:txBody>
      </p:sp>
      <p:sp>
        <p:nvSpPr>
          <p:cNvPr id="10" name="Text 8"/>
          <p:cNvSpPr/>
          <p:nvPr/>
        </p:nvSpPr>
        <p:spPr>
          <a:xfrm>
            <a:off x="6291072" y="1234440"/>
            <a:ext cx="5440680" cy="237744"/>
          </a:xfrm>
          <a:prstGeom prst="rect">
            <a:avLst/>
          </a:prstGeom>
          <a:noFill/>
          <a:ln/>
        </p:spPr>
        <p:txBody>
          <a:bodyPr wrap="square" rtlCol="0" anchor="ctr"/>
          <a:lstStyle/>
          <a:p>
            <a:pPr indent="0" marL="0">
              <a:buNone/>
            </a:pPr>
            <a:r>
              <a:rPr lang="en-US" sz="1200" b="1" dirty="0">
                <a:solidFill>
                  <a:srgbClr val="B91C1C"/>
                </a:solidFill>
                <a:latin typeface="Calibri" pitchFamily="34" charset="0"/>
                <a:ea typeface="Calibri" pitchFamily="34" charset="-122"/>
                <a:cs typeface="Calibri" pitchFamily="34" charset="-120"/>
              </a:rPr>
              <a:t>HURTS REPLY RATE</a:t>
            </a:r>
            <a:endParaRPr lang="en-US" sz="1200" dirty="0"/>
          </a:p>
        </p:txBody>
      </p:sp>
      <p:sp>
        <p:nvSpPr>
          <p:cNvPr id="11" name="Shape 9"/>
          <p:cNvSpPr/>
          <p:nvPr/>
        </p:nvSpPr>
        <p:spPr>
          <a:xfrm>
            <a:off x="457200" y="1600200"/>
            <a:ext cx="54864" cy="491490"/>
          </a:xfrm>
          <a:prstGeom prst="rect">
            <a:avLst/>
          </a:prstGeom>
          <a:solidFill>
            <a:srgbClr val="10B981"/>
          </a:solidFill>
          <a:ln/>
        </p:spPr>
      </p:sp>
      <p:sp>
        <p:nvSpPr>
          <p:cNvPr id="12" name="Text 10"/>
          <p:cNvSpPr/>
          <p:nvPr/>
        </p:nvSpPr>
        <p:spPr>
          <a:xfrm>
            <a:off x="640080" y="160020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“thanks”</a:t>
            </a:r>
            <a:endParaRPr lang="en-US" sz="1100" dirty="0"/>
          </a:p>
        </p:txBody>
      </p:sp>
      <p:sp>
        <p:nvSpPr>
          <p:cNvPr id="13" name="Text 11"/>
          <p:cNvSpPr/>
          <p:nvPr/>
        </p:nvSpPr>
        <p:spPr>
          <a:xfrm>
            <a:off x="4754880" y="1600200"/>
            <a:ext cx="1005840" cy="320612"/>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+9.3 pp</a:t>
            </a:r>
            <a:endParaRPr lang="en-US" sz="1200" dirty="0"/>
          </a:p>
        </p:txBody>
      </p:sp>
      <p:sp>
        <p:nvSpPr>
          <p:cNvPr id="14" name="Text 12"/>
          <p:cNvSpPr/>
          <p:nvPr/>
        </p:nvSpPr>
        <p:spPr>
          <a:xfrm>
            <a:off x="640080" y="189166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18.0%  ·  Without: 3.5%  ·  n=1,620</a:t>
            </a:r>
            <a:endParaRPr lang="en-US" sz="850" dirty="0"/>
          </a:p>
        </p:txBody>
      </p:sp>
      <p:sp>
        <p:nvSpPr>
          <p:cNvPr id="15" name="Shape 13"/>
          <p:cNvSpPr/>
          <p:nvPr/>
        </p:nvSpPr>
        <p:spPr>
          <a:xfrm>
            <a:off x="457200" y="2183130"/>
            <a:ext cx="54864" cy="491490"/>
          </a:xfrm>
          <a:prstGeom prst="rect">
            <a:avLst/>
          </a:prstGeom>
          <a:solidFill>
            <a:srgbClr val="10B981"/>
          </a:solidFill>
          <a:ln/>
        </p:spPr>
      </p:sp>
      <p:sp>
        <p:nvSpPr>
          <p:cNvPr id="16" name="Text 14"/>
          <p:cNvSpPr/>
          <p:nvPr/>
        </p:nvSpPr>
        <p:spPr>
          <a:xfrm>
            <a:off x="640080" y="218313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“just saw your post about”</a:t>
            </a:r>
            <a:endParaRPr lang="en-US" sz="1100" dirty="0"/>
          </a:p>
        </p:txBody>
      </p:sp>
      <p:sp>
        <p:nvSpPr>
          <p:cNvPr id="17" name="Text 15"/>
          <p:cNvSpPr/>
          <p:nvPr/>
        </p:nvSpPr>
        <p:spPr>
          <a:xfrm>
            <a:off x="4754880" y="2183130"/>
            <a:ext cx="1005840" cy="320612"/>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+7.6 pp</a:t>
            </a:r>
            <a:endParaRPr lang="en-US" sz="1200" dirty="0"/>
          </a:p>
        </p:txBody>
      </p:sp>
      <p:sp>
        <p:nvSpPr>
          <p:cNvPr id="18" name="Text 16"/>
          <p:cNvSpPr/>
          <p:nvPr/>
        </p:nvSpPr>
        <p:spPr>
          <a:xfrm>
            <a:off x="640080" y="247459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15.9%  ·  Without: 3.4%  ·  n=2,158</a:t>
            </a:r>
            <a:endParaRPr lang="en-US" sz="850" dirty="0"/>
          </a:p>
        </p:txBody>
      </p:sp>
      <p:sp>
        <p:nvSpPr>
          <p:cNvPr id="19" name="Shape 17"/>
          <p:cNvSpPr/>
          <p:nvPr/>
        </p:nvSpPr>
        <p:spPr>
          <a:xfrm>
            <a:off x="457200" y="2766060"/>
            <a:ext cx="54864" cy="491490"/>
          </a:xfrm>
          <a:prstGeom prst="rect">
            <a:avLst/>
          </a:prstGeom>
          <a:solidFill>
            <a:srgbClr val="10B981"/>
          </a:solidFill>
          <a:ln/>
        </p:spPr>
      </p:sp>
      <p:sp>
        <p:nvSpPr>
          <p:cNvPr id="20" name="Text 18"/>
          <p:cNvSpPr/>
          <p:nvPr/>
        </p:nvSpPr>
        <p:spPr>
          <a:xfrm>
            <a:off x="640080" y="276606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“just saw your”</a:t>
            </a:r>
            <a:endParaRPr lang="en-US" sz="1100" dirty="0"/>
          </a:p>
        </p:txBody>
      </p:sp>
      <p:sp>
        <p:nvSpPr>
          <p:cNvPr id="21" name="Text 19"/>
          <p:cNvSpPr/>
          <p:nvPr/>
        </p:nvSpPr>
        <p:spPr>
          <a:xfrm>
            <a:off x="4754880" y="2766060"/>
            <a:ext cx="1005840" cy="320612"/>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+7.4 pp</a:t>
            </a:r>
            <a:endParaRPr lang="en-US" sz="1200" dirty="0"/>
          </a:p>
        </p:txBody>
      </p:sp>
      <p:sp>
        <p:nvSpPr>
          <p:cNvPr id="22" name="Text 20"/>
          <p:cNvSpPr/>
          <p:nvPr/>
        </p:nvSpPr>
        <p:spPr>
          <a:xfrm>
            <a:off x="640080" y="305752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15.7%  ·  Without: 3.4%  ·  n=2,300</a:t>
            </a:r>
            <a:endParaRPr lang="en-US" sz="850" dirty="0"/>
          </a:p>
        </p:txBody>
      </p:sp>
      <p:sp>
        <p:nvSpPr>
          <p:cNvPr id="23" name="Shape 21"/>
          <p:cNvSpPr/>
          <p:nvPr/>
        </p:nvSpPr>
        <p:spPr>
          <a:xfrm>
            <a:off x="457200" y="3348990"/>
            <a:ext cx="54864" cy="491490"/>
          </a:xfrm>
          <a:prstGeom prst="rect">
            <a:avLst/>
          </a:prstGeom>
          <a:solidFill>
            <a:srgbClr val="10B981"/>
          </a:solidFill>
          <a:ln/>
        </p:spPr>
      </p:sp>
      <p:sp>
        <p:nvSpPr>
          <p:cNvPr id="24" name="Text 22"/>
          <p:cNvSpPr/>
          <p:nvPr/>
        </p:nvSpPr>
        <p:spPr>
          <a:xfrm>
            <a:off x="640080" y="334899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“just saw your post”</a:t>
            </a:r>
            <a:endParaRPr lang="en-US" sz="1100" dirty="0"/>
          </a:p>
        </p:txBody>
      </p:sp>
      <p:sp>
        <p:nvSpPr>
          <p:cNvPr id="25" name="Text 23"/>
          <p:cNvSpPr/>
          <p:nvPr/>
        </p:nvSpPr>
        <p:spPr>
          <a:xfrm>
            <a:off x="4754880" y="3348990"/>
            <a:ext cx="1005840" cy="320612"/>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+7.4 pp</a:t>
            </a:r>
            <a:endParaRPr lang="en-US" sz="1200" dirty="0"/>
          </a:p>
        </p:txBody>
      </p:sp>
      <p:sp>
        <p:nvSpPr>
          <p:cNvPr id="26" name="Text 24"/>
          <p:cNvSpPr/>
          <p:nvPr/>
        </p:nvSpPr>
        <p:spPr>
          <a:xfrm>
            <a:off x="640080" y="364045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15.7%  ·  Without: 3.4%  ·  n=2,279</a:t>
            </a:r>
            <a:endParaRPr lang="en-US" sz="850" dirty="0"/>
          </a:p>
        </p:txBody>
      </p:sp>
      <p:sp>
        <p:nvSpPr>
          <p:cNvPr id="27" name="Shape 25"/>
          <p:cNvSpPr/>
          <p:nvPr/>
        </p:nvSpPr>
        <p:spPr>
          <a:xfrm>
            <a:off x="457200" y="3931920"/>
            <a:ext cx="54864" cy="491490"/>
          </a:xfrm>
          <a:prstGeom prst="rect">
            <a:avLst/>
          </a:prstGeom>
          <a:solidFill>
            <a:srgbClr val="10B981"/>
          </a:solidFill>
          <a:ln/>
        </p:spPr>
      </p:sp>
      <p:sp>
        <p:nvSpPr>
          <p:cNvPr id="28" name="Text 26"/>
          <p:cNvSpPr/>
          <p:nvPr/>
        </p:nvSpPr>
        <p:spPr>
          <a:xfrm>
            <a:off x="640080" y="393192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“just saw”</a:t>
            </a:r>
            <a:endParaRPr lang="en-US" sz="1100" dirty="0"/>
          </a:p>
        </p:txBody>
      </p:sp>
      <p:sp>
        <p:nvSpPr>
          <p:cNvPr id="29" name="Text 27"/>
          <p:cNvSpPr/>
          <p:nvPr/>
        </p:nvSpPr>
        <p:spPr>
          <a:xfrm>
            <a:off x="4754880" y="3931920"/>
            <a:ext cx="1005840" cy="320612"/>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+7.0 pp</a:t>
            </a:r>
            <a:endParaRPr lang="en-US" sz="1200" dirty="0"/>
          </a:p>
        </p:txBody>
      </p:sp>
      <p:sp>
        <p:nvSpPr>
          <p:cNvPr id="30" name="Text 28"/>
          <p:cNvSpPr/>
          <p:nvPr/>
        </p:nvSpPr>
        <p:spPr>
          <a:xfrm>
            <a:off x="640080" y="422338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15.1%  ·  Without: 3.4%  ·  n=2,444</a:t>
            </a:r>
            <a:endParaRPr lang="en-US" sz="850" dirty="0"/>
          </a:p>
        </p:txBody>
      </p:sp>
      <p:sp>
        <p:nvSpPr>
          <p:cNvPr id="31" name="Shape 29"/>
          <p:cNvSpPr/>
          <p:nvPr/>
        </p:nvSpPr>
        <p:spPr>
          <a:xfrm>
            <a:off x="457200" y="4514850"/>
            <a:ext cx="54864" cy="491490"/>
          </a:xfrm>
          <a:prstGeom prst="rect">
            <a:avLst/>
          </a:prstGeom>
          <a:solidFill>
            <a:srgbClr val="10B981"/>
          </a:solidFill>
          <a:ln/>
        </p:spPr>
      </p:sp>
      <p:sp>
        <p:nvSpPr>
          <p:cNvPr id="32" name="Text 30"/>
          <p:cNvSpPr/>
          <p:nvPr/>
        </p:nvSpPr>
        <p:spPr>
          <a:xfrm>
            <a:off x="640080" y="451485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“saw your post about”</a:t>
            </a:r>
            <a:endParaRPr lang="en-US" sz="1100" dirty="0"/>
          </a:p>
        </p:txBody>
      </p:sp>
      <p:sp>
        <p:nvSpPr>
          <p:cNvPr id="33" name="Text 31"/>
          <p:cNvSpPr/>
          <p:nvPr/>
        </p:nvSpPr>
        <p:spPr>
          <a:xfrm>
            <a:off x="4754880" y="4514850"/>
            <a:ext cx="1005840" cy="320612"/>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+5.0 pp</a:t>
            </a:r>
            <a:endParaRPr lang="en-US" sz="1200" dirty="0"/>
          </a:p>
        </p:txBody>
      </p:sp>
      <p:sp>
        <p:nvSpPr>
          <p:cNvPr id="34" name="Text 32"/>
          <p:cNvSpPr/>
          <p:nvPr/>
        </p:nvSpPr>
        <p:spPr>
          <a:xfrm>
            <a:off x="640080" y="480631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11.9%  ·  Without: 3.3%  ·  n=3,754</a:t>
            </a:r>
            <a:endParaRPr lang="en-US" sz="850" dirty="0"/>
          </a:p>
        </p:txBody>
      </p:sp>
      <p:sp>
        <p:nvSpPr>
          <p:cNvPr id="35" name="Shape 33"/>
          <p:cNvSpPr/>
          <p:nvPr/>
        </p:nvSpPr>
        <p:spPr>
          <a:xfrm>
            <a:off x="457200" y="5097780"/>
            <a:ext cx="54864" cy="491490"/>
          </a:xfrm>
          <a:prstGeom prst="rect">
            <a:avLst/>
          </a:prstGeom>
          <a:solidFill>
            <a:srgbClr val="10B981"/>
          </a:solidFill>
          <a:ln/>
        </p:spPr>
      </p:sp>
      <p:sp>
        <p:nvSpPr>
          <p:cNvPr id="36" name="Text 34"/>
          <p:cNvSpPr/>
          <p:nvPr/>
        </p:nvSpPr>
        <p:spPr>
          <a:xfrm>
            <a:off x="640080" y="509778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“your post about”</a:t>
            </a:r>
            <a:endParaRPr lang="en-US" sz="1100" dirty="0"/>
          </a:p>
        </p:txBody>
      </p:sp>
      <p:sp>
        <p:nvSpPr>
          <p:cNvPr id="37" name="Text 35"/>
          <p:cNvSpPr/>
          <p:nvPr/>
        </p:nvSpPr>
        <p:spPr>
          <a:xfrm>
            <a:off x="4754880" y="5097780"/>
            <a:ext cx="1005840" cy="320612"/>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+3.9 pp</a:t>
            </a:r>
            <a:endParaRPr lang="en-US" sz="1200" dirty="0"/>
          </a:p>
        </p:txBody>
      </p:sp>
      <p:sp>
        <p:nvSpPr>
          <p:cNvPr id="38" name="Text 36"/>
          <p:cNvSpPr/>
          <p:nvPr/>
        </p:nvSpPr>
        <p:spPr>
          <a:xfrm>
            <a:off x="640080" y="538924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10.3%  ·  Without: 3.2%  ·  n=4,928</a:t>
            </a:r>
            <a:endParaRPr lang="en-US" sz="850" dirty="0"/>
          </a:p>
        </p:txBody>
      </p:sp>
      <p:sp>
        <p:nvSpPr>
          <p:cNvPr id="39" name="Shape 37"/>
          <p:cNvSpPr/>
          <p:nvPr/>
        </p:nvSpPr>
        <p:spPr>
          <a:xfrm>
            <a:off x="457200" y="5680710"/>
            <a:ext cx="54864" cy="491490"/>
          </a:xfrm>
          <a:prstGeom prst="rect">
            <a:avLst/>
          </a:prstGeom>
          <a:solidFill>
            <a:srgbClr val="10B981"/>
          </a:solidFill>
          <a:ln/>
        </p:spPr>
      </p:sp>
      <p:sp>
        <p:nvSpPr>
          <p:cNvPr id="40" name="Text 38"/>
          <p:cNvSpPr/>
          <p:nvPr/>
        </p:nvSpPr>
        <p:spPr>
          <a:xfrm>
            <a:off x="640080" y="568071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“post about”</a:t>
            </a:r>
            <a:endParaRPr lang="en-US" sz="1100" dirty="0"/>
          </a:p>
        </p:txBody>
      </p:sp>
      <p:sp>
        <p:nvSpPr>
          <p:cNvPr id="41" name="Text 39"/>
          <p:cNvSpPr/>
          <p:nvPr/>
        </p:nvSpPr>
        <p:spPr>
          <a:xfrm>
            <a:off x="4754880" y="5680710"/>
            <a:ext cx="1005840" cy="320612"/>
          </a:xfrm>
          <a:prstGeom prst="rect">
            <a:avLst/>
          </a:prstGeom>
          <a:noFill/>
          <a:ln/>
        </p:spPr>
        <p:txBody>
          <a:bodyPr wrap="square" rtlCol="0" anchor="ctr"/>
          <a:lstStyle/>
          <a:p>
            <a:pPr algn="r" indent="0" marL="0">
              <a:buNone/>
            </a:pPr>
            <a:r>
              <a:rPr lang="en-US" sz="1200" b="1" dirty="0">
                <a:solidFill>
                  <a:srgbClr val="10B981"/>
                </a:solidFill>
                <a:latin typeface="Calibri" pitchFamily="34" charset="0"/>
                <a:ea typeface="Calibri" pitchFamily="34" charset="-122"/>
                <a:cs typeface="Calibri" pitchFamily="34" charset="-120"/>
              </a:rPr>
              <a:t>+3.8 pp</a:t>
            </a:r>
            <a:endParaRPr lang="en-US" sz="1200" dirty="0"/>
          </a:p>
        </p:txBody>
      </p:sp>
      <p:sp>
        <p:nvSpPr>
          <p:cNvPr id="42" name="Text 40"/>
          <p:cNvSpPr/>
          <p:nvPr/>
        </p:nvSpPr>
        <p:spPr>
          <a:xfrm>
            <a:off x="640080" y="597217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10.0%  ·  Without: 3.1%  ·  n=5,575</a:t>
            </a:r>
            <a:endParaRPr lang="en-US" sz="850" dirty="0"/>
          </a:p>
        </p:txBody>
      </p:sp>
      <p:sp>
        <p:nvSpPr>
          <p:cNvPr id="43" name="Shape 41"/>
          <p:cNvSpPr/>
          <p:nvPr/>
        </p:nvSpPr>
        <p:spPr>
          <a:xfrm>
            <a:off x="6291072" y="1600200"/>
            <a:ext cx="54864" cy="491490"/>
          </a:xfrm>
          <a:prstGeom prst="rect">
            <a:avLst/>
          </a:prstGeom>
          <a:solidFill>
            <a:srgbClr val="EF4444"/>
          </a:solidFill>
          <a:ln/>
        </p:spPr>
      </p:sp>
      <p:sp>
        <p:nvSpPr>
          <p:cNvPr id="44" name="Text 42"/>
          <p:cNvSpPr/>
          <p:nvPr/>
        </p:nvSpPr>
        <p:spPr>
          <a:xfrm>
            <a:off x="6473952" y="160020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“atlanta”</a:t>
            </a:r>
            <a:endParaRPr lang="en-US" sz="1100" dirty="0"/>
          </a:p>
        </p:txBody>
      </p:sp>
      <p:sp>
        <p:nvSpPr>
          <p:cNvPr id="45" name="Text 43"/>
          <p:cNvSpPr/>
          <p:nvPr/>
        </p:nvSpPr>
        <p:spPr>
          <a:xfrm>
            <a:off x="10588752" y="1600200"/>
            <a:ext cx="1005840" cy="320612"/>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-3.6 pp</a:t>
            </a:r>
            <a:endParaRPr lang="en-US" sz="1200" dirty="0"/>
          </a:p>
        </p:txBody>
      </p:sp>
      <p:sp>
        <p:nvSpPr>
          <p:cNvPr id="46" name="Text 44"/>
          <p:cNvSpPr/>
          <p:nvPr/>
        </p:nvSpPr>
        <p:spPr>
          <a:xfrm>
            <a:off x="6473952" y="189166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0.7%  ·  Without: 4.2%  ·  n=1,668</a:t>
            </a:r>
            <a:endParaRPr lang="en-US" sz="850" dirty="0"/>
          </a:p>
        </p:txBody>
      </p:sp>
      <p:sp>
        <p:nvSpPr>
          <p:cNvPr id="47" name="Shape 45"/>
          <p:cNvSpPr/>
          <p:nvPr/>
        </p:nvSpPr>
        <p:spPr>
          <a:xfrm>
            <a:off x="6291072" y="2183130"/>
            <a:ext cx="54864" cy="491490"/>
          </a:xfrm>
          <a:prstGeom prst="rect">
            <a:avLst/>
          </a:prstGeom>
          <a:solidFill>
            <a:srgbClr val="EF4444"/>
          </a:solidFill>
          <a:ln/>
        </p:spPr>
      </p:sp>
      <p:sp>
        <p:nvSpPr>
          <p:cNvPr id="48" name="Text 46"/>
          <p:cNvSpPr/>
          <p:nvPr/>
        </p:nvSpPr>
        <p:spPr>
          <a:xfrm>
            <a:off x="6473952" y="218313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“in atlanta”</a:t>
            </a:r>
            <a:endParaRPr lang="en-US" sz="1100" dirty="0"/>
          </a:p>
        </p:txBody>
      </p:sp>
      <p:sp>
        <p:nvSpPr>
          <p:cNvPr id="49" name="Text 47"/>
          <p:cNvSpPr/>
          <p:nvPr/>
        </p:nvSpPr>
        <p:spPr>
          <a:xfrm>
            <a:off x="10588752" y="2183130"/>
            <a:ext cx="1005840" cy="320612"/>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-3.6 pp</a:t>
            </a:r>
            <a:endParaRPr lang="en-US" sz="1200" dirty="0"/>
          </a:p>
        </p:txBody>
      </p:sp>
      <p:sp>
        <p:nvSpPr>
          <p:cNvPr id="50" name="Text 48"/>
          <p:cNvSpPr/>
          <p:nvPr/>
        </p:nvSpPr>
        <p:spPr>
          <a:xfrm>
            <a:off x="6473952" y="247459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0.7%  ·  Without: 4.2%  ·  n=1,647</a:t>
            </a:r>
            <a:endParaRPr lang="en-US" sz="850" dirty="0"/>
          </a:p>
        </p:txBody>
      </p:sp>
      <p:sp>
        <p:nvSpPr>
          <p:cNvPr id="51" name="Shape 49"/>
          <p:cNvSpPr/>
          <p:nvPr/>
        </p:nvSpPr>
        <p:spPr>
          <a:xfrm>
            <a:off x="6291072" y="2766060"/>
            <a:ext cx="54864" cy="491490"/>
          </a:xfrm>
          <a:prstGeom prst="rect">
            <a:avLst/>
          </a:prstGeom>
          <a:solidFill>
            <a:srgbClr val="EF4444"/>
          </a:solidFill>
          <a:ln/>
        </p:spPr>
      </p:sp>
      <p:sp>
        <p:nvSpPr>
          <p:cNvPr id="52" name="Text 50"/>
          <p:cNvSpPr/>
          <p:nvPr/>
        </p:nvSpPr>
        <p:spPr>
          <a:xfrm>
            <a:off x="6473952" y="276606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“28 30 in”</a:t>
            </a:r>
            <a:endParaRPr lang="en-US" sz="1100" dirty="0"/>
          </a:p>
        </p:txBody>
      </p:sp>
      <p:sp>
        <p:nvSpPr>
          <p:cNvPr id="53" name="Text 51"/>
          <p:cNvSpPr/>
          <p:nvPr/>
        </p:nvSpPr>
        <p:spPr>
          <a:xfrm>
            <a:off x="10588752" y="2766060"/>
            <a:ext cx="1005840" cy="320612"/>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-3.6 pp</a:t>
            </a:r>
            <a:endParaRPr lang="en-US" sz="1200" dirty="0"/>
          </a:p>
        </p:txBody>
      </p:sp>
      <p:sp>
        <p:nvSpPr>
          <p:cNvPr id="54" name="Text 52"/>
          <p:cNvSpPr/>
          <p:nvPr/>
        </p:nvSpPr>
        <p:spPr>
          <a:xfrm>
            <a:off x="6473952" y="305752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0.7%  ·  Without: 4.2%  ·  n=1,634</a:t>
            </a:r>
            <a:endParaRPr lang="en-US" sz="850" dirty="0"/>
          </a:p>
        </p:txBody>
      </p:sp>
      <p:sp>
        <p:nvSpPr>
          <p:cNvPr id="55" name="Shape 53"/>
          <p:cNvSpPr/>
          <p:nvPr/>
        </p:nvSpPr>
        <p:spPr>
          <a:xfrm>
            <a:off x="6291072" y="3348990"/>
            <a:ext cx="54864" cy="491490"/>
          </a:xfrm>
          <a:prstGeom prst="rect">
            <a:avLst/>
          </a:prstGeom>
          <a:solidFill>
            <a:srgbClr val="EF4444"/>
          </a:solidFill>
          <a:ln/>
        </p:spPr>
      </p:sp>
      <p:sp>
        <p:nvSpPr>
          <p:cNvPr id="56" name="Text 54"/>
          <p:cNvSpPr/>
          <p:nvPr/>
        </p:nvSpPr>
        <p:spPr>
          <a:xfrm>
            <a:off x="6473952" y="334899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“28 30 in atlanta”</a:t>
            </a:r>
            <a:endParaRPr lang="en-US" sz="1100" dirty="0"/>
          </a:p>
        </p:txBody>
      </p:sp>
      <p:sp>
        <p:nvSpPr>
          <p:cNvPr id="57" name="Text 55"/>
          <p:cNvSpPr/>
          <p:nvPr/>
        </p:nvSpPr>
        <p:spPr>
          <a:xfrm>
            <a:off x="10588752" y="3348990"/>
            <a:ext cx="1005840" cy="320612"/>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-3.6 pp</a:t>
            </a:r>
            <a:endParaRPr lang="en-US" sz="1200" dirty="0"/>
          </a:p>
        </p:txBody>
      </p:sp>
      <p:sp>
        <p:nvSpPr>
          <p:cNvPr id="58" name="Text 56"/>
          <p:cNvSpPr/>
          <p:nvPr/>
        </p:nvSpPr>
        <p:spPr>
          <a:xfrm>
            <a:off x="6473952" y="364045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0.7%  ·  Without: 4.2%  ·  n=1,634</a:t>
            </a:r>
            <a:endParaRPr lang="en-US" sz="850" dirty="0"/>
          </a:p>
        </p:txBody>
      </p:sp>
      <p:sp>
        <p:nvSpPr>
          <p:cNvPr id="59" name="Shape 57"/>
          <p:cNvSpPr/>
          <p:nvPr/>
        </p:nvSpPr>
        <p:spPr>
          <a:xfrm>
            <a:off x="6291072" y="3931920"/>
            <a:ext cx="54864" cy="491490"/>
          </a:xfrm>
          <a:prstGeom prst="rect">
            <a:avLst/>
          </a:prstGeom>
          <a:solidFill>
            <a:srgbClr val="EF4444"/>
          </a:solidFill>
          <a:ln/>
        </p:spPr>
      </p:sp>
      <p:sp>
        <p:nvSpPr>
          <p:cNvPr id="60" name="Text 58"/>
          <p:cNvSpPr/>
          <p:nvPr/>
        </p:nvSpPr>
        <p:spPr>
          <a:xfrm>
            <a:off x="6473952" y="393192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“30 in”</a:t>
            </a:r>
            <a:endParaRPr lang="en-US" sz="1100" dirty="0"/>
          </a:p>
        </p:txBody>
      </p:sp>
      <p:sp>
        <p:nvSpPr>
          <p:cNvPr id="61" name="Text 59"/>
          <p:cNvSpPr/>
          <p:nvPr/>
        </p:nvSpPr>
        <p:spPr>
          <a:xfrm>
            <a:off x="10588752" y="3931920"/>
            <a:ext cx="1005840" cy="320612"/>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-3.6 pp</a:t>
            </a:r>
            <a:endParaRPr lang="en-US" sz="1200" dirty="0"/>
          </a:p>
        </p:txBody>
      </p:sp>
      <p:sp>
        <p:nvSpPr>
          <p:cNvPr id="62" name="Text 60"/>
          <p:cNvSpPr/>
          <p:nvPr/>
        </p:nvSpPr>
        <p:spPr>
          <a:xfrm>
            <a:off x="6473952" y="422338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0.7%  ·  Without: 4.2%  ·  n=1,634</a:t>
            </a:r>
            <a:endParaRPr lang="en-US" sz="850" dirty="0"/>
          </a:p>
        </p:txBody>
      </p:sp>
      <p:sp>
        <p:nvSpPr>
          <p:cNvPr id="63" name="Shape 61"/>
          <p:cNvSpPr/>
          <p:nvPr/>
        </p:nvSpPr>
        <p:spPr>
          <a:xfrm>
            <a:off x="6291072" y="4514850"/>
            <a:ext cx="54864" cy="491490"/>
          </a:xfrm>
          <a:prstGeom prst="rect">
            <a:avLst/>
          </a:prstGeom>
          <a:solidFill>
            <a:srgbClr val="EF4444"/>
          </a:solidFill>
          <a:ln/>
        </p:spPr>
      </p:sp>
      <p:sp>
        <p:nvSpPr>
          <p:cNvPr id="64" name="Text 62"/>
          <p:cNvSpPr/>
          <p:nvPr/>
        </p:nvSpPr>
        <p:spPr>
          <a:xfrm>
            <a:off x="6473952" y="451485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“30 in atlanta”</a:t>
            </a:r>
            <a:endParaRPr lang="en-US" sz="1100" dirty="0"/>
          </a:p>
        </p:txBody>
      </p:sp>
      <p:sp>
        <p:nvSpPr>
          <p:cNvPr id="65" name="Text 63"/>
          <p:cNvSpPr/>
          <p:nvPr/>
        </p:nvSpPr>
        <p:spPr>
          <a:xfrm>
            <a:off x="10588752" y="4514850"/>
            <a:ext cx="1005840" cy="320612"/>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-3.6 pp</a:t>
            </a:r>
            <a:endParaRPr lang="en-US" sz="1200" dirty="0"/>
          </a:p>
        </p:txBody>
      </p:sp>
      <p:sp>
        <p:nvSpPr>
          <p:cNvPr id="66" name="Text 64"/>
          <p:cNvSpPr/>
          <p:nvPr/>
        </p:nvSpPr>
        <p:spPr>
          <a:xfrm>
            <a:off x="6473952" y="480631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0.7%  ·  Without: 4.2%  ·  n=1,634</a:t>
            </a:r>
            <a:endParaRPr lang="en-US" sz="850" dirty="0"/>
          </a:p>
        </p:txBody>
      </p:sp>
      <p:sp>
        <p:nvSpPr>
          <p:cNvPr id="67" name="Shape 65"/>
          <p:cNvSpPr/>
          <p:nvPr/>
        </p:nvSpPr>
        <p:spPr>
          <a:xfrm>
            <a:off x="6291072" y="5097780"/>
            <a:ext cx="54864" cy="491490"/>
          </a:xfrm>
          <a:prstGeom prst="rect">
            <a:avLst/>
          </a:prstGeom>
          <a:solidFill>
            <a:srgbClr val="EF4444"/>
          </a:solidFill>
          <a:ln/>
        </p:spPr>
      </p:sp>
      <p:sp>
        <p:nvSpPr>
          <p:cNvPr id="68" name="Text 66"/>
          <p:cNvSpPr/>
          <p:nvPr/>
        </p:nvSpPr>
        <p:spPr>
          <a:xfrm>
            <a:off x="6473952" y="509778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“we're hosting”</a:t>
            </a:r>
            <a:endParaRPr lang="en-US" sz="1100" dirty="0"/>
          </a:p>
        </p:txBody>
      </p:sp>
      <p:sp>
        <p:nvSpPr>
          <p:cNvPr id="69" name="Text 67"/>
          <p:cNvSpPr/>
          <p:nvPr/>
        </p:nvSpPr>
        <p:spPr>
          <a:xfrm>
            <a:off x="10588752" y="5097780"/>
            <a:ext cx="1005840" cy="320612"/>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-3.5 pp</a:t>
            </a:r>
            <a:endParaRPr lang="en-US" sz="1200" dirty="0"/>
          </a:p>
        </p:txBody>
      </p:sp>
      <p:sp>
        <p:nvSpPr>
          <p:cNvPr id="70" name="Text 68"/>
          <p:cNvSpPr/>
          <p:nvPr/>
        </p:nvSpPr>
        <p:spPr>
          <a:xfrm>
            <a:off x="6473952" y="538924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1.1%  ·  Without: 4.2%  ·  n=1,869</a:t>
            </a:r>
            <a:endParaRPr lang="en-US" sz="850" dirty="0"/>
          </a:p>
        </p:txBody>
      </p:sp>
      <p:sp>
        <p:nvSpPr>
          <p:cNvPr id="71" name="Shape 69"/>
          <p:cNvSpPr/>
          <p:nvPr/>
        </p:nvSpPr>
        <p:spPr>
          <a:xfrm>
            <a:off x="6291072" y="5680710"/>
            <a:ext cx="54864" cy="491490"/>
          </a:xfrm>
          <a:prstGeom prst="rect">
            <a:avLst/>
          </a:prstGeom>
          <a:solidFill>
            <a:srgbClr val="EF4444"/>
          </a:solidFill>
          <a:ln/>
        </p:spPr>
      </p:sp>
      <p:sp>
        <p:nvSpPr>
          <p:cNvPr id="72" name="Text 70"/>
          <p:cNvSpPr/>
          <p:nvPr/>
        </p:nvSpPr>
        <p:spPr>
          <a:xfrm>
            <a:off x="6473952" y="5680710"/>
            <a:ext cx="4160520" cy="320612"/>
          </a:xfrm>
          <a:prstGeom prst="rect">
            <a:avLst/>
          </a:prstGeom>
          <a:noFill/>
          <a:ln/>
        </p:spPr>
        <p:txBody>
          <a:bodyPr wrap="square" rtlCol="0" anchor="ctr">
            <a:normAutofit/>
          </a:bodyPr>
          <a:lstStyle/>
          <a:p>
            <a:pPr indent="0" marL="0">
              <a:buNone/>
            </a:pPr>
            <a:r>
              <a:rPr lang="en-US" sz="1100" b="1" i="1" dirty="0">
                <a:solidFill>
                  <a:srgbClr val="1F2937"/>
                </a:solidFill>
                <a:latin typeface="Calibri" pitchFamily="34" charset="0"/>
                <a:ea typeface="Calibri" pitchFamily="34" charset="-122"/>
                <a:cs typeface="Calibri" pitchFamily="34" charset="-120"/>
              </a:rPr>
              <a:t>“28 30”</a:t>
            </a:r>
            <a:endParaRPr lang="en-US" sz="1100" dirty="0"/>
          </a:p>
        </p:txBody>
      </p:sp>
      <p:sp>
        <p:nvSpPr>
          <p:cNvPr id="73" name="Text 71"/>
          <p:cNvSpPr/>
          <p:nvPr/>
        </p:nvSpPr>
        <p:spPr>
          <a:xfrm>
            <a:off x="10588752" y="5680710"/>
            <a:ext cx="1005840" cy="320612"/>
          </a:xfrm>
          <a:prstGeom prst="rect">
            <a:avLst/>
          </a:prstGeom>
          <a:noFill/>
          <a:ln/>
        </p:spPr>
        <p:txBody>
          <a:bodyPr wrap="square" rtlCol="0" anchor="ctr"/>
          <a:lstStyle/>
          <a:p>
            <a:pPr algn="r" indent="0" marL="0">
              <a:buNone/>
            </a:pPr>
            <a:r>
              <a:rPr lang="en-US" sz="1200" b="1" dirty="0">
                <a:solidFill>
                  <a:srgbClr val="EF4444"/>
                </a:solidFill>
                <a:latin typeface="Calibri" pitchFamily="34" charset="0"/>
                <a:ea typeface="Calibri" pitchFamily="34" charset="-122"/>
                <a:cs typeface="Calibri" pitchFamily="34" charset="-120"/>
              </a:rPr>
              <a:t>-3.5 pp</a:t>
            </a:r>
            <a:endParaRPr lang="en-US" sz="1200" dirty="0"/>
          </a:p>
        </p:txBody>
      </p:sp>
      <p:sp>
        <p:nvSpPr>
          <p:cNvPr id="74" name="Text 72"/>
          <p:cNvSpPr/>
          <p:nvPr/>
        </p:nvSpPr>
        <p:spPr>
          <a:xfrm>
            <a:off x="6473952" y="5972175"/>
            <a:ext cx="5074920" cy="244831"/>
          </a:xfrm>
          <a:prstGeom prst="rect">
            <a:avLst/>
          </a:prstGeom>
          <a:noFill/>
          <a:ln/>
        </p:spPr>
        <p:txBody>
          <a:bodyPr wrap="square" rtlCol="0" anchor="ctr"/>
          <a:lstStyle/>
          <a:p>
            <a:pPr indent="0" marL="0">
              <a:buNone/>
            </a:pPr>
            <a:r>
              <a:rPr lang="en-US" sz="850" dirty="0">
                <a:solidFill>
                  <a:srgbClr val="4B5563"/>
                </a:solidFill>
                <a:latin typeface="Calibri" pitchFamily="34" charset="0"/>
                <a:ea typeface="Calibri" pitchFamily="34" charset="-122"/>
                <a:cs typeface="Calibri" pitchFamily="34" charset="-120"/>
              </a:rPr>
              <a:t>With: 0.8%  ·  Without: 4.2%  ·  n=1,721</a:t>
            </a:r>
            <a:endParaRPr lang="en-US" sz="850" dirty="0"/>
          </a:p>
        </p:txBody>
      </p:sp>
      <p:sp>
        <p:nvSpPr>
          <p:cNvPr id="75" name="Text 73"/>
          <p:cNvSpPr/>
          <p:nvPr/>
        </p:nvSpPr>
        <p:spPr>
          <a:xfrm>
            <a:off x="457200" y="6281928"/>
            <a:ext cx="11274552" cy="182880"/>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Showing the top 8 of each — see the full list on the site.</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REAL EXAMPLES</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Meetings Won</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
        <p:nvSpPr>
          <p:cNvPr id="9" name="Text 7"/>
          <p:cNvSpPr/>
          <p:nvPr/>
        </p:nvSpPr>
        <p:spPr>
          <a:xfrm>
            <a:off x="457200" y="1188720"/>
            <a:ext cx="11274552" cy="274320"/>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Real prospect names and message excerpts — for internal review only.</a:t>
            </a:r>
            <a:endParaRPr lang="en-US" sz="950" dirty="0"/>
          </a:p>
        </p:txBody>
      </p:sp>
      <p:sp>
        <p:nvSpPr>
          <p:cNvPr id="10" name="Shape 8"/>
          <p:cNvSpPr/>
          <p:nvPr/>
        </p:nvSpPr>
        <p:spPr>
          <a:xfrm>
            <a:off x="457200" y="1600200"/>
            <a:ext cx="3544824" cy="4480560"/>
          </a:xfrm>
          <a:prstGeom prst="roundRect">
            <a:avLst>
              <a:gd name="adj" fmla="val 645"/>
            </a:avLst>
          </a:prstGeom>
          <a:solidFill>
            <a:srgbClr val="F8FAFC"/>
          </a:solidFill>
          <a:ln w="12700">
            <a:solidFill>
              <a:srgbClr val="E5E7EB"/>
            </a:solidFill>
            <a:prstDash val="solid"/>
          </a:ln>
        </p:spPr>
      </p:sp>
      <p:sp>
        <p:nvSpPr>
          <p:cNvPr id="11" name="Text 9"/>
          <p:cNvSpPr/>
          <p:nvPr/>
        </p:nvSpPr>
        <p:spPr>
          <a:xfrm>
            <a:off x="548640" y="1554480"/>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12" name="Text 10"/>
          <p:cNvSpPr/>
          <p:nvPr/>
        </p:nvSpPr>
        <p:spPr>
          <a:xfrm>
            <a:off x="777240" y="1874520"/>
            <a:ext cx="2904744"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Apurva Desai</a:t>
            </a:r>
            <a:endParaRPr lang="en-US" sz="1500" dirty="0"/>
          </a:p>
        </p:txBody>
      </p:sp>
      <p:sp>
        <p:nvSpPr>
          <p:cNvPr id="13" name="Text 11"/>
          <p:cNvSpPr/>
          <p:nvPr/>
        </p:nvSpPr>
        <p:spPr>
          <a:xfrm>
            <a:off x="777240" y="2221992"/>
            <a:ext cx="2904744"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Partner @ Interstate Fusion Ventures</a:t>
            </a:r>
            <a:endParaRPr lang="en-US" sz="1100" dirty="0"/>
          </a:p>
        </p:txBody>
      </p:sp>
      <p:sp>
        <p:nvSpPr>
          <p:cNvPr id="14" name="Text 12"/>
          <p:cNvSpPr/>
          <p:nvPr/>
        </p:nvSpPr>
        <p:spPr>
          <a:xfrm>
            <a:off x="777240" y="2651760"/>
            <a:ext cx="2904744" cy="3108960"/>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about Dina's milestone - sounds like a big moment for the team you helped build. We're exploring funding partners, would love to connect.</a:t>
            </a:r>
            <a:endParaRPr lang="en-US" sz="1300" dirty="0"/>
          </a:p>
        </p:txBody>
      </p:sp>
      <p:sp>
        <p:nvSpPr>
          <p:cNvPr id="15" name="Shape 13"/>
          <p:cNvSpPr/>
          <p:nvPr/>
        </p:nvSpPr>
        <p:spPr>
          <a:xfrm>
            <a:off x="4322064" y="1600200"/>
            <a:ext cx="3544824" cy="4480560"/>
          </a:xfrm>
          <a:prstGeom prst="roundRect">
            <a:avLst>
              <a:gd name="adj" fmla="val 645"/>
            </a:avLst>
          </a:prstGeom>
          <a:solidFill>
            <a:srgbClr val="F8FAFC"/>
          </a:solidFill>
          <a:ln w="12700">
            <a:solidFill>
              <a:srgbClr val="E5E7EB"/>
            </a:solidFill>
            <a:prstDash val="solid"/>
          </a:ln>
        </p:spPr>
      </p:sp>
      <p:sp>
        <p:nvSpPr>
          <p:cNvPr id="16" name="Text 14"/>
          <p:cNvSpPr/>
          <p:nvPr/>
        </p:nvSpPr>
        <p:spPr>
          <a:xfrm>
            <a:off x="4413504" y="1554480"/>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17" name="Text 15"/>
          <p:cNvSpPr/>
          <p:nvPr/>
        </p:nvSpPr>
        <p:spPr>
          <a:xfrm>
            <a:off x="4642104" y="1874520"/>
            <a:ext cx="2904744"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Bryan Hunt, CFA</a:t>
            </a:r>
            <a:endParaRPr lang="en-US" sz="1500" dirty="0"/>
          </a:p>
        </p:txBody>
      </p:sp>
      <p:sp>
        <p:nvSpPr>
          <p:cNvPr id="18" name="Text 16"/>
          <p:cNvSpPr/>
          <p:nvPr/>
        </p:nvSpPr>
        <p:spPr>
          <a:xfrm>
            <a:off x="4642104" y="2221992"/>
            <a:ext cx="2904744"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Board Member @ Sezzle</a:t>
            </a:r>
            <a:endParaRPr lang="en-US" sz="1100" dirty="0"/>
          </a:p>
        </p:txBody>
      </p:sp>
      <p:sp>
        <p:nvSpPr>
          <p:cNvPr id="19" name="Text 17"/>
          <p:cNvSpPr/>
          <p:nvPr/>
        </p:nvSpPr>
        <p:spPr>
          <a:xfrm>
            <a:off x="4642104" y="2651760"/>
            <a:ext cx="2904744" cy="3108960"/>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about better healthcare over more. That shift in focus is exactly what the system needs to improve outcomes. We are exploring funding partners and would be excited to connect.</a:t>
            </a:r>
            <a:endParaRPr lang="en-US" sz="1300" dirty="0"/>
          </a:p>
        </p:txBody>
      </p:sp>
      <p:sp>
        <p:nvSpPr>
          <p:cNvPr id="20" name="Shape 18"/>
          <p:cNvSpPr/>
          <p:nvPr/>
        </p:nvSpPr>
        <p:spPr>
          <a:xfrm>
            <a:off x="8186928" y="1600200"/>
            <a:ext cx="3544824" cy="4480560"/>
          </a:xfrm>
          <a:prstGeom prst="roundRect">
            <a:avLst>
              <a:gd name="adj" fmla="val 645"/>
            </a:avLst>
          </a:prstGeom>
          <a:solidFill>
            <a:srgbClr val="F8FAFC"/>
          </a:solidFill>
          <a:ln w="12700">
            <a:solidFill>
              <a:srgbClr val="E5E7EB"/>
            </a:solidFill>
            <a:prstDash val="solid"/>
          </a:ln>
        </p:spPr>
      </p:sp>
      <p:sp>
        <p:nvSpPr>
          <p:cNvPr id="21" name="Text 19"/>
          <p:cNvSpPr/>
          <p:nvPr/>
        </p:nvSpPr>
        <p:spPr>
          <a:xfrm>
            <a:off x="8278368" y="1554480"/>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22" name="Text 20"/>
          <p:cNvSpPr/>
          <p:nvPr/>
        </p:nvSpPr>
        <p:spPr>
          <a:xfrm>
            <a:off x="8506968" y="1874520"/>
            <a:ext cx="2904744"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Martial TRIGEAUD</a:t>
            </a:r>
            <a:endParaRPr lang="en-US" sz="1500" dirty="0"/>
          </a:p>
        </p:txBody>
      </p:sp>
      <p:sp>
        <p:nvSpPr>
          <p:cNvPr id="23" name="Text 21"/>
          <p:cNvSpPr/>
          <p:nvPr/>
        </p:nvSpPr>
        <p:spPr>
          <a:xfrm>
            <a:off x="8506968" y="2221992"/>
            <a:ext cx="2904744"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Board Member @ TIME Bicycles</a:t>
            </a:r>
            <a:endParaRPr lang="en-US" sz="1100" dirty="0"/>
          </a:p>
        </p:txBody>
      </p:sp>
      <p:sp>
        <p:nvSpPr>
          <p:cNvPr id="24" name="Text 22"/>
          <p:cNvSpPr/>
          <p:nvPr/>
        </p:nvSpPr>
        <p:spPr>
          <a:xfrm>
            <a:off x="8506968" y="2651760"/>
            <a:ext cx="2904744" cy="3108960"/>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about speaking at Eurobike on the Arkansas Global Cycling Accelerator - interesting mix of health and innovation. We're exploring funding partners, would love to connect.</a:t>
            </a:r>
            <a:endParaRPr lang="en-US" sz="1300" dirty="0"/>
          </a:p>
        </p:txBody>
      </p:sp>
      <p:sp>
        <p:nvSpPr>
          <p:cNvPr id="25" name="Text 23"/>
          <p:cNvSpPr/>
          <p:nvPr/>
        </p:nvSpPr>
        <p:spPr>
          <a:xfrm>
            <a:off x="457200" y="6126480"/>
            <a:ext cx="11274552" cy="182880"/>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Showing 3 of 5 — see the rest on the site.</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0F172A"/>
          </a:solidFill>
          <a:ln/>
        </p:spPr>
      </p:sp>
      <p:sp>
        <p:nvSpPr>
          <p:cNvPr id="3" name="Shape 1"/>
          <p:cNvSpPr/>
          <p:nvPr/>
        </p:nvSpPr>
        <p:spPr>
          <a:xfrm>
            <a:off x="0" y="960120"/>
            <a:ext cx="12188952" cy="45720"/>
          </a:xfrm>
          <a:prstGeom prst="rect">
            <a:avLst/>
          </a:prstGeom>
          <a:solidFill>
            <a:srgbClr val="0077B5"/>
          </a:solidFill>
          <a:ln/>
        </p:spPr>
      </p:sp>
      <p:sp>
        <p:nvSpPr>
          <p:cNvPr id="4" name="Text 2"/>
          <p:cNvSpPr/>
          <p:nvPr/>
        </p:nvSpPr>
        <p:spPr>
          <a:xfrm>
            <a:off x="502920" y="146304"/>
            <a:ext cx="10972800" cy="237744"/>
          </a:xfrm>
          <a:prstGeom prst="rect">
            <a:avLst/>
          </a:prstGeom>
          <a:noFill/>
          <a:ln/>
        </p:spPr>
        <p:txBody>
          <a:bodyPr wrap="square" rtlCol="0" anchor="ctr"/>
          <a:lstStyle/>
          <a:p>
            <a:pPr indent="0" marL="0">
              <a:buNone/>
            </a:pPr>
            <a:r>
              <a:rPr lang="en-US" sz="1100" b="1" spc="100" kern="0" dirty="0">
                <a:solidFill>
                  <a:srgbClr val="5EC2EE"/>
                </a:solidFill>
                <a:latin typeface="Calibri" pitchFamily="34" charset="0"/>
                <a:ea typeface="Calibri" pitchFamily="34" charset="-122"/>
                <a:cs typeface="Calibri" pitchFamily="34" charset="-120"/>
              </a:rPr>
              <a:t>REAL EXAMPLES</a:t>
            </a:r>
            <a:endParaRPr lang="en-US" sz="1100" dirty="0"/>
          </a:p>
        </p:txBody>
      </p:sp>
      <p:sp>
        <p:nvSpPr>
          <p:cNvPr id="5" name="Text 3"/>
          <p:cNvSpPr/>
          <p:nvPr/>
        </p:nvSpPr>
        <p:spPr>
          <a:xfrm>
            <a:off x="502920" y="384048"/>
            <a:ext cx="11155680" cy="502920"/>
          </a:xfrm>
          <a:prstGeom prst="rect">
            <a:avLst/>
          </a:prstGeom>
          <a:noFill/>
          <a:ln/>
        </p:spPr>
        <p:txBody>
          <a:bodyPr wrap="square" rtlCol="0" anchor="ctr">
            <a:normAutofit/>
          </a:bodyPr>
          <a:lstStyle/>
          <a:p>
            <a:pPr indent="0" marL="0">
              <a:buNone/>
            </a:pPr>
            <a:r>
              <a:rPr lang="en-US" sz="2300" b="1" dirty="0">
                <a:solidFill>
                  <a:srgbClr val="FFFFFF"/>
                </a:solidFill>
                <a:latin typeface="Calibri" pitchFamily="34" charset="0"/>
                <a:ea typeface="Calibri" pitchFamily="34" charset="-122"/>
                <a:cs typeface="Calibri" pitchFamily="34" charset="-120"/>
              </a:rPr>
              <a:t>High-Potential — Connected, Not Yet Scheduled</a:t>
            </a:r>
            <a:endParaRPr lang="en-US" sz="2300" dirty="0"/>
          </a:p>
        </p:txBody>
      </p:sp>
      <p:sp>
        <p:nvSpPr>
          <p:cNvPr id="6" name="Shape 4"/>
          <p:cNvSpPr/>
          <p:nvPr/>
        </p:nvSpPr>
        <p:spPr>
          <a:xfrm>
            <a:off x="457200" y="6455664"/>
            <a:ext cx="11274552" cy="10973"/>
          </a:xfrm>
          <a:prstGeom prst="rect">
            <a:avLst/>
          </a:prstGeom>
          <a:solidFill>
            <a:srgbClr val="E5E7EB"/>
          </a:solidFill>
          <a:ln/>
        </p:spPr>
      </p:sp>
      <p:sp>
        <p:nvSpPr>
          <p:cNvPr id="7" name="Text 5"/>
          <p:cNvSpPr/>
          <p:nvPr/>
        </p:nvSpPr>
        <p:spPr>
          <a:xfrm>
            <a:off x="457200" y="6492240"/>
            <a:ext cx="9144000" cy="256032"/>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Overall — All Clients  ·  HealthLuminate Connect Analysis  ·  Run: Jul 23, 2026</a:t>
            </a:r>
            <a:endParaRPr lang="en-US" sz="900" dirty="0"/>
          </a:p>
        </p:txBody>
      </p:sp>
      <p:sp>
        <p:nvSpPr>
          <p:cNvPr id="8" name="Text 6"/>
          <p:cNvSpPr/>
          <p:nvPr/>
        </p:nvSpPr>
        <p:spPr>
          <a:xfrm>
            <a:off x="11274552" y="6492240"/>
            <a:ext cx="457200" cy="256032"/>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
        <p:nvSpPr>
          <p:cNvPr id="9" name="Text 7"/>
          <p:cNvSpPr/>
          <p:nvPr/>
        </p:nvSpPr>
        <p:spPr>
          <a:xfrm>
            <a:off x="457200" y="1188720"/>
            <a:ext cx="11274552" cy="274320"/>
          </a:xfrm>
          <a:prstGeom prst="rect">
            <a:avLst/>
          </a:prstGeom>
          <a:noFill/>
          <a:ln/>
        </p:spPr>
        <p:txBody>
          <a:bodyPr wrap="square"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Real prospect names and message excerpts — for internal review only.</a:t>
            </a:r>
            <a:endParaRPr lang="en-US" sz="950" dirty="0"/>
          </a:p>
        </p:txBody>
      </p:sp>
      <p:sp>
        <p:nvSpPr>
          <p:cNvPr id="10" name="Shape 8"/>
          <p:cNvSpPr/>
          <p:nvPr/>
        </p:nvSpPr>
        <p:spPr>
          <a:xfrm>
            <a:off x="457200" y="1600200"/>
            <a:ext cx="3544824" cy="4480560"/>
          </a:xfrm>
          <a:prstGeom prst="roundRect">
            <a:avLst>
              <a:gd name="adj" fmla="val 645"/>
            </a:avLst>
          </a:prstGeom>
          <a:solidFill>
            <a:srgbClr val="F8FAFC"/>
          </a:solidFill>
          <a:ln w="12700">
            <a:solidFill>
              <a:srgbClr val="E5E7EB"/>
            </a:solidFill>
            <a:prstDash val="solid"/>
          </a:ln>
        </p:spPr>
      </p:sp>
      <p:sp>
        <p:nvSpPr>
          <p:cNvPr id="11" name="Text 9"/>
          <p:cNvSpPr/>
          <p:nvPr/>
        </p:nvSpPr>
        <p:spPr>
          <a:xfrm>
            <a:off x="548640" y="1554480"/>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12" name="Text 10"/>
          <p:cNvSpPr/>
          <p:nvPr/>
        </p:nvSpPr>
        <p:spPr>
          <a:xfrm>
            <a:off x="777240" y="1874520"/>
            <a:ext cx="2904744"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Karen Middlehurst</a:t>
            </a:r>
            <a:endParaRPr lang="en-US" sz="1500" dirty="0"/>
          </a:p>
        </p:txBody>
      </p:sp>
      <p:sp>
        <p:nvSpPr>
          <p:cNvPr id="13" name="Text 11"/>
          <p:cNvSpPr/>
          <p:nvPr/>
        </p:nvSpPr>
        <p:spPr>
          <a:xfrm>
            <a:off x="777240" y="2221992"/>
            <a:ext cx="2904744"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Director, Client Organisation @ AGFA HealthCare</a:t>
            </a:r>
            <a:endParaRPr lang="en-US" sz="1100" dirty="0"/>
          </a:p>
        </p:txBody>
      </p:sp>
      <p:sp>
        <p:nvSpPr>
          <p:cNvPr id="14" name="Text 12"/>
          <p:cNvSpPr/>
          <p:nvPr/>
        </p:nvSpPr>
        <p:spPr>
          <a:xfrm>
            <a:off x="777240" y="2651760"/>
            <a:ext cx="2904744" cy="3108960"/>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Best in KLAS Award—congratulations.</a:t>
            </a:r>
            <a:endParaRPr lang="en-US" sz="1300" dirty="0"/>
          </a:p>
          <a:p>
            <a:pPr indent="0" marL="0">
              <a:buNone/>
            </a:pPr>
            <a:r>
              <a:rPr lang="en-US" sz="1300" i="1" dirty="0">
                <a:solidFill>
                  <a:srgbClr val="374151"/>
                </a:solidFill>
                <a:latin typeface="Calibri" pitchFamily="34" charset="0"/>
                <a:ea typeface="Calibri" pitchFamily="34" charset="-122"/>
                <a:cs typeface="Calibri" pitchFamily="34" charset="-120"/>
              </a:rPr>
              <a:t>LOVED working with Agfa when I was president of KLAS. </a:t>
            </a:r>
            <a:endParaRPr lang="en-US" sz="1300" dirty="0"/>
          </a:p>
          <a:p>
            <a:pPr indent="0" marL="0">
              <a:buNone/>
            </a:pPr>
            <a:endParaRPr lang="en-US" sz="1300" dirty="0"/>
          </a:p>
          <a:p>
            <a:pPr indent="0" marL="0">
              <a:buNone/>
            </a:pPr>
            <a:r>
              <a:rPr lang="en-US" sz="1300" i="1" dirty="0">
                <a:solidFill>
                  <a:srgbClr val="374151"/>
                </a:solidFill>
                <a:latin typeface="Calibri" pitchFamily="34" charset="0"/>
                <a:ea typeface="Calibri" pitchFamily="34" charset="-122"/>
                <a:cs typeface="Calibri" pitchFamily="34" charset="-120"/>
              </a:rPr>
              <a:t>PACS, Universal View and VNA. Impressive.</a:t>
            </a:r>
            <a:endParaRPr lang="en-US" sz="1300" dirty="0"/>
          </a:p>
          <a:p>
            <a:pPr indent="0" marL="0">
              <a:buNone/>
            </a:pPr>
            <a:r>
              <a:rPr lang="en-US" sz="1300" i="1" dirty="0">
                <a:solidFill>
                  <a:srgbClr val="374151"/>
                </a:solidFill>
                <a:latin typeface="Calibri" pitchFamily="34" charset="0"/>
                <a:ea typeface="Calibri" pitchFamily="34" charset="-122"/>
                <a:cs typeface="Calibri" pitchFamily="34" charset="-120"/>
              </a:rPr>
              <a:t>Here as a resource if you ever need.</a:t>
            </a:r>
            <a:endParaRPr lang="en-US" sz="1300" dirty="0"/>
          </a:p>
        </p:txBody>
      </p:sp>
      <p:sp>
        <p:nvSpPr>
          <p:cNvPr id="15" name="Text 13"/>
          <p:cNvSpPr/>
          <p:nvPr/>
        </p:nvSpPr>
        <p:spPr>
          <a:xfrm>
            <a:off x="777240" y="5715000"/>
            <a:ext cx="2904744" cy="274320"/>
          </a:xfrm>
          <a:prstGeom prst="rect">
            <a:avLst/>
          </a:prstGeom>
          <a:noFill/>
          <a:ln/>
        </p:spPr>
        <p:txBody>
          <a:bodyPr wrap="square"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Opportunity 62</a:t>
            </a:r>
            <a:endParaRPr lang="en-US" sz="950" dirty="0"/>
          </a:p>
        </p:txBody>
      </p:sp>
      <p:sp>
        <p:nvSpPr>
          <p:cNvPr id="16" name="Shape 14"/>
          <p:cNvSpPr/>
          <p:nvPr/>
        </p:nvSpPr>
        <p:spPr>
          <a:xfrm>
            <a:off x="4322064" y="1600200"/>
            <a:ext cx="3544824" cy="4480560"/>
          </a:xfrm>
          <a:prstGeom prst="roundRect">
            <a:avLst>
              <a:gd name="adj" fmla="val 645"/>
            </a:avLst>
          </a:prstGeom>
          <a:solidFill>
            <a:srgbClr val="F8FAFC"/>
          </a:solidFill>
          <a:ln w="12700">
            <a:solidFill>
              <a:srgbClr val="E5E7EB"/>
            </a:solidFill>
            <a:prstDash val="solid"/>
          </a:ln>
        </p:spPr>
      </p:sp>
      <p:sp>
        <p:nvSpPr>
          <p:cNvPr id="17" name="Text 15"/>
          <p:cNvSpPr/>
          <p:nvPr/>
        </p:nvSpPr>
        <p:spPr>
          <a:xfrm>
            <a:off x="4413504" y="1554480"/>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18" name="Text 16"/>
          <p:cNvSpPr/>
          <p:nvPr/>
        </p:nvSpPr>
        <p:spPr>
          <a:xfrm>
            <a:off x="4642104" y="1874520"/>
            <a:ext cx="2904744"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Tim Tarpey</a:t>
            </a:r>
            <a:endParaRPr lang="en-US" sz="1500" dirty="0"/>
          </a:p>
        </p:txBody>
      </p:sp>
      <p:sp>
        <p:nvSpPr>
          <p:cNvPr id="19" name="Text 17"/>
          <p:cNvSpPr/>
          <p:nvPr/>
        </p:nvSpPr>
        <p:spPr>
          <a:xfrm>
            <a:off x="4642104" y="2221992"/>
            <a:ext cx="2904744"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Vice President of Growth @ Saiva, Inc.</a:t>
            </a:r>
            <a:endParaRPr lang="en-US" sz="1100" dirty="0"/>
          </a:p>
        </p:txBody>
      </p:sp>
      <p:sp>
        <p:nvSpPr>
          <p:cNvPr id="20" name="Text 18"/>
          <p:cNvSpPr/>
          <p:nvPr/>
        </p:nvSpPr>
        <p:spPr>
          <a:xfrm>
            <a:off x="4642104" y="2651760"/>
            <a:ext cx="2904744" cy="3108960"/>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Saw your post about streamlining clinical workflows. Love that idea of having all relevant data in one place. Thanks for sharing.</a:t>
            </a:r>
            <a:endParaRPr lang="en-US" sz="1300" dirty="0"/>
          </a:p>
        </p:txBody>
      </p:sp>
      <p:sp>
        <p:nvSpPr>
          <p:cNvPr id="21" name="Text 19"/>
          <p:cNvSpPr/>
          <p:nvPr/>
        </p:nvSpPr>
        <p:spPr>
          <a:xfrm>
            <a:off x="4642104" y="5715000"/>
            <a:ext cx="2904744" cy="274320"/>
          </a:xfrm>
          <a:prstGeom prst="rect">
            <a:avLst/>
          </a:prstGeom>
          <a:noFill/>
          <a:ln/>
        </p:spPr>
        <p:txBody>
          <a:bodyPr wrap="square"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Opportunity 58</a:t>
            </a:r>
            <a:endParaRPr lang="en-US" sz="950" dirty="0"/>
          </a:p>
        </p:txBody>
      </p:sp>
      <p:sp>
        <p:nvSpPr>
          <p:cNvPr id="22" name="Shape 20"/>
          <p:cNvSpPr/>
          <p:nvPr/>
        </p:nvSpPr>
        <p:spPr>
          <a:xfrm>
            <a:off x="8186928" y="1600200"/>
            <a:ext cx="3544824" cy="4480560"/>
          </a:xfrm>
          <a:prstGeom prst="roundRect">
            <a:avLst>
              <a:gd name="adj" fmla="val 645"/>
            </a:avLst>
          </a:prstGeom>
          <a:solidFill>
            <a:srgbClr val="F8FAFC"/>
          </a:solidFill>
          <a:ln w="12700">
            <a:solidFill>
              <a:srgbClr val="E5E7EB"/>
            </a:solidFill>
            <a:prstDash val="solid"/>
          </a:ln>
        </p:spPr>
      </p:sp>
      <p:sp>
        <p:nvSpPr>
          <p:cNvPr id="23" name="Text 21"/>
          <p:cNvSpPr/>
          <p:nvPr/>
        </p:nvSpPr>
        <p:spPr>
          <a:xfrm>
            <a:off x="8278368" y="1554480"/>
            <a:ext cx="731520" cy="731520"/>
          </a:xfrm>
          <a:prstGeom prst="rect">
            <a:avLst/>
          </a:prstGeom>
          <a:noFill/>
          <a:ln/>
        </p:spPr>
        <p:txBody>
          <a:bodyPr wrap="square" rtlCol="0" anchor="ctr"/>
          <a:lstStyle/>
          <a:p>
            <a:pPr indent="0" marL="0">
              <a:buNone/>
            </a:pPr>
            <a:r>
              <a:rPr lang="en-US" sz="4800" b="1" dirty="0">
                <a:solidFill>
                  <a:srgbClr val="D1D5DB"/>
                </a:solidFill>
                <a:latin typeface="Georgia" pitchFamily="34" charset="0"/>
                <a:ea typeface="Georgia" pitchFamily="34" charset="-122"/>
                <a:cs typeface="Georgia" pitchFamily="34" charset="-120"/>
              </a:rPr>
              <a:t>“</a:t>
            </a:r>
            <a:endParaRPr lang="en-US" sz="4800" dirty="0"/>
          </a:p>
        </p:txBody>
      </p:sp>
      <p:sp>
        <p:nvSpPr>
          <p:cNvPr id="24" name="Text 22"/>
          <p:cNvSpPr/>
          <p:nvPr/>
        </p:nvSpPr>
        <p:spPr>
          <a:xfrm>
            <a:off x="8506968" y="1874520"/>
            <a:ext cx="2904744" cy="365760"/>
          </a:xfrm>
          <a:prstGeom prst="rect">
            <a:avLst/>
          </a:prstGeom>
          <a:noFill/>
          <a:ln/>
        </p:spPr>
        <p:txBody>
          <a:bodyPr wrap="square"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John Landy</a:t>
            </a:r>
            <a:endParaRPr lang="en-US" sz="1500" dirty="0"/>
          </a:p>
        </p:txBody>
      </p:sp>
      <p:sp>
        <p:nvSpPr>
          <p:cNvPr id="25" name="Text 23"/>
          <p:cNvSpPr/>
          <p:nvPr/>
        </p:nvSpPr>
        <p:spPr>
          <a:xfrm>
            <a:off x="8506968" y="2221992"/>
            <a:ext cx="2904744" cy="320040"/>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Chief Technology Officer @ Billtrust</a:t>
            </a:r>
            <a:endParaRPr lang="en-US" sz="1100" dirty="0"/>
          </a:p>
        </p:txBody>
      </p:sp>
      <p:sp>
        <p:nvSpPr>
          <p:cNvPr id="26" name="Text 24"/>
          <p:cNvSpPr/>
          <p:nvPr/>
        </p:nvSpPr>
        <p:spPr>
          <a:xfrm>
            <a:off x="8506968" y="2651760"/>
            <a:ext cx="2904744" cy="3108960"/>
          </a:xfrm>
          <a:prstGeom prst="rect">
            <a:avLst/>
          </a:prstGeom>
          <a:noFill/>
          <a:ln/>
        </p:spPr>
        <p:txBody>
          <a:bodyPr wrap="square" rtlCol="0" anchor="t">
            <a:normAutofit/>
          </a:bodyPr>
          <a:lstStyle/>
          <a:p>
            <a:pPr indent="0" marL="0">
              <a:buNone/>
            </a:pPr>
            <a:r>
              <a:rPr lang="en-US" sz="1300" i="1" dirty="0">
                <a:solidFill>
                  <a:srgbClr val="374151"/>
                </a:solidFill>
                <a:latin typeface="Calibri" pitchFamily="34" charset="0"/>
                <a:ea typeface="Calibri" pitchFamily="34" charset="-122"/>
                <a:cs typeface="Calibri" pitchFamily="34" charset="-120"/>
              </a:rPr>
              <a:t>Congratulations on a well-deserved Best in KLAS award. FinThrive is a great company. </a:t>
            </a:r>
            <a:endParaRPr lang="en-US" sz="1300" dirty="0"/>
          </a:p>
          <a:p>
            <a:pPr indent="0" marL="0">
              <a:buNone/>
            </a:pPr>
            <a:endParaRPr lang="en-US" sz="1300" dirty="0"/>
          </a:p>
          <a:p>
            <a:pPr indent="0" marL="0">
              <a:buNone/>
            </a:pPr>
            <a:r>
              <a:rPr lang="en-US" sz="1300" i="1" dirty="0">
                <a:solidFill>
                  <a:srgbClr val="374151"/>
                </a:solidFill>
                <a:latin typeface="Calibri" pitchFamily="34" charset="0"/>
                <a:ea typeface="Calibri" pitchFamily="34" charset="-122"/>
                <a:cs typeface="Calibri" pitchFamily="34" charset="-120"/>
              </a:rPr>
              <a:t>As the former president of KLAS, it is fun to congratulate great companies. </a:t>
            </a:r>
            <a:endParaRPr lang="en-US" sz="1300" dirty="0"/>
          </a:p>
          <a:p>
            <a:pPr indent="0" marL="0">
              <a:buNone/>
            </a:pPr>
            <a:endParaRPr lang="en-US" sz="1300" dirty="0"/>
          </a:p>
          <a:p>
            <a:pPr indent="0" marL="0">
              <a:buNone/>
            </a:pPr>
            <a:r>
              <a:rPr lang="en-US" sz="1300" i="1" dirty="0">
                <a:solidFill>
                  <a:srgbClr val="374151"/>
                </a:solidFill>
                <a:latin typeface="Calibri" pitchFamily="34" charset="0"/>
                <a:ea typeface="Calibri" pitchFamily="34" charset="-122"/>
                <a:cs typeface="Calibri" pitchFamily="34" charset="-120"/>
              </a:rPr>
              <a:t>Here as a resource if you need.</a:t>
            </a:r>
            <a:endParaRPr lang="en-US" sz="1300" dirty="0"/>
          </a:p>
        </p:txBody>
      </p:sp>
      <p:sp>
        <p:nvSpPr>
          <p:cNvPr id="27" name="Text 25"/>
          <p:cNvSpPr/>
          <p:nvPr/>
        </p:nvSpPr>
        <p:spPr>
          <a:xfrm>
            <a:off x="8506968" y="5715000"/>
            <a:ext cx="2904744" cy="274320"/>
          </a:xfrm>
          <a:prstGeom prst="rect">
            <a:avLst/>
          </a:prstGeom>
          <a:noFill/>
          <a:ln/>
        </p:spPr>
        <p:txBody>
          <a:bodyPr wrap="square" rtlCol="0" anchor="ctr"/>
          <a:lstStyle/>
          <a:p>
            <a:pPr indent="0" marL="0">
              <a:buNone/>
            </a:pPr>
            <a:r>
              <a:rPr lang="en-US" sz="950" b="1" dirty="0">
                <a:solidFill>
                  <a:srgbClr val="F59E0B"/>
                </a:solidFill>
                <a:latin typeface="Calibri" pitchFamily="34" charset="0"/>
                <a:ea typeface="Calibri" pitchFamily="34" charset="-122"/>
                <a:cs typeface="Calibri" pitchFamily="34" charset="-120"/>
              </a:rPr>
              <a:t>Opportunity 53</a:t>
            </a:r>
            <a:endParaRPr lang="en-US" sz="950" dirty="0"/>
          </a:p>
        </p:txBody>
      </p:sp>
      <p:sp>
        <p:nvSpPr>
          <p:cNvPr id="28" name="Text 26"/>
          <p:cNvSpPr/>
          <p:nvPr/>
        </p:nvSpPr>
        <p:spPr>
          <a:xfrm>
            <a:off x="457200" y="6126480"/>
            <a:ext cx="11274552" cy="182880"/>
          </a:xfrm>
          <a:prstGeom prst="rect">
            <a:avLst/>
          </a:prstGeom>
          <a:noFill/>
          <a:ln/>
        </p:spPr>
        <p:txBody>
          <a:bodyPr wrap="square"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Showing 3 of 5 — see the rest on the site.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HealthLuminate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 Success Analysis — Overall — All Clients</dc:title>
  <dc:subject>PptxGenJS Presentation</dc:subject>
  <dc:creator>HealthLuminate Connect</dc:creator>
  <cp:lastModifiedBy>HealthLuminate Connect</cp:lastModifiedBy>
  <cp:revision>1</cp:revision>
  <dcterms:created xsi:type="dcterms:W3CDTF">2026-07-23T14:33:34Z</dcterms:created>
  <dcterms:modified xsi:type="dcterms:W3CDTF">2026-07-23T14:33:34Z</dcterms:modified>
</cp:coreProperties>
</file>